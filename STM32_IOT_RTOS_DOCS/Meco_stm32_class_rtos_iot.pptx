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5"/>
  </p:notesMasterIdLst>
  <p:sldIdLst>
    <p:sldId id="291" r:id="rId2"/>
    <p:sldId id="332" r:id="rId3"/>
    <p:sldId id="333" r:id="rId4"/>
    <p:sldId id="334" r:id="rId5"/>
    <p:sldId id="401" r:id="rId6"/>
    <p:sldId id="299" r:id="rId7"/>
    <p:sldId id="292" r:id="rId8"/>
    <p:sldId id="402" r:id="rId9"/>
    <p:sldId id="403" r:id="rId10"/>
    <p:sldId id="404" r:id="rId11"/>
    <p:sldId id="293" r:id="rId12"/>
    <p:sldId id="338" r:id="rId13"/>
    <p:sldId id="294" r:id="rId14"/>
    <p:sldId id="295" r:id="rId15"/>
    <p:sldId id="339" r:id="rId16"/>
    <p:sldId id="296" r:id="rId17"/>
    <p:sldId id="297" r:id="rId18"/>
    <p:sldId id="298" r:id="rId19"/>
    <p:sldId id="336" r:id="rId20"/>
    <p:sldId id="335" r:id="rId21"/>
    <p:sldId id="405" r:id="rId22"/>
    <p:sldId id="406" r:id="rId23"/>
    <p:sldId id="407" r:id="rId24"/>
    <p:sldId id="408" r:id="rId25"/>
    <p:sldId id="409" r:id="rId26"/>
    <p:sldId id="410" r:id="rId27"/>
    <p:sldId id="411" r:id="rId28"/>
    <p:sldId id="412" r:id="rId29"/>
    <p:sldId id="413" r:id="rId30"/>
    <p:sldId id="414" r:id="rId31"/>
    <p:sldId id="415" r:id="rId32"/>
    <p:sldId id="256" r:id="rId33"/>
    <p:sldId id="257" r:id="rId34"/>
    <p:sldId id="258" r:id="rId35"/>
    <p:sldId id="259" r:id="rId36"/>
    <p:sldId id="260" r:id="rId37"/>
    <p:sldId id="261" r:id="rId38"/>
    <p:sldId id="262" r:id="rId39"/>
    <p:sldId id="263" r:id="rId40"/>
    <p:sldId id="264" r:id="rId41"/>
    <p:sldId id="340" r:id="rId42"/>
    <p:sldId id="341" r:id="rId43"/>
    <p:sldId id="342" r:id="rId44"/>
    <p:sldId id="343" r:id="rId45"/>
    <p:sldId id="344" r:id="rId46"/>
    <p:sldId id="345" r:id="rId47"/>
    <p:sldId id="346" r:id="rId48"/>
    <p:sldId id="347" r:id="rId49"/>
    <p:sldId id="348" r:id="rId50"/>
    <p:sldId id="349" r:id="rId51"/>
    <p:sldId id="350" r:id="rId52"/>
    <p:sldId id="351" r:id="rId53"/>
    <p:sldId id="352" r:id="rId54"/>
    <p:sldId id="353" r:id="rId55"/>
    <p:sldId id="354" r:id="rId56"/>
    <p:sldId id="355" r:id="rId57"/>
    <p:sldId id="356" r:id="rId58"/>
    <p:sldId id="357" r:id="rId59"/>
    <p:sldId id="358" r:id="rId60"/>
    <p:sldId id="359" r:id="rId61"/>
    <p:sldId id="360" r:id="rId62"/>
    <p:sldId id="361" r:id="rId63"/>
    <p:sldId id="362" r:id="rId64"/>
    <p:sldId id="363" r:id="rId65"/>
    <p:sldId id="364" r:id="rId66"/>
    <p:sldId id="365" r:id="rId67"/>
    <p:sldId id="366" r:id="rId68"/>
    <p:sldId id="367" r:id="rId69"/>
    <p:sldId id="368" r:id="rId70"/>
    <p:sldId id="369" r:id="rId71"/>
    <p:sldId id="370" r:id="rId72"/>
    <p:sldId id="371" r:id="rId73"/>
    <p:sldId id="372" r:id="rId74"/>
    <p:sldId id="373" r:id="rId75"/>
    <p:sldId id="374" r:id="rId76"/>
    <p:sldId id="375" r:id="rId77"/>
    <p:sldId id="376" r:id="rId78"/>
    <p:sldId id="377" r:id="rId79"/>
    <p:sldId id="378" r:id="rId80"/>
    <p:sldId id="379" r:id="rId81"/>
    <p:sldId id="380" r:id="rId82"/>
    <p:sldId id="381" r:id="rId83"/>
    <p:sldId id="382" r:id="rId84"/>
    <p:sldId id="383" r:id="rId85"/>
    <p:sldId id="384" r:id="rId86"/>
    <p:sldId id="385" r:id="rId87"/>
    <p:sldId id="386" r:id="rId88"/>
    <p:sldId id="387" r:id="rId89"/>
    <p:sldId id="388" r:id="rId90"/>
    <p:sldId id="389" r:id="rId91"/>
    <p:sldId id="390" r:id="rId92"/>
    <p:sldId id="391" r:id="rId93"/>
    <p:sldId id="392" r:id="rId94"/>
    <p:sldId id="393" r:id="rId95"/>
    <p:sldId id="265" r:id="rId96"/>
    <p:sldId id="266" r:id="rId97"/>
    <p:sldId id="267" r:id="rId98"/>
    <p:sldId id="268" r:id="rId99"/>
    <p:sldId id="269" r:id="rId100"/>
    <p:sldId id="270" r:id="rId101"/>
    <p:sldId id="271" r:id="rId102"/>
    <p:sldId id="272" r:id="rId103"/>
    <p:sldId id="273" r:id="rId104"/>
    <p:sldId id="274" r:id="rId105"/>
    <p:sldId id="275" r:id="rId106"/>
    <p:sldId id="276" r:id="rId107"/>
    <p:sldId id="394" r:id="rId108"/>
    <p:sldId id="395" r:id="rId109"/>
    <p:sldId id="396" r:id="rId110"/>
    <p:sldId id="397" r:id="rId111"/>
    <p:sldId id="398" r:id="rId112"/>
    <p:sldId id="399" r:id="rId113"/>
    <p:sldId id="400" r:id="rId1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hdi Dadashi" initials="MD" lastIdx="1" clrIdx="0">
    <p:extLst>
      <p:ext uri="{19B8F6BF-5375-455C-9EA6-DF929625EA0E}">
        <p15:presenceInfo xmlns:p15="http://schemas.microsoft.com/office/powerpoint/2012/main" userId="374ac32f633da53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 snapToObjects="1">
      <p:cViewPr varScale="1">
        <p:scale>
          <a:sx n="85" d="100"/>
          <a:sy n="85" d="100"/>
        </p:scale>
        <p:origin x="131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C129FC-E272-4AF5-B5B8-7EEB880A35A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ED947-AC9B-4316-885A-06DA21A47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37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https://github.com/debevv/nanoMODBUS</a:t>
            </a:r>
          </a:p>
          <a:p>
            <a:r>
              <a:rPr lang="en-US" dirty="0"/>
              <a:t>https://github.com/cwalter-at/freemodbus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ED947-AC9B-4316-885A-06DA21A47C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70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F40E-3706-3A1D-4A2D-80A8B257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B3D59-4CF8-5209-3AC7-4648B56C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594590-2291-A213-35A3-78D491B33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https://github.com/debevv/nanoMODBUS</a:t>
            </a:r>
          </a:p>
          <a:p>
            <a:r>
              <a:rPr lang="en-US" dirty="0"/>
              <a:t>https://github.com/cwalter-at/freemodbus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D66B-E634-C271-4D3C-86B000019E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ED947-AC9B-4316-885A-06DA21A47C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4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af67ddb16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af67ddb166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af67ddb166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af67ddb166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af67ddb16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af67ddb16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af67ddb166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af67ddb166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af67ddb166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af67ddb166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af67ddb166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af67ddb166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af67ddb166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af67ddb166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af67ddb166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af67ddb166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b0438a44ca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b0438a44ca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b0438a44ca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b0438a44ca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a7c288605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a7c288605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a7c288605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a7c2886054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a7c2886054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a7c2886054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b726dc053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b726dc053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b726dc053a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b726dc053a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795ecc63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795ecc63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795ecc631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795ecc6314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795ecc6314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795ecc6314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795ecc6314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795ecc6314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79621dc2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79621dc2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b94bc9ed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b94bc9ed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b405138e4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b405138e4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b405138e4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b405138e4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b405138e4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b405138e4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b405138e4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b405138e4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b405138e46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b405138e46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b405138e46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b405138e46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b8ba87ed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b8ba87ed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b8ba87ed91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b8ba87ed91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b8dc036662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b8dc036662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b8dc036662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b8dc036662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b8dc036662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b8dc036662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b8dc036662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b8dc036662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afebba16e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afebba16e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baa83c5fb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baa83c5fb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bb569d818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bb569d818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bb260c2a1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bb260c2a1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bb260c2a1b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bb260c2a1b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bcdf9d3e07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bcdf9d3e07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cdf9d3e07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cdf9d3e07_0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bcf6c9b4c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bcf6c9b4c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bcf6c9b4ce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bcf6c9b4ce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bcf6c9b4ce_0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bcf6c9b4ce_0_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bcf6c9b4ce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bcf6c9b4ce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bd11e8be8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bd11e8be8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bd11e8be83_1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bd11e8be83_1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bd11e8be83_1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bd11e8be83_1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bd11e8be83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bd11e8be83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bd11e8be83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bd11e8be83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bd11e8be83_1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bd11e8be83_1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bd11e8be8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bd11e8be83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bd11e8be83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bd11e8be83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bd11e8be83_1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bd11e8be83_1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bd11e8be83_1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bd11e8be83_1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bd11e8be83_1_4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bd11e8be83_1_4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bd11e8be83_1_4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bd11e8be83_1_4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bf005cb58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bf005cb58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bf005cb580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bf005cb580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be3471acd1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be3471acd1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be3471acd1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be3471acd1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e3471acd1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e3471acd1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be3471acd1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be3471acd1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be3471acd1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be3471acd1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marL="228600" lvl="0" indent="-228600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marL="457200" lvl="1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2pPr>
            <a:lvl3pPr marL="685800" lvl="2" indent="-203200">
              <a:spcBef>
                <a:spcPts val="1600"/>
              </a:spcBef>
              <a:spcAft>
                <a:spcPts val="0"/>
              </a:spcAft>
              <a:buSzPts val="2800"/>
              <a:buChar char="■"/>
              <a:defRPr/>
            </a:lvl3pPr>
            <a:lvl4pPr marL="914400" lvl="3" indent="-203200">
              <a:spcBef>
                <a:spcPts val="1600"/>
              </a:spcBef>
              <a:spcAft>
                <a:spcPts val="0"/>
              </a:spcAft>
              <a:buSzPts val="2800"/>
              <a:buChar char="●"/>
              <a:defRPr/>
            </a:lvl4pPr>
            <a:lvl5pPr marL="1143000" lvl="4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5pPr>
            <a:lvl6pPr marL="1371600" lvl="5" indent="-203200">
              <a:spcBef>
                <a:spcPts val="1600"/>
              </a:spcBef>
              <a:spcAft>
                <a:spcPts val="0"/>
              </a:spcAft>
              <a:buSzPts val="2800"/>
              <a:buChar char="■"/>
              <a:defRPr/>
            </a:lvl6pPr>
            <a:lvl7pPr marL="1600200" lvl="6" indent="-203200">
              <a:spcBef>
                <a:spcPts val="1600"/>
              </a:spcBef>
              <a:spcAft>
                <a:spcPts val="0"/>
              </a:spcAft>
              <a:buSzPts val="2800"/>
              <a:buChar char="●"/>
              <a:defRPr/>
            </a:lvl7pPr>
            <a:lvl8pPr marL="1828800" lvl="7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8pPr>
            <a:lvl9pPr marL="2057400" lvl="8" indent="-203200">
              <a:spcBef>
                <a:spcPts val="1600"/>
              </a:spcBef>
              <a:spcAft>
                <a:spcPts val="1600"/>
              </a:spcAft>
              <a:buSzPts val="28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4691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kb.segger.com/File:RTT_SpeedComparison.png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0" Type="http://schemas.openxmlformats.org/officeDocument/2006/relationships/image" Target="../media/image15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7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0.png"/><Relationship Id="rId5" Type="http://schemas.openxmlformats.org/officeDocument/2006/relationships/image" Target="../media/image18.png"/><Relationship Id="rId10" Type="http://schemas.openxmlformats.org/officeDocument/2006/relationships/image" Target="../media/image16.png"/><Relationship Id="rId4" Type="http://schemas.openxmlformats.org/officeDocument/2006/relationships/image" Target="../media/image17.png"/><Relationship Id="rId9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rtos.org/a00110.html#configSUPPORT_STATIC_ALLOCATIO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BA1D4-7832-FA44-14BC-670ED31B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به نام خدا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FBEAC-87A1-4F85-9B4E-AD356C91A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9373"/>
            <a:ext cx="8229600" cy="4151869"/>
          </a:xfrm>
        </p:spPr>
        <p:txBody>
          <a:bodyPr>
            <a:normAutofit fontScale="77500" lnSpcReduction="20000"/>
          </a:bodyPr>
          <a:lstStyle/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آموزش میکروکنترلر های </a:t>
            </a:r>
            <a:r>
              <a:rPr lang="en-US" sz="4800" dirty="0">
                <a:cs typeface="B Nazanin" panose="00000400000000000000" pitchFamily="2" charset="-78"/>
              </a:rPr>
              <a:t>STM32</a:t>
            </a:r>
            <a:r>
              <a:rPr lang="fa-IR" sz="4800" dirty="0">
                <a:cs typeface="B Nazanin" panose="00000400000000000000" pitchFamily="2" charset="-78"/>
              </a:rPr>
              <a:t> </a:t>
            </a:r>
            <a:r>
              <a:rPr lang="en-US" sz="4800" dirty="0">
                <a:cs typeface="B Nazanin" panose="00000400000000000000" pitchFamily="2" charset="-78"/>
              </a:rPr>
              <a:t> </a:t>
            </a:r>
            <a:r>
              <a:rPr lang="fa-IR" sz="4800" dirty="0">
                <a:cs typeface="B Nazanin" panose="00000400000000000000" pitchFamily="2" charset="-78"/>
              </a:rPr>
              <a:t>پیشرفته</a:t>
            </a:r>
          </a:p>
          <a:p>
            <a:pPr marL="0" indent="0" algn="ctr" rtl="1">
              <a:buNone/>
            </a:pP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با محوریت </a:t>
            </a:r>
            <a:r>
              <a:rPr lang="en-US" sz="4800" dirty="0" err="1">
                <a:cs typeface="B Nazanin" panose="00000400000000000000" pitchFamily="2" charset="-78"/>
              </a:rPr>
              <a:t>FreeRTOS</a:t>
            </a:r>
            <a:r>
              <a:rPr lang="en-US" sz="4800" dirty="0">
                <a:cs typeface="B Nazanin" panose="00000400000000000000" pitchFamily="2" charset="-78"/>
              </a:rPr>
              <a:t> </a:t>
            </a:r>
            <a:r>
              <a:rPr lang="fa-IR" sz="4800" dirty="0">
                <a:cs typeface="B Nazanin" panose="00000400000000000000" pitchFamily="2" charset="-78"/>
              </a:rPr>
              <a:t> و </a:t>
            </a:r>
            <a:r>
              <a:rPr lang="en-US" sz="4800" dirty="0">
                <a:cs typeface="B Nazanin" panose="00000400000000000000" pitchFamily="2" charset="-78"/>
              </a:rPr>
              <a:t>IoT</a:t>
            </a: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 مدرس: مهدی داداشی</a:t>
            </a: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 </a:t>
            </a: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مدت زمان: 10 جلسه ی 4 ساعته</a:t>
            </a:r>
            <a:endParaRPr lang="en-US" sz="48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1238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 descr="نقطه شروع کسب و کار | صفر تا هزار کسب و کار">
            <a:extLst>
              <a:ext uri="{FF2B5EF4-FFF2-40B4-BE49-F238E27FC236}">
                <a16:creationId xmlns:a16="http://schemas.microsoft.com/office/drawing/2014/main" id="{822175F9-AEB5-E284-FE8E-AF08E4F7E4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667" y="1313935"/>
            <a:ext cx="2611395" cy="261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2" name="Picture 4" descr="صفر تا صد مفاهیم پایه الکترونیک">
            <a:extLst>
              <a:ext uri="{FF2B5EF4-FFF2-40B4-BE49-F238E27FC236}">
                <a16:creationId xmlns:a16="http://schemas.microsoft.com/office/drawing/2014/main" id="{CCE6BDFD-01DA-0E8E-896C-65EB155EC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6668" y="3925330"/>
            <a:ext cx="2415745" cy="24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6" name="Picture 8" descr="ZERO TO HERO - Christ Paradise Church">
            <a:extLst>
              <a:ext uri="{FF2B5EF4-FFF2-40B4-BE49-F238E27FC236}">
                <a16:creationId xmlns:a16="http://schemas.microsoft.com/office/drawing/2014/main" id="{C1A146D3-5E33-7832-EC1A-AF221C594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667" y="4512275"/>
            <a:ext cx="24955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8" name="Picture 10" descr="zero-to-mastery · GitHub Topics · GitHub">
            <a:extLst>
              <a:ext uri="{FF2B5EF4-FFF2-40B4-BE49-F238E27FC236}">
                <a16:creationId xmlns:a16="http://schemas.microsoft.com/office/drawing/2014/main" id="{B6E03E85-B7EC-FB37-A112-37CADA7C4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032" y="1252153"/>
            <a:ext cx="2415745" cy="24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043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8721C-F38A-AF07-DDE9-FA9281CD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916627"/>
          </a:xfrm>
        </p:spPr>
        <p:txBody>
          <a:bodyPr>
            <a:normAutofit/>
          </a:bodyPr>
          <a:lstStyle/>
          <a:p>
            <a:r>
              <a:rPr lang="fa-IR" sz="8800" dirty="0">
                <a:latin typeface="IranNastaliq" panose="02020505000000020003" pitchFamily="18" charset="0"/>
                <a:cs typeface="IranNastaliq" panose="02020505000000020003" pitchFamily="18" charset="0"/>
              </a:rPr>
              <a:t>از صفر  تا  </a:t>
            </a:r>
            <a:r>
              <a:rPr lang="fa-IR" sz="8800" dirty="0">
                <a:solidFill>
                  <a:srgbClr val="FF0000"/>
                </a:solidFill>
                <a:latin typeface="IranNastaliq" panose="02020505000000020003" pitchFamily="18" charset="0"/>
                <a:cs typeface="IranNastaliq" panose="02020505000000020003" pitchFamily="18" charset="0"/>
              </a:rPr>
              <a:t>عشق</a:t>
            </a:r>
            <a:endParaRPr lang="en-US" sz="8800" dirty="0">
              <a:solidFill>
                <a:srgbClr val="FF0000"/>
              </a:solidFill>
              <a:latin typeface="IranNastaliq" panose="02020505000000020003" pitchFamily="18" charset="0"/>
              <a:cs typeface="IranNastaliq" panose="020205050000000200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A30AC-F693-19E6-7618-BA66D7860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672" y="2117122"/>
            <a:ext cx="4027458" cy="34664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0AD396-2DBA-E432-8378-E710BE420E33}"/>
              </a:ext>
            </a:extLst>
          </p:cNvPr>
          <p:cNvSpPr txBox="1"/>
          <p:nvPr/>
        </p:nvSpPr>
        <p:spPr>
          <a:xfrm>
            <a:off x="2133599" y="5964538"/>
            <a:ext cx="4810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این بار » 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STM32 | </a:t>
            </a:r>
            <a:r>
              <a:rPr lang="en-US" sz="2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| IoT</a:t>
            </a:r>
          </a:p>
        </p:txBody>
      </p:sp>
    </p:spTree>
    <p:extLst>
      <p:ext uri="{BB962C8B-B14F-4D97-AF65-F5344CB8AC3E}">
        <p14:creationId xmlns:p14="http://schemas.microsoft.com/office/powerpoint/2010/main" val="3029031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180C165-9B5F-3C71-D549-152699EBEB7E}"/>
              </a:ext>
            </a:extLst>
          </p:cNvPr>
          <p:cNvSpPr txBox="1">
            <a:spLocks/>
          </p:cNvSpPr>
          <p:nvPr/>
        </p:nvSpPr>
        <p:spPr>
          <a:xfrm>
            <a:off x="4316626" y="691979"/>
            <a:ext cx="4522573" cy="58419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Serial  RTU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(Slave | Server)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Serial  RTU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(Master | Client)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TCP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(Slave | Server)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TCP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(Master | Client)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کن باس</a:t>
            </a: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RTOS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ها مانند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STM32CubeMonitor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Node-Red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Jlink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-RTT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WS2812B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W5500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IOT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TM1638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GIT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Segger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SystemView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Percepio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Tracealyzer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LWIP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CycloneTCP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 Mongoose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-Plus-TCP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بوت لودرهای اختصاصی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AT-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Commnad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در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SIM800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ESP8266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لایه های شبکه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Network+ 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WireShark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EC587E-5DA5-E3D8-3538-D2409B7DDCF8}"/>
              </a:ext>
            </a:extLst>
          </p:cNvPr>
          <p:cNvSpPr txBox="1">
            <a:spLocks/>
          </p:cNvSpPr>
          <p:nvPr/>
        </p:nvSpPr>
        <p:spPr>
          <a:xfrm>
            <a:off x="107092" y="2428102"/>
            <a:ext cx="4209534" cy="28585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راه اندازی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Broker MQTT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به صورت لوکال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دریافت سریال با استفاده از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با طول نامشخص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ایجاد شکل موج با استفاده از تایمر و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  <a:endParaRPr lang="fa-IR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MAC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PHY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انتقال فایل از طریق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HTTP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FreeModbus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یا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NanoModbus</a:t>
            </a:r>
            <a:endParaRPr lang="en-US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سنسور دما و رطوبت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[I2C] SHT20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نمایشگر های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[I2C] OLED SSD1306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نمایشگر های رنگی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[SPI] ST7789</a:t>
            </a:r>
          </a:p>
          <a:p>
            <a:pPr algn="r" rtl="1">
              <a:buFont typeface="+mj-lt"/>
              <a:buAutoNum type="arabicPeriod" startAt="24"/>
            </a:pPr>
            <a:endParaRPr lang="fa-IR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endParaRPr lang="en-US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95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950F-D23F-7B5A-2E24-3856B4A05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2697351-BA09-8EEC-CE79-8BD04B0DF2B2}"/>
              </a:ext>
            </a:extLst>
          </p:cNvPr>
          <p:cNvSpPr txBox="1"/>
          <p:nvPr/>
        </p:nvSpPr>
        <p:spPr>
          <a:xfrm>
            <a:off x="5750010" y="335845"/>
            <a:ext cx="284205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 شبکه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/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UDP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TCP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WebSocket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AJAX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HTTPD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SSI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CGI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SSE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JSON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TLS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Base64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HTTP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GET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POST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REST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RNDIS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PPP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DNS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DHCP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SNMP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ICMP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ARP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B3D-BB1F-67FF-85B8-4955B71E3B80}"/>
              </a:ext>
            </a:extLst>
          </p:cNvPr>
          <p:cNvSpPr txBox="1"/>
          <p:nvPr/>
        </p:nvSpPr>
        <p:spPr>
          <a:xfrm>
            <a:off x="914401" y="410167"/>
            <a:ext cx="284205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 MQTT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BROKER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TOPIC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PUBLISH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SUBSCRIBE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Mosquitto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QoS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A4D829-14C2-E54D-1897-579909F7D345}"/>
              </a:ext>
            </a:extLst>
          </p:cNvPr>
          <p:cNvSpPr txBox="1"/>
          <p:nvPr/>
        </p:nvSpPr>
        <p:spPr>
          <a:xfrm>
            <a:off x="1145059" y="3256899"/>
            <a:ext cx="261139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 RTOS 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TaskCreate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TaskDelete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TaskSuspend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TaskResume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Priority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Memory-Allocation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Mutex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Semaphore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Software-Timer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Queue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64507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0DF5-ACDA-D14B-0420-FE8A9EA2E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A03E0-1269-0DB9-0922-65F0633F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1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AE5FE-C730-B401-12E3-C1A650757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مروری بر معماری </a:t>
            </a:r>
            <a:r>
              <a:rPr lang="en-US" dirty="0">
                <a:cs typeface="B Nazanin" panose="00000400000000000000" pitchFamily="2" charset="-78"/>
              </a:rPr>
              <a:t> STM32</a:t>
            </a:r>
            <a:r>
              <a:rPr lang="fa-IR" dirty="0">
                <a:cs typeface="B Nazanin" panose="00000400000000000000" pitchFamily="2" charset="-78"/>
              </a:rPr>
              <a:t>و مفاهیم پیشرفته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1CB34-D07C-6220-2F8B-DED50F5B4CF4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هدف: آماده‌سازی ذهنی برای کار با </a:t>
            </a:r>
            <a:r>
              <a:rPr lang="en-US" dirty="0">
                <a:cs typeface="B Nazanin" panose="00000400000000000000" pitchFamily="2" charset="-78"/>
              </a:rPr>
              <a:t>STM32</a:t>
            </a:r>
            <a:r>
              <a:rPr lang="fa-IR" dirty="0">
                <a:cs typeface="B Nazanin" panose="00000400000000000000" pitchFamily="2" charset="-78"/>
              </a:rPr>
              <a:t> در سطح پیشرفته و کار با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r>
              <a:rPr lang="en-US" dirty="0">
                <a:cs typeface="B Nazanin" panose="00000400000000000000" pitchFamily="2" charset="-78"/>
              </a:rPr>
              <a:t>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مروری بر معماری </a:t>
            </a:r>
            <a:r>
              <a:rPr lang="en-US" dirty="0">
                <a:cs typeface="B Nazanin" panose="00000400000000000000" pitchFamily="2" charset="-78"/>
              </a:rPr>
              <a:t> ARM Cortex-M</a:t>
            </a:r>
            <a:r>
              <a:rPr lang="fa-IR" dirty="0">
                <a:cs typeface="B Nazanin" panose="00000400000000000000" pitchFamily="2" charset="-78"/>
              </a:rPr>
              <a:t>و واحدهای جانبی پیشرفته مانند  </a:t>
            </a:r>
            <a:r>
              <a:rPr lang="en-US" dirty="0">
                <a:cs typeface="B Nazanin" panose="00000400000000000000" pitchFamily="2" charset="-78"/>
              </a:rPr>
              <a:t>DMA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مفهوم </a:t>
            </a:r>
            <a:r>
              <a:rPr lang="en-US" dirty="0">
                <a:cs typeface="B Nazanin" panose="00000400000000000000" pitchFamily="2" charset="-78"/>
              </a:rPr>
              <a:t> RTOS</a:t>
            </a:r>
            <a:r>
              <a:rPr lang="fa-IR" dirty="0">
                <a:cs typeface="B Nazanin" panose="00000400000000000000" pitchFamily="2" charset="-78"/>
              </a:rPr>
              <a:t>و تفاوت آن با برنامه‌نویسی </a:t>
            </a:r>
            <a:r>
              <a:rPr lang="en-US" dirty="0">
                <a:cs typeface="B Nazanin" panose="00000400000000000000" pitchFamily="2" charset="-78"/>
              </a:rPr>
              <a:t>bare-metal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معرفی </a:t>
            </a:r>
            <a:r>
              <a:rPr lang="en-US" dirty="0">
                <a:cs typeface="B Nazanin" panose="00000400000000000000" pitchFamily="2" charset="-78"/>
              </a:rPr>
              <a:t>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r>
              <a:rPr lang="fa-IR" dirty="0">
                <a:cs typeface="B Nazanin" panose="00000400000000000000" pitchFamily="2" charset="-78"/>
              </a:rPr>
              <a:t>ساختار هسته، </a:t>
            </a:r>
            <a:r>
              <a:rPr lang="en-US" dirty="0">
                <a:cs typeface="B Nazanin" panose="00000400000000000000" pitchFamily="2" charset="-78"/>
              </a:rPr>
              <a:t>Task Scheduler، context switching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محیط توسعه : </a:t>
            </a:r>
            <a:r>
              <a:rPr lang="en-US" dirty="0" err="1">
                <a:cs typeface="B Nazanin" panose="00000400000000000000" pitchFamily="2" charset="-78"/>
              </a:rPr>
              <a:t>CubeIDE</a:t>
            </a:r>
            <a:r>
              <a:rPr lang="en-US" dirty="0">
                <a:cs typeface="B Nazanin" panose="00000400000000000000" pitchFamily="2" charset="-78"/>
              </a:rPr>
              <a:t> / STM32CubeMX / Keil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پروژه : ایجاد چند تسک ساده با اولویت‌های مختلف و مشاهده زمان‌بندی آن‌ها</a:t>
            </a:r>
          </a:p>
        </p:txBody>
      </p:sp>
    </p:spTree>
    <p:extLst>
      <p:ext uri="{BB962C8B-B14F-4D97-AF65-F5344CB8AC3E}">
        <p14:creationId xmlns:p14="http://schemas.microsoft.com/office/powerpoint/2010/main" val="296458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1EA7-0E3E-8110-5515-941E9776F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33DB4-C6B6-6B60-2AD7-05B20B41C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2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001B6-FD9C-C230-5B0B-AC8B5B4D37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مدیریت تسک‌ها و زمان‌بندی در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CA80A-AB1F-1DC7-1909-2B5583367124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هدف: درک عمیق </a:t>
            </a:r>
            <a:r>
              <a:rPr lang="en-US" dirty="0">
                <a:cs typeface="B Nazanin" panose="00000400000000000000" pitchFamily="2" charset="-78"/>
              </a:rPr>
              <a:t>Task Management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ایجاد، حذف و اولویت‌دهی تسک‌ها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مفهوم </a:t>
            </a:r>
            <a:r>
              <a:rPr lang="en-US" dirty="0">
                <a:cs typeface="B Nazanin" panose="00000400000000000000" pitchFamily="2" charset="-78"/>
              </a:rPr>
              <a:t> Stack Management  </a:t>
            </a:r>
            <a:r>
              <a:rPr lang="fa-IR" dirty="0">
                <a:cs typeface="B Nazanin" panose="00000400000000000000" pitchFamily="2" charset="-78"/>
              </a:rPr>
              <a:t>در هر تسک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 </a:t>
            </a:r>
            <a:r>
              <a:rPr lang="en-US" dirty="0">
                <a:cs typeface="B Nazanin" panose="00000400000000000000" pitchFamily="2" charset="-78"/>
              </a:rPr>
              <a:t>Tick rate </a:t>
            </a:r>
            <a:r>
              <a:rPr lang="fa-IR" dirty="0">
                <a:cs typeface="B Nazanin" panose="00000400000000000000" pitchFamily="2" charset="-78"/>
              </a:rPr>
              <a:t>و زمان‌بندی </a:t>
            </a:r>
            <a:r>
              <a:rPr lang="en-US" dirty="0">
                <a:cs typeface="B Nazanin" panose="00000400000000000000" pitchFamily="2" charset="-78"/>
              </a:rPr>
              <a:t>Real-Time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 Delay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 err="1">
                <a:cs typeface="B Nazanin" panose="00000400000000000000" pitchFamily="2" charset="-78"/>
              </a:rPr>
              <a:t>vTaskDelayUntil</a:t>
            </a:r>
            <a:r>
              <a:rPr lang="en-US" dirty="0">
                <a:cs typeface="B Nazanin" panose="00000400000000000000" pitchFamily="2" charset="-78"/>
              </a:rPr>
              <a:t>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پروژه: طراحی سیستم مولتی‌تسک ساده مثلاً کنترل </a:t>
            </a:r>
            <a:r>
              <a:rPr lang="en-US" dirty="0">
                <a:cs typeface="B Nazanin" panose="00000400000000000000" pitchFamily="2" charset="-78"/>
              </a:rPr>
              <a:t>LED،  UART </a:t>
            </a:r>
            <a:r>
              <a:rPr lang="fa-IR" dirty="0">
                <a:cs typeface="B Nazanin" panose="00000400000000000000" pitchFamily="2" charset="-78"/>
              </a:rPr>
              <a:t>و سنسور در چند تسک</a:t>
            </a:r>
          </a:p>
        </p:txBody>
      </p:sp>
    </p:spTree>
    <p:extLst>
      <p:ext uri="{BB962C8B-B14F-4D97-AF65-F5344CB8AC3E}">
        <p14:creationId xmlns:p14="http://schemas.microsoft.com/office/powerpoint/2010/main" val="2286397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BF87B1-7822-A5F2-C05C-912AE44DB2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945" y="1156086"/>
            <a:ext cx="8229600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7FC4A4-298B-7824-286C-E74CC90F6F9F}"/>
              </a:ext>
            </a:extLst>
          </p:cNvPr>
          <p:cNvSpPr txBox="1"/>
          <p:nvPr/>
        </p:nvSpPr>
        <p:spPr>
          <a:xfrm>
            <a:off x="327454" y="4800197"/>
            <a:ext cx="84890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SEGGER's Real Time Transfer (RTT) is a technology for interactive user I/O in embedded applications. It combines the advantages of SWO and </a:t>
            </a:r>
            <a:r>
              <a:rPr lang="en-U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semihosting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at very high performance.</a:t>
            </a:r>
            <a:br>
              <a:rPr lang="en-US" dirty="0"/>
            </a:b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With RTT, it is possible to output information from the target microcontroller as well as send input to the application at a very high speed without affecting the target's real time behavior.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F3A73-8651-8123-332D-99275D1F93E4}"/>
              </a:ext>
            </a:extLst>
          </p:cNvPr>
          <p:cNvSpPr txBox="1"/>
          <p:nvPr/>
        </p:nvSpPr>
        <p:spPr>
          <a:xfrm>
            <a:off x="586945" y="246988"/>
            <a:ext cx="11409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0" i="0" dirty="0">
                <a:solidFill>
                  <a:srgbClr val="000000"/>
                </a:solidFill>
                <a:effectLst/>
                <a:latin typeface="Linux Libertine"/>
              </a:rPr>
              <a:t>RTT</a:t>
            </a:r>
          </a:p>
        </p:txBody>
      </p:sp>
    </p:spTree>
    <p:extLst>
      <p:ext uri="{BB962C8B-B14F-4D97-AF65-F5344CB8AC3E}">
        <p14:creationId xmlns:p14="http://schemas.microsoft.com/office/powerpoint/2010/main" val="463593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>
            <a:hlinkClick r:id="rId2"/>
            <a:extLst>
              <a:ext uri="{FF2B5EF4-FFF2-40B4-BE49-F238E27FC236}">
                <a16:creationId xmlns:a16="http://schemas.microsoft.com/office/drawing/2014/main" id="{6A06001D-8CB6-3EA4-AFFE-3086E0E51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353" y="3615857"/>
            <a:ext cx="7184587" cy="1527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705BA3-2FD1-6E42-2301-6850B6C90DF8}"/>
              </a:ext>
            </a:extLst>
          </p:cNvPr>
          <p:cNvSpPr txBox="1"/>
          <p:nvPr/>
        </p:nvSpPr>
        <p:spPr>
          <a:xfrm>
            <a:off x="362465" y="2318814"/>
            <a:ext cx="85179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performance of SEGGER RTT is significantly higher than any other technology used to output data to a host PC. An average line of text can be output in one microsecond or less. Basically only the time to do a single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202122"/>
                </a:solidFill>
                <a:effectLst/>
                <a:latin typeface="Courier New" panose="02070309020205020404" pitchFamily="49" charset="0"/>
              </a:rPr>
              <a:t>memcopy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202122"/>
                </a:solidFill>
                <a:effectLst/>
                <a:latin typeface="Courier New" panose="02070309020205020404" pitchFamily="49" charset="0"/>
              </a:rPr>
              <a:t>()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712090-A8E4-CB81-DC4F-CA00C21DAE6B}"/>
              </a:ext>
            </a:extLst>
          </p:cNvPr>
          <p:cNvSpPr txBox="1"/>
          <p:nvPr/>
        </p:nvSpPr>
        <p:spPr>
          <a:xfrm>
            <a:off x="746031" y="527906"/>
            <a:ext cx="2532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RTT Performance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2BD55-C80F-A1FF-6617-45B0A86A850B}"/>
              </a:ext>
            </a:extLst>
          </p:cNvPr>
          <p:cNvSpPr txBox="1"/>
          <p:nvPr/>
        </p:nvSpPr>
        <p:spPr>
          <a:xfrm>
            <a:off x="814353" y="607197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https://kb.segger.com/RTT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394DF8-2721-CE9C-52A0-47F9DA8463C8}"/>
              </a:ext>
            </a:extLst>
          </p:cNvPr>
          <p:cNvSpPr txBox="1"/>
          <p:nvPr/>
        </p:nvSpPr>
        <p:spPr>
          <a:xfrm>
            <a:off x="814353" y="633009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https://github.com/SEGGERMicro/RTT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D77457-550A-1693-6F30-B17C2F51BE6F}"/>
              </a:ext>
            </a:extLst>
          </p:cNvPr>
          <p:cNvSpPr txBox="1"/>
          <p:nvPr/>
        </p:nvSpPr>
        <p:spPr>
          <a:xfrm>
            <a:off x="814352" y="5715159"/>
            <a:ext cx="5059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https://www.segger.com/downloads/systemview/</a:t>
            </a:r>
          </a:p>
        </p:txBody>
      </p:sp>
    </p:spTree>
    <p:extLst>
      <p:ext uri="{BB962C8B-B14F-4D97-AF65-F5344CB8AC3E}">
        <p14:creationId xmlns:p14="http://schemas.microsoft.com/office/powerpoint/2010/main" val="82417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40DA8A-B285-18F1-860E-7CAA22D24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908" y="3029784"/>
            <a:ext cx="6310184" cy="3685384"/>
          </a:xfrm>
          <a:prstGeom prst="rect">
            <a:avLst/>
          </a:prstGeom>
        </p:spPr>
      </p:pic>
      <p:pic>
        <p:nvPicPr>
          <p:cNvPr id="2050" name="Picture 2" descr="Screenshot from 2021-02-04 22-09-36">
            <a:extLst>
              <a:ext uri="{FF2B5EF4-FFF2-40B4-BE49-F238E27FC236}">
                <a16:creationId xmlns:a16="http://schemas.microsoft.com/office/drawing/2014/main" id="{9C471996-BBEE-E6D5-14AB-512225D6E2C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847" y="83279"/>
            <a:ext cx="7744305" cy="3514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616920-36C6-346B-0288-78066D9E43A8}"/>
              </a:ext>
            </a:extLst>
          </p:cNvPr>
          <p:cNvSpPr txBox="1"/>
          <p:nvPr/>
        </p:nvSpPr>
        <p:spPr>
          <a:xfrm>
            <a:off x="243016" y="6545891"/>
            <a:ext cx="84973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https://github.com/nghiaphamsg/stm32f4-freeRTOS/blob/master/002_SEGGER_Tools/README.md</a:t>
            </a:r>
          </a:p>
        </p:txBody>
      </p:sp>
    </p:spTree>
    <p:extLst>
      <p:ext uri="{BB962C8B-B14F-4D97-AF65-F5344CB8AC3E}">
        <p14:creationId xmlns:p14="http://schemas.microsoft.com/office/powerpoint/2010/main" val="313721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EB37C-11D1-B181-EB4A-C309F2AD3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FF8A6-1084-1219-D958-46A85D1B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3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E64B4-1568-ACC5-7C0F-AD16CF565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ارتباط بین تسک‌ها و هم‌زمانی </a:t>
            </a:r>
            <a:r>
              <a:rPr lang="en-US" dirty="0">
                <a:cs typeface="B Nazanin" panose="00000400000000000000" pitchFamily="2" charset="-78"/>
              </a:rPr>
              <a:t>(Synchronization)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2BBAD5-02FB-9830-1BE1-E37EA657E99E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هدف: کار با </a:t>
            </a:r>
            <a:r>
              <a:rPr lang="en-US" dirty="0">
                <a:cs typeface="B Nazanin" panose="00000400000000000000" pitchFamily="2" charset="-78"/>
              </a:rPr>
              <a:t>Queue ،  Semaphore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Mutex 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 </a:t>
            </a:r>
            <a:r>
              <a:rPr lang="en-US" dirty="0">
                <a:cs typeface="B Nazanin" panose="00000400000000000000" pitchFamily="2" charset="-78"/>
              </a:rPr>
              <a:t>Queue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Message Passing </a:t>
            </a:r>
            <a:r>
              <a:rPr lang="fa-IR" dirty="0">
                <a:cs typeface="B Nazanin" panose="00000400000000000000" pitchFamily="2" charset="-78"/>
              </a:rPr>
              <a:t>بین تسک‌ها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</a:t>
            </a:r>
            <a:r>
              <a:rPr lang="en-US" dirty="0">
                <a:cs typeface="B Nazanin" panose="00000400000000000000" pitchFamily="2" charset="-78"/>
              </a:rPr>
              <a:t>Binary / Counting Semaphore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 Mutex </a:t>
            </a:r>
            <a:r>
              <a:rPr lang="fa-IR" dirty="0">
                <a:cs typeface="B Nazanin" panose="00000400000000000000" pitchFamily="2" charset="-78"/>
              </a:rPr>
              <a:t>و جلوگیری از </a:t>
            </a:r>
            <a:r>
              <a:rPr lang="en-US" dirty="0">
                <a:cs typeface="B Nazanin" panose="00000400000000000000" pitchFamily="2" charset="-78"/>
              </a:rPr>
              <a:t>Priority Inversion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پروژه: طراحی سیستم سنجش دما با سنسور و ارسال داده از تسک سنسور به تسک نمایشگر از طریق </a:t>
            </a:r>
            <a:r>
              <a:rPr lang="en-US" dirty="0">
                <a:cs typeface="B Nazanin" panose="00000400000000000000" pitchFamily="2" charset="-78"/>
              </a:rPr>
              <a:t>Queue</a:t>
            </a:r>
          </a:p>
        </p:txBody>
      </p:sp>
    </p:spTree>
    <p:extLst>
      <p:ext uri="{BB962C8B-B14F-4D97-AF65-F5344CB8AC3E}">
        <p14:creationId xmlns:p14="http://schemas.microsoft.com/office/powerpoint/2010/main" val="3429372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FDCA-4A23-03A8-3F98-4874E9A9F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A5DBB-3A29-0DF4-B291-BB6915D64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fa-IR" dirty="0"/>
              <a:t>اتصال نمایشگر رنگی </a:t>
            </a:r>
            <a:r>
              <a:rPr lang="en-US" dirty="0" err="1"/>
              <a:t>spi</a:t>
            </a:r>
            <a:endParaRPr lang="en-US" dirty="0"/>
          </a:p>
          <a:p>
            <a:pPr algn="r" rtl="1"/>
            <a:r>
              <a:rPr lang="fa-IR" dirty="0"/>
              <a:t>دریافت و ارسال کن باس</a:t>
            </a:r>
          </a:p>
          <a:p>
            <a:pPr algn="r" rtl="1"/>
            <a:r>
              <a:rPr lang="fa-IR" dirty="0"/>
              <a:t>پروتکل کانورتر به </a:t>
            </a:r>
            <a:r>
              <a:rPr lang="en-US" dirty="0" err="1"/>
              <a:t>mqtt</a:t>
            </a:r>
            <a:endParaRPr lang="fa-IR" dirty="0"/>
          </a:p>
          <a:p>
            <a:pPr algn="r" rtl="1"/>
            <a:r>
              <a:rPr lang="fa-IR" dirty="0"/>
              <a:t>معرفی همه ی </a:t>
            </a:r>
            <a:r>
              <a:rPr lang="en-US" dirty="0" err="1"/>
              <a:t>api</a:t>
            </a:r>
            <a:r>
              <a:rPr lang="fa-IR" dirty="0"/>
              <a:t> های </a:t>
            </a:r>
            <a:r>
              <a:rPr lang="en-US" dirty="0" err="1"/>
              <a:t>freertos</a:t>
            </a:r>
            <a:endParaRPr lang="en-US" dirty="0"/>
          </a:p>
          <a:p>
            <a:pPr algn="r" rtl="1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4030076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6981C-704C-22E3-925F-5C85B893B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526F-8465-2D69-6DF5-8CB56EFD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4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D3693-09C6-14D4-A91C-EDB8108BE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تایمرها، وقفه‌ها و نرم‌افزار زمان‌بندی پیشرفته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0A7AAE-77F5-DF39-47B4-395CCB6BB29E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هدف: درک کار با </a:t>
            </a:r>
            <a:r>
              <a:rPr lang="en-US" dirty="0">
                <a:cs typeface="B Nazanin" panose="00000400000000000000" pitchFamily="2" charset="-78"/>
              </a:rPr>
              <a:t>Timer Service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ISR</a:t>
            </a:r>
            <a:r>
              <a:rPr lang="fa-IR" dirty="0">
                <a:cs typeface="B Nazanin" panose="00000400000000000000" pitchFamily="2" charset="-78"/>
              </a:rPr>
              <a:t>ها در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endParaRPr lang="en-US" dirty="0">
              <a:cs typeface="B Nazanin" panose="00000400000000000000" pitchFamily="2" charset="-78"/>
            </a:endParaRP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کار با </a:t>
            </a:r>
            <a:r>
              <a:rPr lang="en-US" dirty="0">
                <a:cs typeface="B Nazanin" panose="00000400000000000000" pitchFamily="2" charset="-78"/>
              </a:rPr>
              <a:t>Hardware Timer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Software Timer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وقفه‌ها در محیط </a:t>
            </a:r>
            <a:r>
              <a:rPr lang="en-US" dirty="0">
                <a:cs typeface="B Nazanin" panose="00000400000000000000" pitchFamily="2" charset="-78"/>
              </a:rPr>
              <a:t>RTOS </a:t>
            </a:r>
            <a:r>
              <a:rPr lang="fa-IR" dirty="0">
                <a:cs typeface="B Nazanin" panose="00000400000000000000" pitchFamily="2" charset="-78"/>
              </a:rPr>
              <a:t>و قوانین </a:t>
            </a:r>
            <a:r>
              <a:rPr lang="en-US" dirty="0">
                <a:cs typeface="B Nazanin" panose="00000400000000000000" pitchFamily="2" charset="-78"/>
              </a:rPr>
              <a:t>ISR 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Hook Function </a:t>
            </a:r>
            <a:r>
              <a:rPr lang="fa-IR" dirty="0">
                <a:cs typeface="B Nazanin" panose="00000400000000000000" pitchFamily="2" charset="-78"/>
              </a:rPr>
              <a:t>ها (</a:t>
            </a:r>
            <a:r>
              <a:rPr lang="en-US" dirty="0">
                <a:cs typeface="B Nazanin" panose="00000400000000000000" pitchFamily="2" charset="-78"/>
              </a:rPr>
              <a:t>Idle, Tick, Malloc Failed) 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پروژه: ساخت تایمر نرم‌افزاری برای ثبت داده سنسور در بازه‌های زمانی مختلف</a:t>
            </a:r>
          </a:p>
        </p:txBody>
      </p:sp>
    </p:spTree>
    <p:extLst>
      <p:ext uri="{BB962C8B-B14F-4D97-AF65-F5344CB8AC3E}">
        <p14:creationId xmlns:p14="http://schemas.microsoft.com/office/powerpoint/2010/main" val="2949801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2AC14-DE7C-AB5D-C3F1-8B6315BB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5048D-F7F4-06C7-5065-785C2E27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5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DD53-AE6F-3AF5-CD6F-D9A076E8B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کار با پروتکل‌های ارتباطی و راه‌اندازی شبکه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290AFB-4BBE-C662-A0D9-4F7FF6EA59A3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 اتصال </a:t>
            </a:r>
            <a:r>
              <a:rPr lang="en-US">
                <a:cs typeface="B Nazanin" panose="00000400000000000000" pitchFamily="2" charset="-78"/>
              </a:rPr>
              <a:t>STM32 </a:t>
            </a:r>
            <a:r>
              <a:rPr lang="fa-IR">
                <a:cs typeface="B Nazanin" panose="00000400000000000000" pitchFamily="2" charset="-78"/>
              </a:rPr>
              <a:t>به شبکه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مروری بر </a:t>
            </a:r>
            <a:r>
              <a:rPr lang="en-US">
                <a:cs typeface="B Nazanin" panose="00000400000000000000" pitchFamily="2" charset="-78"/>
              </a:rPr>
              <a:t>UART، SPI، I2C  </a:t>
            </a:r>
            <a:r>
              <a:rPr lang="fa-IR">
                <a:cs typeface="B Nazanin" panose="00000400000000000000" pitchFamily="2" charset="-78"/>
              </a:rPr>
              <a:t>در محیط </a:t>
            </a:r>
            <a:r>
              <a:rPr lang="en-US">
                <a:cs typeface="B Nazanin" panose="00000400000000000000" pitchFamily="2" charset="-78"/>
              </a:rPr>
              <a:t>RTOS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معرفی ماژول‌های شبکه (</a:t>
            </a:r>
            <a:r>
              <a:rPr lang="en-US">
                <a:cs typeface="B Nazanin" panose="00000400000000000000" pitchFamily="2" charset="-78"/>
              </a:rPr>
              <a:t>ESP8266 / ESP32 / W5500 / ENC28J60)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آشنایی با  </a:t>
            </a:r>
            <a:r>
              <a:rPr lang="en-US">
                <a:cs typeface="B Nazanin" panose="00000400000000000000" pitchFamily="2" charset="-78"/>
              </a:rPr>
              <a:t>TCP/IP Stack (LwIP)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آشنایی با </a:t>
            </a:r>
            <a:r>
              <a:rPr lang="en-US">
                <a:cs typeface="B Nazanin" panose="00000400000000000000" pitchFamily="2" charset="-78"/>
              </a:rPr>
              <a:t>UDP </a:t>
            </a:r>
            <a:r>
              <a:rPr lang="fa-IR">
                <a:cs typeface="B Nazanin" panose="00000400000000000000" pitchFamily="2" charset="-78"/>
              </a:rPr>
              <a:t>و </a:t>
            </a:r>
            <a:r>
              <a:rPr lang="en-US">
                <a:cs typeface="B Nazanin" panose="00000400000000000000" pitchFamily="2" charset="-78"/>
              </a:rPr>
              <a:t>TCP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راه‌اندازی ماژول شبکه  مثلاً </a:t>
            </a:r>
            <a:r>
              <a:rPr lang="en-US">
                <a:cs typeface="B Nazanin" panose="00000400000000000000" pitchFamily="2" charset="-78"/>
              </a:rPr>
              <a:t>W5500 </a:t>
            </a:r>
            <a:r>
              <a:rPr lang="fa-IR">
                <a:cs typeface="B Nazanin" panose="00000400000000000000" pitchFamily="2" charset="-78"/>
              </a:rPr>
              <a:t>و ارسال داده به سرور محلی با </a:t>
            </a:r>
            <a:r>
              <a:rPr lang="en-US">
                <a:cs typeface="B Nazanin" panose="00000400000000000000" pitchFamily="2" charset="-78"/>
              </a:rPr>
              <a:t>LwIP </a:t>
            </a:r>
            <a:r>
              <a:rPr lang="fa-IR">
                <a:cs typeface="B Nazanin" panose="00000400000000000000" pitchFamily="2" charset="-78"/>
              </a:rPr>
              <a:t>در </a:t>
            </a:r>
            <a:r>
              <a:rPr lang="en-US">
                <a:cs typeface="B Nazanin" panose="00000400000000000000" pitchFamily="2" charset="-78"/>
              </a:rPr>
              <a:t>FreeRTOS 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10876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A7BB0-B4C6-DAE8-2DA7-34645FF6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D761F-8B96-D102-E661-3B8FFAE85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en-US" dirty="0"/>
              <a:t>Test </a:t>
            </a:r>
            <a:r>
              <a:rPr lang="en-US" dirty="0" err="1"/>
              <a:t>lwip</a:t>
            </a:r>
            <a:r>
              <a:rPr lang="en-US" dirty="0"/>
              <a:t>  </a:t>
            </a:r>
            <a:r>
              <a:rPr lang="en-US" dirty="0" err="1"/>
              <a:t>udp</a:t>
            </a:r>
            <a:endParaRPr lang="en-US" dirty="0"/>
          </a:p>
          <a:p>
            <a:pPr algn="r" rtl="1"/>
            <a:r>
              <a:rPr lang="en-US" dirty="0"/>
              <a:t>Test </a:t>
            </a:r>
            <a:r>
              <a:rPr lang="en-US" dirty="0" err="1"/>
              <a:t>tcp</a:t>
            </a:r>
            <a:endParaRPr lang="en-US" dirty="0"/>
          </a:p>
          <a:p>
            <a:pPr algn="r" rtl="1"/>
            <a:r>
              <a:rPr lang="en-US" dirty="0"/>
              <a:t>Test http</a:t>
            </a:r>
          </a:p>
          <a:p>
            <a:pPr algn="r" rtl="1"/>
            <a:r>
              <a:rPr lang="en-US" dirty="0"/>
              <a:t>Test </a:t>
            </a:r>
            <a:r>
              <a:rPr lang="en-US" dirty="0" err="1"/>
              <a:t>mqtt</a:t>
            </a:r>
            <a:endParaRPr lang="en-US" dirty="0"/>
          </a:p>
          <a:p>
            <a:pPr algn="r" rtl="1"/>
            <a:r>
              <a:rPr lang="fa-IR" dirty="0"/>
              <a:t>بوت لودر</a:t>
            </a:r>
            <a:endParaRPr lang="en-US" dirty="0"/>
          </a:p>
          <a:p>
            <a:pPr algn="r" rt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879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6277-D712-F44D-AC95-BE4433571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8A29A-2D87-3013-CB5B-888DEBBAD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6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4F7C9-56F4-0280-7034-92C21F24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</a:t>
            </a:r>
            <a:r>
              <a:rPr lang="en-US" dirty="0">
                <a:cs typeface="B Nazanin" panose="00000400000000000000" pitchFamily="2" charset="-78"/>
              </a:rPr>
              <a:t>IoT</a:t>
            </a:r>
            <a:r>
              <a:rPr lang="fa-IR" dirty="0">
                <a:cs typeface="B Nazanin" panose="00000400000000000000" pitchFamily="2" charset="-78"/>
              </a:rPr>
              <a:t> ارسال داده به سرور ابری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090B9-B00C-F01C-EB6A-1DFFDA81C9D9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 : اتصال پروژه به اینترنت و ارسال داده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مرور </a:t>
            </a:r>
            <a:r>
              <a:rPr lang="en-US">
                <a:cs typeface="B Nazanin" panose="00000400000000000000" pitchFamily="2" charset="-78"/>
              </a:rPr>
              <a:t>MQTT </a:t>
            </a:r>
            <a:r>
              <a:rPr lang="fa-IR">
                <a:cs typeface="B Nazanin" panose="00000400000000000000" pitchFamily="2" charset="-78"/>
              </a:rPr>
              <a:t>و </a:t>
            </a:r>
            <a:r>
              <a:rPr lang="en-US">
                <a:cs typeface="B Nazanin" panose="00000400000000000000" pitchFamily="2" charset="-78"/>
              </a:rPr>
              <a:t>HTTP Protocols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کار با </a:t>
            </a:r>
            <a:r>
              <a:rPr lang="en-US">
                <a:cs typeface="B Nazanin" panose="00000400000000000000" pitchFamily="2" charset="-78"/>
              </a:rPr>
              <a:t>broker </a:t>
            </a:r>
            <a:r>
              <a:rPr lang="fa-IR">
                <a:cs typeface="B Nazanin" panose="00000400000000000000" pitchFamily="2" charset="-78"/>
              </a:rPr>
              <a:t>مثلاً </a:t>
            </a:r>
            <a:r>
              <a:rPr lang="en-US">
                <a:cs typeface="B Nazanin" panose="00000400000000000000" pitchFamily="2" charset="-78"/>
              </a:rPr>
              <a:t>Mosquitto 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ارتباط </a:t>
            </a:r>
            <a:r>
              <a:rPr lang="en-US">
                <a:cs typeface="B Nazanin" panose="00000400000000000000" pitchFamily="2" charset="-78"/>
              </a:rPr>
              <a:t>STM32 </a:t>
            </a:r>
            <a:r>
              <a:rPr lang="fa-IR">
                <a:cs typeface="B Nazanin" panose="00000400000000000000" pitchFamily="2" charset="-78"/>
              </a:rPr>
              <a:t>با </a:t>
            </a:r>
            <a:r>
              <a:rPr lang="en-US">
                <a:cs typeface="B Nazanin" panose="00000400000000000000" pitchFamily="2" charset="-78"/>
              </a:rPr>
              <a:t>MQTT Broker  </a:t>
            </a:r>
            <a:r>
              <a:rPr lang="fa-IR">
                <a:cs typeface="B Nazanin" panose="00000400000000000000" pitchFamily="2" charset="-78"/>
              </a:rPr>
              <a:t>مثلاً </a:t>
            </a:r>
            <a:r>
              <a:rPr lang="en-US">
                <a:cs typeface="B Nazanin" panose="00000400000000000000" pitchFamily="2" charset="-78"/>
              </a:rPr>
              <a:t>HiveMQ </a:t>
            </a:r>
            <a:r>
              <a:rPr lang="fa-IR">
                <a:cs typeface="B Nazanin" panose="00000400000000000000" pitchFamily="2" charset="-78"/>
              </a:rPr>
              <a:t>یا </a:t>
            </a:r>
            <a:r>
              <a:rPr lang="en-US">
                <a:cs typeface="B Nazanin" panose="00000400000000000000" pitchFamily="2" charset="-78"/>
              </a:rPr>
              <a:t>CloudMQTT 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طراحی یک سیستم مانیتورینگ دما/رطوبت که داده‌ها را به </a:t>
            </a:r>
            <a:r>
              <a:rPr lang="en-US">
                <a:cs typeface="B Nazanin" panose="00000400000000000000" pitchFamily="2" charset="-78"/>
              </a:rPr>
              <a:t>MQTT Broker </a:t>
            </a:r>
            <a:r>
              <a:rPr lang="fa-IR">
                <a:cs typeface="B Nazanin" panose="00000400000000000000" pitchFamily="2" charset="-78"/>
              </a:rPr>
              <a:t>ارسال می‌کند</a:t>
            </a:r>
            <a:endParaRPr lang="fa-IR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36019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6DAE4-BE7E-3EC9-564A-429DD4F6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8348-E153-9CB7-0C66-8186282C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7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E4E74-2471-9058-04C3-01ACB025B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</a:t>
            </a:r>
            <a:r>
              <a:rPr lang="en-US" dirty="0">
                <a:cs typeface="B Nazanin" panose="00000400000000000000" pitchFamily="2" charset="-78"/>
              </a:rPr>
              <a:t>IoT – </a:t>
            </a:r>
            <a:r>
              <a:rPr lang="fa-IR" dirty="0">
                <a:cs typeface="B Nazanin" panose="00000400000000000000" pitchFamily="2" charset="-78"/>
              </a:rPr>
              <a:t>کنترل از راه دور و </a:t>
            </a:r>
            <a:r>
              <a:rPr lang="en-US" dirty="0">
                <a:cs typeface="B Nazanin" panose="00000400000000000000" pitchFamily="2" charset="-78"/>
              </a:rPr>
              <a:t>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D15A9-6A20-14D2-60A4-0ECCCA15AF1F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دریافت فرمان از اینترنت و کنترل دستگاه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پیاده‌سازی قابلیت </a:t>
            </a:r>
            <a:r>
              <a:rPr lang="en-US">
                <a:cs typeface="B Nazanin" panose="00000400000000000000" pitchFamily="2" charset="-78"/>
              </a:rPr>
              <a:t>Subscribe </a:t>
            </a:r>
            <a:r>
              <a:rPr lang="fa-IR">
                <a:cs typeface="B Nazanin" panose="00000400000000000000" pitchFamily="2" charset="-78"/>
              </a:rPr>
              <a:t>در </a:t>
            </a:r>
            <a:r>
              <a:rPr lang="en-US">
                <a:cs typeface="B Nazanin" panose="00000400000000000000" pitchFamily="2" charset="-78"/>
              </a:rPr>
              <a:t>MQTT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طراحی داشبورد تحت وب ساده برای مانیتور و کنترل مثلاً با </a:t>
            </a:r>
            <a:r>
              <a:rPr lang="en-US">
                <a:cs typeface="B Nazanin" panose="00000400000000000000" pitchFamily="2" charset="-78"/>
              </a:rPr>
              <a:t>Node-RED </a:t>
            </a:r>
            <a:r>
              <a:rPr lang="fa-IR">
                <a:cs typeface="B Nazanin" panose="00000400000000000000" pitchFamily="2" charset="-78"/>
              </a:rPr>
              <a:t>یا </a:t>
            </a:r>
            <a:r>
              <a:rPr lang="en-US">
                <a:cs typeface="B Nazanin" panose="00000400000000000000" pitchFamily="2" charset="-78"/>
              </a:rPr>
              <a:t>Blynk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بهینه ‌سازی حافظه و اولویت‌بندی تسک‌ها در پروژه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کنترل رله یا </a:t>
            </a:r>
            <a:r>
              <a:rPr lang="en-US">
                <a:cs typeface="B Nazanin" panose="00000400000000000000" pitchFamily="2" charset="-78"/>
              </a:rPr>
              <a:t>LED </a:t>
            </a:r>
            <a:r>
              <a:rPr lang="fa-IR">
                <a:cs typeface="B Nazanin" panose="00000400000000000000" pitchFamily="2" charset="-78"/>
              </a:rPr>
              <a:t>از طریق اینترنت با </a:t>
            </a:r>
            <a:r>
              <a:rPr lang="en-US">
                <a:cs typeface="B Nazanin" panose="00000400000000000000" pitchFamily="2" charset="-78"/>
              </a:rPr>
              <a:t>Dashboard 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02097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88860-3567-DB22-952A-0314B2103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28EC8-F5E8-34AB-B3BB-472A959E1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8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7390E-8266-E23E-151A-9EF14E246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دیباگ، بهینه‌سازی و نهایی‌سازی پروژه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A77547-B132-C0B6-BD2C-F52D83B0FDFD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جمع‌بندی و حرفه‌ای‌سازی پروژه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تکنیک‌های </a:t>
            </a:r>
            <a:r>
              <a:rPr lang="en-US">
                <a:cs typeface="B Nazanin" panose="00000400000000000000" pitchFamily="2" charset="-78"/>
              </a:rPr>
              <a:t>Debug </a:t>
            </a:r>
            <a:r>
              <a:rPr lang="fa-IR">
                <a:cs typeface="B Nazanin" panose="00000400000000000000" pitchFamily="2" charset="-78"/>
              </a:rPr>
              <a:t>در    </a:t>
            </a:r>
            <a:r>
              <a:rPr lang="en-US">
                <a:cs typeface="B Nazanin" panose="00000400000000000000" pitchFamily="2" charset="-78"/>
              </a:rPr>
              <a:t>FreeRTOS  </a:t>
            </a:r>
            <a:r>
              <a:rPr lang="fa-IR">
                <a:cs typeface="B Nazanin" panose="00000400000000000000" pitchFamily="2" charset="-78"/>
              </a:rPr>
              <a:t>با کمک </a:t>
            </a:r>
            <a:r>
              <a:rPr lang="en-US">
                <a:cs typeface="B Nazanin" panose="00000400000000000000" pitchFamily="2" charset="-78"/>
              </a:rPr>
              <a:t>Tracealyzer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مدیریت حافظه و </a:t>
            </a:r>
            <a:r>
              <a:rPr lang="en-US">
                <a:cs typeface="B Nazanin" panose="00000400000000000000" pitchFamily="2" charset="-78"/>
              </a:rPr>
              <a:t>Heap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نکات حرفه‌ای در طراحی نرم‌افزار </a:t>
            </a:r>
            <a:r>
              <a:rPr lang="en-US">
                <a:cs typeface="B Nazanin" panose="00000400000000000000" pitchFamily="2" charset="-78"/>
              </a:rPr>
              <a:t>Real-Time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 نهایی:  سیستم </a:t>
            </a:r>
            <a:r>
              <a:rPr lang="en-US">
                <a:cs typeface="B Nazanin" panose="00000400000000000000" pitchFamily="2" charset="-78"/>
              </a:rPr>
              <a:t>IoT </a:t>
            </a:r>
            <a:r>
              <a:rPr lang="fa-IR">
                <a:cs typeface="B Nazanin" panose="00000400000000000000" pitchFamily="2" charset="-78"/>
              </a:rPr>
              <a:t>کامل شامل سنجش، ارسال داده به سرور و کنترل از راه دور</a:t>
            </a:r>
            <a:endParaRPr lang="fa-IR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3482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B1635-F164-AF84-55F3-CB5EAB20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99C7-BC4C-61FC-7C1A-60BB670E3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9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DD1FA-3B43-07FF-86EE-FB2E508CF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ی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9DE6D-1853-E134-E982-DC1980984B43}"/>
              </a:ext>
            </a:extLst>
          </p:cNvPr>
          <p:cNvSpPr txBox="1"/>
          <p:nvPr/>
        </p:nvSpPr>
        <p:spPr>
          <a:xfrm>
            <a:off x="286265" y="2752110"/>
            <a:ext cx="857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بررسی</a:t>
            </a:r>
          </a:p>
        </p:txBody>
      </p:sp>
    </p:spTree>
    <p:extLst>
      <p:ext uri="{BB962C8B-B14F-4D97-AF65-F5344CB8AC3E}">
        <p14:creationId xmlns:p14="http://schemas.microsoft.com/office/powerpoint/2010/main" val="4138362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3156-EFE1-1407-34BE-226D3932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433B5-6EC9-659C-24F1-DBCA636E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10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9856A-F276-4D27-571A-6026FBB3B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ی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8B2E2-9B2C-C4E7-5022-EDD4EE4F0F42}"/>
              </a:ext>
            </a:extLst>
          </p:cNvPr>
          <p:cNvSpPr txBox="1"/>
          <p:nvPr/>
        </p:nvSpPr>
        <p:spPr>
          <a:xfrm>
            <a:off x="286265" y="2752110"/>
            <a:ext cx="857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بررسی</a:t>
            </a:r>
          </a:p>
        </p:txBody>
      </p:sp>
    </p:spTree>
    <p:extLst>
      <p:ext uri="{BB962C8B-B14F-4D97-AF65-F5344CB8AC3E}">
        <p14:creationId xmlns:p14="http://schemas.microsoft.com/office/powerpoint/2010/main" val="27362740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83E2A-1BCD-95CE-2B0D-3ED87E129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configUSE_PREEMPTION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5DAAE-4B08-226F-ED39-37888ABB8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r" rtl="1">
              <a:lnSpc>
                <a:spcPct val="200000"/>
              </a:lnSpc>
            </a:pP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در </a:t>
            </a:r>
            <a:r>
              <a:rPr lang="en-US" sz="2000" b="1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، </a:t>
            </a: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گزینه‌ی </a:t>
            </a: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 </a:t>
            </a:r>
            <a:r>
              <a:rPr lang="en-US" sz="2000" b="1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configUSE_PREEMPTION</a:t>
            </a: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یکی از مهم‌ترین تنظیمات زمان‌بندی</a:t>
            </a: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(Scheduler) </a:t>
            </a: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 و مشخص می‌کند که سیستم </a:t>
            </a:r>
            <a:endParaRPr lang="en-US" sz="2000" b="1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lnSpc>
                <a:spcPct val="200000"/>
              </a:lnSpc>
            </a:pP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پیش‌دستانه </a:t>
            </a:r>
            <a:r>
              <a:rPr lang="en-US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(Preemptive) </a:t>
            </a: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باشد</a:t>
            </a:r>
            <a:endParaRPr lang="en-US" sz="2400" b="1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lnSpc>
                <a:spcPct val="200000"/>
              </a:lnSpc>
            </a:pP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یا همکارانه</a:t>
            </a:r>
            <a:r>
              <a:rPr lang="en-US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(Cooperative)  </a:t>
            </a:r>
          </a:p>
        </p:txBody>
      </p:sp>
    </p:spTree>
    <p:extLst>
      <p:ext uri="{BB962C8B-B14F-4D97-AF65-F5344CB8AC3E}">
        <p14:creationId xmlns:p14="http://schemas.microsoft.com/office/powerpoint/2010/main" val="1498480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12641-8025-E334-F78E-1FFC0FDC3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B47AB-4C69-9917-B6E7-A404ACFD2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rtl="1"/>
            <a:r>
              <a:rPr lang="en-US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) </a:t>
            </a:r>
            <a:r>
              <a:rPr lang="en-US" sz="3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configUSE_PREEMPTION</a:t>
            </a:r>
            <a:r>
              <a:rPr lang="en-US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 = 1 </a:t>
            </a:r>
            <a:r>
              <a:rPr lang="fa-IR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پیش‌دستانه)</a:t>
            </a:r>
            <a:endParaRPr lang="en-US" sz="3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50048-B379-8D52-D2CA-B087AE1BE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این حالت </a:t>
            </a: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پیش‌فرض و رایج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در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است.</a:t>
            </a:r>
            <a:endParaRPr lang="en-US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رفتار:</a:t>
            </a: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اگر یک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با </a:t>
            </a: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اولویت بالاتر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آماده‌ی اجرا شود،</a:t>
            </a:r>
            <a:b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بلافاصله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اجرای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فعلی را قطع می‌کند و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با اولویت بالاتر را اجرا می‌کند.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نیازی نیست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فعلی خودش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CPU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را آزاد کند.</a:t>
            </a:r>
            <a:endParaRPr lang="en-US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نتیجه‌ها:</a:t>
            </a: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پاسخ‌دهی سریع‌تر (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Real-Time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واقعی‌تر)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مناسب برای سیستم‌های حساس به زمان (مثلاً کنترل موتور، ارتباطات، سنسورها)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Context Switch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بیشتر (سربار کمی بالاتر)</a:t>
            </a:r>
          </a:p>
        </p:txBody>
      </p:sp>
    </p:spTree>
    <p:extLst>
      <p:ext uri="{BB962C8B-B14F-4D97-AF65-F5344CB8AC3E}">
        <p14:creationId xmlns:p14="http://schemas.microsoft.com/office/powerpoint/2010/main" val="32150933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279DF-4C1C-5D84-C4E0-085176066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866A4-2016-F06C-FC46-06AEEDBC3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rtl="1"/>
            <a:r>
              <a:rPr lang="en-US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) </a:t>
            </a:r>
            <a:r>
              <a:rPr lang="en-US" sz="3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configUSE_PREEMPTION</a:t>
            </a:r>
            <a:r>
              <a:rPr lang="en-US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 = 0 </a:t>
            </a:r>
            <a:r>
              <a:rPr lang="fa-IR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همکارانه)</a:t>
            </a:r>
            <a:endParaRPr lang="en-US" sz="3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2672F-EB53-F0A5-D0DC-ABF96CBB8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 algn="r" rtl="1">
              <a:lnSpc>
                <a:spcPct val="160000"/>
              </a:lnSpc>
              <a:buNone/>
            </a:pP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این حالت زمان‌بندی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Cooperative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است.</a:t>
            </a:r>
            <a:endParaRPr lang="en-US" sz="2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60000"/>
              </a:lnSpc>
              <a:buNone/>
            </a:pPr>
            <a:endParaRPr lang="fa-IR" sz="2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60000"/>
              </a:lnSpc>
              <a:buNone/>
            </a:pP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رفتار:</a:t>
            </a:r>
            <a:endParaRPr lang="fa-IR" sz="2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60000"/>
              </a:lnSpc>
              <a:buNone/>
            </a:pP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فعلی فقط زمانی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CPU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را آزاد می‌کند که:</a:t>
            </a:r>
          </a:p>
          <a:p>
            <a:pPr marL="457200" lvl="1" indent="0" algn="r" rtl="1">
              <a:lnSpc>
                <a:spcPct val="160000"/>
              </a:lnSpc>
              <a:buNone/>
            </a:pP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2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taskYIELD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()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صدا زده شود</a:t>
            </a:r>
          </a:p>
          <a:p>
            <a:pPr marL="457200" lvl="1" indent="0" algn="r" rtl="1">
              <a:lnSpc>
                <a:spcPct val="160000"/>
              </a:lnSpc>
              <a:buNone/>
            </a:pP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یا وارد حالت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Block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شود مثلاً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sz="2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vTaskDelay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())</a:t>
            </a:r>
          </a:p>
          <a:p>
            <a:pPr marL="457200" lvl="1" indent="0" algn="r" rtl="1">
              <a:lnSpc>
                <a:spcPct val="160000"/>
              </a:lnSpc>
              <a:buNone/>
            </a:pPr>
            <a:endParaRPr lang="en-US" sz="2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60000"/>
              </a:lnSpc>
              <a:buNone/>
            </a:pP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نتیجه‌ها:</a:t>
            </a:r>
            <a:endParaRPr lang="fa-IR" sz="2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60000"/>
              </a:lnSpc>
              <a:buNone/>
            </a:pP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کنترل کامل‌تر دست برنامه‌نویس</a:t>
            </a:r>
          </a:p>
          <a:p>
            <a:pPr marL="0" indent="0" algn="r" rtl="1">
              <a:lnSpc>
                <a:spcPct val="160000"/>
              </a:lnSpc>
              <a:buNone/>
            </a:pP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Context Switch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کمتر</a:t>
            </a:r>
          </a:p>
          <a:p>
            <a:pPr marL="0" indent="0" algn="r" rtl="1">
              <a:lnSpc>
                <a:spcPct val="160000"/>
              </a:lnSpc>
              <a:buNone/>
            </a:pP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خطر قفل شدن سیستم اگر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Task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طولانی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Yield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نکند</a:t>
            </a:r>
          </a:p>
        </p:txBody>
      </p:sp>
    </p:spTree>
    <p:extLst>
      <p:ext uri="{BB962C8B-B14F-4D97-AF65-F5344CB8AC3E}">
        <p14:creationId xmlns:p14="http://schemas.microsoft.com/office/powerpoint/2010/main" val="1290161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33D36-289A-8F7A-809C-9B6FE091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E2F61-19FF-7873-B63D-8E2C6B32F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rtl="1"/>
            <a:r>
              <a:rPr lang="en-US" sz="3200" dirty="0">
                <a:latin typeface="IRANSansWeb" panose="020B0506030804020204" pitchFamily="34" charset="-78"/>
                <a:cs typeface="IRANSansWeb" panose="020B0506030804020204" pitchFamily="34" charset="-78"/>
              </a:rPr>
              <a:t>Synchronization Primitives in </a:t>
            </a:r>
            <a:r>
              <a:rPr lang="en-US" sz="3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endParaRPr lang="en-US" sz="3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08291-FB05-6DDF-EC8D-F81075B3D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r" rtl="1">
              <a:buNone/>
            </a:pPr>
            <a:endParaRPr lang="en-US" sz="2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200000"/>
              </a:lnSpc>
              <a:buNone/>
            </a:pP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ابزارهای در هر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RTOS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هستند که کمک می‌کنند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ها و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ISR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ها بتوانند </a:t>
            </a: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با هم هماهنگ شوند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، </a:t>
            </a: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به منابع مشترک دسترسی امن داشته باشند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fa-IR" sz="24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رویدادها را به هم اطلاع بدهند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. بدون این‌ها، سیستم خیلی زود دچار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Race Condition </a:t>
            </a:r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و باگ‌های عجیب می‌شود.</a:t>
            </a:r>
          </a:p>
        </p:txBody>
      </p:sp>
    </p:spTree>
    <p:extLst>
      <p:ext uri="{BB962C8B-B14F-4D97-AF65-F5344CB8AC3E}">
        <p14:creationId xmlns:p14="http://schemas.microsoft.com/office/powerpoint/2010/main" val="39099066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66E10-D596-7BC4-91FB-643AEB18C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سمافور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Semaphore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38AA2-6ECE-1037-1A2C-4704A7FB4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64741"/>
          </a:xfrm>
        </p:spPr>
        <p:txBody>
          <a:bodyPr>
            <a:normAutofit fontScale="47500" lnSpcReduction="20000"/>
          </a:bodyPr>
          <a:lstStyle/>
          <a:p>
            <a:pPr marL="0" indent="0" algn="r" rtl="1">
              <a:lnSpc>
                <a:spcPct val="170000"/>
              </a:lnSpc>
              <a:buNone/>
            </a:pPr>
            <a:r>
              <a:rPr lang="en-US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Binary Semaphore</a:t>
            </a:r>
          </a:p>
          <a:p>
            <a:pPr marL="0" indent="0" algn="r" rtl="1">
              <a:lnSpc>
                <a:spcPct val="170000"/>
              </a:lnSpc>
              <a:buNone/>
            </a:pP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برای </a:t>
            </a:r>
            <a:r>
              <a:rPr lang="fa-IR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سیگنال دادن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 بین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ها یا بین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ISR → Task.</a:t>
            </a:r>
          </a:p>
          <a:p>
            <a:pPr marL="0" indent="0" algn="r" rtl="1">
              <a:lnSpc>
                <a:spcPct val="170000"/>
              </a:lnSpc>
              <a:buNone/>
            </a:pPr>
            <a:r>
              <a:rPr lang="fa-IR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ویژگی‌ها:</a:t>
            </a:r>
            <a:endParaRPr lang="fa-IR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70000"/>
              </a:lnSpc>
              <a:buNone/>
            </a:pP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فقط 0 یا 1</a:t>
            </a:r>
          </a:p>
          <a:p>
            <a:pPr marL="0" indent="0" algn="r" rtl="1">
              <a:lnSpc>
                <a:spcPct val="170000"/>
              </a:lnSpc>
              <a:buNone/>
            </a:pP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مالکیت ندارد برخلاف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(Mutex)</a:t>
            </a:r>
          </a:p>
          <a:p>
            <a:pPr marL="0" indent="0" algn="r" rtl="1">
              <a:lnSpc>
                <a:spcPct val="170000"/>
              </a:lnSpc>
              <a:buNone/>
            </a:pP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مناسب برای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Event Notification</a:t>
            </a:r>
          </a:p>
          <a:p>
            <a:pPr marL="0" indent="0" algn="r" rtl="1">
              <a:lnSpc>
                <a:spcPct val="170000"/>
              </a:lnSpc>
              <a:buNone/>
            </a:pPr>
            <a:r>
              <a:rPr lang="fa-IR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کاربرد رایج:</a:t>
            </a:r>
            <a:endParaRPr lang="fa-IR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70000"/>
              </a:lnSpc>
              <a:buNone/>
            </a:pP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ISR 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به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Task 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خبر بدهد که یک اتفاق افتاده (مثلاً داده‌ی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UART 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رسید)</a:t>
            </a:r>
          </a:p>
          <a:p>
            <a:pPr marL="0" indent="0" rtl="1">
              <a:lnSpc>
                <a:spcPct val="170000"/>
              </a:lnSpc>
              <a:buNone/>
            </a:pPr>
            <a:r>
              <a:rPr lang="en-US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xSemaphoreGiveFromISR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xBinarySemaphore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, &amp;</a:t>
            </a:r>
            <a:r>
              <a:rPr lang="en-US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xHigherPriorityTaskWoken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rtl="1">
              <a:lnSpc>
                <a:spcPct val="170000"/>
              </a:lnSpc>
              <a:buNone/>
            </a:pPr>
            <a:r>
              <a:rPr lang="en-US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xSemaphoreTake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xBinarySemaphore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, </a:t>
            </a:r>
            <a:r>
              <a:rPr lang="en-US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portMAX_DELAY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algn="r" rtl="1">
              <a:lnSpc>
                <a:spcPct val="170000"/>
              </a:lnSpc>
              <a:buNone/>
            </a:pP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✅ 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سبک و سریع</a:t>
            </a:r>
            <a:b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❌ 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محافظت از </a:t>
            </a:r>
            <a:r>
              <a:rPr lang="en-US" dirty="0">
                <a:latin typeface="IRANSansWeb" panose="020B0506030804020204" pitchFamily="34" charset="-78"/>
                <a:cs typeface="IRANSansWeb" panose="020B0506030804020204" pitchFamily="34" charset="-78"/>
              </a:rPr>
              <a:t>Resource </a:t>
            </a:r>
            <a:r>
              <a:rPr lang="fa-IR" dirty="0">
                <a:latin typeface="IRANSansWeb" panose="020B0506030804020204" pitchFamily="34" charset="-78"/>
                <a:cs typeface="IRANSansWeb" panose="020B0506030804020204" pitchFamily="34" charset="-78"/>
              </a:rPr>
              <a:t>مناسب نیست</a:t>
            </a:r>
          </a:p>
        </p:txBody>
      </p:sp>
    </p:spTree>
    <p:extLst>
      <p:ext uri="{BB962C8B-B14F-4D97-AF65-F5344CB8AC3E}">
        <p14:creationId xmlns:p14="http://schemas.microsoft.com/office/powerpoint/2010/main" val="3986650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A6191-59DC-BA7D-5F2B-D148FE241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685A5-AB9F-30A9-94B4-2D2C6434F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سمافور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Semaphore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C045A-29CA-FFC5-75D3-85992D6E0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63353"/>
          </a:xfrm>
        </p:spPr>
        <p:txBody>
          <a:bodyPr>
            <a:normAutofit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Counting Semaphore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برای مدیریت </a:t>
            </a: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تعداد منابع محدود</a:t>
            </a: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.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مثال‌ها:</a:t>
            </a:r>
            <a:endParaRPr lang="fa-IR" sz="20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تعداد بافر آزاد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تعداد اتصال هم‌زمان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20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xSemaphoreCreateCounting</a:t>
            </a: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(5, 5);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اگر مقدارش 5 باشد یعنی 5 منبع در دسترس است.</a:t>
            </a:r>
          </a:p>
        </p:txBody>
      </p:sp>
    </p:spTree>
    <p:extLst>
      <p:ext uri="{BB962C8B-B14F-4D97-AF65-F5344CB8AC3E}">
        <p14:creationId xmlns:p14="http://schemas.microsoft.com/office/powerpoint/2010/main" val="2353019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D1AE4-7ED4-9126-DDAD-10D6FDCBB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46084-81C5-5BE9-F158-B982C469E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میوتکس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Mutex (Mutual Exclusion)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19028-3AB5-80B6-1D01-5696FE74E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63353"/>
          </a:xfrm>
        </p:spPr>
        <p:txBody>
          <a:bodyPr>
            <a:normAutofit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برای </a:t>
            </a:r>
            <a:r>
              <a:rPr lang="fa-IR" sz="16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محافظت از منابع مشترک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مثل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LCD، I2C، SPI.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6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ویژگی مهم: </a:t>
            </a:r>
            <a:r>
              <a:rPr lang="en-US" sz="16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Priority Inheritance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اگر 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کم‌اولویت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Mutex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را بگیرد و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پر‌اولویت منتظرش بماند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موقتاً اولویت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کم‌ اولویت را بالا می‌برد وجلوی </a:t>
            </a:r>
            <a:r>
              <a:rPr lang="en-US" sz="16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Priority Inversion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را می‌گیرد.</a:t>
            </a:r>
          </a:p>
          <a:p>
            <a:pPr marL="0" indent="0" algn="r" rtl="1">
              <a:lnSpc>
                <a:spcPct val="150000"/>
              </a:lnSpc>
              <a:buNone/>
            </a:pP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xSemaphoreHandle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xMutex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=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xSemaphoreCreateMutex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();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xSemaphoreTake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xMutex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,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portMAX_DELAY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استفاده از منبع مشترک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xSemaphoreGive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xMutex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❌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نباید از 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ISR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استفاده شود</a:t>
            </a:r>
            <a:b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✅ 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فقط بین 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ها</a:t>
            </a:r>
          </a:p>
        </p:txBody>
      </p:sp>
    </p:spTree>
    <p:extLst>
      <p:ext uri="{BB962C8B-B14F-4D97-AF65-F5344CB8AC3E}">
        <p14:creationId xmlns:p14="http://schemas.microsoft.com/office/powerpoint/2010/main" val="27818589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8F59E-4FAB-15F0-A8A4-77522DD9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FB410-CB4E-EB9E-5990-61642135B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صف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F1439-A048-5166-EA23-E468CEABF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045915"/>
          </a:xfrm>
        </p:spPr>
        <p:txBody>
          <a:bodyPr>
            <a:noAutofit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Queue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فقط برای داده نیست!</a:t>
            </a:r>
            <a:b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یکی از قوی‌ترین ابزارهای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Synchronization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است.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قابلیت‌ها:</a:t>
            </a: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انتقال داده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Block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شدن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همزمانی امن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xQueueSend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(queue, &amp;data,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portMAX_DELAY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xQueueReceive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(queue, &amp;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rxData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,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portMAX_DELAY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📌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اگر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Queue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خالی باشد →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گیر می‌کند</a:t>
            </a:r>
            <a:b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📌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اگر داده برسد →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بلافاصله بیدار می‌شود</a:t>
            </a:r>
          </a:p>
        </p:txBody>
      </p:sp>
    </p:spTree>
    <p:extLst>
      <p:ext uri="{BB962C8B-B14F-4D97-AF65-F5344CB8AC3E}">
        <p14:creationId xmlns:p14="http://schemas.microsoft.com/office/powerpoint/2010/main" val="325378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86E3F-B060-D10F-BA81-61304EA03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31942-7EDA-BC68-4CAF-7792001E6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ایونت گروپ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Event 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8FA14-F5B0-799B-F72E-725D68144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920409"/>
          </a:xfrm>
        </p:spPr>
        <p:txBody>
          <a:bodyPr>
            <a:noAutofit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برای </a:t>
            </a: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چند رویداد هم‌زمان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(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(Bit-based synchronization</a:t>
            </a: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مثال کاربردی:</a:t>
            </a: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WiFi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وصل شد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IP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گرفت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MQTT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آماده است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هر رویداد یک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Bit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است.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xEventGroupWaitBits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eventGroup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, WIFI_CONNECTED | MQTT_READY,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pdTRUE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,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pdTRUE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,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portMAX_DELAY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یعنی: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صبر کن تا </a:t>
            </a: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همه‌ی این بیت‌ها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ست شوند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✅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عالی برای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State Machine</a:t>
            </a:r>
            <a:b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❌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مناسب انتقال داده نیست</a:t>
            </a:r>
          </a:p>
        </p:txBody>
      </p:sp>
    </p:spTree>
    <p:extLst>
      <p:ext uri="{BB962C8B-B14F-4D97-AF65-F5344CB8AC3E}">
        <p14:creationId xmlns:p14="http://schemas.microsoft.com/office/powerpoint/2010/main" val="2970117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61687-68E9-85FF-EC7B-9E0FE4839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B976A-D51F-0381-9F43-D4DB9EA3A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تسک نوتیفیکیشن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 Notification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E191C-2376-3C76-2680-5178A1C95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920409"/>
          </a:xfrm>
        </p:spPr>
        <p:txBody>
          <a:bodyPr>
            <a:noAutofit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سریع‌ترین روش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Synchronization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en-US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ویژگی‌ها:</a:t>
            </a:r>
            <a:endParaRPr lang="fa-IR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هر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یک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Notification Value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با طول 32 بیت دارد 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بدون تخصیص حافظه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جایگزین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Semaphore / Event / Queue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کوچک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xTaskNotify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taskHandle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, 0x01,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eSetBits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ulTaskNotifyTake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(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pdTRUE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, </a:t>
            </a:r>
            <a:r>
              <a:rPr lang="en-US" sz="18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portMAX_DELAY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);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⚡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سریع‌تر از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Semaphore</a:t>
            </a:r>
            <a:b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</a:b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⚡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مناسب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ISR → Task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📌 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محدودیت: فقط </a:t>
            </a:r>
            <a:r>
              <a:rPr lang="fa-IR" sz="18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یک گیرنده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 (یک </a:t>
            </a:r>
            <a:r>
              <a:rPr lang="en-US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Task</a:t>
            </a:r>
            <a:r>
              <a:rPr lang="fa-IR" sz="1800" dirty="0">
                <a:latin typeface="IRANSansWeb" panose="020B0506030804020204" pitchFamily="34" charset="-78"/>
                <a:cs typeface="IRANSansWeb" panose="020B0506030804020204" pitchFamily="34" charset="-78"/>
              </a:rPr>
              <a:t>)</a:t>
            </a:r>
            <a:endParaRPr lang="en-US" sz="18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35882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B3635-545A-6083-3722-F366D6B5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A85F6-5A44-58AA-A611-15CADB049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rtl="1"/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بافر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- </a:t>
            </a:r>
            <a:r>
              <a:rPr lang="fa-IR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4000" dirty="0">
                <a:latin typeface="IRANSansWeb" panose="020B0506030804020204" pitchFamily="34" charset="-78"/>
                <a:cs typeface="IRANSansWeb" panose="020B0506030804020204" pitchFamily="34" charset="-78"/>
              </a:rPr>
              <a:t>Stream Buffer / Message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94752-0374-0DF4-6382-4237E9704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920409"/>
          </a:xfrm>
        </p:spPr>
        <p:txBody>
          <a:bodyPr>
            <a:noAutofit/>
          </a:bodyPr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Stream Buffer</a:t>
            </a: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داده‌ی پیوسته </a:t>
            </a: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(Byte Stream)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Message Buffer</a:t>
            </a:r>
            <a:r>
              <a:rPr lang="fa-IR" sz="2000" b="1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پیام‌های جداگانه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fa-IR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مناسب: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UART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SPI</a:t>
            </a:r>
          </a:p>
          <a:p>
            <a:pPr marL="0" indent="0" algn="r" rtl="1">
              <a:lnSpc>
                <a:spcPct val="150000"/>
              </a:lnSpc>
              <a:buNone/>
            </a:pP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20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xStreamBufferSendFromISR</a:t>
            </a: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(...)</a:t>
            </a:r>
          </a:p>
          <a:p>
            <a:pPr marL="0" indent="0" rtl="1">
              <a:lnSpc>
                <a:spcPct val="150000"/>
              </a:lnSpc>
              <a:buNone/>
            </a:pPr>
            <a:r>
              <a:rPr lang="en-US" sz="20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xStreamBufferReceive</a:t>
            </a:r>
            <a:r>
              <a:rPr lang="en-US" sz="2000" dirty="0">
                <a:latin typeface="IRANSansWeb" panose="020B0506030804020204" pitchFamily="34" charset="-78"/>
                <a:cs typeface="IRANSansWeb" panose="020B0506030804020204" pitchFamily="34" charset="-78"/>
              </a:rPr>
              <a:t>(...)</a:t>
            </a:r>
          </a:p>
        </p:txBody>
      </p:sp>
    </p:spTree>
    <p:extLst>
      <p:ext uri="{BB962C8B-B14F-4D97-AF65-F5344CB8AC3E}">
        <p14:creationId xmlns:p14="http://schemas.microsoft.com/office/powerpoint/2010/main" val="41944045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9579" y="2468694"/>
            <a:ext cx="2054362" cy="192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3293" y="1943500"/>
            <a:ext cx="706188" cy="70618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/>
          <p:nvPr/>
        </p:nvSpPr>
        <p:spPr>
          <a:xfrm>
            <a:off x="1132338" y="27417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7" name="Google Shape;57;p13"/>
          <p:cNvSpPr/>
          <p:nvPr/>
        </p:nvSpPr>
        <p:spPr>
          <a:xfrm>
            <a:off x="1208538" y="28179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" name="Google Shape;58;p13"/>
          <p:cNvSpPr/>
          <p:nvPr/>
        </p:nvSpPr>
        <p:spPr>
          <a:xfrm>
            <a:off x="1284738" y="28941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59" name="Google Shape;59;p13"/>
          <p:cNvSpPr txBox="1"/>
          <p:nvPr/>
        </p:nvSpPr>
        <p:spPr>
          <a:xfrm>
            <a:off x="812763" y="156760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scheduling</a:t>
            </a:r>
            <a:endParaRPr sz="1500"/>
          </a:p>
        </p:txBody>
      </p:sp>
      <p:sp>
        <p:nvSpPr>
          <p:cNvPr id="60" name="Google Shape;60;p13"/>
          <p:cNvSpPr/>
          <p:nvPr/>
        </p:nvSpPr>
        <p:spPr>
          <a:xfrm>
            <a:off x="1604313" y="45221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>
            <a:off x="1680513" y="45983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/>
          <p:nvPr/>
        </p:nvSpPr>
        <p:spPr>
          <a:xfrm>
            <a:off x="1756713" y="46745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File 1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6733338" y="221345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Device drivers</a:t>
            </a:r>
            <a:endParaRPr sz="1500"/>
          </a:p>
        </p:txBody>
      </p:sp>
      <p:cxnSp>
        <p:nvCxnSpPr>
          <p:cNvPr id="64" name="Google Shape;64;p13"/>
          <p:cNvCxnSpPr/>
          <p:nvPr/>
        </p:nvCxnSpPr>
        <p:spPr>
          <a:xfrm>
            <a:off x="1129200" y="5109700"/>
            <a:ext cx="5512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65" name="Google Shape;65;p13"/>
          <p:cNvSpPr txBox="1"/>
          <p:nvPr/>
        </p:nvSpPr>
        <p:spPr>
          <a:xfrm>
            <a:off x="581088" y="4721950"/>
            <a:ext cx="551250" cy="7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Read/Write</a:t>
            </a:r>
            <a:endParaRPr sz="1200"/>
          </a:p>
        </p:txBody>
      </p:sp>
      <p:sp>
        <p:nvSpPr>
          <p:cNvPr id="66" name="Google Shape;66;p13"/>
          <p:cNvSpPr txBox="1"/>
          <p:nvPr/>
        </p:nvSpPr>
        <p:spPr>
          <a:xfrm>
            <a:off x="511407" y="4069425"/>
            <a:ext cx="22099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Resource management</a:t>
            </a:r>
            <a:endParaRPr sz="1500"/>
          </a:p>
        </p:txBody>
      </p:sp>
      <p:pic>
        <p:nvPicPr>
          <p:cNvPr id="67" name="Google Shape;6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48621" y="2665551"/>
            <a:ext cx="612350" cy="1144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4149" y="3886562"/>
            <a:ext cx="1685628" cy="1144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379982" y="2665551"/>
            <a:ext cx="1245331" cy="11448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" name="Google Shape;70;p13"/>
          <p:cNvCxnSpPr/>
          <p:nvPr/>
        </p:nvCxnSpPr>
        <p:spPr>
          <a:xfrm rot="10800000">
            <a:off x="2362150" y="2622663"/>
            <a:ext cx="1156650" cy="389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3"/>
          <p:cNvCxnSpPr/>
          <p:nvPr/>
        </p:nvCxnSpPr>
        <p:spPr>
          <a:xfrm flipH="1">
            <a:off x="2836963" y="3974250"/>
            <a:ext cx="925350" cy="499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Google Shape;72;p13"/>
          <p:cNvCxnSpPr/>
          <p:nvPr/>
        </p:nvCxnSpPr>
        <p:spPr>
          <a:xfrm>
            <a:off x="5734788" y="3548100"/>
            <a:ext cx="51135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Google Shape;73;p13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General Purpose Operating System (GPOS)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3293" y="1943500"/>
            <a:ext cx="706188" cy="70618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/>
          <p:nvPr/>
        </p:nvSpPr>
        <p:spPr>
          <a:xfrm>
            <a:off x="1132338" y="27417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" name="Google Shape;80;p14"/>
          <p:cNvSpPr/>
          <p:nvPr/>
        </p:nvSpPr>
        <p:spPr>
          <a:xfrm>
            <a:off x="1208538" y="28179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1" name="Google Shape;81;p14"/>
          <p:cNvSpPr/>
          <p:nvPr/>
        </p:nvSpPr>
        <p:spPr>
          <a:xfrm>
            <a:off x="1284738" y="28941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82" name="Google Shape;82;p14"/>
          <p:cNvSpPr txBox="1"/>
          <p:nvPr/>
        </p:nvSpPr>
        <p:spPr>
          <a:xfrm>
            <a:off x="812763" y="156760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scheduling</a:t>
            </a:r>
            <a:endParaRPr sz="1500"/>
          </a:p>
        </p:txBody>
      </p:sp>
      <p:sp>
        <p:nvSpPr>
          <p:cNvPr id="83" name="Google Shape;83;p14"/>
          <p:cNvSpPr/>
          <p:nvPr/>
        </p:nvSpPr>
        <p:spPr>
          <a:xfrm>
            <a:off x="1604313" y="45221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" name="Google Shape;84;p14"/>
          <p:cNvSpPr/>
          <p:nvPr/>
        </p:nvSpPr>
        <p:spPr>
          <a:xfrm>
            <a:off x="1680513" y="45983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" name="Google Shape;85;p14"/>
          <p:cNvSpPr/>
          <p:nvPr/>
        </p:nvSpPr>
        <p:spPr>
          <a:xfrm>
            <a:off x="1756713" y="46745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File 1</a:t>
            </a:r>
            <a:endParaRPr sz="1500"/>
          </a:p>
        </p:txBody>
      </p:sp>
      <p:sp>
        <p:nvSpPr>
          <p:cNvPr id="86" name="Google Shape;86;p14"/>
          <p:cNvSpPr txBox="1"/>
          <p:nvPr/>
        </p:nvSpPr>
        <p:spPr>
          <a:xfrm>
            <a:off x="6733338" y="221345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dirty="0"/>
              <a:t>Device drivers</a:t>
            </a:r>
            <a:endParaRPr sz="1500" dirty="0"/>
          </a:p>
        </p:txBody>
      </p:sp>
      <p:cxnSp>
        <p:nvCxnSpPr>
          <p:cNvPr id="87" name="Google Shape;87;p14"/>
          <p:cNvCxnSpPr/>
          <p:nvPr/>
        </p:nvCxnSpPr>
        <p:spPr>
          <a:xfrm>
            <a:off x="1129200" y="5109700"/>
            <a:ext cx="5512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8" name="Google Shape;88;p14"/>
          <p:cNvSpPr txBox="1"/>
          <p:nvPr/>
        </p:nvSpPr>
        <p:spPr>
          <a:xfrm>
            <a:off x="581088" y="4721950"/>
            <a:ext cx="551250" cy="7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Read/Write</a:t>
            </a:r>
            <a:endParaRPr sz="1200"/>
          </a:p>
        </p:txBody>
      </p:sp>
      <p:sp>
        <p:nvSpPr>
          <p:cNvPr id="89" name="Google Shape;89;p14"/>
          <p:cNvSpPr txBox="1"/>
          <p:nvPr/>
        </p:nvSpPr>
        <p:spPr>
          <a:xfrm>
            <a:off x="511407" y="4069425"/>
            <a:ext cx="22099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Resource management</a:t>
            </a:r>
            <a:endParaRPr sz="1500"/>
          </a:p>
        </p:txBody>
      </p:sp>
      <p:cxnSp>
        <p:nvCxnSpPr>
          <p:cNvPr id="90" name="Google Shape;90;p14"/>
          <p:cNvCxnSpPr/>
          <p:nvPr/>
        </p:nvCxnSpPr>
        <p:spPr>
          <a:xfrm rot="10800000">
            <a:off x="2362150" y="2622663"/>
            <a:ext cx="1156650" cy="389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" name="Google Shape;91;p14"/>
          <p:cNvCxnSpPr/>
          <p:nvPr/>
        </p:nvCxnSpPr>
        <p:spPr>
          <a:xfrm flipH="1">
            <a:off x="2836963" y="3974250"/>
            <a:ext cx="925350" cy="499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5454738" y="3548100"/>
            <a:ext cx="79140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Real-Time Operating System (RTOS)</a:t>
            </a:r>
            <a:endParaRPr sz="2400"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5711" y="2727843"/>
            <a:ext cx="1912577" cy="1402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75357" y="2663207"/>
            <a:ext cx="925351" cy="667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81146" y="3600908"/>
            <a:ext cx="513770" cy="7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280082" y="3600904"/>
            <a:ext cx="513770" cy="775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779018" y="3600901"/>
            <a:ext cx="513770" cy="775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779019" y="2605294"/>
            <a:ext cx="513763" cy="783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Super Loop</a:t>
            </a:r>
            <a:endParaRPr sz="2400"/>
          </a:p>
        </p:txBody>
      </p:sp>
      <p:sp>
        <p:nvSpPr>
          <p:cNvPr id="108" name="Google Shape;108;p15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109" name="Google Shape;109;p15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110" name="Google Shape;110;p15"/>
          <p:cNvSpPr/>
          <p:nvPr/>
        </p:nvSpPr>
        <p:spPr>
          <a:xfrm>
            <a:off x="3963225" y="3560275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11" name="Google Shape;111;p15"/>
          <p:cNvSpPr/>
          <p:nvPr/>
        </p:nvSpPr>
        <p:spPr>
          <a:xfrm>
            <a:off x="3963225" y="3925525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12" name="Google Shape;112;p15"/>
          <p:cNvSpPr/>
          <p:nvPr/>
        </p:nvSpPr>
        <p:spPr>
          <a:xfrm>
            <a:off x="3963225" y="4290775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cxnSp>
        <p:nvCxnSpPr>
          <p:cNvPr id="113" name="Google Shape;113;p15"/>
          <p:cNvCxnSpPr>
            <a:stCxn id="108" idx="2"/>
            <a:endCxn id="110" idx="0"/>
          </p:cNvCxnSpPr>
          <p:nvPr/>
        </p:nvCxnSpPr>
        <p:spPr>
          <a:xfrm>
            <a:off x="4572000" y="2927113"/>
            <a:ext cx="0" cy="633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14;p15"/>
          <p:cNvCxnSpPr>
            <a:stCxn id="109" idx="2"/>
            <a:endCxn id="108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" name="Google Shape;115;p15"/>
          <p:cNvSpPr/>
          <p:nvPr/>
        </p:nvSpPr>
        <p:spPr>
          <a:xfrm>
            <a:off x="3180756" y="3153976"/>
            <a:ext cx="1032063" cy="1799263"/>
          </a:xfrm>
          <a:custGeom>
            <a:avLst/>
            <a:gdLst/>
            <a:ahLst/>
            <a:cxnLst/>
            <a:rect l="l" t="t" r="r" b="b"/>
            <a:pathLst>
              <a:path w="82565" h="143941" extrusionOk="0">
                <a:moveTo>
                  <a:pt x="82565" y="121435"/>
                </a:moveTo>
                <a:cubicBezTo>
                  <a:pt x="80861" y="124763"/>
                  <a:pt x="84108" y="138401"/>
                  <a:pt x="72338" y="141404"/>
                </a:cubicBezTo>
                <a:cubicBezTo>
                  <a:pt x="60568" y="144408"/>
                  <a:pt x="23635" y="145706"/>
                  <a:pt x="11946" y="139456"/>
                </a:cubicBezTo>
                <a:cubicBezTo>
                  <a:pt x="257" y="133206"/>
                  <a:pt x="3260" y="124844"/>
                  <a:pt x="2205" y="103902"/>
                </a:cubicBezTo>
                <a:cubicBezTo>
                  <a:pt x="1150" y="82960"/>
                  <a:pt x="-3640" y="30767"/>
                  <a:pt x="5614" y="13802"/>
                </a:cubicBezTo>
                <a:cubicBezTo>
                  <a:pt x="14868" y="-3163"/>
                  <a:pt x="46119" y="-890"/>
                  <a:pt x="57727" y="2113"/>
                </a:cubicBezTo>
                <a:cubicBezTo>
                  <a:pt x="69335" y="5116"/>
                  <a:pt x="72338" y="26871"/>
                  <a:pt x="75260" y="31822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16" name="Google Shape;116;p15"/>
          <p:cNvSpPr txBox="1"/>
          <p:nvPr/>
        </p:nvSpPr>
        <p:spPr>
          <a:xfrm>
            <a:off x="3202275" y="3903625"/>
            <a:ext cx="760950" cy="40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Loop</a:t>
            </a:r>
            <a:endParaRPr sz="1500"/>
          </a:p>
        </p:txBody>
      </p:sp>
      <p:sp>
        <p:nvSpPr>
          <p:cNvPr id="117" name="Google Shape;117;p15"/>
          <p:cNvSpPr/>
          <p:nvPr/>
        </p:nvSpPr>
        <p:spPr>
          <a:xfrm>
            <a:off x="6389350" y="3755050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18" name="Google Shape;118;p15"/>
          <p:cNvCxnSpPr/>
          <p:nvPr/>
        </p:nvCxnSpPr>
        <p:spPr>
          <a:xfrm rot="10800000" flipH="1">
            <a:off x="5272113" y="3767263"/>
            <a:ext cx="1120200" cy="73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15"/>
          <p:cNvCxnSpPr/>
          <p:nvPr/>
        </p:nvCxnSpPr>
        <p:spPr>
          <a:xfrm rot="10800000">
            <a:off x="5272125" y="3913475"/>
            <a:ext cx="1123200" cy="547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</a:t>
            </a:r>
            <a:endParaRPr sz="2400"/>
          </a:p>
        </p:txBody>
      </p:sp>
      <p:sp>
        <p:nvSpPr>
          <p:cNvPr id="125" name="Google Shape;125;p16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126" name="Google Shape;126;p16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127" name="Google Shape;127;p16"/>
          <p:cNvSpPr/>
          <p:nvPr/>
        </p:nvSpPr>
        <p:spPr>
          <a:xfrm>
            <a:off x="3963225" y="4412563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cxnSp>
        <p:nvCxnSpPr>
          <p:cNvPr id="128" name="Google Shape;128;p16"/>
          <p:cNvCxnSpPr>
            <a:stCxn id="126" idx="2"/>
            <a:endCxn id="125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Google Shape;129;p16"/>
          <p:cNvSpPr/>
          <p:nvPr/>
        </p:nvSpPr>
        <p:spPr>
          <a:xfrm>
            <a:off x="6767650" y="2838325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30" name="Google Shape;130;p16"/>
          <p:cNvCxnSpPr>
            <a:stCxn id="125" idx="2"/>
            <a:endCxn id="127" idx="0"/>
          </p:cNvCxnSpPr>
          <p:nvPr/>
        </p:nvCxnSpPr>
        <p:spPr>
          <a:xfrm>
            <a:off x="4572000" y="2927113"/>
            <a:ext cx="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" name="Google Shape;131;p16"/>
          <p:cNvSpPr/>
          <p:nvPr/>
        </p:nvSpPr>
        <p:spPr>
          <a:xfrm>
            <a:off x="36541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2" name="Google Shape;132;p16"/>
          <p:cNvSpPr/>
          <p:nvPr/>
        </p:nvSpPr>
        <p:spPr>
          <a:xfrm>
            <a:off x="2096325" y="4412563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cxnSp>
        <p:nvCxnSpPr>
          <p:cNvPr id="133" name="Google Shape;133;p16"/>
          <p:cNvCxnSpPr>
            <a:stCxn id="125" idx="2"/>
            <a:endCxn id="132" idx="0"/>
          </p:cNvCxnSpPr>
          <p:nvPr/>
        </p:nvCxnSpPr>
        <p:spPr>
          <a:xfrm flipH="1">
            <a:off x="27051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Google Shape;134;p16"/>
          <p:cNvSpPr/>
          <p:nvPr/>
        </p:nvSpPr>
        <p:spPr>
          <a:xfrm>
            <a:off x="17872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5" name="Google Shape;135;p16"/>
          <p:cNvSpPr/>
          <p:nvPr/>
        </p:nvSpPr>
        <p:spPr>
          <a:xfrm>
            <a:off x="5830125" y="4412563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cxnSp>
        <p:nvCxnSpPr>
          <p:cNvPr id="136" name="Google Shape;136;p16"/>
          <p:cNvCxnSpPr>
            <a:stCxn id="125" idx="2"/>
            <a:endCxn id="135" idx="0"/>
          </p:cNvCxnSpPr>
          <p:nvPr/>
        </p:nvCxnSpPr>
        <p:spPr>
          <a:xfrm>
            <a:off x="45720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" name="Google Shape;137;p16"/>
          <p:cNvSpPr/>
          <p:nvPr/>
        </p:nvSpPr>
        <p:spPr>
          <a:xfrm>
            <a:off x="55210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8" name="Google Shape;138;p16"/>
          <p:cNvSpPr txBox="1"/>
          <p:nvPr/>
        </p:nvSpPr>
        <p:spPr>
          <a:xfrm>
            <a:off x="191413" y="1818100"/>
            <a:ext cx="3262650" cy="113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marL="228600" indent="-190500">
              <a:buSzPts val="2400"/>
              <a:buChar char="●"/>
            </a:pPr>
            <a:r>
              <a:rPr lang="en" sz="1200" b="1"/>
              <a:t>Task</a:t>
            </a:r>
            <a:r>
              <a:rPr lang="en" sz="1200"/>
              <a:t>: set of program instructions loaded in memory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 b="1"/>
              <a:t>Thread</a:t>
            </a:r>
            <a:r>
              <a:rPr lang="en" sz="1200"/>
              <a:t>: unit of CPU utilization with its own program counter and stack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 b="1"/>
              <a:t>Process</a:t>
            </a:r>
            <a:r>
              <a:rPr lang="en" sz="1200"/>
              <a:t>: instance of a computer program</a:t>
            </a:r>
            <a:endParaRPr sz="1200"/>
          </a:p>
        </p:txBody>
      </p:sp>
      <p:sp>
        <p:nvSpPr>
          <p:cNvPr id="139" name="Google Shape;139;p16"/>
          <p:cNvSpPr txBox="1"/>
          <p:nvPr/>
        </p:nvSpPr>
        <p:spPr>
          <a:xfrm>
            <a:off x="641713" y="3008800"/>
            <a:ext cx="2362050" cy="36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FreeRTOS: Task = Thread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 txBox="1"/>
          <p:nvPr/>
        </p:nvSpPr>
        <p:spPr>
          <a:xfrm>
            <a:off x="129900" y="4947425"/>
            <a:ext cx="27882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Super Loop</a:t>
            </a:r>
            <a:endParaRPr sz="2400"/>
          </a:p>
        </p:txBody>
      </p:sp>
      <p:pic>
        <p:nvPicPr>
          <p:cNvPr id="145" name="Google Shape;14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0" y="1010593"/>
            <a:ext cx="3048000" cy="3048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010594"/>
            <a:ext cx="30480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6000" y="1010600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655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ATmega 328p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16 MHz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32 kB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2 kB RAM</a:t>
            </a:r>
            <a:endParaRPr sz="1200"/>
          </a:p>
        </p:txBody>
      </p:sp>
      <p:sp>
        <p:nvSpPr>
          <p:cNvPr id="149" name="Google Shape;149;p17"/>
          <p:cNvSpPr txBox="1"/>
          <p:nvPr/>
        </p:nvSpPr>
        <p:spPr>
          <a:xfrm>
            <a:off x="3703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STM32L476RG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80 MHz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 MB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128 kB RAM</a:t>
            </a:r>
            <a:endParaRPr sz="1200"/>
          </a:p>
        </p:txBody>
      </p:sp>
      <p:sp>
        <p:nvSpPr>
          <p:cNvPr id="150" name="Google Shape;150;p17"/>
          <p:cNvSpPr txBox="1"/>
          <p:nvPr/>
        </p:nvSpPr>
        <p:spPr>
          <a:xfrm>
            <a:off x="6751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ESP-WROOM-32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240 MHz (dual core) 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4 MB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520 kB RAM</a:t>
            </a:r>
            <a:endParaRPr sz="1200"/>
          </a:p>
        </p:txBody>
      </p:sp>
      <p:sp>
        <p:nvSpPr>
          <p:cNvPr id="151" name="Google Shape;151;p17"/>
          <p:cNvSpPr txBox="1"/>
          <p:nvPr/>
        </p:nvSpPr>
        <p:spPr>
          <a:xfrm>
            <a:off x="6225900" y="4947425"/>
            <a:ext cx="27882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</a:t>
            </a:r>
            <a:endParaRPr sz="2400"/>
          </a:p>
        </p:txBody>
      </p:sp>
      <p:sp>
        <p:nvSpPr>
          <p:cNvPr id="152" name="Google Shape;152;p17"/>
          <p:cNvSpPr/>
          <p:nvPr/>
        </p:nvSpPr>
        <p:spPr>
          <a:xfrm>
            <a:off x="2666475" y="5204000"/>
            <a:ext cx="4084950" cy="280050"/>
          </a:xfrm>
          <a:prstGeom prst="right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C9DAF8"/>
              </a:gs>
              <a:gs pos="100000">
                <a:srgbClr val="F4CCCC"/>
              </a:gs>
              <a:gs pos="100000">
                <a:srgbClr val="737373"/>
              </a:gs>
            </a:gsLst>
            <a:lin ang="0" scaled="0"/>
          </a:gra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3515" y="1348213"/>
            <a:ext cx="1314526" cy="94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72038" y="1290300"/>
            <a:ext cx="691638" cy="10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9333" y="1190108"/>
            <a:ext cx="513770" cy="7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8269" y="1190104"/>
            <a:ext cx="513770" cy="775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57205" y="1190101"/>
            <a:ext cx="513770" cy="775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36584" y="3984600"/>
            <a:ext cx="1165952" cy="1548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800" y="2159688"/>
            <a:ext cx="1055175" cy="10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331832" y="2519699"/>
            <a:ext cx="2480338" cy="181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367927" y="3590650"/>
            <a:ext cx="2212563" cy="221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03076" y="2159688"/>
            <a:ext cx="1055175" cy="10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7" name="Google Shape;167;p18"/>
          <p:cNvCxnSpPr/>
          <p:nvPr/>
        </p:nvCxnSpPr>
        <p:spPr>
          <a:xfrm rot="10800000">
            <a:off x="2556850" y="2427963"/>
            <a:ext cx="961950" cy="5844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18"/>
          <p:cNvCxnSpPr/>
          <p:nvPr/>
        </p:nvCxnSpPr>
        <p:spPr>
          <a:xfrm flipH="1">
            <a:off x="2216000" y="3998600"/>
            <a:ext cx="1351500" cy="6940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169;p18"/>
          <p:cNvCxnSpPr/>
          <p:nvPr/>
        </p:nvCxnSpPr>
        <p:spPr>
          <a:xfrm rot="10800000" flipH="1">
            <a:off x="5746963" y="2427900"/>
            <a:ext cx="560100" cy="3409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170;p18"/>
          <p:cNvCxnSpPr/>
          <p:nvPr/>
        </p:nvCxnSpPr>
        <p:spPr>
          <a:xfrm>
            <a:off x="5527800" y="3901188"/>
            <a:ext cx="1156650" cy="3288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0737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9412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8087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6762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4163" y="2365598"/>
            <a:ext cx="383939" cy="57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07017" y="2365595"/>
            <a:ext cx="383939" cy="579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79871" y="2365592"/>
            <a:ext cx="383939" cy="579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8850" y="3090163"/>
            <a:ext cx="788531" cy="78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50583" y="3090163"/>
            <a:ext cx="788531" cy="78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39412" y="2365600"/>
            <a:ext cx="816500" cy="108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8862" y="4041413"/>
            <a:ext cx="1680263" cy="1680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072763" y="2529719"/>
            <a:ext cx="1047149" cy="755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324000" y="2417926"/>
            <a:ext cx="642025" cy="979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00" y="933450"/>
            <a:ext cx="8836400" cy="4991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BC452-E471-B7A1-51BA-A6D2FA08BE6F}"/>
              </a:ext>
            </a:extLst>
          </p:cNvPr>
          <p:cNvSpPr txBox="1"/>
          <p:nvPr/>
        </p:nvSpPr>
        <p:spPr>
          <a:xfrm>
            <a:off x="628135" y="1153738"/>
            <a:ext cx="4158049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void setup() </a:t>
            </a:r>
          </a:p>
          <a:p>
            <a:r>
              <a:rPr lang="en-US" sz="1000" dirty="0"/>
              <a:t>{</a:t>
            </a:r>
          </a:p>
          <a:p>
            <a:endParaRPr lang="en-US" sz="1000" dirty="0"/>
          </a:p>
          <a:p>
            <a:r>
              <a:rPr lang="en-US" sz="1000" dirty="0"/>
              <a:t>  // Task to run forever</a:t>
            </a:r>
          </a:p>
          <a:p>
            <a:r>
              <a:rPr lang="en-US" sz="1000" dirty="0"/>
              <a:t>  </a:t>
            </a:r>
            <a:r>
              <a:rPr lang="en-US" sz="1000" dirty="0" err="1"/>
              <a:t>xTaskCreate</a:t>
            </a:r>
            <a:r>
              <a:rPr lang="en-US" sz="1000" dirty="0"/>
              <a:t>(</a:t>
            </a:r>
          </a:p>
          <a:p>
            <a:r>
              <a:rPr lang="en-US" sz="1000" dirty="0"/>
              <a:t>              toggleLED_1,  // Function to be called</a:t>
            </a:r>
          </a:p>
          <a:p>
            <a:r>
              <a:rPr lang="en-US" sz="1000" dirty="0"/>
              <a:t>              "Toggle 1",   // Name of task</a:t>
            </a:r>
          </a:p>
          <a:p>
            <a:r>
              <a:rPr lang="en-US" sz="1000" dirty="0"/>
              <a:t>              1024,         // Stack size (words)</a:t>
            </a:r>
          </a:p>
          <a:p>
            <a:r>
              <a:rPr lang="en-US" sz="1000" dirty="0"/>
              <a:t>              NULL,         // Parameter to pass to function</a:t>
            </a:r>
          </a:p>
          <a:p>
            <a:r>
              <a:rPr lang="en-US" sz="1000" dirty="0"/>
              <a:t>              1,            // Task priority (0 to </a:t>
            </a:r>
            <a:r>
              <a:rPr lang="en-US" sz="1000" dirty="0" err="1"/>
              <a:t>configMAX_PRIORITIES</a:t>
            </a:r>
            <a:r>
              <a:rPr lang="en-US" sz="1000" dirty="0"/>
              <a:t> - 1)</a:t>
            </a:r>
          </a:p>
          <a:p>
            <a:r>
              <a:rPr lang="en-US" sz="1000" dirty="0"/>
              <a:t>              NULL );         // Task handle</a:t>
            </a:r>
          </a:p>
          <a:p>
            <a:endParaRPr lang="en-US" sz="1000" dirty="0"/>
          </a:p>
          <a:p>
            <a:r>
              <a:rPr lang="en-US" sz="1000" dirty="0"/>
              <a:t>  // Task to run forever</a:t>
            </a:r>
          </a:p>
          <a:p>
            <a:r>
              <a:rPr lang="en-US" sz="1000" dirty="0"/>
              <a:t>  </a:t>
            </a:r>
            <a:r>
              <a:rPr lang="en-US" sz="1000" dirty="0" err="1"/>
              <a:t>xTaskCreate</a:t>
            </a:r>
            <a:r>
              <a:rPr lang="en-US" sz="1000" dirty="0"/>
              <a:t>(</a:t>
            </a:r>
          </a:p>
          <a:p>
            <a:r>
              <a:rPr lang="en-US" sz="1000" dirty="0"/>
              <a:t>              toggleLED_2,  // Function to be called</a:t>
            </a:r>
          </a:p>
          <a:p>
            <a:r>
              <a:rPr lang="en-US" sz="1000" dirty="0"/>
              <a:t>              "Toggle 2",   // Name of task</a:t>
            </a:r>
          </a:p>
          <a:p>
            <a:r>
              <a:rPr lang="en-US" sz="1000" dirty="0"/>
              <a:t>              1024,         // Stack size (words)</a:t>
            </a:r>
          </a:p>
          <a:p>
            <a:r>
              <a:rPr lang="en-US" sz="1000" dirty="0"/>
              <a:t>              NULL,         // Parameter to pass to function</a:t>
            </a:r>
          </a:p>
          <a:p>
            <a:r>
              <a:rPr lang="en-US" sz="1000" dirty="0"/>
              <a:t>              1,            // Task priority (0 to </a:t>
            </a:r>
            <a:r>
              <a:rPr lang="en-US" sz="1000" dirty="0" err="1"/>
              <a:t>configMAX_PRIORITIES</a:t>
            </a:r>
            <a:r>
              <a:rPr lang="en-US" sz="1000" dirty="0"/>
              <a:t> - 1)</a:t>
            </a:r>
          </a:p>
          <a:p>
            <a:r>
              <a:rPr lang="en-US" sz="1000" dirty="0"/>
              <a:t>              NULL );         // Task handle</a:t>
            </a:r>
          </a:p>
          <a:p>
            <a:endParaRPr lang="en-US" sz="1000" dirty="0"/>
          </a:p>
          <a:p>
            <a:r>
              <a:rPr lang="en-US" sz="1000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CEDB38-87E9-19ED-2462-1F3C1442F353}"/>
              </a:ext>
            </a:extLst>
          </p:cNvPr>
          <p:cNvSpPr txBox="1"/>
          <p:nvPr/>
        </p:nvSpPr>
        <p:spPr>
          <a:xfrm>
            <a:off x="5177481" y="1487011"/>
            <a:ext cx="3472249" cy="300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// Our task: blink an LED at one rate</a:t>
            </a:r>
          </a:p>
          <a:p>
            <a:r>
              <a:rPr lang="en-US" sz="900" dirty="0"/>
              <a:t>void toggleLED_1(void *parameter)</a:t>
            </a:r>
          </a:p>
          <a:p>
            <a:r>
              <a:rPr lang="en-US" sz="900" dirty="0"/>
              <a:t>{</a:t>
            </a:r>
          </a:p>
          <a:p>
            <a:r>
              <a:rPr lang="en-US" sz="900" dirty="0"/>
              <a:t>  while(1)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(led_pin1,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(rate_1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(led_pin1,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(rate_1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 Our task: blink an LED at another rate</a:t>
            </a:r>
          </a:p>
          <a:p>
            <a:r>
              <a:rPr lang="en-US" sz="900" dirty="0"/>
              <a:t>void toggleLED_2(void *parameter) </a:t>
            </a:r>
          </a:p>
          <a:p>
            <a:r>
              <a:rPr lang="en-US" sz="900" dirty="0"/>
              <a:t>{</a:t>
            </a:r>
          </a:p>
          <a:p>
            <a:r>
              <a:rPr lang="en-US" sz="900" dirty="0"/>
              <a:t>  while(1)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(led_pin2,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(rate_2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(led_pin2,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(rate_2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our code looks like</a:t>
            </a:r>
            <a:endParaRPr sz="2400"/>
          </a:p>
        </p:txBody>
      </p:sp>
      <p:sp>
        <p:nvSpPr>
          <p:cNvPr id="55" name="Google Shape;55;p13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56" name="Google Shape;56;p13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57" name="Google Shape;57;p13"/>
          <p:cNvSpPr/>
          <p:nvPr/>
        </p:nvSpPr>
        <p:spPr>
          <a:xfrm>
            <a:off x="3963225" y="4412563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cxnSp>
        <p:nvCxnSpPr>
          <p:cNvPr id="58" name="Google Shape;58;p13"/>
          <p:cNvCxnSpPr>
            <a:stCxn id="56" idx="2"/>
            <a:endCxn id="55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" name="Google Shape;59;p13"/>
          <p:cNvSpPr/>
          <p:nvPr/>
        </p:nvSpPr>
        <p:spPr>
          <a:xfrm>
            <a:off x="6767650" y="2838325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60" name="Google Shape;60;p13"/>
          <p:cNvCxnSpPr>
            <a:stCxn id="55" idx="2"/>
            <a:endCxn id="57" idx="0"/>
          </p:cNvCxnSpPr>
          <p:nvPr/>
        </p:nvCxnSpPr>
        <p:spPr>
          <a:xfrm>
            <a:off x="4572000" y="2927113"/>
            <a:ext cx="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" name="Google Shape;61;p13"/>
          <p:cNvSpPr/>
          <p:nvPr/>
        </p:nvSpPr>
        <p:spPr>
          <a:xfrm>
            <a:off x="36541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2" name="Google Shape;62;p13"/>
          <p:cNvSpPr/>
          <p:nvPr/>
        </p:nvSpPr>
        <p:spPr>
          <a:xfrm>
            <a:off x="2096325" y="4412563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cxnSp>
        <p:nvCxnSpPr>
          <p:cNvPr id="63" name="Google Shape;63;p13"/>
          <p:cNvCxnSpPr>
            <a:stCxn id="55" idx="2"/>
            <a:endCxn id="62" idx="0"/>
          </p:cNvCxnSpPr>
          <p:nvPr/>
        </p:nvCxnSpPr>
        <p:spPr>
          <a:xfrm flipH="1">
            <a:off x="27051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17872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5" name="Google Shape;65;p13"/>
          <p:cNvSpPr/>
          <p:nvPr/>
        </p:nvSpPr>
        <p:spPr>
          <a:xfrm>
            <a:off x="5830125" y="4412563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cxnSp>
        <p:nvCxnSpPr>
          <p:cNvPr id="66" name="Google Shape;66;p13"/>
          <p:cNvCxnSpPr>
            <a:stCxn id="55" idx="2"/>
            <a:endCxn id="65" idx="0"/>
          </p:cNvCxnSpPr>
          <p:nvPr/>
        </p:nvCxnSpPr>
        <p:spPr>
          <a:xfrm>
            <a:off x="45720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" name="Google Shape;67;p13"/>
          <p:cNvSpPr/>
          <p:nvPr/>
        </p:nvSpPr>
        <p:spPr>
          <a:xfrm>
            <a:off x="55210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Google Shape;72;p14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73;p14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" name="Google Shape;74;p14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5" name="Google Shape;75;p14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6" name="Google Shape;76;p14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77;p14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8" name="Google Shape;78;p14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4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3" name="Google Shape;83;p14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84" name="Google Shape;84;p14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85" name="Google Shape;85;p14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87" name="Google Shape;87;p14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88" name="Google Shape;88;p14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sp>
        <p:nvSpPr>
          <p:cNvPr id="89" name="Google Shape;89;p14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0" name="Google Shape;90;p14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1" name="Google Shape;91;p14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92" name="Google Shape;92;p14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93" name="Google Shape;93;p14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94" name="Google Shape;94;p14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229100" y="3127350"/>
            <a:ext cx="6858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B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7" name="Google Shape;97;p14"/>
          <p:cNvSpPr/>
          <p:nvPr/>
        </p:nvSpPr>
        <p:spPr>
          <a:xfrm>
            <a:off x="4991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9" name="Google Shape;99;p14"/>
          <p:cNvSpPr/>
          <p:nvPr/>
        </p:nvSpPr>
        <p:spPr>
          <a:xfrm>
            <a:off x="5753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1" name="Google Shape;101;p14"/>
          <p:cNvSpPr/>
          <p:nvPr/>
        </p:nvSpPr>
        <p:spPr>
          <a:xfrm>
            <a:off x="6515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3" name="Google Shape;103;p14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4" name="Google Shape;104;p14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actually happens*</a:t>
            </a:r>
            <a:endParaRPr sz="2400"/>
          </a:p>
        </p:txBody>
      </p:sp>
      <p:sp>
        <p:nvSpPr>
          <p:cNvPr id="107" name="Google Shape;107;p14"/>
          <p:cNvSpPr/>
          <p:nvPr/>
        </p:nvSpPr>
        <p:spPr>
          <a:xfrm>
            <a:off x="598170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057900" y="3127350"/>
            <a:ext cx="3810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10" name="Google Shape;110;p14"/>
          <p:cNvSpPr txBox="1"/>
          <p:nvPr/>
        </p:nvSpPr>
        <p:spPr>
          <a:xfrm>
            <a:off x="7101900" y="1296750"/>
            <a:ext cx="204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900"/>
              <a:t>*assuming single-core processor</a:t>
            </a:r>
            <a:endParaRPr sz="900"/>
          </a:p>
        </p:txBody>
      </p:sp>
      <p:sp>
        <p:nvSpPr>
          <p:cNvPr id="111" name="Google Shape;111;p14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12" name="Google Shape;112;p14"/>
          <p:cNvSpPr txBox="1"/>
          <p:nvPr/>
        </p:nvSpPr>
        <p:spPr>
          <a:xfrm>
            <a:off x="3390900" y="161040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“preemptive scheduling”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Task States</a:t>
            </a:r>
            <a:endParaRPr sz="2400"/>
          </a:p>
        </p:txBody>
      </p:sp>
      <p:sp>
        <p:nvSpPr>
          <p:cNvPr id="118" name="Google Shape;118;p15"/>
          <p:cNvSpPr/>
          <p:nvPr/>
        </p:nvSpPr>
        <p:spPr>
          <a:xfrm>
            <a:off x="3924069" y="1692913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Suspended</a:t>
            </a:r>
            <a:endParaRPr sz="1500"/>
          </a:p>
        </p:txBody>
      </p:sp>
      <p:sp>
        <p:nvSpPr>
          <p:cNvPr id="119" name="Google Shape;119;p15"/>
          <p:cNvSpPr/>
          <p:nvPr/>
        </p:nvSpPr>
        <p:spPr>
          <a:xfrm>
            <a:off x="3924069" y="3258800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Ready</a:t>
            </a:r>
            <a:endParaRPr sz="1500"/>
          </a:p>
        </p:txBody>
      </p:sp>
      <p:sp>
        <p:nvSpPr>
          <p:cNvPr id="120" name="Google Shape;120;p15"/>
          <p:cNvSpPr/>
          <p:nvPr/>
        </p:nvSpPr>
        <p:spPr>
          <a:xfrm>
            <a:off x="3924069" y="4824688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Blocked</a:t>
            </a:r>
            <a:endParaRPr sz="1500"/>
          </a:p>
        </p:txBody>
      </p:sp>
      <p:sp>
        <p:nvSpPr>
          <p:cNvPr id="121" name="Google Shape;121;p15"/>
          <p:cNvSpPr/>
          <p:nvPr/>
        </p:nvSpPr>
        <p:spPr>
          <a:xfrm>
            <a:off x="6280682" y="3258800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Running</a:t>
            </a:r>
            <a:endParaRPr sz="1500"/>
          </a:p>
        </p:txBody>
      </p:sp>
      <p:sp>
        <p:nvSpPr>
          <p:cNvPr id="122" name="Google Shape;122;p15"/>
          <p:cNvSpPr txBox="1"/>
          <p:nvPr/>
        </p:nvSpPr>
        <p:spPr>
          <a:xfrm>
            <a:off x="2551519" y="3335750"/>
            <a:ext cx="823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r"/>
            <a:r>
              <a:rPr lang="en" sz="1500"/>
              <a:t>Task</a:t>
            </a:r>
            <a:endParaRPr sz="1500"/>
          </a:p>
          <a:p>
            <a:pPr algn="r"/>
            <a:r>
              <a:rPr lang="en" sz="1500"/>
              <a:t>Creation</a:t>
            </a:r>
            <a:endParaRPr sz="1500"/>
          </a:p>
        </p:txBody>
      </p:sp>
      <p:cxnSp>
        <p:nvCxnSpPr>
          <p:cNvPr id="123" name="Google Shape;123;p15"/>
          <p:cNvCxnSpPr>
            <a:stCxn id="122" idx="3"/>
            <a:endCxn id="119" idx="1"/>
          </p:cNvCxnSpPr>
          <p:nvPr/>
        </p:nvCxnSpPr>
        <p:spPr>
          <a:xfrm>
            <a:off x="3375019" y="3611900"/>
            <a:ext cx="549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" name="Google Shape;124;p15"/>
          <p:cNvCxnSpPr/>
          <p:nvPr/>
        </p:nvCxnSpPr>
        <p:spPr>
          <a:xfrm rot="10800000">
            <a:off x="4343394" y="2399038"/>
            <a:ext cx="0" cy="868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" name="Google Shape;125;p15"/>
          <p:cNvCxnSpPr/>
          <p:nvPr/>
        </p:nvCxnSpPr>
        <p:spPr>
          <a:xfrm rot="10800000">
            <a:off x="4800594" y="2399038"/>
            <a:ext cx="0" cy="868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26" name="Google Shape;126;p15"/>
          <p:cNvCxnSpPr/>
          <p:nvPr/>
        </p:nvCxnSpPr>
        <p:spPr>
          <a:xfrm>
            <a:off x="5219919" y="3764300"/>
            <a:ext cx="1071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27" name="Google Shape;127;p15"/>
          <p:cNvCxnSpPr/>
          <p:nvPr/>
        </p:nvCxnSpPr>
        <p:spPr>
          <a:xfrm>
            <a:off x="5219919" y="3459500"/>
            <a:ext cx="1071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28;p15"/>
          <p:cNvCxnSpPr>
            <a:stCxn id="120" idx="0"/>
            <a:endCxn id="119" idx="2"/>
          </p:cNvCxnSpPr>
          <p:nvPr/>
        </p:nvCxnSpPr>
        <p:spPr>
          <a:xfrm rot="10800000">
            <a:off x="4571994" y="3965038"/>
            <a:ext cx="0" cy="8596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" name="Google Shape;129;p15"/>
          <p:cNvCxnSpPr>
            <a:stCxn id="121" idx="2"/>
            <a:endCxn id="120" idx="3"/>
          </p:cNvCxnSpPr>
          <p:nvPr/>
        </p:nvCxnSpPr>
        <p:spPr>
          <a:xfrm rot="5400000">
            <a:off x="5467907" y="3717050"/>
            <a:ext cx="1212750" cy="1708650"/>
          </a:xfrm>
          <a:prstGeom prst="curvedConnector2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" name="Google Shape;130;p15"/>
          <p:cNvCxnSpPr>
            <a:stCxn id="121" idx="0"/>
            <a:endCxn id="118" idx="3"/>
          </p:cNvCxnSpPr>
          <p:nvPr/>
        </p:nvCxnSpPr>
        <p:spPr>
          <a:xfrm rot="5400000" flipH="1">
            <a:off x="5467907" y="1798100"/>
            <a:ext cx="1212750" cy="1708650"/>
          </a:xfrm>
          <a:prstGeom prst="curvedConnector2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" name="Google Shape;131;p15"/>
          <p:cNvCxnSpPr>
            <a:stCxn id="120" idx="1"/>
            <a:endCxn id="118" idx="1"/>
          </p:cNvCxnSpPr>
          <p:nvPr/>
        </p:nvCxnSpPr>
        <p:spPr>
          <a:xfrm rot="10800000" flipH="1">
            <a:off x="3924069" y="2046088"/>
            <a:ext cx="300" cy="3131700"/>
          </a:xfrm>
          <a:prstGeom prst="curvedConnector3">
            <a:avLst>
              <a:gd name="adj1" fmla="val -689756250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" name="Google Shape;132;p15"/>
          <p:cNvSpPr txBox="1"/>
          <p:nvPr/>
        </p:nvSpPr>
        <p:spPr>
          <a:xfrm>
            <a:off x="3149250" y="2689232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  <p:sp>
        <p:nvSpPr>
          <p:cNvPr id="133" name="Google Shape;133;p15"/>
          <p:cNvSpPr txBox="1"/>
          <p:nvPr/>
        </p:nvSpPr>
        <p:spPr>
          <a:xfrm>
            <a:off x="4787550" y="2689232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vTaskResume()</a:t>
            </a:r>
            <a:endParaRPr sz="1200"/>
          </a:p>
        </p:txBody>
      </p:sp>
      <p:sp>
        <p:nvSpPr>
          <p:cNvPr id="134" name="Google Shape;134;p15"/>
          <p:cNvSpPr txBox="1"/>
          <p:nvPr/>
        </p:nvSpPr>
        <p:spPr>
          <a:xfrm>
            <a:off x="6280688" y="2046089"/>
            <a:ext cx="1194150" cy="3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  <p:sp>
        <p:nvSpPr>
          <p:cNvPr id="135" name="Google Shape;135;p15"/>
          <p:cNvSpPr txBox="1"/>
          <p:nvPr/>
        </p:nvSpPr>
        <p:spPr>
          <a:xfrm>
            <a:off x="6280688" y="4862790"/>
            <a:ext cx="1194150" cy="3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Blocking API function called</a:t>
            </a:r>
            <a:endParaRPr sz="1200"/>
          </a:p>
        </p:txBody>
      </p:sp>
      <p:sp>
        <p:nvSpPr>
          <p:cNvPr id="136" name="Google Shape;136;p15"/>
          <p:cNvSpPr txBox="1"/>
          <p:nvPr/>
        </p:nvSpPr>
        <p:spPr>
          <a:xfrm>
            <a:off x="4572000" y="4255113"/>
            <a:ext cx="549000" cy="3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Event</a:t>
            </a:r>
            <a:endParaRPr sz="1200"/>
          </a:p>
        </p:txBody>
      </p:sp>
      <p:sp>
        <p:nvSpPr>
          <p:cNvPr id="137" name="Google Shape;137;p15"/>
          <p:cNvSpPr txBox="1"/>
          <p:nvPr/>
        </p:nvSpPr>
        <p:spPr>
          <a:xfrm>
            <a:off x="1717338" y="4917457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B594214-49DE-2D4C-6CD7-B6C072FFF83E}"/>
              </a:ext>
            </a:extLst>
          </p:cNvPr>
          <p:cNvSpPr txBox="1"/>
          <p:nvPr/>
        </p:nvSpPr>
        <p:spPr>
          <a:xfrm>
            <a:off x="5309287" y="994869"/>
            <a:ext cx="37358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// Task: print to Serial Terminal with lower priority</a:t>
            </a:r>
          </a:p>
          <a:p>
            <a:r>
              <a:rPr lang="en-US" sz="1100" dirty="0"/>
              <a:t>void startTask1(void *parameter) {</a:t>
            </a:r>
          </a:p>
          <a:p>
            <a:endParaRPr lang="en-US" sz="1100" dirty="0"/>
          </a:p>
          <a:p>
            <a:r>
              <a:rPr lang="en-US" sz="1100" dirty="0"/>
              <a:t>  // Count number of characters in string</a:t>
            </a:r>
          </a:p>
          <a:p>
            <a:r>
              <a:rPr lang="en-US" sz="1100" dirty="0"/>
              <a:t>  int </a:t>
            </a:r>
            <a:r>
              <a:rPr lang="en-US" sz="1100" dirty="0" err="1"/>
              <a:t>msg_len</a:t>
            </a:r>
            <a:r>
              <a:rPr lang="en-US" sz="1100" dirty="0"/>
              <a:t> = </a:t>
            </a:r>
            <a:r>
              <a:rPr lang="en-US" sz="1100" dirty="0" err="1"/>
              <a:t>strlen</a:t>
            </a:r>
            <a:r>
              <a:rPr lang="en-US" sz="1100" dirty="0"/>
              <a:t>(msg);</a:t>
            </a:r>
          </a:p>
          <a:p>
            <a:endParaRPr lang="en-US" sz="1100" dirty="0"/>
          </a:p>
          <a:p>
            <a:r>
              <a:rPr lang="en-US" sz="1100" dirty="0"/>
              <a:t>  // Print string to Terminal</a:t>
            </a:r>
          </a:p>
          <a:p>
            <a:r>
              <a:rPr lang="en-US" sz="1100" dirty="0"/>
              <a:t>  while (1) {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Serial.println</a:t>
            </a:r>
            <a:r>
              <a:rPr lang="en-US" sz="1100" dirty="0"/>
              <a:t>();</a:t>
            </a:r>
          </a:p>
          <a:p>
            <a:r>
              <a:rPr lang="en-US" sz="1100" dirty="0"/>
              <a:t>    for (int </a:t>
            </a:r>
            <a:r>
              <a:rPr lang="en-US" sz="1100" dirty="0" err="1"/>
              <a:t>i</a:t>
            </a:r>
            <a:r>
              <a:rPr lang="en-US" sz="1100" dirty="0"/>
              <a:t> = 0; </a:t>
            </a:r>
            <a:r>
              <a:rPr lang="en-US" sz="1100" dirty="0" err="1"/>
              <a:t>i</a:t>
            </a:r>
            <a:r>
              <a:rPr lang="en-US" sz="1100" dirty="0"/>
              <a:t> &lt; </a:t>
            </a:r>
            <a:r>
              <a:rPr lang="en-US" sz="1100" dirty="0" err="1"/>
              <a:t>msg_len</a:t>
            </a:r>
            <a:r>
              <a:rPr lang="en-US" sz="1100" dirty="0"/>
              <a:t>; </a:t>
            </a:r>
            <a:r>
              <a:rPr lang="en-US" sz="1100" dirty="0" err="1"/>
              <a:t>i</a:t>
            </a:r>
            <a:r>
              <a:rPr lang="en-US" sz="1100" dirty="0"/>
              <a:t>++) {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Serial.print</a:t>
            </a:r>
            <a:r>
              <a:rPr lang="en-US" sz="1100" dirty="0"/>
              <a:t>(msg[</a:t>
            </a:r>
            <a:r>
              <a:rPr lang="en-US" sz="1100" dirty="0" err="1"/>
              <a:t>i</a:t>
            </a:r>
            <a:r>
              <a:rPr lang="en-US" sz="1100" dirty="0"/>
              <a:t>]);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Serial.println</a:t>
            </a:r>
            <a:r>
              <a:rPr lang="en-US" sz="1100" dirty="0"/>
              <a:t>();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vTaskDelay</a:t>
            </a:r>
            <a:r>
              <a:rPr lang="en-US" sz="1100" dirty="0"/>
              <a:t>(1000 / </a:t>
            </a:r>
            <a:r>
              <a:rPr lang="en-US" sz="1100" dirty="0" err="1"/>
              <a:t>portTICK_PERIOD_MS</a:t>
            </a:r>
            <a:r>
              <a:rPr lang="en-US" sz="1100" dirty="0"/>
              <a:t>);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  <a:p>
            <a:endParaRPr lang="en-US" sz="1100" dirty="0"/>
          </a:p>
          <a:p>
            <a:r>
              <a:rPr lang="en-US" sz="1100" dirty="0"/>
              <a:t>// Task: print to Serial Terminal with higher priority</a:t>
            </a:r>
          </a:p>
          <a:p>
            <a:r>
              <a:rPr lang="en-US" sz="1100" dirty="0"/>
              <a:t>void startTask2(void *parameter) {</a:t>
            </a:r>
          </a:p>
          <a:p>
            <a:r>
              <a:rPr lang="en-US" sz="1100" dirty="0"/>
              <a:t>  while (1) {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</a:t>
            </a:r>
            <a:r>
              <a:rPr lang="en-US" sz="1100" dirty="0"/>
              <a:t>('*');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vTaskDelay</a:t>
            </a:r>
            <a:r>
              <a:rPr lang="en-US" sz="1100" dirty="0"/>
              <a:t>(100 / </a:t>
            </a:r>
            <a:r>
              <a:rPr lang="en-US" sz="1100" dirty="0" err="1"/>
              <a:t>portTICK_PERIOD_MS</a:t>
            </a:r>
            <a:r>
              <a:rPr lang="en-US" sz="1100" dirty="0"/>
              <a:t>);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969D6-3F70-86C2-2225-54B0E257DF7A}"/>
              </a:ext>
            </a:extLst>
          </p:cNvPr>
          <p:cNvSpPr txBox="1"/>
          <p:nvPr/>
        </p:nvSpPr>
        <p:spPr>
          <a:xfrm>
            <a:off x="358346" y="140777"/>
            <a:ext cx="4572000" cy="6717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void setup() </a:t>
            </a:r>
          </a:p>
          <a:p>
            <a:r>
              <a:rPr lang="en-US" sz="1050" dirty="0"/>
              <a:t>{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</a:t>
            </a:r>
            <a:r>
              <a:rPr lang="en-US" sz="1050" dirty="0"/>
              <a:t>("task priority ");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uxTaskPriorityGet</a:t>
            </a:r>
            <a:r>
              <a:rPr lang="en-US" sz="1050" dirty="0"/>
              <a:t>(NULL));</a:t>
            </a:r>
          </a:p>
          <a:p>
            <a:endParaRPr lang="en-US" sz="1050" dirty="0"/>
          </a:p>
          <a:p>
            <a:r>
              <a:rPr lang="en-US" sz="1050" dirty="0"/>
              <a:t> // Task to run forever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(startTask1,</a:t>
            </a:r>
          </a:p>
          <a:p>
            <a:r>
              <a:rPr lang="en-US" sz="1050" dirty="0"/>
              <a:t>                          "Task 1",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&amp;task_1,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// Task to run once with higher priority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(startTask2,</a:t>
            </a:r>
          </a:p>
          <a:p>
            <a:r>
              <a:rPr lang="en-US" sz="1050" dirty="0"/>
              <a:t>                          "Task 2",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2,</a:t>
            </a:r>
          </a:p>
          <a:p>
            <a:r>
              <a:rPr lang="en-US" sz="1050" dirty="0"/>
              <a:t>                          &amp;task_2,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						  </a:t>
            </a:r>
          </a:p>
          <a:p>
            <a:r>
              <a:rPr lang="en-US" sz="1050" dirty="0"/>
              <a:t>						  </a:t>
            </a:r>
          </a:p>
          <a:p>
            <a:r>
              <a:rPr lang="en-US" sz="1050" dirty="0"/>
              <a:t>	while(1)</a:t>
            </a:r>
          </a:p>
          <a:p>
            <a:r>
              <a:rPr lang="en-US" sz="1050" dirty="0"/>
              <a:t>	{							 </a:t>
            </a:r>
          </a:p>
          <a:p>
            <a:r>
              <a:rPr lang="en-US" sz="1050" dirty="0"/>
              <a:t>	  // Suspend the higher priority task for some intervals</a:t>
            </a:r>
          </a:p>
          <a:p>
            <a:r>
              <a:rPr lang="en-US" sz="1050" dirty="0"/>
              <a:t>	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3;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vTaskSuspend</a:t>
            </a:r>
            <a:r>
              <a:rPr lang="en-US" sz="1050" dirty="0"/>
              <a:t>(task_2);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vTaskDelay</a:t>
            </a:r>
            <a:r>
              <a:rPr lang="en-US" sz="1050" dirty="0"/>
              <a:t>(2000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vTaskResume</a:t>
            </a:r>
            <a:r>
              <a:rPr lang="en-US" sz="1050" dirty="0"/>
              <a:t>(task_2);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vTaskDelay</a:t>
            </a:r>
            <a:r>
              <a:rPr lang="en-US" sz="1050" dirty="0"/>
              <a:t>(2000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	  }</a:t>
            </a:r>
          </a:p>
          <a:p>
            <a:endParaRPr lang="en-US" sz="1050" dirty="0"/>
          </a:p>
          <a:p>
            <a:r>
              <a:rPr lang="en-US" sz="1050" dirty="0"/>
              <a:t>	  // Delete the lower priority task</a:t>
            </a:r>
          </a:p>
          <a:p>
            <a:r>
              <a:rPr lang="en-US" sz="1050" dirty="0"/>
              <a:t>	  if (task_1 != NULL) {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vTaskDelete</a:t>
            </a:r>
            <a:r>
              <a:rPr lang="en-US" sz="1050" dirty="0"/>
              <a:t>(task_1);</a:t>
            </a:r>
          </a:p>
          <a:p>
            <a:r>
              <a:rPr lang="en-US" sz="1050" dirty="0"/>
              <a:t>		task_1 = NULL;</a:t>
            </a:r>
          </a:p>
          <a:p>
            <a:r>
              <a:rPr lang="en-US" sz="1050" dirty="0"/>
              <a:t>	  }</a:t>
            </a:r>
          </a:p>
          <a:p>
            <a:r>
              <a:rPr lang="en-US" sz="1050" dirty="0"/>
              <a:t>	}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47307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B9BE-5842-F438-E78A-4AF5AB78E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396EC01-3D1D-2BBE-2B64-097F0271F22E}"/>
              </a:ext>
            </a:extLst>
          </p:cNvPr>
          <p:cNvSpPr txBox="1"/>
          <p:nvPr/>
        </p:nvSpPr>
        <p:spPr>
          <a:xfrm>
            <a:off x="358346" y="140777"/>
            <a:ext cx="4572000" cy="94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dirty="0"/>
              <a:t>/**</a:t>
            </a:r>
          </a:p>
          <a:p>
            <a:r>
              <a:rPr lang="en-US" sz="500" dirty="0"/>
              <a:t> * Solution to 03 - LED Challenge</a:t>
            </a:r>
          </a:p>
          <a:p>
            <a:r>
              <a:rPr lang="en-US" sz="500" dirty="0"/>
              <a:t> * </a:t>
            </a:r>
          </a:p>
          <a:p>
            <a:r>
              <a:rPr lang="en-US" sz="500" dirty="0"/>
              <a:t> * One task flashes an LED at a rate specified by a value set in another task.</a:t>
            </a:r>
          </a:p>
          <a:p>
            <a:r>
              <a:rPr lang="en-US" sz="500" dirty="0"/>
              <a:t> * </a:t>
            </a:r>
          </a:p>
          <a:p>
            <a:r>
              <a:rPr lang="en-US" sz="500" dirty="0"/>
              <a:t> * Date: December 4, 2020</a:t>
            </a:r>
          </a:p>
          <a:p>
            <a:r>
              <a:rPr lang="en-US" sz="500" dirty="0"/>
              <a:t> * Author: Shawn Hymel</a:t>
            </a:r>
          </a:p>
          <a:p>
            <a:r>
              <a:rPr lang="en-US" sz="500" dirty="0"/>
              <a:t> * License: 0BSD</a:t>
            </a:r>
          </a:p>
          <a:p>
            <a:r>
              <a:rPr lang="en-US" sz="500" dirty="0"/>
              <a:t> */</a:t>
            </a:r>
          </a:p>
          <a:p>
            <a:endParaRPr lang="en-US" sz="500" dirty="0"/>
          </a:p>
          <a:p>
            <a:r>
              <a:rPr lang="en-US" sz="500" dirty="0"/>
              <a:t>// Needed for </a:t>
            </a:r>
            <a:r>
              <a:rPr lang="en-US" sz="500" dirty="0" err="1"/>
              <a:t>atoi</a:t>
            </a:r>
            <a:r>
              <a:rPr lang="en-US" sz="500" dirty="0"/>
              <a:t>()</a:t>
            </a:r>
          </a:p>
          <a:p>
            <a:r>
              <a:rPr lang="en-US" sz="500" dirty="0"/>
              <a:t>#include &lt;</a:t>
            </a:r>
            <a:r>
              <a:rPr lang="en-US" sz="500" dirty="0" err="1"/>
              <a:t>stdlib.h</a:t>
            </a:r>
            <a:r>
              <a:rPr lang="en-US" sz="500" dirty="0"/>
              <a:t>&gt;</a:t>
            </a:r>
          </a:p>
          <a:p>
            <a:endParaRPr lang="en-US" sz="500" dirty="0"/>
          </a:p>
          <a:p>
            <a:r>
              <a:rPr lang="en-US" sz="500" dirty="0"/>
              <a:t>// Use only core 1 for demo purposes</a:t>
            </a:r>
          </a:p>
          <a:p>
            <a:r>
              <a:rPr lang="en-US" sz="500" dirty="0"/>
              <a:t>#if CONFIG_FREERTOS_UNICORE</a:t>
            </a:r>
          </a:p>
          <a:p>
            <a:r>
              <a:rPr lang="en-US" sz="500" dirty="0"/>
              <a:t>  static const </a:t>
            </a:r>
            <a:r>
              <a:rPr lang="en-US" sz="500" dirty="0" err="1"/>
              <a:t>BaseType_t</a:t>
            </a:r>
            <a:r>
              <a:rPr lang="en-US" sz="500" dirty="0"/>
              <a:t> </a:t>
            </a:r>
            <a:r>
              <a:rPr lang="en-US" sz="500" dirty="0" err="1"/>
              <a:t>app_cpu</a:t>
            </a:r>
            <a:r>
              <a:rPr lang="en-US" sz="500" dirty="0"/>
              <a:t> = 0;</a:t>
            </a:r>
          </a:p>
          <a:p>
            <a:r>
              <a:rPr lang="en-US" sz="500" dirty="0"/>
              <a:t>#else</a:t>
            </a:r>
          </a:p>
          <a:p>
            <a:r>
              <a:rPr lang="en-US" sz="500" dirty="0"/>
              <a:t>  static const </a:t>
            </a:r>
            <a:r>
              <a:rPr lang="en-US" sz="500" dirty="0" err="1"/>
              <a:t>BaseType_t</a:t>
            </a:r>
            <a:r>
              <a:rPr lang="en-US" sz="500" dirty="0"/>
              <a:t> </a:t>
            </a:r>
            <a:r>
              <a:rPr lang="en-US" sz="500" dirty="0" err="1"/>
              <a:t>app_cpu</a:t>
            </a:r>
            <a:r>
              <a:rPr lang="en-US" sz="500" dirty="0"/>
              <a:t> = 1;</a:t>
            </a:r>
          </a:p>
          <a:p>
            <a:r>
              <a:rPr lang="en-US" sz="500" dirty="0"/>
              <a:t>#endif</a:t>
            </a:r>
          </a:p>
          <a:p>
            <a:endParaRPr lang="en-US" sz="500" dirty="0"/>
          </a:p>
          <a:p>
            <a:r>
              <a:rPr lang="en-US" sz="500" dirty="0"/>
              <a:t>// Settings</a:t>
            </a:r>
          </a:p>
          <a:p>
            <a:r>
              <a:rPr lang="en-US" sz="500" dirty="0"/>
              <a:t>static const uint8_t </a:t>
            </a:r>
            <a:r>
              <a:rPr lang="en-US" sz="500" dirty="0" err="1"/>
              <a:t>buf_len</a:t>
            </a:r>
            <a:r>
              <a:rPr lang="en-US" sz="500" dirty="0"/>
              <a:t> = 20;</a:t>
            </a:r>
          </a:p>
          <a:p>
            <a:endParaRPr lang="en-US" sz="500" dirty="0"/>
          </a:p>
          <a:p>
            <a:r>
              <a:rPr lang="en-US" sz="500" dirty="0"/>
              <a:t>// Pins</a:t>
            </a:r>
          </a:p>
          <a:p>
            <a:r>
              <a:rPr lang="en-US" sz="500" dirty="0"/>
              <a:t>static const int </a:t>
            </a:r>
            <a:r>
              <a:rPr lang="en-US" sz="500" dirty="0" err="1"/>
              <a:t>led_pin</a:t>
            </a:r>
            <a:r>
              <a:rPr lang="en-US" sz="500" dirty="0"/>
              <a:t> = LED_BUILTIN;</a:t>
            </a:r>
          </a:p>
          <a:p>
            <a:endParaRPr lang="en-US" sz="500" dirty="0"/>
          </a:p>
          <a:p>
            <a:r>
              <a:rPr lang="en-US" sz="500" dirty="0"/>
              <a:t>// </a:t>
            </a:r>
            <a:r>
              <a:rPr lang="en-US" sz="500" dirty="0" err="1"/>
              <a:t>Globals</a:t>
            </a:r>
            <a:endParaRPr lang="en-US" sz="500" dirty="0"/>
          </a:p>
          <a:p>
            <a:r>
              <a:rPr lang="en-US" sz="500" dirty="0"/>
              <a:t>static int </a:t>
            </a:r>
            <a:r>
              <a:rPr lang="en-US" sz="500" dirty="0" err="1"/>
              <a:t>led_delay</a:t>
            </a:r>
            <a:r>
              <a:rPr lang="en-US" sz="500" dirty="0"/>
              <a:t> = 500;   // </a:t>
            </a:r>
            <a:r>
              <a:rPr lang="en-US" sz="500" dirty="0" err="1"/>
              <a:t>ms</a:t>
            </a:r>
            <a:endParaRPr lang="en-US" sz="500" dirty="0"/>
          </a:p>
          <a:p>
            <a:endParaRPr lang="en-US" sz="500" dirty="0"/>
          </a:p>
          <a:p>
            <a:r>
              <a:rPr lang="en-US" sz="500" dirty="0"/>
              <a:t>//*****************************************************************************</a:t>
            </a:r>
          </a:p>
          <a:p>
            <a:r>
              <a:rPr lang="en-US" sz="500" dirty="0"/>
              <a:t>// Tasks</a:t>
            </a:r>
          </a:p>
          <a:p>
            <a:endParaRPr lang="en-US" sz="500" dirty="0"/>
          </a:p>
          <a:p>
            <a:r>
              <a:rPr lang="en-US" sz="500" dirty="0"/>
              <a:t>// Task: Blink LED at rate set by global variable</a:t>
            </a:r>
          </a:p>
          <a:p>
            <a:r>
              <a:rPr lang="en-US" sz="500" dirty="0"/>
              <a:t>void </a:t>
            </a:r>
            <a:r>
              <a:rPr lang="en-US" sz="500" dirty="0" err="1"/>
              <a:t>toggleLED</a:t>
            </a:r>
            <a:r>
              <a:rPr lang="en-US" sz="500" dirty="0"/>
              <a:t>(void *parameter) {</a:t>
            </a:r>
          </a:p>
          <a:p>
            <a:r>
              <a:rPr lang="en-US" sz="500" dirty="0"/>
              <a:t>  while (1) {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digitalWrite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HIGH);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vTaskDelay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digitalWrite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LOW);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vTaskDelay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}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// Task: Read from serial terminal</a:t>
            </a:r>
          </a:p>
          <a:p>
            <a:r>
              <a:rPr lang="en-US" sz="500" dirty="0"/>
              <a:t>// Feel free to use </a:t>
            </a:r>
            <a:r>
              <a:rPr lang="en-US" sz="500" dirty="0" err="1"/>
              <a:t>Serial.readString</a:t>
            </a:r>
            <a:r>
              <a:rPr lang="en-US" sz="500" dirty="0"/>
              <a:t>() or </a:t>
            </a:r>
            <a:r>
              <a:rPr lang="en-US" sz="500" dirty="0" err="1"/>
              <a:t>Serial.parseInt</a:t>
            </a:r>
            <a:r>
              <a:rPr lang="en-US" sz="500" dirty="0"/>
              <a:t>(). I'm going to show</a:t>
            </a:r>
          </a:p>
          <a:p>
            <a:r>
              <a:rPr lang="en-US" sz="500" dirty="0"/>
              <a:t>// it with </a:t>
            </a:r>
            <a:r>
              <a:rPr lang="en-US" sz="500" dirty="0" err="1"/>
              <a:t>atoi</a:t>
            </a:r>
            <a:r>
              <a:rPr lang="en-US" sz="500" dirty="0"/>
              <a:t>() in case you're doing this in a non-Arduino environment. You'd</a:t>
            </a:r>
          </a:p>
          <a:p>
            <a:r>
              <a:rPr lang="en-US" sz="500" dirty="0"/>
              <a:t>// also need to replace Serial with your own UART code for non-Arduino.</a:t>
            </a:r>
          </a:p>
          <a:p>
            <a:r>
              <a:rPr lang="en-US" sz="500" dirty="0"/>
              <a:t>void </a:t>
            </a:r>
            <a:r>
              <a:rPr lang="en-US" sz="500" dirty="0" err="1"/>
              <a:t>readSerial</a:t>
            </a:r>
            <a:r>
              <a:rPr lang="en-US" sz="500" dirty="0"/>
              <a:t>(void *parameters) {</a:t>
            </a:r>
          </a:p>
          <a:p>
            <a:endParaRPr lang="en-US" sz="500" dirty="0"/>
          </a:p>
          <a:p>
            <a:r>
              <a:rPr lang="en-US" sz="500" dirty="0"/>
              <a:t>  char c;</a:t>
            </a:r>
          </a:p>
          <a:p>
            <a:r>
              <a:rPr lang="en-US" sz="500" dirty="0"/>
              <a:t>  char </a:t>
            </a:r>
            <a:r>
              <a:rPr lang="en-US" sz="500" dirty="0" err="1"/>
              <a:t>buf</a:t>
            </a:r>
            <a:r>
              <a:rPr lang="en-US" sz="500" dirty="0"/>
              <a:t>[</a:t>
            </a:r>
            <a:r>
              <a:rPr lang="en-US" sz="500" dirty="0" err="1"/>
              <a:t>buf_len</a:t>
            </a:r>
            <a:r>
              <a:rPr lang="en-US" sz="500" dirty="0"/>
              <a:t>];</a:t>
            </a:r>
          </a:p>
          <a:p>
            <a:r>
              <a:rPr lang="en-US" sz="500" dirty="0"/>
              <a:t>  uint8_t </a:t>
            </a:r>
            <a:r>
              <a:rPr lang="en-US" sz="500" dirty="0" err="1"/>
              <a:t>idx</a:t>
            </a:r>
            <a:r>
              <a:rPr lang="en-US" sz="500" dirty="0"/>
              <a:t> = 0;</a:t>
            </a:r>
          </a:p>
          <a:p>
            <a:endParaRPr lang="en-US" sz="500" dirty="0"/>
          </a:p>
          <a:p>
            <a:r>
              <a:rPr lang="en-US" sz="500" dirty="0"/>
              <a:t>  // Clear whole buffer</a:t>
            </a:r>
          </a:p>
          <a:p>
            <a:r>
              <a:rPr lang="en-US" sz="500" dirty="0"/>
              <a:t>  </a:t>
            </a:r>
            <a:r>
              <a:rPr lang="en-US" sz="500" dirty="0" err="1"/>
              <a:t>memset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, 0, </a:t>
            </a:r>
            <a:r>
              <a:rPr lang="en-US" sz="500" dirty="0" err="1"/>
              <a:t>buf_len</a:t>
            </a:r>
            <a:r>
              <a:rPr lang="en-US" sz="500" dirty="0"/>
              <a:t>);</a:t>
            </a:r>
          </a:p>
          <a:p>
            <a:endParaRPr lang="en-US" sz="500" dirty="0"/>
          </a:p>
          <a:p>
            <a:r>
              <a:rPr lang="en-US" sz="500" dirty="0"/>
              <a:t>  // Loop forever</a:t>
            </a:r>
          </a:p>
          <a:p>
            <a:r>
              <a:rPr lang="en-US" sz="500" dirty="0"/>
              <a:t>  while (1) {</a:t>
            </a:r>
          </a:p>
          <a:p>
            <a:endParaRPr lang="en-US" sz="500" dirty="0"/>
          </a:p>
          <a:p>
            <a:r>
              <a:rPr lang="en-US" sz="500" dirty="0"/>
              <a:t>    // Read characters from serial</a:t>
            </a:r>
          </a:p>
          <a:p>
            <a:r>
              <a:rPr lang="en-US" sz="500" dirty="0"/>
              <a:t>    if (</a:t>
            </a:r>
            <a:r>
              <a:rPr lang="en-US" sz="500" dirty="0" err="1"/>
              <a:t>Serial.available</a:t>
            </a:r>
            <a:r>
              <a:rPr lang="en-US" sz="500" dirty="0"/>
              <a:t>() &gt; 0) {</a:t>
            </a:r>
          </a:p>
          <a:p>
            <a:r>
              <a:rPr lang="en-US" sz="500" dirty="0"/>
              <a:t>      c = </a:t>
            </a:r>
            <a:r>
              <a:rPr lang="en-US" sz="500" dirty="0" err="1"/>
              <a:t>Serial.read</a:t>
            </a:r>
            <a:r>
              <a:rPr lang="en-US" sz="500" dirty="0"/>
              <a:t>();</a:t>
            </a:r>
          </a:p>
          <a:p>
            <a:endParaRPr lang="en-US" sz="500" dirty="0"/>
          </a:p>
          <a:p>
            <a:r>
              <a:rPr lang="en-US" sz="500" dirty="0"/>
              <a:t>      // Update delay variable and reset buffer if we get a newline character</a:t>
            </a:r>
          </a:p>
          <a:p>
            <a:r>
              <a:rPr lang="en-US" sz="500" dirty="0"/>
              <a:t>      if (c == '\n') {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led_delay</a:t>
            </a:r>
            <a:r>
              <a:rPr lang="en-US" sz="500" dirty="0"/>
              <a:t> = </a:t>
            </a:r>
            <a:r>
              <a:rPr lang="en-US" sz="500" dirty="0" err="1"/>
              <a:t>atoi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Serial.print</a:t>
            </a:r>
            <a:r>
              <a:rPr lang="en-US" sz="500" dirty="0"/>
              <a:t>("Updated LED delay to: ");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Serial.println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memset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, 0, </a:t>
            </a:r>
            <a:r>
              <a:rPr lang="en-US" sz="500" dirty="0" err="1"/>
              <a:t>buf_len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idx</a:t>
            </a:r>
            <a:r>
              <a:rPr lang="en-US" sz="500" dirty="0"/>
              <a:t> = 0;</a:t>
            </a:r>
          </a:p>
          <a:p>
            <a:r>
              <a:rPr lang="en-US" sz="500" dirty="0"/>
              <a:t>      } else {</a:t>
            </a:r>
          </a:p>
          <a:p>
            <a:r>
              <a:rPr lang="en-US" sz="500" dirty="0"/>
              <a:t>        </a:t>
            </a:r>
          </a:p>
          <a:p>
            <a:r>
              <a:rPr lang="en-US" sz="500" dirty="0"/>
              <a:t>        // Only append if index is not over message limit</a:t>
            </a:r>
          </a:p>
          <a:p>
            <a:r>
              <a:rPr lang="en-US" sz="500" dirty="0"/>
              <a:t>        if (</a:t>
            </a:r>
            <a:r>
              <a:rPr lang="en-US" sz="500" dirty="0" err="1"/>
              <a:t>idx</a:t>
            </a:r>
            <a:r>
              <a:rPr lang="en-US" sz="500" dirty="0"/>
              <a:t> &lt; </a:t>
            </a:r>
            <a:r>
              <a:rPr lang="en-US" sz="500" dirty="0" err="1"/>
              <a:t>buf_len</a:t>
            </a:r>
            <a:r>
              <a:rPr lang="en-US" sz="500" dirty="0"/>
              <a:t> - 1) {</a:t>
            </a:r>
          </a:p>
          <a:p>
            <a:r>
              <a:rPr lang="en-US" sz="500" dirty="0"/>
              <a:t>          </a:t>
            </a:r>
            <a:r>
              <a:rPr lang="en-US" sz="500" dirty="0" err="1"/>
              <a:t>buf</a:t>
            </a:r>
            <a:r>
              <a:rPr lang="en-US" sz="500" dirty="0"/>
              <a:t>[</a:t>
            </a:r>
            <a:r>
              <a:rPr lang="en-US" sz="500" dirty="0" err="1"/>
              <a:t>idx</a:t>
            </a:r>
            <a:r>
              <a:rPr lang="en-US" sz="500" dirty="0"/>
              <a:t>] = c;</a:t>
            </a:r>
          </a:p>
          <a:p>
            <a:r>
              <a:rPr lang="en-US" sz="500" dirty="0"/>
              <a:t>          </a:t>
            </a:r>
            <a:r>
              <a:rPr lang="en-US" sz="500" dirty="0" err="1"/>
              <a:t>idx</a:t>
            </a:r>
            <a:r>
              <a:rPr lang="en-US" sz="500" dirty="0"/>
              <a:t>++;</a:t>
            </a:r>
          </a:p>
          <a:p>
            <a:r>
              <a:rPr lang="en-US" sz="500" dirty="0"/>
              <a:t>        }</a:t>
            </a:r>
          </a:p>
          <a:p>
            <a:r>
              <a:rPr lang="en-US" sz="500" dirty="0"/>
              <a:t>      }</a:t>
            </a:r>
          </a:p>
          <a:p>
            <a:r>
              <a:rPr lang="en-US" sz="500" dirty="0"/>
              <a:t>    }</a:t>
            </a:r>
          </a:p>
          <a:p>
            <a:r>
              <a:rPr lang="en-US" sz="500" dirty="0"/>
              <a:t>  }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//*****************************************************************************</a:t>
            </a:r>
          </a:p>
          <a:p>
            <a:r>
              <a:rPr lang="en-US" sz="500" dirty="0"/>
              <a:t>// Main</a:t>
            </a:r>
          </a:p>
          <a:p>
            <a:endParaRPr lang="en-US" sz="500" dirty="0"/>
          </a:p>
          <a:p>
            <a:r>
              <a:rPr lang="en-US" sz="500" dirty="0"/>
              <a:t>void setup() {</a:t>
            </a:r>
          </a:p>
          <a:p>
            <a:endParaRPr lang="en-US" sz="500" dirty="0"/>
          </a:p>
          <a:p>
            <a:r>
              <a:rPr lang="en-US" sz="500" dirty="0"/>
              <a:t>  // Configure pin</a:t>
            </a:r>
          </a:p>
          <a:p>
            <a:r>
              <a:rPr lang="en-US" sz="500" dirty="0"/>
              <a:t>  </a:t>
            </a:r>
            <a:r>
              <a:rPr lang="en-US" sz="500" dirty="0" err="1"/>
              <a:t>pinMode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OUTPUT);</a:t>
            </a:r>
          </a:p>
          <a:p>
            <a:endParaRPr lang="en-US" sz="500" dirty="0"/>
          </a:p>
          <a:p>
            <a:r>
              <a:rPr lang="en-US" sz="500" dirty="0"/>
              <a:t>  // Configure serial and wait a second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Serial.begin</a:t>
            </a:r>
            <a:r>
              <a:rPr lang="en-US" sz="500" dirty="0"/>
              <a:t>(115200);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vTaskDelay</a:t>
            </a:r>
            <a:r>
              <a:rPr lang="en-US" sz="500" dirty="0"/>
              <a:t>(1000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Serial.println</a:t>
            </a:r>
            <a:r>
              <a:rPr lang="en-US" sz="500" dirty="0"/>
              <a:t>("Multi-task LED Demo");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Serial.println</a:t>
            </a:r>
            <a:r>
              <a:rPr lang="en-US" sz="500" dirty="0"/>
              <a:t>("Enter a number in milliseconds to change the LED delay.");</a:t>
            </a:r>
          </a:p>
          <a:p>
            <a:endParaRPr lang="en-US" sz="500" dirty="0"/>
          </a:p>
          <a:p>
            <a:r>
              <a:rPr lang="en-US" sz="500" dirty="0"/>
              <a:t>  // Start blink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xTaskCreatePinnedToCore</a:t>
            </a:r>
            <a:r>
              <a:rPr lang="en-US" sz="500" dirty="0"/>
              <a:t>(  // Use </a:t>
            </a:r>
            <a:r>
              <a:rPr lang="en-US" sz="500" dirty="0" err="1"/>
              <a:t>xTaskCreate</a:t>
            </a:r>
            <a:r>
              <a:rPr lang="en-US" sz="500" dirty="0"/>
              <a:t>() in vanilla </a:t>
            </a:r>
            <a:r>
              <a:rPr lang="en-US" sz="500" dirty="0" err="1"/>
              <a:t>FreeRTOS</a:t>
            </a:r>
            <a:endParaRPr lang="en-US" sz="500" dirty="0"/>
          </a:p>
          <a:p>
            <a:r>
              <a:rPr lang="en-US" sz="500" dirty="0"/>
              <a:t>            </a:t>
            </a:r>
            <a:r>
              <a:rPr lang="en-US" sz="500" dirty="0" err="1"/>
              <a:t>toggleLED</a:t>
            </a:r>
            <a:r>
              <a:rPr lang="en-US" sz="500" dirty="0"/>
              <a:t>,      // Function to be called</a:t>
            </a:r>
          </a:p>
          <a:p>
            <a:r>
              <a:rPr lang="en-US" sz="500" dirty="0"/>
              <a:t>            "Toggle LED",   // Name of task</a:t>
            </a:r>
          </a:p>
          <a:p>
            <a:r>
              <a:rPr lang="en-US" sz="500" dirty="0"/>
              <a:t>            1024,           // Stack size (bytes in ESP32, words in </a:t>
            </a:r>
            <a:r>
              <a:rPr lang="en-US" sz="500" dirty="0" err="1"/>
              <a:t>FreeRTOS</a:t>
            </a:r>
            <a:r>
              <a:rPr lang="en-US" sz="500" dirty="0"/>
              <a:t>)</a:t>
            </a:r>
          </a:p>
          <a:p>
            <a:r>
              <a:rPr lang="en-US" sz="500" dirty="0"/>
              <a:t>            NULL,           // Parameter to pass</a:t>
            </a:r>
          </a:p>
          <a:p>
            <a:r>
              <a:rPr lang="en-US" sz="500" dirty="0"/>
              <a:t>            1,              // Task priority</a:t>
            </a:r>
          </a:p>
          <a:p>
            <a:r>
              <a:rPr lang="en-US" sz="500" dirty="0"/>
              <a:t>            NULL,           // Task handle</a:t>
            </a:r>
          </a:p>
          <a:p>
            <a:r>
              <a:rPr lang="en-US" sz="500" dirty="0"/>
              <a:t>            </a:t>
            </a:r>
            <a:r>
              <a:rPr lang="en-US" sz="500" dirty="0" err="1"/>
              <a:t>app_cpu</a:t>
            </a:r>
            <a:r>
              <a:rPr lang="en-US" sz="500" dirty="0"/>
              <a:t>);       // Run on one core for demo purposes (ESP32 only)</a:t>
            </a:r>
          </a:p>
          <a:p>
            <a:r>
              <a:rPr lang="en-US" sz="500" dirty="0"/>
              <a:t>            </a:t>
            </a:r>
          </a:p>
          <a:p>
            <a:r>
              <a:rPr lang="en-US" sz="500" dirty="0"/>
              <a:t>  // Start serial read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xTaskCreatePinnedToCore</a:t>
            </a:r>
            <a:r>
              <a:rPr lang="en-US" sz="500" dirty="0"/>
              <a:t>(  // Use </a:t>
            </a:r>
            <a:r>
              <a:rPr lang="en-US" sz="500" dirty="0" err="1"/>
              <a:t>xTaskCreate</a:t>
            </a:r>
            <a:r>
              <a:rPr lang="en-US" sz="500" dirty="0"/>
              <a:t>() in vanilla </a:t>
            </a:r>
            <a:r>
              <a:rPr lang="en-US" sz="500" dirty="0" err="1"/>
              <a:t>FreeRTOS</a:t>
            </a:r>
            <a:endParaRPr lang="en-US" sz="500" dirty="0"/>
          </a:p>
          <a:p>
            <a:r>
              <a:rPr lang="en-US" sz="500" dirty="0"/>
              <a:t>            </a:t>
            </a:r>
            <a:r>
              <a:rPr lang="en-US" sz="500" dirty="0" err="1"/>
              <a:t>readSerial</a:t>
            </a:r>
            <a:r>
              <a:rPr lang="en-US" sz="500" dirty="0"/>
              <a:t>,     // Function to be called</a:t>
            </a:r>
          </a:p>
          <a:p>
            <a:r>
              <a:rPr lang="en-US" sz="500" dirty="0"/>
              <a:t>            "Read Serial",  // Name of task</a:t>
            </a:r>
          </a:p>
          <a:p>
            <a:r>
              <a:rPr lang="en-US" sz="500" dirty="0"/>
              <a:t>            1024,           // Stack size (bytes in ESP32, words in </a:t>
            </a:r>
            <a:r>
              <a:rPr lang="en-US" sz="500" dirty="0" err="1"/>
              <a:t>FreeRTOS</a:t>
            </a:r>
            <a:r>
              <a:rPr lang="en-US" sz="500" dirty="0"/>
              <a:t>)</a:t>
            </a:r>
          </a:p>
          <a:p>
            <a:r>
              <a:rPr lang="en-US" sz="500" dirty="0"/>
              <a:t>            NULL,           // Parameter to pass</a:t>
            </a:r>
          </a:p>
          <a:p>
            <a:r>
              <a:rPr lang="en-US" sz="500" dirty="0"/>
              <a:t>            1,              // Task priority (must be same to prevent lockup)</a:t>
            </a:r>
          </a:p>
          <a:p>
            <a:r>
              <a:rPr lang="en-US" sz="500" dirty="0"/>
              <a:t>            NULL,           // Task handle</a:t>
            </a:r>
          </a:p>
          <a:p>
            <a:r>
              <a:rPr lang="en-US" sz="500" dirty="0"/>
              <a:t>            </a:t>
            </a:r>
            <a:r>
              <a:rPr lang="en-US" sz="500" dirty="0" err="1"/>
              <a:t>app_cpu</a:t>
            </a:r>
            <a:r>
              <a:rPr lang="en-US" sz="500" dirty="0"/>
              <a:t>);       // Run on one core for demo purposes (ESP32 only)</a:t>
            </a:r>
          </a:p>
          <a:p>
            <a:endParaRPr lang="en-US" sz="500" dirty="0"/>
          </a:p>
          <a:p>
            <a:r>
              <a:rPr lang="en-US" sz="500" dirty="0"/>
              <a:t>  // Delete "setup and loop"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vTaskDelete</a:t>
            </a:r>
            <a:r>
              <a:rPr lang="en-US" sz="500" dirty="0"/>
              <a:t>(NULL);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void loop() {</a:t>
            </a:r>
          </a:p>
          <a:p>
            <a:r>
              <a:rPr lang="en-US" sz="500" dirty="0"/>
              <a:t>  // Execution should never get here</a:t>
            </a:r>
          </a:p>
          <a:p>
            <a:r>
              <a:rPr lang="en-US" sz="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06381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38100" y="2040763"/>
            <a:ext cx="4594177" cy="274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Memory Allocation</a:t>
            </a:r>
            <a:endParaRPr sz="2400"/>
          </a:p>
        </p:txBody>
      </p:sp>
      <p:sp>
        <p:nvSpPr>
          <p:cNvPr id="144" name="Google Shape;144;p16"/>
          <p:cNvSpPr/>
          <p:nvPr/>
        </p:nvSpPr>
        <p:spPr>
          <a:xfrm>
            <a:off x="411719" y="1840375"/>
            <a:ext cx="1539900" cy="36193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45" name="Google Shape;145;p16"/>
          <p:cNvSpPr txBox="1"/>
          <p:nvPr/>
        </p:nvSpPr>
        <p:spPr>
          <a:xfrm>
            <a:off x="411719" y="1605475"/>
            <a:ext cx="153990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RAM</a:t>
            </a:r>
            <a:endParaRPr sz="1200"/>
          </a:p>
        </p:txBody>
      </p:sp>
      <p:sp>
        <p:nvSpPr>
          <p:cNvPr id="146" name="Google Shape;146;p16"/>
          <p:cNvSpPr/>
          <p:nvPr/>
        </p:nvSpPr>
        <p:spPr>
          <a:xfrm>
            <a:off x="411719" y="4876787"/>
            <a:ext cx="1539900" cy="582900"/>
          </a:xfrm>
          <a:prstGeom prst="roundRect">
            <a:avLst>
              <a:gd name="adj" fmla="val 0"/>
            </a:avLst>
          </a:prstGeom>
          <a:solidFill>
            <a:srgbClr val="FFE59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</a:t>
            </a:r>
            <a:endParaRPr sz="1500"/>
          </a:p>
        </p:txBody>
      </p:sp>
      <p:grpSp>
        <p:nvGrpSpPr>
          <p:cNvPr id="147" name="Google Shape;147;p16"/>
          <p:cNvGrpSpPr/>
          <p:nvPr/>
        </p:nvGrpSpPr>
        <p:grpSpPr>
          <a:xfrm>
            <a:off x="411719" y="1840375"/>
            <a:ext cx="1539900" cy="1433850"/>
            <a:chOff x="823438" y="1966250"/>
            <a:chExt cx="3079800" cy="2867700"/>
          </a:xfrm>
        </p:grpSpPr>
        <p:sp>
          <p:nvSpPr>
            <p:cNvPr id="148" name="Google Shape;148;p16"/>
            <p:cNvSpPr/>
            <p:nvPr/>
          </p:nvSpPr>
          <p:spPr>
            <a:xfrm>
              <a:off x="823438" y="1966250"/>
              <a:ext cx="3079800" cy="1936800"/>
            </a:xfrm>
            <a:prstGeom prst="roundRect">
              <a:avLst>
                <a:gd name="adj" fmla="val 0"/>
              </a:avLst>
            </a:prstGeom>
            <a:solidFill>
              <a:srgbClr val="F9CB9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pPr algn="ctr"/>
              <a:r>
                <a:rPr lang="en" sz="1500"/>
                <a:t>Stack</a:t>
              </a:r>
              <a:endParaRPr sz="1500"/>
            </a:p>
          </p:txBody>
        </p:sp>
        <p:sp>
          <p:nvSpPr>
            <p:cNvPr id="149" name="Google Shape;149;p16"/>
            <p:cNvSpPr/>
            <p:nvPr/>
          </p:nvSpPr>
          <p:spPr>
            <a:xfrm>
              <a:off x="1571663" y="3668150"/>
              <a:ext cx="1426800" cy="11658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9CB9C"/>
            </a:solidFill>
            <a:ln>
              <a:noFill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</p:grpSp>
      <p:grpSp>
        <p:nvGrpSpPr>
          <p:cNvPr id="150" name="Google Shape;150;p16"/>
          <p:cNvGrpSpPr/>
          <p:nvPr/>
        </p:nvGrpSpPr>
        <p:grpSpPr>
          <a:xfrm>
            <a:off x="411719" y="3454300"/>
            <a:ext cx="1539900" cy="1433850"/>
            <a:chOff x="823438" y="5194100"/>
            <a:chExt cx="3079800" cy="2867700"/>
          </a:xfrm>
        </p:grpSpPr>
        <p:sp>
          <p:nvSpPr>
            <p:cNvPr id="151" name="Google Shape;151;p16"/>
            <p:cNvSpPr/>
            <p:nvPr/>
          </p:nvSpPr>
          <p:spPr>
            <a:xfrm>
              <a:off x="823438" y="6125000"/>
              <a:ext cx="3079800" cy="1936800"/>
            </a:xfrm>
            <a:prstGeom prst="roundRect">
              <a:avLst>
                <a:gd name="adj" fmla="val 0"/>
              </a:avLst>
            </a:prstGeom>
            <a:solidFill>
              <a:srgbClr val="9FC5E8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pPr algn="ctr"/>
              <a:r>
                <a:rPr lang="en" sz="1500"/>
                <a:t>Heap</a:t>
              </a:r>
              <a:endParaRPr sz="1500"/>
            </a:p>
          </p:txBody>
        </p:sp>
        <p:sp>
          <p:nvSpPr>
            <p:cNvPr id="152" name="Google Shape;152;p16"/>
            <p:cNvSpPr/>
            <p:nvPr/>
          </p:nvSpPr>
          <p:spPr>
            <a:xfrm rot="10800000">
              <a:off x="1649938" y="5194100"/>
              <a:ext cx="1426800" cy="11745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</p:grpSp>
      <p:cxnSp>
        <p:nvCxnSpPr>
          <p:cNvPr id="153" name="Google Shape;153;p16"/>
          <p:cNvCxnSpPr>
            <a:endCxn id="146" idx="3"/>
          </p:cNvCxnSpPr>
          <p:nvPr/>
        </p:nvCxnSpPr>
        <p:spPr>
          <a:xfrm flipH="1">
            <a:off x="1951619" y="2147837"/>
            <a:ext cx="2608350" cy="302040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" name="Google Shape;154;p16"/>
          <p:cNvCxnSpPr>
            <a:endCxn id="146" idx="3"/>
          </p:cNvCxnSpPr>
          <p:nvPr/>
        </p:nvCxnSpPr>
        <p:spPr>
          <a:xfrm flipH="1">
            <a:off x="1951619" y="2354837"/>
            <a:ext cx="2596200" cy="281340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16"/>
          <p:cNvCxnSpPr>
            <a:endCxn id="146" idx="3"/>
          </p:cNvCxnSpPr>
          <p:nvPr/>
        </p:nvCxnSpPr>
        <p:spPr>
          <a:xfrm flipH="1">
            <a:off x="1951619" y="3073187"/>
            <a:ext cx="2900550" cy="209505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" name="Google Shape;156;p16"/>
          <p:cNvSpPr txBox="1"/>
          <p:nvPr/>
        </p:nvSpPr>
        <p:spPr>
          <a:xfrm>
            <a:off x="2253569" y="3148644"/>
            <a:ext cx="113985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 allocation</a:t>
            </a:r>
            <a:endParaRPr sz="1500"/>
          </a:p>
        </p:txBody>
      </p:sp>
      <p:cxnSp>
        <p:nvCxnSpPr>
          <p:cNvPr id="157" name="Google Shape;157;p16"/>
          <p:cNvCxnSpPr>
            <a:endCxn id="148" idx="3"/>
          </p:cNvCxnSpPr>
          <p:nvPr/>
        </p:nvCxnSpPr>
        <p:spPr>
          <a:xfrm rot="10800000">
            <a:off x="1951619" y="2324575"/>
            <a:ext cx="2924850" cy="93135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16"/>
          <p:cNvCxnSpPr>
            <a:endCxn id="148" idx="3"/>
          </p:cNvCxnSpPr>
          <p:nvPr/>
        </p:nvCxnSpPr>
        <p:spPr>
          <a:xfrm rot="10800000">
            <a:off x="1951619" y="2324575"/>
            <a:ext cx="2937000" cy="108960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" name="Google Shape;159;p16"/>
          <p:cNvSpPr txBox="1"/>
          <p:nvPr/>
        </p:nvSpPr>
        <p:spPr>
          <a:xfrm>
            <a:off x="2209544" y="1815900"/>
            <a:ext cx="113985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Automatic allocation</a:t>
            </a:r>
            <a:endParaRPr sz="1500"/>
          </a:p>
        </p:txBody>
      </p:sp>
      <p:cxnSp>
        <p:nvCxnSpPr>
          <p:cNvPr id="160" name="Google Shape;160;p16"/>
          <p:cNvCxnSpPr/>
          <p:nvPr/>
        </p:nvCxnSpPr>
        <p:spPr>
          <a:xfrm rot="10800000">
            <a:off x="1951631" y="2324537"/>
            <a:ext cx="4118100" cy="29820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" name="Google Shape;161;p16"/>
          <p:cNvCxnSpPr>
            <a:endCxn id="151" idx="3"/>
          </p:cNvCxnSpPr>
          <p:nvPr/>
        </p:nvCxnSpPr>
        <p:spPr>
          <a:xfrm flipH="1">
            <a:off x="1951619" y="3876700"/>
            <a:ext cx="4653750" cy="527250"/>
          </a:xfrm>
          <a:prstGeom prst="straightConnector1">
            <a:avLst/>
          </a:prstGeom>
          <a:noFill/>
          <a:ln w="76200" cap="flat" cmpd="sng">
            <a:solidFill>
              <a:srgbClr val="6FA8DC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2" name="Google Shape;162;p16"/>
          <p:cNvSpPr txBox="1"/>
          <p:nvPr/>
        </p:nvSpPr>
        <p:spPr>
          <a:xfrm>
            <a:off x="3123194" y="4233100"/>
            <a:ext cx="1014900" cy="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Dynamic allocation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/>
          <p:nvPr/>
        </p:nvSpPr>
        <p:spPr>
          <a:xfrm>
            <a:off x="1283407" y="1840375"/>
            <a:ext cx="1597200" cy="36193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68" name="Google Shape;168;p17"/>
          <p:cNvSpPr txBox="1"/>
          <p:nvPr/>
        </p:nvSpPr>
        <p:spPr>
          <a:xfrm>
            <a:off x="1312044" y="1605475"/>
            <a:ext cx="153990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RAM</a:t>
            </a:r>
            <a:endParaRPr sz="1200"/>
          </a:p>
        </p:txBody>
      </p:sp>
      <p:sp>
        <p:nvSpPr>
          <p:cNvPr id="169" name="Google Shape;169;p17"/>
          <p:cNvSpPr/>
          <p:nvPr/>
        </p:nvSpPr>
        <p:spPr>
          <a:xfrm>
            <a:off x="1283400" y="3328925"/>
            <a:ext cx="1597200" cy="1729650"/>
          </a:xfrm>
          <a:prstGeom prst="roundRect">
            <a:avLst>
              <a:gd name="adj" fmla="val 0"/>
            </a:avLst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500"/>
              <a:t>Heap</a:t>
            </a:r>
            <a:endParaRPr sz="1500"/>
          </a:p>
        </p:txBody>
      </p:sp>
      <p:sp>
        <p:nvSpPr>
          <p:cNvPr id="170" name="Google Shape;170;p17"/>
          <p:cNvSpPr/>
          <p:nvPr/>
        </p:nvSpPr>
        <p:spPr>
          <a:xfrm rot="10800000">
            <a:off x="1725300" y="2800963"/>
            <a:ext cx="713400" cy="58725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FC5E8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1" name="Google Shape;171;p17"/>
          <p:cNvSpPr/>
          <p:nvPr/>
        </p:nvSpPr>
        <p:spPr>
          <a:xfrm>
            <a:off x="1283400" y="5058575"/>
            <a:ext cx="1597200" cy="401100"/>
          </a:xfrm>
          <a:prstGeom prst="roundRect">
            <a:avLst>
              <a:gd name="adj" fmla="val 0"/>
            </a:avLst>
          </a:prstGeom>
          <a:solidFill>
            <a:srgbClr val="FFE59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</a:t>
            </a:r>
            <a:endParaRPr sz="1500"/>
          </a:p>
        </p:txBody>
      </p:sp>
      <p:sp>
        <p:nvSpPr>
          <p:cNvPr id="172" name="Google Shape;172;p17"/>
          <p:cNvSpPr/>
          <p:nvPr/>
        </p:nvSpPr>
        <p:spPr>
          <a:xfrm>
            <a:off x="1283400" y="1840375"/>
            <a:ext cx="1597200" cy="307500"/>
          </a:xfrm>
          <a:prstGeom prst="roundRect">
            <a:avLst>
              <a:gd name="adj" fmla="val 0"/>
            </a:avLst>
          </a:prstGeom>
          <a:solidFill>
            <a:srgbClr val="F9CB9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</a:t>
            </a:r>
            <a:endParaRPr sz="1500"/>
          </a:p>
        </p:txBody>
      </p:sp>
      <p:sp>
        <p:nvSpPr>
          <p:cNvPr id="173" name="Google Shape;173;p17"/>
          <p:cNvSpPr/>
          <p:nvPr/>
        </p:nvSpPr>
        <p:spPr>
          <a:xfrm>
            <a:off x="1725313" y="2082538"/>
            <a:ext cx="713400" cy="582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9CB9C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4" name="Google Shape;174;p17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 Memory Allocation</a:t>
            </a:r>
            <a:endParaRPr sz="2400"/>
          </a:p>
        </p:txBody>
      </p:sp>
      <p:sp>
        <p:nvSpPr>
          <p:cNvPr id="175" name="Google Shape;175;p17"/>
          <p:cNvSpPr/>
          <p:nvPr/>
        </p:nvSpPr>
        <p:spPr>
          <a:xfrm>
            <a:off x="1283400" y="4657412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76" name="Google Shape;176;p17"/>
          <p:cNvSpPr/>
          <p:nvPr/>
        </p:nvSpPr>
        <p:spPr>
          <a:xfrm>
            <a:off x="3989525" y="3691063"/>
            <a:ext cx="2020350" cy="127845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endParaRPr sz="900"/>
          </a:p>
        </p:txBody>
      </p:sp>
      <p:sp>
        <p:nvSpPr>
          <p:cNvPr id="177" name="Google Shape;177;p17"/>
          <p:cNvSpPr/>
          <p:nvPr/>
        </p:nvSpPr>
        <p:spPr>
          <a:xfrm>
            <a:off x="1283400" y="4256250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78" name="Google Shape;178;p17"/>
          <p:cNvSpPr/>
          <p:nvPr/>
        </p:nvSpPr>
        <p:spPr>
          <a:xfrm>
            <a:off x="4068713" y="4589012"/>
            <a:ext cx="1861950" cy="3075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TCB 1</a:t>
            </a:r>
            <a:endParaRPr sz="1500"/>
          </a:p>
        </p:txBody>
      </p:sp>
      <p:sp>
        <p:nvSpPr>
          <p:cNvPr id="179" name="Google Shape;179;p17"/>
          <p:cNvSpPr/>
          <p:nvPr/>
        </p:nvSpPr>
        <p:spPr>
          <a:xfrm>
            <a:off x="4068725" y="3764113"/>
            <a:ext cx="1861950" cy="7581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 1</a:t>
            </a:r>
            <a:endParaRPr sz="1500"/>
          </a:p>
        </p:txBody>
      </p:sp>
      <p:sp>
        <p:nvSpPr>
          <p:cNvPr id="180" name="Google Shape;180;p17"/>
          <p:cNvSpPr/>
          <p:nvPr/>
        </p:nvSpPr>
        <p:spPr>
          <a:xfrm>
            <a:off x="3989525" y="1864700"/>
            <a:ext cx="2020350" cy="127845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endParaRPr sz="900"/>
          </a:p>
        </p:txBody>
      </p:sp>
      <p:sp>
        <p:nvSpPr>
          <p:cNvPr id="181" name="Google Shape;181;p17"/>
          <p:cNvSpPr/>
          <p:nvPr/>
        </p:nvSpPr>
        <p:spPr>
          <a:xfrm>
            <a:off x="4068713" y="2762650"/>
            <a:ext cx="1861950" cy="3075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TCB 2</a:t>
            </a:r>
            <a:endParaRPr sz="1500"/>
          </a:p>
        </p:txBody>
      </p:sp>
      <p:sp>
        <p:nvSpPr>
          <p:cNvPr id="182" name="Google Shape;182;p17"/>
          <p:cNvSpPr/>
          <p:nvPr/>
        </p:nvSpPr>
        <p:spPr>
          <a:xfrm>
            <a:off x="4068725" y="1937750"/>
            <a:ext cx="1861950" cy="7581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 2</a:t>
            </a:r>
            <a:endParaRPr sz="1500"/>
          </a:p>
        </p:txBody>
      </p:sp>
      <p:sp>
        <p:nvSpPr>
          <p:cNvPr id="183" name="Google Shape;183;p17"/>
          <p:cNvSpPr txBox="1"/>
          <p:nvPr/>
        </p:nvSpPr>
        <p:spPr>
          <a:xfrm>
            <a:off x="4449350" y="1563450"/>
            <a:ext cx="11007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2</a:t>
            </a:r>
            <a:endParaRPr sz="1200"/>
          </a:p>
        </p:txBody>
      </p:sp>
      <p:sp>
        <p:nvSpPr>
          <p:cNvPr id="184" name="Google Shape;184;p17"/>
          <p:cNvSpPr txBox="1"/>
          <p:nvPr/>
        </p:nvSpPr>
        <p:spPr>
          <a:xfrm>
            <a:off x="4449350" y="3389863"/>
            <a:ext cx="11007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1</a:t>
            </a:r>
            <a:endParaRPr sz="1200"/>
          </a:p>
        </p:txBody>
      </p:sp>
      <p:cxnSp>
        <p:nvCxnSpPr>
          <p:cNvPr id="185" name="Google Shape;185;p17"/>
          <p:cNvCxnSpPr>
            <a:stCxn id="175" idx="3"/>
            <a:endCxn id="176" idx="1"/>
          </p:cNvCxnSpPr>
          <p:nvPr/>
        </p:nvCxnSpPr>
        <p:spPr>
          <a:xfrm rot="10800000" flipH="1">
            <a:off x="2880600" y="4330262"/>
            <a:ext cx="1108950" cy="527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6" name="Google Shape;186;p17"/>
          <p:cNvCxnSpPr>
            <a:stCxn id="177" idx="3"/>
            <a:endCxn id="180" idx="1"/>
          </p:cNvCxnSpPr>
          <p:nvPr/>
        </p:nvCxnSpPr>
        <p:spPr>
          <a:xfrm rot="10800000" flipH="1">
            <a:off x="2880600" y="2503950"/>
            <a:ext cx="1108950" cy="19528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17"/>
          <p:cNvSpPr/>
          <p:nvPr/>
        </p:nvSpPr>
        <p:spPr>
          <a:xfrm>
            <a:off x="1283413" y="3855144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Kernel Object 1</a:t>
            </a:r>
            <a:endParaRPr sz="1500"/>
          </a:p>
        </p:txBody>
      </p:sp>
      <p:sp>
        <p:nvSpPr>
          <p:cNvPr id="188" name="Google Shape;188;p17"/>
          <p:cNvSpPr txBox="1"/>
          <p:nvPr/>
        </p:nvSpPr>
        <p:spPr>
          <a:xfrm>
            <a:off x="6107250" y="4129738"/>
            <a:ext cx="13686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xTaskCreate()</a:t>
            </a:r>
            <a:endParaRPr sz="1200"/>
          </a:p>
        </p:txBody>
      </p:sp>
      <p:sp>
        <p:nvSpPr>
          <p:cNvPr id="189" name="Google Shape;189;p17"/>
          <p:cNvSpPr txBox="1"/>
          <p:nvPr/>
        </p:nvSpPr>
        <p:spPr>
          <a:xfrm>
            <a:off x="6107250" y="2303375"/>
            <a:ext cx="13686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xTaskCreate()</a:t>
            </a:r>
            <a:endParaRPr sz="1200"/>
          </a:p>
        </p:txBody>
      </p:sp>
      <p:sp>
        <p:nvSpPr>
          <p:cNvPr id="190" name="Google Shape;190;p17"/>
          <p:cNvSpPr txBox="1"/>
          <p:nvPr/>
        </p:nvSpPr>
        <p:spPr>
          <a:xfrm>
            <a:off x="3989550" y="5058575"/>
            <a:ext cx="17187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xTaskCreateStatic()</a:t>
            </a:r>
            <a:endParaRPr sz="1200"/>
          </a:p>
        </p:txBody>
      </p:sp>
      <p:cxnSp>
        <p:nvCxnSpPr>
          <p:cNvPr id="191" name="Google Shape;191;p17"/>
          <p:cNvCxnSpPr>
            <a:endCxn id="171" idx="3"/>
          </p:cNvCxnSpPr>
          <p:nvPr/>
        </p:nvCxnSpPr>
        <p:spPr>
          <a:xfrm rot="10800000">
            <a:off x="2880600" y="5259125"/>
            <a:ext cx="11089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2" name="Google Shape;192;p17"/>
          <p:cNvSpPr txBox="1"/>
          <p:nvPr/>
        </p:nvSpPr>
        <p:spPr>
          <a:xfrm>
            <a:off x="3056162" y="5362487"/>
            <a:ext cx="562515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#define </a:t>
            </a:r>
            <a:r>
              <a:rPr lang="en" sz="1200">
                <a:uFill>
                  <a:noFill/>
                </a:uFill>
                <a:hlinkClick r:id="rId3"/>
              </a:rPr>
              <a:t>configSUPPORT_STATIC_ALLOCATION</a:t>
            </a:r>
            <a:r>
              <a:rPr lang="en" sz="1200"/>
              <a:t> 1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8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Challenge: Pass a Message</a:t>
            </a:r>
            <a:endParaRPr sz="2400"/>
          </a:p>
        </p:txBody>
      </p:sp>
      <p:sp>
        <p:nvSpPr>
          <p:cNvPr id="198" name="Google Shape;198;p18"/>
          <p:cNvSpPr/>
          <p:nvPr/>
        </p:nvSpPr>
        <p:spPr>
          <a:xfrm>
            <a:off x="1805269" y="2456775"/>
            <a:ext cx="2064150" cy="19444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 b="1"/>
              <a:t>Task A</a:t>
            </a:r>
            <a:endParaRPr sz="1200" b="1"/>
          </a:p>
          <a:p>
            <a:pPr algn="ctr"/>
            <a:endParaRPr sz="1200" b="1"/>
          </a:p>
          <a:p>
            <a:pPr marL="228611" indent="-190510">
              <a:buSzPts val="2400"/>
              <a:buChar char="●"/>
            </a:pPr>
            <a:r>
              <a:rPr lang="en" sz="1200"/>
              <a:t>Listens for input from Serial Monitor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On newline char (‘\n’), stores all chars up to that point in heap memory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Notifies Task B of new message</a:t>
            </a:r>
            <a:endParaRPr sz="1200"/>
          </a:p>
        </p:txBody>
      </p:sp>
      <p:sp>
        <p:nvSpPr>
          <p:cNvPr id="199" name="Google Shape;199;p18"/>
          <p:cNvSpPr/>
          <p:nvPr/>
        </p:nvSpPr>
        <p:spPr>
          <a:xfrm>
            <a:off x="5274581" y="2456775"/>
            <a:ext cx="2064150" cy="19444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 b="1"/>
              <a:t>Task B</a:t>
            </a:r>
            <a:endParaRPr sz="1200" b="1"/>
          </a:p>
          <a:p>
            <a:pPr algn="ctr"/>
            <a:endParaRPr sz="1200" b="1"/>
          </a:p>
          <a:p>
            <a:pPr marL="228611" indent="-190510">
              <a:buSzPts val="2400"/>
              <a:buChar char="●"/>
            </a:pPr>
            <a:r>
              <a:rPr lang="en" sz="1200"/>
              <a:t>Waits for notification from Task A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Prints message found in heap memory to Serial Monitor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Frees heap memory</a:t>
            </a:r>
            <a:endParaRPr sz="12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479FCF-3328-69A3-2CC4-32D4EDF94EC6}"/>
              </a:ext>
            </a:extLst>
          </p:cNvPr>
          <p:cNvSpPr txBox="1"/>
          <p:nvPr/>
        </p:nvSpPr>
        <p:spPr>
          <a:xfrm>
            <a:off x="564292" y="-7354238"/>
            <a:ext cx="4572000" cy="1431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/**</a:t>
            </a:r>
          </a:p>
          <a:p>
            <a:r>
              <a:rPr lang="en-US" sz="1050" dirty="0"/>
              <a:t> * </a:t>
            </a:r>
            <a:r>
              <a:rPr lang="en-US" sz="1050" dirty="0" err="1"/>
              <a:t>FreeRTOS</a:t>
            </a:r>
            <a:r>
              <a:rPr lang="en-US" sz="1050" dirty="0"/>
              <a:t> Stack Overflow Demo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Generate a stack overflow on purpose.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Date: December 5, 2020</a:t>
            </a:r>
          </a:p>
          <a:p>
            <a:r>
              <a:rPr lang="en-US" sz="1050" dirty="0"/>
              <a:t> * Author: Shawn Hymel</a:t>
            </a:r>
          </a:p>
          <a:p>
            <a:r>
              <a:rPr lang="en-US" sz="1050" dirty="0"/>
              <a:t> * License: 0BSD</a:t>
            </a:r>
          </a:p>
          <a:p>
            <a:r>
              <a:rPr lang="en-US" sz="1050" dirty="0"/>
              <a:t> */</a:t>
            </a:r>
          </a:p>
          <a:p>
            <a:endParaRPr lang="en-US" sz="1050" dirty="0"/>
          </a:p>
          <a:p>
            <a:r>
              <a:rPr lang="en-US" sz="1050" dirty="0"/>
              <a:t>// Use only core 1 for demo purposes</a:t>
            </a:r>
          </a:p>
          <a:p>
            <a:r>
              <a:rPr lang="en-US" sz="1050" dirty="0"/>
              <a:t>#if CONFIG_FREERTOS_UNICORE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0;</a:t>
            </a:r>
          </a:p>
          <a:p>
            <a:r>
              <a:rPr lang="en-US" sz="1050" dirty="0"/>
              <a:t>#else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1;</a:t>
            </a:r>
          </a:p>
          <a:p>
            <a:r>
              <a:rPr lang="en-US" sz="1050" dirty="0"/>
              <a:t>#endif</a:t>
            </a:r>
          </a:p>
          <a:p>
            <a:endParaRPr lang="en-US" sz="1050" dirty="0"/>
          </a:p>
          <a:p>
            <a:r>
              <a:rPr lang="en-US" sz="1050" dirty="0"/>
              <a:t>// Task: Perform some mundane task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testTask</a:t>
            </a:r>
            <a:r>
              <a:rPr lang="en-US" sz="1050" dirty="0"/>
              <a:t>(void *parameter) {</a:t>
            </a:r>
          </a:p>
          <a:p>
            <a:r>
              <a:rPr lang="en-US" sz="1050" dirty="0"/>
              <a:t>  while (1) {</a:t>
            </a:r>
          </a:p>
          <a:p>
            <a:r>
              <a:rPr lang="en-US" sz="1050" dirty="0"/>
              <a:t>    int a = 1;</a:t>
            </a:r>
          </a:p>
          <a:p>
            <a:r>
              <a:rPr lang="en-US" sz="1050" dirty="0"/>
              <a:t>    int b[100];</a:t>
            </a:r>
          </a:p>
          <a:p>
            <a:endParaRPr lang="en-US" sz="1050" dirty="0"/>
          </a:p>
          <a:p>
            <a:r>
              <a:rPr lang="en-US" sz="1050" dirty="0"/>
              <a:t>    // Do something with array so it's not optimized out by the compiler</a:t>
            </a:r>
          </a:p>
          <a:p>
            <a:r>
              <a:rPr lang="en-US" sz="1050" dirty="0"/>
              <a:t>  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100;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      b[</a:t>
            </a:r>
            <a:r>
              <a:rPr lang="en-US" sz="1050" dirty="0" err="1"/>
              <a:t>i</a:t>
            </a:r>
            <a:r>
              <a:rPr lang="en-US" sz="1050" dirty="0"/>
              <a:t>] = a + 1;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//</a:t>
            </a:r>
            <a:r>
              <a:rPr lang="en-US" sz="1050" dirty="0" err="1"/>
              <a:t>Serial.println</a:t>
            </a:r>
            <a:r>
              <a:rPr lang="en-US" sz="1050" dirty="0"/>
              <a:t>(b[0]);</a:t>
            </a:r>
          </a:p>
          <a:p>
            <a:endParaRPr lang="en-US" sz="1050" dirty="0"/>
          </a:p>
          <a:p>
            <a:r>
              <a:rPr lang="en-US" sz="1050" dirty="0"/>
              <a:t>    // Print out remaining stack memory (words)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("High water mark (words): ");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uxTaskGetStackHighWaterMark</a:t>
            </a:r>
            <a:r>
              <a:rPr lang="en-US" sz="1050" dirty="0"/>
              <a:t>(NULL));</a:t>
            </a:r>
          </a:p>
          <a:p>
            <a:endParaRPr lang="en-US" sz="1050" dirty="0"/>
          </a:p>
          <a:p>
            <a:r>
              <a:rPr lang="en-US" sz="1050" dirty="0"/>
              <a:t>    // Print out number of free heap memory bytes before malloc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("Heap before malloc (bytes): ");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r>
              <a:rPr lang="en-US" sz="1050" dirty="0"/>
              <a:t>    int *</a:t>
            </a:r>
            <a:r>
              <a:rPr lang="en-US" sz="1050" dirty="0" err="1"/>
              <a:t>ptr</a:t>
            </a:r>
            <a:r>
              <a:rPr lang="en-US" sz="1050" dirty="0"/>
              <a:t> = (int*)</a:t>
            </a:r>
            <a:r>
              <a:rPr lang="en-US" sz="1050" dirty="0" err="1"/>
              <a:t>pvPortMalloc</a:t>
            </a:r>
            <a:r>
              <a:rPr lang="en-US" sz="1050" dirty="0"/>
              <a:t>(1024 * </a:t>
            </a:r>
            <a:r>
              <a:rPr lang="en-US" sz="1050" dirty="0" err="1"/>
              <a:t>sizeof</a:t>
            </a:r>
            <a:r>
              <a:rPr lang="en-US" sz="1050" dirty="0"/>
              <a:t>(int));</a:t>
            </a:r>
          </a:p>
          <a:p>
            <a:endParaRPr lang="en-US" sz="1050" dirty="0"/>
          </a:p>
          <a:p>
            <a:r>
              <a:rPr lang="en-US" sz="1050" dirty="0"/>
              <a:t>    // One way to prevent heap overflow is to check the malloc output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ptr</a:t>
            </a:r>
            <a:r>
              <a:rPr lang="en-US" sz="1050" dirty="0"/>
              <a:t> == NULL) {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Serial.println</a:t>
            </a:r>
            <a:r>
              <a:rPr lang="en-US" sz="1050" dirty="0"/>
              <a:t>("Not enough heap.");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vPortFree</a:t>
            </a:r>
            <a:r>
              <a:rPr lang="en-US" sz="1050" dirty="0"/>
              <a:t>(NULL);</a:t>
            </a:r>
          </a:p>
          <a:p>
            <a:r>
              <a:rPr lang="en-US" sz="1050" dirty="0"/>
              <a:t>    } else {</a:t>
            </a:r>
          </a:p>
          <a:p>
            <a:r>
              <a:rPr lang="en-US" sz="1050" dirty="0"/>
              <a:t>      </a:t>
            </a:r>
          </a:p>
          <a:p>
            <a:r>
              <a:rPr lang="en-US" sz="1050" dirty="0"/>
              <a:t>      // Do something with the memory so it's not optimized out by the compiler</a:t>
            </a:r>
          </a:p>
          <a:p>
            <a:r>
              <a:rPr lang="en-US" sz="1050" dirty="0"/>
              <a:t>    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1024;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ptr</a:t>
            </a:r>
            <a:r>
              <a:rPr lang="en-US" sz="1050" dirty="0"/>
              <a:t>[</a:t>
            </a:r>
            <a:r>
              <a:rPr lang="en-US" sz="1050" dirty="0" err="1"/>
              <a:t>i</a:t>
            </a:r>
            <a:r>
              <a:rPr lang="en-US" sz="1050" dirty="0"/>
              <a:t>] = 3;</a:t>
            </a:r>
          </a:p>
          <a:p>
            <a:r>
              <a:rPr lang="en-US" sz="1050" dirty="0"/>
              <a:t>      }</a:t>
            </a:r>
          </a:p>
          <a:p>
            <a:r>
              <a:rPr lang="en-US" sz="1050" dirty="0"/>
              <a:t>    }</a:t>
            </a:r>
          </a:p>
          <a:p>
            <a:endParaRPr lang="en-US" sz="1050" dirty="0"/>
          </a:p>
          <a:p>
            <a:r>
              <a:rPr lang="en-US" sz="1050" dirty="0"/>
              <a:t>    // Print out number of free heap memory bytes after malloc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("Heap after malloc (bytes): "); 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endParaRPr lang="en-US" sz="1050" dirty="0"/>
          </a:p>
          <a:p>
            <a:r>
              <a:rPr lang="en-US" sz="1050" dirty="0"/>
              <a:t>    // Free up our allocated memory</a:t>
            </a:r>
          </a:p>
          <a:p>
            <a:r>
              <a:rPr lang="en-US" sz="1050" dirty="0"/>
              <a:t>    //</a:t>
            </a:r>
            <a:r>
              <a:rPr lang="en-US" sz="1050" dirty="0" err="1"/>
              <a:t>vPortFree</a:t>
            </a:r>
            <a:r>
              <a:rPr lang="en-US" sz="1050" dirty="0"/>
              <a:t>(</a:t>
            </a:r>
            <a:r>
              <a:rPr lang="en-US" sz="1050" dirty="0" err="1"/>
              <a:t>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// Wait for a while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vTaskDelay</a:t>
            </a:r>
            <a:r>
              <a:rPr lang="en-US" sz="1050" dirty="0"/>
              <a:t>(100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setup() {</a:t>
            </a:r>
          </a:p>
          <a:p>
            <a:endParaRPr lang="en-US" sz="1050" dirty="0"/>
          </a:p>
          <a:p>
            <a:r>
              <a:rPr lang="en-US" sz="1050" dirty="0"/>
              <a:t>  // Configure Serial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Serial.begin</a:t>
            </a:r>
            <a:r>
              <a:rPr lang="en-US" sz="1050" dirty="0"/>
              <a:t>(115200);</a:t>
            </a:r>
          </a:p>
          <a:p>
            <a:endParaRPr lang="en-US" sz="1050" dirty="0"/>
          </a:p>
          <a:p>
            <a:r>
              <a:rPr lang="en-US" sz="1050" dirty="0"/>
              <a:t>  // Wait a moment to start (so we don't miss Serial output)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vTaskDelay</a:t>
            </a:r>
            <a:r>
              <a:rPr lang="en-US" sz="1050" dirty="0"/>
              <a:t>(1000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("---</a:t>
            </a:r>
            <a:r>
              <a:rPr lang="en-US" sz="1050" dirty="0" err="1"/>
              <a:t>FreeRTOS</a:t>
            </a:r>
            <a:r>
              <a:rPr lang="en-US" sz="1050" dirty="0"/>
              <a:t> Memory Demo---");</a:t>
            </a:r>
          </a:p>
          <a:p>
            <a:endParaRPr lang="en-US" sz="1050" dirty="0"/>
          </a:p>
          <a:p>
            <a:r>
              <a:rPr lang="en-US" sz="1050" dirty="0"/>
              <a:t>  // Start the only other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testTask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"Test Task",</a:t>
            </a:r>
          </a:p>
          <a:p>
            <a:r>
              <a:rPr lang="en-US" sz="1050" dirty="0"/>
              <a:t>                          1500,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Delete "setup and loop"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vTaskDelete</a:t>
            </a:r>
            <a:r>
              <a:rPr lang="en-US" sz="1050" dirty="0"/>
              <a:t>(NULL);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loop() {</a:t>
            </a:r>
          </a:p>
          <a:p>
            <a:r>
              <a:rPr lang="en-US" sz="1050" dirty="0"/>
              <a:t>  // Execution should never get here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541608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FEE9C-C41C-EC44-21F9-72AF7099D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FBEE80-F436-A104-09DF-CF7217E1EA6C}"/>
              </a:ext>
            </a:extLst>
          </p:cNvPr>
          <p:cNvSpPr txBox="1"/>
          <p:nvPr/>
        </p:nvSpPr>
        <p:spPr>
          <a:xfrm>
            <a:off x="564292" y="-7354238"/>
            <a:ext cx="4572000" cy="23521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/**</a:t>
            </a:r>
          </a:p>
          <a:p>
            <a:r>
              <a:rPr lang="en-US" sz="1050" dirty="0"/>
              <a:t> * Solution to 04 - Heap Challenge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One task reads from Serial, constructs a message buffer, and the second</a:t>
            </a:r>
          </a:p>
          <a:p>
            <a:r>
              <a:rPr lang="en-US" sz="1050" dirty="0"/>
              <a:t> * prints the message to the console.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Date: December 5, 2020</a:t>
            </a:r>
          </a:p>
          <a:p>
            <a:r>
              <a:rPr lang="en-US" sz="1050" dirty="0"/>
              <a:t> * Author: Shawn Hymel</a:t>
            </a:r>
          </a:p>
          <a:p>
            <a:r>
              <a:rPr lang="en-US" sz="1050" dirty="0"/>
              <a:t> * License: 0BSD</a:t>
            </a:r>
          </a:p>
          <a:p>
            <a:r>
              <a:rPr lang="en-US" sz="1050" dirty="0"/>
              <a:t> */</a:t>
            </a:r>
          </a:p>
          <a:p>
            <a:endParaRPr lang="en-US" sz="1050" dirty="0"/>
          </a:p>
          <a:p>
            <a:r>
              <a:rPr lang="en-US" sz="1050" dirty="0"/>
              <a:t>// If your Arduino board does not have LED_BUILTIN, set it here to LED pin</a:t>
            </a:r>
          </a:p>
          <a:p>
            <a:r>
              <a:rPr lang="en-US" sz="1050" dirty="0"/>
              <a:t>//#define LED_BUILTIN 13</a:t>
            </a:r>
          </a:p>
          <a:p>
            <a:endParaRPr lang="en-US" sz="1050" dirty="0"/>
          </a:p>
          <a:p>
            <a:r>
              <a:rPr lang="en-US" sz="1050" dirty="0"/>
              <a:t>// Use only core 1 for demo purposes</a:t>
            </a:r>
          </a:p>
          <a:p>
            <a:r>
              <a:rPr lang="en-US" sz="1050" dirty="0"/>
              <a:t>#if CONFIG_FREERTOS_UNICORE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0;</a:t>
            </a:r>
          </a:p>
          <a:p>
            <a:r>
              <a:rPr lang="en-US" sz="1050" dirty="0"/>
              <a:t>#else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1;</a:t>
            </a:r>
          </a:p>
          <a:p>
            <a:r>
              <a:rPr lang="en-US" sz="1050" dirty="0"/>
              <a:t>#endif</a:t>
            </a:r>
          </a:p>
          <a:p>
            <a:endParaRPr lang="en-US" sz="1050" dirty="0"/>
          </a:p>
          <a:p>
            <a:r>
              <a:rPr lang="en-US" sz="1050" dirty="0"/>
              <a:t>// Settings</a:t>
            </a:r>
          </a:p>
          <a:p>
            <a:r>
              <a:rPr lang="en-US" sz="1050" dirty="0"/>
              <a:t>static const uint8_t </a:t>
            </a:r>
            <a:r>
              <a:rPr lang="en-US" sz="1050" dirty="0" err="1"/>
              <a:t>buf_len</a:t>
            </a:r>
            <a:r>
              <a:rPr lang="en-US" sz="1050" dirty="0"/>
              <a:t> = 255;</a:t>
            </a:r>
          </a:p>
          <a:p>
            <a:endParaRPr lang="en-US" sz="1050" dirty="0"/>
          </a:p>
          <a:p>
            <a:r>
              <a:rPr lang="en-US" sz="1050" dirty="0"/>
              <a:t>// </a:t>
            </a:r>
            <a:r>
              <a:rPr lang="en-US" sz="1050" dirty="0" err="1"/>
              <a:t>Globals</a:t>
            </a:r>
            <a:endParaRPr lang="en-US" sz="1050" dirty="0"/>
          </a:p>
          <a:p>
            <a:r>
              <a:rPr lang="en-US" sz="1050" dirty="0"/>
              <a:t>static char *</a:t>
            </a:r>
            <a:r>
              <a:rPr lang="en-US" sz="1050" dirty="0" err="1"/>
              <a:t>msg_ptr</a:t>
            </a:r>
            <a:r>
              <a:rPr lang="en-US" sz="1050" dirty="0"/>
              <a:t> = NULL;</a:t>
            </a:r>
          </a:p>
          <a:p>
            <a:r>
              <a:rPr lang="en-US" sz="1050" dirty="0"/>
              <a:t>static volatile uint8_t </a:t>
            </a:r>
            <a:r>
              <a:rPr lang="en-US" sz="1050" dirty="0" err="1"/>
              <a:t>msg_flag</a:t>
            </a:r>
            <a:r>
              <a:rPr lang="en-US" sz="1050" dirty="0"/>
              <a:t> = 0;</a:t>
            </a:r>
          </a:p>
          <a:p>
            <a:endParaRPr lang="en-US" sz="1050" dirty="0"/>
          </a:p>
          <a:p>
            <a:r>
              <a:rPr lang="en-US" sz="1050" dirty="0"/>
              <a:t>//*****************************************************************************</a:t>
            </a:r>
          </a:p>
          <a:p>
            <a:r>
              <a:rPr lang="en-US" sz="1050" dirty="0"/>
              <a:t>// Tasks</a:t>
            </a:r>
          </a:p>
          <a:p>
            <a:endParaRPr lang="en-US" sz="1050" dirty="0"/>
          </a:p>
          <a:p>
            <a:r>
              <a:rPr lang="en-US" sz="1050" dirty="0"/>
              <a:t>// Task: read message from Serial buffer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readSerial</a:t>
            </a:r>
            <a:r>
              <a:rPr lang="en-US" sz="1050" dirty="0"/>
              <a:t>(void *parameters) {</a:t>
            </a:r>
          </a:p>
          <a:p>
            <a:endParaRPr lang="en-US" sz="1050" dirty="0"/>
          </a:p>
          <a:p>
            <a:r>
              <a:rPr lang="en-US" sz="1050" dirty="0"/>
              <a:t>  char c;</a:t>
            </a:r>
          </a:p>
          <a:p>
            <a:r>
              <a:rPr lang="en-US" sz="1050" dirty="0"/>
              <a:t>  char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buf_len</a:t>
            </a:r>
            <a:r>
              <a:rPr lang="en-US" sz="1050" dirty="0"/>
              <a:t>];</a:t>
            </a:r>
          </a:p>
          <a:p>
            <a:r>
              <a:rPr lang="en-US" sz="1050" dirty="0"/>
              <a:t>  uint8_t </a:t>
            </a:r>
            <a:r>
              <a:rPr lang="en-US" sz="1050" dirty="0" err="1"/>
              <a:t>idx</a:t>
            </a:r>
            <a:r>
              <a:rPr lang="en-US" sz="1050" dirty="0"/>
              <a:t> = 0;</a:t>
            </a:r>
          </a:p>
          <a:p>
            <a:endParaRPr lang="en-US" sz="1050" dirty="0"/>
          </a:p>
          <a:p>
            <a:r>
              <a:rPr lang="en-US" sz="1050" dirty="0"/>
              <a:t>  // Clear whole buffer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memset</a:t>
            </a:r>
            <a:r>
              <a:rPr lang="en-US" sz="1050" dirty="0"/>
              <a:t>(</a:t>
            </a:r>
            <a:r>
              <a:rPr lang="en-US" sz="1050" dirty="0" err="1"/>
              <a:t>buf</a:t>
            </a:r>
            <a:r>
              <a:rPr lang="en-US" sz="1050" dirty="0"/>
              <a:t>, 0, </a:t>
            </a:r>
            <a:r>
              <a:rPr lang="en-US" sz="1050" dirty="0" err="1"/>
              <a:t>buf_len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Loop forever</a:t>
            </a:r>
          </a:p>
          <a:p>
            <a:r>
              <a:rPr lang="en-US" sz="1050" dirty="0"/>
              <a:t>  while (1) {</a:t>
            </a:r>
          </a:p>
          <a:p>
            <a:endParaRPr lang="en-US" sz="1050" dirty="0"/>
          </a:p>
          <a:p>
            <a:r>
              <a:rPr lang="en-US" sz="1050" dirty="0"/>
              <a:t>    // Read characters from serial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Serial.available</a:t>
            </a:r>
            <a:r>
              <a:rPr lang="en-US" sz="1050" dirty="0"/>
              <a:t>() &gt; 0) {</a:t>
            </a:r>
          </a:p>
          <a:p>
            <a:r>
              <a:rPr lang="en-US" sz="1050" dirty="0"/>
              <a:t>      c = </a:t>
            </a:r>
            <a:r>
              <a:rPr lang="en-US" sz="1050" dirty="0" err="1"/>
              <a:t>Serial.read</a:t>
            </a:r>
            <a:r>
              <a:rPr lang="en-US" sz="1050" dirty="0"/>
              <a:t>();</a:t>
            </a:r>
          </a:p>
          <a:p>
            <a:endParaRPr lang="en-US" sz="1050" dirty="0"/>
          </a:p>
          <a:p>
            <a:r>
              <a:rPr lang="en-US" sz="1050" dirty="0"/>
              <a:t>      // Store received character to buffer if not over buffer limit</a:t>
            </a:r>
          </a:p>
          <a:p>
            <a:r>
              <a:rPr lang="en-US" sz="1050" dirty="0"/>
              <a:t>      if (</a:t>
            </a:r>
            <a:r>
              <a:rPr lang="en-US" sz="1050" dirty="0" err="1"/>
              <a:t>idx</a:t>
            </a:r>
            <a:r>
              <a:rPr lang="en-US" sz="1050" dirty="0"/>
              <a:t> &lt; </a:t>
            </a:r>
            <a:r>
              <a:rPr lang="en-US" sz="1050" dirty="0" err="1"/>
              <a:t>buf_len</a:t>
            </a:r>
            <a:r>
              <a:rPr lang="en-US" sz="1050" dirty="0"/>
              <a:t> - 1) {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idx</a:t>
            </a:r>
            <a:r>
              <a:rPr lang="en-US" sz="1050" dirty="0"/>
              <a:t>] = c;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idx</a:t>
            </a:r>
            <a:r>
              <a:rPr lang="en-US" sz="1050" dirty="0"/>
              <a:t>++;</a:t>
            </a:r>
          </a:p>
          <a:p>
            <a:r>
              <a:rPr lang="en-US" sz="1050" dirty="0"/>
              <a:t>      }</a:t>
            </a:r>
          </a:p>
          <a:p>
            <a:endParaRPr lang="en-US" sz="1050" dirty="0"/>
          </a:p>
          <a:p>
            <a:r>
              <a:rPr lang="en-US" sz="1050" dirty="0"/>
              <a:t>      // Create a message buffer for print task</a:t>
            </a:r>
          </a:p>
          <a:p>
            <a:r>
              <a:rPr lang="en-US" sz="1050" dirty="0"/>
              <a:t>      if (c == '\n') {</a:t>
            </a:r>
          </a:p>
          <a:p>
            <a:endParaRPr lang="en-US" sz="1050" dirty="0"/>
          </a:p>
          <a:p>
            <a:r>
              <a:rPr lang="en-US" sz="1050" dirty="0"/>
              <a:t>        // The last character in the string is '\n', so we need to replace</a:t>
            </a:r>
          </a:p>
          <a:p>
            <a:r>
              <a:rPr lang="en-US" sz="1050" dirty="0"/>
              <a:t>        // it with '\0' to make it null-terminated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idx</a:t>
            </a:r>
            <a:r>
              <a:rPr lang="en-US" sz="1050" dirty="0"/>
              <a:t> - 1] = '\0';</a:t>
            </a:r>
          </a:p>
          <a:p>
            <a:endParaRPr lang="en-US" sz="1050" dirty="0"/>
          </a:p>
          <a:p>
            <a:r>
              <a:rPr lang="en-US" sz="1050" dirty="0"/>
              <a:t>        // Try to allocate memory and copy over message. If message buffer is</a:t>
            </a:r>
          </a:p>
          <a:p>
            <a:r>
              <a:rPr lang="en-US" sz="1050" dirty="0"/>
              <a:t>        // still in use, ignore the entire message.</a:t>
            </a:r>
          </a:p>
          <a:p>
            <a:r>
              <a:rPr lang="en-US" sz="1050" dirty="0"/>
              <a:t>        if (</a:t>
            </a:r>
            <a:r>
              <a:rPr lang="en-US" sz="1050" dirty="0" err="1"/>
              <a:t>msg_flag</a:t>
            </a:r>
            <a:r>
              <a:rPr lang="en-US" sz="1050" dirty="0"/>
              <a:t> == 0) {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msg_ptr</a:t>
            </a:r>
            <a:r>
              <a:rPr lang="en-US" sz="1050" dirty="0"/>
              <a:t> = (char *)</a:t>
            </a:r>
            <a:r>
              <a:rPr lang="en-US" sz="1050" dirty="0" err="1"/>
              <a:t>pvPortMalloc</a:t>
            </a:r>
            <a:r>
              <a:rPr lang="en-US" sz="1050" dirty="0"/>
              <a:t>(</a:t>
            </a:r>
            <a:r>
              <a:rPr lang="en-US" sz="1050" dirty="0" err="1"/>
              <a:t>idx</a:t>
            </a:r>
            <a:r>
              <a:rPr lang="en-US" sz="1050" dirty="0"/>
              <a:t> * </a:t>
            </a:r>
            <a:r>
              <a:rPr lang="en-US" sz="1050" dirty="0" err="1"/>
              <a:t>sizeof</a:t>
            </a:r>
            <a:r>
              <a:rPr lang="en-US" sz="1050" dirty="0"/>
              <a:t>(char));</a:t>
            </a:r>
          </a:p>
          <a:p>
            <a:endParaRPr lang="en-US" sz="1050" dirty="0"/>
          </a:p>
          <a:p>
            <a:r>
              <a:rPr lang="en-US" sz="1050" dirty="0"/>
              <a:t>          // If malloc returns 0 (out of memory), throw an error and reset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configASSERT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    // Copy message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memcpy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, </a:t>
            </a:r>
            <a:r>
              <a:rPr lang="en-US" sz="1050" dirty="0" err="1"/>
              <a:t>buf</a:t>
            </a:r>
            <a:r>
              <a:rPr lang="en-US" sz="1050" dirty="0"/>
              <a:t>, </a:t>
            </a:r>
            <a:r>
              <a:rPr lang="en-US" sz="1050" dirty="0" err="1"/>
              <a:t>idx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    // Notify other task that message is ready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msg_flag</a:t>
            </a:r>
            <a:r>
              <a:rPr lang="en-US" sz="1050" dirty="0"/>
              <a:t> = 1;</a:t>
            </a:r>
          </a:p>
          <a:p>
            <a:r>
              <a:rPr lang="en-US" sz="1050" dirty="0"/>
              <a:t>        }</a:t>
            </a:r>
          </a:p>
          <a:p>
            <a:endParaRPr lang="en-US" sz="1050" dirty="0"/>
          </a:p>
          <a:p>
            <a:r>
              <a:rPr lang="en-US" sz="1050" dirty="0"/>
              <a:t>        // Reset receive buffer and index counter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memset</a:t>
            </a:r>
            <a:r>
              <a:rPr lang="en-US" sz="1050" dirty="0"/>
              <a:t>(</a:t>
            </a:r>
            <a:r>
              <a:rPr lang="en-US" sz="1050" dirty="0" err="1"/>
              <a:t>buf</a:t>
            </a:r>
            <a:r>
              <a:rPr lang="en-US" sz="1050" dirty="0"/>
              <a:t>, 0, </a:t>
            </a:r>
            <a:r>
              <a:rPr lang="en-US" sz="1050" dirty="0" err="1"/>
              <a:t>buf_len</a:t>
            </a:r>
            <a:r>
              <a:rPr lang="en-US" sz="1050" dirty="0"/>
              <a:t>);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idx</a:t>
            </a:r>
            <a:r>
              <a:rPr lang="en-US" sz="1050" dirty="0"/>
              <a:t> = 0;</a:t>
            </a:r>
          </a:p>
          <a:p>
            <a:r>
              <a:rPr lang="en-US" sz="1050" dirty="0"/>
              <a:t>      }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// Task: print message whenever flag is set and free buffer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printMessage</a:t>
            </a:r>
            <a:r>
              <a:rPr lang="en-US" sz="1050" dirty="0"/>
              <a:t>(void *parameters) {</a:t>
            </a:r>
          </a:p>
          <a:p>
            <a:r>
              <a:rPr lang="en-US" sz="1050" dirty="0"/>
              <a:t>  while (1) {</a:t>
            </a:r>
          </a:p>
          <a:p>
            <a:endParaRPr lang="en-US" sz="1050" dirty="0"/>
          </a:p>
          <a:p>
            <a:r>
              <a:rPr lang="en-US" sz="1050" dirty="0"/>
              <a:t>    // Wait for flag to be set and print message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msg_flag</a:t>
            </a:r>
            <a:r>
              <a:rPr lang="en-US" sz="1050" dirty="0"/>
              <a:t> == 1) {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// Give amount of free heap memory (uncomment if you'd like to see it)</a:t>
            </a:r>
          </a:p>
          <a:p>
            <a:r>
              <a:rPr lang="en-US" sz="1050" dirty="0"/>
              <a:t>//      </a:t>
            </a:r>
            <a:r>
              <a:rPr lang="en-US" sz="1050" dirty="0" err="1"/>
              <a:t>Serial.print</a:t>
            </a:r>
            <a:r>
              <a:rPr lang="en-US" sz="1050" dirty="0"/>
              <a:t>("Free heap (bytes): ");</a:t>
            </a:r>
          </a:p>
          <a:p>
            <a:r>
              <a:rPr lang="en-US" sz="1050" dirty="0"/>
              <a:t>//  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endParaRPr lang="en-US" sz="1050" dirty="0"/>
          </a:p>
          <a:p>
            <a:r>
              <a:rPr lang="en-US" sz="1050" dirty="0"/>
              <a:t>      // Free buffer, set pointer to null, and clear flag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vPortFree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msg_ptr</a:t>
            </a:r>
            <a:r>
              <a:rPr lang="en-US" sz="1050" dirty="0"/>
              <a:t> = NULL;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msg_flag</a:t>
            </a:r>
            <a:r>
              <a:rPr lang="en-US" sz="1050" dirty="0"/>
              <a:t> = 0;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//*****************************************************************************</a:t>
            </a:r>
          </a:p>
          <a:p>
            <a:r>
              <a:rPr lang="en-US" sz="1050" dirty="0"/>
              <a:t>// Main (runs as its own task with priority 1 on core 1)</a:t>
            </a:r>
          </a:p>
          <a:p>
            <a:endParaRPr lang="en-US" sz="1050" dirty="0"/>
          </a:p>
          <a:p>
            <a:r>
              <a:rPr lang="en-US" sz="1050" dirty="0"/>
              <a:t>void setup() {</a:t>
            </a:r>
          </a:p>
          <a:p>
            <a:endParaRPr lang="en-US" sz="1050" dirty="0"/>
          </a:p>
          <a:p>
            <a:r>
              <a:rPr lang="en-US" sz="1050" dirty="0"/>
              <a:t>  // Configure Serial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Serial.begin</a:t>
            </a:r>
            <a:r>
              <a:rPr lang="en-US" sz="1050" dirty="0"/>
              <a:t>(115200);</a:t>
            </a:r>
          </a:p>
          <a:p>
            <a:endParaRPr lang="en-US" sz="1050" dirty="0"/>
          </a:p>
          <a:p>
            <a:r>
              <a:rPr lang="en-US" sz="1050" dirty="0"/>
              <a:t>  // Wait a moment to start (so we don't miss Serial output)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vTaskDelay</a:t>
            </a:r>
            <a:r>
              <a:rPr lang="en-US" sz="1050" dirty="0"/>
              <a:t>(1000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("---</a:t>
            </a:r>
            <a:r>
              <a:rPr lang="en-US" sz="1050" dirty="0" err="1"/>
              <a:t>FreeRTOS</a:t>
            </a:r>
            <a:r>
              <a:rPr lang="en-US" sz="1050" dirty="0"/>
              <a:t> Heap Demo---");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("Enter a string");</a:t>
            </a:r>
          </a:p>
          <a:p>
            <a:endParaRPr lang="en-US" sz="1050" dirty="0"/>
          </a:p>
          <a:p>
            <a:r>
              <a:rPr lang="en-US" sz="1050" dirty="0"/>
              <a:t>  // Start Serial receive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readSerial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"Read Serial",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// Start Serial print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printMessage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"Print Message",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Delete "setup and loop"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vTaskDelete</a:t>
            </a:r>
            <a:r>
              <a:rPr lang="en-US" sz="1050" dirty="0"/>
              <a:t>(NULL);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loop() {</a:t>
            </a:r>
          </a:p>
          <a:p>
            <a:r>
              <a:rPr lang="en-US" sz="1050" dirty="0"/>
              <a:t>  // Execution should never get here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232783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2051957" y="218303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55" name="Google Shape;55;p13"/>
          <p:cNvSpPr/>
          <p:nvPr/>
        </p:nvSpPr>
        <p:spPr>
          <a:xfrm>
            <a:off x="5874494" y="218303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56" name="Google Shape;56;p13"/>
          <p:cNvSpPr/>
          <p:nvPr/>
        </p:nvSpPr>
        <p:spPr>
          <a:xfrm>
            <a:off x="3873294" y="3144219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cxnSp>
        <p:nvCxnSpPr>
          <p:cNvPr id="57" name="Google Shape;57;p13"/>
          <p:cNvCxnSpPr>
            <a:stCxn id="55" idx="1"/>
            <a:endCxn id="56" idx="7"/>
          </p:cNvCxnSpPr>
          <p:nvPr/>
        </p:nvCxnSpPr>
        <p:spPr>
          <a:xfrm flipH="1">
            <a:off x="5065994" y="2365657"/>
            <a:ext cx="808500" cy="861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8" name="Google Shape;58;p13"/>
          <p:cNvCxnSpPr/>
          <p:nvPr/>
        </p:nvCxnSpPr>
        <p:spPr>
          <a:xfrm>
            <a:off x="3269512" y="2548285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" name="Google Shape;59;p13"/>
          <p:cNvSpPr/>
          <p:nvPr/>
        </p:nvSpPr>
        <p:spPr>
          <a:xfrm>
            <a:off x="2051957" y="430940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cxnSp>
        <p:nvCxnSpPr>
          <p:cNvPr id="60" name="Google Shape;60;p13"/>
          <p:cNvCxnSpPr/>
          <p:nvPr/>
        </p:nvCxnSpPr>
        <p:spPr>
          <a:xfrm rot="10800000" flipH="1">
            <a:off x="3269512" y="3630360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0x59 0x4A 0xBC 0x42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0x34 0x52 0xFF 0x07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884088" y="27465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0x3FFC_0000</a:t>
            </a:r>
            <a:endParaRPr sz="1500"/>
          </a:p>
        </p:txBody>
      </p:sp>
      <p:sp>
        <p:nvSpPr>
          <p:cNvPr id="68" name="Google Shape;68;p14"/>
          <p:cNvSpPr txBox="1"/>
          <p:nvPr/>
        </p:nvSpPr>
        <p:spPr>
          <a:xfrm>
            <a:off x="1884088" y="319642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0x3FFC_0001</a:t>
            </a:r>
            <a:endParaRPr sz="1500"/>
          </a:p>
        </p:txBody>
      </p:sp>
      <p:sp>
        <p:nvSpPr>
          <p:cNvPr id="69" name="Google Shape;69;p14"/>
          <p:cNvSpPr/>
          <p:nvPr/>
        </p:nvSpPr>
        <p:spPr>
          <a:xfrm>
            <a:off x="3542938" y="35829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0x00 0x00 0x00 0x00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0" name="Google Shape;70;p14"/>
          <p:cNvSpPr txBox="1"/>
          <p:nvPr/>
        </p:nvSpPr>
        <p:spPr>
          <a:xfrm rot="5400000">
            <a:off x="4637763" y="404977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71" name="Google Shape;71;p14"/>
          <p:cNvSpPr txBox="1"/>
          <p:nvPr/>
        </p:nvSpPr>
        <p:spPr>
          <a:xfrm>
            <a:off x="1884088" y="36462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0x3FFC_0002</a:t>
            </a:r>
            <a:endParaRPr sz="1500"/>
          </a:p>
        </p:txBody>
      </p:sp>
      <p:sp>
        <p:nvSpPr>
          <p:cNvPr id="72" name="Google Shape;72;p14"/>
          <p:cNvSpPr txBox="1"/>
          <p:nvPr/>
        </p:nvSpPr>
        <p:spPr>
          <a:xfrm rot="5400000">
            <a:off x="4637763" y="220462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73" name="Google Shape;73;p14"/>
          <p:cNvSpPr txBox="1"/>
          <p:nvPr/>
        </p:nvSpPr>
        <p:spPr>
          <a:xfrm>
            <a:off x="333788" y="185357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0x0011223344556677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7502982" y="295288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75" name="Google Shape;75;p14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0x77 0x66 0x55 0x44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3012263" y="1888975"/>
            <a:ext cx="9379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77" name="Google Shape;77;p14"/>
          <p:cNvCxnSpPr>
            <a:stCxn id="76" idx="2"/>
          </p:cNvCxnSpPr>
          <p:nvPr/>
        </p:nvCxnSpPr>
        <p:spPr>
          <a:xfrm>
            <a:off x="3481238" y="2141425"/>
            <a:ext cx="246750" cy="5466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" name="Google Shape;78;p14"/>
          <p:cNvCxnSpPr>
            <a:endCxn id="74" idx="1"/>
          </p:cNvCxnSpPr>
          <p:nvPr/>
        </p:nvCxnSpPr>
        <p:spPr>
          <a:xfrm>
            <a:off x="6284082" y="3135507"/>
            <a:ext cx="1218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284025" y="2687913"/>
            <a:ext cx="0" cy="895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 rot="10800000">
            <a:off x="6172725" y="2687913"/>
            <a:ext cx="1113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 rot="10800000">
            <a:off x="6172725" y="3582975"/>
            <a:ext cx="1113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5"/>
          <p:cNvSpPr/>
          <p:nvPr/>
        </p:nvSpPr>
        <p:spPr>
          <a:xfrm>
            <a:off x="333782" y="4912869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87" name="Google Shape;87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0x59 0x4A 0xBC 0x42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0x34 0x52 0xFF 0x07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1884088" y="27465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0x3FFC_0000</a:t>
            </a:r>
            <a:endParaRPr sz="1500"/>
          </a:p>
        </p:txBody>
      </p:sp>
      <p:sp>
        <p:nvSpPr>
          <p:cNvPr id="90" name="Google Shape;90;p15"/>
          <p:cNvSpPr txBox="1"/>
          <p:nvPr/>
        </p:nvSpPr>
        <p:spPr>
          <a:xfrm>
            <a:off x="1884088" y="319642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0x3FFC_0001</a:t>
            </a:r>
            <a:endParaRPr sz="1500"/>
          </a:p>
        </p:txBody>
      </p:sp>
      <p:sp>
        <p:nvSpPr>
          <p:cNvPr id="91" name="Google Shape;91;p15"/>
          <p:cNvSpPr/>
          <p:nvPr/>
        </p:nvSpPr>
        <p:spPr>
          <a:xfrm>
            <a:off x="3542938" y="35829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0x00 0x00 0x00 0x00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2" name="Google Shape;92;p15"/>
          <p:cNvSpPr txBox="1"/>
          <p:nvPr/>
        </p:nvSpPr>
        <p:spPr>
          <a:xfrm rot="5400000">
            <a:off x="4637763" y="404977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93" name="Google Shape;93;p15"/>
          <p:cNvSpPr txBox="1"/>
          <p:nvPr/>
        </p:nvSpPr>
        <p:spPr>
          <a:xfrm>
            <a:off x="1884088" y="36462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0x3FFC_0002</a:t>
            </a:r>
            <a:endParaRPr sz="1500"/>
          </a:p>
        </p:txBody>
      </p:sp>
      <p:sp>
        <p:nvSpPr>
          <p:cNvPr id="94" name="Google Shape;94;p15"/>
          <p:cNvSpPr txBox="1"/>
          <p:nvPr/>
        </p:nvSpPr>
        <p:spPr>
          <a:xfrm rot="5400000">
            <a:off x="4637763" y="220462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95" name="Google Shape;95;p15"/>
          <p:cNvSpPr txBox="1"/>
          <p:nvPr/>
        </p:nvSpPr>
        <p:spPr>
          <a:xfrm>
            <a:off x="333788" y="185357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0x0011223344556677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6" name="Google Shape;96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0x77 0x66 0x55 0x44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3012263" y="1888975"/>
            <a:ext cx="9379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" name="Google Shape;98;p15"/>
          <p:cNvSpPr/>
          <p:nvPr/>
        </p:nvSpPr>
        <p:spPr>
          <a:xfrm>
            <a:off x="333782" y="1523719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99" name="Google Shape;99;p15"/>
          <p:cNvSpPr txBox="1"/>
          <p:nvPr/>
        </p:nvSpPr>
        <p:spPr>
          <a:xfrm>
            <a:off x="333788" y="458962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0xAABBCCDDEEFF1234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0x34 0x12 0xFF 0xEE</a:t>
            </a:r>
            <a:endParaRPr sz="15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0xDD 0xCC 0xBB 0xAA</a:t>
            </a:r>
            <a:endParaRPr sz="15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1826325" y="4633025"/>
            <a:ext cx="2123850" cy="252450"/>
          </a:xfrm>
          <a:prstGeom prst="rect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3" name="Google Shape;103;p15"/>
          <p:cNvCxnSpPr>
            <a:stCxn id="102" idx="0"/>
          </p:cNvCxnSpPr>
          <p:nvPr/>
        </p:nvCxnSpPr>
        <p:spPr>
          <a:xfrm rot="10800000" flipH="1">
            <a:off x="2888250" y="3598475"/>
            <a:ext cx="900450" cy="1034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" name="Google Shape;104;p15"/>
          <p:cNvSpPr/>
          <p:nvPr/>
        </p:nvSpPr>
        <p:spPr>
          <a:xfrm>
            <a:off x="2092975" y="1888975"/>
            <a:ext cx="9193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5" name="Google Shape;105;p15"/>
          <p:cNvCxnSpPr>
            <a:stCxn id="104" idx="2"/>
          </p:cNvCxnSpPr>
          <p:nvPr/>
        </p:nvCxnSpPr>
        <p:spPr>
          <a:xfrm>
            <a:off x="2552650" y="2141425"/>
            <a:ext cx="1337100" cy="9916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6" name="Google Shape;106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0x33 0x22 0x11 0x00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07" name="Google Shape;107;p15"/>
          <p:cNvCxnSpPr/>
          <p:nvPr/>
        </p:nvCxnSpPr>
        <p:spPr>
          <a:xfrm>
            <a:off x="3481238" y="2141425"/>
            <a:ext cx="246750" cy="5466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1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10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13" name="Google Shape;113;p16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14" name="Google Shape;114;p16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15" name="Google Shape;115;p16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6" name="Google Shape;116;p16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17" name="Google Shape;117;p16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8" name="Google Shape;118;p16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9" name="Google Shape;119;p16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20" name="Google Shape;120;p16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21" name="Google Shape;121;p16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cxnSp>
        <p:nvCxnSpPr>
          <p:cNvPr id="122" name="Google Shape;122;p16"/>
          <p:cNvCxnSpPr>
            <a:stCxn id="112" idx="3"/>
            <a:endCxn id="123" idx="0"/>
          </p:cNvCxnSpPr>
          <p:nvPr/>
        </p:nvCxnSpPr>
        <p:spPr>
          <a:xfrm>
            <a:off x="2836607" y="2259419"/>
            <a:ext cx="2220300" cy="11695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3" name="Google Shape;123;p16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24" name="Google Shape;124;p16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cxnSp>
        <p:nvCxnSpPr>
          <p:cNvPr id="125" name="Google Shape;125;p16"/>
          <p:cNvCxnSpPr>
            <a:stCxn id="113" idx="3"/>
            <a:endCxn id="124" idx="0"/>
          </p:cNvCxnSpPr>
          <p:nvPr/>
        </p:nvCxnSpPr>
        <p:spPr>
          <a:xfrm rot="10800000" flipH="1">
            <a:off x="2836607" y="3429032"/>
            <a:ext cx="1897050" cy="1169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26;p16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32" name="Google Shape;132;p17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33" name="Google Shape;133;p17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34" name="Google Shape;134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5" name="Google Shape;135;p17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36" name="Google Shape;136;p17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7" name="Google Shape;137;p17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8" name="Google Shape;138;p17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9" name="Google Shape;139;p17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40" name="Google Shape;140;p17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41" name="Google Shape;141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42" name="Google Shape;142;p17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144" name="Google Shape;144;p17"/>
          <p:cNvCxnSpPr>
            <a:stCxn id="141" idx="2"/>
            <a:endCxn id="133" idx="1"/>
          </p:cNvCxnSpPr>
          <p:nvPr/>
        </p:nvCxnSpPr>
        <p:spPr>
          <a:xfrm>
            <a:off x="5380125" y="3429000"/>
            <a:ext cx="927300" cy="0"/>
          </a:xfrm>
          <a:prstGeom prst="straightConnector1">
            <a:avLst/>
          </a:prstGeom>
          <a:noFill/>
          <a:ln w="3810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5" name="Google Shape;145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8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51" name="Google Shape;151;p18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52" name="Google Shape;152;p18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3" name="Google Shape;153;p18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54" name="Google Shape;154;p18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5" name="Google Shape;155;p18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6" name="Google Shape;156;p18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7" name="Google Shape;157;p18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8" name="Google Shape;158;p18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59" name="Google Shape;159;p18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160" name="Google Shape;160;p18"/>
          <p:cNvCxnSpPr>
            <a:stCxn id="161" idx="2"/>
            <a:endCxn id="162" idx="1"/>
          </p:cNvCxnSpPr>
          <p:nvPr/>
        </p:nvCxnSpPr>
        <p:spPr>
          <a:xfrm>
            <a:off x="5380082" y="3428994"/>
            <a:ext cx="927300" cy="0"/>
          </a:xfrm>
          <a:prstGeom prst="straightConnector1">
            <a:avLst/>
          </a:prstGeom>
          <a:noFill/>
          <a:ln w="3810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" name="Google Shape;163;p18"/>
          <p:cNvSpPr txBox="1"/>
          <p:nvPr/>
        </p:nvSpPr>
        <p:spPr>
          <a:xfrm>
            <a:off x="5631207" y="2961300"/>
            <a:ext cx="4251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?</a:t>
            </a:r>
            <a:endParaRPr sz="1500"/>
          </a:p>
        </p:txBody>
      </p:sp>
      <p:sp>
        <p:nvSpPr>
          <p:cNvPr id="164" name="Google Shape;164;p18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70" name="Google Shape;170;p19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71" name="Google Shape;171;p19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72" name="Google Shape;172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3" name="Google Shape;173;p19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74" name="Google Shape;174;p19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5" name="Google Shape;175;p19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6" name="Google Shape;176;p19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7" name="Google Shape;177;p19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8" name="Google Shape;178;p19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79" name="Google Shape;179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80" name="Google Shape;180;p19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9900FF"/>
                </a:solidFill>
              </a:rPr>
              <a:t>Value C</a:t>
            </a:r>
            <a:endParaRPr sz="1500">
              <a:solidFill>
                <a:srgbClr val="9900FF"/>
              </a:solidFill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sp>
        <p:nvSpPr>
          <p:cNvPr id="182" name="Google Shape;182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sp>
        <p:nvSpPr>
          <p:cNvPr id="183" name="Google Shape;183;p19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FF"/>
                </a:solidFill>
              </a:rPr>
              <a:t>Value D</a:t>
            </a:r>
            <a:endParaRPr sz="1500">
              <a:solidFill>
                <a:srgbClr val="FF00FF"/>
              </a:solidFill>
            </a:endParaRPr>
          </a:p>
        </p:txBody>
      </p:sp>
      <p:sp>
        <p:nvSpPr>
          <p:cNvPr id="184" name="Google Shape;184;p19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980000"/>
                </a:solidFill>
              </a:rPr>
              <a:t>Value E</a:t>
            </a:r>
            <a:endParaRPr sz="1500">
              <a:solidFill>
                <a:srgbClr val="980000"/>
              </a:solidFill>
            </a:endParaRPr>
          </a:p>
        </p:txBody>
      </p:sp>
      <p:sp>
        <p:nvSpPr>
          <p:cNvPr id="185" name="Google Shape;185;p19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9900"/>
                </a:solidFill>
              </a:rPr>
              <a:t>Value F</a:t>
            </a:r>
            <a:endParaRPr sz="1500">
              <a:solidFill>
                <a:srgbClr val="FF9900"/>
              </a:solidFill>
            </a:endParaRPr>
          </a:p>
        </p:txBody>
      </p:sp>
      <p:cxnSp>
        <p:nvCxnSpPr>
          <p:cNvPr id="186" name="Google Shape;186;p19"/>
          <p:cNvCxnSpPr>
            <a:endCxn id="185" idx="0"/>
          </p:cNvCxnSpPr>
          <p:nvPr/>
        </p:nvCxnSpPr>
        <p:spPr>
          <a:xfrm>
            <a:off x="2836575" y="2259450"/>
            <a:ext cx="927300" cy="11695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19"/>
          <p:cNvSpPr txBox="1"/>
          <p:nvPr/>
        </p:nvSpPr>
        <p:spPr>
          <a:xfrm>
            <a:off x="3132794" y="2365575"/>
            <a:ext cx="4251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?</a:t>
            </a:r>
            <a:endParaRPr sz="15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/>
          <p:nvPr/>
        </p:nvSpPr>
        <p:spPr>
          <a:xfrm>
            <a:off x="2356750" y="3246369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93" name="Google Shape;193;p20"/>
          <p:cNvSpPr/>
          <p:nvPr/>
        </p:nvSpPr>
        <p:spPr>
          <a:xfrm>
            <a:off x="5569688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94" name="Google Shape;194;p20"/>
          <p:cNvSpPr/>
          <p:nvPr/>
        </p:nvSpPr>
        <p:spPr>
          <a:xfrm rot="-5400000">
            <a:off x="46227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5" name="Google Shape;195;p20"/>
          <p:cNvSpPr/>
          <p:nvPr/>
        </p:nvSpPr>
        <p:spPr>
          <a:xfrm rot="-5400000">
            <a:off x="429952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6" name="Google Shape;196;p20"/>
          <p:cNvSpPr/>
          <p:nvPr/>
        </p:nvSpPr>
        <p:spPr>
          <a:xfrm rot="-5400000">
            <a:off x="39762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7" name="Google Shape;197;p20"/>
          <p:cNvSpPr/>
          <p:nvPr/>
        </p:nvSpPr>
        <p:spPr>
          <a:xfrm rot="-5400000">
            <a:off x="365302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8" name="Google Shape;198;p20"/>
          <p:cNvSpPr/>
          <p:nvPr/>
        </p:nvSpPr>
        <p:spPr>
          <a:xfrm rot="-5400000">
            <a:off x="33297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9" name="Google Shape;199;p20"/>
          <p:cNvSpPr txBox="1"/>
          <p:nvPr/>
        </p:nvSpPr>
        <p:spPr>
          <a:xfrm>
            <a:off x="4022025" y="1335525"/>
            <a:ext cx="1099950" cy="4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1</a:t>
            </a:r>
            <a:endParaRPr sz="1500"/>
          </a:p>
        </p:txBody>
      </p:sp>
      <p:sp>
        <p:nvSpPr>
          <p:cNvPr id="200" name="Google Shape;200;p20"/>
          <p:cNvSpPr/>
          <p:nvPr/>
        </p:nvSpPr>
        <p:spPr>
          <a:xfrm rot="-5400000">
            <a:off x="46227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1" name="Google Shape;201;p20"/>
          <p:cNvSpPr/>
          <p:nvPr/>
        </p:nvSpPr>
        <p:spPr>
          <a:xfrm rot="-5400000">
            <a:off x="429952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2" name="Google Shape;202;p20"/>
          <p:cNvSpPr/>
          <p:nvPr/>
        </p:nvSpPr>
        <p:spPr>
          <a:xfrm rot="-5400000">
            <a:off x="39762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3" name="Google Shape;203;p20"/>
          <p:cNvSpPr/>
          <p:nvPr/>
        </p:nvSpPr>
        <p:spPr>
          <a:xfrm rot="-5400000">
            <a:off x="365302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4" name="Google Shape;204;p20"/>
          <p:cNvSpPr/>
          <p:nvPr/>
        </p:nvSpPr>
        <p:spPr>
          <a:xfrm rot="-5400000">
            <a:off x="33297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5" name="Google Shape;205;p20"/>
          <p:cNvSpPr txBox="1"/>
          <p:nvPr/>
        </p:nvSpPr>
        <p:spPr>
          <a:xfrm>
            <a:off x="4022025" y="3681513"/>
            <a:ext cx="1099950" cy="4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2</a:t>
            </a:r>
            <a:endParaRPr sz="1500"/>
          </a:p>
        </p:txBody>
      </p:sp>
      <p:sp>
        <p:nvSpPr>
          <p:cNvPr id="206" name="Google Shape;206;p20"/>
          <p:cNvSpPr txBox="1"/>
          <p:nvPr/>
        </p:nvSpPr>
        <p:spPr>
          <a:xfrm>
            <a:off x="241588" y="1335525"/>
            <a:ext cx="2902050" cy="1200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 b="1"/>
              <a:t>Task A</a:t>
            </a:r>
            <a:endParaRPr sz="1200" b="1"/>
          </a:p>
          <a:p>
            <a:pPr marL="228600" indent="-190500">
              <a:buSzPts val="2400"/>
              <a:buChar char="●"/>
            </a:pPr>
            <a:r>
              <a:rPr lang="en" sz="1200"/>
              <a:t>Prints any new messages from Queue 2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Reads serial input from user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Echo input back to serial terminal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If “delay xxx” send xxx (number) to Queue 1</a:t>
            </a:r>
            <a:endParaRPr sz="1200"/>
          </a:p>
        </p:txBody>
      </p:sp>
      <p:sp>
        <p:nvSpPr>
          <p:cNvPr id="207" name="Google Shape;207;p20"/>
          <p:cNvSpPr txBox="1"/>
          <p:nvPr/>
        </p:nvSpPr>
        <p:spPr>
          <a:xfrm>
            <a:off x="6000363" y="1335525"/>
            <a:ext cx="2902050" cy="138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 b="1"/>
              <a:t>Task B</a:t>
            </a:r>
            <a:endParaRPr sz="1200" b="1"/>
          </a:p>
          <a:p>
            <a:pPr marL="228600" indent="-190500">
              <a:buSzPts val="2400"/>
              <a:buChar char="●"/>
            </a:pPr>
            <a:r>
              <a:rPr lang="en" sz="1200">
                <a:solidFill>
                  <a:schemeClr val="dk1"/>
                </a:solidFill>
              </a:rPr>
              <a:t>Updates </a:t>
            </a: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200">
                <a:solidFill>
                  <a:schemeClr val="dk1"/>
                </a:solidFill>
              </a:rPr>
              <a:t> with any new values from Queue 1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Blinks LED with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200"/>
              <a:t> delay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Every time LED blinks 100 times, send “Blinked” string to Queue 2 (optional: also send number of times blinked)</a:t>
            </a:r>
            <a:endParaRPr sz="1200"/>
          </a:p>
        </p:txBody>
      </p:sp>
      <p:cxnSp>
        <p:nvCxnSpPr>
          <p:cNvPr id="208" name="Google Shape;208;p20"/>
          <p:cNvCxnSpPr>
            <a:stCxn id="192" idx="0"/>
            <a:endCxn id="198" idx="0"/>
          </p:cNvCxnSpPr>
          <p:nvPr/>
        </p:nvCxnSpPr>
        <p:spPr>
          <a:xfrm rot="10800000" flipH="1">
            <a:off x="2965525" y="2340219"/>
            <a:ext cx="798300" cy="906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9" name="Google Shape;209;p20"/>
          <p:cNvCxnSpPr>
            <a:stCxn id="194" idx="2"/>
            <a:endCxn id="193" idx="0"/>
          </p:cNvCxnSpPr>
          <p:nvPr/>
        </p:nvCxnSpPr>
        <p:spPr>
          <a:xfrm>
            <a:off x="5380125" y="2340163"/>
            <a:ext cx="798300" cy="906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10;p20"/>
          <p:cNvCxnSpPr>
            <a:stCxn id="193" idx="2"/>
            <a:endCxn id="200" idx="2"/>
          </p:cNvCxnSpPr>
          <p:nvPr/>
        </p:nvCxnSpPr>
        <p:spPr>
          <a:xfrm flipH="1">
            <a:off x="5380163" y="3611619"/>
            <a:ext cx="798300" cy="107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1" name="Google Shape;211;p20"/>
          <p:cNvCxnSpPr>
            <a:stCxn id="204" idx="0"/>
            <a:endCxn id="192" idx="2"/>
          </p:cNvCxnSpPr>
          <p:nvPr/>
        </p:nvCxnSpPr>
        <p:spPr>
          <a:xfrm rot="10800000">
            <a:off x="2965575" y="3611550"/>
            <a:ext cx="798300" cy="107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1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217" name="Google Shape;217;p21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218" name="Google Shape;218;p21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219" name="Google Shape;219;p21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0" name="Google Shape;220;p21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221" name="Google Shape;221;p21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2" name="Google Shape;222;p21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3" name="Google Shape;223;p21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4" name="Google Shape;224;p21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5" name="Google Shape;225;p21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226" name="Google Shape;226;p21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227" name="Google Shape;227;p21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cxnSp>
        <p:nvCxnSpPr>
          <p:cNvPr id="228" name="Google Shape;228;p21"/>
          <p:cNvCxnSpPr>
            <a:stCxn id="217" idx="3"/>
            <a:endCxn id="227" idx="0"/>
          </p:cNvCxnSpPr>
          <p:nvPr/>
        </p:nvCxnSpPr>
        <p:spPr>
          <a:xfrm rot="10800000" flipH="1">
            <a:off x="2836607" y="3429032"/>
            <a:ext cx="1897050" cy="1169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1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230" name="Google Shape;230;p21"/>
          <p:cNvCxnSpPr>
            <a:stCxn id="216" idx="3"/>
          </p:cNvCxnSpPr>
          <p:nvPr/>
        </p:nvCxnSpPr>
        <p:spPr>
          <a:xfrm>
            <a:off x="2836607" y="2259419"/>
            <a:ext cx="2218200" cy="7903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145C3BA-F3C9-1B17-3934-04EB058EB864}"/>
              </a:ext>
            </a:extLst>
          </p:cNvPr>
          <p:cNvSpPr txBox="1"/>
          <p:nvPr/>
        </p:nvSpPr>
        <p:spPr>
          <a:xfrm>
            <a:off x="1305697" y="-6937196"/>
            <a:ext cx="4572000" cy="1200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/**</a:t>
            </a:r>
          </a:p>
          <a:p>
            <a:r>
              <a:rPr lang="en-US" sz="900" dirty="0"/>
              <a:t> * </a:t>
            </a:r>
            <a:r>
              <a:rPr lang="en-US" sz="900" dirty="0" err="1"/>
              <a:t>FreeRTOS</a:t>
            </a:r>
            <a:r>
              <a:rPr lang="en-US" sz="900" dirty="0"/>
              <a:t> Queue Demo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Send data to the serial terminal using a queue.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Date: January 19, 2020</a:t>
            </a:r>
          </a:p>
          <a:p>
            <a:r>
              <a:rPr lang="en-US" sz="900" dirty="0"/>
              <a:t> * Author: Shawn Hymel</a:t>
            </a:r>
          </a:p>
          <a:p>
            <a:r>
              <a:rPr lang="en-US" sz="900" dirty="0"/>
              <a:t> * License: 0BSD</a:t>
            </a:r>
          </a:p>
          <a:p>
            <a:r>
              <a:rPr lang="en-US" sz="900" dirty="0"/>
              <a:t> */</a:t>
            </a:r>
          </a:p>
          <a:p>
            <a:endParaRPr lang="en-US" sz="900" dirty="0"/>
          </a:p>
          <a:p>
            <a:r>
              <a:rPr lang="en-US" sz="900" dirty="0"/>
              <a:t>// Use only core 1 for demo purposes</a:t>
            </a:r>
          </a:p>
          <a:p>
            <a:r>
              <a:rPr lang="en-US" sz="900" dirty="0"/>
              <a:t>#if CONFIG_FREERTOS_UNICORE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0;</a:t>
            </a:r>
          </a:p>
          <a:p>
            <a:r>
              <a:rPr lang="en-US" sz="900" dirty="0"/>
              <a:t>#else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1;</a:t>
            </a:r>
          </a:p>
          <a:p>
            <a:r>
              <a:rPr lang="en-US" sz="900" dirty="0"/>
              <a:t>#endif</a:t>
            </a:r>
          </a:p>
          <a:p>
            <a:endParaRPr lang="en-US" sz="900" dirty="0"/>
          </a:p>
          <a:p>
            <a:r>
              <a:rPr lang="en-US" sz="900" dirty="0"/>
              <a:t>// Settings</a:t>
            </a:r>
          </a:p>
          <a:p>
            <a:r>
              <a:rPr lang="en-US" sz="900" dirty="0"/>
              <a:t>static const uint8_t </a:t>
            </a:r>
            <a:r>
              <a:rPr lang="en-US" sz="900" dirty="0" err="1"/>
              <a:t>msg_queue_len</a:t>
            </a:r>
            <a:r>
              <a:rPr lang="en-US" sz="900" dirty="0"/>
              <a:t> = 5;</a:t>
            </a:r>
          </a:p>
          <a:p>
            <a:endParaRPr lang="en-US" sz="900" dirty="0"/>
          </a:p>
          <a:p>
            <a:r>
              <a:rPr lang="en-US" sz="900" dirty="0"/>
              <a:t>// </a:t>
            </a:r>
            <a:r>
              <a:rPr lang="en-US" sz="900" dirty="0" err="1"/>
              <a:t>Globals</a:t>
            </a:r>
            <a:endParaRPr lang="en-US" sz="900" dirty="0"/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msg_queue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Tasks</a:t>
            </a:r>
          </a:p>
          <a:p>
            <a:endParaRPr lang="en-US" sz="900" dirty="0"/>
          </a:p>
          <a:p>
            <a:r>
              <a:rPr lang="en-US" sz="900" dirty="0"/>
              <a:t>// Task: wait for item on queue and print it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printMessages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int item;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*)&amp;item,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//</a:t>
            </a:r>
            <a:r>
              <a:rPr lang="en-US" sz="900" dirty="0" err="1"/>
              <a:t>Serial.println</a:t>
            </a:r>
            <a:r>
              <a:rPr lang="en-US" sz="900" dirty="0"/>
              <a:t>(item);</a:t>
            </a:r>
          </a:p>
          <a:p>
            <a:r>
              <a:rPr lang="en-US" sz="900" dirty="0"/>
              <a:t>    }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Serial.println</a:t>
            </a:r>
            <a:r>
              <a:rPr lang="en-US" sz="900" dirty="0"/>
              <a:t>(item);</a:t>
            </a:r>
          </a:p>
          <a:p>
            <a:endParaRPr lang="en-US" sz="900" dirty="0"/>
          </a:p>
          <a:p>
            <a:r>
              <a:rPr lang="en-US" sz="900" dirty="0"/>
              <a:t>    // Wait before trying again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(500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Main (runs as its own task with priority 1 on core 1)</a:t>
            </a:r>
          </a:p>
          <a:p>
            <a:endParaRPr lang="en-US" sz="900" dirty="0"/>
          </a:p>
          <a:p>
            <a:r>
              <a:rPr lang="en-US" sz="900" dirty="0"/>
              <a:t>void setup() {</a:t>
            </a:r>
          </a:p>
          <a:p>
            <a:endParaRPr lang="en-US" sz="900" dirty="0"/>
          </a:p>
          <a:p>
            <a:r>
              <a:rPr lang="en-US" sz="900" dirty="0"/>
              <a:t>  // Configure Serial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Serial.begin</a:t>
            </a:r>
            <a:r>
              <a:rPr lang="en-US" sz="900" dirty="0"/>
              <a:t>(115200);</a:t>
            </a:r>
          </a:p>
          <a:p>
            <a:endParaRPr lang="en-US" sz="900" dirty="0"/>
          </a:p>
          <a:p>
            <a:r>
              <a:rPr lang="en-US" sz="900" dirty="0"/>
              <a:t>  // Wait a moment to start (so we don't miss Serial output)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("---</a:t>
            </a:r>
            <a:r>
              <a:rPr lang="en-US" sz="900" dirty="0" err="1"/>
              <a:t>FreeRTOS</a:t>
            </a:r>
            <a:r>
              <a:rPr lang="en-US" sz="900" dirty="0"/>
              <a:t> Queue Demo---");</a:t>
            </a:r>
          </a:p>
          <a:p>
            <a:endParaRPr lang="en-US" sz="900" dirty="0"/>
          </a:p>
          <a:p>
            <a:r>
              <a:rPr lang="en-US" sz="900" dirty="0"/>
              <a:t>  // Create queue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msg_queue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msg_queue_len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(int));</a:t>
            </a:r>
          </a:p>
          <a:p>
            <a:endParaRPr lang="en-US" sz="900" dirty="0"/>
          </a:p>
          <a:p>
            <a:r>
              <a:rPr lang="en-US" sz="900" dirty="0"/>
              <a:t>  // Start print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printMessages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"Print Messages",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void loop() {</a:t>
            </a:r>
          </a:p>
          <a:p>
            <a:endParaRPr lang="en-US" sz="900" dirty="0"/>
          </a:p>
          <a:p>
            <a:r>
              <a:rPr lang="en-US" sz="900" dirty="0"/>
              <a:t>  static int num  = 0;</a:t>
            </a:r>
          </a:p>
          <a:p>
            <a:endParaRPr lang="en-US" sz="900" dirty="0"/>
          </a:p>
          <a:p>
            <a:r>
              <a:rPr lang="en-US" sz="900" dirty="0"/>
              <a:t>  // Try to add item to queue for 10 ticks, fail if queue is full</a:t>
            </a:r>
          </a:p>
          <a:p>
            <a:r>
              <a:rPr lang="en-US" sz="900" dirty="0"/>
              <a:t>  if (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*)&amp;num, 10) !=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Serial.println</a:t>
            </a:r>
            <a:r>
              <a:rPr lang="en-US" sz="900" dirty="0"/>
              <a:t>("Queue full");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  num++;</a:t>
            </a:r>
          </a:p>
          <a:p>
            <a:endParaRPr lang="en-US" sz="900" dirty="0"/>
          </a:p>
          <a:p>
            <a:r>
              <a:rPr lang="en-US" sz="900" dirty="0"/>
              <a:t>  // Wait before trying again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36465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884F-3FC5-BD75-5DBF-D703A115C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06F6ADE-38E8-9BD1-9BAC-6EEC08A06413}"/>
              </a:ext>
            </a:extLst>
          </p:cNvPr>
          <p:cNvSpPr txBox="1"/>
          <p:nvPr/>
        </p:nvSpPr>
        <p:spPr>
          <a:xfrm>
            <a:off x="1305697" y="-6937196"/>
            <a:ext cx="4572000" cy="27653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/**</a:t>
            </a:r>
          </a:p>
          <a:p>
            <a:r>
              <a:rPr lang="en-US" sz="900" dirty="0"/>
              <a:t> * Solution to 05 - Queue Challenge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One task performs basic echo on Serial. If it sees "delay" followed by a</a:t>
            </a:r>
          </a:p>
          <a:p>
            <a:r>
              <a:rPr lang="en-US" sz="900" dirty="0"/>
              <a:t> * number, it sends the number (in a queue) to the second task. If it receives</a:t>
            </a:r>
          </a:p>
          <a:p>
            <a:r>
              <a:rPr lang="en-US" sz="900" dirty="0"/>
              <a:t> * a message in a second queue, it prints it to the console. The second task</a:t>
            </a:r>
          </a:p>
          <a:p>
            <a:r>
              <a:rPr lang="en-US" sz="900" dirty="0"/>
              <a:t> * blinks an LED. When it gets a message from the first queue (number), it</a:t>
            </a:r>
          </a:p>
          <a:p>
            <a:r>
              <a:rPr lang="en-US" sz="900" dirty="0"/>
              <a:t> * updates the blink delay to that number. Whenever the LED blinks 100 times,</a:t>
            </a:r>
          </a:p>
          <a:p>
            <a:r>
              <a:rPr lang="en-US" sz="900" dirty="0"/>
              <a:t> * the second task sends a message to the first task to be printed.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Date: January 18, 2021</a:t>
            </a:r>
          </a:p>
          <a:p>
            <a:r>
              <a:rPr lang="en-US" sz="900" dirty="0"/>
              <a:t> * Author: Shawn Hymel</a:t>
            </a:r>
          </a:p>
          <a:p>
            <a:r>
              <a:rPr lang="en-US" sz="900" dirty="0"/>
              <a:t> * License: 0BSD</a:t>
            </a:r>
          </a:p>
          <a:p>
            <a:r>
              <a:rPr lang="en-US" sz="900" dirty="0"/>
              <a:t> */</a:t>
            </a:r>
          </a:p>
          <a:p>
            <a:endParaRPr lang="en-US" sz="900" dirty="0"/>
          </a:p>
          <a:p>
            <a:r>
              <a:rPr lang="en-US" sz="900" dirty="0"/>
              <a:t>// Use only core 1 for demo purposes</a:t>
            </a:r>
          </a:p>
          <a:p>
            <a:r>
              <a:rPr lang="en-US" sz="900" dirty="0"/>
              <a:t>#if CONFIG_FREERTOS_UNICORE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0;</a:t>
            </a:r>
          </a:p>
          <a:p>
            <a:r>
              <a:rPr lang="en-US" sz="900" dirty="0"/>
              <a:t>#else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1;</a:t>
            </a:r>
          </a:p>
          <a:p>
            <a:r>
              <a:rPr lang="en-US" sz="900" dirty="0"/>
              <a:t>#endif</a:t>
            </a:r>
          </a:p>
          <a:p>
            <a:endParaRPr lang="en-US" sz="900" dirty="0"/>
          </a:p>
          <a:p>
            <a:r>
              <a:rPr lang="en-US" sz="900" dirty="0"/>
              <a:t>// Settings</a:t>
            </a:r>
          </a:p>
          <a:p>
            <a:r>
              <a:rPr lang="en-US" sz="900" dirty="0"/>
              <a:t>static const uint8_t </a:t>
            </a:r>
            <a:r>
              <a:rPr lang="en-US" sz="900" dirty="0" err="1"/>
              <a:t>buf_len</a:t>
            </a:r>
            <a:r>
              <a:rPr lang="en-US" sz="900" dirty="0"/>
              <a:t> = 255;     // Size of buffer to look for command</a:t>
            </a:r>
          </a:p>
          <a:p>
            <a:r>
              <a:rPr lang="en-US" sz="900" dirty="0"/>
              <a:t>static const char command[] = "delay "; // Note the space!</a:t>
            </a:r>
          </a:p>
          <a:p>
            <a:r>
              <a:rPr lang="en-US" sz="900" dirty="0"/>
              <a:t>static const int </a:t>
            </a:r>
            <a:r>
              <a:rPr lang="en-US" sz="900" dirty="0" err="1"/>
              <a:t>delay_queue_len</a:t>
            </a:r>
            <a:r>
              <a:rPr lang="en-US" sz="900" dirty="0"/>
              <a:t> = 5;   // Size of </a:t>
            </a:r>
            <a:r>
              <a:rPr lang="en-US" sz="900" dirty="0" err="1"/>
              <a:t>delay_queue</a:t>
            </a:r>
            <a:endParaRPr lang="en-US" sz="900" dirty="0"/>
          </a:p>
          <a:p>
            <a:r>
              <a:rPr lang="en-US" sz="900" dirty="0"/>
              <a:t>static const int </a:t>
            </a:r>
            <a:r>
              <a:rPr lang="en-US" sz="900" dirty="0" err="1"/>
              <a:t>msg_queue_len</a:t>
            </a:r>
            <a:r>
              <a:rPr lang="en-US" sz="900" dirty="0"/>
              <a:t> = 5;     // Size of </a:t>
            </a:r>
            <a:r>
              <a:rPr lang="en-US" sz="900" dirty="0" err="1"/>
              <a:t>msg_queue</a:t>
            </a:r>
            <a:endParaRPr lang="en-US" sz="900" dirty="0"/>
          </a:p>
          <a:p>
            <a:r>
              <a:rPr lang="en-US" sz="900" dirty="0"/>
              <a:t>static const uint8_t </a:t>
            </a:r>
            <a:r>
              <a:rPr lang="en-US" sz="900" dirty="0" err="1"/>
              <a:t>blink_max</a:t>
            </a:r>
            <a:r>
              <a:rPr lang="en-US" sz="900" dirty="0"/>
              <a:t> = 100;   // Num times to blink before message</a:t>
            </a:r>
          </a:p>
          <a:p>
            <a:endParaRPr lang="en-US" sz="900" dirty="0"/>
          </a:p>
          <a:p>
            <a:r>
              <a:rPr lang="en-US" sz="900" dirty="0"/>
              <a:t>// Pins (change this if your Arduino board does not have LED_BUILTIN defined)</a:t>
            </a:r>
          </a:p>
          <a:p>
            <a:r>
              <a:rPr lang="en-US" sz="900" dirty="0"/>
              <a:t>static const int </a:t>
            </a:r>
            <a:r>
              <a:rPr lang="en-US" sz="900" dirty="0" err="1"/>
              <a:t>led_pin</a:t>
            </a:r>
            <a:r>
              <a:rPr lang="en-US" sz="900" dirty="0"/>
              <a:t> = LED_BUILTIN;</a:t>
            </a:r>
          </a:p>
          <a:p>
            <a:endParaRPr lang="en-US" sz="900" dirty="0"/>
          </a:p>
          <a:p>
            <a:r>
              <a:rPr lang="en-US" sz="900" dirty="0"/>
              <a:t>// Message struct: used to wrap strings (not necessary, but it's useful to see</a:t>
            </a:r>
          </a:p>
          <a:p>
            <a:r>
              <a:rPr lang="en-US" sz="900" dirty="0"/>
              <a:t>// how to use structs here)</a:t>
            </a:r>
          </a:p>
          <a:p>
            <a:r>
              <a:rPr lang="en-US" sz="900" dirty="0"/>
              <a:t>typedef struct Message {</a:t>
            </a:r>
          </a:p>
          <a:p>
            <a:r>
              <a:rPr lang="en-US" sz="900" dirty="0"/>
              <a:t>  char body[20];</a:t>
            </a:r>
          </a:p>
          <a:p>
            <a:r>
              <a:rPr lang="en-US" sz="900" dirty="0"/>
              <a:t>  int count;</a:t>
            </a:r>
          </a:p>
          <a:p>
            <a:r>
              <a:rPr lang="en-US" sz="900" dirty="0"/>
              <a:t>} Message;</a:t>
            </a:r>
          </a:p>
          <a:p>
            <a:endParaRPr lang="en-US" sz="900" dirty="0"/>
          </a:p>
          <a:p>
            <a:r>
              <a:rPr lang="en-US" sz="900" dirty="0"/>
              <a:t>// </a:t>
            </a:r>
            <a:r>
              <a:rPr lang="en-US" sz="900" dirty="0" err="1"/>
              <a:t>Globals</a:t>
            </a:r>
            <a:endParaRPr lang="en-US" sz="900" dirty="0"/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delay_queue</a:t>
            </a:r>
            <a:r>
              <a:rPr lang="en-US" sz="900" dirty="0"/>
              <a:t>;</a:t>
            </a:r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msg_queue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Tasks</a:t>
            </a:r>
          </a:p>
          <a:p>
            <a:endParaRPr lang="en-US" sz="900" dirty="0"/>
          </a:p>
          <a:p>
            <a:r>
              <a:rPr lang="en-US" sz="900" dirty="0"/>
              <a:t>// Task: command line interface (CLI)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doCLI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Message </a:t>
            </a:r>
            <a:r>
              <a:rPr lang="en-US" sz="900" dirty="0" err="1"/>
              <a:t>rcv_msg</a:t>
            </a:r>
            <a:r>
              <a:rPr lang="en-US" sz="900" dirty="0"/>
              <a:t>;</a:t>
            </a:r>
          </a:p>
          <a:p>
            <a:r>
              <a:rPr lang="en-US" sz="900" dirty="0"/>
              <a:t>  char c;</a:t>
            </a:r>
          </a:p>
          <a:p>
            <a:r>
              <a:rPr lang="en-US" sz="900" dirty="0"/>
              <a:t>  char </a:t>
            </a:r>
            <a:r>
              <a:rPr lang="en-US" sz="900" dirty="0" err="1"/>
              <a:t>buf</a:t>
            </a:r>
            <a:r>
              <a:rPr lang="en-US" sz="900" dirty="0"/>
              <a:t>[</a:t>
            </a:r>
            <a:r>
              <a:rPr lang="en-US" sz="900" dirty="0" err="1"/>
              <a:t>buf_len</a:t>
            </a:r>
            <a:r>
              <a:rPr lang="en-US" sz="900" dirty="0"/>
              <a:t>];</a:t>
            </a:r>
          </a:p>
          <a:p>
            <a:r>
              <a:rPr lang="en-US" sz="900" dirty="0"/>
              <a:t>  uint8_t </a:t>
            </a:r>
            <a:r>
              <a:rPr lang="en-US" sz="900" dirty="0" err="1"/>
              <a:t>idx</a:t>
            </a:r>
            <a:r>
              <a:rPr lang="en-US" sz="900" dirty="0"/>
              <a:t> = 0;</a:t>
            </a:r>
          </a:p>
          <a:p>
            <a:r>
              <a:rPr lang="en-US" sz="900" dirty="0"/>
              <a:t>  uint8_t </a:t>
            </a:r>
            <a:r>
              <a:rPr lang="en-US" sz="900" dirty="0" err="1"/>
              <a:t>cmd_len</a:t>
            </a:r>
            <a:r>
              <a:rPr lang="en-US" sz="900" dirty="0"/>
              <a:t> = </a:t>
            </a:r>
            <a:r>
              <a:rPr lang="en-US" sz="900" dirty="0" err="1"/>
              <a:t>strlen</a:t>
            </a:r>
            <a:r>
              <a:rPr lang="en-US" sz="900" dirty="0"/>
              <a:t>(command);</a:t>
            </a:r>
          </a:p>
          <a:p>
            <a:r>
              <a:rPr lang="en-US" sz="900" dirty="0"/>
              <a:t>  int </a:t>
            </a:r>
            <a:r>
              <a:rPr lang="en-US" sz="900" dirty="0" err="1"/>
              <a:t>led_delay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  // Clear whole buffer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memset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0, </a:t>
            </a:r>
            <a:r>
              <a:rPr lang="en-US" sz="900" dirty="0" err="1"/>
              <a:t>buf_len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</a:t>
            </a:r>
            <a:r>
              <a:rPr lang="en-US" sz="900" dirty="0" err="1"/>
              <a:t>rcv_msg</a:t>
            </a:r>
            <a:r>
              <a:rPr lang="en-US" sz="900" dirty="0"/>
              <a:t>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Serial.print</a:t>
            </a:r>
            <a:r>
              <a:rPr lang="en-US" sz="900" dirty="0"/>
              <a:t>(</a:t>
            </a:r>
            <a:r>
              <a:rPr lang="en-US" sz="900" dirty="0" err="1"/>
              <a:t>rcv_msg.body</a:t>
            </a:r>
            <a:r>
              <a:rPr lang="en-US" sz="900" dirty="0"/>
              <a:t>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Serial.println</a:t>
            </a:r>
            <a:r>
              <a:rPr lang="en-US" sz="900" dirty="0"/>
              <a:t>(</a:t>
            </a:r>
            <a:r>
              <a:rPr lang="en-US" sz="900" dirty="0" err="1"/>
              <a:t>rcv_msg.count</a:t>
            </a:r>
            <a:r>
              <a:rPr lang="en-US" sz="900" dirty="0"/>
              <a:t>);</a:t>
            </a:r>
          </a:p>
          <a:p>
            <a:r>
              <a:rPr lang="en-US" sz="900" dirty="0"/>
              <a:t>    }</a:t>
            </a:r>
          </a:p>
          <a:p>
            <a:endParaRPr lang="en-US" sz="900" dirty="0"/>
          </a:p>
          <a:p>
            <a:r>
              <a:rPr lang="en-US" sz="900" dirty="0"/>
              <a:t>    // Read characters from serial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Serial.available</a:t>
            </a:r>
            <a:r>
              <a:rPr lang="en-US" sz="900" dirty="0"/>
              <a:t>() &gt; 0) {</a:t>
            </a:r>
          </a:p>
          <a:p>
            <a:r>
              <a:rPr lang="en-US" sz="900" dirty="0"/>
              <a:t>      c = </a:t>
            </a:r>
            <a:r>
              <a:rPr lang="en-US" sz="900" dirty="0" err="1"/>
              <a:t>Serial.read</a:t>
            </a:r>
            <a:r>
              <a:rPr lang="en-US" sz="900" dirty="0"/>
              <a:t>();</a:t>
            </a:r>
          </a:p>
          <a:p>
            <a:endParaRPr lang="en-US" sz="900" dirty="0"/>
          </a:p>
          <a:p>
            <a:r>
              <a:rPr lang="en-US" sz="900" dirty="0"/>
              <a:t>      // Store received character to buffer if not over buffer limit</a:t>
            </a:r>
          </a:p>
          <a:p>
            <a:r>
              <a:rPr lang="en-US" sz="900" dirty="0"/>
              <a:t>      if (</a:t>
            </a:r>
            <a:r>
              <a:rPr lang="en-US" sz="900" dirty="0" err="1"/>
              <a:t>idx</a:t>
            </a:r>
            <a:r>
              <a:rPr lang="en-US" sz="900" dirty="0"/>
              <a:t> &lt; </a:t>
            </a:r>
            <a:r>
              <a:rPr lang="en-US" sz="900" dirty="0" err="1"/>
              <a:t>buf_len</a:t>
            </a:r>
            <a:r>
              <a:rPr lang="en-US" sz="900" dirty="0"/>
              <a:t> - 1) {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buf</a:t>
            </a:r>
            <a:r>
              <a:rPr lang="en-US" sz="900" dirty="0"/>
              <a:t>[</a:t>
            </a:r>
            <a:r>
              <a:rPr lang="en-US" sz="900" dirty="0" err="1"/>
              <a:t>idx</a:t>
            </a:r>
            <a:r>
              <a:rPr lang="en-US" sz="900" dirty="0"/>
              <a:t>] = c;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idx</a:t>
            </a:r>
            <a:r>
              <a:rPr lang="en-US" sz="900" dirty="0"/>
              <a:t>++;</a:t>
            </a:r>
          </a:p>
          <a:p>
            <a:r>
              <a:rPr lang="en-US" sz="900" dirty="0"/>
              <a:t>      }</a:t>
            </a:r>
          </a:p>
          <a:p>
            <a:endParaRPr lang="en-US" sz="900" dirty="0"/>
          </a:p>
          <a:p>
            <a:r>
              <a:rPr lang="en-US" sz="900" dirty="0"/>
              <a:t>      // Print newline and check input on 'enter'</a:t>
            </a:r>
          </a:p>
          <a:p>
            <a:r>
              <a:rPr lang="en-US" sz="900" dirty="0"/>
              <a:t>      if ((c == '\n') || (c == '\r')) {</a:t>
            </a:r>
          </a:p>
          <a:p>
            <a:endParaRPr lang="en-US" sz="900" dirty="0"/>
          </a:p>
          <a:p>
            <a:r>
              <a:rPr lang="en-US" sz="900" dirty="0"/>
              <a:t>        // Print newline to terminal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Serial.print</a:t>
            </a:r>
            <a:r>
              <a:rPr lang="en-US" sz="900" dirty="0"/>
              <a:t>("\r\n");</a:t>
            </a:r>
          </a:p>
          <a:p>
            <a:endParaRPr lang="en-US" sz="900" dirty="0"/>
          </a:p>
          <a:p>
            <a:r>
              <a:rPr lang="en-US" sz="900" dirty="0"/>
              <a:t>        // Check if the first 6 characters are "delay "</a:t>
            </a:r>
          </a:p>
          <a:p>
            <a:r>
              <a:rPr lang="en-US" sz="900" dirty="0"/>
              <a:t>        if (</a:t>
            </a:r>
            <a:r>
              <a:rPr lang="en-US" sz="900" dirty="0" err="1"/>
              <a:t>memcmp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command, </a:t>
            </a:r>
            <a:r>
              <a:rPr lang="en-US" sz="900" dirty="0" err="1"/>
              <a:t>cmd_len</a:t>
            </a:r>
            <a:r>
              <a:rPr lang="en-US" sz="900" dirty="0"/>
              <a:t>) == 0) {</a:t>
            </a:r>
          </a:p>
          <a:p>
            <a:endParaRPr lang="en-US" sz="900" dirty="0"/>
          </a:p>
          <a:p>
            <a:r>
              <a:rPr lang="en-US" sz="900" dirty="0"/>
              <a:t>          // Convert last part to positive integer (negative int crashes)</a:t>
            </a:r>
          </a:p>
          <a:p>
            <a:r>
              <a:rPr lang="en-US" sz="900" dirty="0"/>
              <a:t>          char* tail = </a:t>
            </a:r>
            <a:r>
              <a:rPr lang="en-US" sz="900" dirty="0" err="1"/>
              <a:t>buf</a:t>
            </a:r>
            <a:r>
              <a:rPr lang="en-US" sz="900" dirty="0"/>
              <a:t> + </a:t>
            </a:r>
            <a:r>
              <a:rPr lang="en-US" sz="900" dirty="0" err="1"/>
              <a:t>cmd_len</a:t>
            </a:r>
            <a:r>
              <a:rPr lang="en-US" sz="900" dirty="0"/>
              <a:t>;</a:t>
            </a:r>
          </a:p>
          <a:p>
            <a:r>
              <a:rPr lang="en-US" sz="900" dirty="0"/>
              <a:t>          </a:t>
            </a:r>
            <a:r>
              <a:rPr lang="en-US" sz="900" dirty="0" err="1"/>
              <a:t>led_delay</a:t>
            </a:r>
            <a:r>
              <a:rPr lang="en-US" sz="900" dirty="0"/>
              <a:t> = </a:t>
            </a:r>
            <a:r>
              <a:rPr lang="en-US" sz="900" dirty="0" err="1"/>
              <a:t>atoi</a:t>
            </a:r>
            <a:r>
              <a:rPr lang="en-US" sz="900" dirty="0"/>
              <a:t>(tail);</a:t>
            </a:r>
          </a:p>
          <a:p>
            <a:r>
              <a:rPr lang="en-US" sz="900" dirty="0"/>
              <a:t>          </a:t>
            </a:r>
            <a:r>
              <a:rPr lang="en-US" sz="900" dirty="0" err="1"/>
              <a:t>led_delay</a:t>
            </a:r>
            <a:r>
              <a:rPr lang="en-US" sz="900" dirty="0"/>
              <a:t> = abs(</a:t>
            </a:r>
            <a:r>
              <a:rPr lang="en-US" sz="900" dirty="0" err="1"/>
              <a:t>led_delay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        // Send integer to other task via queue</a:t>
            </a:r>
          </a:p>
          <a:p>
            <a:r>
              <a:rPr lang="en-US" sz="900" dirty="0"/>
              <a:t>          if (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delay_queue</a:t>
            </a:r>
            <a:r>
              <a:rPr lang="en-US" sz="900" dirty="0"/>
              <a:t>, (void *)&amp;</a:t>
            </a:r>
            <a:r>
              <a:rPr lang="en-US" sz="900" dirty="0" err="1"/>
              <a:t>led_delay</a:t>
            </a:r>
            <a:r>
              <a:rPr lang="en-US" sz="900" dirty="0"/>
              <a:t>, 10) !=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      </a:t>
            </a:r>
            <a:r>
              <a:rPr lang="en-US" sz="900" dirty="0" err="1"/>
              <a:t>Serial.println</a:t>
            </a:r>
            <a:r>
              <a:rPr lang="en-US" sz="900" dirty="0"/>
              <a:t>("ERROR: Could not put item on delay queue.");</a:t>
            </a:r>
          </a:p>
          <a:p>
            <a:r>
              <a:rPr lang="en-US" sz="900" dirty="0"/>
              <a:t>          }</a:t>
            </a:r>
          </a:p>
          <a:p>
            <a:r>
              <a:rPr lang="en-US" sz="900" dirty="0"/>
              <a:t>        }</a:t>
            </a:r>
          </a:p>
          <a:p>
            <a:endParaRPr lang="en-US" sz="900" dirty="0"/>
          </a:p>
          <a:p>
            <a:r>
              <a:rPr lang="en-US" sz="900" dirty="0"/>
              <a:t>        // Reset receive buffer and index counter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memset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0, </a:t>
            </a:r>
            <a:r>
              <a:rPr lang="en-US" sz="900" dirty="0" err="1"/>
              <a:t>buf_len</a:t>
            </a:r>
            <a:r>
              <a:rPr lang="en-US" sz="900" dirty="0"/>
              <a:t>);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idx</a:t>
            </a:r>
            <a:r>
              <a:rPr lang="en-US" sz="900" dirty="0"/>
              <a:t> = 0;</a:t>
            </a:r>
          </a:p>
          <a:p>
            <a:endParaRPr lang="en-US" sz="900" dirty="0"/>
          </a:p>
          <a:p>
            <a:r>
              <a:rPr lang="en-US" sz="900" dirty="0"/>
              <a:t>      // Otherwise, echo character back to serial terminal</a:t>
            </a:r>
          </a:p>
          <a:p>
            <a:r>
              <a:rPr lang="en-US" sz="900" dirty="0"/>
              <a:t>      } else {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Serial.print</a:t>
            </a:r>
            <a:r>
              <a:rPr lang="en-US" sz="900" dirty="0"/>
              <a:t>(c);</a:t>
            </a:r>
          </a:p>
          <a:p>
            <a:r>
              <a:rPr lang="en-US" sz="900" dirty="0"/>
              <a:t>      }</a:t>
            </a:r>
          </a:p>
          <a:p>
            <a:r>
              <a:rPr lang="en-US" sz="900" dirty="0"/>
              <a:t>    } 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 Task: flash LED based on delay provided, notify other task every 100 blinks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blinkLED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Message msg;</a:t>
            </a:r>
          </a:p>
          <a:p>
            <a:r>
              <a:rPr lang="en-US" sz="900" dirty="0"/>
              <a:t>  int </a:t>
            </a:r>
            <a:r>
              <a:rPr lang="en-US" sz="900" dirty="0" err="1"/>
              <a:t>led_delay</a:t>
            </a:r>
            <a:r>
              <a:rPr lang="en-US" sz="900" dirty="0"/>
              <a:t> = 500;</a:t>
            </a:r>
          </a:p>
          <a:p>
            <a:r>
              <a:rPr lang="en-US" sz="900" dirty="0"/>
              <a:t>  uint8_t counter = 0;</a:t>
            </a:r>
          </a:p>
          <a:p>
            <a:endParaRPr lang="en-US" sz="900" dirty="0"/>
          </a:p>
          <a:p>
            <a:r>
              <a:rPr lang="en-US" sz="900" dirty="0"/>
              <a:t>  // Set up pin</a:t>
            </a:r>
          </a:p>
          <a:p>
            <a:r>
              <a:rPr lang="en-US" sz="900" dirty="0"/>
              <a:t>  </a:t>
            </a:r>
            <a:r>
              <a:rPr lang="en-US" sz="900" dirty="0" err="1"/>
              <a:t>pinMode</a:t>
            </a:r>
            <a:r>
              <a:rPr lang="en-US" sz="900" dirty="0"/>
              <a:t>(LED_BUILTIN, OUTPUT);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delay_queue</a:t>
            </a:r>
            <a:r>
              <a:rPr lang="en-US" sz="900" dirty="0"/>
              <a:t>, (void *)&amp;</a:t>
            </a:r>
            <a:r>
              <a:rPr lang="en-US" sz="900" dirty="0" err="1"/>
              <a:t>led_delay</a:t>
            </a:r>
            <a:r>
              <a:rPr lang="en-US" sz="900" dirty="0"/>
              <a:t>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endParaRPr lang="en-US" sz="900" dirty="0"/>
          </a:p>
          <a:p>
            <a:r>
              <a:rPr lang="en-US" sz="900" dirty="0"/>
              <a:t>      // Best practice: use only one task to manage serial comms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strcpy</a:t>
            </a:r>
            <a:r>
              <a:rPr lang="en-US" sz="900" dirty="0"/>
              <a:t>(</a:t>
            </a:r>
            <a:r>
              <a:rPr lang="en-US" sz="900" dirty="0" err="1"/>
              <a:t>msg.body</a:t>
            </a:r>
            <a:r>
              <a:rPr lang="en-US" sz="900" dirty="0"/>
              <a:t>, "Message received ");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msg.count</a:t>
            </a:r>
            <a:r>
              <a:rPr lang="en-US" sz="900" dirty="0"/>
              <a:t> = 1;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*)&amp;msg, 10);</a:t>
            </a:r>
          </a:p>
          <a:p>
            <a:r>
              <a:rPr lang="en-US" sz="900" dirty="0"/>
              <a:t>    }</a:t>
            </a:r>
          </a:p>
          <a:p>
            <a:endParaRPr lang="en-US" sz="900" dirty="0"/>
          </a:p>
          <a:p>
            <a:r>
              <a:rPr lang="en-US" sz="900" dirty="0"/>
              <a:t>    // Blink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</a:t>
            </a:r>
            <a:r>
              <a:rPr lang="en-US" sz="900" dirty="0" err="1"/>
              <a:t>led_pin</a:t>
            </a:r>
            <a:r>
              <a:rPr lang="en-US" sz="900" dirty="0"/>
              <a:t>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</a:t>
            </a:r>
            <a:r>
              <a:rPr lang="en-US" sz="900" dirty="0" err="1"/>
              <a:t>led_delay</a:t>
            </a:r>
            <a:r>
              <a:rPr lang="en-US" sz="900" dirty="0"/>
              <a:t>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</a:t>
            </a:r>
            <a:r>
              <a:rPr lang="en-US" sz="900" dirty="0" err="1"/>
              <a:t>led_pin</a:t>
            </a:r>
            <a:r>
              <a:rPr lang="en-US" sz="900" dirty="0"/>
              <a:t>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</a:t>
            </a:r>
            <a:r>
              <a:rPr lang="en-US" sz="900" dirty="0" err="1"/>
              <a:t>led_delay</a:t>
            </a:r>
            <a:r>
              <a:rPr lang="en-US" sz="900" dirty="0"/>
              <a:t>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  // If we've blinked 100 times, send a message to the other task</a:t>
            </a:r>
          </a:p>
          <a:p>
            <a:r>
              <a:rPr lang="en-US" sz="900" dirty="0"/>
              <a:t>    counter++;</a:t>
            </a:r>
          </a:p>
          <a:p>
            <a:r>
              <a:rPr lang="en-US" sz="900" dirty="0"/>
              <a:t>    if (counter &gt;= </a:t>
            </a:r>
            <a:r>
              <a:rPr lang="en-US" sz="900" dirty="0" err="1"/>
              <a:t>blink_max</a:t>
            </a:r>
            <a:r>
              <a:rPr lang="en-US" sz="900" dirty="0"/>
              <a:t>) {</a:t>
            </a:r>
          </a:p>
          <a:p>
            <a:r>
              <a:rPr lang="en-US" sz="900" dirty="0"/>
              <a:t>      </a:t>
            </a:r>
          </a:p>
          <a:p>
            <a:r>
              <a:rPr lang="en-US" sz="900" dirty="0"/>
              <a:t>      // Construct message and send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strcpy</a:t>
            </a:r>
            <a:r>
              <a:rPr lang="en-US" sz="900" dirty="0"/>
              <a:t>(</a:t>
            </a:r>
            <a:r>
              <a:rPr lang="en-US" sz="900" dirty="0" err="1"/>
              <a:t>msg.body</a:t>
            </a:r>
            <a:r>
              <a:rPr lang="en-US" sz="900" dirty="0"/>
              <a:t>, "Blinked: ");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msg.count</a:t>
            </a:r>
            <a:r>
              <a:rPr lang="en-US" sz="900" dirty="0"/>
              <a:t> = counter;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*)&amp;msg, 10);</a:t>
            </a:r>
          </a:p>
          <a:p>
            <a:endParaRPr lang="en-US" sz="900" dirty="0"/>
          </a:p>
          <a:p>
            <a:r>
              <a:rPr lang="en-US" sz="900" dirty="0"/>
              <a:t>      // Reset counter</a:t>
            </a:r>
          </a:p>
          <a:p>
            <a:r>
              <a:rPr lang="en-US" sz="900" dirty="0"/>
              <a:t>      counter = 0;</a:t>
            </a:r>
          </a:p>
          <a:p>
            <a:r>
              <a:rPr lang="en-US" sz="900" dirty="0"/>
              <a:t>    }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Main (runs as its own task with priority 1 on core 1)</a:t>
            </a:r>
          </a:p>
          <a:p>
            <a:endParaRPr lang="en-US" sz="900" dirty="0"/>
          </a:p>
          <a:p>
            <a:r>
              <a:rPr lang="en-US" sz="900" dirty="0"/>
              <a:t>void setup() {</a:t>
            </a:r>
          </a:p>
          <a:p>
            <a:endParaRPr lang="en-US" sz="900" dirty="0"/>
          </a:p>
          <a:p>
            <a:r>
              <a:rPr lang="en-US" sz="900" dirty="0"/>
              <a:t>  // Configure Serial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Serial.begin</a:t>
            </a:r>
            <a:r>
              <a:rPr lang="en-US" sz="900" dirty="0"/>
              <a:t>(115200);</a:t>
            </a:r>
          </a:p>
          <a:p>
            <a:endParaRPr lang="en-US" sz="900" dirty="0"/>
          </a:p>
          <a:p>
            <a:r>
              <a:rPr lang="en-US" sz="900" dirty="0"/>
              <a:t>  // Wait a moment to start (so we don't miss Serial output)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("---</a:t>
            </a:r>
            <a:r>
              <a:rPr lang="en-US" sz="900" dirty="0" err="1"/>
              <a:t>FreeRTOS</a:t>
            </a:r>
            <a:r>
              <a:rPr lang="en-US" sz="900" dirty="0"/>
              <a:t> Queue Solution---");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("Enter the command 'delay xxx' where xxx is your desired ");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("LED blink delay time in milliseconds");</a:t>
            </a:r>
          </a:p>
          <a:p>
            <a:endParaRPr lang="en-US" sz="900" dirty="0"/>
          </a:p>
          <a:p>
            <a:r>
              <a:rPr lang="en-US" sz="900" dirty="0"/>
              <a:t>  // Create queues</a:t>
            </a:r>
          </a:p>
          <a:p>
            <a:r>
              <a:rPr lang="en-US" sz="900" dirty="0"/>
              <a:t>  </a:t>
            </a:r>
            <a:r>
              <a:rPr lang="en-US" sz="900" dirty="0" err="1"/>
              <a:t>delay_queue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delay_queue_len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(int));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msg_queue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msg_queue_len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(Message));</a:t>
            </a:r>
          </a:p>
          <a:p>
            <a:endParaRPr lang="en-US" sz="900" dirty="0"/>
          </a:p>
          <a:p>
            <a:r>
              <a:rPr lang="en-US" sz="900" dirty="0"/>
              <a:t>  // Start CLI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doCLI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"CLI",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Start blink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blinkLED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"Blink LED",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Delete "setup and loop"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vTaskDelete</a:t>
            </a:r>
            <a:r>
              <a:rPr lang="en-US" sz="900" dirty="0"/>
              <a:t>(NULL);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void loop() {</a:t>
            </a:r>
          </a:p>
          <a:p>
            <a:r>
              <a:rPr lang="en-US" sz="900" dirty="0"/>
              <a:t>  // Execution should never get here</a:t>
            </a:r>
          </a:p>
          <a:p>
            <a:r>
              <a:rPr lang="en-US" sz="900"/>
              <a:t>}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942902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824450" y="1882050"/>
            <a:ext cx="4374600" cy="309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int global_var = 0;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incTask(void *parameters)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while(1)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  global_var++;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main() {</a:t>
            </a:r>
            <a:b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startTask1(incTask, “Task 1”);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startTask2(incTask, “Task 2”);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sleep();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384700" y="1047113"/>
            <a:ext cx="4374600" cy="39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>
                <a:solidFill>
                  <a:srgbClr val="FFFFFF"/>
                </a:solidFill>
              </a:rPr>
              <a:t>Race Condition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617200" y="1997550"/>
            <a:ext cx="2923500" cy="286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FFFF"/>
                </a:solidFill>
              </a:rPr>
              <a:t>global_var increment can take several instruction cycles!</a:t>
            </a:r>
            <a:endParaRPr sz="1500">
              <a:solidFill>
                <a:srgbClr val="FFFFFF"/>
              </a:solidFill>
            </a:endParaRPr>
          </a:p>
          <a:p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global_var: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0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1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2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4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57" name="Google Shape;57;p13"/>
          <p:cNvCxnSpPr/>
          <p:nvPr/>
        </p:nvCxnSpPr>
        <p:spPr>
          <a:xfrm flipH="1">
            <a:off x="3057288" y="2520488"/>
            <a:ext cx="2491050" cy="43290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2051957" y="218303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63" name="Google Shape;63;p14"/>
          <p:cNvSpPr/>
          <p:nvPr/>
        </p:nvSpPr>
        <p:spPr>
          <a:xfrm>
            <a:off x="3873294" y="3144219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cxnSp>
        <p:nvCxnSpPr>
          <p:cNvPr id="64" name="Google Shape;64;p14"/>
          <p:cNvCxnSpPr/>
          <p:nvPr/>
        </p:nvCxnSpPr>
        <p:spPr>
          <a:xfrm>
            <a:off x="3269512" y="2548285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" name="Google Shape;65;p14"/>
          <p:cNvSpPr/>
          <p:nvPr/>
        </p:nvSpPr>
        <p:spPr>
          <a:xfrm>
            <a:off x="2051957" y="4309407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cxnSp>
        <p:nvCxnSpPr>
          <p:cNvPr id="66" name="Google Shape;66;p14"/>
          <p:cNvCxnSpPr/>
          <p:nvPr/>
        </p:nvCxnSpPr>
        <p:spPr>
          <a:xfrm rot="10800000" flipH="1">
            <a:off x="3269512" y="3630360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/>
        </p:nvSpPr>
        <p:spPr>
          <a:xfrm>
            <a:off x="824450" y="1882050"/>
            <a:ext cx="4374600" cy="309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int global_var = 0;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incTask(void *parameters)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while(1)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  global_var++;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main() {</a:t>
            </a:r>
            <a:b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startTask1(incTask, “Task 1”);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startTask2(incTask, “Task 2”);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sleep();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82588" y="1700263"/>
            <a:ext cx="4374600" cy="230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endParaRPr sz="900"/>
          </a:p>
        </p:txBody>
      </p:sp>
      <p:sp>
        <p:nvSpPr>
          <p:cNvPr id="73" name="Google Shape;73;p15"/>
          <p:cNvSpPr txBox="1"/>
          <p:nvPr/>
        </p:nvSpPr>
        <p:spPr>
          <a:xfrm>
            <a:off x="2384700" y="1047113"/>
            <a:ext cx="4374600" cy="39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>
                <a:solidFill>
                  <a:srgbClr val="FFFFFF"/>
                </a:solidFill>
              </a:rPr>
              <a:t>Race Condition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5617200" y="1997550"/>
            <a:ext cx="2923500" cy="286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FFFF"/>
                </a:solidFill>
              </a:rPr>
              <a:t>global_var increment can take several instruction cycles!</a:t>
            </a:r>
            <a:endParaRPr sz="1500">
              <a:solidFill>
                <a:srgbClr val="FFFFFF"/>
              </a:solidFill>
            </a:endParaRPr>
          </a:p>
          <a:p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global_var: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0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1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2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4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75" name="Google Shape;75;p15"/>
          <p:cNvCxnSpPr/>
          <p:nvPr/>
        </p:nvCxnSpPr>
        <p:spPr>
          <a:xfrm flipH="1">
            <a:off x="3057288" y="2520488"/>
            <a:ext cx="2491050" cy="43290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/>
        </p:nvSpPr>
        <p:spPr>
          <a:xfrm>
            <a:off x="974232" y="11529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81" name="Google Shape;81;p16"/>
          <p:cNvSpPr/>
          <p:nvPr/>
        </p:nvSpPr>
        <p:spPr>
          <a:xfrm>
            <a:off x="6952219" y="115298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82" name="Google Shape;82;p16"/>
          <p:cNvSpPr/>
          <p:nvPr/>
        </p:nvSpPr>
        <p:spPr>
          <a:xfrm>
            <a:off x="4005275" y="1050832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sp>
        <p:nvSpPr>
          <p:cNvPr id="83" name="Google Shape;83;p16"/>
          <p:cNvSpPr txBox="1"/>
          <p:nvPr/>
        </p:nvSpPr>
        <p:spPr>
          <a:xfrm>
            <a:off x="379332" y="16912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84" name="Google Shape;84;p16"/>
          <p:cNvSpPr txBox="1"/>
          <p:nvPr/>
        </p:nvSpPr>
        <p:spPr>
          <a:xfrm>
            <a:off x="379332" y="20144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85" name="Google Shape;85;p16"/>
          <p:cNvSpPr txBox="1"/>
          <p:nvPr/>
        </p:nvSpPr>
        <p:spPr>
          <a:xfrm>
            <a:off x="379332" y="23377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86" name="Google Shape;86;p16"/>
          <p:cNvSpPr txBox="1"/>
          <p:nvPr/>
        </p:nvSpPr>
        <p:spPr>
          <a:xfrm>
            <a:off x="6357319" y="26609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87" name="Google Shape;87;p16"/>
          <p:cNvSpPr txBox="1"/>
          <p:nvPr/>
        </p:nvSpPr>
        <p:spPr>
          <a:xfrm>
            <a:off x="6357319" y="29842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88" name="Google Shape;88;p16"/>
          <p:cNvSpPr txBox="1"/>
          <p:nvPr/>
        </p:nvSpPr>
        <p:spPr>
          <a:xfrm>
            <a:off x="6357319" y="33074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89" name="Google Shape;89;p16"/>
          <p:cNvSpPr txBox="1"/>
          <p:nvPr/>
        </p:nvSpPr>
        <p:spPr>
          <a:xfrm>
            <a:off x="4464732" y="16912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90" name="Google Shape;90;p16"/>
          <p:cNvSpPr txBox="1"/>
          <p:nvPr/>
        </p:nvSpPr>
        <p:spPr>
          <a:xfrm>
            <a:off x="4464732" y="23377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cxnSp>
        <p:nvCxnSpPr>
          <p:cNvPr id="91" name="Google Shape;91;p16"/>
          <p:cNvCxnSpPr>
            <a:endCxn id="83" idx="3"/>
          </p:cNvCxnSpPr>
          <p:nvPr/>
        </p:nvCxnSpPr>
        <p:spPr>
          <a:xfrm flipH="1" flipV="1">
            <a:off x="2786682" y="1852776"/>
            <a:ext cx="1678050" cy="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92;p16"/>
          <p:cNvCxnSpPr>
            <a:stCxn id="85" idx="3"/>
            <a:endCxn id="90" idx="1"/>
          </p:cNvCxnSpPr>
          <p:nvPr/>
        </p:nvCxnSpPr>
        <p:spPr>
          <a:xfrm>
            <a:off x="2786682" y="2499276"/>
            <a:ext cx="16780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Google Shape;93;p16"/>
          <p:cNvSpPr txBox="1"/>
          <p:nvPr/>
        </p:nvSpPr>
        <p:spPr>
          <a:xfrm>
            <a:off x="4464732" y="26609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94" name="Google Shape;94;p16"/>
          <p:cNvSpPr txBox="1"/>
          <p:nvPr/>
        </p:nvSpPr>
        <p:spPr>
          <a:xfrm>
            <a:off x="4464732" y="33074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cxnSp>
        <p:nvCxnSpPr>
          <p:cNvPr id="95" name="Google Shape;95;p16"/>
          <p:cNvCxnSpPr>
            <a:stCxn id="93" idx="3"/>
            <a:endCxn id="86" idx="1"/>
          </p:cNvCxnSpPr>
          <p:nvPr/>
        </p:nvCxnSpPr>
        <p:spPr>
          <a:xfrm>
            <a:off x="4943232" y="28225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6"/>
          <p:cNvCxnSpPr>
            <a:stCxn id="88" idx="1"/>
            <a:endCxn id="94" idx="3"/>
          </p:cNvCxnSpPr>
          <p:nvPr/>
        </p:nvCxnSpPr>
        <p:spPr>
          <a:xfrm flipH="1">
            <a:off x="4943232" y="34690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379332" y="38593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98" name="Google Shape;98;p16"/>
          <p:cNvSpPr txBox="1"/>
          <p:nvPr/>
        </p:nvSpPr>
        <p:spPr>
          <a:xfrm>
            <a:off x="379332" y="513778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99" name="Google Shape;99;p16"/>
          <p:cNvSpPr txBox="1"/>
          <p:nvPr/>
        </p:nvSpPr>
        <p:spPr>
          <a:xfrm>
            <a:off x="379332" y="5446525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100" name="Google Shape;100;p16"/>
          <p:cNvSpPr txBox="1"/>
          <p:nvPr/>
        </p:nvSpPr>
        <p:spPr>
          <a:xfrm>
            <a:off x="6357319" y="41825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101" name="Google Shape;101;p16"/>
          <p:cNvSpPr txBox="1"/>
          <p:nvPr/>
        </p:nvSpPr>
        <p:spPr>
          <a:xfrm>
            <a:off x="6357319" y="45058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102" name="Google Shape;102;p16"/>
          <p:cNvSpPr txBox="1"/>
          <p:nvPr/>
        </p:nvSpPr>
        <p:spPr>
          <a:xfrm>
            <a:off x="6357319" y="48290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103" name="Google Shape;103;p16"/>
          <p:cNvSpPr txBox="1"/>
          <p:nvPr/>
        </p:nvSpPr>
        <p:spPr>
          <a:xfrm>
            <a:off x="4464732" y="38593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cxnSp>
        <p:nvCxnSpPr>
          <p:cNvPr id="104" name="Google Shape;104;p16"/>
          <p:cNvCxnSpPr>
            <a:endCxn id="97" idx="3"/>
          </p:cNvCxnSpPr>
          <p:nvPr/>
        </p:nvCxnSpPr>
        <p:spPr>
          <a:xfrm flipH="1" flipV="1">
            <a:off x="2786682" y="4020876"/>
            <a:ext cx="1678050" cy="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05;p16"/>
          <p:cNvCxnSpPr>
            <a:stCxn id="99" idx="3"/>
            <a:endCxn id="106" idx="1"/>
          </p:cNvCxnSpPr>
          <p:nvPr/>
        </p:nvCxnSpPr>
        <p:spPr>
          <a:xfrm>
            <a:off x="2786682" y="5608101"/>
            <a:ext cx="167803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" name="Google Shape;107;p16"/>
          <p:cNvSpPr txBox="1"/>
          <p:nvPr/>
        </p:nvSpPr>
        <p:spPr>
          <a:xfrm>
            <a:off x="4464732" y="41825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06" name="Google Shape;106;p16"/>
          <p:cNvSpPr txBox="1"/>
          <p:nvPr/>
        </p:nvSpPr>
        <p:spPr>
          <a:xfrm>
            <a:off x="4464719" y="54465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cxnSp>
        <p:nvCxnSpPr>
          <p:cNvPr id="108" name="Google Shape;108;p16"/>
          <p:cNvCxnSpPr>
            <a:stCxn id="107" idx="3"/>
            <a:endCxn id="100" idx="1"/>
          </p:cNvCxnSpPr>
          <p:nvPr/>
        </p:nvCxnSpPr>
        <p:spPr>
          <a:xfrm>
            <a:off x="4943232" y="43441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09;p16"/>
          <p:cNvCxnSpPr>
            <a:stCxn id="102" idx="1"/>
            <a:endCxn id="110" idx="3"/>
          </p:cNvCxnSpPr>
          <p:nvPr/>
        </p:nvCxnSpPr>
        <p:spPr>
          <a:xfrm flipH="1">
            <a:off x="4943232" y="49906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" name="Google Shape;110;p16"/>
          <p:cNvSpPr txBox="1"/>
          <p:nvPr/>
        </p:nvSpPr>
        <p:spPr>
          <a:xfrm>
            <a:off x="4464732" y="48290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cxnSp>
        <p:nvCxnSpPr>
          <p:cNvPr id="111" name="Google Shape;111;p16"/>
          <p:cNvCxnSpPr/>
          <p:nvPr/>
        </p:nvCxnSpPr>
        <p:spPr>
          <a:xfrm>
            <a:off x="379275" y="3750150"/>
            <a:ext cx="8385450" cy="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2" name="Google Shape;112;p16"/>
          <p:cNvSpPr txBox="1"/>
          <p:nvPr/>
        </p:nvSpPr>
        <p:spPr>
          <a:xfrm>
            <a:off x="4891200" y="5446525"/>
            <a:ext cx="8845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0000"/>
                </a:solidFill>
              </a:rPr>
              <a:t>Uh-oh.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>
            <a:spLocks noGrp="1"/>
          </p:cNvSpPr>
          <p:nvPr>
            <p:ph type="title"/>
          </p:nvPr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sz="2400"/>
              <a:t>Protecting Shared Resources and Synchronizing Threads</a:t>
            </a:r>
            <a:endParaRPr sz="2400"/>
          </a:p>
        </p:txBody>
      </p:sp>
      <p:sp>
        <p:nvSpPr>
          <p:cNvPr id="118" name="Google Shape;118;p17"/>
          <p:cNvSpPr txBox="1">
            <a:spLocks noGrp="1"/>
          </p:cNvSpPr>
          <p:nvPr>
            <p:ph type="body" idx="1"/>
          </p:nvPr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/>
              <a:t>Queue: pass messages (data) between threads</a:t>
            </a:r>
            <a:endParaRPr/>
          </a:p>
          <a:p>
            <a:r>
              <a:rPr lang="en"/>
              <a:t>Lock: allows only one thread to enter the “locked” section of code</a:t>
            </a:r>
            <a:endParaRPr/>
          </a:p>
          <a:p>
            <a:r>
              <a:rPr lang="en"/>
              <a:t>Mutex (MUTual EXclusion): Like a lock, but system wide (shared by multiple processes)</a:t>
            </a:r>
            <a:endParaRPr/>
          </a:p>
          <a:p>
            <a:r>
              <a:rPr lang="en"/>
              <a:t>Semaphore: allows multiple threads to enter a critical section of code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5725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813" y="2943038"/>
            <a:ext cx="1551375" cy="190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2038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/>
          <p:nvPr/>
        </p:nvSpPr>
        <p:spPr>
          <a:xfrm>
            <a:off x="4776232" y="974632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sp>
        <p:nvSpPr>
          <p:cNvPr id="131" name="Google Shape;131;p19"/>
          <p:cNvSpPr/>
          <p:nvPr/>
        </p:nvSpPr>
        <p:spPr>
          <a:xfrm>
            <a:off x="2970369" y="974632"/>
            <a:ext cx="1397400" cy="569550"/>
          </a:xfrm>
          <a:prstGeom prst="ellipse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Mutex</a:t>
            </a:r>
            <a:endParaRPr sz="1500"/>
          </a:p>
        </p:txBody>
      </p:sp>
      <p:sp>
        <p:nvSpPr>
          <p:cNvPr id="132" name="Google Shape;132;p19"/>
          <p:cNvSpPr/>
          <p:nvPr/>
        </p:nvSpPr>
        <p:spPr>
          <a:xfrm>
            <a:off x="974238" y="1074666"/>
            <a:ext cx="1217550" cy="320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33" name="Google Shape;133;p19"/>
          <p:cNvSpPr/>
          <p:nvPr/>
        </p:nvSpPr>
        <p:spPr>
          <a:xfrm>
            <a:off x="6952225" y="1074666"/>
            <a:ext cx="1217550" cy="320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34" name="Google Shape;134;p19"/>
          <p:cNvSpPr txBox="1"/>
          <p:nvPr/>
        </p:nvSpPr>
        <p:spPr>
          <a:xfrm>
            <a:off x="379332" y="183516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35" name="Google Shape;135;p19"/>
          <p:cNvSpPr txBox="1"/>
          <p:nvPr/>
        </p:nvSpPr>
        <p:spPr>
          <a:xfrm>
            <a:off x="379332" y="215841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136" name="Google Shape;136;p19"/>
          <p:cNvSpPr txBox="1"/>
          <p:nvPr/>
        </p:nvSpPr>
        <p:spPr>
          <a:xfrm>
            <a:off x="5235682" y="1673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7" name="Google Shape;137;p19"/>
          <p:cNvSpPr txBox="1"/>
          <p:nvPr/>
        </p:nvSpPr>
        <p:spPr>
          <a:xfrm>
            <a:off x="5235682" y="23198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8" name="Google Shape;138;p19"/>
          <p:cNvSpPr txBox="1"/>
          <p:nvPr/>
        </p:nvSpPr>
        <p:spPr>
          <a:xfrm>
            <a:off x="5235682" y="2643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9" name="Google Shape;139;p19"/>
          <p:cNvSpPr txBox="1"/>
          <p:nvPr/>
        </p:nvSpPr>
        <p:spPr>
          <a:xfrm>
            <a:off x="5235682" y="32895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0" name="Google Shape;140;p19"/>
          <p:cNvSpPr txBox="1"/>
          <p:nvPr/>
        </p:nvSpPr>
        <p:spPr>
          <a:xfrm>
            <a:off x="3429819" y="1673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41" name="Google Shape;141;p19"/>
          <p:cNvSpPr txBox="1"/>
          <p:nvPr/>
        </p:nvSpPr>
        <p:spPr>
          <a:xfrm>
            <a:off x="3429819" y="19965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2" name="Google Shape;142;p19"/>
          <p:cNvSpPr txBox="1"/>
          <p:nvPr/>
        </p:nvSpPr>
        <p:spPr>
          <a:xfrm>
            <a:off x="3429819" y="23198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3" name="Google Shape;143;p19"/>
          <p:cNvSpPr txBox="1"/>
          <p:nvPr/>
        </p:nvSpPr>
        <p:spPr>
          <a:xfrm>
            <a:off x="3429819" y="2643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4" name="Google Shape;144;p19"/>
          <p:cNvSpPr txBox="1"/>
          <p:nvPr/>
        </p:nvSpPr>
        <p:spPr>
          <a:xfrm>
            <a:off x="5235682" y="19965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5" name="Google Shape;145;p19"/>
          <p:cNvSpPr txBox="1"/>
          <p:nvPr/>
        </p:nvSpPr>
        <p:spPr>
          <a:xfrm>
            <a:off x="3429819" y="2966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6" name="Google Shape;146;p19"/>
          <p:cNvSpPr txBox="1"/>
          <p:nvPr/>
        </p:nvSpPr>
        <p:spPr>
          <a:xfrm>
            <a:off x="3429819" y="32895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7" name="Google Shape;147;p19"/>
          <p:cNvSpPr txBox="1"/>
          <p:nvPr/>
        </p:nvSpPr>
        <p:spPr>
          <a:xfrm>
            <a:off x="3429819" y="36128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8" name="Google Shape;148;p19"/>
          <p:cNvSpPr txBox="1"/>
          <p:nvPr/>
        </p:nvSpPr>
        <p:spPr>
          <a:xfrm>
            <a:off x="3429819" y="3936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49" name="Google Shape;149;p19"/>
          <p:cNvSpPr txBox="1"/>
          <p:nvPr/>
        </p:nvSpPr>
        <p:spPr>
          <a:xfrm>
            <a:off x="379332" y="312346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Increment value</a:t>
            </a:r>
            <a:endParaRPr sz="1500"/>
          </a:p>
        </p:txBody>
      </p:sp>
      <p:sp>
        <p:nvSpPr>
          <p:cNvPr id="150" name="Google Shape;150;p19"/>
          <p:cNvSpPr txBox="1"/>
          <p:nvPr/>
        </p:nvSpPr>
        <p:spPr>
          <a:xfrm>
            <a:off x="379332" y="344671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Write value to memory</a:t>
            </a:r>
            <a:endParaRPr sz="1500"/>
          </a:p>
        </p:txBody>
      </p:sp>
      <p:cxnSp>
        <p:nvCxnSpPr>
          <p:cNvPr id="151" name="Google Shape;151;p19"/>
          <p:cNvCxnSpPr/>
          <p:nvPr/>
        </p:nvCxnSpPr>
        <p:spPr>
          <a:xfrm>
            <a:off x="2703375" y="1996788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19"/>
          <p:cNvCxnSpPr/>
          <p:nvPr/>
        </p:nvCxnSpPr>
        <p:spPr>
          <a:xfrm>
            <a:off x="2703375" y="2301588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19"/>
          <p:cNvCxnSpPr/>
          <p:nvPr/>
        </p:nvCxnSpPr>
        <p:spPr>
          <a:xfrm>
            <a:off x="2703375" y="26525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19"/>
          <p:cNvCxnSpPr/>
          <p:nvPr/>
        </p:nvCxnSpPr>
        <p:spPr>
          <a:xfrm>
            <a:off x="2703375" y="29573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" name="Google Shape;155;p19"/>
          <p:cNvCxnSpPr/>
          <p:nvPr/>
        </p:nvCxnSpPr>
        <p:spPr>
          <a:xfrm>
            <a:off x="2703375" y="32988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" name="Google Shape;156;p19"/>
          <p:cNvCxnSpPr/>
          <p:nvPr/>
        </p:nvCxnSpPr>
        <p:spPr>
          <a:xfrm>
            <a:off x="2703375" y="36036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19"/>
          <p:cNvCxnSpPr/>
          <p:nvPr/>
        </p:nvCxnSpPr>
        <p:spPr>
          <a:xfrm>
            <a:off x="2703375" y="39272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" name="Google Shape;158;p19"/>
          <p:cNvCxnSpPr/>
          <p:nvPr/>
        </p:nvCxnSpPr>
        <p:spPr>
          <a:xfrm>
            <a:off x="2703375" y="42320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" name="Google Shape;159;p19"/>
          <p:cNvSpPr txBox="1"/>
          <p:nvPr/>
        </p:nvSpPr>
        <p:spPr>
          <a:xfrm>
            <a:off x="6357319" y="2476944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60" name="Google Shape;160;p19"/>
          <p:cNvSpPr txBox="1"/>
          <p:nvPr/>
        </p:nvSpPr>
        <p:spPr>
          <a:xfrm>
            <a:off x="6357319" y="2800194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Wait/yield</a:t>
            </a:r>
            <a:endParaRPr sz="1500"/>
          </a:p>
        </p:txBody>
      </p:sp>
      <p:sp>
        <p:nvSpPr>
          <p:cNvPr id="161" name="Google Shape;161;p19"/>
          <p:cNvSpPr txBox="1"/>
          <p:nvPr/>
        </p:nvSpPr>
        <p:spPr>
          <a:xfrm>
            <a:off x="5235682" y="2966432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2" name="Google Shape;162;p19"/>
          <p:cNvSpPr txBox="1"/>
          <p:nvPr/>
        </p:nvSpPr>
        <p:spPr>
          <a:xfrm>
            <a:off x="5235682" y="3599257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3" name="Google Shape;163;p19"/>
          <p:cNvSpPr txBox="1"/>
          <p:nvPr/>
        </p:nvSpPr>
        <p:spPr>
          <a:xfrm>
            <a:off x="5235682" y="3908394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4" name="Google Shape;164;p19"/>
          <p:cNvSpPr txBox="1"/>
          <p:nvPr/>
        </p:nvSpPr>
        <p:spPr>
          <a:xfrm>
            <a:off x="5235682" y="4222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5" name="Google Shape;165;p19"/>
          <p:cNvSpPr txBox="1"/>
          <p:nvPr/>
        </p:nvSpPr>
        <p:spPr>
          <a:xfrm>
            <a:off x="5235682" y="48694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6" name="Google Shape;166;p19"/>
          <p:cNvSpPr txBox="1"/>
          <p:nvPr/>
        </p:nvSpPr>
        <p:spPr>
          <a:xfrm>
            <a:off x="3429819" y="4222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7" name="Google Shape;167;p19"/>
          <p:cNvSpPr txBox="1"/>
          <p:nvPr/>
        </p:nvSpPr>
        <p:spPr>
          <a:xfrm>
            <a:off x="3429819" y="45462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8" name="Google Shape;168;p19"/>
          <p:cNvSpPr txBox="1"/>
          <p:nvPr/>
        </p:nvSpPr>
        <p:spPr>
          <a:xfrm>
            <a:off x="3429819" y="48694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9" name="Google Shape;169;p19"/>
          <p:cNvSpPr txBox="1"/>
          <p:nvPr/>
        </p:nvSpPr>
        <p:spPr>
          <a:xfrm>
            <a:off x="3429819" y="51927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70" name="Google Shape;170;p19"/>
          <p:cNvSpPr txBox="1"/>
          <p:nvPr/>
        </p:nvSpPr>
        <p:spPr>
          <a:xfrm>
            <a:off x="3429819" y="5515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cxnSp>
        <p:nvCxnSpPr>
          <p:cNvPr id="171" name="Google Shape;171;p19"/>
          <p:cNvCxnSpPr/>
          <p:nvPr/>
        </p:nvCxnSpPr>
        <p:spPr>
          <a:xfrm>
            <a:off x="2703375" y="45372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" name="Google Shape;172;p19"/>
          <p:cNvCxnSpPr/>
          <p:nvPr/>
        </p:nvCxnSpPr>
        <p:spPr>
          <a:xfrm>
            <a:off x="2703375" y="48787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" name="Google Shape;173;p19"/>
          <p:cNvCxnSpPr/>
          <p:nvPr/>
        </p:nvCxnSpPr>
        <p:spPr>
          <a:xfrm>
            <a:off x="2703375" y="51835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9"/>
          <p:cNvCxnSpPr/>
          <p:nvPr/>
        </p:nvCxnSpPr>
        <p:spPr>
          <a:xfrm>
            <a:off x="2703375" y="55071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19"/>
          <p:cNvSpPr txBox="1"/>
          <p:nvPr/>
        </p:nvSpPr>
        <p:spPr>
          <a:xfrm>
            <a:off x="5235682" y="4546332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76" name="Google Shape;176;p19"/>
          <p:cNvSpPr txBox="1"/>
          <p:nvPr/>
        </p:nvSpPr>
        <p:spPr>
          <a:xfrm>
            <a:off x="5235682" y="5179157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77" name="Google Shape;177;p19"/>
          <p:cNvSpPr txBox="1"/>
          <p:nvPr/>
        </p:nvSpPr>
        <p:spPr>
          <a:xfrm>
            <a:off x="5235682" y="5488294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78" name="Google Shape;178;p19"/>
          <p:cNvSpPr txBox="1"/>
          <p:nvPr/>
        </p:nvSpPr>
        <p:spPr>
          <a:xfrm>
            <a:off x="379332" y="3742669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Give mutex</a:t>
            </a:r>
            <a:endParaRPr sz="1500"/>
          </a:p>
        </p:txBody>
      </p:sp>
      <p:sp>
        <p:nvSpPr>
          <p:cNvPr id="179" name="Google Shape;179;p19"/>
          <p:cNvSpPr txBox="1"/>
          <p:nvPr/>
        </p:nvSpPr>
        <p:spPr>
          <a:xfrm>
            <a:off x="6357319" y="4073232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80" name="Google Shape;180;p19"/>
          <p:cNvSpPr txBox="1"/>
          <p:nvPr/>
        </p:nvSpPr>
        <p:spPr>
          <a:xfrm>
            <a:off x="6357319" y="4396482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Get value from memory</a:t>
            </a:r>
            <a:endParaRPr sz="1500"/>
          </a:p>
        </p:txBody>
      </p:sp>
      <p:sp>
        <p:nvSpPr>
          <p:cNvPr id="181" name="Google Shape;181;p19"/>
          <p:cNvSpPr txBox="1"/>
          <p:nvPr/>
        </p:nvSpPr>
        <p:spPr>
          <a:xfrm>
            <a:off x="6357319" y="472423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Increment value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6357319" y="505198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Write value to memory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6357319" y="537523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Give mutex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6768-7081-477E-248D-0F42BF340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41692-9087-64B3-8A7E-2C64AFF34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4409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5725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813" y="2943038"/>
            <a:ext cx="1551375" cy="190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2038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7813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2907" y="4082475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06750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98513" y="3723488"/>
            <a:ext cx="1001187" cy="5006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/>
          <p:nvPr/>
        </p:nvSpPr>
        <p:spPr>
          <a:xfrm>
            <a:off x="307144" y="2597500"/>
            <a:ext cx="3092700" cy="3092700"/>
          </a:xfrm>
          <a:prstGeom prst="mathMultiply">
            <a:avLst>
              <a:gd name="adj1" fmla="val 13779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/>
          <p:nvPr/>
        </p:nvSpPr>
        <p:spPr>
          <a:xfrm>
            <a:off x="2636025" y="3541494"/>
            <a:ext cx="3871950" cy="970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Critical section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(manipulate shared resource)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Idea</a:t>
            </a:r>
            <a:endParaRPr sz="2400"/>
          </a:p>
        </p:txBody>
      </p:sp>
      <p:sp>
        <p:nvSpPr>
          <p:cNvPr id="68" name="Google Shape;68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  <p:sp>
        <p:nvSpPr>
          <p:cNvPr id="69" name="Google Shape;69;p14"/>
          <p:cNvSpPr/>
          <p:nvPr/>
        </p:nvSpPr>
        <p:spPr>
          <a:xfrm>
            <a:off x="1787994" y="1736250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70" name="Google Shape;70;p14"/>
          <p:cNvSpPr/>
          <p:nvPr/>
        </p:nvSpPr>
        <p:spPr>
          <a:xfrm>
            <a:off x="3238144" y="1736250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71" name="Google Shape;71;p14"/>
          <p:cNvSpPr/>
          <p:nvPr/>
        </p:nvSpPr>
        <p:spPr>
          <a:xfrm>
            <a:off x="4688294" y="1736250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72" name="Google Shape;72;p14"/>
          <p:cNvSpPr/>
          <p:nvPr/>
        </p:nvSpPr>
        <p:spPr>
          <a:xfrm>
            <a:off x="6138444" y="1736250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73" name="Google Shape;73;p14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74" name="Google Shape;74;p14"/>
          <p:cNvCxnSpPr>
            <a:stCxn id="69" idx="2"/>
          </p:cNvCxnSpPr>
          <p:nvPr/>
        </p:nvCxnSpPr>
        <p:spPr>
          <a:xfrm>
            <a:off x="2396769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" name="Google Shape;75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76" name="Google Shape;76;p14"/>
          <p:cNvSpPr/>
          <p:nvPr/>
        </p:nvSpPr>
        <p:spPr>
          <a:xfrm>
            <a:off x="2973825" y="275317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77" name="Google Shape;77;p14"/>
          <p:cNvCxnSpPr/>
          <p:nvPr/>
        </p:nvCxnSpPr>
        <p:spPr>
          <a:xfrm>
            <a:off x="32697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" name="Google Shape;78;p14"/>
          <p:cNvCxnSpPr>
            <a:stCxn id="70" idx="2"/>
          </p:cNvCxnSpPr>
          <p:nvPr/>
        </p:nvCxnSpPr>
        <p:spPr>
          <a:xfrm>
            <a:off x="384691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384692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0" name="Google Shape;80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81" name="Google Shape;81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82" name="Google Shape;82;p14"/>
          <p:cNvCxnSpPr/>
          <p:nvPr/>
        </p:nvCxnSpPr>
        <p:spPr>
          <a:xfrm>
            <a:off x="529706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83;p14"/>
          <p:cNvCxnSpPr/>
          <p:nvPr/>
        </p:nvCxnSpPr>
        <p:spPr>
          <a:xfrm>
            <a:off x="52970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84;p14"/>
          <p:cNvCxnSpPr/>
          <p:nvPr/>
        </p:nvCxnSpPr>
        <p:spPr>
          <a:xfrm flipH="1">
            <a:off x="5863875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" name="Google Shape;85;p14"/>
          <p:cNvCxnSpPr/>
          <p:nvPr/>
        </p:nvCxnSpPr>
        <p:spPr>
          <a:xfrm>
            <a:off x="5863869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" name="Google Shape;86;p14"/>
          <p:cNvSpPr/>
          <p:nvPr/>
        </p:nvSpPr>
        <p:spPr>
          <a:xfrm>
            <a:off x="2973825" y="49352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87" name="Google Shape;87;p14"/>
          <p:cNvCxnSpPr/>
          <p:nvPr/>
        </p:nvCxnSpPr>
        <p:spPr>
          <a:xfrm>
            <a:off x="32697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" name="Google Shape;88;p14"/>
          <p:cNvCxnSpPr/>
          <p:nvPr/>
        </p:nvCxnSpPr>
        <p:spPr>
          <a:xfrm>
            <a:off x="32697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89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90" name="Google Shape;90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384692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52970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5863869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94;p14"/>
          <p:cNvCxnSpPr/>
          <p:nvPr/>
        </p:nvCxnSpPr>
        <p:spPr>
          <a:xfrm>
            <a:off x="384692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95;p14"/>
          <p:cNvCxnSpPr/>
          <p:nvPr/>
        </p:nvCxnSpPr>
        <p:spPr>
          <a:xfrm>
            <a:off x="52970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4"/>
          <p:cNvCxnSpPr/>
          <p:nvPr/>
        </p:nvCxnSpPr>
        <p:spPr>
          <a:xfrm>
            <a:off x="5863869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/>
          <p:nvPr/>
        </p:nvSpPr>
        <p:spPr>
          <a:xfrm>
            <a:off x="3148232" y="1548207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03" name="Google Shape;103;p15"/>
          <p:cNvSpPr/>
          <p:nvPr/>
        </p:nvSpPr>
        <p:spPr>
          <a:xfrm>
            <a:off x="4778219" y="1548207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04" name="Google Shape;104;p15"/>
          <p:cNvSpPr/>
          <p:nvPr/>
        </p:nvSpPr>
        <p:spPr>
          <a:xfrm>
            <a:off x="3148238" y="53037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05" name="Google Shape;105;p15"/>
          <p:cNvSpPr/>
          <p:nvPr/>
        </p:nvSpPr>
        <p:spPr>
          <a:xfrm>
            <a:off x="4778225" y="5303757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106" name="Google Shape;106;p15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7" name="Google Shape;107;p15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8" name="Google Shape;108;p15"/>
          <p:cNvSpPr/>
          <p:nvPr/>
        </p:nvSpPr>
        <p:spPr>
          <a:xfrm rot="-5400000">
            <a:off x="39762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9" name="Google Shape;109;p15"/>
          <p:cNvSpPr/>
          <p:nvPr/>
        </p:nvSpPr>
        <p:spPr>
          <a:xfrm rot="-5400000">
            <a:off x="36530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0" name="Google Shape;110;p15"/>
          <p:cNvSpPr/>
          <p:nvPr/>
        </p:nvSpPr>
        <p:spPr>
          <a:xfrm rot="-5400000">
            <a:off x="3329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1" name="Google Shape;111;p15"/>
          <p:cNvSpPr txBox="1"/>
          <p:nvPr/>
        </p:nvSpPr>
        <p:spPr>
          <a:xfrm>
            <a:off x="1674000" y="3355338"/>
            <a:ext cx="2089800" cy="50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Shared resource</a:t>
            </a:r>
            <a:endParaRPr sz="1500"/>
          </a:p>
          <a:p>
            <a:pPr algn="ctr"/>
            <a:r>
              <a:rPr lang="en" sz="1500"/>
              <a:t>(e.g. buffer, linked list)</a:t>
            </a:r>
            <a:endParaRPr sz="1500"/>
          </a:p>
        </p:txBody>
      </p:sp>
      <p:sp>
        <p:nvSpPr>
          <p:cNvPr id="112" name="Google Shape;112;p15"/>
          <p:cNvSpPr/>
          <p:nvPr/>
        </p:nvSpPr>
        <p:spPr>
          <a:xfrm>
            <a:off x="2973825" y="2280544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2973825" y="45714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In Practice</a:t>
            </a:r>
            <a:endParaRPr sz="2400"/>
          </a:p>
        </p:txBody>
      </p:sp>
      <p:sp>
        <p:nvSpPr>
          <p:cNvPr id="115" name="Google Shape;115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sp>
        <p:nvSpPr>
          <p:cNvPr id="116" name="Google Shape;116;p15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117" name="Google Shape;117;p15"/>
          <p:cNvCxnSpPr>
            <a:stCxn id="102" idx="2"/>
          </p:cNvCxnSpPr>
          <p:nvPr/>
        </p:nvCxnSpPr>
        <p:spPr>
          <a:xfrm>
            <a:off x="3757007" y="1913457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" name="Google Shape;118;p15"/>
          <p:cNvCxnSpPr>
            <a:stCxn id="112" idx="2"/>
            <a:endCxn id="108" idx="3"/>
          </p:cNvCxnSpPr>
          <p:nvPr/>
        </p:nvCxnSpPr>
        <p:spPr>
          <a:xfrm>
            <a:off x="4572000" y="2645794"/>
            <a:ext cx="0" cy="36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15"/>
          <p:cNvCxnSpPr/>
          <p:nvPr/>
        </p:nvCxnSpPr>
        <p:spPr>
          <a:xfrm flipH="1">
            <a:off x="5232969" y="1913457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" name="Google Shape;120;p15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Value</a:t>
            </a:r>
            <a:endParaRPr sz="1500"/>
          </a:p>
        </p:txBody>
      </p:sp>
      <p:sp>
        <p:nvSpPr>
          <p:cNvPr id="121" name="Google Shape;121;p15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Value</a:t>
            </a:r>
            <a:endParaRPr sz="1500"/>
          </a:p>
        </p:txBody>
      </p:sp>
      <p:sp>
        <p:nvSpPr>
          <p:cNvPr id="122" name="Google Shape;122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23" name="Google Shape;123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124" name="Google Shape;124;p15"/>
          <p:cNvSpPr txBox="1"/>
          <p:nvPr/>
        </p:nvSpPr>
        <p:spPr>
          <a:xfrm>
            <a:off x="6626275" y="1499988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Producers</a:t>
            </a:r>
            <a:endParaRPr sz="1500"/>
          </a:p>
        </p:txBody>
      </p:sp>
      <p:sp>
        <p:nvSpPr>
          <p:cNvPr id="125" name="Google Shape;125;p15"/>
          <p:cNvSpPr txBox="1"/>
          <p:nvPr/>
        </p:nvSpPr>
        <p:spPr>
          <a:xfrm>
            <a:off x="6572275" y="5255538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Consumers</a:t>
            </a:r>
            <a:endParaRPr sz="1500"/>
          </a:p>
        </p:txBody>
      </p:sp>
      <p:cxnSp>
        <p:nvCxnSpPr>
          <p:cNvPr id="126" name="Google Shape;126;p15"/>
          <p:cNvCxnSpPr/>
          <p:nvPr/>
        </p:nvCxnSpPr>
        <p:spPr>
          <a:xfrm rot="10800000" flipH="1">
            <a:off x="3757007" y="4934588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7" name="Google Shape;127;p15"/>
          <p:cNvCxnSpPr/>
          <p:nvPr/>
        </p:nvCxnSpPr>
        <p:spPr>
          <a:xfrm rot="10800000">
            <a:off x="4572000" y="4204350"/>
            <a:ext cx="0" cy="36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28;p15"/>
          <p:cNvCxnSpPr/>
          <p:nvPr/>
        </p:nvCxnSpPr>
        <p:spPr>
          <a:xfrm rot="10800000">
            <a:off x="5232969" y="4934588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/>
          <p:nvPr/>
        </p:nvSpPr>
        <p:spPr>
          <a:xfrm>
            <a:off x="795594" y="2134800"/>
            <a:ext cx="2997600" cy="2588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1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Use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2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Use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350807" y="2134800"/>
            <a:ext cx="2997600" cy="2588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1 (producer)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Add something to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2 (consumer)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Remove something from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95600" y="1765350"/>
            <a:ext cx="2997600" cy="36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/>
              <a:t>Mutex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350813" y="1765350"/>
            <a:ext cx="2997600" cy="36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/>
              <a:t>Semaphore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 rot="-899958">
            <a:off x="55004" y="1441832"/>
            <a:ext cx="2178719" cy="1265408"/>
          </a:xfrm>
          <a:prstGeom prst="irregularSeal1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Ownership!</a:t>
            </a:r>
            <a:endParaRPr sz="1500"/>
          </a:p>
        </p:txBody>
      </p:sp>
      <p:sp>
        <p:nvSpPr>
          <p:cNvPr id="138" name="Google Shape;138;p16"/>
          <p:cNvSpPr/>
          <p:nvPr/>
        </p:nvSpPr>
        <p:spPr>
          <a:xfrm rot="1799989">
            <a:off x="2369901" y="1214934"/>
            <a:ext cx="2539418" cy="1345071"/>
          </a:xfrm>
          <a:prstGeom prst="irregularSeal2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/>
              <a:t>Priority Inheritance!</a:t>
            </a:r>
            <a:endParaRPr sz="1500"/>
          </a:p>
        </p:txBody>
      </p:sp>
      <p:sp>
        <p:nvSpPr>
          <p:cNvPr id="139" name="Google Shape;139;p16"/>
          <p:cNvSpPr/>
          <p:nvPr/>
        </p:nvSpPr>
        <p:spPr>
          <a:xfrm rot="900041">
            <a:off x="7405064" y="2923897"/>
            <a:ext cx="1602492" cy="1265408"/>
          </a:xfrm>
          <a:prstGeom prst="irregularSeal1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Good for ISR!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" name="Google Shape;144;p17"/>
          <p:cNvGraphicFramePr/>
          <p:nvPr/>
        </p:nvGraphicFramePr>
        <p:xfrm>
          <a:off x="1828150" y="2402820"/>
          <a:ext cx="1500000" cy="15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4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b="1"/>
                        <a:t>FreeRTOS</a:t>
                      </a:r>
                      <a:endParaRPr sz="1500" b="1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b="1"/>
                        <a:t>POSIX</a:t>
                      </a:r>
                      <a:endParaRPr sz="1500" b="1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xSemaphoreTake()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sem_wait()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xSemaphoreGive()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sem_post()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uxSemaphoreGetCount()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sem_getvalue()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8"/>
          <p:cNvSpPr/>
          <p:nvPr/>
        </p:nvSpPr>
        <p:spPr>
          <a:xfrm>
            <a:off x="12314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0</a:t>
            </a:r>
            <a:endParaRPr sz="1500"/>
          </a:p>
        </p:txBody>
      </p:sp>
      <p:sp>
        <p:nvSpPr>
          <p:cNvPr id="150" name="Google Shape;150;p18"/>
          <p:cNvSpPr/>
          <p:nvPr/>
        </p:nvSpPr>
        <p:spPr>
          <a:xfrm>
            <a:off x="25973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51" name="Google Shape;151;p18"/>
          <p:cNvSpPr/>
          <p:nvPr/>
        </p:nvSpPr>
        <p:spPr>
          <a:xfrm>
            <a:off x="3148238" y="47535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52" name="Google Shape;152;p18"/>
          <p:cNvSpPr/>
          <p:nvPr/>
        </p:nvSpPr>
        <p:spPr>
          <a:xfrm>
            <a:off x="4778225" y="47535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53" name="Google Shape;153;p18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4" name="Google Shape;154;p18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5" name="Google Shape;155;p18"/>
          <p:cNvSpPr/>
          <p:nvPr/>
        </p:nvSpPr>
        <p:spPr>
          <a:xfrm rot="-5400000">
            <a:off x="36530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6" name="Google Shape;156;p18"/>
          <p:cNvSpPr/>
          <p:nvPr/>
        </p:nvSpPr>
        <p:spPr>
          <a:xfrm rot="-5400000">
            <a:off x="3329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7" name="Google Shape;157;p18"/>
          <p:cNvSpPr txBox="1"/>
          <p:nvPr/>
        </p:nvSpPr>
        <p:spPr>
          <a:xfrm>
            <a:off x="1674000" y="3355338"/>
            <a:ext cx="2089800" cy="50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Shared resource</a:t>
            </a:r>
            <a:endParaRPr sz="1500"/>
          </a:p>
          <a:p>
            <a:pPr algn="ctr"/>
            <a:r>
              <a:rPr lang="en" sz="1500"/>
              <a:t>(circular buffer)</a:t>
            </a:r>
            <a:endParaRPr sz="1500"/>
          </a:p>
        </p:txBody>
      </p:sp>
      <p:sp>
        <p:nvSpPr>
          <p:cNvPr id="158" name="Google Shape;158;p18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9" name="Google Shape;159;p18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60" name="Google Shape;160;p18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Challenge</a:t>
            </a:r>
            <a:endParaRPr sz="2400"/>
          </a:p>
        </p:txBody>
      </p:sp>
      <p:sp>
        <p:nvSpPr>
          <p:cNvPr id="161" name="Google Shape;161;p18"/>
          <p:cNvSpPr/>
          <p:nvPr/>
        </p:nvSpPr>
        <p:spPr>
          <a:xfrm>
            <a:off x="39632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62" name="Google Shape;162;p18"/>
          <p:cNvSpPr/>
          <p:nvPr/>
        </p:nvSpPr>
        <p:spPr>
          <a:xfrm>
            <a:off x="53291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sp>
        <p:nvSpPr>
          <p:cNvPr id="163" name="Google Shape;163;p18"/>
          <p:cNvSpPr/>
          <p:nvPr/>
        </p:nvSpPr>
        <p:spPr>
          <a:xfrm>
            <a:off x="66950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4</a:t>
            </a:r>
            <a:endParaRPr sz="1500"/>
          </a:p>
        </p:txBody>
      </p:sp>
      <p:cxnSp>
        <p:nvCxnSpPr>
          <p:cNvPr id="164" name="Google Shape;164;p18"/>
          <p:cNvCxnSpPr>
            <a:stCxn id="149" idx="2"/>
            <a:endCxn id="165" idx="3"/>
          </p:cNvCxnSpPr>
          <p:nvPr/>
        </p:nvCxnSpPr>
        <p:spPr>
          <a:xfrm>
            <a:off x="1840194" y="2463632"/>
            <a:ext cx="27318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8"/>
          <p:cNvSpPr/>
          <p:nvPr/>
        </p:nvSpPr>
        <p:spPr>
          <a:xfrm rot="-5400000">
            <a:off x="39762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166" name="Google Shape;166;p18"/>
          <p:cNvCxnSpPr>
            <a:stCxn id="150" idx="2"/>
            <a:endCxn id="165" idx="3"/>
          </p:cNvCxnSpPr>
          <p:nvPr/>
        </p:nvCxnSpPr>
        <p:spPr>
          <a:xfrm>
            <a:off x="3206094" y="2463632"/>
            <a:ext cx="13659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7" name="Google Shape;167;p18"/>
          <p:cNvCxnSpPr>
            <a:stCxn id="161" idx="2"/>
            <a:endCxn id="165" idx="3"/>
          </p:cNvCxnSpPr>
          <p:nvPr/>
        </p:nvCxnSpPr>
        <p:spPr>
          <a:xfrm>
            <a:off x="4571994" y="2463632"/>
            <a:ext cx="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8" name="Google Shape;168;p18"/>
          <p:cNvCxnSpPr>
            <a:stCxn id="162" idx="2"/>
            <a:endCxn id="165" idx="3"/>
          </p:cNvCxnSpPr>
          <p:nvPr/>
        </p:nvCxnSpPr>
        <p:spPr>
          <a:xfrm flipH="1">
            <a:off x="4571994" y="2463632"/>
            <a:ext cx="13659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9" name="Google Shape;169;p18"/>
          <p:cNvCxnSpPr>
            <a:stCxn id="163" idx="2"/>
            <a:endCxn id="165" idx="3"/>
          </p:cNvCxnSpPr>
          <p:nvPr/>
        </p:nvCxnSpPr>
        <p:spPr>
          <a:xfrm flipH="1">
            <a:off x="4571994" y="2463632"/>
            <a:ext cx="27318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0" name="Google Shape;170;p18"/>
          <p:cNvCxnSpPr>
            <a:stCxn id="165" idx="1"/>
            <a:endCxn id="151" idx="0"/>
          </p:cNvCxnSpPr>
          <p:nvPr/>
        </p:nvCxnSpPr>
        <p:spPr>
          <a:xfrm flipH="1">
            <a:off x="3757050" y="4204338"/>
            <a:ext cx="81495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1" name="Google Shape;171;p18"/>
          <p:cNvCxnSpPr>
            <a:stCxn id="165" idx="1"/>
            <a:endCxn id="152" idx="0"/>
          </p:cNvCxnSpPr>
          <p:nvPr/>
        </p:nvCxnSpPr>
        <p:spPr>
          <a:xfrm>
            <a:off x="4572000" y="4204338"/>
            <a:ext cx="81495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/>
          <p:cNvSpPr/>
          <p:nvPr/>
        </p:nvSpPr>
        <p:spPr>
          <a:xfrm>
            <a:off x="2636025" y="3541494"/>
            <a:ext cx="3871950" cy="970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Critical section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(manipulate shared resource)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Idea</a:t>
            </a:r>
            <a:endParaRPr sz="2400"/>
          </a:p>
        </p:txBody>
      </p:sp>
      <p:sp>
        <p:nvSpPr>
          <p:cNvPr id="178" name="Google Shape;178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  <p:sp>
        <p:nvSpPr>
          <p:cNvPr id="179" name="Google Shape;179;p19"/>
          <p:cNvSpPr/>
          <p:nvPr/>
        </p:nvSpPr>
        <p:spPr>
          <a:xfrm>
            <a:off x="1787994" y="1736250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80" name="Google Shape;180;p19"/>
          <p:cNvSpPr/>
          <p:nvPr/>
        </p:nvSpPr>
        <p:spPr>
          <a:xfrm>
            <a:off x="3238144" y="1736250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81" name="Google Shape;181;p19"/>
          <p:cNvSpPr/>
          <p:nvPr/>
        </p:nvSpPr>
        <p:spPr>
          <a:xfrm>
            <a:off x="4688294" y="1736250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82" name="Google Shape;182;p19"/>
          <p:cNvSpPr/>
          <p:nvPr/>
        </p:nvSpPr>
        <p:spPr>
          <a:xfrm>
            <a:off x="6138444" y="1736250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183" name="Google Shape;183;p19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184" name="Google Shape;184;p19"/>
          <p:cNvCxnSpPr>
            <a:stCxn id="179" idx="2"/>
          </p:cNvCxnSpPr>
          <p:nvPr/>
        </p:nvCxnSpPr>
        <p:spPr>
          <a:xfrm>
            <a:off x="2396769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5" name="Google Shape;185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186" name="Google Shape;186;p19"/>
          <p:cNvSpPr/>
          <p:nvPr/>
        </p:nvSpPr>
        <p:spPr>
          <a:xfrm>
            <a:off x="2973825" y="275317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87" name="Google Shape;187;p19"/>
          <p:cNvCxnSpPr/>
          <p:nvPr/>
        </p:nvCxnSpPr>
        <p:spPr>
          <a:xfrm>
            <a:off x="32697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8" name="Google Shape;188;p19"/>
          <p:cNvCxnSpPr>
            <a:stCxn id="180" idx="2"/>
          </p:cNvCxnSpPr>
          <p:nvPr/>
        </p:nvCxnSpPr>
        <p:spPr>
          <a:xfrm>
            <a:off x="384691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9" name="Google Shape;189;p19"/>
          <p:cNvCxnSpPr/>
          <p:nvPr/>
        </p:nvCxnSpPr>
        <p:spPr>
          <a:xfrm>
            <a:off x="384692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0" name="Google Shape;190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91" name="Google Shape;191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192" name="Google Shape;192;p19"/>
          <p:cNvCxnSpPr/>
          <p:nvPr/>
        </p:nvCxnSpPr>
        <p:spPr>
          <a:xfrm>
            <a:off x="529706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3" name="Google Shape;193;p19"/>
          <p:cNvCxnSpPr/>
          <p:nvPr/>
        </p:nvCxnSpPr>
        <p:spPr>
          <a:xfrm>
            <a:off x="52970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19"/>
          <p:cNvCxnSpPr/>
          <p:nvPr/>
        </p:nvCxnSpPr>
        <p:spPr>
          <a:xfrm flipH="1">
            <a:off x="5863875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5" name="Google Shape;195;p19"/>
          <p:cNvSpPr/>
          <p:nvPr/>
        </p:nvSpPr>
        <p:spPr>
          <a:xfrm>
            <a:off x="2973825" y="49352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96" name="Google Shape;196;p19"/>
          <p:cNvCxnSpPr/>
          <p:nvPr/>
        </p:nvCxnSpPr>
        <p:spPr>
          <a:xfrm>
            <a:off x="32697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19"/>
          <p:cNvCxnSpPr/>
          <p:nvPr/>
        </p:nvCxnSpPr>
        <p:spPr>
          <a:xfrm>
            <a:off x="32697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99" name="Google Shape;199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200" name="Google Shape;200;p19"/>
          <p:cNvCxnSpPr/>
          <p:nvPr/>
        </p:nvCxnSpPr>
        <p:spPr>
          <a:xfrm>
            <a:off x="384692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1" name="Google Shape;201;p19"/>
          <p:cNvCxnSpPr/>
          <p:nvPr/>
        </p:nvCxnSpPr>
        <p:spPr>
          <a:xfrm>
            <a:off x="52970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2" name="Google Shape;202;p19"/>
          <p:cNvCxnSpPr/>
          <p:nvPr/>
        </p:nvCxnSpPr>
        <p:spPr>
          <a:xfrm>
            <a:off x="384692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3" name="Google Shape;203;p19"/>
          <p:cNvCxnSpPr/>
          <p:nvPr/>
        </p:nvCxnSpPr>
        <p:spPr>
          <a:xfrm>
            <a:off x="52970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4" name="Google Shape;204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C59FE-CF09-40AE-1D23-456E8BD9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76276-B577-C663-0FA7-3B07C2AD0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66369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>
            <a:off x="1162463" y="3823300"/>
            <a:ext cx="40765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" name="Google Shape;55;p13"/>
          <p:cNvSpPr/>
          <p:nvPr/>
        </p:nvSpPr>
        <p:spPr>
          <a:xfrm>
            <a:off x="11624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6" name="Google Shape;56;p13"/>
          <p:cNvSpPr/>
          <p:nvPr/>
        </p:nvSpPr>
        <p:spPr>
          <a:xfrm>
            <a:off x="22229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7" name="Google Shape;57;p13"/>
          <p:cNvSpPr/>
          <p:nvPr/>
        </p:nvSpPr>
        <p:spPr>
          <a:xfrm>
            <a:off x="21011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" name="Google Shape;58;p13"/>
          <p:cNvSpPr/>
          <p:nvPr/>
        </p:nvSpPr>
        <p:spPr>
          <a:xfrm>
            <a:off x="31616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9" name="Google Shape;59;p13"/>
          <p:cNvSpPr/>
          <p:nvPr/>
        </p:nvSpPr>
        <p:spPr>
          <a:xfrm>
            <a:off x="32834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0" name="Google Shape;60;p13"/>
          <p:cNvSpPr/>
          <p:nvPr/>
        </p:nvSpPr>
        <p:spPr>
          <a:xfrm>
            <a:off x="42221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>
            <a:off x="4343963" y="3209750"/>
            <a:ext cx="49515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 txBox="1"/>
          <p:nvPr/>
        </p:nvSpPr>
        <p:spPr>
          <a:xfrm>
            <a:off x="151543" y="2421150"/>
            <a:ext cx="8631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Periodic</a:t>
            </a:r>
            <a:endParaRPr sz="1500"/>
          </a:p>
          <a:p>
            <a:pPr algn="r"/>
            <a:r>
              <a:rPr lang="en" sz="1500"/>
              <a:t>Function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151543" y="3207125"/>
            <a:ext cx="8631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Task A</a:t>
            </a:r>
            <a:endParaRPr sz="1500"/>
          </a:p>
        </p:txBody>
      </p:sp>
      <p:cxnSp>
        <p:nvCxnSpPr>
          <p:cNvPr id="64" name="Google Shape;64;p13"/>
          <p:cNvCxnSpPr/>
          <p:nvPr/>
        </p:nvCxnSpPr>
        <p:spPr>
          <a:xfrm>
            <a:off x="21011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5" name="Google Shape;65;p13"/>
          <p:cNvCxnSpPr/>
          <p:nvPr/>
        </p:nvCxnSpPr>
        <p:spPr>
          <a:xfrm>
            <a:off x="31616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3"/>
          <p:cNvCxnSpPr/>
          <p:nvPr/>
        </p:nvCxnSpPr>
        <p:spPr>
          <a:xfrm>
            <a:off x="42221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7" name="Google Shape;67;p13"/>
          <p:cNvSpPr txBox="1"/>
          <p:nvPr/>
        </p:nvSpPr>
        <p:spPr>
          <a:xfrm>
            <a:off x="1775213" y="41014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220</a:t>
            </a:r>
            <a:endParaRPr sz="1500"/>
          </a:p>
        </p:txBody>
      </p:sp>
      <p:sp>
        <p:nvSpPr>
          <p:cNvPr id="68" name="Google Shape;68;p13"/>
          <p:cNvSpPr txBox="1"/>
          <p:nvPr/>
        </p:nvSpPr>
        <p:spPr>
          <a:xfrm>
            <a:off x="2835713" y="41188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440</a:t>
            </a:r>
            <a:endParaRPr sz="1500"/>
          </a:p>
        </p:txBody>
      </p:sp>
      <p:sp>
        <p:nvSpPr>
          <p:cNvPr id="69" name="Google Shape;69;p13"/>
          <p:cNvSpPr txBox="1"/>
          <p:nvPr/>
        </p:nvSpPr>
        <p:spPr>
          <a:xfrm>
            <a:off x="3896213" y="41188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660</a:t>
            </a:r>
            <a:endParaRPr sz="1500"/>
          </a:p>
        </p:txBody>
      </p:sp>
      <p:sp>
        <p:nvSpPr>
          <p:cNvPr id="70" name="Google Shape;70;p13"/>
          <p:cNvSpPr txBox="1"/>
          <p:nvPr/>
        </p:nvSpPr>
        <p:spPr>
          <a:xfrm>
            <a:off x="4548113" y="3823300"/>
            <a:ext cx="9735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 (ms)</a:t>
            </a:r>
            <a:endParaRPr sz="1500"/>
          </a:p>
        </p:txBody>
      </p:sp>
      <p:sp>
        <p:nvSpPr>
          <p:cNvPr id="71" name="Google Shape;71;p13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Timers</a:t>
            </a:r>
            <a:endParaRPr sz="2400"/>
          </a:p>
        </p:txBody>
      </p:sp>
      <p:sp>
        <p:nvSpPr>
          <p:cNvPr id="72" name="Google Shape;72;p13"/>
          <p:cNvSpPr txBox="1"/>
          <p:nvPr/>
        </p:nvSpPr>
        <p:spPr>
          <a:xfrm>
            <a:off x="5823550" y="269827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" sz="1500" b="1"/>
              <a:t>Possible Approaches</a:t>
            </a:r>
            <a:endParaRPr sz="1500"/>
          </a:p>
        </p:txBody>
      </p:sp>
      <p:sp>
        <p:nvSpPr>
          <p:cNvPr id="73" name="Google Shape;73;p13"/>
          <p:cNvSpPr txBox="1"/>
          <p:nvPr/>
        </p:nvSpPr>
        <p:spPr>
          <a:xfrm>
            <a:off x="5823550" y="29632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New task with vTaskDelay()</a:t>
            </a:r>
            <a:endParaRPr sz="900"/>
          </a:p>
        </p:txBody>
      </p:sp>
      <p:sp>
        <p:nvSpPr>
          <p:cNvPr id="74" name="Google Shape;74;p13"/>
          <p:cNvSpPr txBox="1"/>
          <p:nvPr/>
        </p:nvSpPr>
        <p:spPr>
          <a:xfrm>
            <a:off x="5823550" y="32299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Task A with xTaskGetTickCount()</a:t>
            </a:r>
            <a:endParaRPr sz="900"/>
          </a:p>
        </p:txBody>
      </p:sp>
      <p:sp>
        <p:nvSpPr>
          <p:cNvPr id="75" name="Google Shape;75;p13"/>
          <p:cNvSpPr txBox="1"/>
          <p:nvPr/>
        </p:nvSpPr>
        <p:spPr>
          <a:xfrm>
            <a:off x="5823550" y="34966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Hardware timer</a:t>
            </a:r>
            <a:endParaRPr sz="900"/>
          </a:p>
        </p:txBody>
      </p:sp>
      <p:sp>
        <p:nvSpPr>
          <p:cNvPr id="76" name="Google Shape;76;p13"/>
          <p:cNvSpPr txBox="1"/>
          <p:nvPr/>
        </p:nvSpPr>
        <p:spPr>
          <a:xfrm>
            <a:off x="5823550" y="378257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Software timer</a:t>
            </a:r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Software Timers in FreeRTOS</a:t>
            </a:r>
            <a:endParaRPr sz="2400"/>
          </a:p>
        </p:txBody>
      </p:sp>
      <p:sp>
        <p:nvSpPr>
          <p:cNvPr id="82" name="Google Shape;82;p14"/>
          <p:cNvSpPr/>
          <p:nvPr/>
        </p:nvSpPr>
        <p:spPr>
          <a:xfrm>
            <a:off x="4237500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3" name="Google Shape;83;p14"/>
          <p:cNvSpPr/>
          <p:nvPr/>
        </p:nvSpPr>
        <p:spPr>
          <a:xfrm>
            <a:off x="4371302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" name="Google Shape;84;p14"/>
          <p:cNvSpPr/>
          <p:nvPr/>
        </p:nvSpPr>
        <p:spPr>
          <a:xfrm>
            <a:off x="4505103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" name="Google Shape;85;p14"/>
          <p:cNvSpPr/>
          <p:nvPr/>
        </p:nvSpPr>
        <p:spPr>
          <a:xfrm>
            <a:off x="4638904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6" name="Google Shape;86;p14"/>
          <p:cNvSpPr/>
          <p:nvPr/>
        </p:nvSpPr>
        <p:spPr>
          <a:xfrm>
            <a:off x="4772699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7" name="Google Shape;87;p14"/>
          <p:cNvSpPr txBox="1"/>
          <p:nvPr/>
        </p:nvSpPr>
        <p:spPr>
          <a:xfrm>
            <a:off x="3898350" y="2540200"/>
            <a:ext cx="1347300" cy="79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</a:t>
            </a:r>
            <a:endParaRPr sz="1500"/>
          </a:p>
          <a:p>
            <a:pPr algn="ctr"/>
            <a:r>
              <a:rPr lang="en" sz="1500"/>
              <a:t>Command</a:t>
            </a:r>
            <a:endParaRPr sz="1500"/>
          </a:p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88" name="Google Shape;88;p14"/>
          <p:cNvSpPr/>
          <p:nvPr/>
        </p:nvSpPr>
        <p:spPr>
          <a:xfrm>
            <a:off x="6141163" y="3102025"/>
            <a:ext cx="1197750" cy="1197750"/>
          </a:xfrm>
          <a:prstGeom prst="ellipse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chemeClr val="dk1"/>
                </a:solidFill>
              </a:rPr>
              <a:t>Timer Service</a:t>
            </a:r>
            <a:endParaRPr sz="1500">
              <a:solidFill>
                <a:schemeClr val="dk1"/>
              </a:solidFill>
            </a:endParaRPr>
          </a:p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chemeClr val="dk1"/>
                </a:solidFill>
              </a:rPr>
              <a:t>Task</a:t>
            </a:r>
            <a:endParaRPr sz="900"/>
          </a:p>
        </p:txBody>
      </p:sp>
      <p:sp>
        <p:nvSpPr>
          <p:cNvPr id="89" name="Google Shape;89;p14"/>
          <p:cNvSpPr/>
          <p:nvPr/>
        </p:nvSpPr>
        <p:spPr>
          <a:xfrm>
            <a:off x="1805088" y="2272882"/>
            <a:ext cx="1197750" cy="1197750"/>
          </a:xfrm>
          <a:prstGeom prst="ellipse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Task A</a:t>
            </a:r>
            <a:endParaRPr sz="900"/>
          </a:p>
        </p:txBody>
      </p:sp>
      <p:sp>
        <p:nvSpPr>
          <p:cNvPr id="90" name="Google Shape;90;p14"/>
          <p:cNvSpPr/>
          <p:nvPr/>
        </p:nvSpPr>
        <p:spPr>
          <a:xfrm>
            <a:off x="1805088" y="4129144"/>
            <a:ext cx="1197750" cy="1197750"/>
          </a:xfrm>
          <a:prstGeom prst="ellipse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Task B</a:t>
            </a:r>
            <a:endParaRPr sz="900"/>
          </a:p>
        </p:txBody>
      </p:sp>
      <p:sp>
        <p:nvSpPr>
          <p:cNvPr id="91" name="Google Shape;91;p14"/>
          <p:cNvSpPr/>
          <p:nvPr/>
        </p:nvSpPr>
        <p:spPr>
          <a:xfrm>
            <a:off x="60710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2" name="Google Shape;92;p14"/>
          <p:cNvSpPr/>
          <p:nvPr/>
        </p:nvSpPr>
        <p:spPr>
          <a:xfrm>
            <a:off x="6204839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3" name="Google Shape;93;p14"/>
          <p:cNvSpPr/>
          <p:nvPr/>
        </p:nvSpPr>
        <p:spPr>
          <a:xfrm>
            <a:off x="6338641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" name="Google Shape;94;p14"/>
          <p:cNvSpPr/>
          <p:nvPr/>
        </p:nvSpPr>
        <p:spPr>
          <a:xfrm>
            <a:off x="64724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5" name="Google Shape;95;p14"/>
          <p:cNvSpPr/>
          <p:nvPr/>
        </p:nvSpPr>
        <p:spPr>
          <a:xfrm>
            <a:off x="66062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6" name="Google Shape;96;p14"/>
          <p:cNvSpPr/>
          <p:nvPr/>
        </p:nvSpPr>
        <p:spPr>
          <a:xfrm>
            <a:off x="67400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7" name="Google Shape;97;p14"/>
          <p:cNvSpPr/>
          <p:nvPr/>
        </p:nvSpPr>
        <p:spPr>
          <a:xfrm>
            <a:off x="68738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" name="Google Shape;98;p14"/>
          <p:cNvSpPr/>
          <p:nvPr/>
        </p:nvSpPr>
        <p:spPr>
          <a:xfrm>
            <a:off x="70076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" name="Google Shape;99;p14"/>
          <p:cNvSpPr/>
          <p:nvPr/>
        </p:nvSpPr>
        <p:spPr>
          <a:xfrm>
            <a:off x="71414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00" name="Google Shape;100;p14"/>
          <p:cNvSpPr/>
          <p:nvPr/>
        </p:nvSpPr>
        <p:spPr>
          <a:xfrm>
            <a:off x="72752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1" name="Google Shape;101;p14"/>
          <p:cNvCxnSpPr>
            <a:stCxn id="89" idx="6"/>
            <a:endCxn id="82" idx="1"/>
          </p:cNvCxnSpPr>
          <p:nvPr/>
        </p:nvCxnSpPr>
        <p:spPr>
          <a:xfrm>
            <a:off x="3002838" y="2871757"/>
            <a:ext cx="1234650" cy="829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02;p14"/>
          <p:cNvCxnSpPr>
            <a:stCxn id="90" idx="6"/>
            <a:endCxn id="82" idx="1"/>
          </p:cNvCxnSpPr>
          <p:nvPr/>
        </p:nvCxnSpPr>
        <p:spPr>
          <a:xfrm rot="10800000" flipH="1">
            <a:off x="3002838" y="3700969"/>
            <a:ext cx="1234650" cy="102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03;p14"/>
          <p:cNvCxnSpPr>
            <a:stCxn id="86" idx="3"/>
            <a:endCxn id="88" idx="2"/>
          </p:cNvCxnSpPr>
          <p:nvPr/>
        </p:nvCxnSpPr>
        <p:spPr>
          <a:xfrm>
            <a:off x="4906499" y="3700900"/>
            <a:ext cx="12346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04;p14"/>
          <p:cNvCxnSpPr>
            <a:stCxn id="88" idx="0"/>
          </p:cNvCxnSpPr>
          <p:nvPr/>
        </p:nvCxnSpPr>
        <p:spPr>
          <a:xfrm rot="10800000">
            <a:off x="6740038" y="2768725"/>
            <a:ext cx="0" cy="333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" name="Google Shape;105;p14"/>
          <p:cNvSpPr txBox="1"/>
          <p:nvPr/>
        </p:nvSpPr>
        <p:spPr>
          <a:xfrm>
            <a:off x="6066388" y="2141188"/>
            <a:ext cx="1347300" cy="29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 List</a:t>
            </a:r>
            <a:endParaRPr sz="1500"/>
          </a:p>
        </p:txBody>
      </p:sp>
      <p:sp>
        <p:nvSpPr>
          <p:cNvPr id="106" name="Google Shape;106;p14"/>
          <p:cNvSpPr/>
          <p:nvPr/>
        </p:nvSpPr>
        <p:spPr>
          <a:xfrm>
            <a:off x="4536088" y="5010150"/>
            <a:ext cx="4407900" cy="70875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myTimerCallback(TimerHandle_t xTimer) {</a:t>
            </a:r>
            <a:endParaRPr sz="12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// Do some stuff</a:t>
            </a:r>
            <a:endParaRPr sz="12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>
              <a:solidFill>
                <a:srgbClr val="00FF00"/>
              </a:solidFill>
            </a:endParaRPr>
          </a:p>
        </p:txBody>
      </p:sp>
      <p:cxnSp>
        <p:nvCxnSpPr>
          <p:cNvPr id="107" name="Google Shape;107;p14"/>
          <p:cNvCxnSpPr>
            <a:stCxn id="88" idx="4"/>
            <a:endCxn id="106" idx="0"/>
          </p:cNvCxnSpPr>
          <p:nvPr/>
        </p:nvCxnSpPr>
        <p:spPr>
          <a:xfrm>
            <a:off x="6740038" y="4299775"/>
            <a:ext cx="0" cy="710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20789-4B1D-DF95-FD9E-C88A62D6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3ADC4-F1A0-D956-CF5C-AC151E7E8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4030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7730" y="1196018"/>
            <a:ext cx="4378938" cy="4378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225" y="1457576"/>
            <a:ext cx="1727813" cy="1727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5425" y="2452460"/>
            <a:ext cx="732925" cy="732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4029294" y="3389038"/>
            <a:ext cx="1085400" cy="108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CPU</a:t>
            </a:r>
            <a:endParaRPr sz="1500"/>
          </a:p>
        </p:txBody>
      </p:sp>
      <p:sp>
        <p:nvSpPr>
          <p:cNvPr id="58" name="Google Shape;58;p13"/>
          <p:cNvSpPr/>
          <p:nvPr/>
        </p:nvSpPr>
        <p:spPr>
          <a:xfrm>
            <a:off x="4628550" y="2573000"/>
            <a:ext cx="835200" cy="49185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UART Buffer</a:t>
            </a:r>
            <a:endParaRPr sz="1500"/>
          </a:p>
        </p:txBody>
      </p:sp>
      <p:cxnSp>
        <p:nvCxnSpPr>
          <p:cNvPr id="59" name="Google Shape;59;p13"/>
          <p:cNvCxnSpPr/>
          <p:nvPr/>
        </p:nvCxnSpPr>
        <p:spPr>
          <a:xfrm>
            <a:off x="1818363" y="2510300"/>
            <a:ext cx="0" cy="131985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" name="Google Shape;60;p13"/>
          <p:cNvCxnSpPr/>
          <p:nvPr/>
        </p:nvCxnSpPr>
        <p:spPr>
          <a:xfrm rot="10800000">
            <a:off x="1818375" y="3826100"/>
            <a:ext cx="6003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6949463" y="2757463"/>
            <a:ext cx="11679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2" name="Google Shape;62;p13"/>
          <p:cNvSpPr txBox="1"/>
          <p:nvPr/>
        </p:nvSpPr>
        <p:spPr>
          <a:xfrm>
            <a:off x="7084313" y="2203363"/>
            <a:ext cx="10330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UART Comms</a:t>
            </a:r>
            <a:endParaRPr sz="1500"/>
          </a:p>
        </p:txBody>
      </p:sp>
      <p:cxnSp>
        <p:nvCxnSpPr>
          <p:cNvPr id="63" name="Google Shape;63;p13"/>
          <p:cNvCxnSpPr/>
          <p:nvPr/>
        </p:nvCxnSpPr>
        <p:spPr>
          <a:xfrm rot="10800000">
            <a:off x="2352525" y="3826100"/>
            <a:ext cx="1686150" cy="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3"/>
          <p:cNvCxnSpPr/>
          <p:nvPr/>
        </p:nvCxnSpPr>
        <p:spPr>
          <a:xfrm rot="10800000">
            <a:off x="2723363" y="3826100"/>
            <a:ext cx="15165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Google Shape;65;p13"/>
          <p:cNvCxnSpPr/>
          <p:nvPr/>
        </p:nvCxnSpPr>
        <p:spPr>
          <a:xfrm rot="10800000">
            <a:off x="3153338" y="3826100"/>
            <a:ext cx="2082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" name="Google Shape;66;p13"/>
          <p:cNvCxnSpPr/>
          <p:nvPr/>
        </p:nvCxnSpPr>
        <p:spPr>
          <a:xfrm rot="10800000">
            <a:off x="4171425" y="3122663"/>
            <a:ext cx="0" cy="32280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" name="Google Shape;67;p13"/>
          <p:cNvCxnSpPr/>
          <p:nvPr/>
        </p:nvCxnSpPr>
        <p:spPr>
          <a:xfrm rot="10800000">
            <a:off x="4933425" y="3046438"/>
            <a:ext cx="0" cy="39480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Google Shape;72;p14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73;p14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" name="Google Shape;74;p14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5" name="Google Shape;75;p14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6" name="Google Shape;76;p14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77;p14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8" name="Google Shape;78;p14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4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3" name="Google Shape;83;p14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84" name="Google Shape;84;p14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85" name="Google Shape;85;p14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87" name="Google Shape;87;p14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88" name="Google Shape;88;p14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sp>
        <p:nvSpPr>
          <p:cNvPr id="89" name="Google Shape;89;p14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0" name="Google Shape;90;p14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1" name="Google Shape;91;p14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92" name="Google Shape;92;p14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93" name="Google Shape;93;p14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94" name="Google Shape;94;p14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229100" y="3127350"/>
            <a:ext cx="6858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7" name="Google Shape;97;p14"/>
          <p:cNvSpPr/>
          <p:nvPr/>
        </p:nvSpPr>
        <p:spPr>
          <a:xfrm>
            <a:off x="4991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C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9" name="Google Shape;99;p14"/>
          <p:cNvSpPr/>
          <p:nvPr/>
        </p:nvSpPr>
        <p:spPr>
          <a:xfrm>
            <a:off x="5753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1" name="Google Shape;101;p14"/>
          <p:cNvSpPr/>
          <p:nvPr/>
        </p:nvSpPr>
        <p:spPr>
          <a:xfrm>
            <a:off x="6515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C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3" name="Google Shape;103;p14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4" name="Google Shape;104;p14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actually happens*</a:t>
            </a:r>
            <a:endParaRPr sz="2400"/>
          </a:p>
        </p:txBody>
      </p:sp>
      <p:sp>
        <p:nvSpPr>
          <p:cNvPr id="107" name="Google Shape;107;p14"/>
          <p:cNvSpPr/>
          <p:nvPr/>
        </p:nvSpPr>
        <p:spPr>
          <a:xfrm>
            <a:off x="598170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057900" y="3127350"/>
            <a:ext cx="3810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10" name="Google Shape;110;p14"/>
          <p:cNvSpPr txBox="1"/>
          <p:nvPr/>
        </p:nvSpPr>
        <p:spPr>
          <a:xfrm>
            <a:off x="7101900" y="1296750"/>
            <a:ext cx="204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900"/>
              <a:t>*assuming single-core processor</a:t>
            </a:r>
            <a:endParaRPr sz="900"/>
          </a:p>
        </p:txBody>
      </p:sp>
      <p:sp>
        <p:nvSpPr>
          <p:cNvPr id="111" name="Google Shape;111;p14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12" name="Google Shape;112;p14"/>
          <p:cNvSpPr txBox="1"/>
          <p:nvPr/>
        </p:nvSpPr>
        <p:spPr>
          <a:xfrm>
            <a:off x="3390900" y="161040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“preemptive scheduling”</a:t>
            </a:r>
            <a:endParaRPr sz="1200"/>
          </a:p>
        </p:txBody>
      </p:sp>
      <p:sp>
        <p:nvSpPr>
          <p:cNvPr id="113" name="Google Shape;113;p14"/>
          <p:cNvSpPr/>
          <p:nvPr/>
        </p:nvSpPr>
        <p:spPr>
          <a:xfrm>
            <a:off x="5739150" y="1814850"/>
            <a:ext cx="561300" cy="5613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14" name="Google Shape;114;p14"/>
          <p:cNvSpPr txBox="1"/>
          <p:nvPr/>
        </p:nvSpPr>
        <p:spPr>
          <a:xfrm>
            <a:off x="5529538" y="1515800"/>
            <a:ext cx="3238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spAutoFit/>
          </a:bodyPr>
          <a:lstStyle/>
          <a:p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15" name="Google Shape;115;p14"/>
          <p:cNvCxnSpPr/>
          <p:nvPr/>
        </p:nvCxnSpPr>
        <p:spPr>
          <a:xfrm flipH="1">
            <a:off x="6056625" y="1823413"/>
            <a:ext cx="314850" cy="214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" name="Google Shape;120;p15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15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5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5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5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15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5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7" name="Google Shape;127;p15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5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5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5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31" name="Google Shape;131;p15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132" name="Google Shape;132;p15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133" name="Google Shape;133;p15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135" name="Google Shape;135;p15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36" name="Google Shape;136;p15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37" name="Google Shape;137;p15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38" name="Google Shape;138;p15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39" name="Google Shape;139;p15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40" name="Google Shape;140;p15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41" name="Google Shape;141;p15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142" name="Google Shape;142;p15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4" name="Google Shape;144;p15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5" name="Google Shape;145;p15"/>
          <p:cNvSpPr/>
          <p:nvPr/>
        </p:nvSpPr>
        <p:spPr>
          <a:xfrm>
            <a:off x="4229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6" name="Google Shape;146;p15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7" name="Google Shape;147;p15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8" name="Google Shape;148;p15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9" name="Google Shape;149;p15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51" name="Google Shape;151;p15"/>
          <p:cNvSpPr/>
          <p:nvPr/>
        </p:nvSpPr>
        <p:spPr>
          <a:xfrm>
            <a:off x="6040350" y="3127350"/>
            <a:ext cx="1563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52" name="Google Shape;152;p15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53" name="Google Shape;153;p15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54" name="Google Shape;154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Deferred Interrupt</a:t>
            </a:r>
            <a:endParaRPr sz="2400"/>
          </a:p>
        </p:txBody>
      </p:sp>
      <p:sp>
        <p:nvSpPr>
          <p:cNvPr id="155" name="Google Shape;155;p15"/>
          <p:cNvSpPr/>
          <p:nvPr/>
        </p:nvSpPr>
        <p:spPr>
          <a:xfrm>
            <a:off x="4534050" y="3813150"/>
            <a:ext cx="3810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499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7" name="Google Shape;157;p15"/>
          <p:cNvSpPr/>
          <p:nvPr/>
        </p:nvSpPr>
        <p:spPr>
          <a:xfrm>
            <a:off x="44577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8" name="Google Shape;158;p15"/>
          <p:cNvSpPr txBox="1"/>
          <p:nvPr/>
        </p:nvSpPr>
        <p:spPr>
          <a:xfrm>
            <a:off x="2366988" y="150355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Blocked waiting for semaphore</a:t>
            </a:r>
            <a:endParaRPr sz="1200"/>
          </a:p>
        </p:txBody>
      </p:sp>
      <p:sp>
        <p:nvSpPr>
          <p:cNvPr id="159" name="Google Shape;159;p15"/>
          <p:cNvSpPr/>
          <p:nvPr/>
        </p:nvSpPr>
        <p:spPr>
          <a:xfrm>
            <a:off x="5753100" y="3813150"/>
            <a:ext cx="13485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588795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59641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2" name="Google Shape;162;p15"/>
          <p:cNvSpPr/>
          <p:nvPr/>
        </p:nvSpPr>
        <p:spPr>
          <a:xfrm>
            <a:off x="61966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3" name="Google Shape;163;p15"/>
          <p:cNvSpPr/>
          <p:nvPr/>
        </p:nvSpPr>
        <p:spPr>
          <a:xfrm>
            <a:off x="6272850" y="3813150"/>
            <a:ext cx="1662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cxnSp>
        <p:nvCxnSpPr>
          <p:cNvPr id="164" name="Google Shape;164;p15"/>
          <p:cNvCxnSpPr/>
          <p:nvPr/>
        </p:nvCxnSpPr>
        <p:spPr>
          <a:xfrm>
            <a:off x="4182913" y="1710213"/>
            <a:ext cx="264450" cy="1417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5"/>
          <p:cNvSpPr txBox="1"/>
          <p:nvPr/>
        </p:nvSpPr>
        <p:spPr>
          <a:xfrm>
            <a:off x="4182913" y="1361088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ISR gives semaphore</a:t>
            </a:r>
            <a:endParaRPr sz="1200"/>
          </a:p>
        </p:txBody>
      </p:sp>
      <p:cxnSp>
        <p:nvCxnSpPr>
          <p:cNvPr id="166" name="Google Shape;166;p15"/>
          <p:cNvCxnSpPr/>
          <p:nvPr/>
        </p:nvCxnSpPr>
        <p:spPr>
          <a:xfrm>
            <a:off x="5964150" y="1547275"/>
            <a:ext cx="0" cy="365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7" name="Google Shape;167;p15"/>
          <p:cNvSpPr txBox="1"/>
          <p:nvPr/>
        </p:nvSpPr>
        <p:spPr>
          <a:xfrm>
            <a:off x="6112200" y="1313850"/>
            <a:ext cx="19650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Scheduler called to run newly unblocked task</a:t>
            </a:r>
            <a:endParaRPr sz="1200"/>
          </a:p>
        </p:txBody>
      </p:sp>
      <p:cxnSp>
        <p:nvCxnSpPr>
          <p:cNvPr id="168" name="Google Shape;168;p15"/>
          <p:cNvCxnSpPr/>
          <p:nvPr/>
        </p:nvCxnSpPr>
        <p:spPr>
          <a:xfrm flipH="1">
            <a:off x="6040225" y="1729800"/>
            <a:ext cx="316950" cy="14067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" name="Google Shape;169;p15"/>
          <p:cNvSpPr/>
          <p:nvPr/>
        </p:nvSpPr>
        <p:spPr>
          <a:xfrm>
            <a:off x="6515175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cxnSp>
        <p:nvCxnSpPr>
          <p:cNvPr id="170" name="Google Shape;170;p15"/>
          <p:cNvCxnSpPr/>
          <p:nvPr/>
        </p:nvCxnSpPr>
        <p:spPr>
          <a:xfrm>
            <a:off x="5753100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15"/>
          <p:cNvCxnSpPr/>
          <p:nvPr/>
        </p:nvCxnSpPr>
        <p:spPr>
          <a:xfrm>
            <a:off x="5891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2" name="Google Shape;172;p15"/>
          <p:cNvCxnSpPr/>
          <p:nvPr/>
        </p:nvCxnSpPr>
        <p:spPr>
          <a:xfrm>
            <a:off x="59678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3" name="Google Shape;173;p15"/>
          <p:cNvCxnSpPr/>
          <p:nvPr/>
        </p:nvCxnSpPr>
        <p:spPr>
          <a:xfrm>
            <a:off x="60440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5"/>
          <p:cNvCxnSpPr/>
          <p:nvPr/>
        </p:nvCxnSpPr>
        <p:spPr>
          <a:xfrm>
            <a:off x="61964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15"/>
          <p:cNvCxnSpPr/>
          <p:nvPr/>
        </p:nvCxnSpPr>
        <p:spPr>
          <a:xfrm>
            <a:off x="6272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6"/>
          <p:cNvSpPr/>
          <p:nvPr/>
        </p:nvSpPr>
        <p:spPr>
          <a:xfrm>
            <a:off x="5948544" y="2108107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81" name="Google Shape;181;p16"/>
          <p:cNvSpPr/>
          <p:nvPr/>
        </p:nvSpPr>
        <p:spPr>
          <a:xfrm>
            <a:off x="5948544" y="3301694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82" name="Google Shape;182;p16"/>
          <p:cNvSpPr/>
          <p:nvPr/>
        </p:nvSpPr>
        <p:spPr>
          <a:xfrm>
            <a:off x="1021994" y="2704900"/>
            <a:ext cx="1217550" cy="36525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 ISR</a:t>
            </a:r>
            <a:endParaRPr sz="1500"/>
          </a:p>
        </p:txBody>
      </p:sp>
      <p:sp>
        <p:nvSpPr>
          <p:cNvPr id="183" name="Google Shape;183;p16"/>
          <p:cNvSpPr/>
          <p:nvPr/>
        </p:nvSpPr>
        <p:spPr>
          <a:xfrm rot="-5400000">
            <a:off x="470139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4" name="Google Shape;184;p16"/>
          <p:cNvSpPr/>
          <p:nvPr/>
        </p:nvSpPr>
        <p:spPr>
          <a:xfrm rot="-5400000">
            <a:off x="450303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5" name="Google Shape;185;p16"/>
          <p:cNvSpPr/>
          <p:nvPr/>
        </p:nvSpPr>
        <p:spPr>
          <a:xfrm rot="-5400000">
            <a:off x="410631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6" name="Google Shape;186;p16"/>
          <p:cNvSpPr/>
          <p:nvPr/>
        </p:nvSpPr>
        <p:spPr>
          <a:xfrm rot="-5400000">
            <a:off x="390795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7" name="Google Shape;187;p16"/>
          <p:cNvSpPr/>
          <p:nvPr/>
        </p:nvSpPr>
        <p:spPr>
          <a:xfrm rot="-5400000">
            <a:off x="450303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8" name="Google Shape;188;p16"/>
          <p:cNvSpPr/>
          <p:nvPr/>
        </p:nvSpPr>
        <p:spPr>
          <a:xfrm rot="-5400000">
            <a:off x="470139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9" name="Google Shape;189;p16"/>
          <p:cNvSpPr/>
          <p:nvPr/>
        </p:nvSpPr>
        <p:spPr>
          <a:xfrm rot="-5400000">
            <a:off x="430467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0" name="Google Shape;190;p16"/>
          <p:cNvSpPr/>
          <p:nvPr/>
        </p:nvSpPr>
        <p:spPr>
          <a:xfrm rot="-5400000">
            <a:off x="470139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1" name="Google Shape;191;p16"/>
          <p:cNvSpPr/>
          <p:nvPr/>
        </p:nvSpPr>
        <p:spPr>
          <a:xfrm rot="-5400000">
            <a:off x="450303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2" name="Google Shape;192;p16"/>
          <p:cNvSpPr/>
          <p:nvPr/>
        </p:nvSpPr>
        <p:spPr>
          <a:xfrm rot="-5400000">
            <a:off x="410631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3" name="Google Shape;193;p16"/>
          <p:cNvSpPr/>
          <p:nvPr/>
        </p:nvSpPr>
        <p:spPr>
          <a:xfrm rot="-5400000">
            <a:off x="390795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4" name="Google Shape;194;p16"/>
          <p:cNvSpPr/>
          <p:nvPr/>
        </p:nvSpPr>
        <p:spPr>
          <a:xfrm rot="-5400000">
            <a:off x="450303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5" name="Google Shape;195;p16"/>
          <p:cNvSpPr/>
          <p:nvPr/>
        </p:nvSpPr>
        <p:spPr>
          <a:xfrm rot="-5400000">
            <a:off x="470139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6" name="Google Shape;196;p16"/>
          <p:cNvSpPr/>
          <p:nvPr/>
        </p:nvSpPr>
        <p:spPr>
          <a:xfrm rot="-5400000">
            <a:off x="430467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7" name="Google Shape;197;p16"/>
          <p:cNvSpPr/>
          <p:nvPr/>
        </p:nvSpPr>
        <p:spPr>
          <a:xfrm>
            <a:off x="5689500" y="4147100"/>
            <a:ext cx="1735650" cy="1484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>
                <a:solidFill>
                  <a:srgbClr val="FFFFFF"/>
                </a:solidFill>
              </a:rPr>
              <a:t>Serial Terminal</a:t>
            </a:r>
            <a:endParaRPr sz="1200">
              <a:solidFill>
                <a:srgbClr val="FFFFFF"/>
              </a:solidFill>
            </a:endParaRPr>
          </a:p>
          <a:p>
            <a:pPr algn="ctr"/>
            <a:endParaRPr sz="1200">
              <a:solidFill>
                <a:srgbClr val="FFFFFF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hello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avg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Average: 59.2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blah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</a:t>
            </a:r>
            <a:endParaRPr sz="1200">
              <a:solidFill>
                <a:srgbClr val="00FF00"/>
              </a:solidFill>
            </a:endParaRPr>
          </a:p>
        </p:txBody>
      </p:sp>
      <p:sp>
        <p:nvSpPr>
          <p:cNvPr id="198" name="Google Shape;198;p16"/>
          <p:cNvSpPr/>
          <p:nvPr/>
        </p:nvSpPr>
        <p:spPr>
          <a:xfrm>
            <a:off x="7861075" y="2461688"/>
            <a:ext cx="991800" cy="991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Global:</a:t>
            </a:r>
            <a:endParaRPr sz="1200"/>
          </a:p>
          <a:p>
            <a:pPr algn="ctr"/>
            <a:r>
              <a:rPr lang="en" sz="1200"/>
              <a:t>Average (float)</a:t>
            </a:r>
            <a:endParaRPr sz="1200"/>
          </a:p>
        </p:txBody>
      </p:sp>
      <p:sp>
        <p:nvSpPr>
          <p:cNvPr id="199" name="Google Shape;199;p16"/>
          <p:cNvSpPr/>
          <p:nvPr/>
        </p:nvSpPr>
        <p:spPr>
          <a:xfrm rot="-5400000">
            <a:off x="370960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0" name="Google Shape;200;p16"/>
          <p:cNvSpPr/>
          <p:nvPr/>
        </p:nvSpPr>
        <p:spPr>
          <a:xfrm rot="-5400000">
            <a:off x="351124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1" name="Google Shape;201;p16"/>
          <p:cNvSpPr/>
          <p:nvPr/>
        </p:nvSpPr>
        <p:spPr>
          <a:xfrm rot="-5400000">
            <a:off x="311452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2" name="Google Shape;202;p16"/>
          <p:cNvSpPr/>
          <p:nvPr/>
        </p:nvSpPr>
        <p:spPr>
          <a:xfrm rot="-5400000">
            <a:off x="291616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3" name="Google Shape;203;p16"/>
          <p:cNvSpPr/>
          <p:nvPr/>
        </p:nvSpPr>
        <p:spPr>
          <a:xfrm rot="-5400000">
            <a:off x="351124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4" name="Google Shape;204;p16"/>
          <p:cNvSpPr/>
          <p:nvPr/>
        </p:nvSpPr>
        <p:spPr>
          <a:xfrm rot="-5400000">
            <a:off x="370960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5" name="Google Shape;205;p16"/>
          <p:cNvSpPr/>
          <p:nvPr/>
        </p:nvSpPr>
        <p:spPr>
          <a:xfrm rot="-5400000">
            <a:off x="331288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6" name="Google Shape;206;p16"/>
          <p:cNvSpPr/>
          <p:nvPr/>
        </p:nvSpPr>
        <p:spPr>
          <a:xfrm rot="-5400000">
            <a:off x="370960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7" name="Google Shape;207;p16"/>
          <p:cNvSpPr/>
          <p:nvPr/>
        </p:nvSpPr>
        <p:spPr>
          <a:xfrm rot="-5400000">
            <a:off x="351124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8" name="Google Shape;208;p16"/>
          <p:cNvSpPr/>
          <p:nvPr/>
        </p:nvSpPr>
        <p:spPr>
          <a:xfrm rot="-5400000">
            <a:off x="311452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9" name="Google Shape;209;p16"/>
          <p:cNvSpPr/>
          <p:nvPr/>
        </p:nvSpPr>
        <p:spPr>
          <a:xfrm rot="-5400000">
            <a:off x="291616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0" name="Google Shape;210;p16"/>
          <p:cNvSpPr/>
          <p:nvPr/>
        </p:nvSpPr>
        <p:spPr>
          <a:xfrm rot="-5400000">
            <a:off x="351124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1" name="Google Shape;211;p16"/>
          <p:cNvSpPr/>
          <p:nvPr/>
        </p:nvSpPr>
        <p:spPr>
          <a:xfrm rot="-5400000">
            <a:off x="370960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2" name="Google Shape;212;p16"/>
          <p:cNvSpPr/>
          <p:nvPr/>
        </p:nvSpPr>
        <p:spPr>
          <a:xfrm rot="-5400000">
            <a:off x="331288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213" name="Google Shape;213;p16"/>
          <p:cNvCxnSpPr>
            <a:stCxn id="182" idx="3"/>
            <a:endCxn id="202" idx="0"/>
          </p:cNvCxnSpPr>
          <p:nvPr/>
        </p:nvCxnSpPr>
        <p:spPr>
          <a:xfrm rot="10800000" flipH="1">
            <a:off x="2239544" y="2585425"/>
            <a:ext cx="841350" cy="302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4" name="Google Shape;214;p16"/>
          <p:cNvCxnSpPr>
            <a:stCxn id="195" idx="2"/>
            <a:endCxn id="180" idx="1"/>
          </p:cNvCxnSpPr>
          <p:nvPr/>
        </p:nvCxnSpPr>
        <p:spPr>
          <a:xfrm rot="10800000" flipH="1">
            <a:off x="5064390" y="2290688"/>
            <a:ext cx="884100" cy="8989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" name="Google Shape;215;p16"/>
          <p:cNvCxnSpPr>
            <a:stCxn id="180" idx="3"/>
            <a:endCxn id="198" idx="1"/>
          </p:cNvCxnSpPr>
          <p:nvPr/>
        </p:nvCxnSpPr>
        <p:spPr>
          <a:xfrm>
            <a:off x="7166094" y="2290732"/>
            <a:ext cx="840300" cy="316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6" name="Google Shape;216;p16"/>
          <p:cNvCxnSpPr>
            <a:stCxn id="198" idx="3"/>
            <a:endCxn id="181" idx="3"/>
          </p:cNvCxnSpPr>
          <p:nvPr/>
        </p:nvCxnSpPr>
        <p:spPr>
          <a:xfrm flipH="1">
            <a:off x="7166021" y="3308242"/>
            <a:ext cx="840300" cy="176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7" name="Google Shape;217;p16"/>
          <p:cNvCxnSpPr>
            <a:stCxn id="181" idx="2"/>
            <a:endCxn id="197" idx="0"/>
          </p:cNvCxnSpPr>
          <p:nvPr/>
        </p:nvCxnSpPr>
        <p:spPr>
          <a:xfrm>
            <a:off x="6557319" y="3666944"/>
            <a:ext cx="0" cy="480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18" name="Google Shape;218;p16"/>
          <p:cNvSpPr txBox="1"/>
          <p:nvPr/>
        </p:nvSpPr>
        <p:spPr>
          <a:xfrm>
            <a:off x="3080900" y="1767463"/>
            <a:ext cx="1983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Double Buffer or Circular Buffer</a:t>
            </a:r>
            <a:endParaRPr sz="1500"/>
          </a:p>
        </p:txBody>
      </p:sp>
      <p:sp>
        <p:nvSpPr>
          <p:cNvPr id="219" name="Google Shape;219;p16"/>
          <p:cNvSpPr txBox="1"/>
          <p:nvPr/>
        </p:nvSpPr>
        <p:spPr>
          <a:xfrm>
            <a:off x="1022000" y="3070150"/>
            <a:ext cx="12175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/>
              <a:t>Samples from ADC (10 Hz)</a:t>
            </a:r>
            <a:endParaRPr sz="1200"/>
          </a:p>
        </p:txBody>
      </p:sp>
      <p:sp>
        <p:nvSpPr>
          <p:cNvPr id="220" name="Google Shape;220;p16"/>
          <p:cNvSpPr txBox="1"/>
          <p:nvPr/>
        </p:nvSpPr>
        <p:spPr>
          <a:xfrm>
            <a:off x="5646675" y="1226650"/>
            <a:ext cx="182130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/>
              <a:t>After 10 samples have been read, Task A will wake up and compute the average.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CF0A-DFDE-9F09-D477-9F7F0540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3F4EE-97FD-6594-32AB-97277B68B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91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3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3" name="Google Shape;63;p13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" name="Google Shape;64;p13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grpSp>
        <p:nvGrpSpPr>
          <p:cNvPr id="65" name="Google Shape;65;p13"/>
          <p:cNvGrpSpPr/>
          <p:nvPr/>
        </p:nvGrpSpPr>
        <p:grpSpPr>
          <a:xfrm>
            <a:off x="4157202" y="2803111"/>
            <a:ext cx="829600" cy="829600"/>
            <a:chOff x="8314403" y="3891721"/>
            <a:chExt cx="1659199" cy="1659199"/>
          </a:xfrm>
        </p:grpSpPr>
        <p:sp>
          <p:nvSpPr>
            <p:cNvPr id="66" name="Google Shape;66;p13"/>
            <p:cNvSpPr/>
            <p:nvPr/>
          </p:nvSpPr>
          <p:spPr>
            <a:xfrm>
              <a:off x="8314403" y="3891721"/>
              <a:ext cx="1659199" cy="1659199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8711673" y="4477117"/>
              <a:ext cx="516492" cy="774394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8" name="Google Shape;68;p13"/>
            <p:cNvSpPr/>
            <p:nvPr/>
          </p:nvSpPr>
          <p:spPr>
            <a:xfrm>
              <a:off x="8900232" y="4193265"/>
              <a:ext cx="500843" cy="837630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9" name="Google Shape;69;p13"/>
            <p:cNvSpPr/>
            <p:nvPr/>
          </p:nvSpPr>
          <p:spPr>
            <a:xfrm>
              <a:off x="9101156" y="4400687"/>
              <a:ext cx="408283" cy="654162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" name="Google Shape;70;p13"/>
            <p:cNvSpPr/>
            <p:nvPr/>
          </p:nvSpPr>
          <p:spPr>
            <a:xfrm>
              <a:off x="8743612" y="4304961"/>
              <a:ext cx="952447" cy="590329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" name="Google Shape;71;p13"/>
            <p:cNvSpPr/>
            <p:nvPr/>
          </p:nvSpPr>
          <p:spPr>
            <a:xfrm>
              <a:off x="8593690" y="4153386"/>
              <a:ext cx="756221" cy="877509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2" name="Google Shape;72;p13"/>
            <p:cNvSpPr/>
            <p:nvPr/>
          </p:nvSpPr>
          <p:spPr>
            <a:xfrm>
              <a:off x="8879217" y="4161325"/>
              <a:ext cx="731303" cy="1077910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3"/>
            <p:cNvSpPr/>
            <p:nvPr/>
          </p:nvSpPr>
          <p:spPr>
            <a:xfrm>
              <a:off x="8560098" y="4464474"/>
              <a:ext cx="781828" cy="819228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" name="Google Shape;74;p13"/>
            <p:cNvSpPr/>
            <p:nvPr/>
          </p:nvSpPr>
          <p:spPr>
            <a:xfrm>
              <a:off x="8913449" y="4273021"/>
              <a:ext cx="587989" cy="837630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" name="Google Shape;75;p13"/>
            <p:cNvSpPr/>
            <p:nvPr/>
          </p:nvSpPr>
          <p:spPr>
            <a:xfrm>
              <a:off x="8663809" y="4376733"/>
              <a:ext cx="789170" cy="311134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" name="Google Shape;76;p13"/>
            <p:cNvSpPr/>
            <p:nvPr/>
          </p:nvSpPr>
          <p:spPr>
            <a:xfrm>
              <a:off x="8683538" y="4313553"/>
              <a:ext cx="1025320" cy="867734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7" name="Google Shape;77;p13"/>
            <p:cNvSpPr/>
            <p:nvPr/>
          </p:nvSpPr>
          <p:spPr>
            <a:xfrm>
              <a:off x="8636736" y="4279391"/>
              <a:ext cx="1072128" cy="663753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" name="Google Shape;78;p13"/>
            <p:cNvSpPr/>
            <p:nvPr/>
          </p:nvSpPr>
          <p:spPr>
            <a:xfrm>
              <a:off x="8744593" y="4185280"/>
              <a:ext cx="677107" cy="901463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" name="Google Shape;79;p13"/>
            <p:cNvSpPr/>
            <p:nvPr/>
          </p:nvSpPr>
          <p:spPr>
            <a:xfrm>
              <a:off x="8783490" y="4400687"/>
              <a:ext cx="885493" cy="622223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" name="Google Shape;80;p13"/>
            <p:cNvSpPr/>
            <p:nvPr/>
          </p:nvSpPr>
          <p:spPr>
            <a:xfrm>
              <a:off x="8600022" y="4628502"/>
              <a:ext cx="917387" cy="458258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1" name="Google Shape;81;p13"/>
            <p:cNvSpPr/>
            <p:nvPr/>
          </p:nvSpPr>
          <p:spPr>
            <a:xfrm>
              <a:off x="8584053" y="4497365"/>
              <a:ext cx="1212597" cy="2970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2" name="Google Shape;82;p13"/>
            <p:cNvSpPr/>
            <p:nvPr/>
          </p:nvSpPr>
          <p:spPr>
            <a:xfrm>
              <a:off x="8769502" y="4352824"/>
              <a:ext cx="827718" cy="725934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" name="Google Shape;83;p13"/>
            <p:cNvSpPr/>
            <p:nvPr/>
          </p:nvSpPr>
          <p:spPr>
            <a:xfrm>
              <a:off x="9022807" y="4153386"/>
              <a:ext cx="686055" cy="861539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" name="Google Shape;84;p13"/>
            <p:cNvSpPr/>
            <p:nvPr/>
          </p:nvSpPr>
          <p:spPr>
            <a:xfrm>
              <a:off x="8759536" y="4376733"/>
              <a:ext cx="635393" cy="797752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5" name="Google Shape;85;p13"/>
            <p:cNvSpPr/>
            <p:nvPr/>
          </p:nvSpPr>
          <p:spPr>
            <a:xfrm>
              <a:off x="8833525" y="4578100"/>
              <a:ext cx="840125" cy="578325"/>
            </a:xfrm>
            <a:custGeom>
              <a:avLst/>
              <a:gdLst/>
              <a:ahLst/>
              <a:cxnLst/>
              <a:rect l="l" t="t" r="r" b="b"/>
              <a:pathLst>
                <a:path w="33605" h="23133" extrusionOk="0">
                  <a:moveTo>
                    <a:pt x="0" y="23133"/>
                  </a:moveTo>
                  <a:cubicBezTo>
                    <a:pt x="2435" y="19075"/>
                    <a:pt x="4127" y="14465"/>
                    <a:pt x="7305" y="10958"/>
                  </a:cubicBezTo>
                  <a:cubicBezTo>
                    <a:pt x="13683" y="3921"/>
                    <a:pt x="24540" y="2832"/>
                    <a:pt x="3360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6" name="Google Shape;86;p13"/>
            <p:cNvSpPr/>
            <p:nvPr/>
          </p:nvSpPr>
          <p:spPr>
            <a:xfrm>
              <a:off x="8827425" y="4218900"/>
              <a:ext cx="547925" cy="827950"/>
            </a:xfrm>
            <a:custGeom>
              <a:avLst/>
              <a:gdLst/>
              <a:ahLst/>
              <a:cxnLst/>
              <a:rect l="l" t="t" r="r" b="b"/>
              <a:pathLst>
                <a:path w="21917" h="33118" extrusionOk="0">
                  <a:moveTo>
                    <a:pt x="0" y="0"/>
                  </a:moveTo>
                  <a:cubicBezTo>
                    <a:pt x="2209" y="4416"/>
                    <a:pt x="6510" y="8222"/>
                    <a:pt x="6819" y="13150"/>
                  </a:cubicBezTo>
                  <a:cubicBezTo>
                    <a:pt x="7095" y="17561"/>
                    <a:pt x="2967" y="22436"/>
                    <a:pt x="5114" y="26300"/>
                  </a:cubicBezTo>
                  <a:cubicBezTo>
                    <a:pt x="8050" y="31584"/>
                    <a:pt x="16181" y="31211"/>
                    <a:pt x="21917" y="33118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" name="Google Shape;87;p13"/>
            <p:cNvSpPr/>
            <p:nvPr/>
          </p:nvSpPr>
          <p:spPr>
            <a:xfrm>
              <a:off x="8727682" y="4485171"/>
              <a:ext cx="854650" cy="671250"/>
            </a:xfrm>
            <a:custGeom>
              <a:avLst/>
              <a:gdLst/>
              <a:ahLst/>
              <a:cxnLst/>
              <a:rect l="l" t="t" r="r" b="b"/>
              <a:pathLst>
                <a:path w="34186" h="26850" extrusionOk="0">
                  <a:moveTo>
                    <a:pt x="34186" y="7369"/>
                  </a:moveTo>
                  <a:cubicBezTo>
                    <a:pt x="26609" y="7875"/>
                    <a:pt x="18987" y="9107"/>
                    <a:pt x="11783" y="11509"/>
                  </a:cubicBezTo>
                  <a:cubicBezTo>
                    <a:pt x="8958" y="12451"/>
                    <a:pt x="6190" y="14721"/>
                    <a:pt x="3260" y="14188"/>
                  </a:cubicBezTo>
                  <a:cubicBezTo>
                    <a:pt x="100" y="13613"/>
                    <a:pt x="-612" y="7915"/>
                    <a:pt x="581" y="4934"/>
                  </a:cubicBezTo>
                  <a:cubicBezTo>
                    <a:pt x="2999" y="-1107"/>
                    <a:pt x="16358" y="-1632"/>
                    <a:pt x="20062" y="3717"/>
                  </a:cubicBezTo>
                  <a:cubicBezTo>
                    <a:pt x="23302" y="8396"/>
                    <a:pt x="18572" y="15095"/>
                    <a:pt x="19088" y="20763"/>
                  </a:cubicBezTo>
                  <a:cubicBezTo>
                    <a:pt x="19370" y="23858"/>
                    <a:pt x="23042" y="26850"/>
                    <a:pt x="26150" y="2685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" name="Google Shape;88;p13"/>
            <p:cNvSpPr/>
            <p:nvPr/>
          </p:nvSpPr>
          <p:spPr>
            <a:xfrm>
              <a:off x="8730025" y="4170200"/>
              <a:ext cx="907350" cy="829450"/>
            </a:xfrm>
            <a:custGeom>
              <a:avLst/>
              <a:gdLst/>
              <a:ahLst/>
              <a:cxnLst/>
              <a:rect l="l" t="t" r="r" b="b"/>
              <a:pathLst>
                <a:path w="36294" h="33178" extrusionOk="0">
                  <a:moveTo>
                    <a:pt x="16072" y="0"/>
                  </a:moveTo>
                  <a:cubicBezTo>
                    <a:pt x="18478" y="5415"/>
                    <a:pt x="25652" y="7856"/>
                    <a:pt x="27761" y="13393"/>
                  </a:cubicBezTo>
                  <a:cubicBezTo>
                    <a:pt x="29698" y="18478"/>
                    <a:pt x="25844" y="24459"/>
                    <a:pt x="27274" y="29709"/>
                  </a:cubicBezTo>
                  <a:cubicBezTo>
                    <a:pt x="27905" y="32023"/>
                    <a:pt x="32028" y="34192"/>
                    <a:pt x="33849" y="32631"/>
                  </a:cubicBezTo>
                  <a:cubicBezTo>
                    <a:pt x="36931" y="29989"/>
                    <a:pt x="37353" y="22015"/>
                    <a:pt x="33605" y="20455"/>
                  </a:cubicBezTo>
                  <a:cubicBezTo>
                    <a:pt x="25042" y="16890"/>
                    <a:pt x="14673" y="21082"/>
                    <a:pt x="6088" y="24595"/>
                  </a:cubicBezTo>
                  <a:cubicBezTo>
                    <a:pt x="3268" y="25749"/>
                    <a:pt x="2891" y="30452"/>
                    <a:pt x="0" y="3141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9" name="Google Shape;89;p13"/>
            <p:cNvSpPr/>
            <p:nvPr/>
          </p:nvSpPr>
          <p:spPr>
            <a:xfrm>
              <a:off x="8681325" y="4230927"/>
              <a:ext cx="882700" cy="1020850"/>
            </a:xfrm>
            <a:custGeom>
              <a:avLst/>
              <a:gdLst/>
              <a:ahLst/>
              <a:cxnLst/>
              <a:rect l="l" t="t" r="r" b="b"/>
              <a:pathLst>
                <a:path w="35308" h="40834" extrusionOk="0">
                  <a:moveTo>
                    <a:pt x="0" y="21923"/>
                  </a:moveTo>
                  <a:cubicBezTo>
                    <a:pt x="4868" y="17746"/>
                    <a:pt x="16935" y="15448"/>
                    <a:pt x="19238" y="21435"/>
                  </a:cubicBezTo>
                  <a:cubicBezTo>
                    <a:pt x="21093" y="26256"/>
                    <a:pt x="14339" y="32377"/>
                    <a:pt x="17046" y="36777"/>
                  </a:cubicBezTo>
                  <a:cubicBezTo>
                    <a:pt x="19515" y="40790"/>
                    <a:pt x="26930" y="41953"/>
                    <a:pt x="30926" y="39456"/>
                  </a:cubicBezTo>
                  <a:cubicBezTo>
                    <a:pt x="37891" y="35105"/>
                    <a:pt x="35821" y="20062"/>
                    <a:pt x="29465" y="14861"/>
                  </a:cubicBezTo>
                  <a:cubicBezTo>
                    <a:pt x="22888" y="9480"/>
                    <a:pt x="7178" y="12602"/>
                    <a:pt x="6331" y="4146"/>
                  </a:cubicBezTo>
                  <a:cubicBezTo>
                    <a:pt x="5675" y="-2396"/>
                    <a:pt x="21107" y="-183"/>
                    <a:pt x="26056" y="4146"/>
                  </a:cubicBezTo>
                  <a:cubicBezTo>
                    <a:pt x="35321" y="12251"/>
                    <a:pt x="17470" y="28073"/>
                    <a:pt x="8766" y="367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0" name="Google Shape;90;p13"/>
            <p:cNvSpPr/>
            <p:nvPr/>
          </p:nvSpPr>
          <p:spPr>
            <a:xfrm>
              <a:off x="8673257" y="4194550"/>
              <a:ext cx="896900" cy="1025975"/>
            </a:xfrm>
            <a:custGeom>
              <a:avLst/>
              <a:gdLst/>
              <a:ahLst/>
              <a:cxnLst/>
              <a:rect l="l" t="t" r="r" b="b"/>
              <a:pathLst>
                <a:path w="35876" h="41039" extrusionOk="0">
                  <a:moveTo>
                    <a:pt x="35876" y="12176"/>
                  </a:moveTo>
                  <a:cubicBezTo>
                    <a:pt x="33278" y="13474"/>
                    <a:pt x="30137" y="14019"/>
                    <a:pt x="28084" y="16072"/>
                  </a:cubicBezTo>
                  <a:cubicBezTo>
                    <a:pt x="24741" y="19415"/>
                    <a:pt x="24638" y="25253"/>
                    <a:pt x="25161" y="29952"/>
                  </a:cubicBezTo>
                  <a:cubicBezTo>
                    <a:pt x="25573" y="33653"/>
                    <a:pt x="31860" y="39489"/>
                    <a:pt x="28327" y="40667"/>
                  </a:cubicBezTo>
                  <a:cubicBezTo>
                    <a:pt x="23195" y="42378"/>
                    <a:pt x="17049" y="37559"/>
                    <a:pt x="13960" y="33118"/>
                  </a:cubicBezTo>
                  <a:cubicBezTo>
                    <a:pt x="10617" y="28313"/>
                    <a:pt x="9699" y="20564"/>
                    <a:pt x="4219" y="18507"/>
                  </a:cubicBezTo>
                  <a:cubicBezTo>
                    <a:pt x="680" y="17179"/>
                    <a:pt x="-1376" y="26792"/>
                    <a:pt x="1297" y="29465"/>
                  </a:cubicBezTo>
                  <a:cubicBezTo>
                    <a:pt x="5492" y="33660"/>
                    <a:pt x="15463" y="29538"/>
                    <a:pt x="18343" y="24352"/>
                  </a:cubicBezTo>
                  <a:cubicBezTo>
                    <a:pt x="21498" y="18671"/>
                    <a:pt x="15329" y="10954"/>
                    <a:pt x="17612" y="4870"/>
                  </a:cubicBezTo>
                  <a:cubicBezTo>
                    <a:pt x="18786" y="1740"/>
                    <a:pt x="23036" y="0"/>
                    <a:pt x="26379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6" name="Google Shape;9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14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102" name="Google Shape;102;p14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4" name="Google Shape;104;p14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5" name="Google Shape;105;p14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6" name="Google Shape;106;p14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7" name="Google Shape;107;p14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8" name="Google Shape;108;p14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9" name="Google Shape;109;p14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0" name="Google Shape;110;p14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1" name="Google Shape;111;p14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2" name="Google Shape;112;p14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3" name="Google Shape;113;p14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4" name="Google Shape;114;p14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5" name="Google Shape;115;p14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6" name="Google Shape;116;p14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7" name="Google Shape;117;p14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8" name="Google Shape;118;p14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9" name="Google Shape;119;p14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20" name="Google Shape;120;p14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121" name="Google Shape;121;p14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2" name="Google Shape;122;p14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3" name="Google Shape;123;p14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4" name="Google Shape;124;p14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5" name="Google Shape;125;p14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6" name="Google Shape;126;p14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7" name="Google Shape;127;p14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Google Shape;128;p14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9" name="Google Shape;129;p14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0" name="Google Shape;130;p14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1" name="Google Shape;131;p14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2" name="Google Shape;132;p14"/>
          <p:cNvSpPr txBox="1"/>
          <p:nvPr/>
        </p:nvSpPr>
        <p:spPr>
          <a:xfrm>
            <a:off x="998413" y="1271225"/>
            <a:ext cx="7704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Thread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33" name="Google Shape;133;p14"/>
          <p:cNvSpPr txBox="1"/>
          <p:nvPr/>
        </p:nvSpPr>
        <p:spPr>
          <a:xfrm>
            <a:off x="1476400" y="4783450"/>
            <a:ext cx="10869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 or semaphore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7202163" y="1749800"/>
            <a:ext cx="10869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Shared resource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135" name="Google Shape;135;p14"/>
          <p:cNvCxnSpPr>
            <a:stCxn id="132" idx="3"/>
          </p:cNvCxnSpPr>
          <p:nvPr/>
        </p:nvCxnSpPr>
        <p:spPr>
          <a:xfrm>
            <a:off x="1768813" y="1432801"/>
            <a:ext cx="1068150" cy="264649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6" name="Google Shape;136;p14"/>
          <p:cNvCxnSpPr>
            <a:stCxn id="133" idx="3"/>
            <a:endCxn id="124" idx="2"/>
          </p:cNvCxnSpPr>
          <p:nvPr/>
        </p:nvCxnSpPr>
        <p:spPr>
          <a:xfrm flipV="1">
            <a:off x="2563300" y="4113304"/>
            <a:ext cx="1389044" cy="94713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" name="Google Shape;137;p14"/>
          <p:cNvCxnSpPr>
            <a:stCxn id="134" idx="1"/>
          </p:cNvCxnSpPr>
          <p:nvPr/>
        </p:nvCxnSpPr>
        <p:spPr>
          <a:xfrm flipH="1">
            <a:off x="4943313" y="2026792"/>
            <a:ext cx="2258850" cy="96125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143" name="Google Shape;14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8" name="Google Shape;148;p15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149" name="Google Shape;149;p15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1" name="Google Shape;151;p15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2" name="Google Shape;152;p15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3" name="Google Shape;153;p15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4" name="Google Shape;154;p15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5" name="Google Shape;155;p15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6" name="Google Shape;156;p15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7" name="Google Shape;157;p15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8" name="Google Shape;158;p15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9" name="Google Shape;159;p15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0" name="Google Shape;160;p15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1" name="Google Shape;161;p15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2" name="Google Shape;162;p15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3" name="Google Shape;163;p15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4" name="Google Shape;164;p15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5" name="Google Shape;165;p15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6" name="Google Shape;166;p15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7" name="Google Shape;167;p15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168" name="Google Shape;168;p15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69" name="Google Shape;169;p15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0" name="Google Shape;170;p15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1" name="Google Shape;171;p15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2" name="Google Shape;172;p15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3" name="Google Shape;173;p15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4" name="Google Shape;174;p15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5" name="Google Shape;175;p15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6" name="Google Shape;176;p15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7" name="Google Shape;177;p15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8" name="Google Shape;178;p15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9" name="Google Shape;179;p15"/>
          <p:cNvSpPr txBox="1"/>
          <p:nvPr/>
        </p:nvSpPr>
        <p:spPr>
          <a:xfrm>
            <a:off x="1716713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0" name="Google Shape;180;p15"/>
          <p:cNvSpPr txBox="1"/>
          <p:nvPr/>
        </p:nvSpPr>
        <p:spPr>
          <a:xfrm>
            <a:off x="5155613" y="5192350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6619850" y="3012063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2" name="Google Shape;182;p15"/>
          <p:cNvSpPr txBox="1"/>
          <p:nvPr/>
        </p:nvSpPr>
        <p:spPr>
          <a:xfrm>
            <a:off x="6319238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3" name="Google Shape;183;p15"/>
          <p:cNvSpPr txBox="1"/>
          <p:nvPr/>
        </p:nvSpPr>
        <p:spPr>
          <a:xfrm>
            <a:off x="1639963" y="2988088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4" name="Google Shape;184;p15"/>
          <p:cNvSpPr/>
          <p:nvPr/>
        </p:nvSpPr>
        <p:spPr>
          <a:xfrm rot="6485262">
            <a:off x="3329326" y="22803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5" name="Google Shape;185;p15"/>
          <p:cNvSpPr/>
          <p:nvPr/>
        </p:nvSpPr>
        <p:spPr>
          <a:xfrm rot="10800000">
            <a:off x="4118048" y="1691371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6" name="Google Shape;186;p15"/>
          <p:cNvSpPr/>
          <p:nvPr/>
        </p:nvSpPr>
        <p:spPr>
          <a:xfrm rot="2167448">
            <a:off x="4087047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7" name="Google Shape;187;p15"/>
          <p:cNvSpPr/>
          <p:nvPr/>
        </p:nvSpPr>
        <p:spPr>
          <a:xfrm rot="-2167448" flipH="1">
            <a:off x="5017772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8" name="Google Shape;188;p15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Starvation</a:t>
            </a:r>
            <a:endParaRPr sz="30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3" name="Google Shape;193;p16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16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16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16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16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16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9" name="Google Shape;199;p16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16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16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16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3" name="Google Shape;203;p16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04" name="Google Shape;204;p16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205" name="Google Shape;205;p16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206" name="Google Shape;206;p16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208" name="Google Shape;208;p16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209" name="Google Shape;209;p16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210" name="Google Shape;210;p16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1" name="Google Shape;211;p16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2" name="Google Shape;212;p16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213" name="Google Shape;213;p16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214" name="Google Shape;214;p16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215" name="Google Shape;215;p16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16" name="Google Shape;216;p16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7" name="Google Shape;217;p16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8" name="Google Shape;218;p16"/>
          <p:cNvSpPr/>
          <p:nvPr/>
        </p:nvSpPr>
        <p:spPr>
          <a:xfrm>
            <a:off x="4229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19" name="Google Shape;219;p16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0" name="Google Shape;220;p16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1" name="Google Shape;221;p16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2" name="Google Shape;222;p16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23" name="Google Shape;223;p16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224" name="Google Shape;224;p16"/>
          <p:cNvSpPr/>
          <p:nvPr/>
        </p:nvSpPr>
        <p:spPr>
          <a:xfrm>
            <a:off x="6040350" y="3127350"/>
            <a:ext cx="1563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5" name="Google Shape;225;p16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226" name="Google Shape;226;p16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227" name="Google Shape;227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Deferred Interrupt</a:t>
            </a:r>
            <a:endParaRPr sz="2400"/>
          </a:p>
        </p:txBody>
      </p:sp>
      <p:sp>
        <p:nvSpPr>
          <p:cNvPr id="228" name="Google Shape;228;p16"/>
          <p:cNvSpPr/>
          <p:nvPr/>
        </p:nvSpPr>
        <p:spPr>
          <a:xfrm>
            <a:off x="4534050" y="3813150"/>
            <a:ext cx="3810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9" name="Google Shape;229;p16"/>
          <p:cNvSpPr/>
          <p:nvPr/>
        </p:nvSpPr>
        <p:spPr>
          <a:xfrm>
            <a:off x="499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30" name="Google Shape;230;p16"/>
          <p:cNvSpPr/>
          <p:nvPr/>
        </p:nvSpPr>
        <p:spPr>
          <a:xfrm>
            <a:off x="44577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1" name="Google Shape;231;p16"/>
          <p:cNvSpPr txBox="1"/>
          <p:nvPr/>
        </p:nvSpPr>
        <p:spPr>
          <a:xfrm>
            <a:off x="2366988" y="150355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Blocked waiting for semaphore</a:t>
            </a:r>
            <a:endParaRPr sz="1200"/>
          </a:p>
        </p:txBody>
      </p:sp>
      <p:sp>
        <p:nvSpPr>
          <p:cNvPr id="232" name="Google Shape;232;p16"/>
          <p:cNvSpPr/>
          <p:nvPr/>
        </p:nvSpPr>
        <p:spPr>
          <a:xfrm>
            <a:off x="5753100" y="3813150"/>
            <a:ext cx="13485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33" name="Google Shape;233;p16"/>
          <p:cNvSpPr/>
          <p:nvPr/>
        </p:nvSpPr>
        <p:spPr>
          <a:xfrm>
            <a:off x="588795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34" name="Google Shape;234;p16"/>
          <p:cNvSpPr/>
          <p:nvPr/>
        </p:nvSpPr>
        <p:spPr>
          <a:xfrm>
            <a:off x="59641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5" name="Google Shape;235;p16"/>
          <p:cNvSpPr/>
          <p:nvPr/>
        </p:nvSpPr>
        <p:spPr>
          <a:xfrm>
            <a:off x="61966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6" name="Google Shape;236;p16"/>
          <p:cNvSpPr/>
          <p:nvPr/>
        </p:nvSpPr>
        <p:spPr>
          <a:xfrm>
            <a:off x="6272850" y="3813150"/>
            <a:ext cx="1662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cxnSp>
        <p:nvCxnSpPr>
          <p:cNvPr id="237" name="Google Shape;237;p16"/>
          <p:cNvCxnSpPr/>
          <p:nvPr/>
        </p:nvCxnSpPr>
        <p:spPr>
          <a:xfrm>
            <a:off x="4182913" y="1710213"/>
            <a:ext cx="264450" cy="1417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16"/>
          <p:cNvSpPr txBox="1"/>
          <p:nvPr/>
        </p:nvSpPr>
        <p:spPr>
          <a:xfrm>
            <a:off x="4182913" y="1361088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ISR gives semaphore</a:t>
            </a:r>
            <a:endParaRPr sz="1200"/>
          </a:p>
        </p:txBody>
      </p:sp>
      <p:cxnSp>
        <p:nvCxnSpPr>
          <p:cNvPr id="239" name="Google Shape;239;p16"/>
          <p:cNvCxnSpPr/>
          <p:nvPr/>
        </p:nvCxnSpPr>
        <p:spPr>
          <a:xfrm>
            <a:off x="5964150" y="1547275"/>
            <a:ext cx="0" cy="365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0" name="Google Shape;240;p16"/>
          <p:cNvSpPr txBox="1"/>
          <p:nvPr/>
        </p:nvSpPr>
        <p:spPr>
          <a:xfrm>
            <a:off x="6112200" y="1313850"/>
            <a:ext cx="19650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Scheduler called to run newly unblocked task</a:t>
            </a:r>
            <a:endParaRPr sz="1200"/>
          </a:p>
        </p:txBody>
      </p:sp>
      <p:cxnSp>
        <p:nvCxnSpPr>
          <p:cNvPr id="241" name="Google Shape;241;p16"/>
          <p:cNvCxnSpPr/>
          <p:nvPr/>
        </p:nvCxnSpPr>
        <p:spPr>
          <a:xfrm flipH="1">
            <a:off x="6040225" y="1729800"/>
            <a:ext cx="316950" cy="14067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2" name="Google Shape;242;p16"/>
          <p:cNvSpPr/>
          <p:nvPr/>
        </p:nvSpPr>
        <p:spPr>
          <a:xfrm>
            <a:off x="6515175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cxnSp>
        <p:nvCxnSpPr>
          <p:cNvPr id="243" name="Google Shape;243;p16"/>
          <p:cNvCxnSpPr/>
          <p:nvPr/>
        </p:nvCxnSpPr>
        <p:spPr>
          <a:xfrm>
            <a:off x="5753100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16"/>
          <p:cNvCxnSpPr/>
          <p:nvPr/>
        </p:nvCxnSpPr>
        <p:spPr>
          <a:xfrm>
            <a:off x="5891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16"/>
          <p:cNvCxnSpPr/>
          <p:nvPr/>
        </p:nvCxnSpPr>
        <p:spPr>
          <a:xfrm>
            <a:off x="59678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16"/>
          <p:cNvCxnSpPr/>
          <p:nvPr/>
        </p:nvCxnSpPr>
        <p:spPr>
          <a:xfrm>
            <a:off x="60440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7" name="Google Shape;247;p16"/>
          <p:cNvCxnSpPr/>
          <p:nvPr/>
        </p:nvCxnSpPr>
        <p:spPr>
          <a:xfrm>
            <a:off x="61964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8" name="Google Shape;248;p16"/>
          <p:cNvCxnSpPr/>
          <p:nvPr/>
        </p:nvCxnSpPr>
        <p:spPr>
          <a:xfrm>
            <a:off x="6272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7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Aging</a:t>
            </a:r>
            <a:endParaRPr sz="2400"/>
          </a:p>
        </p:txBody>
      </p:sp>
      <p:cxnSp>
        <p:nvCxnSpPr>
          <p:cNvPr id="254" name="Google Shape;254;p17"/>
          <p:cNvCxnSpPr/>
          <p:nvPr/>
        </p:nvCxnSpPr>
        <p:spPr>
          <a:xfrm rot="10800000">
            <a:off x="1545175" y="2189138"/>
            <a:ext cx="0" cy="3090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5" name="Google Shape;255;p17"/>
          <p:cNvCxnSpPr/>
          <p:nvPr/>
        </p:nvCxnSpPr>
        <p:spPr>
          <a:xfrm>
            <a:off x="1290750" y="5070075"/>
            <a:ext cx="65625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6" name="Google Shape;256;p17"/>
          <p:cNvCxnSpPr/>
          <p:nvPr/>
        </p:nvCxnSpPr>
        <p:spPr>
          <a:xfrm>
            <a:off x="1545175" y="4689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7" name="Google Shape;257;p17"/>
          <p:cNvCxnSpPr/>
          <p:nvPr/>
        </p:nvCxnSpPr>
        <p:spPr>
          <a:xfrm>
            <a:off x="2307175" y="4308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8" name="Google Shape;258;p17"/>
          <p:cNvCxnSpPr/>
          <p:nvPr/>
        </p:nvCxnSpPr>
        <p:spPr>
          <a:xfrm>
            <a:off x="3069175" y="3927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17"/>
          <p:cNvCxnSpPr/>
          <p:nvPr/>
        </p:nvCxnSpPr>
        <p:spPr>
          <a:xfrm>
            <a:off x="3831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17"/>
          <p:cNvCxnSpPr/>
          <p:nvPr/>
        </p:nvCxnSpPr>
        <p:spPr>
          <a:xfrm>
            <a:off x="4593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17"/>
          <p:cNvCxnSpPr/>
          <p:nvPr/>
        </p:nvCxnSpPr>
        <p:spPr>
          <a:xfrm>
            <a:off x="5355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2" name="Google Shape;262;p17"/>
          <p:cNvCxnSpPr/>
          <p:nvPr/>
        </p:nvCxnSpPr>
        <p:spPr>
          <a:xfrm>
            <a:off x="6117175" y="3546075"/>
            <a:ext cx="1406700" cy="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3" name="Google Shape;263;p17"/>
          <p:cNvCxnSpPr/>
          <p:nvPr/>
        </p:nvCxnSpPr>
        <p:spPr>
          <a:xfrm>
            <a:off x="6117175" y="4689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17"/>
          <p:cNvCxnSpPr/>
          <p:nvPr/>
        </p:nvCxnSpPr>
        <p:spPr>
          <a:xfrm>
            <a:off x="6879175" y="4308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17"/>
          <p:cNvCxnSpPr/>
          <p:nvPr/>
        </p:nvCxnSpPr>
        <p:spPr>
          <a:xfrm>
            <a:off x="1560138" y="3536100"/>
            <a:ext cx="2258100" cy="1005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p17"/>
          <p:cNvSpPr txBox="1"/>
          <p:nvPr/>
        </p:nvSpPr>
        <p:spPr>
          <a:xfrm>
            <a:off x="602338" y="2189138"/>
            <a:ext cx="8455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Task</a:t>
            </a:r>
            <a:endParaRPr sz="1500"/>
          </a:p>
          <a:p>
            <a:pPr algn="r"/>
            <a:r>
              <a:rPr lang="en" sz="1500"/>
              <a:t>Priority</a:t>
            </a:r>
            <a:endParaRPr sz="1500"/>
          </a:p>
        </p:txBody>
      </p:sp>
      <p:sp>
        <p:nvSpPr>
          <p:cNvPr id="267" name="Google Shape;267;p17"/>
          <p:cNvSpPr txBox="1"/>
          <p:nvPr/>
        </p:nvSpPr>
        <p:spPr>
          <a:xfrm>
            <a:off x="6925400" y="5070075"/>
            <a:ext cx="8455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Time</a:t>
            </a:r>
            <a:endParaRPr sz="1500"/>
          </a:p>
        </p:txBody>
      </p:sp>
      <p:sp>
        <p:nvSpPr>
          <p:cNvPr id="268" name="Google Shape;268;p17"/>
          <p:cNvSpPr txBox="1"/>
          <p:nvPr/>
        </p:nvSpPr>
        <p:spPr>
          <a:xfrm>
            <a:off x="1545175" y="4365825"/>
            <a:ext cx="6897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269" name="Google Shape;269;p17"/>
          <p:cNvSpPr txBox="1"/>
          <p:nvPr/>
        </p:nvSpPr>
        <p:spPr>
          <a:xfrm>
            <a:off x="1545175" y="3222825"/>
            <a:ext cx="6897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270" name="Google Shape;270;p17"/>
          <p:cNvSpPr txBox="1"/>
          <p:nvPr/>
        </p:nvSpPr>
        <p:spPr>
          <a:xfrm>
            <a:off x="919025" y="4527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1</a:t>
            </a:r>
            <a:endParaRPr sz="1500"/>
          </a:p>
        </p:txBody>
      </p:sp>
      <p:sp>
        <p:nvSpPr>
          <p:cNvPr id="271" name="Google Shape;271;p17"/>
          <p:cNvSpPr txBox="1"/>
          <p:nvPr/>
        </p:nvSpPr>
        <p:spPr>
          <a:xfrm>
            <a:off x="919025" y="50608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</a:t>
            </a:r>
            <a:endParaRPr sz="1500"/>
          </a:p>
        </p:txBody>
      </p:sp>
      <p:sp>
        <p:nvSpPr>
          <p:cNvPr id="272" name="Google Shape;272;p17"/>
          <p:cNvSpPr txBox="1"/>
          <p:nvPr/>
        </p:nvSpPr>
        <p:spPr>
          <a:xfrm>
            <a:off x="919025" y="4146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2</a:t>
            </a:r>
            <a:endParaRPr sz="1500"/>
          </a:p>
        </p:txBody>
      </p:sp>
      <p:sp>
        <p:nvSpPr>
          <p:cNvPr id="273" name="Google Shape;273;p17"/>
          <p:cNvSpPr txBox="1"/>
          <p:nvPr/>
        </p:nvSpPr>
        <p:spPr>
          <a:xfrm>
            <a:off x="919025" y="3765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3</a:t>
            </a:r>
            <a:endParaRPr sz="1500"/>
          </a:p>
        </p:txBody>
      </p:sp>
      <p:sp>
        <p:nvSpPr>
          <p:cNvPr id="274" name="Google Shape;274;p17"/>
          <p:cNvSpPr txBox="1"/>
          <p:nvPr/>
        </p:nvSpPr>
        <p:spPr>
          <a:xfrm>
            <a:off x="919025" y="3384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4</a:t>
            </a:r>
            <a:endParaRPr sz="1500"/>
          </a:p>
        </p:txBody>
      </p:sp>
      <p:sp>
        <p:nvSpPr>
          <p:cNvPr id="275" name="Google Shape;275;p17"/>
          <p:cNvSpPr txBox="1"/>
          <p:nvPr/>
        </p:nvSpPr>
        <p:spPr>
          <a:xfrm rot="-5400000">
            <a:off x="1149950" y="3034175"/>
            <a:ext cx="3774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...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8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281" name="Google Shape;28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6" name="Google Shape;286;p18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287" name="Google Shape;287;p18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288" name="Google Shape;288;p18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89" name="Google Shape;289;p18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0" name="Google Shape;290;p18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1" name="Google Shape;291;p18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2" name="Google Shape;292;p18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3" name="Google Shape;293;p18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4" name="Google Shape;294;p18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5" name="Google Shape;295;p18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6" name="Google Shape;296;p18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7" name="Google Shape;297;p18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8" name="Google Shape;298;p18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9" name="Google Shape;299;p18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0" name="Google Shape;300;p18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1" name="Google Shape;301;p18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2" name="Google Shape;302;p18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3" name="Google Shape;303;p18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4" name="Google Shape;304;p18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5" name="Google Shape;305;p18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06" name="Google Shape;306;p18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7" name="Google Shape;307;p18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8" name="Google Shape;308;p18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9" name="Google Shape;309;p18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0" name="Google Shape;310;p18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1" name="Google Shape;311;p18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2" name="Google Shape;312;p18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3" name="Google Shape;313;p18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4" name="Google Shape;314;p18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5" name="Google Shape;315;p18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6" name="Google Shape;316;p18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7" name="Google Shape;317;p18"/>
          <p:cNvSpPr/>
          <p:nvPr/>
        </p:nvSpPr>
        <p:spPr>
          <a:xfrm rot="6485262">
            <a:off x="3414801" y="224268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8" name="Google Shape;318;p18"/>
          <p:cNvSpPr/>
          <p:nvPr/>
        </p:nvSpPr>
        <p:spPr>
          <a:xfrm rot="10800000">
            <a:off x="4043960" y="173978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9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324" name="Google Shape;32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9" name="Google Shape;329;p19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330" name="Google Shape;330;p19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2" name="Google Shape;332;p19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3" name="Google Shape;333;p19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4" name="Google Shape;334;p19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5" name="Google Shape;335;p19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6" name="Google Shape;336;p19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7" name="Google Shape;337;p19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8" name="Google Shape;338;p19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9" name="Google Shape;339;p19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0" name="Google Shape;340;p19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1" name="Google Shape;341;p19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2" name="Google Shape;342;p19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3" name="Google Shape;343;p19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4" name="Google Shape;344;p19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5" name="Google Shape;345;p19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6" name="Google Shape;346;p19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7" name="Google Shape;347;p19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8" name="Google Shape;348;p19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49" name="Google Shape;349;p19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0" name="Google Shape;350;p19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1" name="Google Shape;351;p19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2" name="Google Shape;352;p19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3" name="Google Shape;353;p19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4" name="Google Shape;354;p19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5" name="Google Shape;355;p19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6" name="Google Shape;356;p19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7" name="Google Shape;357;p19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8" name="Google Shape;358;p19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9" name="Google Shape;359;p19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60" name="Google Shape;360;p19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1" name="Google Shape;361;p19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2" name="Google Shape;362;p19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3" name="Google Shape;363;p19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4" name="Google Shape;364;p19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Deadlock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365" name="Google Shape;365;p19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0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371" name="Google Shape;37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6" name="Google Shape;376;p20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377" name="Google Shape;377;p20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378" name="Google Shape;378;p20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79" name="Google Shape;379;p20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0" name="Google Shape;380;p20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1" name="Google Shape;381;p20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2" name="Google Shape;382;p20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3" name="Google Shape;383;p20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4" name="Google Shape;384;p20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5" name="Google Shape;385;p20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6" name="Google Shape;386;p20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7" name="Google Shape;387;p20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8" name="Google Shape;388;p20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9" name="Google Shape;389;p20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0" name="Google Shape;390;p20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1" name="Google Shape;391;p20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2" name="Google Shape;392;p20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3" name="Google Shape;393;p20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4" name="Google Shape;394;p20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5" name="Google Shape;395;p20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96" name="Google Shape;396;p20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7" name="Google Shape;397;p20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8" name="Google Shape;398;p20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9" name="Google Shape;399;p20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0" name="Google Shape;400;p20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1" name="Google Shape;401;p20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2" name="Google Shape;402;p20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3" name="Google Shape;403;p20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4" name="Google Shape;404;p20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5" name="Google Shape;405;p20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6" name="Google Shape;406;p20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7" name="Google Shape;407;p20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8" name="Google Shape;408;p20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9" name="Google Shape;409;p20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10" name="Google Shape;410;p20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11" name="Google Shape;411;p20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1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417" name="Google Shape;4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2" name="Google Shape;422;p21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423" name="Google Shape;423;p21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424" name="Google Shape;424;p21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5" name="Google Shape;425;p21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6" name="Google Shape;426;p21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7" name="Google Shape;427;p21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8" name="Google Shape;428;p21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9" name="Google Shape;429;p21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0" name="Google Shape;430;p21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1" name="Google Shape;431;p21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2" name="Google Shape;432;p21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3" name="Google Shape;433;p21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4" name="Google Shape;434;p21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5" name="Google Shape;435;p21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6" name="Google Shape;436;p21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7" name="Google Shape;437;p21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8" name="Google Shape;438;p21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9" name="Google Shape;439;p21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40" name="Google Shape;440;p21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41" name="Google Shape;441;p21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42" name="Google Shape;442;p21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3" name="Google Shape;443;p21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4" name="Google Shape;444;p21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5" name="Google Shape;445;p21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6" name="Google Shape;446;p21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7" name="Google Shape;447;p21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48" name="Google Shape;448;p21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49" name="Google Shape;449;p21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0" name="Google Shape;450;p21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1" name="Google Shape;451;p21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2" name="Google Shape;452;p21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3" name="Google Shape;453;p21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4" name="Google Shape;454;p21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5" name="Google Shape;455;p21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6" name="Google Shape;456;p21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7" name="Google Shape;457;p21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22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463" name="Google Shape;46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8" name="Google Shape;468;p22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469" name="Google Shape;469;p22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470" name="Google Shape;470;p22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1" name="Google Shape;471;p22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2" name="Google Shape;472;p22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3" name="Google Shape;473;p22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4" name="Google Shape;474;p22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5" name="Google Shape;475;p22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6" name="Google Shape;476;p22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7" name="Google Shape;477;p22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8" name="Google Shape;478;p22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9" name="Google Shape;479;p22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0" name="Google Shape;480;p22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1" name="Google Shape;481;p22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2" name="Google Shape;482;p22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3" name="Google Shape;483;p22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4" name="Google Shape;484;p22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5" name="Google Shape;485;p22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6" name="Google Shape;486;p22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7" name="Google Shape;487;p22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88" name="Google Shape;488;p22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89" name="Google Shape;489;p22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0" name="Google Shape;490;p22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1" name="Google Shape;491;p22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2" name="Google Shape;492;p22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3" name="Google Shape;493;p22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4" name="Google Shape;494;p22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5" name="Google Shape;495;p22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6" name="Google Shape;496;p22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7" name="Google Shape;497;p22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8" name="Google Shape;498;p22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9" name="Google Shape;499;p22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0" name="Google Shape;500;p22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1" name="Google Shape;501;p22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2" name="Google Shape;502;p22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3" name="Google Shape;503;p22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09" name="Google Shape;50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3" name="Google Shape;513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4" name="Google Shape;514;p23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515" name="Google Shape;515;p23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516" name="Google Shape;516;p23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7" name="Google Shape;517;p23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8" name="Google Shape;518;p23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9" name="Google Shape;519;p23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0" name="Google Shape;520;p23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1" name="Google Shape;521;p23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2" name="Google Shape;522;p23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3" name="Google Shape;523;p23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4" name="Google Shape;524;p23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5" name="Google Shape;525;p23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6" name="Google Shape;526;p23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7" name="Google Shape;527;p23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8" name="Google Shape;528;p23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9" name="Google Shape;529;p23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0" name="Google Shape;530;p23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1" name="Google Shape;531;p23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2" name="Google Shape;532;p23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3" name="Google Shape;533;p23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534" name="Google Shape;534;p23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5" name="Google Shape;535;p23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6" name="Google Shape;536;p23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7" name="Google Shape;537;p23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8" name="Google Shape;538;p23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9" name="Google Shape;539;p23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0" name="Google Shape;540;p23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1" name="Google Shape;541;p23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2" name="Google Shape;542;p23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3" name="Google Shape;543;p23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4" name="Google Shape;544;p23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5" name="Google Shape;545;p23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6" name="Google Shape;546;p23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7" name="Google Shape;547;p23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8" name="Google Shape;548;p23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9" name="Google Shape;549;p23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Livelock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550" name="Google Shape;550;p23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5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5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4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56" name="Google Shape;5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1" name="Google Shape;561;p24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562" name="Google Shape;562;p24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563" name="Google Shape;563;p24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4" name="Google Shape;564;p24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5" name="Google Shape;565;p24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6" name="Google Shape;566;p24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7" name="Google Shape;567;p24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8" name="Google Shape;568;p24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9" name="Google Shape;569;p24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0" name="Google Shape;570;p24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1" name="Google Shape;571;p24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2" name="Google Shape;572;p24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3" name="Google Shape;573;p24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4" name="Google Shape;574;p24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5" name="Google Shape;575;p24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6" name="Google Shape;576;p24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7" name="Google Shape;577;p24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8" name="Google Shape;578;p24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9" name="Google Shape;579;p24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80" name="Google Shape;580;p24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581" name="Google Shape;581;p24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2" name="Google Shape;582;p24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3" name="Google Shape;583;p24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4" name="Google Shape;584;p24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5" name="Google Shape;585;p24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6" name="Google Shape;586;p24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7" name="Google Shape;587;p24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8" name="Google Shape;588;p24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9" name="Google Shape;589;p24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0" name="Google Shape;590;p24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1" name="Google Shape;591;p24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2" name="Google Shape;592;p24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593" name="Google Shape;593;p24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594" name="Google Shape;594;p24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595" name="Google Shape;595;p24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596" name="Google Shape;596;p24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25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02" name="Google Shape;60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7" name="Google Shape;607;p25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608" name="Google Shape;608;p25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09" name="Google Shape;609;p25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0" name="Google Shape;610;p25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1" name="Google Shape;611;p25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2" name="Google Shape;612;p25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3" name="Google Shape;613;p25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4" name="Google Shape;614;p25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5" name="Google Shape;615;p25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6" name="Google Shape;616;p25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7" name="Google Shape;617;p25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8" name="Google Shape;618;p25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9" name="Google Shape;619;p25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0" name="Google Shape;620;p25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1" name="Google Shape;621;p25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2" name="Google Shape;622;p25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3" name="Google Shape;623;p25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4" name="Google Shape;624;p25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5" name="Google Shape;625;p25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6" name="Google Shape;626;p25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27" name="Google Shape;627;p25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8" name="Google Shape;628;p25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29" name="Google Shape;629;p25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0" name="Google Shape;630;p25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1" name="Google Shape;631;p25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2" name="Google Shape;632;p25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3" name="Google Shape;633;p25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4" name="Google Shape;634;p25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635" name="Google Shape;635;p25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636" name="Google Shape;636;p25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637" name="Google Shape;637;p25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638" name="Google Shape;638;p25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  <p:sp>
        <p:nvSpPr>
          <p:cNvPr id="639" name="Google Shape;639;p25"/>
          <p:cNvSpPr/>
          <p:nvPr/>
        </p:nvSpPr>
        <p:spPr>
          <a:xfrm rot="10800000">
            <a:off x="5077910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0" name="Google Shape;640;p25"/>
          <p:cNvSpPr/>
          <p:nvPr/>
        </p:nvSpPr>
        <p:spPr>
          <a:xfrm rot="2167448">
            <a:off x="3491828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1" name="Google Shape;641;p25"/>
          <p:cNvSpPr/>
          <p:nvPr/>
        </p:nvSpPr>
        <p:spPr>
          <a:xfrm rot="-2167448" flipH="1">
            <a:off x="4935772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2" name="Google Shape;642;p25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26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48" name="Google Shape;64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2" name="Google Shape;652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53" name="Google Shape;653;p26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654" name="Google Shape;654;p26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55" name="Google Shape;655;p26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6" name="Google Shape;656;p26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7" name="Google Shape;657;p26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8" name="Google Shape;658;p26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9" name="Google Shape;659;p26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0" name="Google Shape;660;p26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1" name="Google Shape;661;p26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2" name="Google Shape;662;p26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3" name="Google Shape;663;p26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4" name="Google Shape;664;p26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5" name="Google Shape;665;p26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6" name="Google Shape;666;p26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7" name="Google Shape;667;p26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8" name="Google Shape;668;p26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9" name="Google Shape;669;p26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0" name="Google Shape;670;p26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1" name="Google Shape;671;p26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2" name="Google Shape;672;p26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73" name="Google Shape;673;p26"/>
          <p:cNvSpPr/>
          <p:nvPr/>
        </p:nvSpPr>
        <p:spPr>
          <a:xfrm rot="6485262">
            <a:off x="3236964" y="302866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74" name="Google Shape;674;p26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5" name="Google Shape;675;p26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6" name="Google Shape;676;p26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7" name="Google Shape;677;p26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8" name="Google Shape;678;p26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9" name="Google Shape;679;p26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80" name="Google Shape;680;p26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681" name="Google Shape;681;p26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682" name="Google Shape;682;p26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683" name="Google Shape;683;p26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684" name="Google Shape;684;p26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  <p:sp>
        <p:nvSpPr>
          <p:cNvPr id="685" name="Google Shape;685;p26"/>
          <p:cNvSpPr/>
          <p:nvPr/>
        </p:nvSpPr>
        <p:spPr>
          <a:xfrm rot="10800000">
            <a:off x="5077910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6" name="Google Shape;686;p26"/>
          <p:cNvSpPr/>
          <p:nvPr/>
        </p:nvSpPr>
        <p:spPr>
          <a:xfrm rot="2167448">
            <a:off x="3491828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7" name="Google Shape;687;p26"/>
          <p:cNvSpPr/>
          <p:nvPr/>
        </p:nvSpPr>
        <p:spPr>
          <a:xfrm rot="-2167448" flipH="1">
            <a:off x="4935772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8" name="Google Shape;688;p26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27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94" name="Google Shape;69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6" name="Google Shape;696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7" name="Google Shape;697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99" name="Google Shape;699;p27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00" name="Google Shape;700;p27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2" name="Google Shape;702;p27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3" name="Google Shape;703;p27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4" name="Google Shape;704;p27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5" name="Google Shape;705;p27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6" name="Google Shape;706;p27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7" name="Google Shape;707;p27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8" name="Google Shape;708;p27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9" name="Google Shape;709;p27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0" name="Google Shape;710;p27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1" name="Google Shape;711;p27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2" name="Google Shape;712;p27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3" name="Google Shape;713;p27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4" name="Google Shape;714;p27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5" name="Google Shape;715;p27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6" name="Google Shape;716;p27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7" name="Google Shape;717;p27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8" name="Google Shape;718;p27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719" name="Google Shape;719;p27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0" name="Google Shape;720;p27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1" name="Google Shape;721;p27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2" name="Google Shape;722;p27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3" name="Google Shape;723;p27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4" name="Google Shape;724;p27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5" name="Google Shape;725;p27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6" name="Google Shape;726;p27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7" name="Google Shape;727;p27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8" name="Google Shape;728;p27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9" name="Google Shape;729;p27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30" name="Google Shape;730;p27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1</a:t>
            </a:r>
            <a:endParaRPr sz="3000"/>
          </a:p>
        </p:txBody>
      </p:sp>
      <p:sp>
        <p:nvSpPr>
          <p:cNvPr id="731" name="Google Shape;731;p27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28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737" name="Google Shape;73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8" name="Google Shape;73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9" name="Google Shape;73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0" name="Google Shape;740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1" name="Google Shape;741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42" name="Google Shape;742;p28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43" name="Google Shape;743;p28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44" name="Google Shape;744;p28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5" name="Google Shape;745;p28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6" name="Google Shape;746;p28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7" name="Google Shape;747;p28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8" name="Google Shape;748;p28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9" name="Google Shape;749;p28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0" name="Google Shape;750;p28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1" name="Google Shape;751;p28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2" name="Google Shape;752;p28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3" name="Google Shape;753;p28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4" name="Google Shape;754;p28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5" name="Google Shape;755;p28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6" name="Google Shape;756;p28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7" name="Google Shape;757;p28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8" name="Google Shape;758;p28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9" name="Google Shape;759;p28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0" name="Google Shape;760;p28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1" name="Google Shape;761;p28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762" name="Google Shape;762;p28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3" name="Google Shape;763;p28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4" name="Google Shape;764;p28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5" name="Google Shape;765;p28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6" name="Google Shape;766;p28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7" name="Google Shape;767;p28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68" name="Google Shape;768;p28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69" name="Google Shape;769;p28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0" name="Google Shape;770;p28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1" name="Google Shape;771;p28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2" name="Google Shape;772;p28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3" name="Google Shape;773;p28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774" name="Google Shape;774;p28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29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780" name="Google Shape;7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2" name="Google Shape;78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3" name="Google Shape;783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5" name="Google Shape;785;p29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86" name="Google Shape;786;p29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87" name="Google Shape;787;p29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8" name="Google Shape;788;p29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9" name="Google Shape;789;p29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0" name="Google Shape;790;p29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1" name="Google Shape;791;p29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2" name="Google Shape;792;p29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3" name="Google Shape;793;p29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4" name="Google Shape;794;p29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5" name="Google Shape;795;p29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6" name="Google Shape;796;p29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7" name="Google Shape;797;p29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8" name="Google Shape;798;p29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9" name="Google Shape;799;p29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0" name="Google Shape;800;p29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1" name="Google Shape;801;p29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2" name="Google Shape;802;p29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3" name="Google Shape;803;p29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4" name="Google Shape;804;p29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05" name="Google Shape;805;p29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6" name="Google Shape;806;p29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7" name="Google Shape;807;p29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8" name="Google Shape;808;p29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09" name="Google Shape;809;p29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0" name="Google Shape;810;p29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1" name="Google Shape;811;p29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2" name="Google Shape;812;p29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3" name="Google Shape;813;p29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4" name="Google Shape;814;p29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815" name="Google Shape;815;p29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816" name="Google Shape;816;p29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17" name="Google Shape;817;p29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30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823" name="Google Shape;82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5" name="Google Shape;825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6" name="Google Shape;826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7" name="Google Shape;827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8" name="Google Shape;828;p30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829" name="Google Shape;829;p30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830" name="Google Shape;830;p30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1" name="Google Shape;831;p30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2" name="Google Shape;832;p30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3" name="Google Shape;833;p30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4" name="Google Shape;834;p30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5" name="Google Shape;835;p30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6" name="Google Shape;836;p30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7" name="Google Shape;837;p30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8" name="Google Shape;838;p30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9" name="Google Shape;839;p30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0" name="Google Shape;840;p30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1" name="Google Shape;841;p30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2" name="Google Shape;842;p30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3" name="Google Shape;843;p30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4" name="Google Shape;844;p30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5" name="Google Shape;845;p30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6" name="Google Shape;846;p30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7" name="Google Shape;847;p30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48" name="Google Shape;848;p30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9" name="Google Shape;849;p30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0" name="Google Shape;850;p30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1" name="Google Shape;851;p30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2" name="Google Shape;852;p30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3" name="Google Shape;853;p30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4" name="Google Shape;854;p30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5" name="Google Shape;855;p30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6" name="Google Shape;856;p30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7" name="Google Shape;857;p30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8" name="Google Shape;858;p30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9" name="Google Shape;859;p30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860" name="Google Shape;860;p30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1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866" name="Google Shape;86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p3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1" name="Google Shape;871;p31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872" name="Google Shape;872;p31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873" name="Google Shape;873;p31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4" name="Google Shape;874;p31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5" name="Google Shape;875;p31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6" name="Google Shape;876;p31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7" name="Google Shape;877;p31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8" name="Google Shape;878;p31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9" name="Google Shape;879;p31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0" name="Google Shape;880;p31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1" name="Google Shape;881;p31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2" name="Google Shape;882;p31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3" name="Google Shape;883;p31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4" name="Google Shape;884;p31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5" name="Google Shape;885;p31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6" name="Google Shape;886;p31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7" name="Google Shape;887;p31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8" name="Google Shape;888;p31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9" name="Google Shape;889;p31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90" name="Google Shape;890;p31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91" name="Google Shape;891;p31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2" name="Google Shape;892;p31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3" name="Google Shape;893;p31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4" name="Google Shape;894;p31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5" name="Google Shape;895;p31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6" name="Google Shape;896;p31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7" name="Google Shape;897;p31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8" name="Google Shape;898;p31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9" name="Google Shape;899;p31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0" name="Google Shape;900;p31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1" name="Google Shape;901;p31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2" name="Google Shape;902;p31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1</a:t>
            </a:r>
            <a:endParaRPr sz="3000"/>
          </a:p>
        </p:txBody>
      </p:sp>
      <p:sp>
        <p:nvSpPr>
          <p:cNvPr id="903" name="Google Shape;903;p31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32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09" name="Google Shape;90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0" name="Google Shape;91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p3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4" name="Google Shape;914;p32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915" name="Google Shape;915;p32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916" name="Google Shape;916;p32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7" name="Google Shape;917;p32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8" name="Google Shape;918;p32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9" name="Google Shape;919;p32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0" name="Google Shape;920;p32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1" name="Google Shape;921;p32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2" name="Google Shape;922;p32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3" name="Google Shape;923;p32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4" name="Google Shape;924;p32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5" name="Google Shape;925;p32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6" name="Google Shape;926;p32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7" name="Google Shape;927;p32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8" name="Google Shape;928;p32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9" name="Google Shape;929;p32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0" name="Google Shape;930;p32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1" name="Google Shape;931;p32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2" name="Google Shape;932;p32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3" name="Google Shape;933;p32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934" name="Google Shape;934;p32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35" name="Google Shape;935;p32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6" name="Google Shape;936;p32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7" name="Google Shape;937;p32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8" name="Google Shape;938;p32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9" name="Google Shape;939;p32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40" name="Google Shape;940;p32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41" name="Google Shape;941;p32"/>
          <p:cNvSpPr txBox="1"/>
          <p:nvPr/>
        </p:nvSpPr>
        <p:spPr>
          <a:xfrm>
            <a:off x="1716713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2" name="Google Shape;942;p32"/>
          <p:cNvSpPr txBox="1"/>
          <p:nvPr/>
        </p:nvSpPr>
        <p:spPr>
          <a:xfrm>
            <a:off x="5155613" y="5192350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3" name="Google Shape;943;p32"/>
          <p:cNvSpPr txBox="1"/>
          <p:nvPr/>
        </p:nvSpPr>
        <p:spPr>
          <a:xfrm>
            <a:off x="6619850" y="3012063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4" name="Google Shape;944;p32"/>
          <p:cNvSpPr txBox="1"/>
          <p:nvPr/>
        </p:nvSpPr>
        <p:spPr>
          <a:xfrm>
            <a:off x="6319238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5" name="Google Shape;945;p32"/>
          <p:cNvSpPr txBox="1"/>
          <p:nvPr/>
        </p:nvSpPr>
        <p:spPr>
          <a:xfrm>
            <a:off x="1639963" y="2988088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6" name="Google Shape;946;p32"/>
          <p:cNvSpPr/>
          <p:nvPr/>
        </p:nvSpPr>
        <p:spPr>
          <a:xfrm rot="6485262">
            <a:off x="3329326" y="22803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7" name="Google Shape;947;p32"/>
          <p:cNvSpPr/>
          <p:nvPr/>
        </p:nvSpPr>
        <p:spPr>
          <a:xfrm rot="10800000">
            <a:off x="4118048" y="1691371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8" name="Google Shape;948;p32"/>
          <p:cNvSpPr/>
          <p:nvPr/>
        </p:nvSpPr>
        <p:spPr>
          <a:xfrm rot="2167448">
            <a:off x="4087047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9" name="Google Shape;949;p32"/>
          <p:cNvSpPr/>
          <p:nvPr/>
        </p:nvSpPr>
        <p:spPr>
          <a:xfrm rot="-2167448" flipH="1">
            <a:off x="5017772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50" name="Google Shape;950;p32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Starvation</a:t>
            </a:r>
            <a:endParaRPr sz="30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3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56" name="Google Shape;95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7" name="Google Shape;957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8" name="Google Shape;958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9" name="Google Shape;959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0" name="Google Shape;960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1" name="Google Shape;961;p33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962" name="Google Shape;962;p33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963" name="Google Shape;963;p33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4" name="Google Shape;964;p33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5" name="Google Shape;965;p33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6" name="Google Shape;966;p33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7" name="Google Shape;967;p33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8" name="Google Shape;968;p33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9" name="Google Shape;969;p33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0" name="Google Shape;970;p33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1" name="Google Shape;971;p33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2" name="Google Shape;972;p33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3" name="Google Shape;973;p33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4" name="Google Shape;974;p33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5" name="Google Shape;975;p33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6" name="Google Shape;976;p33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7" name="Google Shape;977;p33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8" name="Google Shape;978;p33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9" name="Google Shape;979;p33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80" name="Google Shape;980;p33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981" name="Google Shape;981;p33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2" name="Google Shape;982;p33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3" name="Google Shape;983;p33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4" name="Google Shape;984;p33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5" name="Google Shape;985;p33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6" name="Google Shape;986;p33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7" name="Google Shape;987;p33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8" name="Google Shape;988;p33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9" name="Google Shape;989;p33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0" name="Google Shape;990;p33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1" name="Google Shape;991;p33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Deadlock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992" name="Google Shape;992;p33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C885A-F17F-4894-1543-211BDB3D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30C3D-E755-31E6-37D7-E9F4F6180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53270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55;p13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Google Shape;56;p13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57" name="Google Shape;57;p13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59" name="Google Shape;59;p13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60" name="Google Shape;60;p13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61" name="Google Shape;61;p13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Bounded Priority Inversion</a:t>
            </a:r>
            <a:endParaRPr sz="2400"/>
          </a:p>
        </p:txBody>
      </p:sp>
      <p:sp>
        <p:nvSpPr>
          <p:cNvPr id="64" name="Google Shape;64;p13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65" name="Google Shape;65;p13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66" name="Google Shape;66;p13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67" name="Google Shape;67;p13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8" name="Google Shape;68;p13"/>
          <p:cNvSpPr/>
          <p:nvPr/>
        </p:nvSpPr>
        <p:spPr>
          <a:xfrm>
            <a:off x="3238500" y="40036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cxnSp>
        <p:nvCxnSpPr>
          <p:cNvPr id="69" name="Google Shape;69;p13"/>
          <p:cNvCxnSpPr/>
          <p:nvPr/>
        </p:nvCxnSpPr>
        <p:spPr>
          <a:xfrm>
            <a:off x="4343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0" name="Google Shape;70;p13"/>
          <p:cNvCxnSpPr/>
          <p:nvPr/>
        </p:nvCxnSpPr>
        <p:spPr>
          <a:xfrm>
            <a:off x="6210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" name="Google Shape;71;p13"/>
          <p:cNvSpPr/>
          <p:nvPr/>
        </p:nvSpPr>
        <p:spPr>
          <a:xfrm>
            <a:off x="6210300" y="4003650"/>
            <a:ext cx="14478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72" name="Google Shape;72;p13"/>
          <p:cNvSpPr/>
          <p:nvPr/>
        </p:nvSpPr>
        <p:spPr>
          <a:xfrm>
            <a:off x="43452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 dirty="0"/>
              <a:t>Critical Section</a:t>
            </a:r>
            <a:endParaRPr sz="1200" dirty="0"/>
          </a:p>
        </p:txBody>
      </p:sp>
      <p:sp>
        <p:nvSpPr>
          <p:cNvPr id="73" name="Google Shape;73;p13"/>
          <p:cNvSpPr/>
          <p:nvPr/>
        </p:nvSpPr>
        <p:spPr>
          <a:xfrm>
            <a:off x="54521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 dirty="0">
                <a:solidFill>
                  <a:srgbClr val="000000"/>
                </a:solidFill>
              </a:rPr>
              <a:t>Task </a:t>
            </a:r>
            <a:r>
              <a:rPr lang="en" sz="1200" dirty="0"/>
              <a:t>H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75" name="Google Shape;75;p13"/>
          <p:cNvCxnSpPr>
            <a:stCxn id="74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" name="Google Shape;76;p13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77" name="Google Shape;77;p13"/>
          <p:cNvCxnSpPr>
            <a:stCxn id="76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" name="Google Shape;78;p13"/>
          <p:cNvSpPr txBox="1"/>
          <p:nvPr/>
        </p:nvSpPr>
        <p:spPr>
          <a:xfrm>
            <a:off x="3289275" y="2920463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79" name="Google Shape;79;p13"/>
          <p:cNvCxnSpPr/>
          <p:nvPr/>
        </p:nvCxnSpPr>
        <p:spPr>
          <a:xfrm>
            <a:off x="3967188" y="3380813"/>
            <a:ext cx="365550" cy="612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/>
          <p:nvPr/>
        </p:nvSpPr>
        <p:spPr>
          <a:xfrm>
            <a:off x="591569" y="2001725"/>
            <a:ext cx="1217550" cy="5154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85" name="Google Shape;85;p14"/>
          <p:cNvSpPr/>
          <p:nvPr/>
        </p:nvSpPr>
        <p:spPr>
          <a:xfrm>
            <a:off x="591569" y="4340888"/>
            <a:ext cx="1217550" cy="5154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86" name="Google Shape;86;p14"/>
          <p:cNvSpPr/>
          <p:nvPr/>
        </p:nvSpPr>
        <p:spPr>
          <a:xfrm rot="-5400000">
            <a:off x="38910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87" name="Google Shape;87;p14"/>
          <p:cNvSpPr txBox="1"/>
          <p:nvPr/>
        </p:nvSpPr>
        <p:spPr>
          <a:xfrm>
            <a:off x="3024307" y="2133394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1</a:t>
            </a:r>
            <a:endParaRPr sz="1500"/>
          </a:p>
        </p:txBody>
      </p:sp>
      <p:sp>
        <p:nvSpPr>
          <p:cNvPr id="88" name="Google Shape;88;p14"/>
          <p:cNvSpPr/>
          <p:nvPr/>
        </p:nvSpPr>
        <p:spPr>
          <a:xfrm rot="-5400000">
            <a:off x="356775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89" name="Google Shape;89;p14"/>
          <p:cNvSpPr/>
          <p:nvPr/>
        </p:nvSpPr>
        <p:spPr>
          <a:xfrm rot="-5400000">
            <a:off x="32445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0" name="Google Shape;90;p14"/>
          <p:cNvSpPr/>
          <p:nvPr/>
        </p:nvSpPr>
        <p:spPr>
          <a:xfrm rot="-5400000">
            <a:off x="292125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1" name="Google Shape;91;p14"/>
          <p:cNvSpPr/>
          <p:nvPr/>
        </p:nvSpPr>
        <p:spPr>
          <a:xfrm rot="-5400000">
            <a:off x="25980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2" name="Google Shape;92;p14"/>
          <p:cNvSpPr/>
          <p:nvPr/>
        </p:nvSpPr>
        <p:spPr>
          <a:xfrm>
            <a:off x="5322382" y="3171300"/>
            <a:ext cx="1217550" cy="5154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Service</a:t>
            </a:r>
            <a:endParaRPr sz="1500"/>
          </a:p>
          <a:p>
            <a:pPr algn="ctr"/>
            <a:r>
              <a:rPr lang="en" sz="1500"/>
              <a:t>Task</a:t>
            </a:r>
            <a:endParaRPr sz="1500"/>
          </a:p>
        </p:txBody>
      </p:sp>
      <p:sp>
        <p:nvSpPr>
          <p:cNvPr id="93" name="Google Shape;93;p14"/>
          <p:cNvSpPr/>
          <p:nvPr/>
        </p:nvSpPr>
        <p:spPr>
          <a:xfrm rot="-5400000">
            <a:off x="38910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4" name="Google Shape;94;p14"/>
          <p:cNvSpPr txBox="1"/>
          <p:nvPr/>
        </p:nvSpPr>
        <p:spPr>
          <a:xfrm>
            <a:off x="3024307" y="3818369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2</a:t>
            </a:r>
            <a:endParaRPr sz="1500"/>
          </a:p>
        </p:txBody>
      </p:sp>
      <p:sp>
        <p:nvSpPr>
          <p:cNvPr id="95" name="Google Shape;95;p14"/>
          <p:cNvSpPr/>
          <p:nvPr/>
        </p:nvSpPr>
        <p:spPr>
          <a:xfrm rot="-5400000">
            <a:off x="356775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6" name="Google Shape;96;p14"/>
          <p:cNvSpPr/>
          <p:nvPr/>
        </p:nvSpPr>
        <p:spPr>
          <a:xfrm rot="-5400000">
            <a:off x="32445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7" name="Google Shape;97;p14"/>
          <p:cNvSpPr/>
          <p:nvPr/>
        </p:nvSpPr>
        <p:spPr>
          <a:xfrm rot="-5400000">
            <a:off x="292125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8" name="Google Shape;98;p14"/>
          <p:cNvSpPr/>
          <p:nvPr/>
        </p:nvSpPr>
        <p:spPr>
          <a:xfrm rot="-5400000">
            <a:off x="25980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99" name="Google Shape;99;p14"/>
          <p:cNvCxnSpPr/>
          <p:nvPr/>
        </p:nvCxnSpPr>
        <p:spPr>
          <a:xfrm>
            <a:off x="1809119" y="2145125"/>
            <a:ext cx="927300" cy="480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" name="Google Shape;100;p14"/>
          <p:cNvCxnSpPr/>
          <p:nvPr/>
        </p:nvCxnSpPr>
        <p:spPr>
          <a:xfrm>
            <a:off x="4359844" y="2862388"/>
            <a:ext cx="962550" cy="490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" name="Google Shape;101;p14"/>
          <p:cNvCxnSpPr/>
          <p:nvPr/>
        </p:nvCxnSpPr>
        <p:spPr>
          <a:xfrm rot="10800000" flipH="1">
            <a:off x="1809119" y="2897138"/>
            <a:ext cx="930900" cy="1587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02;p14"/>
          <p:cNvCxnSpPr/>
          <p:nvPr/>
        </p:nvCxnSpPr>
        <p:spPr>
          <a:xfrm flipH="1">
            <a:off x="4364782" y="3505200"/>
            <a:ext cx="957600" cy="808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03;p14"/>
          <p:cNvCxnSpPr/>
          <p:nvPr/>
        </p:nvCxnSpPr>
        <p:spPr>
          <a:xfrm flipH="1">
            <a:off x="1809082" y="4538907"/>
            <a:ext cx="927300" cy="17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04;p14"/>
          <p:cNvCxnSpPr/>
          <p:nvPr/>
        </p:nvCxnSpPr>
        <p:spPr>
          <a:xfrm>
            <a:off x="1818732" y="2446300"/>
            <a:ext cx="921300" cy="18856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5" name="Google Shape;105;p14"/>
          <p:cNvSpPr/>
          <p:nvPr/>
        </p:nvSpPr>
        <p:spPr>
          <a:xfrm>
            <a:off x="7284332" y="3129000"/>
            <a:ext cx="1268100" cy="600000"/>
          </a:xfrm>
          <a:prstGeom prst="ellipse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Serial Port</a:t>
            </a:r>
            <a:endParaRPr sz="1500"/>
          </a:p>
        </p:txBody>
      </p:sp>
      <p:cxnSp>
        <p:nvCxnSpPr>
          <p:cNvPr id="106" name="Google Shape;106;p14"/>
          <p:cNvCxnSpPr>
            <a:stCxn id="92" idx="3"/>
            <a:endCxn id="105" idx="2"/>
          </p:cNvCxnSpPr>
          <p:nvPr/>
        </p:nvCxnSpPr>
        <p:spPr>
          <a:xfrm>
            <a:off x="6539932" y="3429000"/>
            <a:ext cx="7444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7" name="Google Shape;107;p14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Using a Service Task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2" name="Google Shape;112;p15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13;p15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4" name="Google Shape;114;p15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15" name="Google Shape;115;p15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16" name="Google Shape;116;p15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17" name="Google Shape;117;p15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18" name="Google Shape;118;p15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19" name="Google Shape;119;p15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21" name="Google Shape;121;p15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Bounded Priority Inversion</a:t>
            </a:r>
            <a:endParaRPr sz="2400"/>
          </a:p>
        </p:txBody>
      </p:sp>
      <p:sp>
        <p:nvSpPr>
          <p:cNvPr id="122" name="Google Shape;122;p15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123" name="Google Shape;123;p15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24" name="Google Shape;124;p15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125" name="Google Shape;125;p15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15"/>
          <p:cNvSpPr/>
          <p:nvPr/>
        </p:nvSpPr>
        <p:spPr>
          <a:xfrm>
            <a:off x="3238500" y="40036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cxnSp>
        <p:nvCxnSpPr>
          <p:cNvPr id="127" name="Google Shape;127;p15"/>
          <p:cNvCxnSpPr/>
          <p:nvPr/>
        </p:nvCxnSpPr>
        <p:spPr>
          <a:xfrm>
            <a:off x="4343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5"/>
          <p:cNvCxnSpPr/>
          <p:nvPr/>
        </p:nvCxnSpPr>
        <p:spPr>
          <a:xfrm>
            <a:off x="6210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9" name="Google Shape;129;p15"/>
          <p:cNvSpPr/>
          <p:nvPr/>
        </p:nvSpPr>
        <p:spPr>
          <a:xfrm>
            <a:off x="6210300" y="4003650"/>
            <a:ext cx="14478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30" name="Google Shape;130;p15"/>
          <p:cNvSpPr/>
          <p:nvPr/>
        </p:nvSpPr>
        <p:spPr>
          <a:xfrm>
            <a:off x="43452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31" name="Google Shape;131;p15"/>
          <p:cNvSpPr/>
          <p:nvPr/>
        </p:nvSpPr>
        <p:spPr>
          <a:xfrm>
            <a:off x="54521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133" name="Google Shape;133;p15"/>
          <p:cNvCxnSpPr>
            <a:stCxn id="132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Google Shape;134;p15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135" name="Google Shape;135;p15"/>
          <p:cNvCxnSpPr>
            <a:stCxn id="134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" name="Google Shape;136;p15"/>
          <p:cNvSpPr txBox="1"/>
          <p:nvPr/>
        </p:nvSpPr>
        <p:spPr>
          <a:xfrm>
            <a:off x="3289275" y="2920463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137" name="Google Shape;137;p15"/>
          <p:cNvCxnSpPr/>
          <p:nvPr/>
        </p:nvCxnSpPr>
        <p:spPr>
          <a:xfrm>
            <a:off x="3967188" y="3380813"/>
            <a:ext cx="365550" cy="612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2" name="Google Shape;142;p16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" name="Google Shape;143;p16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4" name="Google Shape;144;p16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45" name="Google Shape;145;p16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46" name="Google Shape;146;p16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47" name="Google Shape;147;p16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48" name="Google Shape;148;p16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49" name="Google Shape;149;p16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51" name="Google Shape;151;p16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Unbounded Priority Inversion</a:t>
            </a:r>
            <a:endParaRPr sz="2400"/>
          </a:p>
        </p:txBody>
      </p:sp>
      <p:sp>
        <p:nvSpPr>
          <p:cNvPr id="152" name="Google Shape;152;p16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153" name="Google Shape;153;p16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4" name="Google Shape;154;p16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155" name="Google Shape;155;p16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6" name="Google Shape;156;p16"/>
          <p:cNvCxnSpPr/>
          <p:nvPr/>
        </p:nvCxnSpPr>
        <p:spPr>
          <a:xfrm>
            <a:off x="6400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16"/>
          <p:cNvCxnSpPr/>
          <p:nvPr/>
        </p:nvCxnSpPr>
        <p:spPr>
          <a:xfrm>
            <a:off x="82677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8" name="Google Shape;158;p16"/>
          <p:cNvSpPr/>
          <p:nvPr/>
        </p:nvSpPr>
        <p:spPr>
          <a:xfrm>
            <a:off x="82677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9" name="Google Shape;159;p16"/>
          <p:cNvSpPr/>
          <p:nvPr/>
        </p:nvSpPr>
        <p:spPr>
          <a:xfrm>
            <a:off x="64026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60" name="Google Shape;160;p16"/>
          <p:cNvSpPr/>
          <p:nvPr/>
        </p:nvSpPr>
        <p:spPr>
          <a:xfrm>
            <a:off x="75095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162" name="Google Shape;162;p16"/>
          <p:cNvCxnSpPr>
            <a:stCxn id="161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" name="Google Shape;163;p16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164" name="Google Shape;164;p16"/>
          <p:cNvCxnSpPr>
            <a:stCxn id="163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6"/>
          <p:cNvSpPr txBox="1"/>
          <p:nvPr/>
        </p:nvSpPr>
        <p:spPr>
          <a:xfrm>
            <a:off x="6629400" y="4089475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166" name="Google Shape;166;p16"/>
          <p:cNvCxnSpPr/>
          <p:nvPr/>
        </p:nvCxnSpPr>
        <p:spPr>
          <a:xfrm rot="10800000">
            <a:off x="6390175" y="3992738"/>
            <a:ext cx="396000" cy="193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7" name="Google Shape;167;p16"/>
          <p:cNvSpPr/>
          <p:nvPr/>
        </p:nvSpPr>
        <p:spPr>
          <a:xfrm>
            <a:off x="5734750" y="4003650"/>
            <a:ext cx="66795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68" name="Google Shape;168;p16"/>
          <p:cNvSpPr/>
          <p:nvPr/>
        </p:nvSpPr>
        <p:spPr>
          <a:xfrm>
            <a:off x="3238500" y="4003650"/>
            <a:ext cx="4191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9" name="Google Shape;169;p16"/>
          <p:cNvSpPr/>
          <p:nvPr/>
        </p:nvSpPr>
        <p:spPr>
          <a:xfrm>
            <a:off x="3657600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170" name="Google Shape;170;p16"/>
          <p:cNvCxnSpPr/>
          <p:nvPr/>
        </p:nvCxnSpPr>
        <p:spPr>
          <a:xfrm>
            <a:off x="36576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16"/>
          <p:cNvCxnSpPr/>
          <p:nvPr/>
        </p:nvCxnSpPr>
        <p:spPr>
          <a:xfrm>
            <a:off x="57349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2" name="Google Shape;172;p16"/>
          <p:cNvSpPr txBox="1"/>
          <p:nvPr/>
        </p:nvSpPr>
        <p:spPr>
          <a:xfrm>
            <a:off x="3664950" y="1555563"/>
            <a:ext cx="20772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prevented from doing work in critical section</a:t>
            </a:r>
            <a:endParaRPr sz="1200"/>
          </a:p>
        </p:txBody>
      </p:sp>
      <p:sp>
        <p:nvSpPr>
          <p:cNvPr id="173" name="Google Shape;173;p16"/>
          <p:cNvSpPr/>
          <p:nvPr/>
        </p:nvSpPr>
        <p:spPr>
          <a:xfrm>
            <a:off x="473163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74" name="Google Shape;174;p16"/>
          <p:cNvSpPr/>
          <p:nvPr/>
        </p:nvSpPr>
        <p:spPr>
          <a:xfrm>
            <a:off x="4572000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5" name="Google Shape;175;p16"/>
          <p:cNvSpPr/>
          <p:nvPr/>
        </p:nvSpPr>
        <p:spPr>
          <a:xfrm>
            <a:off x="4526675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6" name="Google Shape;176;p16"/>
          <p:cNvSpPr/>
          <p:nvPr/>
        </p:nvSpPr>
        <p:spPr>
          <a:xfrm>
            <a:off x="4763700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7" name="Google Shape;177;p16"/>
          <p:cNvSpPr/>
          <p:nvPr/>
        </p:nvSpPr>
        <p:spPr>
          <a:xfrm>
            <a:off x="4824675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8" name="Google Shape;178;p16"/>
          <p:cNvSpPr/>
          <p:nvPr/>
        </p:nvSpPr>
        <p:spPr>
          <a:xfrm>
            <a:off x="4542038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9" name="Google Shape;179;p16"/>
          <p:cNvSpPr/>
          <p:nvPr/>
        </p:nvSpPr>
        <p:spPr>
          <a:xfrm>
            <a:off x="4522950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0" name="Google Shape;180;p16"/>
          <p:cNvSpPr/>
          <p:nvPr/>
        </p:nvSpPr>
        <p:spPr>
          <a:xfrm>
            <a:off x="4559850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1" name="Google Shape;181;p16"/>
          <p:cNvSpPr/>
          <p:nvPr/>
        </p:nvSpPr>
        <p:spPr>
          <a:xfrm>
            <a:off x="4824675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2" name="Google Shape;182;p16"/>
          <p:cNvSpPr/>
          <p:nvPr/>
        </p:nvSpPr>
        <p:spPr>
          <a:xfrm>
            <a:off x="4522950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pic>
        <p:nvPicPr>
          <p:cNvPr id="183" name="Google Shape;1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8650" y="2090380"/>
            <a:ext cx="495300" cy="595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6"/>
          <p:cNvSpPr txBox="1"/>
          <p:nvPr/>
        </p:nvSpPr>
        <p:spPr>
          <a:xfrm>
            <a:off x="4011925" y="2678975"/>
            <a:ext cx="13687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Watchdog Timer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9" name="Google Shape;189;p17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0" name="Google Shape;190;p17"/>
          <p:cNvCxnSpPr/>
          <p:nvPr/>
        </p:nvCxnSpPr>
        <p:spPr>
          <a:xfrm>
            <a:off x="2438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1" name="Google Shape;191;p17"/>
          <p:cNvSpPr/>
          <p:nvPr/>
        </p:nvSpPr>
        <p:spPr>
          <a:xfrm>
            <a:off x="1181100" y="4003650"/>
            <a:ext cx="12573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92" name="Google Shape;192;p17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93" name="Google Shape;193;p17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94" name="Google Shape;194;p17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95" name="Google Shape;195;p17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96" name="Google Shape;196;p17"/>
          <p:cNvSpPr/>
          <p:nvPr/>
        </p:nvSpPr>
        <p:spPr>
          <a:xfrm>
            <a:off x="3543300" y="2632050"/>
            <a:ext cx="5715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98" name="Google Shape;198;p17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Priority Ceiling Protocol</a:t>
            </a:r>
            <a:endParaRPr sz="2400"/>
          </a:p>
        </p:txBody>
      </p:sp>
      <p:sp>
        <p:nvSpPr>
          <p:cNvPr id="199" name="Google Shape;199;p17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200" name="Google Shape;200;p17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201" name="Google Shape;201;p17"/>
          <p:cNvCxnSpPr/>
          <p:nvPr/>
        </p:nvCxnSpPr>
        <p:spPr>
          <a:xfrm>
            <a:off x="3543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17"/>
          <p:cNvCxnSpPr/>
          <p:nvPr/>
        </p:nvCxnSpPr>
        <p:spPr>
          <a:xfrm>
            <a:off x="8001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3" name="Google Shape;203;p17"/>
          <p:cNvSpPr/>
          <p:nvPr/>
        </p:nvSpPr>
        <p:spPr>
          <a:xfrm>
            <a:off x="80010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04" name="Google Shape;204;p17"/>
          <p:cNvSpPr/>
          <p:nvPr/>
        </p:nvSpPr>
        <p:spPr>
          <a:xfrm>
            <a:off x="5181600" y="2632050"/>
            <a:ext cx="74415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1537050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206" name="Google Shape;206;p17"/>
          <p:cNvCxnSpPr>
            <a:stCxn id="205" idx="2"/>
          </p:cNvCxnSpPr>
          <p:nvPr/>
        </p:nvCxnSpPr>
        <p:spPr>
          <a:xfrm>
            <a:off x="1968675" y="3474701"/>
            <a:ext cx="441600" cy="5269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7" name="Google Shape;207;p17"/>
          <p:cNvSpPr/>
          <p:nvPr/>
        </p:nvSpPr>
        <p:spPr>
          <a:xfrm>
            <a:off x="2438400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08" name="Google Shape;208;p17"/>
          <p:cNvSpPr/>
          <p:nvPr/>
        </p:nvSpPr>
        <p:spPr>
          <a:xfrm>
            <a:off x="592548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209" name="Google Shape;209;p17"/>
          <p:cNvCxnSpPr/>
          <p:nvPr/>
        </p:nvCxnSpPr>
        <p:spPr>
          <a:xfrm>
            <a:off x="59254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" name="Google Shape;210;p17"/>
          <p:cNvSpPr/>
          <p:nvPr/>
        </p:nvSpPr>
        <p:spPr>
          <a:xfrm>
            <a:off x="6999525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1" name="Google Shape;211;p17"/>
          <p:cNvSpPr/>
          <p:nvPr/>
        </p:nvSpPr>
        <p:spPr>
          <a:xfrm>
            <a:off x="6839888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12" name="Google Shape;212;p17"/>
          <p:cNvSpPr/>
          <p:nvPr/>
        </p:nvSpPr>
        <p:spPr>
          <a:xfrm>
            <a:off x="6794563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3" name="Google Shape;213;p17"/>
          <p:cNvSpPr/>
          <p:nvPr/>
        </p:nvSpPr>
        <p:spPr>
          <a:xfrm>
            <a:off x="7031588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4" name="Google Shape;214;p17"/>
          <p:cNvSpPr/>
          <p:nvPr/>
        </p:nvSpPr>
        <p:spPr>
          <a:xfrm>
            <a:off x="7092563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5" name="Google Shape;215;p17"/>
          <p:cNvSpPr/>
          <p:nvPr/>
        </p:nvSpPr>
        <p:spPr>
          <a:xfrm>
            <a:off x="6809925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6" name="Google Shape;216;p17"/>
          <p:cNvSpPr/>
          <p:nvPr/>
        </p:nvSpPr>
        <p:spPr>
          <a:xfrm>
            <a:off x="6790838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7" name="Google Shape;217;p17"/>
          <p:cNvSpPr/>
          <p:nvPr/>
        </p:nvSpPr>
        <p:spPr>
          <a:xfrm>
            <a:off x="6827738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18" name="Google Shape;218;p17"/>
          <p:cNvSpPr/>
          <p:nvPr/>
        </p:nvSpPr>
        <p:spPr>
          <a:xfrm>
            <a:off x="7092563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9" name="Google Shape;219;p17"/>
          <p:cNvSpPr/>
          <p:nvPr/>
        </p:nvSpPr>
        <p:spPr>
          <a:xfrm>
            <a:off x="6790838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Google Shape;220;p17"/>
          <p:cNvSpPr txBox="1"/>
          <p:nvPr/>
        </p:nvSpPr>
        <p:spPr>
          <a:xfrm>
            <a:off x="2300850" y="1578825"/>
            <a:ext cx="13419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executes at elevated priority</a:t>
            </a:r>
            <a:endParaRPr sz="1200"/>
          </a:p>
        </p:txBody>
      </p:sp>
      <p:cxnSp>
        <p:nvCxnSpPr>
          <p:cNvPr id="221" name="Google Shape;221;p17"/>
          <p:cNvCxnSpPr/>
          <p:nvPr/>
        </p:nvCxnSpPr>
        <p:spPr>
          <a:xfrm>
            <a:off x="4114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2" name="Google Shape;222;p17"/>
          <p:cNvSpPr/>
          <p:nvPr/>
        </p:nvSpPr>
        <p:spPr>
          <a:xfrm>
            <a:off x="41148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H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23" name="Google Shape;223;p17"/>
          <p:cNvSpPr/>
          <p:nvPr/>
        </p:nvSpPr>
        <p:spPr>
          <a:xfrm>
            <a:off x="6840542" y="2632050"/>
            <a:ext cx="2454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4" name="Google Shape;224;p17"/>
          <p:cNvSpPr txBox="1"/>
          <p:nvPr/>
        </p:nvSpPr>
        <p:spPr>
          <a:xfrm>
            <a:off x="6147395" y="1578825"/>
            <a:ext cx="16317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can now freely preempt Task M</a:t>
            </a:r>
            <a:endParaRPr sz="1200"/>
          </a:p>
        </p:txBody>
      </p:sp>
      <p:sp>
        <p:nvSpPr>
          <p:cNvPr id="225" name="Google Shape;225;p17"/>
          <p:cNvSpPr txBox="1"/>
          <p:nvPr/>
        </p:nvSpPr>
        <p:spPr>
          <a:xfrm>
            <a:off x="2583263" y="3391413"/>
            <a:ext cx="86325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226" name="Google Shape;226;p17"/>
          <p:cNvCxnSpPr/>
          <p:nvPr/>
        </p:nvCxnSpPr>
        <p:spPr>
          <a:xfrm rot="10800000" flipH="1">
            <a:off x="3219638" y="2986213"/>
            <a:ext cx="32205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7" name="Google Shape;227;p17"/>
          <p:cNvSpPr txBox="1"/>
          <p:nvPr/>
        </p:nvSpPr>
        <p:spPr>
          <a:xfrm>
            <a:off x="275150" y="1245975"/>
            <a:ext cx="17308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/>
              <a:t>Lock’s priority ceiling: 3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8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18"/>
          <p:cNvCxnSpPr/>
          <p:nvPr/>
        </p:nvCxnSpPr>
        <p:spPr>
          <a:xfrm>
            <a:off x="2476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4" name="Google Shape;234;p18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235" name="Google Shape;235;p18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236" name="Google Shape;236;p18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237" name="Google Shape;237;p18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238" name="Google Shape;238;p18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239" name="Google Shape;239;p18"/>
          <p:cNvSpPr/>
          <p:nvPr/>
        </p:nvSpPr>
        <p:spPr>
          <a:xfrm>
            <a:off x="2476500" y="2632050"/>
            <a:ext cx="5715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40" name="Google Shape;240;p18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241" name="Google Shape;241;p18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Priority Inheritance</a:t>
            </a:r>
            <a:endParaRPr sz="2400"/>
          </a:p>
        </p:txBody>
      </p:sp>
      <p:sp>
        <p:nvSpPr>
          <p:cNvPr id="242" name="Google Shape;242;p18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243" name="Google Shape;243;p18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244" name="Google Shape;244;p18"/>
          <p:cNvCxnSpPr/>
          <p:nvPr/>
        </p:nvCxnSpPr>
        <p:spPr>
          <a:xfrm>
            <a:off x="4114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18"/>
          <p:cNvCxnSpPr/>
          <p:nvPr/>
        </p:nvCxnSpPr>
        <p:spPr>
          <a:xfrm>
            <a:off x="8001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6" name="Google Shape;246;p18"/>
          <p:cNvSpPr/>
          <p:nvPr/>
        </p:nvSpPr>
        <p:spPr>
          <a:xfrm>
            <a:off x="80010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47" name="Google Shape;247;p18"/>
          <p:cNvSpPr/>
          <p:nvPr/>
        </p:nvSpPr>
        <p:spPr>
          <a:xfrm>
            <a:off x="5181600" y="2632050"/>
            <a:ext cx="74415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48" name="Google Shape;248;p18"/>
          <p:cNvSpPr txBox="1"/>
          <p:nvPr/>
        </p:nvSpPr>
        <p:spPr>
          <a:xfrm>
            <a:off x="1537050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249" name="Google Shape;249;p18"/>
          <p:cNvCxnSpPr>
            <a:stCxn id="248" idx="2"/>
          </p:cNvCxnSpPr>
          <p:nvPr/>
        </p:nvCxnSpPr>
        <p:spPr>
          <a:xfrm>
            <a:off x="1968675" y="3474701"/>
            <a:ext cx="441600" cy="5269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0" name="Google Shape;250;p18"/>
          <p:cNvSpPr/>
          <p:nvPr/>
        </p:nvSpPr>
        <p:spPr>
          <a:xfrm>
            <a:off x="30480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51" name="Google Shape;251;p18"/>
          <p:cNvSpPr/>
          <p:nvPr/>
        </p:nvSpPr>
        <p:spPr>
          <a:xfrm>
            <a:off x="592548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252" name="Google Shape;252;p18"/>
          <p:cNvCxnSpPr/>
          <p:nvPr/>
        </p:nvCxnSpPr>
        <p:spPr>
          <a:xfrm>
            <a:off x="59254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3" name="Google Shape;253;p18"/>
          <p:cNvSpPr/>
          <p:nvPr/>
        </p:nvSpPr>
        <p:spPr>
          <a:xfrm>
            <a:off x="6999525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54" name="Google Shape;254;p18"/>
          <p:cNvSpPr/>
          <p:nvPr/>
        </p:nvSpPr>
        <p:spPr>
          <a:xfrm>
            <a:off x="6839888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55" name="Google Shape;255;p18"/>
          <p:cNvSpPr/>
          <p:nvPr/>
        </p:nvSpPr>
        <p:spPr>
          <a:xfrm>
            <a:off x="6794563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6" name="Google Shape;256;p18"/>
          <p:cNvSpPr/>
          <p:nvPr/>
        </p:nvSpPr>
        <p:spPr>
          <a:xfrm>
            <a:off x="7031588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7" name="Google Shape;257;p18"/>
          <p:cNvSpPr/>
          <p:nvPr/>
        </p:nvSpPr>
        <p:spPr>
          <a:xfrm>
            <a:off x="7092563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58" name="Google Shape;258;p18"/>
          <p:cNvSpPr/>
          <p:nvPr/>
        </p:nvSpPr>
        <p:spPr>
          <a:xfrm>
            <a:off x="6809925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9" name="Google Shape;259;p18"/>
          <p:cNvSpPr/>
          <p:nvPr/>
        </p:nvSpPr>
        <p:spPr>
          <a:xfrm>
            <a:off x="6790838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0" name="Google Shape;260;p18"/>
          <p:cNvSpPr/>
          <p:nvPr/>
        </p:nvSpPr>
        <p:spPr>
          <a:xfrm>
            <a:off x="6827738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61" name="Google Shape;261;p18"/>
          <p:cNvSpPr/>
          <p:nvPr/>
        </p:nvSpPr>
        <p:spPr>
          <a:xfrm>
            <a:off x="7092563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2" name="Google Shape;262;p18"/>
          <p:cNvSpPr/>
          <p:nvPr/>
        </p:nvSpPr>
        <p:spPr>
          <a:xfrm>
            <a:off x="6790838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3" name="Google Shape;263;p18"/>
          <p:cNvSpPr txBox="1"/>
          <p:nvPr/>
        </p:nvSpPr>
        <p:spPr>
          <a:xfrm>
            <a:off x="2910450" y="1554125"/>
            <a:ext cx="13419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assumes Task H’s priority</a:t>
            </a:r>
            <a:endParaRPr sz="1200"/>
          </a:p>
        </p:txBody>
      </p:sp>
      <p:cxnSp>
        <p:nvCxnSpPr>
          <p:cNvPr id="264" name="Google Shape;264;p18"/>
          <p:cNvCxnSpPr/>
          <p:nvPr/>
        </p:nvCxnSpPr>
        <p:spPr>
          <a:xfrm>
            <a:off x="3048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5" name="Google Shape;265;p18"/>
          <p:cNvSpPr/>
          <p:nvPr/>
        </p:nvSpPr>
        <p:spPr>
          <a:xfrm>
            <a:off x="41148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H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66" name="Google Shape;266;p18"/>
          <p:cNvSpPr/>
          <p:nvPr/>
        </p:nvSpPr>
        <p:spPr>
          <a:xfrm>
            <a:off x="6840542" y="2632050"/>
            <a:ext cx="2454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67" name="Google Shape;267;p18"/>
          <p:cNvSpPr txBox="1"/>
          <p:nvPr/>
        </p:nvSpPr>
        <p:spPr>
          <a:xfrm>
            <a:off x="3118275" y="3391413"/>
            <a:ext cx="86325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268" name="Google Shape;268;p18"/>
          <p:cNvCxnSpPr/>
          <p:nvPr/>
        </p:nvCxnSpPr>
        <p:spPr>
          <a:xfrm rot="10800000" flipH="1">
            <a:off x="3792750" y="2986213"/>
            <a:ext cx="32205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9" name="Google Shape;269;p18"/>
          <p:cNvSpPr/>
          <p:nvPr/>
        </p:nvSpPr>
        <p:spPr>
          <a:xfrm>
            <a:off x="2400300" y="4003650"/>
            <a:ext cx="79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70" name="Google Shape;270;p18"/>
          <p:cNvSpPr txBox="1"/>
          <p:nvPr/>
        </p:nvSpPr>
        <p:spPr>
          <a:xfrm>
            <a:off x="1505100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sp>
        <p:nvSpPr>
          <p:cNvPr id="271" name="Google Shape;271;p18"/>
          <p:cNvSpPr txBox="1"/>
          <p:nvPr/>
        </p:nvSpPr>
        <p:spPr>
          <a:xfrm>
            <a:off x="6147395" y="1578825"/>
            <a:ext cx="16317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can now freely preempt Task M</a:t>
            </a:r>
            <a:endParaRPr sz="1200"/>
          </a:p>
        </p:txBody>
      </p:sp>
      <p:cxnSp>
        <p:nvCxnSpPr>
          <p:cNvPr id="272" name="Google Shape;272;p18"/>
          <p:cNvCxnSpPr/>
          <p:nvPr/>
        </p:nvCxnSpPr>
        <p:spPr>
          <a:xfrm>
            <a:off x="2708400" y="2043850"/>
            <a:ext cx="339600" cy="588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13951</TotalTime>
  <Words>8101</Words>
  <Application>Microsoft Office PowerPoint</Application>
  <PresentationFormat>On-screen Show (4:3)</PresentationFormat>
  <Paragraphs>1729</Paragraphs>
  <Slides>113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21" baseType="lpstr">
      <vt:lpstr>Arial</vt:lpstr>
      <vt:lpstr>B Nazanin</vt:lpstr>
      <vt:lpstr>Calibri</vt:lpstr>
      <vt:lpstr>Courier New</vt:lpstr>
      <vt:lpstr>IranNastaliq</vt:lpstr>
      <vt:lpstr>IRANSansWeb</vt:lpstr>
      <vt:lpstr>Linux Libertine</vt:lpstr>
      <vt:lpstr>Office Theme</vt:lpstr>
      <vt:lpstr>به نام خدا</vt:lpstr>
      <vt:lpstr>PowerPoint Presentation</vt:lpstr>
      <vt:lpstr>از صفر  تا  عشق</vt:lpstr>
      <vt:lpstr>PowerPoint Presentation</vt:lpstr>
      <vt:lpstr>PowerPoint Presentation</vt:lpstr>
      <vt:lpstr>جلسه ی 1</vt:lpstr>
      <vt:lpstr>جلسه ی 2</vt:lpstr>
      <vt:lpstr>PowerPoint Presentation</vt:lpstr>
      <vt:lpstr>PowerPoint Presentation</vt:lpstr>
      <vt:lpstr>PowerPoint Presentation</vt:lpstr>
      <vt:lpstr>جلسه ی 3</vt:lpstr>
      <vt:lpstr>PowerPoint Presentation</vt:lpstr>
      <vt:lpstr>جلسه ی 4</vt:lpstr>
      <vt:lpstr>جلسه ی 5</vt:lpstr>
      <vt:lpstr>PowerPoint Presentation</vt:lpstr>
      <vt:lpstr>جلسه ی 6</vt:lpstr>
      <vt:lpstr>جلسه ی 7</vt:lpstr>
      <vt:lpstr>جلسه ی 8</vt:lpstr>
      <vt:lpstr>جلسه ی 9</vt:lpstr>
      <vt:lpstr>جلسه ی 10</vt:lpstr>
      <vt:lpstr>configUSE_PREEMPTION</vt:lpstr>
      <vt:lpstr>) configUSE_PREEMPTION = 1 پیش‌دستانه)</vt:lpstr>
      <vt:lpstr>) configUSE_PREEMPTION = 0 همکارانه)</vt:lpstr>
      <vt:lpstr>Synchronization Primitives in FreeRTOS</vt:lpstr>
      <vt:lpstr>سمافور -  Semaphore</vt:lpstr>
      <vt:lpstr>سمافور -  Semaphore</vt:lpstr>
      <vt:lpstr>میوتکس -  Mutex (Mutual Exclusion)</vt:lpstr>
      <vt:lpstr>صف -  Queue</vt:lpstr>
      <vt:lpstr>ایونت گروپ -  Event Group</vt:lpstr>
      <vt:lpstr>تسک نوتیفیکیشن -  Task Notification</vt:lpstr>
      <vt:lpstr>بافر-  Stream Buffer / Message Buffer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Protecting Shared Resources and Synchronizing Threads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Mahdi</dc:creator>
  <cp:keywords/>
  <dc:description>generated using python-pptx</dc:description>
  <cp:lastModifiedBy>Mahdi Dadashi</cp:lastModifiedBy>
  <cp:revision>111</cp:revision>
  <dcterms:created xsi:type="dcterms:W3CDTF">2013-01-27T09:14:16Z</dcterms:created>
  <dcterms:modified xsi:type="dcterms:W3CDTF">2026-02-01T20:20:57Z</dcterms:modified>
  <cp:category/>
</cp:coreProperties>
</file>