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8"/>
  </p:notesMasterIdLst>
  <p:sldIdLst>
    <p:sldId id="291" r:id="rId2"/>
    <p:sldId id="332" r:id="rId3"/>
    <p:sldId id="333" r:id="rId4"/>
    <p:sldId id="334" r:id="rId5"/>
    <p:sldId id="401" r:id="rId6"/>
    <p:sldId id="299" r:id="rId7"/>
    <p:sldId id="292" r:id="rId8"/>
    <p:sldId id="402" r:id="rId9"/>
    <p:sldId id="403" r:id="rId10"/>
    <p:sldId id="404" r:id="rId11"/>
    <p:sldId id="293" r:id="rId12"/>
    <p:sldId id="338" r:id="rId13"/>
    <p:sldId id="294" r:id="rId14"/>
    <p:sldId id="295" r:id="rId15"/>
    <p:sldId id="339" r:id="rId16"/>
    <p:sldId id="296" r:id="rId17"/>
    <p:sldId id="297" r:id="rId18"/>
    <p:sldId id="298" r:id="rId19"/>
    <p:sldId id="336" r:id="rId20"/>
    <p:sldId id="335" r:id="rId21"/>
    <p:sldId id="405" r:id="rId22"/>
    <p:sldId id="406" r:id="rId23"/>
    <p:sldId id="407" r:id="rId24"/>
    <p:sldId id="408" r:id="rId25"/>
    <p:sldId id="409" r:id="rId26"/>
    <p:sldId id="410" r:id="rId27"/>
    <p:sldId id="411" r:id="rId28"/>
    <p:sldId id="412" r:id="rId29"/>
    <p:sldId id="413" r:id="rId30"/>
    <p:sldId id="414" r:id="rId31"/>
    <p:sldId id="415" r:id="rId32"/>
    <p:sldId id="525" r:id="rId33"/>
    <p:sldId id="526" r:id="rId34"/>
    <p:sldId id="510" r:id="rId35"/>
    <p:sldId id="499" r:id="rId36"/>
    <p:sldId id="500" r:id="rId37"/>
    <p:sldId id="501" r:id="rId38"/>
    <p:sldId id="502" r:id="rId39"/>
    <p:sldId id="503" r:id="rId40"/>
    <p:sldId id="504" r:id="rId41"/>
    <p:sldId id="505" r:id="rId42"/>
    <p:sldId id="520" r:id="rId43"/>
    <p:sldId id="498" r:id="rId44"/>
    <p:sldId id="506" r:id="rId45"/>
    <p:sldId id="524" r:id="rId46"/>
    <p:sldId id="507" r:id="rId47"/>
    <p:sldId id="508" r:id="rId48"/>
    <p:sldId id="454" r:id="rId49"/>
    <p:sldId id="455" r:id="rId50"/>
    <p:sldId id="514" r:id="rId51"/>
    <p:sldId id="482" r:id="rId52"/>
    <p:sldId id="483" r:id="rId53"/>
    <p:sldId id="456" r:id="rId54"/>
    <p:sldId id="518" r:id="rId55"/>
    <p:sldId id="457" r:id="rId56"/>
    <p:sldId id="515" r:id="rId57"/>
    <p:sldId id="530" r:id="rId58"/>
    <p:sldId id="516" r:id="rId59"/>
    <p:sldId id="517" r:id="rId60"/>
    <p:sldId id="458" r:id="rId61"/>
    <p:sldId id="459" r:id="rId62"/>
    <p:sldId id="491" r:id="rId63"/>
    <p:sldId id="460" r:id="rId64"/>
    <p:sldId id="461" r:id="rId65"/>
    <p:sldId id="462" r:id="rId66"/>
    <p:sldId id="463" r:id="rId67"/>
    <p:sldId id="464" r:id="rId68"/>
    <p:sldId id="465" r:id="rId69"/>
    <p:sldId id="511" r:id="rId70"/>
    <p:sldId id="466" r:id="rId71"/>
    <p:sldId id="467" r:id="rId72"/>
    <p:sldId id="468" r:id="rId73"/>
    <p:sldId id="469" r:id="rId74"/>
    <p:sldId id="471" r:id="rId75"/>
    <p:sldId id="472" r:id="rId76"/>
    <p:sldId id="473" r:id="rId77"/>
    <p:sldId id="474" r:id="rId78"/>
    <p:sldId id="475" r:id="rId79"/>
    <p:sldId id="476" r:id="rId80"/>
    <p:sldId id="477" r:id="rId81"/>
    <p:sldId id="478" r:id="rId82"/>
    <p:sldId id="479" r:id="rId83"/>
    <p:sldId id="480" r:id="rId84"/>
    <p:sldId id="528" r:id="rId85"/>
    <p:sldId id="519" r:id="rId86"/>
    <p:sldId id="543" r:id="rId87"/>
    <p:sldId id="533" r:id="rId88"/>
    <p:sldId id="523" r:id="rId89"/>
    <p:sldId id="522" r:id="rId90"/>
    <p:sldId id="426" r:id="rId91"/>
    <p:sldId id="446" r:id="rId92"/>
    <p:sldId id="430" r:id="rId93"/>
    <p:sldId id="445" r:id="rId94"/>
    <p:sldId id="444" r:id="rId95"/>
    <p:sldId id="534" r:id="rId96"/>
    <p:sldId id="535" r:id="rId97"/>
    <p:sldId id="544" r:id="rId98"/>
    <p:sldId id="536" r:id="rId99"/>
    <p:sldId id="537" r:id="rId100"/>
    <p:sldId id="538" r:id="rId101"/>
    <p:sldId id="509" r:id="rId102"/>
    <p:sldId id="539" r:id="rId103"/>
    <p:sldId id="429" r:id="rId104"/>
    <p:sldId id="431" r:id="rId105"/>
    <p:sldId id="447" r:id="rId106"/>
    <p:sldId id="432" r:id="rId107"/>
    <p:sldId id="436" r:id="rId108"/>
    <p:sldId id="435" r:id="rId109"/>
    <p:sldId id="434" r:id="rId110"/>
    <p:sldId id="448" r:id="rId111"/>
    <p:sldId id="449" r:id="rId112"/>
    <p:sldId id="451" r:id="rId113"/>
    <p:sldId id="452" r:id="rId114"/>
    <p:sldId id="453" r:id="rId115"/>
    <p:sldId id="439" r:id="rId116"/>
    <p:sldId id="443" r:id="rId117"/>
    <p:sldId id="512" r:id="rId118"/>
    <p:sldId id="540" r:id="rId119"/>
    <p:sldId id="542" r:id="rId120"/>
    <p:sldId id="541" r:id="rId121"/>
    <p:sldId id="529" r:id="rId122"/>
    <p:sldId id="531" r:id="rId123"/>
    <p:sldId id="428" r:id="rId124"/>
    <p:sldId id="416" r:id="rId125"/>
    <p:sldId id="417" r:id="rId126"/>
    <p:sldId id="418" r:id="rId127"/>
    <p:sldId id="421" r:id="rId128"/>
    <p:sldId id="422" r:id="rId129"/>
    <p:sldId id="423" r:id="rId130"/>
    <p:sldId id="532" r:id="rId131"/>
    <p:sldId id="527" r:id="rId132"/>
    <p:sldId id="419" r:id="rId133"/>
    <p:sldId id="425" r:id="rId134"/>
    <p:sldId id="424" r:id="rId135"/>
    <p:sldId id="256" r:id="rId136"/>
    <p:sldId id="257" r:id="rId137"/>
    <p:sldId id="258" r:id="rId138"/>
    <p:sldId id="259" r:id="rId139"/>
    <p:sldId id="260" r:id="rId140"/>
    <p:sldId id="261" r:id="rId141"/>
    <p:sldId id="262" r:id="rId142"/>
    <p:sldId id="263" r:id="rId143"/>
    <p:sldId id="264" r:id="rId144"/>
    <p:sldId id="340" r:id="rId145"/>
    <p:sldId id="341" r:id="rId146"/>
    <p:sldId id="342" r:id="rId147"/>
    <p:sldId id="343" r:id="rId148"/>
    <p:sldId id="344" r:id="rId149"/>
    <p:sldId id="345" r:id="rId150"/>
    <p:sldId id="346" r:id="rId151"/>
    <p:sldId id="347" r:id="rId152"/>
    <p:sldId id="348" r:id="rId153"/>
    <p:sldId id="349" r:id="rId154"/>
    <p:sldId id="350" r:id="rId155"/>
    <p:sldId id="351" r:id="rId156"/>
    <p:sldId id="352" r:id="rId157"/>
    <p:sldId id="353" r:id="rId158"/>
    <p:sldId id="354" r:id="rId159"/>
    <p:sldId id="355" r:id="rId160"/>
    <p:sldId id="356" r:id="rId161"/>
    <p:sldId id="357" r:id="rId162"/>
    <p:sldId id="358" r:id="rId163"/>
    <p:sldId id="359" r:id="rId164"/>
    <p:sldId id="360" r:id="rId165"/>
    <p:sldId id="361" r:id="rId166"/>
    <p:sldId id="362" r:id="rId167"/>
    <p:sldId id="363" r:id="rId168"/>
    <p:sldId id="364" r:id="rId169"/>
    <p:sldId id="365" r:id="rId170"/>
    <p:sldId id="366" r:id="rId171"/>
    <p:sldId id="367" r:id="rId172"/>
    <p:sldId id="368" r:id="rId173"/>
    <p:sldId id="369" r:id="rId174"/>
    <p:sldId id="370" r:id="rId175"/>
    <p:sldId id="371" r:id="rId176"/>
    <p:sldId id="372" r:id="rId177"/>
    <p:sldId id="373" r:id="rId178"/>
    <p:sldId id="374" r:id="rId179"/>
    <p:sldId id="375" r:id="rId180"/>
    <p:sldId id="376" r:id="rId181"/>
    <p:sldId id="377" r:id="rId182"/>
    <p:sldId id="378" r:id="rId183"/>
    <p:sldId id="379" r:id="rId184"/>
    <p:sldId id="380" r:id="rId185"/>
    <p:sldId id="381" r:id="rId186"/>
    <p:sldId id="382" r:id="rId187"/>
    <p:sldId id="383" r:id="rId188"/>
    <p:sldId id="384" r:id="rId189"/>
    <p:sldId id="385" r:id="rId190"/>
    <p:sldId id="386" r:id="rId191"/>
    <p:sldId id="387" r:id="rId192"/>
    <p:sldId id="388" r:id="rId193"/>
    <p:sldId id="389" r:id="rId194"/>
    <p:sldId id="390" r:id="rId195"/>
    <p:sldId id="391" r:id="rId196"/>
    <p:sldId id="392" r:id="rId197"/>
    <p:sldId id="393" r:id="rId198"/>
    <p:sldId id="265" r:id="rId199"/>
    <p:sldId id="266" r:id="rId200"/>
    <p:sldId id="267" r:id="rId201"/>
    <p:sldId id="268" r:id="rId202"/>
    <p:sldId id="269" r:id="rId203"/>
    <p:sldId id="270" r:id="rId204"/>
    <p:sldId id="271" r:id="rId205"/>
    <p:sldId id="272" r:id="rId206"/>
    <p:sldId id="273" r:id="rId207"/>
    <p:sldId id="274" r:id="rId208"/>
    <p:sldId id="275" r:id="rId209"/>
    <p:sldId id="276" r:id="rId210"/>
    <p:sldId id="394" r:id="rId211"/>
    <p:sldId id="395" r:id="rId212"/>
    <p:sldId id="396" r:id="rId213"/>
    <p:sldId id="397" r:id="rId214"/>
    <p:sldId id="398" r:id="rId215"/>
    <p:sldId id="399" r:id="rId216"/>
    <p:sldId id="400" r:id="rId2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hdi Dadashi" initials="MD" lastIdx="1" clrIdx="0">
    <p:extLst>
      <p:ext uri="{19B8F6BF-5375-455C-9EA6-DF929625EA0E}">
        <p15:presenceInfo xmlns:p15="http://schemas.microsoft.com/office/powerpoint/2012/main" userId="374ac32f633da53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snapToObjects="1">
      <p:cViewPr>
        <p:scale>
          <a:sx n="150" d="100"/>
          <a:sy n="150" d="100"/>
        </p:scale>
        <p:origin x="396" y="-54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notesMaster" Target="notesMasters/notesMaster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commentAuthors" Target="commentAuthors.xml"/><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viewProps" Target="viewProps.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theme" Target="theme/theme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tableStyles" Target="tableStyle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C129FC-E272-4AF5-B5B8-7EEB880A35A4}" type="datetimeFigureOut">
              <a:rPr lang="en-US" smtClean="0"/>
              <a:t>2/9/2026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BED947-AC9B-4316-885A-06DA21A47CA5}" type="slidenum">
              <a:rPr lang="en-US" smtClean="0"/>
              <a:t>‹#›</a:t>
            </a:fld>
            <a:endParaRPr lang="en-US"/>
          </a:p>
        </p:txBody>
      </p:sp>
    </p:spTree>
    <p:extLst>
      <p:ext uri="{BB962C8B-B14F-4D97-AF65-F5344CB8AC3E}">
        <p14:creationId xmlns:p14="http://schemas.microsoft.com/office/powerpoint/2010/main" val="1680371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https://github.com/debevv/nanoMODBUS</a:t>
            </a:r>
          </a:p>
          <a:p>
            <a:r>
              <a:rPr lang="en-US" dirty="0"/>
              <a:t>https://github.com/cwalter-at/freemodbus</a:t>
            </a:r>
          </a:p>
          <a:p>
            <a:endParaRPr lang="en-US" dirty="0"/>
          </a:p>
          <a:p>
            <a:endParaRPr lang="en-US" dirty="0"/>
          </a:p>
        </p:txBody>
      </p:sp>
      <p:sp>
        <p:nvSpPr>
          <p:cNvPr id="4" name="Slide Number Placeholder 3"/>
          <p:cNvSpPr>
            <a:spLocks noGrp="1"/>
          </p:cNvSpPr>
          <p:nvPr>
            <p:ph type="sldNum" sz="quarter" idx="5"/>
          </p:nvPr>
        </p:nvSpPr>
        <p:spPr/>
        <p:txBody>
          <a:bodyPr/>
          <a:lstStyle/>
          <a:p>
            <a:fld id="{66BED947-AC9B-4316-885A-06DA21A47CA5}" type="slidenum">
              <a:rPr lang="en-US" smtClean="0"/>
              <a:t>4</a:t>
            </a:fld>
            <a:endParaRPr lang="en-US"/>
          </a:p>
        </p:txBody>
      </p:sp>
    </p:spTree>
    <p:extLst>
      <p:ext uri="{BB962C8B-B14F-4D97-AF65-F5344CB8AC3E}">
        <p14:creationId xmlns:p14="http://schemas.microsoft.com/office/powerpoint/2010/main" val="673070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0F40E-3706-3A1D-4A2D-80A8B257E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6B3D59-4CF8-5209-3AC7-4648B56C0B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594590-2291-A213-35A3-78D491B338FC}"/>
              </a:ext>
            </a:extLst>
          </p:cNvPr>
          <p:cNvSpPr>
            <a:spLocks noGrp="1"/>
          </p:cNvSpPr>
          <p:nvPr>
            <p:ph type="body" idx="1"/>
          </p:nvPr>
        </p:nvSpPr>
        <p:spPr/>
        <p:txBody>
          <a:bodyPr/>
          <a:lstStyle/>
          <a:p>
            <a:r>
              <a:rPr lang="en-US" dirty="0"/>
              <a:t>https://github.com/debevv/nanoMODBUS</a:t>
            </a:r>
          </a:p>
          <a:p>
            <a:r>
              <a:rPr lang="en-US" dirty="0"/>
              <a:t>https://github.com/cwalter-at/freemodbus</a:t>
            </a:r>
          </a:p>
          <a:p>
            <a:endParaRPr lang="en-US" dirty="0"/>
          </a:p>
          <a:p>
            <a:endParaRPr lang="en-US" dirty="0"/>
          </a:p>
        </p:txBody>
      </p:sp>
      <p:sp>
        <p:nvSpPr>
          <p:cNvPr id="4" name="Slide Number Placeholder 3">
            <a:extLst>
              <a:ext uri="{FF2B5EF4-FFF2-40B4-BE49-F238E27FC236}">
                <a16:creationId xmlns:a16="http://schemas.microsoft.com/office/drawing/2014/main" id="{C8E7D66B-E634-C271-4D3C-86B000019EB2}"/>
              </a:ext>
            </a:extLst>
          </p:cNvPr>
          <p:cNvSpPr>
            <a:spLocks noGrp="1"/>
          </p:cNvSpPr>
          <p:nvPr>
            <p:ph type="sldNum" sz="quarter" idx="5"/>
          </p:nvPr>
        </p:nvSpPr>
        <p:spPr/>
        <p:txBody>
          <a:bodyPr/>
          <a:lstStyle/>
          <a:p>
            <a:fld id="{66BED947-AC9B-4316-885A-06DA21A47CA5}" type="slidenum">
              <a:rPr lang="en-US" smtClean="0"/>
              <a:t>5</a:t>
            </a:fld>
            <a:endParaRPr lang="en-US"/>
          </a:p>
        </p:txBody>
      </p:sp>
    </p:spTree>
    <p:extLst>
      <p:ext uri="{BB962C8B-B14F-4D97-AF65-F5344CB8AC3E}">
        <p14:creationId xmlns:p14="http://schemas.microsoft.com/office/powerpoint/2010/main" val="10355644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af67ddb166_0_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af67ddb166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af67ddb166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af67ddb166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af67ddb166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af67ddb166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af67ddb166_0_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af67ddb166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af67ddb166_0_1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af67ddb166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af67ddb166_0_1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af67ddb166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af67ddb166_0_1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af67ddb166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af67ddb166_0_1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af67ddb166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b0438a44ca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b0438a44ca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b0438a44ca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b0438a44ca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a7c288605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a7c288605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a7c2886054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a7c2886054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a7c2886054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a7c2886054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b726dc053a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b726dc053a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b726dc053a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b726dc053a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795ecc631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795ecc631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795ecc6314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795ecc6314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795ecc6314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795ecc6314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795ecc6314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795ecc6314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79621dc29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79621dc29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b94bc9ed2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b94bc9ed2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b405138e46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b405138e4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b405138e46_0_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b405138e46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b405138e46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b405138e46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b405138e46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b405138e46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b405138e46_0_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b405138e46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b405138e46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b405138e46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b8ba87ed9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b8ba87ed9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b8ba87ed91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b8ba87ed91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b8dc036662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b8dc036662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b8dc036662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b8dc036662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b8dc036662_0_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b8dc036662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b8dc036662_0_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b8dc036662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afebba16e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afebba16e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baa83c5fb3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baa83c5fb3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bb569d8183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bb569d8183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bb260c2a1b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bb260c2a1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bb260c2a1b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bb260c2a1b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bcdf9d3e07_0_2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bcdf9d3e07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bcdf9d3e07_0_2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bcdf9d3e07_0_2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bcf6c9b4c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bcf6c9b4c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bcf6c9b4ce_0_1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bcf6c9b4ce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bcf6c9b4ce_0_3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bcf6c9b4ce_0_3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bcf6c9b4ce_0_2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bcf6c9b4ce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bd11e8be83_1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bd11e8be8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bd11e8be83_1_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bd11e8be83_1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bd11e8be83_1_1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bd11e8be83_1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bd11e8be83_1_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bd11e8be83_1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bd11e8be83_1_1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3" name="Google Shape;553;gbd11e8be83_1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bd11e8be83_1_2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 name="Google Shape;599;gbd11e8be83_1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bd11e8be83_1_2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5" name="Google Shape;645;gbd11e8be83_1_2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gbd11e8be83_1_3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1" name="Google Shape;691;gbd11e8be83_1_3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gbd11e8be83_1_50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4" name="Google Shape;734;gbd11e8be83_1_5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bd11e8be83_1_3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7" name="Google Shape;777;gbd11e8be83_1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bd11e8be83_1_4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0" name="Google Shape;820;gbd11e8be83_1_4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bd11e8be83_1_4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bd11e8be83_1_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bf005cb580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6" name="Google Shape;906;gbf005cb58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Google Shape;952;gbf005cb580_0_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3" name="Google Shape;953;gbf005cb580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be3471acd1_0_1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be3471acd1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be3471acd1_0_1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be3471acd1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be3471acd1_0_1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be3471acd1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be3471acd1_0_2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be3471acd1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be3471acd1_0_2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be3471acd1_0_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593367"/>
            <a:ext cx="8520600" cy="763600"/>
          </a:xfrm>
          <a:prstGeom prst="rect">
            <a:avLst/>
          </a:prstGeom>
        </p:spPr>
        <p:txBody>
          <a:bodyPr spcFirstLastPara="1" wrap="square" lIns="182850" tIns="182850" rIns="182850" bIns="182850" anchor="t" anchorCtr="0">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18" name="Google Shape;18;p4"/>
          <p:cNvSpPr txBox="1">
            <a:spLocks noGrp="1"/>
          </p:cNvSpPr>
          <p:nvPr>
            <p:ph type="body" idx="1"/>
          </p:nvPr>
        </p:nvSpPr>
        <p:spPr>
          <a:xfrm>
            <a:off x="311700" y="1536633"/>
            <a:ext cx="8520600" cy="4555200"/>
          </a:xfrm>
          <a:prstGeom prst="rect">
            <a:avLst/>
          </a:prstGeom>
        </p:spPr>
        <p:txBody>
          <a:bodyPr spcFirstLastPara="1" wrap="square" lIns="182850" tIns="182850" rIns="182850" bIns="182850" anchor="t" anchorCtr="0">
            <a:noAutofit/>
          </a:bodyPr>
          <a:lstStyle>
            <a:lvl1pPr marL="228600" lvl="0" indent="-228600">
              <a:spcBef>
                <a:spcPts val="0"/>
              </a:spcBef>
              <a:spcAft>
                <a:spcPts val="0"/>
              </a:spcAft>
              <a:buSzPts val="3600"/>
              <a:buChar char="●"/>
              <a:defRPr/>
            </a:lvl1pPr>
            <a:lvl2pPr marL="457200" lvl="1" indent="-203200">
              <a:spcBef>
                <a:spcPts val="1600"/>
              </a:spcBef>
              <a:spcAft>
                <a:spcPts val="0"/>
              </a:spcAft>
              <a:buSzPts val="2800"/>
              <a:buChar char="○"/>
              <a:defRPr/>
            </a:lvl2pPr>
            <a:lvl3pPr marL="685800" lvl="2" indent="-203200">
              <a:spcBef>
                <a:spcPts val="1600"/>
              </a:spcBef>
              <a:spcAft>
                <a:spcPts val="0"/>
              </a:spcAft>
              <a:buSzPts val="2800"/>
              <a:buChar char="■"/>
              <a:defRPr/>
            </a:lvl3pPr>
            <a:lvl4pPr marL="914400" lvl="3" indent="-203200">
              <a:spcBef>
                <a:spcPts val="1600"/>
              </a:spcBef>
              <a:spcAft>
                <a:spcPts val="0"/>
              </a:spcAft>
              <a:buSzPts val="2800"/>
              <a:buChar char="●"/>
              <a:defRPr/>
            </a:lvl4pPr>
            <a:lvl5pPr marL="1143000" lvl="4" indent="-203200">
              <a:spcBef>
                <a:spcPts val="1600"/>
              </a:spcBef>
              <a:spcAft>
                <a:spcPts val="0"/>
              </a:spcAft>
              <a:buSzPts val="2800"/>
              <a:buChar char="○"/>
              <a:defRPr/>
            </a:lvl5pPr>
            <a:lvl6pPr marL="1371600" lvl="5" indent="-203200">
              <a:spcBef>
                <a:spcPts val="1600"/>
              </a:spcBef>
              <a:spcAft>
                <a:spcPts val="0"/>
              </a:spcAft>
              <a:buSzPts val="2800"/>
              <a:buChar char="■"/>
              <a:defRPr/>
            </a:lvl6pPr>
            <a:lvl7pPr marL="1600200" lvl="6" indent="-203200">
              <a:spcBef>
                <a:spcPts val="1600"/>
              </a:spcBef>
              <a:spcAft>
                <a:spcPts val="0"/>
              </a:spcAft>
              <a:buSzPts val="2800"/>
              <a:buChar char="●"/>
              <a:defRPr/>
            </a:lvl7pPr>
            <a:lvl8pPr marL="1828800" lvl="7" indent="-203200">
              <a:spcBef>
                <a:spcPts val="1600"/>
              </a:spcBef>
              <a:spcAft>
                <a:spcPts val="0"/>
              </a:spcAft>
              <a:buSzPts val="2800"/>
              <a:buChar char="○"/>
              <a:defRPr/>
            </a:lvl8pPr>
            <a:lvl9pPr marL="2057400" lvl="8" indent="-203200">
              <a:spcBef>
                <a:spcPts val="1600"/>
              </a:spcBef>
              <a:spcAft>
                <a:spcPts val="1600"/>
              </a:spcAft>
              <a:buSzPts val="2800"/>
              <a:buChar char="■"/>
              <a:defRPr/>
            </a:lvl9pPr>
          </a:lstStyle>
          <a:p>
            <a:endParaRPr/>
          </a:p>
        </p:txBody>
      </p:sp>
      <p:sp>
        <p:nvSpPr>
          <p:cNvPr id="19" name="Google Shape;19;p4"/>
          <p:cNvSpPr txBox="1">
            <a:spLocks noGrp="1"/>
          </p:cNvSpPr>
          <p:nvPr>
            <p:ph type="sldNum" idx="12"/>
          </p:nvPr>
        </p:nvSpPr>
        <p:spPr>
          <a:xfrm>
            <a:off x="8472458" y="6217623"/>
            <a:ext cx="548700" cy="524800"/>
          </a:xfrm>
          <a:prstGeom prst="rect">
            <a:avLst/>
          </a:prstGeom>
        </p:spPr>
        <p:txBody>
          <a:bodyPr spcFirstLastPara="1" wrap="square" lIns="182850" tIns="182850" rIns="182850" bIns="1828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946915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kb.segger.com/File:RTT_SpeedComparison.pn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sisoog.com/what-is-electric-current/"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46.gif"/><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36.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48.png"/><Relationship Id="rId7" Type="http://schemas.openxmlformats.org/officeDocument/2006/relationships/image" Target="../media/image5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9" Type="http://schemas.openxmlformats.org/officeDocument/2006/relationships/image" Target="../media/image57.png"/></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0.png"/><Relationship Id="rId4" Type="http://schemas.openxmlformats.org/officeDocument/2006/relationships/image" Target="../media/image59.png"/></Relationships>
</file>

<file path=ppt/slides/_rels/slide140.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3.png"/><Relationship Id="rId7" Type="http://schemas.openxmlformats.org/officeDocument/2006/relationships/image" Target="../media/image5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5.png"/><Relationship Id="rId11" Type="http://schemas.openxmlformats.org/officeDocument/2006/relationships/image" Target="../media/image63.png"/><Relationship Id="rId5" Type="http://schemas.openxmlformats.org/officeDocument/2006/relationships/image" Target="../media/image54.png"/><Relationship Id="rId10" Type="http://schemas.openxmlformats.org/officeDocument/2006/relationships/image" Target="../media/image52.png"/><Relationship Id="rId4" Type="http://schemas.openxmlformats.org/officeDocument/2006/relationships/image" Target="../media/image57.png"/><Relationship Id="rId9" Type="http://schemas.openxmlformats.org/officeDocument/2006/relationships/image" Target="../media/image62.png"/></Relationships>
</file>

<file path=ppt/slides/_rels/slide141.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64.png"/><Relationship Id="rId7" Type="http://schemas.openxmlformats.org/officeDocument/2006/relationships/image" Target="../media/image6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6.png"/><Relationship Id="rId11" Type="http://schemas.openxmlformats.org/officeDocument/2006/relationships/image" Target="../media/image57.png"/><Relationship Id="rId5" Type="http://schemas.openxmlformats.org/officeDocument/2006/relationships/image" Target="../media/image55.png"/><Relationship Id="rId10" Type="http://schemas.openxmlformats.org/officeDocument/2006/relationships/image" Target="../media/image53.png"/><Relationship Id="rId4" Type="http://schemas.openxmlformats.org/officeDocument/2006/relationships/image" Target="../media/image54.png"/><Relationship Id="rId9" Type="http://schemas.openxmlformats.org/officeDocument/2006/relationships/image" Target="../media/image63.png"/></Relationships>
</file>

<file path=ppt/slides/_rels/slide14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50.xml.rels><?xml version="1.0" encoding="UTF-8" standalone="yes"?>
<Relationships xmlns="http://schemas.openxmlformats.org/package/2006/relationships"><Relationship Id="rId3" Type="http://schemas.openxmlformats.org/officeDocument/2006/relationships/hyperlink" Target="https://www.freertos.org/a00110.html#configSUPPORT_STATIC_ALLOCATION" TargetMode="External"/><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170.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notesSlide" Target="../notesSlides/notesSlide32.xml"/><Relationship Id="rId1" Type="http://schemas.openxmlformats.org/officeDocument/2006/relationships/slideLayout" Target="../slideLayouts/slideLayout12.xml"/><Relationship Id="rId5" Type="http://schemas.openxmlformats.org/officeDocument/2006/relationships/image" Target="../media/image69.png"/><Relationship Id="rId4" Type="http://schemas.openxmlformats.org/officeDocument/2006/relationships/image" Target="../media/image68.png"/></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3.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notesSlide" Target="../notesSlides/notesSlide34.xml"/><Relationship Id="rId1" Type="http://schemas.openxmlformats.org/officeDocument/2006/relationships/slideLayout" Target="../slideLayouts/slideLayout12.xml"/><Relationship Id="rId5" Type="http://schemas.openxmlformats.org/officeDocument/2006/relationships/image" Target="../media/image69.png"/><Relationship Id="rId4" Type="http://schemas.openxmlformats.org/officeDocument/2006/relationships/image" Target="../media/image68.png"/></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72.png"/><Relationship Id="rId4" Type="http://schemas.openxmlformats.org/officeDocument/2006/relationships/image" Target="../media/image71.png"/></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9.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190.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191.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195.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196.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197.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198.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199.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00.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01.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02.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03.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04.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05.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06.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64.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07.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65.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08.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66.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09.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67.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BA1D4-7832-FA44-14BC-670ED31BFE6A}"/>
              </a:ext>
            </a:extLst>
          </p:cNvPr>
          <p:cNvSpPr>
            <a:spLocks noGrp="1"/>
          </p:cNvSpPr>
          <p:nvPr>
            <p:ph type="title"/>
          </p:nvPr>
        </p:nvSpPr>
        <p:spPr/>
        <p:txBody>
          <a:bodyPr/>
          <a:lstStyle/>
          <a:p>
            <a:pPr rtl="1"/>
            <a:r>
              <a:rPr lang="fa-IR" dirty="0">
                <a:cs typeface="B Nazanin" panose="00000400000000000000" pitchFamily="2" charset="-78"/>
              </a:rPr>
              <a:t>به نام خدا</a:t>
            </a:r>
            <a:endParaRPr lang="en-US" dirty="0">
              <a:cs typeface="B Nazanin" panose="00000400000000000000" pitchFamily="2" charset="-78"/>
            </a:endParaRPr>
          </a:p>
        </p:txBody>
      </p:sp>
      <p:sp>
        <p:nvSpPr>
          <p:cNvPr id="3" name="Content Placeholder 2">
            <a:extLst>
              <a:ext uri="{FF2B5EF4-FFF2-40B4-BE49-F238E27FC236}">
                <a16:creationId xmlns:a16="http://schemas.microsoft.com/office/drawing/2014/main" id="{4A2FBEAC-87A1-4F85-9B4E-AD356C91A5F6}"/>
              </a:ext>
            </a:extLst>
          </p:cNvPr>
          <p:cNvSpPr>
            <a:spLocks noGrp="1"/>
          </p:cNvSpPr>
          <p:nvPr>
            <p:ph idx="1"/>
          </p:nvPr>
        </p:nvSpPr>
        <p:spPr>
          <a:xfrm>
            <a:off x="457200" y="1779373"/>
            <a:ext cx="8229600" cy="4151869"/>
          </a:xfrm>
        </p:spPr>
        <p:txBody>
          <a:bodyPr>
            <a:normAutofit fontScale="77500" lnSpcReduction="20000"/>
          </a:bodyPr>
          <a:lstStyle/>
          <a:p>
            <a:pPr marL="0" indent="0" algn="ctr" rtl="1">
              <a:buNone/>
            </a:pPr>
            <a:r>
              <a:rPr lang="fa-IR" sz="4800" dirty="0">
                <a:cs typeface="B Nazanin" panose="00000400000000000000" pitchFamily="2" charset="-78"/>
              </a:rPr>
              <a:t>آموزش میکروکنترلر های </a:t>
            </a:r>
            <a:r>
              <a:rPr lang="en-US" sz="4800" dirty="0">
                <a:cs typeface="B Nazanin" panose="00000400000000000000" pitchFamily="2" charset="-78"/>
              </a:rPr>
              <a:t>STM32</a:t>
            </a:r>
            <a:r>
              <a:rPr lang="fa-IR" sz="4800" dirty="0">
                <a:cs typeface="B Nazanin" panose="00000400000000000000" pitchFamily="2" charset="-78"/>
              </a:rPr>
              <a:t> </a:t>
            </a:r>
            <a:r>
              <a:rPr lang="en-US" sz="4800" dirty="0">
                <a:cs typeface="B Nazanin" panose="00000400000000000000" pitchFamily="2" charset="-78"/>
              </a:rPr>
              <a:t> </a:t>
            </a:r>
            <a:r>
              <a:rPr lang="fa-IR" sz="4800" dirty="0">
                <a:cs typeface="B Nazanin" panose="00000400000000000000" pitchFamily="2" charset="-78"/>
              </a:rPr>
              <a:t>پیشرفته</a:t>
            </a:r>
          </a:p>
          <a:p>
            <a:pPr marL="0" indent="0" algn="ctr" rtl="1">
              <a:buNone/>
            </a:pPr>
            <a:endParaRPr lang="fa-IR" sz="4800" dirty="0">
              <a:cs typeface="B Nazanin" panose="00000400000000000000" pitchFamily="2" charset="-78"/>
            </a:endParaRPr>
          </a:p>
          <a:p>
            <a:pPr marL="0" indent="0" algn="ctr" rtl="1">
              <a:buNone/>
            </a:pPr>
            <a:r>
              <a:rPr lang="fa-IR" sz="4800" dirty="0">
                <a:cs typeface="B Nazanin" panose="00000400000000000000" pitchFamily="2" charset="-78"/>
              </a:rPr>
              <a:t>با محوریت </a:t>
            </a:r>
            <a:r>
              <a:rPr lang="en-US" sz="4800" dirty="0" err="1">
                <a:cs typeface="B Nazanin" panose="00000400000000000000" pitchFamily="2" charset="-78"/>
              </a:rPr>
              <a:t>FreeRTOS</a:t>
            </a:r>
            <a:r>
              <a:rPr lang="en-US" sz="4800" dirty="0">
                <a:cs typeface="B Nazanin" panose="00000400000000000000" pitchFamily="2" charset="-78"/>
              </a:rPr>
              <a:t> </a:t>
            </a:r>
            <a:r>
              <a:rPr lang="fa-IR" sz="4800" dirty="0">
                <a:cs typeface="B Nazanin" panose="00000400000000000000" pitchFamily="2" charset="-78"/>
              </a:rPr>
              <a:t> و </a:t>
            </a:r>
            <a:r>
              <a:rPr lang="en-US" sz="4800" dirty="0">
                <a:cs typeface="B Nazanin" panose="00000400000000000000" pitchFamily="2" charset="-78"/>
              </a:rPr>
              <a:t>IoT</a:t>
            </a:r>
            <a:endParaRPr lang="fa-IR" sz="4800" dirty="0">
              <a:cs typeface="B Nazanin" panose="00000400000000000000" pitchFamily="2" charset="-78"/>
            </a:endParaRPr>
          </a:p>
          <a:p>
            <a:pPr marL="0" indent="0" algn="ctr" rtl="1">
              <a:buNone/>
            </a:pPr>
            <a:endParaRPr lang="fa-IR" sz="4800" dirty="0">
              <a:cs typeface="B Nazanin" panose="00000400000000000000" pitchFamily="2" charset="-78"/>
            </a:endParaRPr>
          </a:p>
          <a:p>
            <a:pPr marL="0" indent="0" algn="ctr" rtl="1">
              <a:buNone/>
            </a:pPr>
            <a:r>
              <a:rPr lang="fa-IR" sz="4800" dirty="0">
                <a:cs typeface="B Nazanin" panose="00000400000000000000" pitchFamily="2" charset="-78"/>
              </a:rPr>
              <a:t> مدرس: مهدی داداشی</a:t>
            </a:r>
          </a:p>
          <a:p>
            <a:pPr marL="0" indent="0" algn="ctr" rtl="1">
              <a:buNone/>
            </a:pPr>
            <a:r>
              <a:rPr lang="fa-IR" sz="4800" dirty="0">
                <a:cs typeface="B Nazanin" panose="00000400000000000000" pitchFamily="2" charset="-78"/>
              </a:rPr>
              <a:t> </a:t>
            </a:r>
          </a:p>
          <a:p>
            <a:pPr marL="0" indent="0" algn="ctr" rtl="1">
              <a:buNone/>
            </a:pPr>
            <a:r>
              <a:rPr lang="fa-IR" sz="4800" dirty="0">
                <a:cs typeface="B Nazanin" panose="00000400000000000000" pitchFamily="2" charset="-78"/>
              </a:rPr>
              <a:t>مدت زمان: 10 جلسه ی 4 ساعته</a:t>
            </a:r>
            <a:endParaRPr lang="en-US" sz="4800" dirty="0">
              <a:cs typeface="B Nazanin" panose="00000400000000000000" pitchFamily="2" charset="-78"/>
            </a:endParaRPr>
          </a:p>
        </p:txBody>
      </p:sp>
    </p:spTree>
    <p:extLst>
      <p:ext uri="{BB962C8B-B14F-4D97-AF65-F5344CB8AC3E}">
        <p14:creationId xmlns:p14="http://schemas.microsoft.com/office/powerpoint/2010/main" val="1912389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descr="نقطه شروع کسب و کار | صفر تا هزار کسب و کار">
            <a:extLst>
              <a:ext uri="{FF2B5EF4-FFF2-40B4-BE49-F238E27FC236}">
                <a16:creationId xmlns:a16="http://schemas.microsoft.com/office/drawing/2014/main" id="{822175F9-AEB5-E284-FE8E-AF08E4F7E4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0667" y="1313935"/>
            <a:ext cx="2611395" cy="2611395"/>
          </a:xfrm>
          <a:prstGeom prst="rect">
            <a:avLst/>
          </a:prstGeom>
          <a:noFill/>
          <a:extLst>
            <a:ext uri="{909E8E84-426E-40DD-AFC4-6F175D3DCCD1}">
              <a14:hiddenFill xmlns:a14="http://schemas.microsoft.com/office/drawing/2010/main">
                <a:solidFill>
                  <a:srgbClr val="FFFFFF"/>
                </a:solidFill>
              </a14:hiddenFill>
            </a:ext>
          </a:extLst>
        </p:spPr>
      </p:pic>
      <p:pic>
        <p:nvPicPr>
          <p:cNvPr id="32772" name="Picture 4" descr="صفر تا صد مفاهیم پایه الکترونیک">
            <a:extLst>
              <a:ext uri="{FF2B5EF4-FFF2-40B4-BE49-F238E27FC236}">
                <a16:creationId xmlns:a16="http://schemas.microsoft.com/office/drawing/2014/main" id="{CCE6BDFD-01DA-0E8E-896C-65EB155ECB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6668" y="3925330"/>
            <a:ext cx="2415745" cy="2415745"/>
          </a:xfrm>
          <a:prstGeom prst="rect">
            <a:avLst/>
          </a:prstGeom>
          <a:noFill/>
          <a:extLst>
            <a:ext uri="{909E8E84-426E-40DD-AFC4-6F175D3DCCD1}">
              <a14:hiddenFill xmlns:a14="http://schemas.microsoft.com/office/drawing/2010/main">
                <a:solidFill>
                  <a:srgbClr val="FFFFFF"/>
                </a:solidFill>
              </a14:hiddenFill>
            </a:ext>
          </a:extLst>
        </p:spPr>
      </p:pic>
      <p:pic>
        <p:nvPicPr>
          <p:cNvPr id="32776" name="Picture 8" descr="ZERO TO HERO - Christ Paradise Church">
            <a:extLst>
              <a:ext uri="{FF2B5EF4-FFF2-40B4-BE49-F238E27FC236}">
                <a16:creationId xmlns:a16="http://schemas.microsoft.com/office/drawing/2014/main" id="{C1A146D3-5E33-7832-EC1A-AF221C5940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0667" y="4512275"/>
            <a:ext cx="2495550" cy="1828800"/>
          </a:xfrm>
          <a:prstGeom prst="rect">
            <a:avLst/>
          </a:prstGeom>
          <a:noFill/>
          <a:extLst>
            <a:ext uri="{909E8E84-426E-40DD-AFC4-6F175D3DCCD1}">
              <a14:hiddenFill xmlns:a14="http://schemas.microsoft.com/office/drawing/2010/main">
                <a:solidFill>
                  <a:srgbClr val="FFFFFF"/>
                </a:solidFill>
              </a14:hiddenFill>
            </a:ext>
          </a:extLst>
        </p:spPr>
      </p:pic>
      <p:pic>
        <p:nvPicPr>
          <p:cNvPr id="32778" name="Picture 10" descr="zero-to-mastery · GitHub Topics · GitHub">
            <a:extLst>
              <a:ext uri="{FF2B5EF4-FFF2-40B4-BE49-F238E27FC236}">
                <a16:creationId xmlns:a16="http://schemas.microsoft.com/office/drawing/2014/main" id="{B6E03E85-B7EC-FB37-A112-37CADA7C42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8032" y="1252153"/>
            <a:ext cx="2415745" cy="24157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3043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8721C-F38A-AF07-DDE9-FA9281CD9E3C}"/>
              </a:ext>
            </a:extLst>
          </p:cNvPr>
          <p:cNvSpPr>
            <a:spLocks noGrp="1"/>
          </p:cNvSpPr>
          <p:nvPr>
            <p:ph type="title"/>
          </p:nvPr>
        </p:nvSpPr>
        <p:spPr>
          <a:xfrm>
            <a:off x="457200" y="274637"/>
            <a:ext cx="8229600" cy="1916627"/>
          </a:xfrm>
        </p:spPr>
        <p:txBody>
          <a:bodyPr>
            <a:normAutofit/>
          </a:bodyPr>
          <a:lstStyle/>
          <a:p>
            <a:r>
              <a:rPr lang="fa-IR" sz="8800" dirty="0">
                <a:latin typeface="IranNastaliq" panose="02020505000000020003" pitchFamily="18" charset="0"/>
                <a:cs typeface="IranNastaliq" panose="02020505000000020003" pitchFamily="18" charset="0"/>
              </a:rPr>
              <a:t>از صفر  تا  </a:t>
            </a:r>
            <a:r>
              <a:rPr lang="fa-IR" sz="8800" dirty="0">
                <a:solidFill>
                  <a:srgbClr val="FF0000"/>
                </a:solidFill>
                <a:latin typeface="IranNastaliq" panose="02020505000000020003" pitchFamily="18" charset="0"/>
                <a:cs typeface="IranNastaliq" panose="02020505000000020003" pitchFamily="18" charset="0"/>
              </a:rPr>
              <a:t>عشق</a:t>
            </a:r>
            <a:endParaRPr lang="en-US" sz="8800" dirty="0">
              <a:solidFill>
                <a:srgbClr val="FF0000"/>
              </a:solidFill>
              <a:latin typeface="IranNastaliq" panose="02020505000000020003" pitchFamily="18" charset="0"/>
              <a:cs typeface="IranNastaliq" panose="02020505000000020003" pitchFamily="18" charset="0"/>
            </a:endParaRPr>
          </a:p>
        </p:txBody>
      </p:sp>
      <p:pic>
        <p:nvPicPr>
          <p:cNvPr id="5" name="Picture 4">
            <a:extLst>
              <a:ext uri="{FF2B5EF4-FFF2-40B4-BE49-F238E27FC236}">
                <a16:creationId xmlns:a16="http://schemas.microsoft.com/office/drawing/2014/main" id="{71FA30AC-F693-19E6-7618-BA66D78602D2}"/>
              </a:ext>
            </a:extLst>
          </p:cNvPr>
          <p:cNvPicPr>
            <a:picLocks noChangeAspect="1"/>
          </p:cNvPicPr>
          <p:nvPr/>
        </p:nvPicPr>
        <p:blipFill>
          <a:blip r:embed="rId2"/>
          <a:stretch>
            <a:fillRect/>
          </a:stretch>
        </p:blipFill>
        <p:spPr>
          <a:xfrm>
            <a:off x="2488672" y="2117122"/>
            <a:ext cx="4027458" cy="3466490"/>
          </a:xfrm>
          <a:prstGeom prst="rect">
            <a:avLst/>
          </a:prstGeom>
        </p:spPr>
      </p:pic>
      <p:sp>
        <p:nvSpPr>
          <p:cNvPr id="8" name="TextBox 7">
            <a:extLst>
              <a:ext uri="{FF2B5EF4-FFF2-40B4-BE49-F238E27FC236}">
                <a16:creationId xmlns:a16="http://schemas.microsoft.com/office/drawing/2014/main" id="{F70AD396-2DBA-E432-8378-E710BE420E33}"/>
              </a:ext>
            </a:extLst>
          </p:cNvPr>
          <p:cNvSpPr txBox="1"/>
          <p:nvPr/>
        </p:nvSpPr>
        <p:spPr>
          <a:xfrm>
            <a:off x="2133599" y="5964538"/>
            <a:ext cx="4810897" cy="461665"/>
          </a:xfrm>
          <a:prstGeom prst="rect">
            <a:avLst/>
          </a:prstGeom>
          <a:noFill/>
        </p:spPr>
        <p:txBody>
          <a:bodyPr wrap="square" rtlCol="0">
            <a:spAutoFit/>
          </a:bodyPr>
          <a:lstStyle/>
          <a:p>
            <a:pPr algn="r" rtl="1"/>
            <a:r>
              <a:rPr lang="fa-IR" sz="2400" dirty="0">
                <a:latin typeface="IRANSansWeb" panose="020B0506030804020204" pitchFamily="34" charset="-78"/>
                <a:cs typeface="IRANSansWeb" panose="020B0506030804020204" pitchFamily="34" charset="-78"/>
              </a:rPr>
              <a:t>این بار »  </a:t>
            </a:r>
            <a:r>
              <a:rPr lang="en-US" sz="2400" dirty="0">
                <a:latin typeface="IRANSansWeb" panose="020B0506030804020204" pitchFamily="34" charset="-78"/>
                <a:cs typeface="IRANSansWeb" panose="020B0506030804020204" pitchFamily="34" charset="-78"/>
              </a:rPr>
              <a:t> STM32 | </a:t>
            </a:r>
            <a:r>
              <a:rPr lang="en-US" sz="2400" dirty="0" err="1">
                <a:latin typeface="IRANSansWeb" panose="020B0506030804020204" pitchFamily="34" charset="-78"/>
                <a:cs typeface="IRANSansWeb" panose="020B0506030804020204" pitchFamily="34" charset="-78"/>
              </a:rPr>
              <a:t>FreeRTOS</a:t>
            </a:r>
            <a:r>
              <a:rPr lang="en-US" sz="2400" dirty="0">
                <a:latin typeface="IRANSansWeb" panose="020B0506030804020204" pitchFamily="34" charset="-78"/>
                <a:cs typeface="IRANSansWeb" panose="020B0506030804020204" pitchFamily="34" charset="-78"/>
              </a:rPr>
              <a:t> | IoT</a:t>
            </a:r>
          </a:p>
        </p:txBody>
      </p:sp>
    </p:spTree>
    <p:extLst>
      <p:ext uri="{BB962C8B-B14F-4D97-AF65-F5344CB8AC3E}">
        <p14:creationId xmlns:p14="http://schemas.microsoft.com/office/powerpoint/2010/main" val="3029031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B180C165-9B5F-3C71-D549-152699EBEB7E}"/>
              </a:ext>
            </a:extLst>
          </p:cNvPr>
          <p:cNvSpPr txBox="1">
            <a:spLocks/>
          </p:cNvSpPr>
          <p:nvPr/>
        </p:nvSpPr>
        <p:spPr>
          <a:xfrm>
            <a:off x="4316626" y="691979"/>
            <a:ext cx="4522573" cy="5841958"/>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 مدباس </a:t>
            </a:r>
            <a:r>
              <a:rPr lang="en-US" sz="1400" dirty="0">
                <a:latin typeface="IRANSansWeb" panose="020B0506030804020204" pitchFamily="34" charset="-78"/>
                <a:cs typeface="IRANSansWeb" panose="020B0506030804020204" pitchFamily="34" charset="-78"/>
              </a:rPr>
              <a:t> Serial  RTU</a:t>
            </a:r>
            <a:r>
              <a:rPr lang="fa-IR" sz="1400" dirty="0">
                <a:latin typeface="IRANSansWeb" panose="020B0506030804020204" pitchFamily="34" charset="-78"/>
                <a:cs typeface="IRANSansWeb" panose="020B0506030804020204" pitchFamily="34" charset="-78"/>
              </a:rPr>
              <a:t>در مد </a:t>
            </a:r>
            <a:r>
              <a:rPr lang="en-US" sz="1400" dirty="0">
                <a:latin typeface="IRANSansWeb" panose="020B0506030804020204" pitchFamily="34" charset="-78"/>
                <a:cs typeface="IRANSansWeb" panose="020B0506030804020204" pitchFamily="34" charset="-78"/>
              </a:rPr>
              <a:t>(Slave | Server)</a:t>
            </a:r>
            <a:endParaRPr lang="fa-IR" sz="1400" dirty="0">
              <a:latin typeface="IRANSansWeb" panose="020B0506030804020204" pitchFamily="34" charset="-78"/>
              <a:cs typeface="IRANSansWeb" panose="020B0506030804020204" pitchFamily="34" charset="-78"/>
            </a:endParaRPr>
          </a:p>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 مدباس </a:t>
            </a:r>
            <a:r>
              <a:rPr lang="en-US" sz="1400" dirty="0">
                <a:latin typeface="IRANSansWeb" panose="020B0506030804020204" pitchFamily="34" charset="-78"/>
                <a:cs typeface="IRANSansWeb" panose="020B0506030804020204" pitchFamily="34" charset="-78"/>
              </a:rPr>
              <a:t> Serial  RTU</a:t>
            </a:r>
            <a:r>
              <a:rPr lang="fa-IR" sz="1400" dirty="0">
                <a:latin typeface="IRANSansWeb" panose="020B0506030804020204" pitchFamily="34" charset="-78"/>
                <a:cs typeface="IRANSansWeb" panose="020B0506030804020204" pitchFamily="34" charset="-78"/>
              </a:rPr>
              <a:t>در مد </a:t>
            </a:r>
            <a:r>
              <a:rPr lang="en-US" sz="1400" dirty="0">
                <a:latin typeface="IRANSansWeb" panose="020B0506030804020204" pitchFamily="34" charset="-78"/>
                <a:cs typeface="IRANSansWeb" panose="020B0506030804020204" pitchFamily="34" charset="-78"/>
              </a:rPr>
              <a:t>(Master | Client)</a:t>
            </a:r>
            <a:endParaRPr lang="fa-IR" sz="1400" dirty="0">
              <a:latin typeface="IRANSansWeb" panose="020B0506030804020204" pitchFamily="34" charset="-78"/>
              <a:cs typeface="IRANSansWeb" panose="020B0506030804020204" pitchFamily="34" charset="-78"/>
            </a:endParaRPr>
          </a:p>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 مدباس </a:t>
            </a:r>
            <a:r>
              <a:rPr lang="en-US" sz="1400" dirty="0">
                <a:latin typeface="IRANSansWeb" panose="020B0506030804020204" pitchFamily="34" charset="-78"/>
                <a:cs typeface="IRANSansWeb" panose="020B0506030804020204" pitchFamily="34" charset="-78"/>
              </a:rPr>
              <a:t> TCP</a:t>
            </a:r>
            <a:r>
              <a:rPr lang="fa-IR" sz="1400" dirty="0">
                <a:latin typeface="IRANSansWeb" panose="020B0506030804020204" pitchFamily="34" charset="-78"/>
                <a:cs typeface="IRANSansWeb" panose="020B0506030804020204" pitchFamily="34" charset="-78"/>
              </a:rPr>
              <a:t>در مد </a:t>
            </a:r>
            <a:r>
              <a:rPr lang="en-US" sz="1400" dirty="0">
                <a:latin typeface="IRANSansWeb" panose="020B0506030804020204" pitchFamily="34" charset="-78"/>
                <a:cs typeface="IRANSansWeb" panose="020B0506030804020204" pitchFamily="34" charset="-78"/>
              </a:rPr>
              <a:t>(Slave | Server)</a:t>
            </a:r>
            <a:endParaRPr lang="fa-IR" sz="1400" dirty="0">
              <a:latin typeface="IRANSansWeb" panose="020B0506030804020204" pitchFamily="34" charset="-78"/>
              <a:cs typeface="IRANSansWeb" panose="020B0506030804020204" pitchFamily="34" charset="-78"/>
            </a:endParaRPr>
          </a:p>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 مدباس </a:t>
            </a:r>
            <a:r>
              <a:rPr lang="en-US" sz="1400" dirty="0">
                <a:latin typeface="IRANSansWeb" panose="020B0506030804020204" pitchFamily="34" charset="-78"/>
                <a:cs typeface="IRANSansWeb" panose="020B0506030804020204" pitchFamily="34" charset="-78"/>
              </a:rPr>
              <a:t> TCP</a:t>
            </a:r>
            <a:r>
              <a:rPr lang="fa-IR" sz="1400" dirty="0">
                <a:latin typeface="IRANSansWeb" panose="020B0506030804020204" pitchFamily="34" charset="-78"/>
                <a:cs typeface="IRANSansWeb" panose="020B0506030804020204" pitchFamily="34" charset="-78"/>
              </a:rPr>
              <a:t>در مد </a:t>
            </a:r>
            <a:r>
              <a:rPr lang="en-US" sz="1400" dirty="0">
                <a:latin typeface="IRANSansWeb" panose="020B0506030804020204" pitchFamily="34" charset="-78"/>
                <a:cs typeface="IRANSansWeb" panose="020B0506030804020204" pitchFamily="34" charset="-78"/>
              </a:rPr>
              <a:t>(Master | Client)</a:t>
            </a:r>
          </a:p>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 کن باس</a:t>
            </a:r>
            <a:endParaRPr lang="en-US" sz="1400" dirty="0">
              <a:latin typeface="IRANSansWeb" panose="020B0506030804020204" pitchFamily="34" charset="-78"/>
              <a:cs typeface="IRANSansWeb" panose="020B0506030804020204" pitchFamily="34" charset="-78"/>
            </a:endParaRPr>
          </a:p>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 </a:t>
            </a:r>
            <a:r>
              <a:rPr lang="en-US" sz="1400" dirty="0">
                <a:latin typeface="IRANSansWeb" panose="020B0506030804020204" pitchFamily="34" charset="-78"/>
                <a:cs typeface="IRANSansWeb" panose="020B0506030804020204" pitchFamily="34" charset="-78"/>
              </a:rPr>
              <a:t>RTOS</a:t>
            </a:r>
            <a:r>
              <a:rPr lang="fa-IR" sz="1400" dirty="0">
                <a:latin typeface="IRANSansWeb" panose="020B0506030804020204" pitchFamily="34" charset="-78"/>
                <a:cs typeface="IRANSansWeb" panose="020B0506030804020204" pitchFamily="34" charset="-78"/>
              </a:rPr>
              <a:t> ها مانند </a:t>
            </a:r>
            <a:r>
              <a:rPr lang="en-US" sz="1400" dirty="0" err="1">
                <a:latin typeface="IRANSansWeb" panose="020B0506030804020204" pitchFamily="34" charset="-78"/>
                <a:cs typeface="IRANSansWeb" panose="020B0506030804020204" pitchFamily="34" charset="-78"/>
              </a:rPr>
              <a:t>FreeRTOS</a:t>
            </a:r>
            <a:endParaRPr lang="en-US" sz="1400" dirty="0">
              <a:latin typeface="IRANSansWeb" panose="020B0506030804020204" pitchFamily="34" charset="-78"/>
              <a:cs typeface="IRANSansWeb" panose="020B0506030804020204" pitchFamily="34" charset="-78"/>
            </a:endParaRPr>
          </a:p>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 </a:t>
            </a:r>
            <a:r>
              <a:rPr lang="en-US" sz="1400" dirty="0">
                <a:latin typeface="IRANSansWeb" panose="020B0506030804020204" pitchFamily="34" charset="-78"/>
                <a:cs typeface="IRANSansWeb" panose="020B0506030804020204" pitchFamily="34" charset="-78"/>
              </a:rPr>
              <a:t>STM32CubeMonitor</a:t>
            </a:r>
          </a:p>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 </a:t>
            </a:r>
            <a:r>
              <a:rPr lang="en-US" sz="1400" dirty="0">
                <a:latin typeface="IRANSansWeb" panose="020B0506030804020204" pitchFamily="34" charset="-78"/>
                <a:cs typeface="IRANSansWeb" panose="020B0506030804020204" pitchFamily="34" charset="-78"/>
              </a:rPr>
              <a:t>Node-Red</a:t>
            </a:r>
          </a:p>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 </a:t>
            </a:r>
            <a:r>
              <a:rPr lang="en-US" sz="1400" dirty="0" err="1">
                <a:latin typeface="IRANSansWeb" panose="020B0506030804020204" pitchFamily="34" charset="-78"/>
                <a:cs typeface="IRANSansWeb" panose="020B0506030804020204" pitchFamily="34" charset="-78"/>
              </a:rPr>
              <a:t>Jlink</a:t>
            </a:r>
            <a:r>
              <a:rPr lang="en-US" sz="1400" dirty="0">
                <a:latin typeface="IRANSansWeb" panose="020B0506030804020204" pitchFamily="34" charset="-78"/>
                <a:cs typeface="IRANSansWeb" panose="020B0506030804020204" pitchFamily="34" charset="-78"/>
              </a:rPr>
              <a:t>-RTT</a:t>
            </a:r>
          </a:p>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 </a:t>
            </a:r>
            <a:r>
              <a:rPr lang="en-US" sz="1400" dirty="0">
                <a:latin typeface="IRANSansWeb" panose="020B0506030804020204" pitchFamily="34" charset="-78"/>
                <a:cs typeface="IRANSansWeb" panose="020B0506030804020204" pitchFamily="34" charset="-78"/>
              </a:rPr>
              <a:t>WS2812B</a:t>
            </a:r>
          </a:p>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 </a:t>
            </a:r>
            <a:r>
              <a:rPr lang="en-US" sz="1400" dirty="0">
                <a:latin typeface="IRANSansWeb" panose="020B0506030804020204" pitchFamily="34" charset="-78"/>
                <a:cs typeface="IRANSansWeb" panose="020B0506030804020204" pitchFamily="34" charset="-78"/>
              </a:rPr>
              <a:t>W5500</a:t>
            </a:r>
          </a:p>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a:t>
            </a:r>
            <a:r>
              <a:rPr lang="en-US" sz="1400" dirty="0">
                <a:latin typeface="IRANSansWeb" panose="020B0506030804020204" pitchFamily="34" charset="-78"/>
                <a:cs typeface="IRANSansWeb" panose="020B0506030804020204" pitchFamily="34" charset="-78"/>
              </a:rPr>
              <a:t> IOT </a:t>
            </a:r>
          </a:p>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 </a:t>
            </a:r>
            <a:r>
              <a:rPr lang="en-US" sz="1400" dirty="0">
                <a:latin typeface="IRANSansWeb" panose="020B0506030804020204" pitchFamily="34" charset="-78"/>
                <a:cs typeface="IRANSansWeb" panose="020B0506030804020204" pitchFamily="34" charset="-78"/>
              </a:rPr>
              <a:t>TM1638</a:t>
            </a:r>
          </a:p>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 </a:t>
            </a:r>
            <a:r>
              <a:rPr lang="en-US" sz="1400" dirty="0">
                <a:latin typeface="IRANSansWeb" panose="020B0506030804020204" pitchFamily="34" charset="-78"/>
                <a:cs typeface="IRANSansWeb" panose="020B0506030804020204" pitchFamily="34" charset="-78"/>
              </a:rPr>
              <a:t>GIT</a:t>
            </a:r>
          </a:p>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 </a:t>
            </a:r>
            <a:r>
              <a:rPr lang="en-US" sz="1400" dirty="0" err="1">
                <a:latin typeface="IRANSansWeb" panose="020B0506030804020204" pitchFamily="34" charset="-78"/>
                <a:cs typeface="IRANSansWeb" panose="020B0506030804020204" pitchFamily="34" charset="-78"/>
              </a:rPr>
              <a:t>Segger</a:t>
            </a:r>
            <a:r>
              <a:rPr lang="en-US" sz="1400" dirty="0">
                <a:latin typeface="IRANSansWeb" panose="020B0506030804020204" pitchFamily="34" charset="-78"/>
                <a:cs typeface="IRANSansWeb" panose="020B0506030804020204" pitchFamily="34" charset="-78"/>
              </a:rPr>
              <a:t> </a:t>
            </a:r>
            <a:r>
              <a:rPr lang="en-US" sz="1400" dirty="0" err="1">
                <a:latin typeface="IRANSansWeb" panose="020B0506030804020204" pitchFamily="34" charset="-78"/>
                <a:cs typeface="IRANSansWeb" panose="020B0506030804020204" pitchFamily="34" charset="-78"/>
              </a:rPr>
              <a:t>SystemView</a:t>
            </a:r>
            <a:r>
              <a:rPr lang="en-US" sz="1400" dirty="0">
                <a:latin typeface="IRANSansWeb" panose="020B0506030804020204" pitchFamily="34" charset="-78"/>
                <a:cs typeface="IRANSansWeb" panose="020B0506030804020204" pitchFamily="34" charset="-78"/>
              </a:rPr>
              <a:t> </a:t>
            </a:r>
          </a:p>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 </a:t>
            </a:r>
            <a:r>
              <a:rPr lang="en-US" sz="1400" dirty="0" err="1">
                <a:latin typeface="IRANSansWeb" panose="020B0506030804020204" pitchFamily="34" charset="-78"/>
                <a:cs typeface="IRANSansWeb" panose="020B0506030804020204" pitchFamily="34" charset="-78"/>
              </a:rPr>
              <a:t>Percepio</a:t>
            </a:r>
            <a:r>
              <a:rPr lang="en-US" sz="1400" dirty="0">
                <a:latin typeface="IRANSansWeb" panose="020B0506030804020204" pitchFamily="34" charset="-78"/>
                <a:cs typeface="IRANSansWeb" panose="020B0506030804020204" pitchFamily="34" charset="-78"/>
              </a:rPr>
              <a:t> </a:t>
            </a:r>
            <a:r>
              <a:rPr lang="en-US" sz="1400" dirty="0" err="1">
                <a:latin typeface="IRANSansWeb" panose="020B0506030804020204" pitchFamily="34" charset="-78"/>
                <a:cs typeface="IRANSansWeb" panose="020B0506030804020204" pitchFamily="34" charset="-78"/>
              </a:rPr>
              <a:t>Tracealyzer</a:t>
            </a:r>
            <a:endParaRPr lang="fa-IR" sz="1400" dirty="0">
              <a:latin typeface="IRANSansWeb" panose="020B0506030804020204" pitchFamily="34" charset="-78"/>
              <a:cs typeface="IRANSansWeb" panose="020B0506030804020204" pitchFamily="34" charset="-78"/>
            </a:endParaRPr>
          </a:p>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 </a:t>
            </a:r>
            <a:r>
              <a:rPr lang="en-US" sz="1400" dirty="0">
                <a:latin typeface="IRANSansWeb" panose="020B0506030804020204" pitchFamily="34" charset="-78"/>
                <a:cs typeface="IRANSansWeb" panose="020B0506030804020204" pitchFamily="34" charset="-78"/>
              </a:rPr>
              <a:t>LWIP</a:t>
            </a:r>
          </a:p>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a:t>
            </a:r>
            <a:r>
              <a:rPr lang="en-US" sz="1400" dirty="0">
                <a:latin typeface="IRANSansWeb" panose="020B0506030804020204" pitchFamily="34" charset="-78"/>
                <a:cs typeface="IRANSansWeb" panose="020B0506030804020204" pitchFamily="34" charset="-78"/>
              </a:rPr>
              <a:t> </a:t>
            </a:r>
            <a:r>
              <a:rPr lang="en-US" sz="1400" dirty="0" err="1">
                <a:latin typeface="IRANSansWeb" panose="020B0506030804020204" pitchFamily="34" charset="-78"/>
                <a:cs typeface="IRANSansWeb" panose="020B0506030804020204" pitchFamily="34" charset="-78"/>
              </a:rPr>
              <a:t>CycloneTCP</a:t>
            </a:r>
            <a:r>
              <a:rPr lang="en-US" sz="1400" dirty="0">
                <a:latin typeface="IRANSansWeb" panose="020B0506030804020204" pitchFamily="34" charset="-78"/>
                <a:cs typeface="IRANSansWeb" panose="020B0506030804020204" pitchFamily="34" charset="-78"/>
              </a:rPr>
              <a:t> </a:t>
            </a:r>
          </a:p>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a:t>
            </a:r>
            <a:r>
              <a:rPr lang="en-US" sz="1400" dirty="0">
                <a:latin typeface="IRANSansWeb" panose="020B0506030804020204" pitchFamily="34" charset="-78"/>
                <a:cs typeface="IRANSansWeb" panose="020B0506030804020204" pitchFamily="34" charset="-78"/>
              </a:rPr>
              <a:t>  Mongoose </a:t>
            </a:r>
          </a:p>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a:t>
            </a:r>
            <a:r>
              <a:rPr lang="en-US" sz="1400" dirty="0">
                <a:latin typeface="IRANSansWeb" panose="020B0506030804020204" pitchFamily="34" charset="-78"/>
                <a:cs typeface="IRANSansWeb" panose="020B0506030804020204" pitchFamily="34" charset="-78"/>
              </a:rPr>
              <a:t>  </a:t>
            </a:r>
            <a:r>
              <a:rPr lang="en-US" sz="1400" dirty="0" err="1">
                <a:latin typeface="IRANSansWeb" panose="020B0506030804020204" pitchFamily="34" charset="-78"/>
                <a:cs typeface="IRANSansWeb" panose="020B0506030804020204" pitchFamily="34" charset="-78"/>
              </a:rPr>
              <a:t>FreeRTOS</a:t>
            </a:r>
            <a:r>
              <a:rPr lang="en-US" sz="1400" dirty="0">
                <a:latin typeface="IRANSansWeb" panose="020B0506030804020204" pitchFamily="34" charset="-78"/>
                <a:cs typeface="IRANSansWeb" panose="020B0506030804020204" pitchFamily="34" charset="-78"/>
              </a:rPr>
              <a:t>-Plus-TCP </a:t>
            </a:r>
          </a:p>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 بوت لودرهای اختصاصی</a:t>
            </a:r>
          </a:p>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 </a:t>
            </a:r>
            <a:r>
              <a:rPr lang="en-US" sz="1400" dirty="0">
                <a:latin typeface="IRANSansWeb" panose="020B0506030804020204" pitchFamily="34" charset="-78"/>
                <a:cs typeface="IRANSansWeb" panose="020B0506030804020204" pitchFamily="34" charset="-78"/>
              </a:rPr>
              <a:t>AT-</a:t>
            </a:r>
            <a:r>
              <a:rPr lang="en-US" sz="1400" dirty="0" err="1">
                <a:latin typeface="IRANSansWeb" panose="020B0506030804020204" pitchFamily="34" charset="-78"/>
                <a:cs typeface="IRANSansWeb" panose="020B0506030804020204" pitchFamily="34" charset="-78"/>
              </a:rPr>
              <a:t>Commnad</a:t>
            </a:r>
            <a:r>
              <a:rPr lang="en-US" sz="1400" dirty="0">
                <a:latin typeface="IRANSansWeb" panose="020B0506030804020204" pitchFamily="34" charset="-78"/>
                <a:cs typeface="IRANSansWeb" panose="020B0506030804020204" pitchFamily="34" charset="-78"/>
              </a:rPr>
              <a:t> </a:t>
            </a:r>
            <a:r>
              <a:rPr lang="fa-IR" sz="1400" dirty="0">
                <a:latin typeface="IRANSansWeb" panose="020B0506030804020204" pitchFamily="34" charset="-78"/>
                <a:cs typeface="IRANSansWeb" panose="020B0506030804020204" pitchFamily="34" charset="-78"/>
              </a:rPr>
              <a:t> در </a:t>
            </a:r>
            <a:r>
              <a:rPr lang="en-US" sz="1400" dirty="0">
                <a:latin typeface="IRANSansWeb" panose="020B0506030804020204" pitchFamily="34" charset="-78"/>
                <a:cs typeface="IRANSansWeb" panose="020B0506030804020204" pitchFamily="34" charset="-78"/>
              </a:rPr>
              <a:t>SIM800</a:t>
            </a:r>
            <a:r>
              <a:rPr lang="fa-IR" sz="1400" dirty="0">
                <a:latin typeface="IRANSansWeb" panose="020B0506030804020204" pitchFamily="34" charset="-78"/>
                <a:cs typeface="IRANSansWeb" panose="020B0506030804020204" pitchFamily="34" charset="-78"/>
              </a:rPr>
              <a:t> و </a:t>
            </a:r>
            <a:r>
              <a:rPr lang="en-US" sz="1400" dirty="0">
                <a:latin typeface="IRANSansWeb" panose="020B0506030804020204" pitchFamily="34" charset="-78"/>
                <a:cs typeface="IRANSansWeb" panose="020B0506030804020204" pitchFamily="34" charset="-78"/>
              </a:rPr>
              <a:t>ESP8266</a:t>
            </a:r>
          </a:p>
          <a:p>
            <a:pPr algn="r" rtl="1">
              <a:buFont typeface="+mj-lt"/>
              <a:buAutoNum type="arabicPeriod"/>
            </a:pPr>
            <a:r>
              <a:rPr lang="fa-IR" sz="1400" dirty="0">
                <a:latin typeface="IRANSansWeb" panose="020B0506030804020204" pitchFamily="34" charset="-78"/>
                <a:cs typeface="IRANSansWeb" panose="020B0506030804020204" pitchFamily="34" charset="-78"/>
              </a:rPr>
              <a:t>آشنایی با لایه های شبکه </a:t>
            </a:r>
            <a:r>
              <a:rPr lang="en-US" sz="1400" dirty="0">
                <a:latin typeface="IRANSansWeb" panose="020B0506030804020204" pitchFamily="34" charset="-78"/>
                <a:cs typeface="IRANSansWeb" panose="020B0506030804020204" pitchFamily="34" charset="-78"/>
              </a:rPr>
              <a:t> Network+  </a:t>
            </a:r>
            <a:r>
              <a:rPr lang="en-US" sz="1400" dirty="0" err="1">
                <a:latin typeface="IRANSansWeb" panose="020B0506030804020204" pitchFamily="34" charset="-78"/>
                <a:cs typeface="IRANSansWeb" panose="020B0506030804020204" pitchFamily="34" charset="-78"/>
              </a:rPr>
              <a:t>WireShark</a:t>
            </a:r>
            <a:r>
              <a:rPr lang="en-US" sz="1400" dirty="0">
                <a:latin typeface="IRANSansWeb" panose="020B0506030804020204" pitchFamily="34" charset="-78"/>
                <a:cs typeface="IRANSansWeb" panose="020B0506030804020204" pitchFamily="34" charset="-78"/>
              </a:rPr>
              <a:t> </a:t>
            </a:r>
          </a:p>
          <a:p>
            <a:pPr algn="r" rtl="1">
              <a:buFont typeface="+mj-lt"/>
              <a:buAutoNum type="arabicPeriod"/>
            </a:pPr>
            <a:endParaRPr lang="en-US" sz="1400" dirty="0">
              <a:latin typeface="IRANSansWeb" panose="020B0506030804020204" pitchFamily="34" charset="-78"/>
              <a:cs typeface="IRANSansWeb" panose="020B0506030804020204" pitchFamily="34" charset="-78"/>
            </a:endParaRPr>
          </a:p>
          <a:p>
            <a:pPr algn="r" rtl="1">
              <a:buFont typeface="+mj-lt"/>
              <a:buAutoNum type="arabicPeriod"/>
            </a:pPr>
            <a:endParaRPr lang="fa-IR" sz="1400" dirty="0">
              <a:latin typeface="IRANSansWeb" panose="020B0506030804020204" pitchFamily="34" charset="-78"/>
              <a:cs typeface="IRANSansWeb" panose="020B0506030804020204" pitchFamily="34" charset="-78"/>
            </a:endParaRPr>
          </a:p>
          <a:p>
            <a:pPr algn="r" rtl="1">
              <a:buFont typeface="+mj-lt"/>
              <a:buAutoNum type="arabicPeriod"/>
            </a:pPr>
            <a:endParaRPr lang="en-US" sz="1400" dirty="0">
              <a:latin typeface="IRANSansWeb" panose="020B0506030804020204" pitchFamily="34" charset="-78"/>
              <a:cs typeface="IRANSansWeb" panose="020B0506030804020204" pitchFamily="34" charset="-78"/>
            </a:endParaRPr>
          </a:p>
        </p:txBody>
      </p:sp>
      <p:sp>
        <p:nvSpPr>
          <p:cNvPr id="8" name="Content Placeholder 2">
            <a:extLst>
              <a:ext uri="{FF2B5EF4-FFF2-40B4-BE49-F238E27FC236}">
                <a16:creationId xmlns:a16="http://schemas.microsoft.com/office/drawing/2014/main" id="{F0EC587E-5DA5-E3D8-3538-D2409B7DDCF8}"/>
              </a:ext>
            </a:extLst>
          </p:cNvPr>
          <p:cNvSpPr txBox="1">
            <a:spLocks/>
          </p:cNvSpPr>
          <p:nvPr/>
        </p:nvSpPr>
        <p:spPr>
          <a:xfrm>
            <a:off x="107092" y="2428102"/>
            <a:ext cx="4209534" cy="2858529"/>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r" rtl="1">
              <a:buFont typeface="+mj-lt"/>
              <a:buAutoNum type="arabicPeriod" startAt="24"/>
            </a:pPr>
            <a:r>
              <a:rPr lang="fa-IR" sz="1200" dirty="0">
                <a:latin typeface="IRANSansWeb" panose="020B0506030804020204" pitchFamily="34" charset="-78"/>
                <a:cs typeface="IRANSansWeb" panose="020B0506030804020204" pitchFamily="34" charset="-78"/>
              </a:rPr>
              <a:t>آشنایی با راه اندازی </a:t>
            </a:r>
            <a:r>
              <a:rPr lang="en-US" sz="1200" dirty="0">
                <a:latin typeface="IRANSansWeb" panose="020B0506030804020204" pitchFamily="34" charset="-78"/>
                <a:cs typeface="IRANSansWeb" panose="020B0506030804020204" pitchFamily="34" charset="-78"/>
              </a:rPr>
              <a:t>Broker MQTT</a:t>
            </a:r>
            <a:r>
              <a:rPr lang="fa-IR" sz="1200" dirty="0">
                <a:latin typeface="IRANSansWeb" panose="020B0506030804020204" pitchFamily="34" charset="-78"/>
                <a:cs typeface="IRANSansWeb" panose="020B0506030804020204" pitchFamily="34" charset="-78"/>
              </a:rPr>
              <a:t> به صورت لوکال</a:t>
            </a:r>
          </a:p>
          <a:p>
            <a:pPr algn="r" rtl="1">
              <a:buFont typeface="+mj-lt"/>
              <a:buAutoNum type="arabicPeriod" startAt="24"/>
            </a:pPr>
            <a:r>
              <a:rPr lang="fa-IR" sz="1200" dirty="0">
                <a:latin typeface="IRANSansWeb" panose="020B0506030804020204" pitchFamily="34" charset="-78"/>
                <a:cs typeface="IRANSansWeb" panose="020B0506030804020204" pitchFamily="34" charset="-78"/>
              </a:rPr>
              <a:t>آشنایی با دریافت سریال با استفاده از </a:t>
            </a:r>
            <a:r>
              <a:rPr lang="en-US" sz="1200" dirty="0">
                <a:latin typeface="IRANSansWeb" panose="020B0506030804020204" pitchFamily="34" charset="-78"/>
                <a:cs typeface="IRANSansWeb" panose="020B0506030804020204" pitchFamily="34" charset="-78"/>
              </a:rPr>
              <a:t>DMA</a:t>
            </a:r>
            <a:r>
              <a:rPr lang="fa-IR" sz="1200" dirty="0">
                <a:latin typeface="IRANSansWeb" panose="020B0506030804020204" pitchFamily="34" charset="-78"/>
                <a:cs typeface="IRANSansWeb" panose="020B0506030804020204" pitchFamily="34" charset="-78"/>
              </a:rPr>
              <a:t> با طول نامشخص</a:t>
            </a:r>
          </a:p>
          <a:p>
            <a:pPr algn="r" rtl="1">
              <a:buFont typeface="+mj-lt"/>
              <a:buAutoNum type="arabicPeriod" startAt="24"/>
            </a:pPr>
            <a:r>
              <a:rPr lang="fa-IR" sz="1200" dirty="0">
                <a:latin typeface="IRANSansWeb" panose="020B0506030804020204" pitchFamily="34" charset="-78"/>
                <a:cs typeface="IRANSansWeb" panose="020B0506030804020204" pitchFamily="34" charset="-78"/>
              </a:rPr>
              <a:t>آشنایی با ایجاد شکل موج با استفاده از تایمر و </a:t>
            </a:r>
            <a:r>
              <a:rPr lang="en-US" sz="1200" dirty="0">
                <a:latin typeface="IRANSansWeb" panose="020B0506030804020204" pitchFamily="34" charset="-78"/>
                <a:cs typeface="IRANSansWeb" panose="020B0506030804020204" pitchFamily="34" charset="-78"/>
              </a:rPr>
              <a:t>DMA</a:t>
            </a:r>
            <a:endParaRPr lang="fa-IR" sz="1200" dirty="0">
              <a:latin typeface="IRANSansWeb" panose="020B0506030804020204" pitchFamily="34" charset="-78"/>
              <a:cs typeface="IRANSansWeb" panose="020B0506030804020204" pitchFamily="34" charset="-78"/>
            </a:endParaRPr>
          </a:p>
          <a:p>
            <a:pPr algn="r" rtl="1">
              <a:buFont typeface="+mj-lt"/>
              <a:buAutoNum type="arabicPeriod" startAt="24"/>
            </a:pPr>
            <a:r>
              <a:rPr lang="fa-IR" sz="1200" dirty="0">
                <a:latin typeface="IRANSansWeb" panose="020B0506030804020204" pitchFamily="34" charset="-78"/>
                <a:cs typeface="IRANSansWeb" panose="020B0506030804020204" pitchFamily="34" charset="-78"/>
              </a:rPr>
              <a:t>آشنایی با </a:t>
            </a:r>
            <a:r>
              <a:rPr lang="en-US" sz="1200" dirty="0">
                <a:latin typeface="IRANSansWeb" panose="020B0506030804020204" pitchFamily="34" charset="-78"/>
                <a:cs typeface="IRANSansWeb" panose="020B0506030804020204" pitchFamily="34" charset="-78"/>
              </a:rPr>
              <a:t>MAC</a:t>
            </a:r>
            <a:r>
              <a:rPr lang="fa-IR" sz="1200" dirty="0">
                <a:latin typeface="IRANSansWeb" panose="020B0506030804020204" pitchFamily="34" charset="-78"/>
                <a:cs typeface="IRANSansWeb" panose="020B0506030804020204" pitchFamily="34" charset="-78"/>
              </a:rPr>
              <a:t> و </a:t>
            </a:r>
            <a:r>
              <a:rPr lang="en-US" sz="1200" dirty="0">
                <a:latin typeface="IRANSansWeb" panose="020B0506030804020204" pitchFamily="34" charset="-78"/>
                <a:cs typeface="IRANSansWeb" panose="020B0506030804020204" pitchFamily="34" charset="-78"/>
              </a:rPr>
              <a:t>PHY</a:t>
            </a:r>
          </a:p>
          <a:p>
            <a:pPr algn="r" rtl="1">
              <a:buFont typeface="+mj-lt"/>
              <a:buAutoNum type="arabicPeriod" startAt="24"/>
            </a:pPr>
            <a:r>
              <a:rPr lang="fa-IR" sz="1200" dirty="0">
                <a:latin typeface="IRANSansWeb" panose="020B0506030804020204" pitchFamily="34" charset="-78"/>
                <a:cs typeface="IRANSansWeb" panose="020B0506030804020204" pitchFamily="34" charset="-78"/>
              </a:rPr>
              <a:t>آشنایی با انتقال فایل از طریق </a:t>
            </a:r>
            <a:r>
              <a:rPr lang="en-US" sz="1200" dirty="0">
                <a:latin typeface="IRANSansWeb" panose="020B0506030804020204" pitchFamily="34" charset="-78"/>
                <a:cs typeface="IRANSansWeb" panose="020B0506030804020204" pitchFamily="34" charset="-78"/>
              </a:rPr>
              <a:t>HTTP</a:t>
            </a:r>
          </a:p>
          <a:p>
            <a:pPr algn="r" rtl="1">
              <a:buFont typeface="+mj-lt"/>
              <a:buAutoNum type="arabicPeriod" startAt="24"/>
            </a:pPr>
            <a:r>
              <a:rPr lang="fa-IR" sz="1200" dirty="0">
                <a:latin typeface="IRANSansWeb" panose="020B0506030804020204" pitchFamily="34" charset="-78"/>
                <a:cs typeface="IRANSansWeb" panose="020B0506030804020204" pitchFamily="34" charset="-78"/>
              </a:rPr>
              <a:t>آشنایی با </a:t>
            </a:r>
            <a:r>
              <a:rPr lang="en-US" sz="1200" dirty="0" err="1">
                <a:latin typeface="IRANSansWeb" panose="020B0506030804020204" pitchFamily="34" charset="-78"/>
                <a:cs typeface="IRANSansWeb" panose="020B0506030804020204" pitchFamily="34" charset="-78"/>
              </a:rPr>
              <a:t>FreeModbus</a:t>
            </a:r>
            <a:r>
              <a:rPr lang="fa-IR" sz="1200" dirty="0">
                <a:latin typeface="IRANSansWeb" panose="020B0506030804020204" pitchFamily="34" charset="-78"/>
                <a:cs typeface="IRANSansWeb" panose="020B0506030804020204" pitchFamily="34" charset="-78"/>
              </a:rPr>
              <a:t> و یا </a:t>
            </a:r>
            <a:r>
              <a:rPr lang="en-US" sz="1200" dirty="0" err="1">
                <a:latin typeface="IRANSansWeb" panose="020B0506030804020204" pitchFamily="34" charset="-78"/>
                <a:cs typeface="IRANSansWeb" panose="020B0506030804020204" pitchFamily="34" charset="-78"/>
              </a:rPr>
              <a:t>NanoModbus</a:t>
            </a:r>
            <a:endParaRPr lang="en-US" sz="1200" dirty="0">
              <a:latin typeface="IRANSansWeb" panose="020B0506030804020204" pitchFamily="34" charset="-78"/>
              <a:cs typeface="IRANSansWeb" panose="020B0506030804020204" pitchFamily="34" charset="-78"/>
            </a:endParaRPr>
          </a:p>
          <a:p>
            <a:pPr algn="r" rtl="1">
              <a:buFont typeface="+mj-lt"/>
              <a:buAutoNum type="arabicPeriod" startAt="24"/>
            </a:pPr>
            <a:r>
              <a:rPr lang="fa-IR" sz="1200" dirty="0">
                <a:latin typeface="IRANSansWeb" panose="020B0506030804020204" pitchFamily="34" charset="-78"/>
                <a:cs typeface="IRANSansWeb" panose="020B0506030804020204" pitchFamily="34" charset="-78"/>
              </a:rPr>
              <a:t>آشنایی با سنسور دما و رطوبت </a:t>
            </a:r>
            <a:r>
              <a:rPr lang="en-US" sz="1200" dirty="0">
                <a:latin typeface="IRANSansWeb" panose="020B0506030804020204" pitchFamily="34" charset="-78"/>
                <a:cs typeface="IRANSansWeb" panose="020B0506030804020204" pitchFamily="34" charset="-78"/>
              </a:rPr>
              <a:t>[I2C] SHT20</a:t>
            </a:r>
          </a:p>
          <a:p>
            <a:pPr algn="r" rtl="1">
              <a:buFont typeface="+mj-lt"/>
              <a:buAutoNum type="arabicPeriod" startAt="24"/>
            </a:pPr>
            <a:r>
              <a:rPr lang="fa-IR" sz="1200" dirty="0">
                <a:latin typeface="IRANSansWeb" panose="020B0506030804020204" pitchFamily="34" charset="-78"/>
                <a:cs typeface="IRANSansWeb" panose="020B0506030804020204" pitchFamily="34" charset="-78"/>
              </a:rPr>
              <a:t>آشنایی با نمایشگر های </a:t>
            </a:r>
            <a:r>
              <a:rPr lang="en-US" sz="1200" dirty="0">
                <a:latin typeface="IRANSansWeb" panose="020B0506030804020204" pitchFamily="34" charset="-78"/>
                <a:cs typeface="IRANSansWeb" panose="020B0506030804020204" pitchFamily="34" charset="-78"/>
              </a:rPr>
              <a:t> [I2C] OLED SSD1306</a:t>
            </a:r>
          </a:p>
          <a:p>
            <a:pPr algn="r" rtl="1">
              <a:buFont typeface="+mj-lt"/>
              <a:buAutoNum type="arabicPeriod" startAt="24"/>
            </a:pPr>
            <a:r>
              <a:rPr lang="fa-IR" sz="1200" dirty="0">
                <a:latin typeface="IRANSansWeb" panose="020B0506030804020204" pitchFamily="34" charset="-78"/>
                <a:cs typeface="IRANSansWeb" panose="020B0506030804020204" pitchFamily="34" charset="-78"/>
              </a:rPr>
              <a:t>آشنایی با نمایشگر های رنگی </a:t>
            </a:r>
            <a:r>
              <a:rPr lang="en-US" sz="1200" dirty="0">
                <a:latin typeface="IRANSansWeb" panose="020B0506030804020204" pitchFamily="34" charset="-78"/>
                <a:cs typeface="IRANSansWeb" panose="020B0506030804020204" pitchFamily="34" charset="-78"/>
              </a:rPr>
              <a:t>[SPI] ST7789</a:t>
            </a:r>
          </a:p>
          <a:p>
            <a:pPr algn="r" rtl="1">
              <a:buFont typeface="+mj-lt"/>
              <a:buAutoNum type="arabicPeriod" startAt="24"/>
            </a:pPr>
            <a:endParaRPr lang="fa-IR" sz="1200" dirty="0">
              <a:latin typeface="IRANSansWeb" panose="020B0506030804020204" pitchFamily="34" charset="-78"/>
              <a:cs typeface="IRANSansWeb" panose="020B0506030804020204" pitchFamily="34" charset="-78"/>
            </a:endParaRPr>
          </a:p>
          <a:p>
            <a:pPr algn="r" rtl="1">
              <a:buFont typeface="+mj-lt"/>
              <a:buAutoNum type="arabicPeriod" startAt="24"/>
            </a:pPr>
            <a:endParaRPr lang="en-US" sz="1200"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309593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7950F-D23F-7B5A-2E24-3856B4A05A6F}"/>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52697351-BA09-8EEC-CE79-8BD04B0DF2B2}"/>
              </a:ext>
            </a:extLst>
          </p:cNvPr>
          <p:cNvSpPr txBox="1"/>
          <p:nvPr/>
        </p:nvSpPr>
        <p:spPr>
          <a:xfrm>
            <a:off x="5750010" y="335845"/>
            <a:ext cx="2842053" cy="6186309"/>
          </a:xfrm>
          <a:prstGeom prst="rect">
            <a:avLst/>
          </a:prstGeom>
          <a:noFill/>
        </p:spPr>
        <p:txBody>
          <a:bodyPr wrap="square">
            <a:spAutoFit/>
          </a:bodyPr>
          <a:lstStyle/>
          <a:p>
            <a:pPr algn="r" rtl="1"/>
            <a:r>
              <a:rPr lang="fa-IR" sz="1600" dirty="0">
                <a:latin typeface="IRANSansWeb" panose="020B0506030804020204" pitchFamily="34" charset="-78"/>
                <a:cs typeface="IRANSansWeb" panose="020B0506030804020204" pitchFamily="34" charset="-78"/>
              </a:rPr>
              <a:t>آشنایی با اصطلاحات شبکه</a:t>
            </a:r>
            <a:endParaRPr lang="en-US" sz="1600" dirty="0">
              <a:latin typeface="IRANSansWeb" panose="020B0506030804020204" pitchFamily="34" charset="-78"/>
              <a:cs typeface="IRANSansWeb" panose="020B0506030804020204" pitchFamily="34" charset="-78"/>
            </a:endParaRPr>
          </a:p>
          <a:p>
            <a:pPr algn="r" rtl="1"/>
            <a:endParaRPr lang="en-US" sz="1600" dirty="0">
              <a:latin typeface="IRANSansWeb" panose="020B0506030804020204" pitchFamily="34" charset="-78"/>
              <a:cs typeface="IRANSansWeb" panose="020B0506030804020204" pitchFamily="34" charset="-78"/>
            </a:endParaRPr>
          </a:p>
          <a:p>
            <a:pPr marL="342900" indent="-342900" algn="r" rtl="1">
              <a:buFont typeface="+mj-lt"/>
              <a:buAutoNum type="arabicPeriod" startAt="33"/>
            </a:pPr>
            <a:r>
              <a:rPr lang="en-US" sz="1600" dirty="0">
                <a:latin typeface="IRANSansWeb" panose="020B0506030804020204" pitchFamily="34" charset="-78"/>
                <a:cs typeface="IRANSansWeb" panose="020B0506030804020204" pitchFamily="34" charset="-78"/>
              </a:rPr>
              <a:t>UDP </a:t>
            </a:r>
          </a:p>
          <a:p>
            <a:pPr marL="342900" indent="-342900" algn="r" rtl="1">
              <a:buFont typeface="+mj-lt"/>
              <a:buAutoNum type="arabicPeriod" startAt="33"/>
            </a:pPr>
            <a:r>
              <a:rPr lang="en-US" sz="1600" dirty="0">
                <a:latin typeface="IRANSansWeb" panose="020B0506030804020204" pitchFamily="34" charset="-78"/>
                <a:cs typeface="IRANSansWeb" panose="020B0506030804020204" pitchFamily="34" charset="-78"/>
              </a:rPr>
              <a:t>TCP </a:t>
            </a:r>
          </a:p>
          <a:p>
            <a:pPr marL="342900" indent="-342900" algn="r" rtl="1">
              <a:buFont typeface="+mj-lt"/>
              <a:buAutoNum type="arabicPeriod" startAt="33"/>
            </a:pPr>
            <a:r>
              <a:rPr lang="en-US" sz="1600" dirty="0">
                <a:latin typeface="IRANSansWeb" panose="020B0506030804020204" pitchFamily="34" charset="-78"/>
                <a:cs typeface="IRANSansWeb" panose="020B0506030804020204" pitchFamily="34" charset="-78"/>
              </a:rPr>
              <a:t>WebSocket </a:t>
            </a:r>
          </a:p>
          <a:p>
            <a:pPr marL="342900" indent="-342900" algn="r" rtl="1">
              <a:buFont typeface="+mj-lt"/>
              <a:buAutoNum type="arabicPeriod" startAt="33"/>
            </a:pPr>
            <a:r>
              <a:rPr lang="en-US" sz="1600" dirty="0">
                <a:latin typeface="IRANSansWeb" panose="020B0506030804020204" pitchFamily="34" charset="-78"/>
                <a:cs typeface="IRANSansWeb" panose="020B0506030804020204" pitchFamily="34" charset="-78"/>
              </a:rPr>
              <a:t>AJAX </a:t>
            </a:r>
          </a:p>
          <a:p>
            <a:pPr marL="342900" indent="-342900" algn="r" rtl="1">
              <a:buFont typeface="+mj-lt"/>
              <a:buAutoNum type="arabicPeriod" startAt="33"/>
            </a:pPr>
            <a:r>
              <a:rPr lang="en-US" sz="1600" dirty="0">
                <a:latin typeface="IRANSansWeb" panose="020B0506030804020204" pitchFamily="34" charset="-78"/>
                <a:cs typeface="IRANSansWeb" panose="020B0506030804020204" pitchFamily="34" charset="-78"/>
              </a:rPr>
              <a:t>HTTPD</a:t>
            </a:r>
          </a:p>
          <a:p>
            <a:pPr marL="342900" indent="-342900" algn="r" rtl="1">
              <a:buFont typeface="+mj-lt"/>
              <a:buAutoNum type="arabicPeriod" startAt="33"/>
            </a:pPr>
            <a:r>
              <a:rPr lang="en-US" sz="1600" dirty="0">
                <a:latin typeface="IRANSansWeb" panose="020B0506030804020204" pitchFamily="34" charset="-78"/>
                <a:cs typeface="IRANSansWeb" panose="020B0506030804020204" pitchFamily="34" charset="-78"/>
              </a:rPr>
              <a:t> SSI </a:t>
            </a:r>
          </a:p>
          <a:p>
            <a:pPr marL="342900" indent="-342900" algn="r" rtl="1">
              <a:buFont typeface="+mj-lt"/>
              <a:buAutoNum type="arabicPeriod" startAt="33"/>
            </a:pPr>
            <a:r>
              <a:rPr lang="en-US" sz="1600" dirty="0">
                <a:latin typeface="IRANSansWeb" panose="020B0506030804020204" pitchFamily="34" charset="-78"/>
                <a:cs typeface="IRANSansWeb" panose="020B0506030804020204" pitchFamily="34" charset="-78"/>
              </a:rPr>
              <a:t>CGI </a:t>
            </a:r>
          </a:p>
          <a:p>
            <a:pPr marL="342900" indent="-342900" algn="r" rtl="1">
              <a:buFont typeface="+mj-lt"/>
              <a:buAutoNum type="arabicPeriod" startAt="33"/>
            </a:pPr>
            <a:r>
              <a:rPr lang="en-US" sz="1600" dirty="0">
                <a:latin typeface="IRANSansWeb" panose="020B0506030804020204" pitchFamily="34" charset="-78"/>
                <a:cs typeface="IRANSansWeb" panose="020B0506030804020204" pitchFamily="34" charset="-78"/>
              </a:rPr>
              <a:t>SSE </a:t>
            </a:r>
          </a:p>
          <a:p>
            <a:pPr marL="342900" indent="-342900" algn="r" rtl="1">
              <a:buFont typeface="+mj-lt"/>
              <a:buAutoNum type="arabicPeriod" startAt="33"/>
            </a:pPr>
            <a:r>
              <a:rPr lang="en-US" sz="1600" dirty="0">
                <a:latin typeface="IRANSansWeb" panose="020B0506030804020204" pitchFamily="34" charset="-78"/>
                <a:cs typeface="IRANSansWeb" panose="020B0506030804020204" pitchFamily="34" charset="-78"/>
              </a:rPr>
              <a:t>JSON</a:t>
            </a:r>
          </a:p>
          <a:p>
            <a:pPr marL="342900" indent="-342900" algn="r" rtl="1">
              <a:buFont typeface="+mj-lt"/>
              <a:buAutoNum type="arabicPeriod" startAt="33"/>
            </a:pPr>
            <a:r>
              <a:rPr lang="en-US" sz="1600" dirty="0">
                <a:latin typeface="IRANSansWeb" panose="020B0506030804020204" pitchFamily="34" charset="-78"/>
                <a:cs typeface="IRANSansWeb" panose="020B0506030804020204" pitchFamily="34" charset="-78"/>
              </a:rPr>
              <a:t> TLS </a:t>
            </a:r>
          </a:p>
          <a:p>
            <a:pPr marL="342900" indent="-342900" algn="r" rtl="1">
              <a:buFont typeface="+mj-lt"/>
              <a:buAutoNum type="arabicPeriod" startAt="33"/>
            </a:pPr>
            <a:r>
              <a:rPr lang="en-US" sz="1600" dirty="0">
                <a:latin typeface="IRANSansWeb" panose="020B0506030804020204" pitchFamily="34" charset="-78"/>
                <a:cs typeface="IRANSansWeb" panose="020B0506030804020204" pitchFamily="34" charset="-78"/>
              </a:rPr>
              <a:t>Base64</a:t>
            </a:r>
          </a:p>
          <a:p>
            <a:pPr marL="342900" indent="-342900" algn="r" rtl="1">
              <a:buFont typeface="+mj-lt"/>
              <a:buAutoNum type="arabicPeriod" startAt="33"/>
            </a:pPr>
            <a:r>
              <a:rPr lang="en-US" sz="1600" dirty="0">
                <a:latin typeface="IRANSansWeb" panose="020B0506030804020204" pitchFamily="34" charset="-78"/>
                <a:cs typeface="IRANSansWeb" panose="020B0506030804020204" pitchFamily="34" charset="-78"/>
              </a:rPr>
              <a:t> HTTP</a:t>
            </a:r>
          </a:p>
          <a:p>
            <a:pPr marL="342900" indent="-342900" algn="r" rtl="1">
              <a:buFont typeface="+mj-lt"/>
              <a:buAutoNum type="arabicPeriod" startAt="33"/>
            </a:pPr>
            <a:r>
              <a:rPr lang="en-US" sz="1600" dirty="0">
                <a:latin typeface="IRANSansWeb" panose="020B0506030804020204" pitchFamily="34" charset="-78"/>
                <a:cs typeface="IRANSansWeb" panose="020B0506030804020204" pitchFamily="34" charset="-78"/>
              </a:rPr>
              <a:t> GET</a:t>
            </a:r>
          </a:p>
          <a:p>
            <a:pPr marL="342900" indent="-342900" algn="r" rtl="1">
              <a:buFont typeface="+mj-lt"/>
              <a:buAutoNum type="arabicPeriod" startAt="33"/>
            </a:pPr>
            <a:r>
              <a:rPr lang="en-US" sz="1600" dirty="0">
                <a:latin typeface="IRANSansWeb" panose="020B0506030804020204" pitchFamily="34" charset="-78"/>
                <a:cs typeface="IRANSansWeb" panose="020B0506030804020204" pitchFamily="34" charset="-78"/>
              </a:rPr>
              <a:t> POST </a:t>
            </a:r>
          </a:p>
          <a:p>
            <a:pPr marL="342900" indent="-342900" algn="r" rtl="1">
              <a:buFont typeface="+mj-lt"/>
              <a:buAutoNum type="arabicPeriod" startAt="33"/>
            </a:pPr>
            <a:r>
              <a:rPr lang="en-US" sz="1600" dirty="0">
                <a:latin typeface="IRANSansWeb" panose="020B0506030804020204" pitchFamily="34" charset="-78"/>
                <a:cs typeface="IRANSansWeb" panose="020B0506030804020204" pitchFamily="34" charset="-78"/>
              </a:rPr>
              <a:t>REST </a:t>
            </a:r>
          </a:p>
          <a:p>
            <a:pPr marL="342900" indent="-342900" algn="r" rtl="1">
              <a:buFont typeface="+mj-lt"/>
              <a:buAutoNum type="arabicPeriod" startAt="33"/>
            </a:pPr>
            <a:r>
              <a:rPr lang="en-US" sz="1600" dirty="0">
                <a:latin typeface="IRANSansWeb" panose="020B0506030804020204" pitchFamily="34" charset="-78"/>
                <a:cs typeface="IRANSansWeb" panose="020B0506030804020204" pitchFamily="34" charset="-78"/>
              </a:rPr>
              <a:t>RNDIS</a:t>
            </a:r>
          </a:p>
          <a:p>
            <a:pPr marL="342900" indent="-342900" algn="r" rtl="1">
              <a:buFont typeface="+mj-lt"/>
              <a:buAutoNum type="arabicPeriod" startAt="33"/>
            </a:pPr>
            <a:r>
              <a:rPr lang="en-US" sz="1600" dirty="0">
                <a:latin typeface="IRANSansWeb" panose="020B0506030804020204" pitchFamily="34" charset="-78"/>
                <a:cs typeface="IRANSansWeb" panose="020B0506030804020204" pitchFamily="34" charset="-78"/>
              </a:rPr>
              <a:t> PPP</a:t>
            </a:r>
          </a:p>
          <a:p>
            <a:pPr marL="342900" indent="-342900" algn="r" rtl="1">
              <a:buFont typeface="+mj-lt"/>
              <a:buAutoNum type="arabicPeriod" startAt="33"/>
            </a:pPr>
            <a:r>
              <a:rPr lang="en-US" sz="1600" dirty="0">
                <a:latin typeface="IRANSansWeb" panose="020B0506030804020204" pitchFamily="34" charset="-78"/>
                <a:cs typeface="IRANSansWeb" panose="020B0506030804020204" pitchFamily="34" charset="-78"/>
              </a:rPr>
              <a:t> DNS</a:t>
            </a:r>
          </a:p>
          <a:p>
            <a:pPr marL="342900" indent="-342900" algn="r" rtl="1">
              <a:buFont typeface="+mj-lt"/>
              <a:buAutoNum type="arabicPeriod" startAt="33"/>
            </a:pPr>
            <a:r>
              <a:rPr lang="en-US" sz="1600" dirty="0">
                <a:latin typeface="IRANSansWeb" panose="020B0506030804020204" pitchFamily="34" charset="-78"/>
                <a:cs typeface="IRANSansWeb" panose="020B0506030804020204" pitchFamily="34" charset="-78"/>
              </a:rPr>
              <a:t> DHCP</a:t>
            </a:r>
          </a:p>
          <a:p>
            <a:pPr marL="342900" indent="-342900" algn="r" rtl="1">
              <a:buFont typeface="+mj-lt"/>
              <a:buAutoNum type="arabicPeriod" startAt="33"/>
            </a:pPr>
            <a:r>
              <a:rPr lang="en-US" sz="1600" dirty="0">
                <a:latin typeface="IRANSansWeb" panose="020B0506030804020204" pitchFamily="34" charset="-78"/>
                <a:cs typeface="IRANSansWeb" panose="020B0506030804020204" pitchFamily="34" charset="-78"/>
              </a:rPr>
              <a:t> SNMP</a:t>
            </a:r>
          </a:p>
          <a:p>
            <a:pPr marL="342900" indent="-342900" algn="r" rtl="1">
              <a:buFont typeface="+mj-lt"/>
              <a:buAutoNum type="arabicPeriod" startAt="33"/>
            </a:pPr>
            <a:r>
              <a:rPr lang="en-US" sz="1600" dirty="0">
                <a:latin typeface="IRANSansWeb" panose="020B0506030804020204" pitchFamily="34" charset="-78"/>
                <a:cs typeface="IRANSansWeb" panose="020B0506030804020204" pitchFamily="34" charset="-78"/>
              </a:rPr>
              <a:t> ICMP </a:t>
            </a:r>
          </a:p>
          <a:p>
            <a:pPr marL="342900" indent="-342900" algn="r" rtl="1">
              <a:buFont typeface="+mj-lt"/>
              <a:buAutoNum type="arabicPeriod" startAt="33"/>
            </a:pPr>
            <a:r>
              <a:rPr lang="en-US" sz="1600" dirty="0">
                <a:latin typeface="IRANSansWeb" panose="020B0506030804020204" pitchFamily="34" charset="-78"/>
                <a:cs typeface="IRANSansWeb" panose="020B0506030804020204" pitchFamily="34" charset="-78"/>
              </a:rPr>
              <a:t>ARP </a:t>
            </a:r>
            <a:endParaRPr lang="fa-IR" sz="1600" dirty="0">
              <a:latin typeface="IRANSansWeb" panose="020B0506030804020204" pitchFamily="34" charset="-78"/>
              <a:cs typeface="IRANSansWeb" panose="020B0506030804020204" pitchFamily="34" charset="-78"/>
            </a:endParaRPr>
          </a:p>
        </p:txBody>
      </p:sp>
      <p:sp>
        <p:nvSpPr>
          <p:cNvPr id="11" name="TextBox 10">
            <a:extLst>
              <a:ext uri="{FF2B5EF4-FFF2-40B4-BE49-F238E27FC236}">
                <a16:creationId xmlns:a16="http://schemas.microsoft.com/office/drawing/2014/main" id="{D4D3FB3D-BB1F-67FF-85B8-4955B71E3B80}"/>
              </a:ext>
            </a:extLst>
          </p:cNvPr>
          <p:cNvSpPr txBox="1"/>
          <p:nvPr/>
        </p:nvSpPr>
        <p:spPr>
          <a:xfrm>
            <a:off x="914401" y="410167"/>
            <a:ext cx="2842053" cy="2308324"/>
          </a:xfrm>
          <a:prstGeom prst="rect">
            <a:avLst/>
          </a:prstGeom>
          <a:noFill/>
        </p:spPr>
        <p:txBody>
          <a:bodyPr wrap="square">
            <a:spAutoFit/>
          </a:bodyPr>
          <a:lstStyle/>
          <a:p>
            <a:pPr algn="r" rtl="1"/>
            <a:r>
              <a:rPr lang="fa-IR" sz="1600" dirty="0">
                <a:latin typeface="IRANSansWeb" panose="020B0506030804020204" pitchFamily="34" charset="-78"/>
                <a:cs typeface="IRANSansWeb" panose="020B0506030804020204" pitchFamily="34" charset="-78"/>
              </a:rPr>
              <a:t>آشنایی با اصطلاحات</a:t>
            </a:r>
            <a:r>
              <a:rPr lang="en-US" sz="1600" dirty="0">
                <a:latin typeface="IRANSansWeb" panose="020B0506030804020204" pitchFamily="34" charset="-78"/>
                <a:cs typeface="IRANSansWeb" panose="020B0506030804020204" pitchFamily="34" charset="-78"/>
              </a:rPr>
              <a:t>  MQTT</a:t>
            </a:r>
          </a:p>
          <a:p>
            <a:pPr algn="r" rtl="1"/>
            <a:r>
              <a:rPr lang="en-US" sz="1600" dirty="0">
                <a:latin typeface="IRANSansWeb" panose="020B0506030804020204" pitchFamily="34" charset="-78"/>
                <a:cs typeface="IRANSansWeb" panose="020B0506030804020204" pitchFamily="34" charset="-78"/>
              </a:rPr>
              <a:t> </a:t>
            </a:r>
          </a:p>
          <a:p>
            <a:pPr marL="342900" indent="-342900" algn="r" rtl="1">
              <a:buFont typeface="+mj-lt"/>
              <a:buAutoNum type="arabicPeriod" startAt="55"/>
            </a:pPr>
            <a:r>
              <a:rPr lang="en-US" sz="1600" dirty="0">
                <a:latin typeface="IRANSansWeb" panose="020B0506030804020204" pitchFamily="34" charset="-78"/>
                <a:cs typeface="IRANSansWeb" panose="020B0506030804020204" pitchFamily="34" charset="-78"/>
              </a:rPr>
              <a:t>BROKER</a:t>
            </a:r>
          </a:p>
          <a:p>
            <a:pPr marL="342900" indent="-342900" algn="r" rtl="1">
              <a:buFont typeface="+mj-lt"/>
              <a:buAutoNum type="arabicPeriod" startAt="55"/>
            </a:pPr>
            <a:r>
              <a:rPr lang="en-US" sz="1600" dirty="0">
                <a:latin typeface="IRANSansWeb" panose="020B0506030804020204" pitchFamily="34" charset="-78"/>
                <a:cs typeface="IRANSansWeb" panose="020B0506030804020204" pitchFamily="34" charset="-78"/>
              </a:rPr>
              <a:t> TOPIC </a:t>
            </a:r>
          </a:p>
          <a:p>
            <a:pPr marL="342900" indent="-342900" algn="r" rtl="1">
              <a:buFont typeface="+mj-lt"/>
              <a:buAutoNum type="arabicPeriod" startAt="55"/>
            </a:pPr>
            <a:r>
              <a:rPr lang="en-US" sz="1600" dirty="0">
                <a:latin typeface="IRANSansWeb" panose="020B0506030804020204" pitchFamily="34" charset="-78"/>
                <a:cs typeface="IRANSansWeb" panose="020B0506030804020204" pitchFamily="34" charset="-78"/>
              </a:rPr>
              <a:t> PUBLISH </a:t>
            </a:r>
          </a:p>
          <a:p>
            <a:pPr marL="342900" indent="-342900" algn="r" rtl="1">
              <a:buFont typeface="+mj-lt"/>
              <a:buAutoNum type="arabicPeriod" startAt="55"/>
            </a:pPr>
            <a:r>
              <a:rPr lang="en-US" sz="1600" dirty="0">
                <a:latin typeface="IRANSansWeb" panose="020B0506030804020204" pitchFamily="34" charset="-78"/>
                <a:cs typeface="IRANSansWeb" panose="020B0506030804020204" pitchFamily="34" charset="-78"/>
              </a:rPr>
              <a:t>SUBSCRIBE</a:t>
            </a:r>
            <a:endParaRPr lang="fa-IR" sz="1600" dirty="0">
              <a:latin typeface="IRANSansWeb" panose="020B0506030804020204" pitchFamily="34" charset="-78"/>
              <a:cs typeface="IRANSansWeb" panose="020B0506030804020204" pitchFamily="34" charset="-78"/>
            </a:endParaRPr>
          </a:p>
          <a:p>
            <a:pPr marL="342900" indent="-342900" algn="r" rtl="1">
              <a:buFont typeface="+mj-lt"/>
              <a:buAutoNum type="arabicPeriod" startAt="55"/>
            </a:pPr>
            <a:r>
              <a:rPr lang="en-US" sz="1600" dirty="0" err="1">
                <a:latin typeface="IRANSansWeb" panose="020B0506030804020204" pitchFamily="34" charset="-78"/>
                <a:cs typeface="IRANSansWeb" panose="020B0506030804020204" pitchFamily="34" charset="-78"/>
              </a:rPr>
              <a:t>Mosquitto</a:t>
            </a:r>
            <a:endParaRPr lang="en-US" sz="1600" dirty="0">
              <a:latin typeface="IRANSansWeb" panose="020B0506030804020204" pitchFamily="34" charset="-78"/>
              <a:cs typeface="IRANSansWeb" panose="020B0506030804020204" pitchFamily="34" charset="-78"/>
            </a:endParaRPr>
          </a:p>
          <a:p>
            <a:pPr marL="342900" indent="-342900" algn="r" rtl="1">
              <a:buFont typeface="+mj-lt"/>
              <a:buAutoNum type="arabicPeriod" startAt="55"/>
            </a:pPr>
            <a:r>
              <a:rPr lang="en-US" sz="1600" dirty="0">
                <a:latin typeface="IRANSansWeb" panose="020B0506030804020204" pitchFamily="34" charset="-78"/>
                <a:cs typeface="IRANSansWeb" panose="020B0506030804020204" pitchFamily="34" charset="-78"/>
              </a:rPr>
              <a:t>QoS</a:t>
            </a:r>
          </a:p>
          <a:p>
            <a:pPr algn="r" rtl="1"/>
            <a:r>
              <a:rPr lang="en-US" sz="1600" dirty="0">
                <a:latin typeface="IRANSansWeb" panose="020B0506030804020204" pitchFamily="34" charset="-78"/>
                <a:cs typeface="IRANSansWeb" panose="020B0506030804020204" pitchFamily="34" charset="-78"/>
              </a:rPr>
              <a:t> </a:t>
            </a:r>
            <a:endParaRPr lang="fa-IR" sz="1600" dirty="0">
              <a:latin typeface="IRANSansWeb" panose="020B0506030804020204" pitchFamily="34" charset="-78"/>
              <a:cs typeface="IRANSansWeb" panose="020B0506030804020204" pitchFamily="34" charset="-78"/>
            </a:endParaRPr>
          </a:p>
        </p:txBody>
      </p:sp>
      <p:sp>
        <p:nvSpPr>
          <p:cNvPr id="12" name="TextBox 11">
            <a:extLst>
              <a:ext uri="{FF2B5EF4-FFF2-40B4-BE49-F238E27FC236}">
                <a16:creationId xmlns:a16="http://schemas.microsoft.com/office/drawing/2014/main" id="{23A4D829-14C2-E54D-1897-579909F7D345}"/>
              </a:ext>
            </a:extLst>
          </p:cNvPr>
          <p:cNvSpPr txBox="1"/>
          <p:nvPr/>
        </p:nvSpPr>
        <p:spPr>
          <a:xfrm>
            <a:off x="1145059" y="3256899"/>
            <a:ext cx="2611395" cy="3293209"/>
          </a:xfrm>
          <a:prstGeom prst="rect">
            <a:avLst/>
          </a:prstGeom>
          <a:noFill/>
        </p:spPr>
        <p:txBody>
          <a:bodyPr wrap="square">
            <a:spAutoFit/>
          </a:bodyPr>
          <a:lstStyle/>
          <a:p>
            <a:pPr algn="r" rtl="1"/>
            <a:r>
              <a:rPr lang="fa-IR" sz="1600" dirty="0">
                <a:latin typeface="IRANSansWeb" panose="020B0506030804020204" pitchFamily="34" charset="-78"/>
                <a:cs typeface="IRANSansWeb" panose="020B0506030804020204" pitchFamily="34" charset="-78"/>
              </a:rPr>
              <a:t>آشنایی با اصطلاحات</a:t>
            </a:r>
            <a:r>
              <a:rPr lang="en-US" sz="1600" dirty="0">
                <a:latin typeface="IRANSansWeb" panose="020B0506030804020204" pitchFamily="34" charset="-78"/>
                <a:cs typeface="IRANSansWeb" panose="020B0506030804020204" pitchFamily="34" charset="-78"/>
              </a:rPr>
              <a:t>  RTOS </a:t>
            </a:r>
          </a:p>
          <a:p>
            <a:pPr algn="r" rtl="1"/>
            <a:r>
              <a:rPr lang="en-US" sz="1600" dirty="0">
                <a:latin typeface="IRANSansWeb" panose="020B0506030804020204" pitchFamily="34" charset="-78"/>
                <a:cs typeface="IRANSansWeb" panose="020B0506030804020204" pitchFamily="34" charset="-78"/>
              </a:rPr>
              <a:t> </a:t>
            </a:r>
          </a:p>
          <a:p>
            <a:pPr marL="342900" indent="-342900" algn="r" rtl="1">
              <a:buFont typeface="+mj-lt"/>
              <a:buAutoNum type="arabicPeriod" startAt="61"/>
            </a:pPr>
            <a:r>
              <a:rPr lang="en-US" sz="1600" dirty="0" err="1">
                <a:latin typeface="IRANSansWeb" panose="020B0506030804020204" pitchFamily="34" charset="-78"/>
                <a:cs typeface="IRANSansWeb" panose="020B0506030804020204" pitchFamily="34" charset="-78"/>
              </a:rPr>
              <a:t>TaskCreate</a:t>
            </a:r>
            <a:endParaRPr lang="en-US" sz="1600" dirty="0">
              <a:latin typeface="IRANSansWeb" panose="020B0506030804020204" pitchFamily="34" charset="-78"/>
              <a:cs typeface="IRANSansWeb" panose="020B0506030804020204" pitchFamily="34" charset="-78"/>
            </a:endParaRPr>
          </a:p>
          <a:p>
            <a:pPr marL="342900" indent="-342900" algn="r" rtl="1">
              <a:buFont typeface="+mj-lt"/>
              <a:buAutoNum type="arabicPeriod" startAt="61"/>
            </a:pPr>
            <a:r>
              <a:rPr lang="en-US" sz="1600" dirty="0" err="1">
                <a:latin typeface="IRANSansWeb" panose="020B0506030804020204" pitchFamily="34" charset="-78"/>
                <a:cs typeface="IRANSansWeb" panose="020B0506030804020204" pitchFamily="34" charset="-78"/>
              </a:rPr>
              <a:t>TaskDelete</a:t>
            </a:r>
            <a:endParaRPr lang="en-US" sz="1600" dirty="0">
              <a:latin typeface="IRANSansWeb" panose="020B0506030804020204" pitchFamily="34" charset="-78"/>
              <a:cs typeface="IRANSansWeb" panose="020B0506030804020204" pitchFamily="34" charset="-78"/>
            </a:endParaRPr>
          </a:p>
          <a:p>
            <a:pPr marL="342900" indent="-342900" algn="r" rtl="1">
              <a:buFont typeface="+mj-lt"/>
              <a:buAutoNum type="arabicPeriod" startAt="61"/>
            </a:pPr>
            <a:r>
              <a:rPr lang="en-US" sz="1600" dirty="0" err="1">
                <a:latin typeface="IRANSansWeb" panose="020B0506030804020204" pitchFamily="34" charset="-78"/>
                <a:cs typeface="IRANSansWeb" panose="020B0506030804020204" pitchFamily="34" charset="-78"/>
              </a:rPr>
              <a:t>TaskSuspend</a:t>
            </a:r>
            <a:endParaRPr lang="en-US" sz="1600" dirty="0">
              <a:latin typeface="IRANSansWeb" panose="020B0506030804020204" pitchFamily="34" charset="-78"/>
              <a:cs typeface="IRANSansWeb" panose="020B0506030804020204" pitchFamily="34" charset="-78"/>
            </a:endParaRPr>
          </a:p>
          <a:p>
            <a:pPr marL="342900" indent="-342900" algn="r" rtl="1">
              <a:buFont typeface="+mj-lt"/>
              <a:buAutoNum type="arabicPeriod" startAt="61"/>
            </a:pPr>
            <a:r>
              <a:rPr lang="en-US" sz="1600" dirty="0" err="1">
                <a:latin typeface="IRANSansWeb" panose="020B0506030804020204" pitchFamily="34" charset="-78"/>
                <a:cs typeface="IRANSansWeb" panose="020B0506030804020204" pitchFamily="34" charset="-78"/>
              </a:rPr>
              <a:t>TaskResume</a:t>
            </a:r>
            <a:endParaRPr lang="en-US" sz="1600" dirty="0">
              <a:latin typeface="IRANSansWeb" panose="020B0506030804020204" pitchFamily="34" charset="-78"/>
              <a:cs typeface="IRANSansWeb" panose="020B0506030804020204" pitchFamily="34" charset="-78"/>
            </a:endParaRPr>
          </a:p>
          <a:p>
            <a:pPr marL="342900" indent="-342900" algn="r" rtl="1">
              <a:buFont typeface="+mj-lt"/>
              <a:buAutoNum type="arabicPeriod" startAt="61"/>
            </a:pPr>
            <a:r>
              <a:rPr lang="en-US" sz="1600" dirty="0">
                <a:latin typeface="IRANSansWeb" panose="020B0506030804020204" pitchFamily="34" charset="-78"/>
                <a:cs typeface="IRANSansWeb" panose="020B0506030804020204" pitchFamily="34" charset="-78"/>
              </a:rPr>
              <a:t>Priority</a:t>
            </a:r>
          </a:p>
          <a:p>
            <a:pPr marL="342900" indent="-342900" algn="r" rtl="1">
              <a:buFont typeface="+mj-lt"/>
              <a:buAutoNum type="arabicPeriod" startAt="61"/>
            </a:pPr>
            <a:r>
              <a:rPr lang="en-US" sz="1600" dirty="0">
                <a:latin typeface="IRANSansWeb" panose="020B0506030804020204" pitchFamily="34" charset="-78"/>
                <a:cs typeface="IRANSansWeb" panose="020B0506030804020204" pitchFamily="34" charset="-78"/>
              </a:rPr>
              <a:t>Memory-Allocation</a:t>
            </a:r>
          </a:p>
          <a:p>
            <a:pPr marL="342900" indent="-342900" algn="r" rtl="1">
              <a:buFont typeface="+mj-lt"/>
              <a:buAutoNum type="arabicPeriod" startAt="61"/>
            </a:pPr>
            <a:r>
              <a:rPr lang="en-US" sz="1600" dirty="0">
                <a:latin typeface="IRANSansWeb" panose="020B0506030804020204" pitchFamily="34" charset="-78"/>
                <a:cs typeface="IRANSansWeb" panose="020B0506030804020204" pitchFamily="34" charset="-78"/>
              </a:rPr>
              <a:t> Mutex </a:t>
            </a:r>
          </a:p>
          <a:p>
            <a:pPr marL="342900" indent="-342900" algn="r" rtl="1">
              <a:buFont typeface="+mj-lt"/>
              <a:buAutoNum type="arabicPeriod" startAt="61"/>
            </a:pPr>
            <a:r>
              <a:rPr lang="en-US" sz="1600" dirty="0">
                <a:latin typeface="IRANSansWeb" panose="020B0506030804020204" pitchFamily="34" charset="-78"/>
                <a:cs typeface="IRANSansWeb" panose="020B0506030804020204" pitchFamily="34" charset="-78"/>
              </a:rPr>
              <a:t> Semaphore </a:t>
            </a:r>
          </a:p>
          <a:p>
            <a:pPr marL="342900" indent="-342900" algn="r" rtl="1">
              <a:buFont typeface="+mj-lt"/>
              <a:buAutoNum type="arabicPeriod" startAt="61"/>
            </a:pPr>
            <a:r>
              <a:rPr lang="en-US" sz="1600" dirty="0">
                <a:latin typeface="IRANSansWeb" panose="020B0506030804020204" pitchFamily="34" charset="-78"/>
                <a:cs typeface="IRANSansWeb" panose="020B0506030804020204" pitchFamily="34" charset="-78"/>
              </a:rPr>
              <a:t>Software-Timer</a:t>
            </a:r>
            <a:endParaRPr lang="fa-IR" sz="1600" dirty="0">
              <a:latin typeface="IRANSansWeb" panose="020B0506030804020204" pitchFamily="34" charset="-78"/>
              <a:cs typeface="IRANSansWeb" panose="020B0506030804020204" pitchFamily="34" charset="-78"/>
            </a:endParaRPr>
          </a:p>
          <a:p>
            <a:pPr marL="342900" indent="-342900" algn="r" rtl="1">
              <a:buFont typeface="+mj-lt"/>
              <a:buAutoNum type="arabicPeriod" startAt="61"/>
            </a:pPr>
            <a:r>
              <a:rPr lang="en-US" sz="1600" dirty="0">
                <a:latin typeface="IRANSansWeb" panose="020B0506030804020204" pitchFamily="34" charset="-78"/>
                <a:cs typeface="IRANSansWeb" panose="020B0506030804020204" pitchFamily="34" charset="-78"/>
              </a:rPr>
              <a:t>Queue</a:t>
            </a:r>
          </a:p>
          <a:p>
            <a:pPr algn="r" rtl="1"/>
            <a:r>
              <a:rPr lang="en-US" sz="1600" dirty="0">
                <a:latin typeface="IRANSansWeb" panose="020B0506030804020204" pitchFamily="34" charset="-78"/>
                <a:cs typeface="IRANSansWeb" panose="020B0506030804020204" pitchFamily="34" charset="-78"/>
              </a:rPr>
              <a:t> </a:t>
            </a:r>
            <a:endParaRPr lang="fa-IR" sz="1600"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964507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20DF5-ACDA-D14B-0420-FE8A9EA2EE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CA03E0-1269-0DB9-0922-65F0633F92F8}"/>
              </a:ext>
            </a:extLst>
          </p:cNvPr>
          <p:cNvSpPr>
            <a:spLocks noGrp="1"/>
          </p:cNvSpPr>
          <p:nvPr>
            <p:ph type="title"/>
          </p:nvPr>
        </p:nvSpPr>
        <p:spPr/>
        <p:txBody>
          <a:bodyPr/>
          <a:lstStyle/>
          <a:p>
            <a:pPr rtl="1"/>
            <a:r>
              <a:rPr lang="fa-IR" dirty="0">
                <a:cs typeface="B Nazanin" panose="00000400000000000000" pitchFamily="2" charset="-78"/>
              </a:rPr>
              <a:t>جلسه ی 1</a:t>
            </a:r>
            <a:endParaRPr lang="en-US" dirty="0">
              <a:cs typeface="B Nazanin" panose="00000400000000000000" pitchFamily="2" charset="-78"/>
            </a:endParaRPr>
          </a:p>
        </p:txBody>
      </p:sp>
      <p:sp>
        <p:nvSpPr>
          <p:cNvPr id="3" name="Content Placeholder 2">
            <a:extLst>
              <a:ext uri="{FF2B5EF4-FFF2-40B4-BE49-F238E27FC236}">
                <a16:creationId xmlns:a16="http://schemas.microsoft.com/office/drawing/2014/main" id="{E03AE5FE-C730-B401-12E3-C1A650757D7C}"/>
              </a:ext>
            </a:extLst>
          </p:cNvPr>
          <p:cNvSpPr>
            <a:spLocks noGrp="1"/>
          </p:cNvSpPr>
          <p:nvPr>
            <p:ph idx="1"/>
          </p:nvPr>
        </p:nvSpPr>
        <p:spPr>
          <a:xfrm>
            <a:off x="457200" y="1600200"/>
            <a:ext cx="8229600" cy="780535"/>
          </a:xfrm>
        </p:spPr>
        <p:txBody>
          <a:bodyPr/>
          <a:lstStyle/>
          <a:p>
            <a:pPr marL="0" indent="0" algn="ctr" rtl="1">
              <a:buNone/>
            </a:pPr>
            <a:r>
              <a:rPr lang="fa-IR" dirty="0">
                <a:cs typeface="B Nazanin" panose="00000400000000000000" pitchFamily="2" charset="-78"/>
              </a:rPr>
              <a:t>مروری بر معماری </a:t>
            </a:r>
            <a:r>
              <a:rPr lang="en-US" dirty="0">
                <a:cs typeface="B Nazanin" panose="00000400000000000000" pitchFamily="2" charset="-78"/>
              </a:rPr>
              <a:t> STM32</a:t>
            </a:r>
            <a:r>
              <a:rPr lang="fa-IR" dirty="0">
                <a:cs typeface="B Nazanin" panose="00000400000000000000" pitchFamily="2" charset="-78"/>
              </a:rPr>
              <a:t>و مفاهیم پیشرفته</a:t>
            </a:r>
          </a:p>
        </p:txBody>
      </p:sp>
      <p:sp>
        <p:nvSpPr>
          <p:cNvPr id="8" name="TextBox 7">
            <a:extLst>
              <a:ext uri="{FF2B5EF4-FFF2-40B4-BE49-F238E27FC236}">
                <a16:creationId xmlns:a16="http://schemas.microsoft.com/office/drawing/2014/main" id="{AED1CB34-D07C-6220-2F8B-DED50F5B4CF4}"/>
              </a:ext>
            </a:extLst>
          </p:cNvPr>
          <p:cNvSpPr txBox="1"/>
          <p:nvPr/>
        </p:nvSpPr>
        <p:spPr>
          <a:xfrm>
            <a:off x="286265" y="2752110"/>
            <a:ext cx="8571470" cy="2031325"/>
          </a:xfrm>
          <a:prstGeom prst="rect">
            <a:avLst/>
          </a:prstGeom>
          <a:noFill/>
        </p:spPr>
        <p:txBody>
          <a:bodyPr wrap="square">
            <a:spAutoFit/>
          </a:bodyPr>
          <a:lstStyle/>
          <a:p>
            <a:pPr marL="285750" indent="-285750" algn="r" rtl="1">
              <a:buFont typeface="Arial" panose="020B0604020202020204" pitchFamily="34" charset="0"/>
              <a:buChar char="•"/>
            </a:pPr>
            <a:r>
              <a:rPr lang="fa-IR" dirty="0">
                <a:cs typeface="B Nazanin" panose="00000400000000000000" pitchFamily="2" charset="-78"/>
              </a:rPr>
              <a:t>هدف: آماده‌سازی ذهنی برای کار با </a:t>
            </a:r>
            <a:r>
              <a:rPr lang="en-US" dirty="0">
                <a:cs typeface="B Nazanin" panose="00000400000000000000" pitchFamily="2" charset="-78"/>
              </a:rPr>
              <a:t>STM32</a:t>
            </a:r>
            <a:r>
              <a:rPr lang="fa-IR" dirty="0">
                <a:cs typeface="B Nazanin" panose="00000400000000000000" pitchFamily="2" charset="-78"/>
              </a:rPr>
              <a:t> در سطح پیشرفته و کار با </a:t>
            </a:r>
            <a:r>
              <a:rPr lang="en-US" dirty="0" err="1">
                <a:cs typeface="B Nazanin" panose="00000400000000000000" pitchFamily="2" charset="-78"/>
              </a:rPr>
              <a:t>FreeRTOS</a:t>
            </a:r>
            <a:r>
              <a:rPr lang="en-US" dirty="0">
                <a:cs typeface="B Nazanin" panose="00000400000000000000" pitchFamily="2" charset="-78"/>
              </a:rPr>
              <a:t> </a:t>
            </a:r>
          </a:p>
          <a:p>
            <a:pPr marL="285750" indent="-285750" algn="r" rtl="1">
              <a:buFont typeface="Arial" panose="020B0604020202020204" pitchFamily="34" charset="0"/>
              <a:buChar char="•"/>
            </a:pPr>
            <a:r>
              <a:rPr lang="fa-IR" dirty="0">
                <a:cs typeface="B Nazanin" panose="00000400000000000000" pitchFamily="2" charset="-78"/>
              </a:rPr>
              <a:t>مباحث:</a:t>
            </a:r>
          </a:p>
          <a:p>
            <a:pPr marL="285750" indent="-285750" algn="r" rtl="1">
              <a:buFont typeface="Arial" panose="020B0604020202020204" pitchFamily="34" charset="0"/>
              <a:buChar char="•"/>
            </a:pPr>
            <a:r>
              <a:rPr lang="fa-IR" dirty="0">
                <a:cs typeface="B Nazanin" panose="00000400000000000000" pitchFamily="2" charset="-78"/>
              </a:rPr>
              <a:t>•	مروری بر معماری </a:t>
            </a:r>
            <a:r>
              <a:rPr lang="en-US" dirty="0">
                <a:cs typeface="B Nazanin" panose="00000400000000000000" pitchFamily="2" charset="-78"/>
              </a:rPr>
              <a:t> ARM Cortex-M</a:t>
            </a:r>
            <a:r>
              <a:rPr lang="fa-IR" dirty="0">
                <a:cs typeface="B Nazanin" panose="00000400000000000000" pitchFamily="2" charset="-78"/>
              </a:rPr>
              <a:t>و واحدهای جانبی پیشرفته مانند  </a:t>
            </a:r>
            <a:r>
              <a:rPr lang="en-US" dirty="0">
                <a:cs typeface="B Nazanin" panose="00000400000000000000" pitchFamily="2" charset="-78"/>
              </a:rPr>
              <a:t>DMA </a:t>
            </a:r>
          </a:p>
          <a:p>
            <a:pPr marL="285750" indent="-285750" algn="r" rtl="1">
              <a:buFont typeface="Arial" panose="020B0604020202020204" pitchFamily="34" charset="0"/>
              <a:buChar char="•"/>
            </a:pPr>
            <a:r>
              <a:rPr lang="en-US" dirty="0">
                <a:cs typeface="B Nazanin" panose="00000400000000000000" pitchFamily="2" charset="-78"/>
              </a:rPr>
              <a:t>•	</a:t>
            </a:r>
            <a:r>
              <a:rPr lang="fa-IR" dirty="0">
                <a:cs typeface="B Nazanin" panose="00000400000000000000" pitchFamily="2" charset="-78"/>
              </a:rPr>
              <a:t>مفهوم </a:t>
            </a:r>
            <a:r>
              <a:rPr lang="en-US" dirty="0">
                <a:cs typeface="B Nazanin" panose="00000400000000000000" pitchFamily="2" charset="-78"/>
              </a:rPr>
              <a:t> RTOS</a:t>
            </a:r>
            <a:r>
              <a:rPr lang="fa-IR" dirty="0">
                <a:cs typeface="B Nazanin" panose="00000400000000000000" pitchFamily="2" charset="-78"/>
              </a:rPr>
              <a:t>و تفاوت آن با برنامه‌نویسی </a:t>
            </a:r>
            <a:r>
              <a:rPr lang="en-US" dirty="0">
                <a:cs typeface="B Nazanin" panose="00000400000000000000" pitchFamily="2" charset="-78"/>
              </a:rPr>
              <a:t>bare-metal </a:t>
            </a:r>
          </a:p>
          <a:p>
            <a:pPr marL="285750" indent="-285750" algn="r" rtl="1">
              <a:buFont typeface="Arial" panose="020B0604020202020204" pitchFamily="34" charset="0"/>
              <a:buChar char="•"/>
            </a:pPr>
            <a:r>
              <a:rPr lang="en-US" dirty="0">
                <a:cs typeface="B Nazanin" panose="00000400000000000000" pitchFamily="2" charset="-78"/>
              </a:rPr>
              <a:t>•	</a:t>
            </a:r>
            <a:r>
              <a:rPr lang="fa-IR" dirty="0">
                <a:cs typeface="B Nazanin" panose="00000400000000000000" pitchFamily="2" charset="-78"/>
              </a:rPr>
              <a:t>معرفی </a:t>
            </a:r>
            <a:r>
              <a:rPr lang="en-US" dirty="0">
                <a:cs typeface="B Nazanin" panose="00000400000000000000" pitchFamily="2" charset="-78"/>
              </a:rPr>
              <a:t> </a:t>
            </a:r>
            <a:r>
              <a:rPr lang="en-US" dirty="0" err="1">
                <a:cs typeface="B Nazanin" panose="00000400000000000000" pitchFamily="2" charset="-78"/>
              </a:rPr>
              <a:t>FreeRTOS</a:t>
            </a:r>
            <a:r>
              <a:rPr lang="fa-IR" dirty="0">
                <a:cs typeface="B Nazanin" panose="00000400000000000000" pitchFamily="2" charset="-78"/>
              </a:rPr>
              <a:t>ساختار هسته، </a:t>
            </a:r>
            <a:r>
              <a:rPr lang="en-US" dirty="0">
                <a:cs typeface="B Nazanin" panose="00000400000000000000" pitchFamily="2" charset="-78"/>
              </a:rPr>
              <a:t>Task Scheduler، context switching</a:t>
            </a:r>
          </a:p>
          <a:p>
            <a:pPr marL="285750" indent="-285750" algn="r" rtl="1">
              <a:buFont typeface="Arial" panose="020B0604020202020204" pitchFamily="34" charset="0"/>
              <a:buChar char="•"/>
            </a:pPr>
            <a:r>
              <a:rPr lang="en-US" dirty="0">
                <a:cs typeface="B Nazanin" panose="00000400000000000000" pitchFamily="2" charset="-78"/>
              </a:rPr>
              <a:t>•	</a:t>
            </a:r>
            <a:r>
              <a:rPr lang="fa-IR" dirty="0">
                <a:cs typeface="B Nazanin" panose="00000400000000000000" pitchFamily="2" charset="-78"/>
              </a:rPr>
              <a:t>محیط توسعه : </a:t>
            </a:r>
            <a:r>
              <a:rPr lang="en-US" dirty="0" err="1">
                <a:cs typeface="B Nazanin" panose="00000400000000000000" pitchFamily="2" charset="-78"/>
              </a:rPr>
              <a:t>CubeIDE</a:t>
            </a:r>
            <a:r>
              <a:rPr lang="en-US" dirty="0">
                <a:cs typeface="B Nazanin" panose="00000400000000000000" pitchFamily="2" charset="-78"/>
              </a:rPr>
              <a:t> / STM32CubeMX / Keil</a:t>
            </a:r>
          </a:p>
          <a:p>
            <a:pPr marL="285750" indent="-285750" algn="r" rtl="1">
              <a:buFont typeface="Arial" panose="020B0604020202020204" pitchFamily="34" charset="0"/>
              <a:buChar char="•"/>
            </a:pPr>
            <a:r>
              <a:rPr lang="fa-IR" dirty="0">
                <a:cs typeface="B Nazanin" panose="00000400000000000000" pitchFamily="2" charset="-78"/>
              </a:rPr>
              <a:t>پروژه : ایجاد چند تسک ساده با اولویت‌های مختلف و مشاهده زمان‌بندی آن‌ها</a:t>
            </a:r>
          </a:p>
        </p:txBody>
      </p:sp>
    </p:spTree>
    <p:extLst>
      <p:ext uri="{BB962C8B-B14F-4D97-AF65-F5344CB8AC3E}">
        <p14:creationId xmlns:p14="http://schemas.microsoft.com/office/powerpoint/2010/main" val="2964588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91EA7-0E3E-8110-5515-941E9776F1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933DB4-C6B6-6B60-2AD7-05B20B41CAAC}"/>
              </a:ext>
            </a:extLst>
          </p:cNvPr>
          <p:cNvSpPr>
            <a:spLocks noGrp="1"/>
          </p:cNvSpPr>
          <p:nvPr>
            <p:ph type="title"/>
          </p:nvPr>
        </p:nvSpPr>
        <p:spPr/>
        <p:txBody>
          <a:bodyPr/>
          <a:lstStyle/>
          <a:p>
            <a:pPr rtl="1"/>
            <a:r>
              <a:rPr lang="fa-IR" dirty="0">
                <a:cs typeface="B Nazanin" panose="00000400000000000000" pitchFamily="2" charset="-78"/>
              </a:rPr>
              <a:t>جلسه ی 2</a:t>
            </a:r>
            <a:endParaRPr lang="en-US" dirty="0">
              <a:cs typeface="B Nazanin" panose="00000400000000000000" pitchFamily="2" charset="-78"/>
            </a:endParaRPr>
          </a:p>
        </p:txBody>
      </p:sp>
      <p:sp>
        <p:nvSpPr>
          <p:cNvPr id="3" name="Content Placeholder 2">
            <a:extLst>
              <a:ext uri="{FF2B5EF4-FFF2-40B4-BE49-F238E27FC236}">
                <a16:creationId xmlns:a16="http://schemas.microsoft.com/office/drawing/2014/main" id="{B88001B6-FD9C-C230-5B0B-AC8B5B4D37B3}"/>
              </a:ext>
            </a:extLst>
          </p:cNvPr>
          <p:cNvSpPr>
            <a:spLocks noGrp="1"/>
          </p:cNvSpPr>
          <p:nvPr>
            <p:ph idx="1"/>
          </p:nvPr>
        </p:nvSpPr>
        <p:spPr>
          <a:xfrm>
            <a:off x="457200" y="1600200"/>
            <a:ext cx="8229600" cy="780535"/>
          </a:xfrm>
        </p:spPr>
        <p:txBody>
          <a:bodyPr/>
          <a:lstStyle/>
          <a:p>
            <a:pPr marL="0" indent="0" algn="ctr" rtl="1">
              <a:buNone/>
            </a:pPr>
            <a:r>
              <a:rPr lang="fa-IR" dirty="0">
                <a:cs typeface="B Nazanin" panose="00000400000000000000" pitchFamily="2" charset="-78"/>
              </a:rPr>
              <a:t>مدیریت تسک‌ها و زمان‌بندی در </a:t>
            </a:r>
            <a:r>
              <a:rPr lang="en-US" dirty="0" err="1">
                <a:cs typeface="B Nazanin" panose="00000400000000000000" pitchFamily="2" charset="-78"/>
              </a:rPr>
              <a:t>FreeRTOS</a:t>
            </a:r>
            <a:endParaRPr lang="en-US" dirty="0">
              <a:cs typeface="B Nazanin" panose="00000400000000000000" pitchFamily="2" charset="-78"/>
            </a:endParaRPr>
          </a:p>
        </p:txBody>
      </p:sp>
      <p:sp>
        <p:nvSpPr>
          <p:cNvPr id="8" name="TextBox 7">
            <a:extLst>
              <a:ext uri="{FF2B5EF4-FFF2-40B4-BE49-F238E27FC236}">
                <a16:creationId xmlns:a16="http://schemas.microsoft.com/office/drawing/2014/main" id="{328CA80A-AB1F-1DC7-1909-2B5583367124}"/>
              </a:ext>
            </a:extLst>
          </p:cNvPr>
          <p:cNvSpPr txBox="1"/>
          <p:nvPr/>
        </p:nvSpPr>
        <p:spPr>
          <a:xfrm>
            <a:off x="286265" y="2752110"/>
            <a:ext cx="8571470" cy="2031325"/>
          </a:xfrm>
          <a:prstGeom prst="rect">
            <a:avLst/>
          </a:prstGeom>
          <a:noFill/>
        </p:spPr>
        <p:txBody>
          <a:bodyPr wrap="square">
            <a:spAutoFit/>
          </a:bodyPr>
          <a:lstStyle/>
          <a:p>
            <a:pPr marL="285750" indent="-285750" algn="r" rtl="1">
              <a:buFont typeface="Arial" panose="020B0604020202020204" pitchFamily="34" charset="0"/>
              <a:buChar char="•"/>
            </a:pPr>
            <a:r>
              <a:rPr lang="fa-IR" dirty="0">
                <a:cs typeface="B Nazanin" panose="00000400000000000000" pitchFamily="2" charset="-78"/>
              </a:rPr>
              <a:t>هدف: درک عمیق </a:t>
            </a:r>
            <a:r>
              <a:rPr lang="en-US" dirty="0">
                <a:cs typeface="B Nazanin" panose="00000400000000000000" pitchFamily="2" charset="-78"/>
              </a:rPr>
              <a:t>Task Management</a:t>
            </a:r>
          </a:p>
          <a:p>
            <a:pPr marL="285750" indent="-285750" algn="r" rtl="1">
              <a:buFont typeface="Arial" panose="020B0604020202020204" pitchFamily="34" charset="0"/>
              <a:buChar char="•"/>
            </a:pPr>
            <a:r>
              <a:rPr lang="fa-IR" dirty="0">
                <a:cs typeface="B Nazanin" panose="00000400000000000000" pitchFamily="2" charset="-78"/>
              </a:rPr>
              <a:t>مباحث:</a:t>
            </a:r>
          </a:p>
          <a:p>
            <a:pPr marL="285750" indent="-285750" algn="r" rtl="1">
              <a:buFont typeface="Arial" panose="020B0604020202020204" pitchFamily="34" charset="0"/>
              <a:buChar char="•"/>
            </a:pPr>
            <a:r>
              <a:rPr lang="fa-IR" dirty="0">
                <a:cs typeface="B Nazanin" panose="00000400000000000000" pitchFamily="2" charset="-78"/>
              </a:rPr>
              <a:t>•	ایجاد، حذف و اولویت‌دهی تسک‌ها</a:t>
            </a:r>
          </a:p>
          <a:p>
            <a:pPr marL="285750" indent="-285750" algn="r" rtl="1">
              <a:buFont typeface="Arial" panose="020B0604020202020204" pitchFamily="34" charset="0"/>
              <a:buChar char="•"/>
            </a:pPr>
            <a:r>
              <a:rPr lang="fa-IR" dirty="0">
                <a:cs typeface="B Nazanin" panose="00000400000000000000" pitchFamily="2" charset="-78"/>
              </a:rPr>
              <a:t>•	مفهوم </a:t>
            </a:r>
            <a:r>
              <a:rPr lang="en-US" dirty="0">
                <a:cs typeface="B Nazanin" panose="00000400000000000000" pitchFamily="2" charset="-78"/>
              </a:rPr>
              <a:t> Stack Management  </a:t>
            </a:r>
            <a:r>
              <a:rPr lang="fa-IR" dirty="0">
                <a:cs typeface="B Nazanin" panose="00000400000000000000" pitchFamily="2" charset="-78"/>
              </a:rPr>
              <a:t>در هر تسک</a:t>
            </a:r>
          </a:p>
          <a:p>
            <a:pPr marL="285750" indent="-285750" algn="r" rtl="1">
              <a:buFont typeface="Arial" panose="020B0604020202020204" pitchFamily="34" charset="0"/>
              <a:buChar char="•"/>
            </a:pPr>
            <a:r>
              <a:rPr lang="fa-IR" dirty="0">
                <a:cs typeface="B Nazanin" panose="00000400000000000000" pitchFamily="2" charset="-78"/>
              </a:rPr>
              <a:t>•	 </a:t>
            </a:r>
            <a:r>
              <a:rPr lang="en-US" dirty="0">
                <a:cs typeface="B Nazanin" panose="00000400000000000000" pitchFamily="2" charset="-78"/>
              </a:rPr>
              <a:t>Tick rate </a:t>
            </a:r>
            <a:r>
              <a:rPr lang="fa-IR" dirty="0">
                <a:cs typeface="B Nazanin" panose="00000400000000000000" pitchFamily="2" charset="-78"/>
              </a:rPr>
              <a:t>و زمان‌بندی </a:t>
            </a:r>
            <a:r>
              <a:rPr lang="en-US" dirty="0">
                <a:cs typeface="B Nazanin" panose="00000400000000000000" pitchFamily="2" charset="-78"/>
              </a:rPr>
              <a:t>Real-Time</a:t>
            </a:r>
          </a:p>
          <a:p>
            <a:pPr marL="285750" indent="-285750" algn="r" rtl="1">
              <a:buFont typeface="Arial" panose="020B0604020202020204" pitchFamily="34" charset="0"/>
              <a:buChar char="•"/>
            </a:pPr>
            <a:r>
              <a:rPr lang="en-US" dirty="0">
                <a:cs typeface="B Nazanin" panose="00000400000000000000" pitchFamily="2" charset="-78"/>
              </a:rPr>
              <a:t>•	 Delay </a:t>
            </a:r>
            <a:r>
              <a:rPr lang="fa-IR" dirty="0">
                <a:cs typeface="B Nazanin" panose="00000400000000000000" pitchFamily="2" charset="-78"/>
              </a:rPr>
              <a:t>و </a:t>
            </a:r>
            <a:r>
              <a:rPr lang="en-US" dirty="0" err="1">
                <a:cs typeface="B Nazanin" panose="00000400000000000000" pitchFamily="2" charset="-78"/>
              </a:rPr>
              <a:t>vTaskDelayUntil</a:t>
            </a:r>
            <a:r>
              <a:rPr lang="en-US" dirty="0">
                <a:cs typeface="B Nazanin" panose="00000400000000000000" pitchFamily="2" charset="-78"/>
              </a:rPr>
              <a:t> </a:t>
            </a:r>
          </a:p>
          <a:p>
            <a:pPr marL="285750" indent="-285750" algn="r" rtl="1">
              <a:buFont typeface="Arial" panose="020B0604020202020204" pitchFamily="34" charset="0"/>
              <a:buChar char="•"/>
            </a:pPr>
            <a:r>
              <a:rPr lang="fa-IR" dirty="0">
                <a:cs typeface="B Nazanin" panose="00000400000000000000" pitchFamily="2" charset="-78"/>
              </a:rPr>
              <a:t>پروژه: طراحی سیستم مولتی‌تسک ساده مثلاً کنترل </a:t>
            </a:r>
            <a:r>
              <a:rPr lang="en-US" dirty="0">
                <a:cs typeface="B Nazanin" panose="00000400000000000000" pitchFamily="2" charset="-78"/>
              </a:rPr>
              <a:t>LED،  UART </a:t>
            </a:r>
            <a:r>
              <a:rPr lang="fa-IR" dirty="0">
                <a:cs typeface="B Nazanin" panose="00000400000000000000" pitchFamily="2" charset="-78"/>
              </a:rPr>
              <a:t>و سنسور در چند تسک</a:t>
            </a:r>
          </a:p>
        </p:txBody>
      </p:sp>
    </p:spTree>
    <p:extLst>
      <p:ext uri="{BB962C8B-B14F-4D97-AF65-F5344CB8AC3E}">
        <p14:creationId xmlns:p14="http://schemas.microsoft.com/office/powerpoint/2010/main" val="2286397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DBF87B1-7822-A5F2-C05C-912AE44DB269}"/>
              </a:ext>
            </a:extLst>
          </p:cNvPr>
          <p:cNvPicPr>
            <a:picLocks noGrp="1" noChangeAspect="1"/>
          </p:cNvPicPr>
          <p:nvPr>
            <p:ph idx="1"/>
          </p:nvPr>
        </p:nvPicPr>
        <p:blipFill>
          <a:blip r:embed="rId2"/>
          <a:stretch>
            <a:fillRect/>
          </a:stretch>
        </p:blipFill>
        <p:spPr>
          <a:xfrm>
            <a:off x="586945" y="1156086"/>
            <a:ext cx="8229600" cy="3429000"/>
          </a:xfrm>
          <a:prstGeom prst="rect">
            <a:avLst/>
          </a:prstGeom>
        </p:spPr>
      </p:pic>
      <p:sp>
        <p:nvSpPr>
          <p:cNvPr id="6" name="TextBox 5">
            <a:extLst>
              <a:ext uri="{FF2B5EF4-FFF2-40B4-BE49-F238E27FC236}">
                <a16:creationId xmlns:a16="http://schemas.microsoft.com/office/drawing/2014/main" id="{307FC4A4-298B-7824-286C-E74CC90F6F9F}"/>
              </a:ext>
            </a:extLst>
          </p:cNvPr>
          <p:cNvSpPr txBox="1"/>
          <p:nvPr/>
        </p:nvSpPr>
        <p:spPr>
          <a:xfrm>
            <a:off x="327454" y="4800197"/>
            <a:ext cx="8489091" cy="1754326"/>
          </a:xfrm>
          <a:prstGeom prst="rect">
            <a:avLst/>
          </a:prstGeom>
          <a:noFill/>
        </p:spPr>
        <p:txBody>
          <a:bodyPr wrap="square">
            <a:spAutoFit/>
          </a:bodyPr>
          <a:lstStyle/>
          <a:p>
            <a:r>
              <a:rPr lang="en-US" b="0" i="0" dirty="0">
                <a:solidFill>
                  <a:srgbClr val="202122"/>
                </a:solidFill>
                <a:effectLst/>
                <a:latin typeface="Arial" panose="020B0604020202020204" pitchFamily="34" charset="0"/>
              </a:rPr>
              <a:t>SEGGER's Real Time Transfer (RTT) is a technology for interactive user I/O in embedded applications. It combines the advantages of SWO and </a:t>
            </a:r>
            <a:r>
              <a:rPr lang="en-US" b="0" i="0" dirty="0" err="1">
                <a:solidFill>
                  <a:srgbClr val="202122"/>
                </a:solidFill>
                <a:effectLst/>
                <a:latin typeface="Arial" panose="020B0604020202020204" pitchFamily="34" charset="0"/>
              </a:rPr>
              <a:t>semihosting</a:t>
            </a:r>
            <a:r>
              <a:rPr lang="en-US" b="0" i="0" dirty="0">
                <a:solidFill>
                  <a:srgbClr val="202122"/>
                </a:solidFill>
                <a:effectLst/>
                <a:latin typeface="Arial" panose="020B0604020202020204" pitchFamily="34" charset="0"/>
              </a:rPr>
              <a:t> at very high performance.</a:t>
            </a:r>
            <a:br>
              <a:rPr lang="en-US" dirty="0"/>
            </a:br>
            <a:r>
              <a:rPr lang="en-US" b="0" i="0" dirty="0">
                <a:solidFill>
                  <a:srgbClr val="202122"/>
                </a:solidFill>
                <a:effectLst/>
                <a:latin typeface="Arial" panose="020B0604020202020204" pitchFamily="34" charset="0"/>
              </a:rPr>
              <a:t>With RTT, it is possible to output information from the target microcontroller as well as send input to the application at a very high speed without affecting the target's real time behavior.</a:t>
            </a:r>
            <a:endParaRPr lang="en-US" dirty="0"/>
          </a:p>
        </p:txBody>
      </p:sp>
      <p:sp>
        <p:nvSpPr>
          <p:cNvPr id="8" name="TextBox 7">
            <a:extLst>
              <a:ext uri="{FF2B5EF4-FFF2-40B4-BE49-F238E27FC236}">
                <a16:creationId xmlns:a16="http://schemas.microsoft.com/office/drawing/2014/main" id="{74CF3A73-8651-8123-332D-99275D1F93E4}"/>
              </a:ext>
            </a:extLst>
          </p:cNvPr>
          <p:cNvSpPr txBox="1"/>
          <p:nvPr/>
        </p:nvSpPr>
        <p:spPr>
          <a:xfrm>
            <a:off x="586945" y="246988"/>
            <a:ext cx="1140940" cy="707886"/>
          </a:xfrm>
          <a:prstGeom prst="rect">
            <a:avLst/>
          </a:prstGeom>
          <a:noFill/>
        </p:spPr>
        <p:txBody>
          <a:bodyPr wrap="square">
            <a:spAutoFit/>
          </a:bodyPr>
          <a:lstStyle/>
          <a:p>
            <a:pPr algn="l">
              <a:buNone/>
            </a:pPr>
            <a:r>
              <a:rPr lang="en-US" sz="4000" b="0" i="0" dirty="0">
                <a:solidFill>
                  <a:srgbClr val="000000"/>
                </a:solidFill>
                <a:effectLst/>
                <a:latin typeface="Linux Libertine"/>
              </a:rPr>
              <a:t>RTT</a:t>
            </a:r>
          </a:p>
        </p:txBody>
      </p:sp>
    </p:spTree>
    <p:extLst>
      <p:ext uri="{BB962C8B-B14F-4D97-AF65-F5344CB8AC3E}">
        <p14:creationId xmlns:p14="http://schemas.microsoft.com/office/powerpoint/2010/main" val="463593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1027" name="Picture 3">
            <a:hlinkClick r:id="rId2"/>
            <a:extLst>
              <a:ext uri="{FF2B5EF4-FFF2-40B4-BE49-F238E27FC236}">
                <a16:creationId xmlns:a16="http://schemas.microsoft.com/office/drawing/2014/main" id="{6A06001D-8CB6-3EA4-AFFE-3086E0E51B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353" y="3615857"/>
            <a:ext cx="7184587" cy="152767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F705BA3-2FD1-6E42-2301-6850B6C90DF8}"/>
              </a:ext>
            </a:extLst>
          </p:cNvPr>
          <p:cNvSpPr txBox="1"/>
          <p:nvPr/>
        </p:nvSpPr>
        <p:spPr>
          <a:xfrm>
            <a:off x="362465" y="2318814"/>
            <a:ext cx="8517923" cy="9233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02122"/>
                </a:solidFill>
                <a:effectLst/>
                <a:latin typeface="Arial" panose="020B0604020202020204" pitchFamily="34" charset="0"/>
              </a:rPr>
              <a:t>The performance of SEGGER RTT is significantly higher than any other technology used to output data to a host PC. An average line of text can be output in one microsecond or less. Basically only the time to do a single </a:t>
            </a:r>
            <a:r>
              <a:rPr kumimoji="0" lang="en-US" altLang="en-US" sz="1800" b="0" i="0" u="none" strike="noStrike" cap="none" normalizeH="0" baseline="0" dirty="0" err="1">
                <a:ln>
                  <a:noFill/>
                </a:ln>
                <a:solidFill>
                  <a:srgbClr val="202122"/>
                </a:solidFill>
                <a:effectLst/>
                <a:latin typeface="Courier New" panose="02070309020205020404" pitchFamily="49" charset="0"/>
              </a:rPr>
              <a:t>memcopy</a:t>
            </a:r>
            <a:r>
              <a:rPr kumimoji="0" lang="en-US" altLang="en-US" sz="1800" b="0" i="0" u="none" strike="noStrike" cap="none" normalizeH="0" baseline="0" dirty="0">
                <a:ln>
                  <a:noFill/>
                </a:ln>
                <a:solidFill>
                  <a:srgbClr val="202122"/>
                </a:solidFill>
                <a:effectLst/>
                <a:latin typeface="Courier New" panose="02070309020205020404" pitchFamily="49" charset="0"/>
              </a:rPr>
              <a:t>()</a:t>
            </a:r>
            <a:r>
              <a:rPr kumimoji="0" lang="en-US" altLang="en-US" sz="1800" b="0" i="0" u="none" strike="noStrike" cap="none" normalizeH="0" baseline="0" dirty="0">
                <a:ln>
                  <a:noFill/>
                </a:ln>
                <a:solidFill>
                  <a:srgbClr val="202122"/>
                </a:solidFill>
                <a:effectLst/>
                <a:latin typeface="Arial" panose="020B0604020202020204" pitchFamily="34" charset="0"/>
              </a:rPr>
              <a:t>.</a:t>
            </a:r>
            <a:endParaRPr kumimoji="0" lang="en-US" altLang="en-US" sz="800" b="0" i="0" u="none" strike="noStrike" cap="none" normalizeH="0" baseline="0" dirty="0">
              <a:ln>
                <a:noFill/>
              </a:ln>
              <a:solidFill>
                <a:schemeClr val="tx1"/>
              </a:solidFill>
              <a:effectLst/>
            </a:endParaRPr>
          </a:p>
        </p:txBody>
      </p:sp>
      <p:sp>
        <p:nvSpPr>
          <p:cNvPr id="8" name="TextBox 7">
            <a:extLst>
              <a:ext uri="{FF2B5EF4-FFF2-40B4-BE49-F238E27FC236}">
                <a16:creationId xmlns:a16="http://schemas.microsoft.com/office/drawing/2014/main" id="{D0712090-A8E4-CB81-DC4F-CA00C21DAE6B}"/>
              </a:ext>
            </a:extLst>
          </p:cNvPr>
          <p:cNvSpPr txBox="1"/>
          <p:nvPr/>
        </p:nvSpPr>
        <p:spPr>
          <a:xfrm>
            <a:off x="746031" y="527906"/>
            <a:ext cx="2532628" cy="369332"/>
          </a:xfrm>
          <a:prstGeom prst="rect">
            <a:avLst/>
          </a:prstGeom>
          <a:noFill/>
        </p:spPr>
        <p:txBody>
          <a:bodyPr wrap="square">
            <a:spAutoFit/>
          </a:bodyPr>
          <a:lstStyle/>
          <a:p>
            <a:r>
              <a:rPr kumimoji="0" lang="en-US" altLang="en-US" sz="1800" b="1" i="0" u="none" strike="noStrike" cap="none" normalizeH="0" baseline="0" dirty="0">
                <a:ln>
                  <a:noFill/>
                </a:ln>
                <a:solidFill>
                  <a:srgbClr val="000000"/>
                </a:solidFill>
                <a:effectLst/>
                <a:latin typeface="Arial" panose="020B0604020202020204" pitchFamily="34" charset="0"/>
              </a:rPr>
              <a:t>RTT Performance</a:t>
            </a:r>
            <a:endParaRPr lang="en-US" dirty="0"/>
          </a:p>
        </p:txBody>
      </p:sp>
      <p:sp>
        <p:nvSpPr>
          <p:cNvPr id="10" name="TextBox 9">
            <a:extLst>
              <a:ext uri="{FF2B5EF4-FFF2-40B4-BE49-F238E27FC236}">
                <a16:creationId xmlns:a16="http://schemas.microsoft.com/office/drawing/2014/main" id="{E9A2BD55-C80F-A1FF-6617-45B0A86A850B}"/>
              </a:ext>
            </a:extLst>
          </p:cNvPr>
          <p:cNvSpPr txBox="1"/>
          <p:nvPr/>
        </p:nvSpPr>
        <p:spPr>
          <a:xfrm>
            <a:off x="814353" y="6071971"/>
            <a:ext cx="4572000" cy="369332"/>
          </a:xfrm>
          <a:prstGeom prst="rect">
            <a:avLst/>
          </a:prstGeom>
          <a:noFill/>
        </p:spPr>
        <p:txBody>
          <a:bodyPr wrap="square">
            <a:spAutoFit/>
          </a:bodyPr>
          <a:lstStyle/>
          <a:p>
            <a:r>
              <a:rPr lang="en-US" dirty="0"/>
              <a:t>https://kb.segger.com/RTT</a:t>
            </a:r>
          </a:p>
        </p:txBody>
      </p:sp>
      <p:sp>
        <p:nvSpPr>
          <p:cNvPr id="12" name="TextBox 11">
            <a:extLst>
              <a:ext uri="{FF2B5EF4-FFF2-40B4-BE49-F238E27FC236}">
                <a16:creationId xmlns:a16="http://schemas.microsoft.com/office/drawing/2014/main" id="{55394DF8-2721-CE9C-52A0-47F9DA8463C8}"/>
              </a:ext>
            </a:extLst>
          </p:cNvPr>
          <p:cNvSpPr txBox="1"/>
          <p:nvPr/>
        </p:nvSpPr>
        <p:spPr>
          <a:xfrm>
            <a:off x="814353" y="6330094"/>
            <a:ext cx="4572000" cy="369332"/>
          </a:xfrm>
          <a:prstGeom prst="rect">
            <a:avLst/>
          </a:prstGeom>
          <a:noFill/>
        </p:spPr>
        <p:txBody>
          <a:bodyPr wrap="square">
            <a:spAutoFit/>
          </a:bodyPr>
          <a:lstStyle/>
          <a:p>
            <a:r>
              <a:rPr lang="en-US" dirty="0"/>
              <a:t>https://github.com/SEGGERMicro/RTT</a:t>
            </a:r>
          </a:p>
        </p:txBody>
      </p:sp>
      <p:sp>
        <p:nvSpPr>
          <p:cNvPr id="14" name="TextBox 13">
            <a:extLst>
              <a:ext uri="{FF2B5EF4-FFF2-40B4-BE49-F238E27FC236}">
                <a16:creationId xmlns:a16="http://schemas.microsoft.com/office/drawing/2014/main" id="{5AD77457-550A-1693-6F30-B17C2F51BE6F}"/>
              </a:ext>
            </a:extLst>
          </p:cNvPr>
          <p:cNvSpPr txBox="1"/>
          <p:nvPr/>
        </p:nvSpPr>
        <p:spPr>
          <a:xfrm>
            <a:off x="814352" y="5715159"/>
            <a:ext cx="5059225" cy="369332"/>
          </a:xfrm>
          <a:prstGeom prst="rect">
            <a:avLst/>
          </a:prstGeom>
          <a:noFill/>
        </p:spPr>
        <p:txBody>
          <a:bodyPr wrap="square">
            <a:spAutoFit/>
          </a:bodyPr>
          <a:lstStyle/>
          <a:p>
            <a:r>
              <a:rPr lang="en-US" dirty="0"/>
              <a:t>https://www.segger.com/downloads/systemview/</a:t>
            </a:r>
          </a:p>
        </p:txBody>
      </p:sp>
    </p:spTree>
    <p:extLst>
      <p:ext uri="{BB962C8B-B14F-4D97-AF65-F5344CB8AC3E}">
        <p14:creationId xmlns:p14="http://schemas.microsoft.com/office/powerpoint/2010/main" val="824172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40DA8A-B285-18F1-860E-7CAA22D24F78}"/>
              </a:ext>
            </a:extLst>
          </p:cNvPr>
          <p:cNvPicPr>
            <a:picLocks noChangeAspect="1"/>
          </p:cNvPicPr>
          <p:nvPr/>
        </p:nvPicPr>
        <p:blipFill>
          <a:blip r:embed="rId2"/>
          <a:stretch>
            <a:fillRect/>
          </a:stretch>
        </p:blipFill>
        <p:spPr>
          <a:xfrm>
            <a:off x="1416908" y="3029784"/>
            <a:ext cx="6310184" cy="3685384"/>
          </a:xfrm>
          <a:prstGeom prst="rect">
            <a:avLst/>
          </a:prstGeom>
        </p:spPr>
      </p:pic>
      <p:pic>
        <p:nvPicPr>
          <p:cNvPr id="2050" name="Picture 2" descr="Screenshot from 2021-02-04 22-09-36">
            <a:extLst>
              <a:ext uri="{FF2B5EF4-FFF2-40B4-BE49-F238E27FC236}">
                <a16:creationId xmlns:a16="http://schemas.microsoft.com/office/drawing/2014/main" id="{9C471996-BBEE-E6D5-14AB-512225D6E2C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99847" y="83279"/>
            <a:ext cx="7744305" cy="351476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5616920-36C6-346B-0288-78066D9E43A8}"/>
              </a:ext>
            </a:extLst>
          </p:cNvPr>
          <p:cNvSpPr txBox="1"/>
          <p:nvPr/>
        </p:nvSpPr>
        <p:spPr>
          <a:xfrm>
            <a:off x="243016" y="6545891"/>
            <a:ext cx="8497330" cy="338554"/>
          </a:xfrm>
          <a:prstGeom prst="rect">
            <a:avLst/>
          </a:prstGeom>
          <a:noFill/>
        </p:spPr>
        <p:txBody>
          <a:bodyPr wrap="square">
            <a:spAutoFit/>
          </a:bodyPr>
          <a:lstStyle/>
          <a:p>
            <a:r>
              <a:rPr lang="en-US" sz="1600" dirty="0"/>
              <a:t>https://github.com/nghiaphamsg/stm32f4-freeRTOS/blob/master/002_SEGGER_Tools/README.md</a:t>
            </a:r>
          </a:p>
        </p:txBody>
      </p:sp>
    </p:spTree>
    <p:extLst>
      <p:ext uri="{BB962C8B-B14F-4D97-AF65-F5344CB8AC3E}">
        <p14:creationId xmlns:p14="http://schemas.microsoft.com/office/powerpoint/2010/main" val="3137215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EB37C-11D1-B181-EB4A-C309F2AD3F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FF8A6-1084-1219-D958-46A85D1B6326}"/>
              </a:ext>
            </a:extLst>
          </p:cNvPr>
          <p:cNvSpPr>
            <a:spLocks noGrp="1"/>
          </p:cNvSpPr>
          <p:nvPr>
            <p:ph type="title"/>
          </p:nvPr>
        </p:nvSpPr>
        <p:spPr/>
        <p:txBody>
          <a:bodyPr/>
          <a:lstStyle/>
          <a:p>
            <a:pPr rtl="1"/>
            <a:r>
              <a:rPr lang="fa-IR" dirty="0">
                <a:cs typeface="B Nazanin" panose="00000400000000000000" pitchFamily="2" charset="-78"/>
              </a:rPr>
              <a:t>جلسه ی 3</a:t>
            </a:r>
            <a:endParaRPr lang="en-US" dirty="0">
              <a:cs typeface="B Nazanin" panose="00000400000000000000" pitchFamily="2" charset="-78"/>
            </a:endParaRPr>
          </a:p>
        </p:txBody>
      </p:sp>
      <p:sp>
        <p:nvSpPr>
          <p:cNvPr id="3" name="Content Placeholder 2">
            <a:extLst>
              <a:ext uri="{FF2B5EF4-FFF2-40B4-BE49-F238E27FC236}">
                <a16:creationId xmlns:a16="http://schemas.microsoft.com/office/drawing/2014/main" id="{4BBE64B4-1568-ACC5-7C0F-AD16CF56549A}"/>
              </a:ext>
            </a:extLst>
          </p:cNvPr>
          <p:cNvSpPr>
            <a:spLocks noGrp="1"/>
          </p:cNvSpPr>
          <p:nvPr>
            <p:ph idx="1"/>
          </p:nvPr>
        </p:nvSpPr>
        <p:spPr>
          <a:xfrm>
            <a:off x="457200" y="1600200"/>
            <a:ext cx="8229600" cy="780535"/>
          </a:xfrm>
        </p:spPr>
        <p:txBody>
          <a:bodyPr/>
          <a:lstStyle/>
          <a:p>
            <a:pPr marL="0" indent="0" algn="ctr" rtl="1">
              <a:buNone/>
            </a:pPr>
            <a:r>
              <a:rPr lang="fa-IR" dirty="0">
                <a:cs typeface="B Nazanin" panose="00000400000000000000" pitchFamily="2" charset="-78"/>
              </a:rPr>
              <a:t>ارتباط بین تسک‌ها و هم‌زمانی </a:t>
            </a:r>
            <a:r>
              <a:rPr lang="en-US" dirty="0">
                <a:cs typeface="B Nazanin" panose="00000400000000000000" pitchFamily="2" charset="-78"/>
              </a:rPr>
              <a:t>(Synchronization)</a:t>
            </a:r>
          </a:p>
        </p:txBody>
      </p:sp>
      <p:sp>
        <p:nvSpPr>
          <p:cNvPr id="8" name="TextBox 7">
            <a:extLst>
              <a:ext uri="{FF2B5EF4-FFF2-40B4-BE49-F238E27FC236}">
                <a16:creationId xmlns:a16="http://schemas.microsoft.com/office/drawing/2014/main" id="{362BBAD5-02FB-9830-1BE1-E37EA657E99E}"/>
              </a:ext>
            </a:extLst>
          </p:cNvPr>
          <p:cNvSpPr txBox="1"/>
          <p:nvPr/>
        </p:nvSpPr>
        <p:spPr>
          <a:xfrm>
            <a:off x="286265" y="2752110"/>
            <a:ext cx="8571470" cy="1754326"/>
          </a:xfrm>
          <a:prstGeom prst="rect">
            <a:avLst/>
          </a:prstGeom>
          <a:noFill/>
        </p:spPr>
        <p:txBody>
          <a:bodyPr wrap="square">
            <a:spAutoFit/>
          </a:bodyPr>
          <a:lstStyle/>
          <a:p>
            <a:pPr algn="r" rtl="1"/>
            <a:r>
              <a:rPr lang="fa-IR" dirty="0">
                <a:cs typeface="B Nazanin" panose="00000400000000000000" pitchFamily="2" charset="-78"/>
              </a:rPr>
              <a:t>هدف: کار با </a:t>
            </a:r>
            <a:r>
              <a:rPr lang="en-US" dirty="0">
                <a:cs typeface="B Nazanin" panose="00000400000000000000" pitchFamily="2" charset="-78"/>
              </a:rPr>
              <a:t>Queue ،  Semaphore </a:t>
            </a:r>
            <a:r>
              <a:rPr lang="fa-IR" dirty="0">
                <a:cs typeface="B Nazanin" panose="00000400000000000000" pitchFamily="2" charset="-78"/>
              </a:rPr>
              <a:t>و </a:t>
            </a:r>
            <a:r>
              <a:rPr lang="en-US" dirty="0">
                <a:cs typeface="B Nazanin" panose="00000400000000000000" pitchFamily="2" charset="-78"/>
              </a:rPr>
              <a:t>Mutex </a:t>
            </a:r>
          </a:p>
          <a:p>
            <a:pPr algn="r" rtl="1"/>
            <a:r>
              <a:rPr lang="fa-IR" dirty="0">
                <a:cs typeface="B Nazanin" panose="00000400000000000000" pitchFamily="2" charset="-78"/>
              </a:rPr>
              <a:t>مباحث:</a:t>
            </a:r>
          </a:p>
          <a:p>
            <a:pPr algn="r" rtl="1"/>
            <a:r>
              <a:rPr lang="fa-IR" dirty="0">
                <a:cs typeface="B Nazanin" panose="00000400000000000000" pitchFamily="2" charset="-78"/>
              </a:rPr>
              <a:t>•	 </a:t>
            </a:r>
            <a:r>
              <a:rPr lang="en-US" dirty="0">
                <a:cs typeface="B Nazanin" panose="00000400000000000000" pitchFamily="2" charset="-78"/>
              </a:rPr>
              <a:t>Queue </a:t>
            </a:r>
            <a:r>
              <a:rPr lang="fa-IR" dirty="0">
                <a:cs typeface="B Nazanin" panose="00000400000000000000" pitchFamily="2" charset="-78"/>
              </a:rPr>
              <a:t>و </a:t>
            </a:r>
            <a:r>
              <a:rPr lang="en-US" dirty="0">
                <a:cs typeface="B Nazanin" panose="00000400000000000000" pitchFamily="2" charset="-78"/>
              </a:rPr>
              <a:t>Message Passing </a:t>
            </a:r>
            <a:r>
              <a:rPr lang="fa-IR" dirty="0">
                <a:cs typeface="B Nazanin" panose="00000400000000000000" pitchFamily="2" charset="-78"/>
              </a:rPr>
              <a:t>بین تسک‌ها</a:t>
            </a:r>
          </a:p>
          <a:p>
            <a:pPr algn="r" rtl="1"/>
            <a:r>
              <a:rPr lang="fa-IR" dirty="0">
                <a:cs typeface="B Nazanin" panose="00000400000000000000" pitchFamily="2" charset="-78"/>
              </a:rPr>
              <a:t>•	</a:t>
            </a:r>
            <a:r>
              <a:rPr lang="en-US" dirty="0">
                <a:cs typeface="B Nazanin" panose="00000400000000000000" pitchFamily="2" charset="-78"/>
              </a:rPr>
              <a:t>Binary / Counting Semaphore</a:t>
            </a:r>
          </a:p>
          <a:p>
            <a:pPr algn="r" rtl="1"/>
            <a:r>
              <a:rPr lang="en-US" dirty="0">
                <a:cs typeface="B Nazanin" panose="00000400000000000000" pitchFamily="2" charset="-78"/>
              </a:rPr>
              <a:t>•	 Mutex </a:t>
            </a:r>
            <a:r>
              <a:rPr lang="fa-IR" dirty="0">
                <a:cs typeface="B Nazanin" panose="00000400000000000000" pitchFamily="2" charset="-78"/>
              </a:rPr>
              <a:t>و جلوگیری از </a:t>
            </a:r>
            <a:r>
              <a:rPr lang="en-US" dirty="0">
                <a:cs typeface="B Nazanin" panose="00000400000000000000" pitchFamily="2" charset="-78"/>
              </a:rPr>
              <a:t>Priority Inversion</a:t>
            </a:r>
          </a:p>
          <a:p>
            <a:pPr algn="r" rtl="1"/>
            <a:r>
              <a:rPr lang="fa-IR" dirty="0">
                <a:cs typeface="B Nazanin" panose="00000400000000000000" pitchFamily="2" charset="-78"/>
              </a:rPr>
              <a:t>پروژه: طراحی سیستم سنجش دما با سنسور و ارسال داده از تسک سنسور به تسک نمایشگر از طریق </a:t>
            </a:r>
            <a:r>
              <a:rPr lang="en-US" dirty="0">
                <a:cs typeface="B Nazanin" panose="00000400000000000000" pitchFamily="2" charset="-78"/>
              </a:rPr>
              <a:t>Queue</a:t>
            </a:r>
          </a:p>
        </p:txBody>
      </p:sp>
    </p:spTree>
    <p:extLst>
      <p:ext uri="{BB962C8B-B14F-4D97-AF65-F5344CB8AC3E}">
        <p14:creationId xmlns:p14="http://schemas.microsoft.com/office/powerpoint/2010/main" val="3429372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8FDCA-4A23-03A8-3F98-4874E9A9F11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D3A5DBB-3A29-0DF4-B291-BB6915D649F7}"/>
              </a:ext>
            </a:extLst>
          </p:cNvPr>
          <p:cNvSpPr>
            <a:spLocks noGrp="1"/>
          </p:cNvSpPr>
          <p:nvPr>
            <p:ph idx="1"/>
          </p:nvPr>
        </p:nvSpPr>
        <p:spPr/>
        <p:txBody>
          <a:bodyPr/>
          <a:lstStyle/>
          <a:p>
            <a:pPr algn="r" rtl="1"/>
            <a:r>
              <a:rPr lang="fa-IR" dirty="0"/>
              <a:t>اتصال نمایشگر رنگی </a:t>
            </a:r>
            <a:r>
              <a:rPr lang="en-US" dirty="0" err="1"/>
              <a:t>spi</a:t>
            </a:r>
            <a:endParaRPr lang="en-US" dirty="0"/>
          </a:p>
          <a:p>
            <a:pPr algn="r" rtl="1"/>
            <a:r>
              <a:rPr lang="fa-IR" dirty="0"/>
              <a:t>دریافت و ارسال کن باس</a:t>
            </a:r>
          </a:p>
          <a:p>
            <a:pPr algn="r" rtl="1"/>
            <a:r>
              <a:rPr lang="fa-IR" dirty="0"/>
              <a:t>پروتکل کانورتر به </a:t>
            </a:r>
            <a:r>
              <a:rPr lang="en-US" dirty="0" err="1"/>
              <a:t>mqtt</a:t>
            </a:r>
            <a:endParaRPr lang="fa-IR" dirty="0"/>
          </a:p>
          <a:p>
            <a:pPr algn="r" rtl="1"/>
            <a:r>
              <a:rPr lang="fa-IR" dirty="0"/>
              <a:t>معرفی همه ی </a:t>
            </a:r>
            <a:r>
              <a:rPr lang="en-US" dirty="0" err="1"/>
              <a:t>api</a:t>
            </a:r>
            <a:r>
              <a:rPr lang="fa-IR" dirty="0"/>
              <a:t> های </a:t>
            </a:r>
            <a:r>
              <a:rPr lang="en-US" dirty="0" err="1"/>
              <a:t>freertos</a:t>
            </a:r>
            <a:endParaRPr lang="en-US" dirty="0"/>
          </a:p>
          <a:p>
            <a:pPr algn="r" rtl="1"/>
            <a:endParaRPr lang="fa-IR" dirty="0"/>
          </a:p>
        </p:txBody>
      </p:sp>
    </p:spTree>
    <p:extLst>
      <p:ext uri="{BB962C8B-B14F-4D97-AF65-F5344CB8AC3E}">
        <p14:creationId xmlns:p14="http://schemas.microsoft.com/office/powerpoint/2010/main" val="4030076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6981C-704C-22E3-925F-5C85B893B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C526F-8465-2D69-6DF5-8CB56EFD0FF8}"/>
              </a:ext>
            </a:extLst>
          </p:cNvPr>
          <p:cNvSpPr>
            <a:spLocks noGrp="1"/>
          </p:cNvSpPr>
          <p:nvPr>
            <p:ph type="title"/>
          </p:nvPr>
        </p:nvSpPr>
        <p:spPr/>
        <p:txBody>
          <a:bodyPr/>
          <a:lstStyle/>
          <a:p>
            <a:pPr rtl="1"/>
            <a:r>
              <a:rPr lang="fa-IR" dirty="0">
                <a:cs typeface="B Nazanin" panose="00000400000000000000" pitchFamily="2" charset="-78"/>
              </a:rPr>
              <a:t>جلسه ی 4</a:t>
            </a:r>
            <a:endParaRPr lang="en-US" dirty="0">
              <a:cs typeface="B Nazanin" panose="00000400000000000000" pitchFamily="2" charset="-78"/>
            </a:endParaRPr>
          </a:p>
        </p:txBody>
      </p:sp>
      <p:sp>
        <p:nvSpPr>
          <p:cNvPr id="3" name="Content Placeholder 2">
            <a:extLst>
              <a:ext uri="{FF2B5EF4-FFF2-40B4-BE49-F238E27FC236}">
                <a16:creationId xmlns:a16="http://schemas.microsoft.com/office/drawing/2014/main" id="{869D3693-09C6-14D4-A91C-EDB8108BEAA2}"/>
              </a:ext>
            </a:extLst>
          </p:cNvPr>
          <p:cNvSpPr>
            <a:spLocks noGrp="1"/>
          </p:cNvSpPr>
          <p:nvPr>
            <p:ph idx="1"/>
          </p:nvPr>
        </p:nvSpPr>
        <p:spPr>
          <a:xfrm>
            <a:off x="457200" y="1600200"/>
            <a:ext cx="8229600" cy="780535"/>
          </a:xfrm>
        </p:spPr>
        <p:txBody>
          <a:bodyPr/>
          <a:lstStyle/>
          <a:p>
            <a:pPr marL="0" indent="0" algn="ctr" rtl="1">
              <a:buNone/>
            </a:pPr>
            <a:r>
              <a:rPr lang="fa-IR" dirty="0">
                <a:cs typeface="B Nazanin" panose="00000400000000000000" pitchFamily="2" charset="-78"/>
              </a:rPr>
              <a:t>تایمرها، وقفه‌ها و نرم‌افزار زمان‌بندی پیشرفته</a:t>
            </a:r>
            <a:endParaRPr lang="en-US" dirty="0">
              <a:cs typeface="B Nazanin" panose="00000400000000000000" pitchFamily="2" charset="-78"/>
            </a:endParaRPr>
          </a:p>
        </p:txBody>
      </p:sp>
      <p:sp>
        <p:nvSpPr>
          <p:cNvPr id="8" name="TextBox 7">
            <a:extLst>
              <a:ext uri="{FF2B5EF4-FFF2-40B4-BE49-F238E27FC236}">
                <a16:creationId xmlns:a16="http://schemas.microsoft.com/office/drawing/2014/main" id="{250A7AAE-77F5-DF39-47B4-395CCB6BB29E}"/>
              </a:ext>
            </a:extLst>
          </p:cNvPr>
          <p:cNvSpPr txBox="1"/>
          <p:nvPr/>
        </p:nvSpPr>
        <p:spPr>
          <a:xfrm>
            <a:off x="286265" y="2752110"/>
            <a:ext cx="8571470" cy="1754326"/>
          </a:xfrm>
          <a:prstGeom prst="rect">
            <a:avLst/>
          </a:prstGeom>
          <a:noFill/>
        </p:spPr>
        <p:txBody>
          <a:bodyPr wrap="square">
            <a:spAutoFit/>
          </a:bodyPr>
          <a:lstStyle/>
          <a:p>
            <a:pPr algn="r" rtl="1"/>
            <a:r>
              <a:rPr lang="fa-IR" dirty="0">
                <a:cs typeface="B Nazanin" panose="00000400000000000000" pitchFamily="2" charset="-78"/>
              </a:rPr>
              <a:t>هدف: درک کار با </a:t>
            </a:r>
            <a:r>
              <a:rPr lang="en-US" dirty="0">
                <a:cs typeface="B Nazanin" panose="00000400000000000000" pitchFamily="2" charset="-78"/>
              </a:rPr>
              <a:t>Timer Service </a:t>
            </a:r>
            <a:r>
              <a:rPr lang="fa-IR" dirty="0">
                <a:cs typeface="B Nazanin" panose="00000400000000000000" pitchFamily="2" charset="-78"/>
              </a:rPr>
              <a:t>و </a:t>
            </a:r>
            <a:r>
              <a:rPr lang="en-US" dirty="0">
                <a:cs typeface="B Nazanin" panose="00000400000000000000" pitchFamily="2" charset="-78"/>
              </a:rPr>
              <a:t>ISR</a:t>
            </a:r>
            <a:r>
              <a:rPr lang="fa-IR" dirty="0">
                <a:cs typeface="B Nazanin" panose="00000400000000000000" pitchFamily="2" charset="-78"/>
              </a:rPr>
              <a:t>ها در </a:t>
            </a:r>
            <a:r>
              <a:rPr lang="en-US" dirty="0" err="1">
                <a:cs typeface="B Nazanin" panose="00000400000000000000" pitchFamily="2" charset="-78"/>
              </a:rPr>
              <a:t>FreeRTOS</a:t>
            </a:r>
            <a:endParaRPr lang="en-US" dirty="0">
              <a:cs typeface="B Nazanin" panose="00000400000000000000" pitchFamily="2" charset="-78"/>
            </a:endParaRPr>
          </a:p>
          <a:p>
            <a:pPr algn="r" rtl="1"/>
            <a:r>
              <a:rPr lang="fa-IR" dirty="0">
                <a:cs typeface="B Nazanin" panose="00000400000000000000" pitchFamily="2" charset="-78"/>
              </a:rPr>
              <a:t>مباحث:</a:t>
            </a:r>
          </a:p>
          <a:p>
            <a:pPr algn="r" rtl="1"/>
            <a:r>
              <a:rPr lang="fa-IR" dirty="0">
                <a:cs typeface="B Nazanin" panose="00000400000000000000" pitchFamily="2" charset="-78"/>
              </a:rPr>
              <a:t>•	کار با </a:t>
            </a:r>
            <a:r>
              <a:rPr lang="en-US" dirty="0">
                <a:cs typeface="B Nazanin" panose="00000400000000000000" pitchFamily="2" charset="-78"/>
              </a:rPr>
              <a:t>Hardware Timer </a:t>
            </a:r>
            <a:r>
              <a:rPr lang="fa-IR" dirty="0">
                <a:cs typeface="B Nazanin" panose="00000400000000000000" pitchFamily="2" charset="-78"/>
              </a:rPr>
              <a:t>و </a:t>
            </a:r>
            <a:r>
              <a:rPr lang="en-US" dirty="0">
                <a:cs typeface="B Nazanin" panose="00000400000000000000" pitchFamily="2" charset="-78"/>
              </a:rPr>
              <a:t>Software Timer</a:t>
            </a:r>
          </a:p>
          <a:p>
            <a:pPr algn="r" rtl="1"/>
            <a:r>
              <a:rPr lang="en-US" dirty="0">
                <a:cs typeface="B Nazanin" panose="00000400000000000000" pitchFamily="2" charset="-78"/>
              </a:rPr>
              <a:t>•	</a:t>
            </a:r>
            <a:r>
              <a:rPr lang="fa-IR" dirty="0">
                <a:cs typeface="B Nazanin" panose="00000400000000000000" pitchFamily="2" charset="-78"/>
              </a:rPr>
              <a:t>وقفه‌ها در محیط </a:t>
            </a:r>
            <a:r>
              <a:rPr lang="en-US" dirty="0">
                <a:cs typeface="B Nazanin" panose="00000400000000000000" pitchFamily="2" charset="-78"/>
              </a:rPr>
              <a:t>RTOS </a:t>
            </a:r>
            <a:r>
              <a:rPr lang="fa-IR" dirty="0">
                <a:cs typeface="B Nazanin" panose="00000400000000000000" pitchFamily="2" charset="-78"/>
              </a:rPr>
              <a:t>و قوانین </a:t>
            </a:r>
            <a:r>
              <a:rPr lang="en-US" dirty="0">
                <a:cs typeface="B Nazanin" panose="00000400000000000000" pitchFamily="2" charset="-78"/>
              </a:rPr>
              <a:t>ISR </a:t>
            </a:r>
          </a:p>
          <a:p>
            <a:pPr algn="r" rtl="1"/>
            <a:r>
              <a:rPr lang="en-US" dirty="0">
                <a:cs typeface="B Nazanin" panose="00000400000000000000" pitchFamily="2" charset="-78"/>
              </a:rPr>
              <a:t>•	Hook Function </a:t>
            </a:r>
            <a:r>
              <a:rPr lang="fa-IR" dirty="0">
                <a:cs typeface="B Nazanin" panose="00000400000000000000" pitchFamily="2" charset="-78"/>
              </a:rPr>
              <a:t>ها (</a:t>
            </a:r>
            <a:r>
              <a:rPr lang="en-US" dirty="0">
                <a:cs typeface="B Nazanin" panose="00000400000000000000" pitchFamily="2" charset="-78"/>
              </a:rPr>
              <a:t>Idle, Tick, Malloc Failed) </a:t>
            </a:r>
          </a:p>
          <a:p>
            <a:pPr algn="r" rtl="1"/>
            <a:r>
              <a:rPr lang="fa-IR" dirty="0">
                <a:cs typeface="B Nazanin" panose="00000400000000000000" pitchFamily="2" charset="-78"/>
              </a:rPr>
              <a:t>پروژه: ساخت تایمر نرم‌افزاری برای ثبت داده سنسور در بازه‌های زمانی مختلف</a:t>
            </a:r>
          </a:p>
        </p:txBody>
      </p:sp>
    </p:spTree>
    <p:extLst>
      <p:ext uri="{BB962C8B-B14F-4D97-AF65-F5344CB8AC3E}">
        <p14:creationId xmlns:p14="http://schemas.microsoft.com/office/powerpoint/2010/main" val="2949801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2AC14-DE7C-AB5D-C3F1-8B6315BB9E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85048D-F7F4-06C7-5065-785C2E27A00E}"/>
              </a:ext>
            </a:extLst>
          </p:cNvPr>
          <p:cNvSpPr>
            <a:spLocks noGrp="1"/>
          </p:cNvSpPr>
          <p:nvPr>
            <p:ph type="title"/>
          </p:nvPr>
        </p:nvSpPr>
        <p:spPr/>
        <p:txBody>
          <a:bodyPr/>
          <a:lstStyle/>
          <a:p>
            <a:pPr rtl="1"/>
            <a:r>
              <a:rPr lang="fa-IR" dirty="0">
                <a:cs typeface="B Nazanin" panose="00000400000000000000" pitchFamily="2" charset="-78"/>
              </a:rPr>
              <a:t>جلسه ی 5</a:t>
            </a:r>
            <a:endParaRPr lang="en-US" dirty="0">
              <a:cs typeface="B Nazanin" panose="00000400000000000000" pitchFamily="2" charset="-78"/>
            </a:endParaRPr>
          </a:p>
        </p:txBody>
      </p:sp>
      <p:sp>
        <p:nvSpPr>
          <p:cNvPr id="3" name="Content Placeholder 2">
            <a:extLst>
              <a:ext uri="{FF2B5EF4-FFF2-40B4-BE49-F238E27FC236}">
                <a16:creationId xmlns:a16="http://schemas.microsoft.com/office/drawing/2014/main" id="{5F7DDD53-AE6F-3AF5-CD6F-D9A076E8B707}"/>
              </a:ext>
            </a:extLst>
          </p:cNvPr>
          <p:cNvSpPr>
            <a:spLocks noGrp="1"/>
          </p:cNvSpPr>
          <p:nvPr>
            <p:ph idx="1"/>
          </p:nvPr>
        </p:nvSpPr>
        <p:spPr>
          <a:xfrm>
            <a:off x="457200" y="1600200"/>
            <a:ext cx="8229600" cy="780535"/>
          </a:xfrm>
        </p:spPr>
        <p:txBody>
          <a:bodyPr/>
          <a:lstStyle/>
          <a:p>
            <a:pPr marL="0" indent="0" algn="ctr" rtl="1">
              <a:buNone/>
            </a:pPr>
            <a:r>
              <a:rPr lang="fa-IR" dirty="0">
                <a:cs typeface="B Nazanin" panose="00000400000000000000" pitchFamily="2" charset="-78"/>
              </a:rPr>
              <a:t>کار با پروتکل‌های ارتباطی و راه‌اندازی شبکه</a:t>
            </a:r>
            <a:endParaRPr lang="en-US" dirty="0">
              <a:cs typeface="B Nazanin" panose="00000400000000000000" pitchFamily="2" charset="-78"/>
            </a:endParaRPr>
          </a:p>
        </p:txBody>
      </p:sp>
      <p:sp>
        <p:nvSpPr>
          <p:cNvPr id="8" name="TextBox 7">
            <a:extLst>
              <a:ext uri="{FF2B5EF4-FFF2-40B4-BE49-F238E27FC236}">
                <a16:creationId xmlns:a16="http://schemas.microsoft.com/office/drawing/2014/main" id="{84290AFB-4BBE-C662-A0D9-4F7FF6EA59A3}"/>
              </a:ext>
            </a:extLst>
          </p:cNvPr>
          <p:cNvSpPr txBox="1"/>
          <p:nvPr/>
        </p:nvSpPr>
        <p:spPr>
          <a:xfrm>
            <a:off x="286265" y="2752110"/>
            <a:ext cx="8571470" cy="2031325"/>
          </a:xfrm>
          <a:prstGeom prst="rect">
            <a:avLst/>
          </a:prstGeom>
          <a:noFill/>
        </p:spPr>
        <p:txBody>
          <a:bodyPr wrap="square">
            <a:spAutoFit/>
          </a:bodyPr>
          <a:lstStyle/>
          <a:p>
            <a:pPr algn="r" rtl="1"/>
            <a:r>
              <a:rPr lang="fa-IR" dirty="0">
                <a:cs typeface="B Nazanin" panose="00000400000000000000" pitchFamily="2" charset="-78"/>
              </a:rPr>
              <a:t>هدف:  اتصال </a:t>
            </a:r>
            <a:r>
              <a:rPr lang="en-US" dirty="0">
                <a:cs typeface="B Nazanin" panose="00000400000000000000" pitchFamily="2" charset="-78"/>
              </a:rPr>
              <a:t>STM32 </a:t>
            </a:r>
            <a:r>
              <a:rPr lang="fa-IR" dirty="0">
                <a:cs typeface="B Nazanin" panose="00000400000000000000" pitchFamily="2" charset="-78"/>
              </a:rPr>
              <a:t>به شبکه</a:t>
            </a:r>
          </a:p>
          <a:p>
            <a:pPr algn="r" rtl="1"/>
            <a:r>
              <a:rPr lang="fa-IR" dirty="0">
                <a:cs typeface="B Nazanin" panose="00000400000000000000" pitchFamily="2" charset="-78"/>
              </a:rPr>
              <a:t>مباحث:</a:t>
            </a:r>
          </a:p>
          <a:p>
            <a:pPr algn="r" rtl="1"/>
            <a:r>
              <a:rPr lang="fa-IR" dirty="0">
                <a:cs typeface="B Nazanin" panose="00000400000000000000" pitchFamily="2" charset="-78"/>
              </a:rPr>
              <a:t>•	مروری بر </a:t>
            </a:r>
            <a:r>
              <a:rPr lang="en-US" dirty="0">
                <a:cs typeface="B Nazanin" panose="00000400000000000000" pitchFamily="2" charset="-78"/>
              </a:rPr>
              <a:t>UART، SPI، I2C  </a:t>
            </a:r>
            <a:r>
              <a:rPr lang="fa-IR" dirty="0">
                <a:cs typeface="B Nazanin" panose="00000400000000000000" pitchFamily="2" charset="-78"/>
              </a:rPr>
              <a:t>در محیط </a:t>
            </a:r>
            <a:r>
              <a:rPr lang="en-US" dirty="0">
                <a:cs typeface="B Nazanin" panose="00000400000000000000" pitchFamily="2" charset="-78"/>
              </a:rPr>
              <a:t>RTOS </a:t>
            </a:r>
          </a:p>
          <a:p>
            <a:pPr algn="r" rtl="1"/>
            <a:r>
              <a:rPr lang="en-US" dirty="0">
                <a:cs typeface="B Nazanin" panose="00000400000000000000" pitchFamily="2" charset="-78"/>
              </a:rPr>
              <a:t>•	</a:t>
            </a:r>
            <a:r>
              <a:rPr lang="fa-IR" dirty="0">
                <a:cs typeface="B Nazanin" panose="00000400000000000000" pitchFamily="2" charset="-78"/>
              </a:rPr>
              <a:t>معرفی ماژول‌های شبکه (</a:t>
            </a:r>
            <a:r>
              <a:rPr lang="en-US" dirty="0">
                <a:cs typeface="B Nazanin" panose="00000400000000000000" pitchFamily="2" charset="-78"/>
              </a:rPr>
              <a:t>ESP8266 / ESP32 / W5500 / ENC28J60)</a:t>
            </a:r>
          </a:p>
          <a:p>
            <a:pPr algn="r" rtl="1"/>
            <a:r>
              <a:rPr lang="en-US" dirty="0">
                <a:cs typeface="B Nazanin" panose="00000400000000000000" pitchFamily="2" charset="-78"/>
              </a:rPr>
              <a:t>•	</a:t>
            </a:r>
            <a:r>
              <a:rPr lang="fa-IR" dirty="0">
                <a:cs typeface="B Nazanin" panose="00000400000000000000" pitchFamily="2" charset="-78"/>
              </a:rPr>
              <a:t>آشنایی با  </a:t>
            </a:r>
            <a:r>
              <a:rPr lang="en-US" dirty="0">
                <a:cs typeface="B Nazanin" panose="00000400000000000000" pitchFamily="2" charset="-78"/>
              </a:rPr>
              <a:t>TCP/IP Stack (</a:t>
            </a:r>
            <a:r>
              <a:rPr lang="en-US" dirty="0" err="1">
                <a:cs typeface="B Nazanin" panose="00000400000000000000" pitchFamily="2" charset="-78"/>
              </a:rPr>
              <a:t>LwIP</a:t>
            </a:r>
            <a:r>
              <a:rPr lang="en-US" dirty="0">
                <a:cs typeface="B Nazanin" panose="00000400000000000000" pitchFamily="2" charset="-78"/>
              </a:rPr>
              <a:t>)</a:t>
            </a:r>
          </a:p>
          <a:p>
            <a:pPr algn="r" rtl="1"/>
            <a:r>
              <a:rPr lang="en-US" dirty="0">
                <a:cs typeface="B Nazanin" panose="00000400000000000000" pitchFamily="2" charset="-78"/>
              </a:rPr>
              <a:t>•	</a:t>
            </a:r>
            <a:r>
              <a:rPr lang="fa-IR" dirty="0">
                <a:cs typeface="B Nazanin" panose="00000400000000000000" pitchFamily="2" charset="-78"/>
              </a:rPr>
              <a:t>آشنایی با </a:t>
            </a:r>
            <a:r>
              <a:rPr lang="en-US" dirty="0">
                <a:cs typeface="B Nazanin" panose="00000400000000000000" pitchFamily="2" charset="-78"/>
              </a:rPr>
              <a:t>UDP </a:t>
            </a:r>
            <a:r>
              <a:rPr lang="fa-IR" dirty="0">
                <a:cs typeface="B Nazanin" panose="00000400000000000000" pitchFamily="2" charset="-78"/>
              </a:rPr>
              <a:t>و </a:t>
            </a:r>
            <a:r>
              <a:rPr lang="en-US" dirty="0">
                <a:cs typeface="B Nazanin" panose="00000400000000000000" pitchFamily="2" charset="-78"/>
              </a:rPr>
              <a:t>TCP</a:t>
            </a:r>
          </a:p>
          <a:p>
            <a:pPr algn="r" rtl="1"/>
            <a:r>
              <a:rPr lang="fa-IR" dirty="0">
                <a:cs typeface="B Nazanin" panose="00000400000000000000" pitchFamily="2" charset="-78"/>
              </a:rPr>
              <a:t>پروژه: راه‌اندازی ماژول شبکه  مثلاً </a:t>
            </a:r>
            <a:r>
              <a:rPr lang="en-US" dirty="0">
                <a:cs typeface="B Nazanin" panose="00000400000000000000" pitchFamily="2" charset="-78"/>
              </a:rPr>
              <a:t>W5500 </a:t>
            </a:r>
            <a:r>
              <a:rPr lang="fa-IR" dirty="0">
                <a:cs typeface="B Nazanin" panose="00000400000000000000" pitchFamily="2" charset="-78"/>
              </a:rPr>
              <a:t>و ارسال داده به سرور محلی با </a:t>
            </a:r>
            <a:r>
              <a:rPr lang="en-US" dirty="0" err="1">
                <a:cs typeface="B Nazanin" panose="00000400000000000000" pitchFamily="2" charset="-78"/>
              </a:rPr>
              <a:t>LwIP</a:t>
            </a:r>
            <a:r>
              <a:rPr lang="en-US" dirty="0">
                <a:cs typeface="B Nazanin" panose="00000400000000000000" pitchFamily="2" charset="-78"/>
              </a:rPr>
              <a:t> </a:t>
            </a:r>
            <a:r>
              <a:rPr lang="fa-IR" dirty="0">
                <a:cs typeface="B Nazanin" panose="00000400000000000000" pitchFamily="2" charset="-78"/>
              </a:rPr>
              <a:t>در </a:t>
            </a:r>
            <a:r>
              <a:rPr lang="en-US" dirty="0" err="1">
                <a:cs typeface="B Nazanin" panose="00000400000000000000" pitchFamily="2" charset="-78"/>
              </a:rPr>
              <a:t>FreeRTOS</a:t>
            </a:r>
            <a:r>
              <a:rPr lang="en-US" dirty="0">
                <a:cs typeface="B Nazanin" panose="00000400000000000000" pitchFamily="2" charset="-78"/>
              </a:rPr>
              <a:t> </a:t>
            </a:r>
          </a:p>
        </p:txBody>
      </p:sp>
    </p:spTree>
    <p:extLst>
      <p:ext uri="{BB962C8B-B14F-4D97-AF65-F5344CB8AC3E}">
        <p14:creationId xmlns:p14="http://schemas.microsoft.com/office/powerpoint/2010/main" val="110876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A7BB0-B4C6-DAE8-2DA7-34645FF651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E9D761F-8B96-D102-E661-3B8FFAE85DA1}"/>
              </a:ext>
            </a:extLst>
          </p:cNvPr>
          <p:cNvSpPr>
            <a:spLocks noGrp="1"/>
          </p:cNvSpPr>
          <p:nvPr>
            <p:ph idx="1"/>
          </p:nvPr>
        </p:nvSpPr>
        <p:spPr/>
        <p:txBody>
          <a:bodyPr/>
          <a:lstStyle/>
          <a:p>
            <a:pPr algn="r" rtl="1"/>
            <a:r>
              <a:rPr lang="en-US" dirty="0"/>
              <a:t>Test </a:t>
            </a:r>
            <a:r>
              <a:rPr lang="en-US" dirty="0" err="1"/>
              <a:t>lwip</a:t>
            </a:r>
            <a:r>
              <a:rPr lang="en-US" dirty="0"/>
              <a:t>  </a:t>
            </a:r>
            <a:r>
              <a:rPr lang="en-US" dirty="0" err="1"/>
              <a:t>udp</a:t>
            </a:r>
            <a:endParaRPr lang="en-US" dirty="0"/>
          </a:p>
          <a:p>
            <a:pPr algn="r" rtl="1"/>
            <a:r>
              <a:rPr lang="en-US" dirty="0"/>
              <a:t>Test </a:t>
            </a:r>
            <a:r>
              <a:rPr lang="en-US" dirty="0" err="1"/>
              <a:t>tcp</a:t>
            </a:r>
            <a:endParaRPr lang="en-US" dirty="0"/>
          </a:p>
          <a:p>
            <a:pPr algn="r" rtl="1"/>
            <a:r>
              <a:rPr lang="en-US" dirty="0"/>
              <a:t>Test http</a:t>
            </a:r>
          </a:p>
          <a:p>
            <a:pPr algn="r" rtl="1"/>
            <a:r>
              <a:rPr lang="en-US" dirty="0"/>
              <a:t>Test </a:t>
            </a:r>
            <a:r>
              <a:rPr lang="en-US" dirty="0" err="1"/>
              <a:t>mqtt</a:t>
            </a:r>
            <a:endParaRPr lang="en-US" dirty="0"/>
          </a:p>
          <a:p>
            <a:pPr algn="r" rtl="1"/>
            <a:r>
              <a:rPr lang="fa-IR" dirty="0"/>
              <a:t>بوت لودر</a:t>
            </a:r>
            <a:endParaRPr lang="en-US" dirty="0"/>
          </a:p>
          <a:p>
            <a:pPr algn="r" rtl="1"/>
            <a:endParaRPr lang="en-US" dirty="0"/>
          </a:p>
        </p:txBody>
      </p:sp>
    </p:spTree>
    <p:extLst>
      <p:ext uri="{BB962C8B-B14F-4D97-AF65-F5344CB8AC3E}">
        <p14:creationId xmlns:p14="http://schemas.microsoft.com/office/powerpoint/2010/main" val="646879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36277-D712-F44D-AC95-BE44335717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88A29A-2D87-3013-CB5B-888DEBBADFD4}"/>
              </a:ext>
            </a:extLst>
          </p:cNvPr>
          <p:cNvSpPr>
            <a:spLocks noGrp="1"/>
          </p:cNvSpPr>
          <p:nvPr>
            <p:ph type="title"/>
          </p:nvPr>
        </p:nvSpPr>
        <p:spPr/>
        <p:txBody>
          <a:bodyPr/>
          <a:lstStyle/>
          <a:p>
            <a:pPr rtl="1"/>
            <a:r>
              <a:rPr lang="fa-IR" dirty="0">
                <a:cs typeface="B Nazanin" panose="00000400000000000000" pitchFamily="2" charset="-78"/>
              </a:rPr>
              <a:t>جلسه ی 6</a:t>
            </a:r>
            <a:endParaRPr lang="en-US" dirty="0">
              <a:cs typeface="B Nazanin" panose="00000400000000000000" pitchFamily="2" charset="-78"/>
            </a:endParaRPr>
          </a:p>
        </p:txBody>
      </p:sp>
      <p:sp>
        <p:nvSpPr>
          <p:cNvPr id="3" name="Content Placeholder 2">
            <a:extLst>
              <a:ext uri="{FF2B5EF4-FFF2-40B4-BE49-F238E27FC236}">
                <a16:creationId xmlns:a16="http://schemas.microsoft.com/office/drawing/2014/main" id="{0BE4F7C9-56F4-0280-7034-92C21F2473CF}"/>
              </a:ext>
            </a:extLst>
          </p:cNvPr>
          <p:cNvSpPr>
            <a:spLocks noGrp="1"/>
          </p:cNvSpPr>
          <p:nvPr>
            <p:ph idx="1"/>
          </p:nvPr>
        </p:nvSpPr>
        <p:spPr>
          <a:xfrm>
            <a:off x="457200" y="1600200"/>
            <a:ext cx="8229600" cy="780535"/>
          </a:xfrm>
        </p:spPr>
        <p:txBody>
          <a:bodyPr/>
          <a:lstStyle/>
          <a:p>
            <a:pPr marL="0" indent="0" algn="ctr" rtl="1">
              <a:buNone/>
            </a:pPr>
            <a:r>
              <a:rPr lang="fa-IR" dirty="0">
                <a:cs typeface="B Nazanin" panose="00000400000000000000" pitchFamily="2" charset="-78"/>
              </a:rPr>
              <a:t>پروژه </a:t>
            </a:r>
            <a:r>
              <a:rPr lang="en-US" dirty="0">
                <a:cs typeface="B Nazanin" panose="00000400000000000000" pitchFamily="2" charset="-78"/>
              </a:rPr>
              <a:t>IoT</a:t>
            </a:r>
            <a:r>
              <a:rPr lang="fa-IR" dirty="0">
                <a:cs typeface="B Nazanin" panose="00000400000000000000" pitchFamily="2" charset="-78"/>
              </a:rPr>
              <a:t> ارسال داده به سرور ابری</a:t>
            </a:r>
            <a:endParaRPr lang="en-US" dirty="0">
              <a:cs typeface="B Nazanin" panose="00000400000000000000" pitchFamily="2" charset="-78"/>
            </a:endParaRPr>
          </a:p>
        </p:txBody>
      </p:sp>
      <p:sp>
        <p:nvSpPr>
          <p:cNvPr id="8" name="TextBox 7">
            <a:extLst>
              <a:ext uri="{FF2B5EF4-FFF2-40B4-BE49-F238E27FC236}">
                <a16:creationId xmlns:a16="http://schemas.microsoft.com/office/drawing/2014/main" id="{5FA090B9-B00C-F01C-EB6A-1DFFDA81C9D9}"/>
              </a:ext>
            </a:extLst>
          </p:cNvPr>
          <p:cNvSpPr txBox="1"/>
          <p:nvPr/>
        </p:nvSpPr>
        <p:spPr>
          <a:xfrm>
            <a:off x="286265" y="2752110"/>
            <a:ext cx="8571470" cy="1754326"/>
          </a:xfrm>
          <a:prstGeom prst="rect">
            <a:avLst/>
          </a:prstGeom>
          <a:noFill/>
        </p:spPr>
        <p:txBody>
          <a:bodyPr wrap="square">
            <a:spAutoFit/>
          </a:bodyPr>
          <a:lstStyle/>
          <a:p>
            <a:pPr algn="r" rtl="1"/>
            <a:r>
              <a:rPr lang="fa-IR">
                <a:cs typeface="B Nazanin" panose="00000400000000000000" pitchFamily="2" charset="-78"/>
              </a:rPr>
              <a:t>هدف : اتصال پروژه به اینترنت و ارسال داده</a:t>
            </a:r>
          </a:p>
          <a:p>
            <a:pPr algn="r" rtl="1"/>
            <a:r>
              <a:rPr lang="fa-IR">
                <a:cs typeface="B Nazanin" panose="00000400000000000000" pitchFamily="2" charset="-78"/>
              </a:rPr>
              <a:t>مباحث:</a:t>
            </a:r>
          </a:p>
          <a:p>
            <a:pPr algn="r" rtl="1"/>
            <a:r>
              <a:rPr lang="fa-IR">
                <a:cs typeface="B Nazanin" panose="00000400000000000000" pitchFamily="2" charset="-78"/>
              </a:rPr>
              <a:t>•	مرور </a:t>
            </a:r>
            <a:r>
              <a:rPr lang="en-US">
                <a:cs typeface="B Nazanin" panose="00000400000000000000" pitchFamily="2" charset="-78"/>
              </a:rPr>
              <a:t>MQTT </a:t>
            </a:r>
            <a:r>
              <a:rPr lang="fa-IR">
                <a:cs typeface="B Nazanin" panose="00000400000000000000" pitchFamily="2" charset="-78"/>
              </a:rPr>
              <a:t>و </a:t>
            </a:r>
            <a:r>
              <a:rPr lang="en-US">
                <a:cs typeface="B Nazanin" panose="00000400000000000000" pitchFamily="2" charset="-78"/>
              </a:rPr>
              <a:t>HTTP Protocols</a:t>
            </a:r>
          </a:p>
          <a:p>
            <a:pPr algn="r" rtl="1"/>
            <a:r>
              <a:rPr lang="en-US">
                <a:cs typeface="B Nazanin" panose="00000400000000000000" pitchFamily="2" charset="-78"/>
              </a:rPr>
              <a:t>•	</a:t>
            </a:r>
            <a:r>
              <a:rPr lang="fa-IR">
                <a:cs typeface="B Nazanin" panose="00000400000000000000" pitchFamily="2" charset="-78"/>
              </a:rPr>
              <a:t>کار با </a:t>
            </a:r>
            <a:r>
              <a:rPr lang="en-US">
                <a:cs typeface="B Nazanin" panose="00000400000000000000" pitchFamily="2" charset="-78"/>
              </a:rPr>
              <a:t>broker </a:t>
            </a:r>
            <a:r>
              <a:rPr lang="fa-IR">
                <a:cs typeface="B Nazanin" panose="00000400000000000000" pitchFamily="2" charset="-78"/>
              </a:rPr>
              <a:t>مثلاً </a:t>
            </a:r>
            <a:r>
              <a:rPr lang="en-US">
                <a:cs typeface="B Nazanin" panose="00000400000000000000" pitchFamily="2" charset="-78"/>
              </a:rPr>
              <a:t>Mosquitto  </a:t>
            </a:r>
          </a:p>
          <a:p>
            <a:pPr algn="r" rtl="1"/>
            <a:r>
              <a:rPr lang="en-US">
                <a:cs typeface="B Nazanin" panose="00000400000000000000" pitchFamily="2" charset="-78"/>
              </a:rPr>
              <a:t>•	</a:t>
            </a:r>
            <a:r>
              <a:rPr lang="fa-IR">
                <a:cs typeface="B Nazanin" panose="00000400000000000000" pitchFamily="2" charset="-78"/>
              </a:rPr>
              <a:t>ارتباط </a:t>
            </a:r>
            <a:r>
              <a:rPr lang="en-US">
                <a:cs typeface="B Nazanin" panose="00000400000000000000" pitchFamily="2" charset="-78"/>
              </a:rPr>
              <a:t>STM32 </a:t>
            </a:r>
            <a:r>
              <a:rPr lang="fa-IR">
                <a:cs typeface="B Nazanin" panose="00000400000000000000" pitchFamily="2" charset="-78"/>
              </a:rPr>
              <a:t>با </a:t>
            </a:r>
            <a:r>
              <a:rPr lang="en-US">
                <a:cs typeface="B Nazanin" panose="00000400000000000000" pitchFamily="2" charset="-78"/>
              </a:rPr>
              <a:t>MQTT Broker  </a:t>
            </a:r>
            <a:r>
              <a:rPr lang="fa-IR">
                <a:cs typeface="B Nazanin" panose="00000400000000000000" pitchFamily="2" charset="-78"/>
              </a:rPr>
              <a:t>مثلاً </a:t>
            </a:r>
            <a:r>
              <a:rPr lang="en-US">
                <a:cs typeface="B Nazanin" panose="00000400000000000000" pitchFamily="2" charset="-78"/>
              </a:rPr>
              <a:t>HiveMQ </a:t>
            </a:r>
            <a:r>
              <a:rPr lang="fa-IR">
                <a:cs typeface="B Nazanin" panose="00000400000000000000" pitchFamily="2" charset="-78"/>
              </a:rPr>
              <a:t>یا </a:t>
            </a:r>
            <a:r>
              <a:rPr lang="en-US">
                <a:cs typeface="B Nazanin" panose="00000400000000000000" pitchFamily="2" charset="-78"/>
              </a:rPr>
              <a:t>CloudMQTT </a:t>
            </a:r>
          </a:p>
          <a:p>
            <a:pPr algn="r" rtl="1"/>
            <a:r>
              <a:rPr lang="fa-IR">
                <a:cs typeface="B Nazanin" panose="00000400000000000000" pitchFamily="2" charset="-78"/>
              </a:rPr>
              <a:t>پروژه: طراحی یک سیستم مانیتورینگ دما/رطوبت که داده‌ها را به </a:t>
            </a:r>
            <a:r>
              <a:rPr lang="en-US">
                <a:cs typeface="B Nazanin" panose="00000400000000000000" pitchFamily="2" charset="-78"/>
              </a:rPr>
              <a:t>MQTT Broker </a:t>
            </a:r>
            <a:r>
              <a:rPr lang="fa-IR">
                <a:cs typeface="B Nazanin" panose="00000400000000000000" pitchFamily="2" charset="-78"/>
              </a:rPr>
              <a:t>ارسال می‌کند</a:t>
            </a:r>
            <a:endParaRPr lang="fa-IR" dirty="0">
              <a:cs typeface="B Nazanin" panose="00000400000000000000" pitchFamily="2" charset="-78"/>
            </a:endParaRPr>
          </a:p>
        </p:txBody>
      </p:sp>
    </p:spTree>
    <p:extLst>
      <p:ext uri="{BB962C8B-B14F-4D97-AF65-F5344CB8AC3E}">
        <p14:creationId xmlns:p14="http://schemas.microsoft.com/office/powerpoint/2010/main" val="3136019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6DAE4-BE7E-3EC9-564A-429DD4F624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6F8348-E153-9CB7-0C66-8186282C80D9}"/>
              </a:ext>
            </a:extLst>
          </p:cNvPr>
          <p:cNvSpPr>
            <a:spLocks noGrp="1"/>
          </p:cNvSpPr>
          <p:nvPr>
            <p:ph type="title"/>
          </p:nvPr>
        </p:nvSpPr>
        <p:spPr/>
        <p:txBody>
          <a:bodyPr/>
          <a:lstStyle/>
          <a:p>
            <a:pPr rtl="1"/>
            <a:r>
              <a:rPr lang="fa-IR" dirty="0">
                <a:cs typeface="B Nazanin" panose="00000400000000000000" pitchFamily="2" charset="-78"/>
              </a:rPr>
              <a:t>جلسه ی 7</a:t>
            </a:r>
            <a:endParaRPr lang="en-US" dirty="0">
              <a:cs typeface="B Nazanin" panose="00000400000000000000" pitchFamily="2" charset="-78"/>
            </a:endParaRPr>
          </a:p>
        </p:txBody>
      </p:sp>
      <p:sp>
        <p:nvSpPr>
          <p:cNvPr id="3" name="Content Placeholder 2">
            <a:extLst>
              <a:ext uri="{FF2B5EF4-FFF2-40B4-BE49-F238E27FC236}">
                <a16:creationId xmlns:a16="http://schemas.microsoft.com/office/drawing/2014/main" id="{8A5E4E74-2471-9058-04C3-01ACB025BFF5}"/>
              </a:ext>
            </a:extLst>
          </p:cNvPr>
          <p:cNvSpPr>
            <a:spLocks noGrp="1"/>
          </p:cNvSpPr>
          <p:nvPr>
            <p:ph idx="1"/>
          </p:nvPr>
        </p:nvSpPr>
        <p:spPr>
          <a:xfrm>
            <a:off x="457200" y="1600200"/>
            <a:ext cx="8229600" cy="780535"/>
          </a:xfrm>
        </p:spPr>
        <p:txBody>
          <a:bodyPr/>
          <a:lstStyle/>
          <a:p>
            <a:pPr marL="0" indent="0" algn="ctr" rtl="1">
              <a:buNone/>
            </a:pPr>
            <a:r>
              <a:rPr lang="fa-IR" dirty="0">
                <a:cs typeface="B Nazanin" panose="00000400000000000000" pitchFamily="2" charset="-78"/>
              </a:rPr>
              <a:t>پروژه </a:t>
            </a:r>
            <a:r>
              <a:rPr lang="en-US" dirty="0">
                <a:cs typeface="B Nazanin" panose="00000400000000000000" pitchFamily="2" charset="-78"/>
              </a:rPr>
              <a:t>IoT – </a:t>
            </a:r>
            <a:r>
              <a:rPr lang="fa-IR" dirty="0">
                <a:cs typeface="B Nazanin" panose="00000400000000000000" pitchFamily="2" charset="-78"/>
              </a:rPr>
              <a:t>کنترل از راه دور و </a:t>
            </a:r>
            <a:r>
              <a:rPr lang="en-US" dirty="0">
                <a:cs typeface="B Nazanin" panose="00000400000000000000" pitchFamily="2" charset="-78"/>
              </a:rPr>
              <a:t>Dashboard</a:t>
            </a:r>
          </a:p>
        </p:txBody>
      </p:sp>
      <p:sp>
        <p:nvSpPr>
          <p:cNvPr id="8" name="TextBox 7">
            <a:extLst>
              <a:ext uri="{FF2B5EF4-FFF2-40B4-BE49-F238E27FC236}">
                <a16:creationId xmlns:a16="http://schemas.microsoft.com/office/drawing/2014/main" id="{18FD15A9-6A20-14D2-60A4-0ECCCA15AF1F}"/>
              </a:ext>
            </a:extLst>
          </p:cNvPr>
          <p:cNvSpPr txBox="1"/>
          <p:nvPr/>
        </p:nvSpPr>
        <p:spPr>
          <a:xfrm>
            <a:off x="286265" y="2752110"/>
            <a:ext cx="8571470" cy="1754326"/>
          </a:xfrm>
          <a:prstGeom prst="rect">
            <a:avLst/>
          </a:prstGeom>
          <a:noFill/>
        </p:spPr>
        <p:txBody>
          <a:bodyPr wrap="square">
            <a:spAutoFit/>
          </a:bodyPr>
          <a:lstStyle/>
          <a:p>
            <a:pPr algn="r" rtl="1"/>
            <a:r>
              <a:rPr lang="fa-IR">
                <a:cs typeface="B Nazanin" panose="00000400000000000000" pitchFamily="2" charset="-78"/>
              </a:rPr>
              <a:t>هدف: دریافت فرمان از اینترنت و کنترل دستگاه</a:t>
            </a:r>
          </a:p>
          <a:p>
            <a:pPr algn="r" rtl="1"/>
            <a:r>
              <a:rPr lang="fa-IR">
                <a:cs typeface="B Nazanin" panose="00000400000000000000" pitchFamily="2" charset="-78"/>
              </a:rPr>
              <a:t>مباحث:</a:t>
            </a:r>
          </a:p>
          <a:p>
            <a:pPr algn="r" rtl="1"/>
            <a:r>
              <a:rPr lang="fa-IR">
                <a:cs typeface="B Nazanin" panose="00000400000000000000" pitchFamily="2" charset="-78"/>
              </a:rPr>
              <a:t>•	پیاده‌سازی قابلیت </a:t>
            </a:r>
            <a:r>
              <a:rPr lang="en-US">
                <a:cs typeface="B Nazanin" panose="00000400000000000000" pitchFamily="2" charset="-78"/>
              </a:rPr>
              <a:t>Subscribe </a:t>
            </a:r>
            <a:r>
              <a:rPr lang="fa-IR">
                <a:cs typeface="B Nazanin" panose="00000400000000000000" pitchFamily="2" charset="-78"/>
              </a:rPr>
              <a:t>در </a:t>
            </a:r>
            <a:r>
              <a:rPr lang="en-US">
                <a:cs typeface="B Nazanin" panose="00000400000000000000" pitchFamily="2" charset="-78"/>
              </a:rPr>
              <a:t>MQTT</a:t>
            </a:r>
          </a:p>
          <a:p>
            <a:pPr algn="r" rtl="1"/>
            <a:r>
              <a:rPr lang="en-US">
                <a:cs typeface="B Nazanin" panose="00000400000000000000" pitchFamily="2" charset="-78"/>
              </a:rPr>
              <a:t>•	</a:t>
            </a:r>
            <a:r>
              <a:rPr lang="fa-IR">
                <a:cs typeface="B Nazanin" panose="00000400000000000000" pitchFamily="2" charset="-78"/>
              </a:rPr>
              <a:t>طراحی داشبورد تحت وب ساده برای مانیتور و کنترل مثلاً با </a:t>
            </a:r>
            <a:r>
              <a:rPr lang="en-US">
                <a:cs typeface="B Nazanin" panose="00000400000000000000" pitchFamily="2" charset="-78"/>
              </a:rPr>
              <a:t>Node-RED </a:t>
            </a:r>
            <a:r>
              <a:rPr lang="fa-IR">
                <a:cs typeface="B Nazanin" panose="00000400000000000000" pitchFamily="2" charset="-78"/>
              </a:rPr>
              <a:t>یا </a:t>
            </a:r>
            <a:r>
              <a:rPr lang="en-US">
                <a:cs typeface="B Nazanin" panose="00000400000000000000" pitchFamily="2" charset="-78"/>
              </a:rPr>
              <a:t>Blynk </a:t>
            </a:r>
          </a:p>
          <a:p>
            <a:pPr algn="r" rtl="1"/>
            <a:r>
              <a:rPr lang="en-US">
                <a:cs typeface="B Nazanin" panose="00000400000000000000" pitchFamily="2" charset="-78"/>
              </a:rPr>
              <a:t>•	</a:t>
            </a:r>
            <a:r>
              <a:rPr lang="fa-IR">
                <a:cs typeface="B Nazanin" panose="00000400000000000000" pitchFamily="2" charset="-78"/>
              </a:rPr>
              <a:t>بهینه ‌سازی حافظه و اولویت‌بندی تسک‌ها در پروژه</a:t>
            </a:r>
          </a:p>
          <a:p>
            <a:pPr algn="r" rtl="1"/>
            <a:r>
              <a:rPr lang="fa-IR">
                <a:cs typeface="B Nazanin" panose="00000400000000000000" pitchFamily="2" charset="-78"/>
              </a:rPr>
              <a:t>پروژه: کنترل رله یا </a:t>
            </a:r>
            <a:r>
              <a:rPr lang="en-US">
                <a:cs typeface="B Nazanin" panose="00000400000000000000" pitchFamily="2" charset="-78"/>
              </a:rPr>
              <a:t>LED </a:t>
            </a:r>
            <a:r>
              <a:rPr lang="fa-IR">
                <a:cs typeface="B Nazanin" panose="00000400000000000000" pitchFamily="2" charset="-78"/>
              </a:rPr>
              <a:t>از طریق اینترنت با </a:t>
            </a:r>
            <a:r>
              <a:rPr lang="en-US">
                <a:cs typeface="B Nazanin" panose="00000400000000000000" pitchFamily="2" charset="-78"/>
              </a:rPr>
              <a:t>Dashboard </a:t>
            </a:r>
            <a:endParaRPr lang="en-US" dirty="0">
              <a:cs typeface="B Nazanin" panose="00000400000000000000" pitchFamily="2" charset="-78"/>
            </a:endParaRPr>
          </a:p>
        </p:txBody>
      </p:sp>
    </p:spTree>
    <p:extLst>
      <p:ext uri="{BB962C8B-B14F-4D97-AF65-F5344CB8AC3E}">
        <p14:creationId xmlns:p14="http://schemas.microsoft.com/office/powerpoint/2010/main" val="3402097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88860-3567-DB22-952A-0314B2103E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C28EC8-F5E8-34AB-B3BB-472A959E1DFE}"/>
              </a:ext>
            </a:extLst>
          </p:cNvPr>
          <p:cNvSpPr>
            <a:spLocks noGrp="1"/>
          </p:cNvSpPr>
          <p:nvPr>
            <p:ph type="title"/>
          </p:nvPr>
        </p:nvSpPr>
        <p:spPr/>
        <p:txBody>
          <a:bodyPr/>
          <a:lstStyle/>
          <a:p>
            <a:pPr rtl="1"/>
            <a:r>
              <a:rPr lang="fa-IR" dirty="0">
                <a:cs typeface="B Nazanin" panose="00000400000000000000" pitchFamily="2" charset="-78"/>
              </a:rPr>
              <a:t>جلسه ی 8</a:t>
            </a:r>
            <a:endParaRPr lang="en-US" dirty="0">
              <a:cs typeface="B Nazanin" panose="00000400000000000000" pitchFamily="2" charset="-78"/>
            </a:endParaRPr>
          </a:p>
        </p:txBody>
      </p:sp>
      <p:sp>
        <p:nvSpPr>
          <p:cNvPr id="3" name="Content Placeholder 2">
            <a:extLst>
              <a:ext uri="{FF2B5EF4-FFF2-40B4-BE49-F238E27FC236}">
                <a16:creationId xmlns:a16="http://schemas.microsoft.com/office/drawing/2014/main" id="{6D77390E-8266-E23E-151A-9EF14E246990}"/>
              </a:ext>
            </a:extLst>
          </p:cNvPr>
          <p:cNvSpPr>
            <a:spLocks noGrp="1"/>
          </p:cNvSpPr>
          <p:nvPr>
            <p:ph idx="1"/>
          </p:nvPr>
        </p:nvSpPr>
        <p:spPr>
          <a:xfrm>
            <a:off x="457200" y="1600200"/>
            <a:ext cx="8229600" cy="780535"/>
          </a:xfrm>
        </p:spPr>
        <p:txBody>
          <a:bodyPr/>
          <a:lstStyle/>
          <a:p>
            <a:pPr marL="0" indent="0" algn="ctr" rtl="1">
              <a:buNone/>
            </a:pPr>
            <a:r>
              <a:rPr lang="fa-IR" dirty="0">
                <a:cs typeface="B Nazanin" panose="00000400000000000000" pitchFamily="2" charset="-78"/>
              </a:rPr>
              <a:t>دیباگ، بهینه‌سازی و نهایی‌سازی پروژه</a:t>
            </a:r>
            <a:endParaRPr lang="en-US" dirty="0">
              <a:cs typeface="B Nazanin" panose="00000400000000000000" pitchFamily="2" charset="-78"/>
            </a:endParaRPr>
          </a:p>
        </p:txBody>
      </p:sp>
      <p:sp>
        <p:nvSpPr>
          <p:cNvPr id="8" name="TextBox 7">
            <a:extLst>
              <a:ext uri="{FF2B5EF4-FFF2-40B4-BE49-F238E27FC236}">
                <a16:creationId xmlns:a16="http://schemas.microsoft.com/office/drawing/2014/main" id="{C6A77547-B132-C0B6-BD2C-F52D83B0FDFD}"/>
              </a:ext>
            </a:extLst>
          </p:cNvPr>
          <p:cNvSpPr txBox="1"/>
          <p:nvPr/>
        </p:nvSpPr>
        <p:spPr>
          <a:xfrm>
            <a:off x="286265" y="2752110"/>
            <a:ext cx="8571470" cy="1754326"/>
          </a:xfrm>
          <a:prstGeom prst="rect">
            <a:avLst/>
          </a:prstGeom>
          <a:noFill/>
        </p:spPr>
        <p:txBody>
          <a:bodyPr wrap="square">
            <a:spAutoFit/>
          </a:bodyPr>
          <a:lstStyle/>
          <a:p>
            <a:pPr algn="r" rtl="1"/>
            <a:r>
              <a:rPr lang="fa-IR">
                <a:cs typeface="B Nazanin" panose="00000400000000000000" pitchFamily="2" charset="-78"/>
              </a:rPr>
              <a:t>هدف: جمع‌بندی و حرفه‌ای‌سازی پروژه</a:t>
            </a:r>
          </a:p>
          <a:p>
            <a:pPr algn="r" rtl="1"/>
            <a:r>
              <a:rPr lang="fa-IR">
                <a:cs typeface="B Nazanin" panose="00000400000000000000" pitchFamily="2" charset="-78"/>
              </a:rPr>
              <a:t>مباحث:</a:t>
            </a:r>
          </a:p>
          <a:p>
            <a:pPr algn="r" rtl="1"/>
            <a:r>
              <a:rPr lang="fa-IR">
                <a:cs typeface="B Nazanin" panose="00000400000000000000" pitchFamily="2" charset="-78"/>
              </a:rPr>
              <a:t>•	تکنیک‌های </a:t>
            </a:r>
            <a:r>
              <a:rPr lang="en-US">
                <a:cs typeface="B Nazanin" panose="00000400000000000000" pitchFamily="2" charset="-78"/>
              </a:rPr>
              <a:t>Debug </a:t>
            </a:r>
            <a:r>
              <a:rPr lang="fa-IR">
                <a:cs typeface="B Nazanin" panose="00000400000000000000" pitchFamily="2" charset="-78"/>
              </a:rPr>
              <a:t>در    </a:t>
            </a:r>
            <a:r>
              <a:rPr lang="en-US">
                <a:cs typeface="B Nazanin" panose="00000400000000000000" pitchFamily="2" charset="-78"/>
              </a:rPr>
              <a:t>FreeRTOS  </a:t>
            </a:r>
            <a:r>
              <a:rPr lang="fa-IR">
                <a:cs typeface="B Nazanin" panose="00000400000000000000" pitchFamily="2" charset="-78"/>
              </a:rPr>
              <a:t>با کمک </a:t>
            </a:r>
            <a:r>
              <a:rPr lang="en-US">
                <a:cs typeface="B Nazanin" panose="00000400000000000000" pitchFamily="2" charset="-78"/>
              </a:rPr>
              <a:t>Tracealyzer </a:t>
            </a:r>
          </a:p>
          <a:p>
            <a:pPr algn="r" rtl="1"/>
            <a:r>
              <a:rPr lang="en-US">
                <a:cs typeface="B Nazanin" panose="00000400000000000000" pitchFamily="2" charset="-78"/>
              </a:rPr>
              <a:t>•	</a:t>
            </a:r>
            <a:r>
              <a:rPr lang="fa-IR">
                <a:cs typeface="B Nazanin" panose="00000400000000000000" pitchFamily="2" charset="-78"/>
              </a:rPr>
              <a:t>مدیریت حافظه و </a:t>
            </a:r>
            <a:r>
              <a:rPr lang="en-US">
                <a:cs typeface="B Nazanin" panose="00000400000000000000" pitchFamily="2" charset="-78"/>
              </a:rPr>
              <a:t>Heap</a:t>
            </a:r>
          </a:p>
          <a:p>
            <a:pPr algn="r" rtl="1"/>
            <a:r>
              <a:rPr lang="en-US">
                <a:cs typeface="B Nazanin" panose="00000400000000000000" pitchFamily="2" charset="-78"/>
              </a:rPr>
              <a:t>•	</a:t>
            </a:r>
            <a:r>
              <a:rPr lang="fa-IR">
                <a:cs typeface="B Nazanin" panose="00000400000000000000" pitchFamily="2" charset="-78"/>
              </a:rPr>
              <a:t>نکات حرفه‌ای در طراحی نرم‌افزار </a:t>
            </a:r>
            <a:r>
              <a:rPr lang="en-US">
                <a:cs typeface="B Nazanin" panose="00000400000000000000" pitchFamily="2" charset="-78"/>
              </a:rPr>
              <a:t>Real-Time</a:t>
            </a:r>
          </a:p>
          <a:p>
            <a:pPr algn="r" rtl="1"/>
            <a:r>
              <a:rPr lang="fa-IR">
                <a:cs typeface="B Nazanin" panose="00000400000000000000" pitchFamily="2" charset="-78"/>
              </a:rPr>
              <a:t>پروژه نهایی:  سیستم </a:t>
            </a:r>
            <a:r>
              <a:rPr lang="en-US">
                <a:cs typeface="B Nazanin" panose="00000400000000000000" pitchFamily="2" charset="-78"/>
              </a:rPr>
              <a:t>IoT </a:t>
            </a:r>
            <a:r>
              <a:rPr lang="fa-IR">
                <a:cs typeface="B Nazanin" panose="00000400000000000000" pitchFamily="2" charset="-78"/>
              </a:rPr>
              <a:t>کامل شامل سنجش، ارسال داده به سرور و کنترل از راه دور</a:t>
            </a:r>
            <a:endParaRPr lang="fa-IR" dirty="0">
              <a:cs typeface="B Nazanin" panose="00000400000000000000" pitchFamily="2" charset="-78"/>
            </a:endParaRPr>
          </a:p>
        </p:txBody>
      </p:sp>
    </p:spTree>
    <p:extLst>
      <p:ext uri="{BB962C8B-B14F-4D97-AF65-F5344CB8AC3E}">
        <p14:creationId xmlns:p14="http://schemas.microsoft.com/office/powerpoint/2010/main" val="3434827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B1635-F164-AF84-55F3-CB5EAB2054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299C7-BC4C-61FC-7C1A-60BB670E33A4}"/>
              </a:ext>
            </a:extLst>
          </p:cNvPr>
          <p:cNvSpPr>
            <a:spLocks noGrp="1"/>
          </p:cNvSpPr>
          <p:nvPr>
            <p:ph type="title"/>
          </p:nvPr>
        </p:nvSpPr>
        <p:spPr/>
        <p:txBody>
          <a:bodyPr/>
          <a:lstStyle/>
          <a:p>
            <a:pPr rtl="1"/>
            <a:r>
              <a:rPr lang="fa-IR" dirty="0">
                <a:cs typeface="B Nazanin" panose="00000400000000000000" pitchFamily="2" charset="-78"/>
              </a:rPr>
              <a:t>جلسه ی 9</a:t>
            </a:r>
            <a:endParaRPr lang="en-US" dirty="0">
              <a:cs typeface="B Nazanin" panose="00000400000000000000" pitchFamily="2" charset="-78"/>
            </a:endParaRPr>
          </a:p>
        </p:txBody>
      </p:sp>
      <p:sp>
        <p:nvSpPr>
          <p:cNvPr id="3" name="Content Placeholder 2">
            <a:extLst>
              <a:ext uri="{FF2B5EF4-FFF2-40B4-BE49-F238E27FC236}">
                <a16:creationId xmlns:a16="http://schemas.microsoft.com/office/drawing/2014/main" id="{633DD1FA-3B43-07FF-86EE-FB2E508CF7EF}"/>
              </a:ext>
            </a:extLst>
          </p:cNvPr>
          <p:cNvSpPr>
            <a:spLocks noGrp="1"/>
          </p:cNvSpPr>
          <p:nvPr>
            <p:ph idx="1"/>
          </p:nvPr>
        </p:nvSpPr>
        <p:spPr>
          <a:xfrm>
            <a:off x="457200" y="1600200"/>
            <a:ext cx="8229600" cy="780535"/>
          </a:xfrm>
        </p:spPr>
        <p:txBody>
          <a:bodyPr/>
          <a:lstStyle/>
          <a:p>
            <a:pPr marL="0" indent="0" algn="ctr" rtl="1">
              <a:buNone/>
            </a:pPr>
            <a:r>
              <a:rPr lang="fa-IR" dirty="0">
                <a:cs typeface="B Nazanin" panose="00000400000000000000" pitchFamily="2" charset="-78"/>
              </a:rPr>
              <a:t>پروژه ی </a:t>
            </a:r>
            <a:endParaRPr lang="en-US" dirty="0">
              <a:cs typeface="B Nazanin" panose="00000400000000000000" pitchFamily="2" charset="-78"/>
            </a:endParaRPr>
          </a:p>
        </p:txBody>
      </p:sp>
      <p:sp>
        <p:nvSpPr>
          <p:cNvPr id="8" name="TextBox 7">
            <a:extLst>
              <a:ext uri="{FF2B5EF4-FFF2-40B4-BE49-F238E27FC236}">
                <a16:creationId xmlns:a16="http://schemas.microsoft.com/office/drawing/2014/main" id="{F6A9DE6D-1853-E134-E982-DC1980984B43}"/>
              </a:ext>
            </a:extLst>
          </p:cNvPr>
          <p:cNvSpPr txBox="1"/>
          <p:nvPr/>
        </p:nvSpPr>
        <p:spPr>
          <a:xfrm>
            <a:off x="286265" y="2752110"/>
            <a:ext cx="8571470" cy="369332"/>
          </a:xfrm>
          <a:prstGeom prst="rect">
            <a:avLst/>
          </a:prstGeom>
          <a:noFill/>
        </p:spPr>
        <p:txBody>
          <a:bodyPr wrap="square">
            <a:spAutoFit/>
          </a:bodyPr>
          <a:lstStyle/>
          <a:p>
            <a:pPr marL="285750" indent="-285750" algn="r" rtl="1">
              <a:buFont typeface="Arial" panose="020B0604020202020204" pitchFamily="34" charset="0"/>
              <a:buChar char="•"/>
            </a:pPr>
            <a:r>
              <a:rPr lang="fa-IR" dirty="0">
                <a:cs typeface="B Nazanin" panose="00000400000000000000" pitchFamily="2" charset="-78"/>
              </a:rPr>
              <a:t>بررسی</a:t>
            </a:r>
          </a:p>
        </p:txBody>
      </p:sp>
    </p:spTree>
    <p:extLst>
      <p:ext uri="{BB962C8B-B14F-4D97-AF65-F5344CB8AC3E}">
        <p14:creationId xmlns:p14="http://schemas.microsoft.com/office/powerpoint/2010/main" val="4138362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33156-EFE1-1407-34BE-226D3932A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6433B5-6EC9-659C-24F1-DBCA636EDD19}"/>
              </a:ext>
            </a:extLst>
          </p:cNvPr>
          <p:cNvSpPr>
            <a:spLocks noGrp="1"/>
          </p:cNvSpPr>
          <p:nvPr>
            <p:ph type="title"/>
          </p:nvPr>
        </p:nvSpPr>
        <p:spPr/>
        <p:txBody>
          <a:bodyPr/>
          <a:lstStyle/>
          <a:p>
            <a:pPr rtl="1"/>
            <a:r>
              <a:rPr lang="fa-IR" dirty="0">
                <a:cs typeface="B Nazanin" panose="00000400000000000000" pitchFamily="2" charset="-78"/>
              </a:rPr>
              <a:t>جلسه ی 10</a:t>
            </a:r>
            <a:endParaRPr lang="en-US" dirty="0">
              <a:cs typeface="B Nazanin" panose="00000400000000000000" pitchFamily="2" charset="-78"/>
            </a:endParaRPr>
          </a:p>
        </p:txBody>
      </p:sp>
      <p:sp>
        <p:nvSpPr>
          <p:cNvPr id="3" name="Content Placeholder 2">
            <a:extLst>
              <a:ext uri="{FF2B5EF4-FFF2-40B4-BE49-F238E27FC236}">
                <a16:creationId xmlns:a16="http://schemas.microsoft.com/office/drawing/2014/main" id="{CFF9856A-F276-4D27-571A-6026FBB3BCDA}"/>
              </a:ext>
            </a:extLst>
          </p:cNvPr>
          <p:cNvSpPr>
            <a:spLocks noGrp="1"/>
          </p:cNvSpPr>
          <p:nvPr>
            <p:ph idx="1"/>
          </p:nvPr>
        </p:nvSpPr>
        <p:spPr>
          <a:xfrm>
            <a:off x="457200" y="1600200"/>
            <a:ext cx="8229600" cy="780535"/>
          </a:xfrm>
        </p:spPr>
        <p:txBody>
          <a:bodyPr/>
          <a:lstStyle/>
          <a:p>
            <a:pPr marL="0" indent="0" algn="ctr" rtl="1">
              <a:buNone/>
            </a:pPr>
            <a:r>
              <a:rPr lang="fa-IR" dirty="0">
                <a:cs typeface="B Nazanin" panose="00000400000000000000" pitchFamily="2" charset="-78"/>
              </a:rPr>
              <a:t>پروژه ی </a:t>
            </a:r>
            <a:endParaRPr lang="en-US" dirty="0">
              <a:cs typeface="B Nazanin" panose="00000400000000000000" pitchFamily="2" charset="-78"/>
            </a:endParaRPr>
          </a:p>
        </p:txBody>
      </p:sp>
      <p:sp>
        <p:nvSpPr>
          <p:cNvPr id="8" name="TextBox 7">
            <a:extLst>
              <a:ext uri="{FF2B5EF4-FFF2-40B4-BE49-F238E27FC236}">
                <a16:creationId xmlns:a16="http://schemas.microsoft.com/office/drawing/2014/main" id="{3218B2E2-9B2C-C4E7-5022-EDD4EE4F0F42}"/>
              </a:ext>
            </a:extLst>
          </p:cNvPr>
          <p:cNvSpPr txBox="1"/>
          <p:nvPr/>
        </p:nvSpPr>
        <p:spPr>
          <a:xfrm>
            <a:off x="286265" y="2752110"/>
            <a:ext cx="8571470" cy="369332"/>
          </a:xfrm>
          <a:prstGeom prst="rect">
            <a:avLst/>
          </a:prstGeom>
          <a:noFill/>
        </p:spPr>
        <p:txBody>
          <a:bodyPr wrap="square">
            <a:spAutoFit/>
          </a:bodyPr>
          <a:lstStyle/>
          <a:p>
            <a:pPr marL="285750" indent="-285750" algn="r" rtl="1">
              <a:buFont typeface="Arial" panose="020B0604020202020204" pitchFamily="34" charset="0"/>
              <a:buChar char="•"/>
            </a:pPr>
            <a:r>
              <a:rPr lang="fa-IR" dirty="0">
                <a:cs typeface="B Nazanin" panose="00000400000000000000" pitchFamily="2" charset="-78"/>
              </a:rPr>
              <a:t>بررسی</a:t>
            </a:r>
          </a:p>
        </p:txBody>
      </p:sp>
    </p:spTree>
    <p:extLst>
      <p:ext uri="{BB962C8B-B14F-4D97-AF65-F5344CB8AC3E}">
        <p14:creationId xmlns:p14="http://schemas.microsoft.com/office/powerpoint/2010/main" val="27362740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83E2A-1BCD-95CE-2B0D-3ED87E129606}"/>
              </a:ext>
            </a:extLst>
          </p:cNvPr>
          <p:cNvSpPr>
            <a:spLocks noGrp="1"/>
          </p:cNvSpPr>
          <p:nvPr>
            <p:ph type="title"/>
          </p:nvPr>
        </p:nvSpPr>
        <p:spPr/>
        <p:txBody>
          <a:bodyPr/>
          <a:lstStyle/>
          <a:p>
            <a:r>
              <a:rPr lang="en-US" b="1" dirty="0" err="1">
                <a:latin typeface="IRANSansWeb" panose="020B0506030804020204" pitchFamily="34" charset="-78"/>
                <a:cs typeface="IRANSansWeb" panose="020B0506030804020204" pitchFamily="34" charset="-78"/>
              </a:rPr>
              <a:t>configUSE_PREEMPTION</a:t>
            </a:r>
            <a:endParaRPr lang="en-US" dirty="0"/>
          </a:p>
        </p:txBody>
      </p:sp>
      <p:sp>
        <p:nvSpPr>
          <p:cNvPr id="3" name="Content Placeholder 2">
            <a:extLst>
              <a:ext uri="{FF2B5EF4-FFF2-40B4-BE49-F238E27FC236}">
                <a16:creationId xmlns:a16="http://schemas.microsoft.com/office/drawing/2014/main" id="{03C5DAAE-4B08-226F-ED39-37888ABB80BB}"/>
              </a:ext>
            </a:extLst>
          </p:cNvPr>
          <p:cNvSpPr>
            <a:spLocks noGrp="1"/>
          </p:cNvSpPr>
          <p:nvPr>
            <p:ph idx="1"/>
          </p:nvPr>
        </p:nvSpPr>
        <p:spPr/>
        <p:txBody>
          <a:bodyPr>
            <a:normAutofit/>
          </a:bodyPr>
          <a:lstStyle/>
          <a:p>
            <a:pPr algn="r" rtl="1">
              <a:lnSpc>
                <a:spcPct val="200000"/>
              </a:lnSpc>
            </a:pPr>
            <a:r>
              <a:rPr lang="fa-IR" sz="2000" b="1" dirty="0">
                <a:latin typeface="IRANSansWeb" panose="020B0506030804020204" pitchFamily="34" charset="-78"/>
                <a:cs typeface="IRANSansWeb" panose="020B0506030804020204" pitchFamily="34" charset="-78"/>
              </a:rPr>
              <a:t>در </a:t>
            </a:r>
            <a:r>
              <a:rPr lang="en-US" sz="2000" b="1" dirty="0" err="1">
                <a:latin typeface="IRANSansWeb" panose="020B0506030804020204" pitchFamily="34" charset="-78"/>
                <a:cs typeface="IRANSansWeb" panose="020B0506030804020204" pitchFamily="34" charset="-78"/>
              </a:rPr>
              <a:t>FreeRTOS</a:t>
            </a:r>
            <a:r>
              <a:rPr lang="en-US" sz="2000" b="1" dirty="0">
                <a:latin typeface="IRANSansWeb" panose="020B0506030804020204" pitchFamily="34" charset="-78"/>
                <a:cs typeface="IRANSansWeb" panose="020B0506030804020204" pitchFamily="34" charset="-78"/>
              </a:rPr>
              <a:t>، </a:t>
            </a:r>
            <a:r>
              <a:rPr lang="fa-IR" sz="2000" b="1" dirty="0">
                <a:latin typeface="IRANSansWeb" panose="020B0506030804020204" pitchFamily="34" charset="-78"/>
                <a:cs typeface="IRANSansWeb" panose="020B0506030804020204" pitchFamily="34" charset="-78"/>
              </a:rPr>
              <a:t>گزینه‌ی </a:t>
            </a:r>
            <a:r>
              <a:rPr lang="en-US" sz="2000" b="1" dirty="0">
                <a:latin typeface="IRANSansWeb" panose="020B0506030804020204" pitchFamily="34" charset="-78"/>
                <a:cs typeface="IRANSansWeb" panose="020B0506030804020204" pitchFamily="34" charset="-78"/>
              </a:rPr>
              <a:t>  </a:t>
            </a:r>
            <a:r>
              <a:rPr lang="en-US" sz="2000" b="1" dirty="0" err="1">
                <a:latin typeface="IRANSansWeb" panose="020B0506030804020204" pitchFamily="34" charset="-78"/>
                <a:cs typeface="IRANSansWeb" panose="020B0506030804020204" pitchFamily="34" charset="-78"/>
              </a:rPr>
              <a:t>configUSE_PREEMPTION</a:t>
            </a:r>
            <a:r>
              <a:rPr lang="en-US" sz="2000" b="1" dirty="0">
                <a:latin typeface="IRANSansWeb" panose="020B0506030804020204" pitchFamily="34" charset="-78"/>
                <a:cs typeface="IRANSansWeb" panose="020B0506030804020204" pitchFamily="34" charset="-78"/>
              </a:rPr>
              <a:t> </a:t>
            </a:r>
            <a:r>
              <a:rPr lang="fa-IR" sz="2000" b="1" dirty="0">
                <a:latin typeface="IRANSansWeb" panose="020B0506030804020204" pitchFamily="34" charset="-78"/>
                <a:cs typeface="IRANSansWeb" panose="020B0506030804020204" pitchFamily="34" charset="-78"/>
              </a:rPr>
              <a:t>یکی از مهم‌ترین تنظیمات زمان‌بندی</a:t>
            </a:r>
            <a:r>
              <a:rPr lang="en-US" sz="2000" b="1" dirty="0">
                <a:latin typeface="IRANSansWeb" panose="020B0506030804020204" pitchFamily="34" charset="-78"/>
                <a:cs typeface="IRANSansWeb" panose="020B0506030804020204" pitchFamily="34" charset="-78"/>
              </a:rPr>
              <a:t> (Scheduler) </a:t>
            </a:r>
            <a:r>
              <a:rPr lang="fa-IR" sz="2000" b="1" dirty="0">
                <a:latin typeface="IRANSansWeb" panose="020B0506030804020204" pitchFamily="34" charset="-78"/>
                <a:cs typeface="IRANSansWeb" panose="020B0506030804020204" pitchFamily="34" charset="-78"/>
              </a:rPr>
              <a:t>است و مشخص می‌کند که سیستم </a:t>
            </a:r>
            <a:endParaRPr lang="en-US" sz="2000" b="1" dirty="0">
              <a:latin typeface="IRANSansWeb" panose="020B0506030804020204" pitchFamily="34" charset="-78"/>
              <a:cs typeface="IRANSansWeb" panose="020B0506030804020204" pitchFamily="34" charset="-78"/>
            </a:endParaRPr>
          </a:p>
          <a:p>
            <a:pPr algn="r" rtl="1">
              <a:lnSpc>
                <a:spcPct val="200000"/>
              </a:lnSpc>
            </a:pPr>
            <a:r>
              <a:rPr lang="fa-IR" sz="2400" b="1" dirty="0">
                <a:latin typeface="IRANSansWeb" panose="020B0506030804020204" pitchFamily="34" charset="-78"/>
                <a:cs typeface="IRANSansWeb" panose="020B0506030804020204" pitchFamily="34" charset="-78"/>
              </a:rPr>
              <a:t>پیش‌دستانه </a:t>
            </a:r>
            <a:r>
              <a:rPr lang="en-US" sz="2400" b="1" dirty="0">
                <a:latin typeface="IRANSansWeb" panose="020B0506030804020204" pitchFamily="34" charset="-78"/>
                <a:cs typeface="IRANSansWeb" panose="020B0506030804020204" pitchFamily="34" charset="-78"/>
              </a:rPr>
              <a:t> (Preemptive) </a:t>
            </a:r>
            <a:r>
              <a:rPr lang="fa-IR" sz="2400" b="1" dirty="0">
                <a:latin typeface="IRANSansWeb" panose="020B0506030804020204" pitchFamily="34" charset="-78"/>
                <a:cs typeface="IRANSansWeb" panose="020B0506030804020204" pitchFamily="34" charset="-78"/>
              </a:rPr>
              <a:t>باشد</a:t>
            </a:r>
            <a:endParaRPr lang="en-US" sz="2400" b="1" dirty="0">
              <a:latin typeface="IRANSansWeb" panose="020B0506030804020204" pitchFamily="34" charset="-78"/>
              <a:cs typeface="IRANSansWeb" panose="020B0506030804020204" pitchFamily="34" charset="-78"/>
            </a:endParaRPr>
          </a:p>
          <a:p>
            <a:pPr algn="r" rtl="1">
              <a:lnSpc>
                <a:spcPct val="200000"/>
              </a:lnSpc>
            </a:pPr>
            <a:r>
              <a:rPr lang="fa-IR" sz="2400" b="1" dirty="0">
                <a:latin typeface="IRANSansWeb" panose="020B0506030804020204" pitchFamily="34" charset="-78"/>
                <a:cs typeface="IRANSansWeb" panose="020B0506030804020204" pitchFamily="34" charset="-78"/>
              </a:rPr>
              <a:t> یا همکارانه</a:t>
            </a:r>
            <a:r>
              <a:rPr lang="en-US" sz="2400" b="1" dirty="0">
                <a:latin typeface="IRANSansWeb" panose="020B0506030804020204" pitchFamily="34" charset="-78"/>
                <a:cs typeface="IRANSansWeb" panose="020B0506030804020204" pitchFamily="34" charset="-78"/>
              </a:rPr>
              <a:t>(Cooperative)  </a:t>
            </a:r>
          </a:p>
        </p:txBody>
      </p:sp>
    </p:spTree>
    <p:extLst>
      <p:ext uri="{BB962C8B-B14F-4D97-AF65-F5344CB8AC3E}">
        <p14:creationId xmlns:p14="http://schemas.microsoft.com/office/powerpoint/2010/main" val="14984802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12641-8025-E334-F78E-1FFC0FDC38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3B47AB-4C69-9917-B6E7-A404ACFD2873}"/>
              </a:ext>
            </a:extLst>
          </p:cNvPr>
          <p:cNvSpPr>
            <a:spLocks noGrp="1"/>
          </p:cNvSpPr>
          <p:nvPr>
            <p:ph type="title"/>
          </p:nvPr>
        </p:nvSpPr>
        <p:spPr/>
        <p:txBody>
          <a:bodyPr>
            <a:noAutofit/>
          </a:bodyPr>
          <a:lstStyle/>
          <a:p>
            <a:pPr rtl="1"/>
            <a:r>
              <a:rPr lang="en-US" sz="3200" dirty="0">
                <a:latin typeface="IRANSansWeb" panose="020B0506030804020204" pitchFamily="34" charset="-78"/>
                <a:cs typeface="IRANSansWeb" panose="020B0506030804020204" pitchFamily="34" charset="-78"/>
              </a:rPr>
              <a:t>) </a:t>
            </a:r>
            <a:r>
              <a:rPr lang="en-US" sz="3200" dirty="0" err="1">
                <a:latin typeface="IRANSansWeb" panose="020B0506030804020204" pitchFamily="34" charset="-78"/>
                <a:cs typeface="IRANSansWeb" panose="020B0506030804020204" pitchFamily="34" charset="-78"/>
              </a:rPr>
              <a:t>configUSE_PREEMPTION</a:t>
            </a:r>
            <a:r>
              <a:rPr lang="en-US" sz="3200" dirty="0">
                <a:latin typeface="IRANSansWeb" panose="020B0506030804020204" pitchFamily="34" charset="-78"/>
                <a:cs typeface="IRANSansWeb" panose="020B0506030804020204" pitchFamily="34" charset="-78"/>
              </a:rPr>
              <a:t> = 1 </a:t>
            </a:r>
            <a:r>
              <a:rPr lang="fa-IR" sz="3200" dirty="0">
                <a:latin typeface="IRANSansWeb" panose="020B0506030804020204" pitchFamily="34" charset="-78"/>
                <a:cs typeface="IRANSansWeb" panose="020B0506030804020204" pitchFamily="34" charset="-78"/>
              </a:rPr>
              <a:t>پیش‌دستانه)</a:t>
            </a:r>
            <a:endParaRPr lang="en-US" sz="3200" dirty="0">
              <a:latin typeface="IRANSansWeb" panose="020B0506030804020204" pitchFamily="34" charset="-78"/>
              <a:cs typeface="IRANSansWeb" panose="020B0506030804020204" pitchFamily="34" charset="-78"/>
            </a:endParaRPr>
          </a:p>
        </p:txBody>
      </p:sp>
      <p:sp>
        <p:nvSpPr>
          <p:cNvPr id="3" name="Content Placeholder 2">
            <a:extLst>
              <a:ext uri="{FF2B5EF4-FFF2-40B4-BE49-F238E27FC236}">
                <a16:creationId xmlns:a16="http://schemas.microsoft.com/office/drawing/2014/main" id="{97050048-B379-8D52-D2CA-B087AE1BED0D}"/>
              </a:ext>
            </a:extLst>
          </p:cNvPr>
          <p:cNvSpPr>
            <a:spLocks noGrp="1"/>
          </p:cNvSpPr>
          <p:nvPr>
            <p:ph idx="1"/>
          </p:nvPr>
        </p:nvSpPr>
        <p:spPr/>
        <p:txBody>
          <a:bodyPr>
            <a:normAutofit fontScale="92500" lnSpcReduction="10000"/>
          </a:bodyPr>
          <a:lstStyle/>
          <a:p>
            <a:pPr marL="0" indent="0" algn="r" rtl="1">
              <a:lnSpc>
                <a:spcPct val="150000"/>
              </a:lnSpc>
              <a:buNone/>
            </a:pPr>
            <a:r>
              <a:rPr lang="fa-IR" sz="1800" dirty="0">
                <a:latin typeface="IRANSansWeb" panose="020B0506030804020204" pitchFamily="34" charset="-78"/>
                <a:cs typeface="IRANSansWeb" panose="020B0506030804020204" pitchFamily="34" charset="-78"/>
              </a:rPr>
              <a:t>این حالت </a:t>
            </a:r>
            <a:r>
              <a:rPr lang="fa-IR" sz="1800" b="1" dirty="0">
                <a:latin typeface="IRANSansWeb" panose="020B0506030804020204" pitchFamily="34" charset="-78"/>
                <a:cs typeface="IRANSansWeb" panose="020B0506030804020204" pitchFamily="34" charset="-78"/>
              </a:rPr>
              <a:t>پیش‌فرض و رایج</a:t>
            </a:r>
            <a:r>
              <a:rPr lang="fa-IR" sz="1800" dirty="0">
                <a:latin typeface="IRANSansWeb" panose="020B0506030804020204" pitchFamily="34" charset="-78"/>
                <a:cs typeface="IRANSansWeb" panose="020B0506030804020204" pitchFamily="34" charset="-78"/>
              </a:rPr>
              <a:t> در </a:t>
            </a:r>
            <a:r>
              <a:rPr lang="en-US" sz="1800" dirty="0">
                <a:latin typeface="IRANSansWeb" panose="020B0506030804020204" pitchFamily="34" charset="-78"/>
                <a:cs typeface="IRANSansWeb" panose="020B0506030804020204" pitchFamily="34" charset="-78"/>
              </a:rPr>
              <a:t> </a:t>
            </a:r>
            <a:r>
              <a:rPr lang="en-US" sz="1800" dirty="0" err="1">
                <a:latin typeface="IRANSansWeb" panose="020B0506030804020204" pitchFamily="34" charset="-78"/>
                <a:cs typeface="IRANSansWeb" panose="020B0506030804020204" pitchFamily="34" charset="-78"/>
              </a:rPr>
              <a:t>FreeRTOS</a:t>
            </a:r>
            <a:r>
              <a:rPr lang="en-US" sz="1800" dirty="0">
                <a:latin typeface="IRANSansWeb" panose="020B0506030804020204" pitchFamily="34" charset="-78"/>
                <a:cs typeface="IRANSansWeb" panose="020B0506030804020204" pitchFamily="34" charset="-78"/>
              </a:rPr>
              <a:t> </a:t>
            </a:r>
            <a:r>
              <a:rPr lang="fa-IR" sz="1800" dirty="0">
                <a:latin typeface="IRANSansWeb" panose="020B0506030804020204" pitchFamily="34" charset="-78"/>
                <a:cs typeface="IRANSansWeb" panose="020B0506030804020204" pitchFamily="34" charset="-78"/>
              </a:rPr>
              <a:t>است.</a:t>
            </a:r>
            <a:endParaRPr lang="en-US" sz="1800" dirty="0">
              <a:latin typeface="IRANSansWeb" panose="020B0506030804020204" pitchFamily="34" charset="-78"/>
              <a:cs typeface="IRANSansWeb" panose="020B0506030804020204" pitchFamily="34" charset="-78"/>
            </a:endParaRPr>
          </a:p>
          <a:p>
            <a:pPr marL="0" indent="0" algn="r" rtl="1">
              <a:lnSpc>
                <a:spcPct val="150000"/>
              </a:lnSpc>
              <a:buNone/>
            </a:pPr>
            <a:endParaRPr lang="fa-IR" sz="1800" dirty="0">
              <a:latin typeface="IRANSansWeb" panose="020B0506030804020204" pitchFamily="34" charset="-78"/>
              <a:cs typeface="IRANSansWeb" panose="020B0506030804020204" pitchFamily="34" charset="-78"/>
            </a:endParaRPr>
          </a:p>
          <a:p>
            <a:pPr marL="0" indent="0" algn="r" rtl="1">
              <a:lnSpc>
                <a:spcPct val="150000"/>
              </a:lnSpc>
              <a:buNone/>
            </a:pPr>
            <a:r>
              <a:rPr lang="fa-IR" sz="1800" b="1" dirty="0">
                <a:latin typeface="IRANSansWeb" panose="020B0506030804020204" pitchFamily="34" charset="-78"/>
                <a:cs typeface="IRANSansWeb" panose="020B0506030804020204" pitchFamily="34" charset="-78"/>
              </a:rPr>
              <a:t>رفتار:</a:t>
            </a:r>
            <a:endParaRPr lang="fa-IR" sz="1800" dirty="0">
              <a:latin typeface="IRANSansWeb" panose="020B0506030804020204" pitchFamily="34" charset="-78"/>
              <a:cs typeface="IRANSansWeb" panose="020B0506030804020204" pitchFamily="34" charset="-78"/>
            </a:endParaRPr>
          </a:p>
          <a:p>
            <a:pPr marL="0" indent="0" algn="r" rtl="1">
              <a:lnSpc>
                <a:spcPct val="150000"/>
              </a:lnSpc>
              <a:buNone/>
            </a:pPr>
            <a:r>
              <a:rPr lang="fa-IR" sz="1800" dirty="0">
                <a:latin typeface="IRANSansWeb" panose="020B0506030804020204" pitchFamily="34" charset="-78"/>
                <a:cs typeface="IRANSansWeb" panose="020B0506030804020204" pitchFamily="34" charset="-78"/>
              </a:rPr>
              <a:t>اگر یک </a:t>
            </a:r>
            <a:r>
              <a:rPr lang="en-US" sz="1800" dirty="0">
                <a:latin typeface="IRANSansWeb" panose="020B0506030804020204" pitchFamily="34" charset="-78"/>
                <a:cs typeface="IRANSansWeb" panose="020B0506030804020204" pitchFamily="34" charset="-78"/>
              </a:rPr>
              <a:t>Task </a:t>
            </a:r>
            <a:r>
              <a:rPr lang="fa-IR" sz="1800" dirty="0">
                <a:latin typeface="IRANSansWeb" panose="020B0506030804020204" pitchFamily="34" charset="-78"/>
                <a:cs typeface="IRANSansWeb" panose="020B0506030804020204" pitchFamily="34" charset="-78"/>
              </a:rPr>
              <a:t>با </a:t>
            </a:r>
            <a:r>
              <a:rPr lang="fa-IR" sz="1800" b="1" dirty="0">
                <a:latin typeface="IRANSansWeb" panose="020B0506030804020204" pitchFamily="34" charset="-78"/>
                <a:cs typeface="IRANSansWeb" panose="020B0506030804020204" pitchFamily="34" charset="-78"/>
              </a:rPr>
              <a:t>اولویت بالاتر</a:t>
            </a:r>
            <a:r>
              <a:rPr lang="fa-IR" sz="1800" dirty="0">
                <a:latin typeface="IRANSansWeb" panose="020B0506030804020204" pitchFamily="34" charset="-78"/>
                <a:cs typeface="IRANSansWeb" panose="020B0506030804020204" pitchFamily="34" charset="-78"/>
              </a:rPr>
              <a:t> آماده‌ی اجرا شود،</a:t>
            </a:r>
            <a:br>
              <a:rPr lang="fa-IR" sz="1800" dirty="0">
                <a:latin typeface="IRANSansWeb" panose="020B0506030804020204" pitchFamily="34" charset="-78"/>
                <a:cs typeface="IRANSansWeb" panose="020B0506030804020204" pitchFamily="34" charset="-78"/>
              </a:rPr>
            </a:br>
            <a:r>
              <a:rPr lang="en-US" sz="1800" dirty="0" err="1">
                <a:latin typeface="IRANSansWeb" panose="020B0506030804020204" pitchFamily="34" charset="-78"/>
                <a:cs typeface="IRANSansWeb" panose="020B0506030804020204" pitchFamily="34" charset="-78"/>
              </a:rPr>
              <a:t>FreeRTOS</a:t>
            </a:r>
            <a:r>
              <a:rPr lang="en-US" sz="1800" dirty="0">
                <a:latin typeface="IRANSansWeb" panose="020B0506030804020204" pitchFamily="34" charset="-78"/>
                <a:cs typeface="IRANSansWeb" panose="020B0506030804020204" pitchFamily="34" charset="-78"/>
              </a:rPr>
              <a:t> </a:t>
            </a:r>
            <a:r>
              <a:rPr lang="fa-IR" sz="1800" b="1" dirty="0">
                <a:latin typeface="IRANSansWeb" panose="020B0506030804020204" pitchFamily="34" charset="-78"/>
                <a:cs typeface="IRANSansWeb" panose="020B0506030804020204" pitchFamily="34" charset="-78"/>
              </a:rPr>
              <a:t>بلافاصله</a:t>
            </a:r>
            <a:r>
              <a:rPr lang="fa-IR" sz="1800" dirty="0">
                <a:latin typeface="IRANSansWeb" panose="020B0506030804020204" pitchFamily="34" charset="-78"/>
                <a:cs typeface="IRANSansWeb" panose="020B0506030804020204" pitchFamily="34" charset="-78"/>
              </a:rPr>
              <a:t> اجرای </a:t>
            </a:r>
            <a:r>
              <a:rPr lang="en-US" sz="1800" dirty="0">
                <a:latin typeface="IRANSansWeb" panose="020B0506030804020204" pitchFamily="34" charset="-78"/>
                <a:cs typeface="IRANSansWeb" panose="020B0506030804020204" pitchFamily="34" charset="-78"/>
              </a:rPr>
              <a:t>Task </a:t>
            </a:r>
            <a:r>
              <a:rPr lang="fa-IR" sz="1800" dirty="0">
                <a:latin typeface="IRANSansWeb" panose="020B0506030804020204" pitchFamily="34" charset="-78"/>
                <a:cs typeface="IRANSansWeb" panose="020B0506030804020204" pitchFamily="34" charset="-78"/>
              </a:rPr>
              <a:t>فعلی را قطع می‌کند و </a:t>
            </a:r>
            <a:r>
              <a:rPr lang="en-US" sz="1800" dirty="0">
                <a:latin typeface="IRANSansWeb" panose="020B0506030804020204" pitchFamily="34" charset="-78"/>
                <a:cs typeface="IRANSansWeb" panose="020B0506030804020204" pitchFamily="34" charset="-78"/>
              </a:rPr>
              <a:t>Task </a:t>
            </a:r>
            <a:r>
              <a:rPr lang="fa-IR" sz="1800" dirty="0">
                <a:latin typeface="IRANSansWeb" panose="020B0506030804020204" pitchFamily="34" charset="-78"/>
                <a:cs typeface="IRANSansWeb" panose="020B0506030804020204" pitchFamily="34" charset="-78"/>
              </a:rPr>
              <a:t>با اولویت بالاتر را اجرا می‌کند.</a:t>
            </a:r>
          </a:p>
          <a:p>
            <a:pPr marL="0" indent="0" algn="r" rtl="1">
              <a:lnSpc>
                <a:spcPct val="150000"/>
              </a:lnSpc>
              <a:buNone/>
            </a:pPr>
            <a:r>
              <a:rPr lang="fa-IR" sz="1800" dirty="0">
                <a:latin typeface="IRANSansWeb" panose="020B0506030804020204" pitchFamily="34" charset="-78"/>
                <a:cs typeface="IRANSansWeb" panose="020B0506030804020204" pitchFamily="34" charset="-78"/>
              </a:rPr>
              <a:t>نیازی نیست </a:t>
            </a:r>
            <a:r>
              <a:rPr lang="en-US" sz="1800" dirty="0">
                <a:latin typeface="IRANSansWeb" panose="020B0506030804020204" pitchFamily="34" charset="-78"/>
                <a:cs typeface="IRANSansWeb" panose="020B0506030804020204" pitchFamily="34" charset="-78"/>
              </a:rPr>
              <a:t>Task </a:t>
            </a:r>
            <a:r>
              <a:rPr lang="fa-IR" sz="1800" dirty="0">
                <a:latin typeface="IRANSansWeb" panose="020B0506030804020204" pitchFamily="34" charset="-78"/>
                <a:cs typeface="IRANSansWeb" panose="020B0506030804020204" pitchFamily="34" charset="-78"/>
              </a:rPr>
              <a:t>فعلی خودش </a:t>
            </a:r>
            <a:r>
              <a:rPr lang="en-US" sz="1800" dirty="0">
                <a:latin typeface="IRANSansWeb" panose="020B0506030804020204" pitchFamily="34" charset="-78"/>
                <a:cs typeface="IRANSansWeb" panose="020B0506030804020204" pitchFamily="34" charset="-78"/>
              </a:rPr>
              <a:t> CPU </a:t>
            </a:r>
            <a:r>
              <a:rPr lang="fa-IR" sz="1800" dirty="0">
                <a:latin typeface="IRANSansWeb" panose="020B0506030804020204" pitchFamily="34" charset="-78"/>
                <a:cs typeface="IRANSansWeb" panose="020B0506030804020204" pitchFamily="34" charset="-78"/>
              </a:rPr>
              <a:t>را آزاد کند.</a:t>
            </a:r>
            <a:endParaRPr lang="en-US" sz="1800" dirty="0">
              <a:latin typeface="IRANSansWeb" panose="020B0506030804020204" pitchFamily="34" charset="-78"/>
              <a:cs typeface="IRANSansWeb" panose="020B0506030804020204" pitchFamily="34" charset="-78"/>
            </a:endParaRPr>
          </a:p>
          <a:p>
            <a:pPr marL="0" indent="0" algn="r" rtl="1">
              <a:lnSpc>
                <a:spcPct val="150000"/>
              </a:lnSpc>
              <a:buNone/>
            </a:pPr>
            <a:endParaRPr lang="fa-IR" sz="1800" dirty="0">
              <a:latin typeface="IRANSansWeb" panose="020B0506030804020204" pitchFamily="34" charset="-78"/>
              <a:cs typeface="IRANSansWeb" panose="020B0506030804020204" pitchFamily="34" charset="-78"/>
            </a:endParaRPr>
          </a:p>
          <a:p>
            <a:pPr marL="0" indent="0" algn="r" rtl="1">
              <a:lnSpc>
                <a:spcPct val="150000"/>
              </a:lnSpc>
              <a:buNone/>
            </a:pPr>
            <a:r>
              <a:rPr lang="fa-IR" sz="1800" b="1" dirty="0">
                <a:latin typeface="IRANSansWeb" panose="020B0506030804020204" pitchFamily="34" charset="-78"/>
                <a:cs typeface="IRANSansWeb" panose="020B0506030804020204" pitchFamily="34" charset="-78"/>
              </a:rPr>
              <a:t>نتیجه‌ها:</a:t>
            </a:r>
            <a:endParaRPr lang="fa-IR" sz="1800" dirty="0">
              <a:latin typeface="IRANSansWeb" panose="020B0506030804020204" pitchFamily="34" charset="-78"/>
              <a:cs typeface="IRANSansWeb" panose="020B0506030804020204" pitchFamily="34" charset="-78"/>
            </a:endParaRPr>
          </a:p>
          <a:p>
            <a:pPr marL="0" indent="0" algn="r" rtl="1">
              <a:lnSpc>
                <a:spcPct val="150000"/>
              </a:lnSpc>
              <a:buNone/>
            </a:pPr>
            <a:r>
              <a:rPr lang="fa-IR" sz="1800" dirty="0">
                <a:latin typeface="IRANSansWeb" panose="020B0506030804020204" pitchFamily="34" charset="-78"/>
                <a:cs typeface="IRANSansWeb" panose="020B0506030804020204" pitchFamily="34" charset="-78"/>
              </a:rPr>
              <a:t>پاسخ‌دهی سریع‌تر (</a:t>
            </a:r>
            <a:r>
              <a:rPr lang="en-US" sz="1800" dirty="0">
                <a:latin typeface="IRANSansWeb" panose="020B0506030804020204" pitchFamily="34" charset="-78"/>
                <a:cs typeface="IRANSansWeb" panose="020B0506030804020204" pitchFamily="34" charset="-78"/>
              </a:rPr>
              <a:t> Real-Time</a:t>
            </a:r>
            <a:r>
              <a:rPr lang="fa-IR" sz="1800" dirty="0">
                <a:latin typeface="IRANSansWeb" panose="020B0506030804020204" pitchFamily="34" charset="-78"/>
                <a:cs typeface="IRANSansWeb" panose="020B0506030804020204" pitchFamily="34" charset="-78"/>
              </a:rPr>
              <a:t>واقعی‌تر)</a:t>
            </a:r>
          </a:p>
          <a:p>
            <a:pPr marL="0" indent="0" algn="r" rtl="1">
              <a:lnSpc>
                <a:spcPct val="150000"/>
              </a:lnSpc>
              <a:buNone/>
            </a:pPr>
            <a:r>
              <a:rPr lang="fa-IR" sz="1800" dirty="0">
                <a:latin typeface="IRANSansWeb" panose="020B0506030804020204" pitchFamily="34" charset="-78"/>
                <a:cs typeface="IRANSansWeb" panose="020B0506030804020204" pitchFamily="34" charset="-78"/>
              </a:rPr>
              <a:t>مناسب برای سیستم‌های حساس به زمان (مثلاً کنترل موتور، ارتباطات، سنسورها)</a:t>
            </a:r>
          </a:p>
          <a:p>
            <a:pPr marL="0" indent="0" algn="r" rtl="1">
              <a:lnSpc>
                <a:spcPct val="150000"/>
              </a:lnSpc>
              <a:buNone/>
            </a:pPr>
            <a:r>
              <a:rPr lang="en-US" sz="1800" dirty="0">
                <a:latin typeface="IRANSansWeb" panose="020B0506030804020204" pitchFamily="34" charset="-78"/>
                <a:cs typeface="IRANSansWeb" panose="020B0506030804020204" pitchFamily="34" charset="-78"/>
              </a:rPr>
              <a:t>Context Switch </a:t>
            </a:r>
            <a:r>
              <a:rPr lang="fa-IR" sz="1800" dirty="0">
                <a:latin typeface="IRANSansWeb" panose="020B0506030804020204" pitchFamily="34" charset="-78"/>
                <a:cs typeface="IRANSansWeb" panose="020B0506030804020204" pitchFamily="34" charset="-78"/>
              </a:rPr>
              <a:t>بیشتر (سربار کمی بالاتر)</a:t>
            </a:r>
          </a:p>
        </p:txBody>
      </p:sp>
    </p:spTree>
    <p:extLst>
      <p:ext uri="{BB962C8B-B14F-4D97-AF65-F5344CB8AC3E}">
        <p14:creationId xmlns:p14="http://schemas.microsoft.com/office/powerpoint/2010/main" val="32150933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279DF-4C1C-5D84-C4E0-0851760666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C866A4-2016-F06C-FC46-06AEEDBC32D9}"/>
              </a:ext>
            </a:extLst>
          </p:cNvPr>
          <p:cNvSpPr>
            <a:spLocks noGrp="1"/>
          </p:cNvSpPr>
          <p:nvPr>
            <p:ph type="title"/>
          </p:nvPr>
        </p:nvSpPr>
        <p:spPr/>
        <p:txBody>
          <a:bodyPr>
            <a:noAutofit/>
          </a:bodyPr>
          <a:lstStyle/>
          <a:p>
            <a:pPr rtl="1"/>
            <a:r>
              <a:rPr lang="en-US" sz="3200" dirty="0">
                <a:latin typeface="IRANSansWeb" panose="020B0506030804020204" pitchFamily="34" charset="-78"/>
                <a:cs typeface="IRANSansWeb" panose="020B0506030804020204" pitchFamily="34" charset="-78"/>
              </a:rPr>
              <a:t>) </a:t>
            </a:r>
            <a:r>
              <a:rPr lang="en-US" sz="3200" dirty="0" err="1">
                <a:latin typeface="IRANSansWeb" panose="020B0506030804020204" pitchFamily="34" charset="-78"/>
                <a:cs typeface="IRANSansWeb" panose="020B0506030804020204" pitchFamily="34" charset="-78"/>
              </a:rPr>
              <a:t>configUSE_PREEMPTION</a:t>
            </a:r>
            <a:r>
              <a:rPr lang="en-US" sz="3200" dirty="0">
                <a:latin typeface="IRANSansWeb" panose="020B0506030804020204" pitchFamily="34" charset="-78"/>
                <a:cs typeface="IRANSansWeb" panose="020B0506030804020204" pitchFamily="34" charset="-78"/>
              </a:rPr>
              <a:t> = 0 </a:t>
            </a:r>
            <a:r>
              <a:rPr lang="fa-IR" sz="3200" dirty="0">
                <a:latin typeface="IRANSansWeb" panose="020B0506030804020204" pitchFamily="34" charset="-78"/>
                <a:cs typeface="IRANSansWeb" panose="020B0506030804020204" pitchFamily="34" charset="-78"/>
              </a:rPr>
              <a:t>همکارانه)</a:t>
            </a:r>
            <a:endParaRPr lang="en-US" sz="3200" dirty="0">
              <a:latin typeface="IRANSansWeb" panose="020B0506030804020204" pitchFamily="34" charset="-78"/>
              <a:cs typeface="IRANSansWeb" panose="020B0506030804020204" pitchFamily="34" charset="-78"/>
            </a:endParaRPr>
          </a:p>
        </p:txBody>
      </p:sp>
      <p:sp>
        <p:nvSpPr>
          <p:cNvPr id="3" name="Content Placeholder 2">
            <a:extLst>
              <a:ext uri="{FF2B5EF4-FFF2-40B4-BE49-F238E27FC236}">
                <a16:creationId xmlns:a16="http://schemas.microsoft.com/office/drawing/2014/main" id="{B952672F-EB53-F0A5-D0DC-ABF96CBB8969}"/>
              </a:ext>
            </a:extLst>
          </p:cNvPr>
          <p:cNvSpPr>
            <a:spLocks noGrp="1"/>
          </p:cNvSpPr>
          <p:nvPr>
            <p:ph idx="1"/>
          </p:nvPr>
        </p:nvSpPr>
        <p:spPr/>
        <p:txBody>
          <a:bodyPr>
            <a:normAutofit fontScale="62500" lnSpcReduction="20000"/>
          </a:bodyPr>
          <a:lstStyle/>
          <a:p>
            <a:pPr marL="0" indent="0" algn="r" rtl="1">
              <a:lnSpc>
                <a:spcPct val="160000"/>
              </a:lnSpc>
              <a:buNone/>
            </a:pPr>
            <a:r>
              <a:rPr lang="fa-IR" sz="2400" dirty="0">
                <a:latin typeface="IRANSansWeb" panose="020B0506030804020204" pitchFamily="34" charset="-78"/>
                <a:cs typeface="IRANSansWeb" panose="020B0506030804020204" pitchFamily="34" charset="-78"/>
              </a:rPr>
              <a:t>در این حالت زمان‌بندی </a:t>
            </a:r>
            <a:r>
              <a:rPr lang="en-US" sz="2400" dirty="0">
                <a:latin typeface="IRANSansWeb" panose="020B0506030804020204" pitchFamily="34" charset="-78"/>
                <a:cs typeface="IRANSansWeb" panose="020B0506030804020204" pitchFamily="34" charset="-78"/>
              </a:rPr>
              <a:t> </a:t>
            </a:r>
            <a:r>
              <a:rPr lang="en-US" sz="2400" b="1" dirty="0">
                <a:latin typeface="IRANSansWeb" panose="020B0506030804020204" pitchFamily="34" charset="-78"/>
                <a:cs typeface="IRANSansWeb" panose="020B0506030804020204" pitchFamily="34" charset="-78"/>
              </a:rPr>
              <a:t>Cooperative</a:t>
            </a:r>
            <a:r>
              <a:rPr lang="en-US" sz="2400" dirty="0">
                <a:latin typeface="IRANSansWeb" panose="020B0506030804020204" pitchFamily="34" charset="-78"/>
                <a:cs typeface="IRANSansWeb" panose="020B0506030804020204" pitchFamily="34" charset="-78"/>
              </a:rPr>
              <a:t> </a:t>
            </a:r>
            <a:r>
              <a:rPr lang="fa-IR" sz="2400" dirty="0">
                <a:latin typeface="IRANSansWeb" panose="020B0506030804020204" pitchFamily="34" charset="-78"/>
                <a:cs typeface="IRANSansWeb" panose="020B0506030804020204" pitchFamily="34" charset="-78"/>
              </a:rPr>
              <a:t>است.</a:t>
            </a:r>
            <a:endParaRPr lang="en-US" sz="2400" dirty="0">
              <a:latin typeface="IRANSansWeb" panose="020B0506030804020204" pitchFamily="34" charset="-78"/>
              <a:cs typeface="IRANSansWeb" panose="020B0506030804020204" pitchFamily="34" charset="-78"/>
            </a:endParaRPr>
          </a:p>
          <a:p>
            <a:pPr marL="0" indent="0" algn="r" rtl="1">
              <a:lnSpc>
                <a:spcPct val="160000"/>
              </a:lnSpc>
              <a:buNone/>
            </a:pPr>
            <a:endParaRPr lang="fa-IR" sz="2400" dirty="0">
              <a:latin typeface="IRANSansWeb" panose="020B0506030804020204" pitchFamily="34" charset="-78"/>
              <a:cs typeface="IRANSansWeb" panose="020B0506030804020204" pitchFamily="34" charset="-78"/>
            </a:endParaRPr>
          </a:p>
          <a:p>
            <a:pPr marL="0" indent="0" algn="r" rtl="1">
              <a:lnSpc>
                <a:spcPct val="160000"/>
              </a:lnSpc>
              <a:buNone/>
            </a:pPr>
            <a:r>
              <a:rPr lang="fa-IR" sz="2400" b="1" dirty="0">
                <a:latin typeface="IRANSansWeb" panose="020B0506030804020204" pitchFamily="34" charset="-78"/>
                <a:cs typeface="IRANSansWeb" panose="020B0506030804020204" pitchFamily="34" charset="-78"/>
              </a:rPr>
              <a:t>رفتار:</a:t>
            </a:r>
            <a:endParaRPr lang="fa-IR" sz="2400" dirty="0">
              <a:latin typeface="IRANSansWeb" panose="020B0506030804020204" pitchFamily="34" charset="-78"/>
              <a:cs typeface="IRANSansWeb" panose="020B0506030804020204" pitchFamily="34" charset="-78"/>
            </a:endParaRPr>
          </a:p>
          <a:p>
            <a:pPr marL="0" indent="0" algn="r" rtl="1">
              <a:lnSpc>
                <a:spcPct val="160000"/>
              </a:lnSpc>
              <a:buNone/>
            </a:pPr>
            <a:r>
              <a:rPr lang="en-US" sz="2400" dirty="0">
                <a:latin typeface="IRANSansWeb" panose="020B0506030804020204" pitchFamily="34" charset="-78"/>
                <a:cs typeface="IRANSansWeb" panose="020B0506030804020204" pitchFamily="34" charset="-78"/>
              </a:rPr>
              <a:t>Task </a:t>
            </a:r>
            <a:r>
              <a:rPr lang="fa-IR" sz="2400" dirty="0">
                <a:latin typeface="IRANSansWeb" panose="020B0506030804020204" pitchFamily="34" charset="-78"/>
                <a:cs typeface="IRANSansWeb" panose="020B0506030804020204" pitchFamily="34" charset="-78"/>
              </a:rPr>
              <a:t>فعلی فقط زمانی </a:t>
            </a:r>
            <a:r>
              <a:rPr lang="en-US" sz="2400" dirty="0">
                <a:latin typeface="IRANSansWeb" panose="020B0506030804020204" pitchFamily="34" charset="-78"/>
                <a:cs typeface="IRANSansWeb" panose="020B0506030804020204" pitchFamily="34" charset="-78"/>
              </a:rPr>
              <a:t> CPU </a:t>
            </a:r>
            <a:r>
              <a:rPr lang="fa-IR" sz="2400" dirty="0">
                <a:latin typeface="IRANSansWeb" panose="020B0506030804020204" pitchFamily="34" charset="-78"/>
                <a:cs typeface="IRANSansWeb" panose="020B0506030804020204" pitchFamily="34" charset="-78"/>
              </a:rPr>
              <a:t>را آزاد می‌کند که:</a:t>
            </a:r>
          </a:p>
          <a:p>
            <a:pPr marL="457200" lvl="1" indent="0" algn="r" rtl="1">
              <a:lnSpc>
                <a:spcPct val="160000"/>
              </a:lnSpc>
              <a:buNone/>
            </a:pPr>
            <a:r>
              <a:rPr lang="en-US" sz="2400" dirty="0">
                <a:latin typeface="IRANSansWeb" panose="020B0506030804020204" pitchFamily="34" charset="-78"/>
                <a:cs typeface="IRANSansWeb" panose="020B0506030804020204" pitchFamily="34" charset="-78"/>
              </a:rPr>
              <a:t> </a:t>
            </a:r>
            <a:r>
              <a:rPr lang="en-US" sz="2400" dirty="0" err="1">
                <a:latin typeface="IRANSansWeb" panose="020B0506030804020204" pitchFamily="34" charset="-78"/>
                <a:cs typeface="IRANSansWeb" panose="020B0506030804020204" pitchFamily="34" charset="-78"/>
              </a:rPr>
              <a:t>taskYIELD</a:t>
            </a:r>
            <a:r>
              <a:rPr lang="en-US" sz="2400" dirty="0">
                <a:latin typeface="IRANSansWeb" panose="020B0506030804020204" pitchFamily="34" charset="-78"/>
                <a:cs typeface="IRANSansWeb" panose="020B0506030804020204" pitchFamily="34" charset="-78"/>
              </a:rPr>
              <a:t>() </a:t>
            </a:r>
            <a:r>
              <a:rPr lang="fa-IR" sz="2400" dirty="0">
                <a:latin typeface="IRANSansWeb" panose="020B0506030804020204" pitchFamily="34" charset="-78"/>
                <a:cs typeface="IRANSansWeb" panose="020B0506030804020204" pitchFamily="34" charset="-78"/>
              </a:rPr>
              <a:t>صدا زده شود</a:t>
            </a:r>
          </a:p>
          <a:p>
            <a:pPr marL="457200" lvl="1" indent="0" algn="r" rtl="1">
              <a:lnSpc>
                <a:spcPct val="160000"/>
              </a:lnSpc>
              <a:buNone/>
            </a:pPr>
            <a:r>
              <a:rPr lang="fa-IR" sz="2400" dirty="0">
                <a:latin typeface="IRANSansWeb" panose="020B0506030804020204" pitchFamily="34" charset="-78"/>
                <a:cs typeface="IRANSansWeb" panose="020B0506030804020204" pitchFamily="34" charset="-78"/>
              </a:rPr>
              <a:t>یا وارد حالت </a:t>
            </a:r>
            <a:r>
              <a:rPr lang="en-US" sz="2400" dirty="0">
                <a:latin typeface="IRANSansWeb" panose="020B0506030804020204" pitchFamily="34" charset="-78"/>
                <a:cs typeface="IRANSansWeb" panose="020B0506030804020204" pitchFamily="34" charset="-78"/>
              </a:rPr>
              <a:t> Block </a:t>
            </a:r>
            <a:r>
              <a:rPr lang="fa-IR" sz="2400" dirty="0">
                <a:latin typeface="IRANSansWeb" panose="020B0506030804020204" pitchFamily="34" charset="-78"/>
                <a:cs typeface="IRANSansWeb" panose="020B0506030804020204" pitchFamily="34" charset="-78"/>
              </a:rPr>
              <a:t>شود مثلاً </a:t>
            </a:r>
            <a:r>
              <a:rPr lang="en-US" sz="2400" dirty="0">
                <a:latin typeface="IRANSansWeb" panose="020B0506030804020204" pitchFamily="34" charset="-78"/>
                <a:cs typeface="IRANSansWeb" panose="020B0506030804020204" pitchFamily="34" charset="-78"/>
              </a:rPr>
              <a:t>(</a:t>
            </a:r>
            <a:r>
              <a:rPr lang="en-US" sz="2400" dirty="0" err="1">
                <a:latin typeface="IRANSansWeb" panose="020B0506030804020204" pitchFamily="34" charset="-78"/>
                <a:cs typeface="IRANSansWeb" panose="020B0506030804020204" pitchFamily="34" charset="-78"/>
              </a:rPr>
              <a:t>vTaskDelay</a:t>
            </a:r>
            <a:r>
              <a:rPr lang="en-US" sz="2400" dirty="0">
                <a:latin typeface="IRANSansWeb" panose="020B0506030804020204" pitchFamily="34" charset="-78"/>
                <a:cs typeface="IRANSansWeb" panose="020B0506030804020204" pitchFamily="34" charset="-78"/>
              </a:rPr>
              <a:t>())</a:t>
            </a:r>
          </a:p>
          <a:p>
            <a:pPr marL="457200" lvl="1" indent="0" algn="r" rtl="1">
              <a:lnSpc>
                <a:spcPct val="160000"/>
              </a:lnSpc>
              <a:buNone/>
            </a:pPr>
            <a:endParaRPr lang="en-US" sz="2400" dirty="0">
              <a:latin typeface="IRANSansWeb" panose="020B0506030804020204" pitchFamily="34" charset="-78"/>
              <a:cs typeface="IRANSansWeb" panose="020B0506030804020204" pitchFamily="34" charset="-78"/>
            </a:endParaRPr>
          </a:p>
          <a:p>
            <a:pPr marL="0" indent="0" algn="r" rtl="1">
              <a:lnSpc>
                <a:spcPct val="160000"/>
              </a:lnSpc>
              <a:buNone/>
            </a:pPr>
            <a:r>
              <a:rPr lang="fa-IR" sz="2400" b="1" dirty="0">
                <a:latin typeface="IRANSansWeb" panose="020B0506030804020204" pitchFamily="34" charset="-78"/>
                <a:cs typeface="IRANSansWeb" panose="020B0506030804020204" pitchFamily="34" charset="-78"/>
              </a:rPr>
              <a:t>نتیجه‌ها:</a:t>
            </a:r>
            <a:endParaRPr lang="fa-IR" sz="2400" dirty="0">
              <a:latin typeface="IRANSansWeb" panose="020B0506030804020204" pitchFamily="34" charset="-78"/>
              <a:cs typeface="IRANSansWeb" panose="020B0506030804020204" pitchFamily="34" charset="-78"/>
            </a:endParaRPr>
          </a:p>
          <a:p>
            <a:pPr marL="0" indent="0" algn="r" rtl="1">
              <a:lnSpc>
                <a:spcPct val="160000"/>
              </a:lnSpc>
              <a:buNone/>
            </a:pPr>
            <a:r>
              <a:rPr lang="fa-IR" sz="2400" dirty="0">
                <a:latin typeface="IRANSansWeb" panose="020B0506030804020204" pitchFamily="34" charset="-78"/>
                <a:cs typeface="IRANSansWeb" panose="020B0506030804020204" pitchFamily="34" charset="-78"/>
              </a:rPr>
              <a:t>کنترل کامل‌تر دست برنامه‌نویس</a:t>
            </a:r>
          </a:p>
          <a:p>
            <a:pPr marL="0" indent="0" algn="r" rtl="1">
              <a:lnSpc>
                <a:spcPct val="160000"/>
              </a:lnSpc>
              <a:buNone/>
            </a:pPr>
            <a:r>
              <a:rPr lang="en-US" sz="2400" dirty="0">
                <a:latin typeface="IRANSansWeb" panose="020B0506030804020204" pitchFamily="34" charset="-78"/>
                <a:cs typeface="IRANSansWeb" panose="020B0506030804020204" pitchFamily="34" charset="-78"/>
              </a:rPr>
              <a:t> Context Switch </a:t>
            </a:r>
            <a:r>
              <a:rPr lang="fa-IR" sz="2400" dirty="0">
                <a:latin typeface="IRANSansWeb" panose="020B0506030804020204" pitchFamily="34" charset="-78"/>
                <a:cs typeface="IRANSansWeb" panose="020B0506030804020204" pitchFamily="34" charset="-78"/>
              </a:rPr>
              <a:t>کمتر</a:t>
            </a:r>
          </a:p>
          <a:p>
            <a:pPr marL="0" indent="0" algn="r" rtl="1">
              <a:lnSpc>
                <a:spcPct val="160000"/>
              </a:lnSpc>
              <a:buNone/>
            </a:pPr>
            <a:r>
              <a:rPr lang="fa-IR" sz="2400" dirty="0">
                <a:latin typeface="IRANSansWeb" panose="020B0506030804020204" pitchFamily="34" charset="-78"/>
                <a:cs typeface="IRANSansWeb" panose="020B0506030804020204" pitchFamily="34" charset="-78"/>
              </a:rPr>
              <a:t>خطر قفل شدن سیستم اگر </a:t>
            </a:r>
            <a:r>
              <a:rPr lang="en-US" sz="2400" dirty="0">
                <a:latin typeface="IRANSansWeb" panose="020B0506030804020204" pitchFamily="34" charset="-78"/>
                <a:cs typeface="IRANSansWeb" panose="020B0506030804020204" pitchFamily="34" charset="-78"/>
              </a:rPr>
              <a:t> Task </a:t>
            </a:r>
            <a:r>
              <a:rPr lang="fa-IR" sz="2400" dirty="0">
                <a:latin typeface="IRANSansWeb" panose="020B0506030804020204" pitchFamily="34" charset="-78"/>
                <a:cs typeface="IRANSansWeb" panose="020B0506030804020204" pitchFamily="34" charset="-78"/>
              </a:rPr>
              <a:t>طولانی </a:t>
            </a:r>
            <a:r>
              <a:rPr lang="en-US" sz="2400" dirty="0">
                <a:latin typeface="IRANSansWeb" panose="020B0506030804020204" pitchFamily="34" charset="-78"/>
                <a:cs typeface="IRANSansWeb" panose="020B0506030804020204" pitchFamily="34" charset="-78"/>
              </a:rPr>
              <a:t> Yield </a:t>
            </a:r>
            <a:r>
              <a:rPr lang="fa-IR" sz="2400" dirty="0">
                <a:latin typeface="IRANSansWeb" panose="020B0506030804020204" pitchFamily="34" charset="-78"/>
                <a:cs typeface="IRANSansWeb" panose="020B0506030804020204" pitchFamily="34" charset="-78"/>
              </a:rPr>
              <a:t>نکند</a:t>
            </a:r>
          </a:p>
        </p:txBody>
      </p:sp>
    </p:spTree>
    <p:extLst>
      <p:ext uri="{BB962C8B-B14F-4D97-AF65-F5344CB8AC3E}">
        <p14:creationId xmlns:p14="http://schemas.microsoft.com/office/powerpoint/2010/main" val="12901612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33D36-289A-8F7A-809C-9B6FE091CD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8E2F61-19FF-7873-B63D-8E2C6B32FAA0}"/>
              </a:ext>
            </a:extLst>
          </p:cNvPr>
          <p:cNvSpPr>
            <a:spLocks noGrp="1"/>
          </p:cNvSpPr>
          <p:nvPr>
            <p:ph type="title"/>
          </p:nvPr>
        </p:nvSpPr>
        <p:spPr/>
        <p:txBody>
          <a:bodyPr>
            <a:noAutofit/>
          </a:bodyPr>
          <a:lstStyle/>
          <a:p>
            <a:pPr rtl="1"/>
            <a:r>
              <a:rPr lang="en-US" sz="3200" dirty="0">
                <a:latin typeface="IRANSansWeb" panose="020B0506030804020204" pitchFamily="34" charset="-78"/>
                <a:cs typeface="IRANSansWeb" panose="020B0506030804020204" pitchFamily="34" charset="-78"/>
              </a:rPr>
              <a:t>Synchronization Primitives in </a:t>
            </a:r>
            <a:r>
              <a:rPr lang="en-US" sz="3200" dirty="0" err="1">
                <a:latin typeface="IRANSansWeb" panose="020B0506030804020204" pitchFamily="34" charset="-78"/>
                <a:cs typeface="IRANSansWeb" panose="020B0506030804020204" pitchFamily="34" charset="-78"/>
              </a:rPr>
              <a:t>FreeRTOS</a:t>
            </a:r>
            <a:endParaRPr lang="en-US" sz="3200" dirty="0">
              <a:latin typeface="IRANSansWeb" panose="020B0506030804020204" pitchFamily="34" charset="-78"/>
              <a:cs typeface="IRANSansWeb" panose="020B0506030804020204" pitchFamily="34" charset="-78"/>
            </a:endParaRPr>
          </a:p>
        </p:txBody>
      </p:sp>
      <p:sp>
        <p:nvSpPr>
          <p:cNvPr id="3" name="Content Placeholder 2">
            <a:extLst>
              <a:ext uri="{FF2B5EF4-FFF2-40B4-BE49-F238E27FC236}">
                <a16:creationId xmlns:a16="http://schemas.microsoft.com/office/drawing/2014/main" id="{B9C08291-FB05-6DDF-EC8D-F81075B3DB3B}"/>
              </a:ext>
            </a:extLst>
          </p:cNvPr>
          <p:cNvSpPr>
            <a:spLocks noGrp="1"/>
          </p:cNvSpPr>
          <p:nvPr>
            <p:ph idx="1"/>
          </p:nvPr>
        </p:nvSpPr>
        <p:spPr/>
        <p:txBody>
          <a:bodyPr>
            <a:normAutofit/>
          </a:bodyPr>
          <a:lstStyle/>
          <a:p>
            <a:pPr marL="0" indent="0" algn="r" rtl="1">
              <a:buNone/>
            </a:pPr>
            <a:endParaRPr lang="en-US" sz="2400" dirty="0">
              <a:latin typeface="IRANSansWeb" panose="020B0506030804020204" pitchFamily="34" charset="-78"/>
              <a:cs typeface="IRANSansWeb" panose="020B0506030804020204" pitchFamily="34" charset="-78"/>
            </a:endParaRPr>
          </a:p>
          <a:p>
            <a:pPr marL="0" indent="0" algn="r" rtl="1">
              <a:lnSpc>
                <a:spcPct val="200000"/>
              </a:lnSpc>
              <a:buNone/>
            </a:pPr>
            <a:r>
              <a:rPr lang="fa-IR" sz="2400" dirty="0">
                <a:latin typeface="IRANSansWeb" panose="020B0506030804020204" pitchFamily="34" charset="-78"/>
                <a:cs typeface="IRANSansWeb" panose="020B0506030804020204" pitchFamily="34" charset="-78"/>
              </a:rPr>
              <a:t>ابزارهای در هر </a:t>
            </a:r>
            <a:r>
              <a:rPr lang="en-US" sz="2400" dirty="0">
                <a:latin typeface="IRANSansWeb" panose="020B0506030804020204" pitchFamily="34" charset="-78"/>
                <a:cs typeface="IRANSansWeb" panose="020B0506030804020204" pitchFamily="34" charset="-78"/>
              </a:rPr>
              <a:t>RTOS</a:t>
            </a:r>
            <a:r>
              <a:rPr lang="fa-IR" sz="2400" dirty="0">
                <a:latin typeface="IRANSansWeb" panose="020B0506030804020204" pitchFamily="34" charset="-78"/>
                <a:cs typeface="IRANSansWeb" panose="020B0506030804020204" pitchFamily="34" charset="-78"/>
              </a:rPr>
              <a:t> هستند که کمک می‌کنند </a:t>
            </a:r>
            <a:r>
              <a:rPr lang="en-US" sz="2400" dirty="0">
                <a:latin typeface="IRANSansWeb" panose="020B0506030804020204" pitchFamily="34" charset="-78"/>
                <a:cs typeface="IRANSansWeb" panose="020B0506030804020204" pitchFamily="34" charset="-78"/>
              </a:rPr>
              <a:t>Task</a:t>
            </a:r>
            <a:r>
              <a:rPr lang="fa-IR" sz="2400" dirty="0">
                <a:latin typeface="IRANSansWeb" panose="020B0506030804020204" pitchFamily="34" charset="-78"/>
                <a:cs typeface="IRANSansWeb" panose="020B0506030804020204" pitchFamily="34" charset="-78"/>
              </a:rPr>
              <a:t>ها و </a:t>
            </a:r>
            <a:r>
              <a:rPr lang="en-US" sz="2400" dirty="0">
                <a:latin typeface="IRANSansWeb" panose="020B0506030804020204" pitchFamily="34" charset="-78"/>
                <a:cs typeface="IRANSansWeb" panose="020B0506030804020204" pitchFamily="34" charset="-78"/>
              </a:rPr>
              <a:t> ISR</a:t>
            </a:r>
            <a:r>
              <a:rPr lang="fa-IR" sz="2400" dirty="0">
                <a:latin typeface="IRANSansWeb" panose="020B0506030804020204" pitchFamily="34" charset="-78"/>
                <a:cs typeface="IRANSansWeb" panose="020B0506030804020204" pitchFamily="34" charset="-78"/>
              </a:rPr>
              <a:t>ها بتوانند </a:t>
            </a:r>
            <a:r>
              <a:rPr lang="fa-IR" sz="2400" b="1" dirty="0">
                <a:latin typeface="IRANSansWeb" panose="020B0506030804020204" pitchFamily="34" charset="-78"/>
                <a:cs typeface="IRANSansWeb" panose="020B0506030804020204" pitchFamily="34" charset="-78"/>
              </a:rPr>
              <a:t>با هم هماهنگ شوند</a:t>
            </a:r>
            <a:r>
              <a:rPr lang="fa-IR" sz="2400" dirty="0">
                <a:latin typeface="IRANSansWeb" panose="020B0506030804020204" pitchFamily="34" charset="-78"/>
                <a:cs typeface="IRANSansWeb" panose="020B0506030804020204" pitchFamily="34" charset="-78"/>
              </a:rPr>
              <a:t>، </a:t>
            </a:r>
            <a:r>
              <a:rPr lang="fa-IR" sz="2400" b="1" dirty="0">
                <a:latin typeface="IRANSansWeb" panose="020B0506030804020204" pitchFamily="34" charset="-78"/>
                <a:cs typeface="IRANSansWeb" panose="020B0506030804020204" pitchFamily="34" charset="-78"/>
              </a:rPr>
              <a:t>به منابع مشترک دسترسی امن داشته باشند</a:t>
            </a:r>
            <a:r>
              <a:rPr lang="fa-IR" sz="2400" dirty="0">
                <a:latin typeface="IRANSansWeb" panose="020B0506030804020204" pitchFamily="34" charset="-78"/>
                <a:cs typeface="IRANSansWeb" panose="020B0506030804020204" pitchFamily="34" charset="-78"/>
              </a:rPr>
              <a:t> و </a:t>
            </a:r>
            <a:r>
              <a:rPr lang="fa-IR" sz="2400" b="1" dirty="0">
                <a:latin typeface="IRANSansWeb" panose="020B0506030804020204" pitchFamily="34" charset="-78"/>
                <a:cs typeface="IRANSansWeb" panose="020B0506030804020204" pitchFamily="34" charset="-78"/>
              </a:rPr>
              <a:t>رویدادها را به هم اطلاع بدهند</a:t>
            </a:r>
            <a:r>
              <a:rPr lang="fa-IR" sz="2400" dirty="0">
                <a:latin typeface="IRANSansWeb" panose="020B0506030804020204" pitchFamily="34" charset="-78"/>
                <a:cs typeface="IRANSansWeb" panose="020B0506030804020204" pitchFamily="34" charset="-78"/>
              </a:rPr>
              <a:t>. بدون این‌ها، سیستم خیلی زود دچار </a:t>
            </a:r>
            <a:r>
              <a:rPr lang="en-US" sz="2400" dirty="0">
                <a:latin typeface="IRANSansWeb" panose="020B0506030804020204" pitchFamily="34" charset="-78"/>
                <a:cs typeface="IRANSansWeb" panose="020B0506030804020204" pitchFamily="34" charset="-78"/>
              </a:rPr>
              <a:t> Race Condition </a:t>
            </a:r>
            <a:r>
              <a:rPr lang="fa-IR" sz="2400" dirty="0">
                <a:latin typeface="IRANSansWeb" panose="020B0506030804020204" pitchFamily="34" charset="-78"/>
                <a:cs typeface="IRANSansWeb" panose="020B0506030804020204" pitchFamily="34" charset="-78"/>
              </a:rPr>
              <a:t>و باگ‌های عجیب می‌شود.</a:t>
            </a:r>
          </a:p>
        </p:txBody>
      </p:sp>
    </p:spTree>
    <p:extLst>
      <p:ext uri="{BB962C8B-B14F-4D97-AF65-F5344CB8AC3E}">
        <p14:creationId xmlns:p14="http://schemas.microsoft.com/office/powerpoint/2010/main" val="39099066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66E10-D596-7BC4-91FB-643AEB18CE79}"/>
              </a:ext>
            </a:extLst>
          </p:cNvPr>
          <p:cNvSpPr>
            <a:spLocks noGrp="1"/>
          </p:cNvSpPr>
          <p:nvPr>
            <p:ph type="title"/>
          </p:nvPr>
        </p:nvSpPr>
        <p:spPr/>
        <p:txBody>
          <a:bodyPr>
            <a:normAutofit/>
          </a:bodyPr>
          <a:lstStyle/>
          <a:p>
            <a:pPr rtl="1"/>
            <a:r>
              <a:rPr lang="fa-IR" sz="4000" dirty="0">
                <a:latin typeface="IRANSansWeb" panose="020B0506030804020204" pitchFamily="34" charset="-78"/>
                <a:cs typeface="IRANSansWeb" panose="020B0506030804020204" pitchFamily="34" charset="-78"/>
              </a:rPr>
              <a:t>سمافور</a:t>
            </a:r>
            <a:r>
              <a:rPr lang="en-US" sz="4000" dirty="0">
                <a:latin typeface="IRANSansWeb" panose="020B0506030804020204" pitchFamily="34" charset="-78"/>
                <a:cs typeface="IRANSansWeb" panose="020B0506030804020204" pitchFamily="34" charset="-78"/>
              </a:rPr>
              <a:t> - </a:t>
            </a:r>
            <a:r>
              <a:rPr lang="fa-IR" sz="4000" dirty="0">
                <a:latin typeface="IRANSansWeb" panose="020B0506030804020204" pitchFamily="34" charset="-78"/>
                <a:cs typeface="IRANSansWeb" panose="020B0506030804020204" pitchFamily="34" charset="-78"/>
              </a:rPr>
              <a:t> </a:t>
            </a:r>
            <a:r>
              <a:rPr lang="en-US" sz="4000" dirty="0">
                <a:latin typeface="IRANSansWeb" panose="020B0506030804020204" pitchFamily="34" charset="-78"/>
                <a:cs typeface="IRANSansWeb" panose="020B0506030804020204" pitchFamily="34" charset="-78"/>
              </a:rPr>
              <a:t>Semaphore</a:t>
            </a:r>
          </a:p>
        </p:txBody>
      </p:sp>
      <p:sp>
        <p:nvSpPr>
          <p:cNvPr id="3" name="Content Placeholder 2">
            <a:extLst>
              <a:ext uri="{FF2B5EF4-FFF2-40B4-BE49-F238E27FC236}">
                <a16:creationId xmlns:a16="http://schemas.microsoft.com/office/drawing/2014/main" id="{5DC38AA2-6ECE-1037-1A2C-4704A7FB4EAB}"/>
              </a:ext>
            </a:extLst>
          </p:cNvPr>
          <p:cNvSpPr>
            <a:spLocks noGrp="1"/>
          </p:cNvSpPr>
          <p:nvPr>
            <p:ph idx="1"/>
          </p:nvPr>
        </p:nvSpPr>
        <p:spPr>
          <a:xfrm>
            <a:off x="457200" y="1600200"/>
            <a:ext cx="8229600" cy="4764741"/>
          </a:xfrm>
        </p:spPr>
        <p:txBody>
          <a:bodyPr>
            <a:normAutofit fontScale="47500" lnSpcReduction="20000"/>
          </a:bodyPr>
          <a:lstStyle/>
          <a:p>
            <a:pPr marL="0" indent="0" algn="r" rtl="1">
              <a:lnSpc>
                <a:spcPct val="170000"/>
              </a:lnSpc>
              <a:buNone/>
            </a:pPr>
            <a:r>
              <a:rPr lang="en-US" b="1" dirty="0">
                <a:latin typeface="IRANSansWeb" panose="020B0506030804020204" pitchFamily="34" charset="-78"/>
                <a:cs typeface="IRANSansWeb" panose="020B0506030804020204" pitchFamily="34" charset="-78"/>
              </a:rPr>
              <a:t>Binary Semaphore</a:t>
            </a:r>
          </a:p>
          <a:p>
            <a:pPr marL="0" indent="0" algn="r" rtl="1">
              <a:lnSpc>
                <a:spcPct val="170000"/>
              </a:lnSpc>
              <a:buNone/>
            </a:pPr>
            <a:r>
              <a:rPr lang="fa-IR" dirty="0">
                <a:latin typeface="IRANSansWeb" panose="020B0506030804020204" pitchFamily="34" charset="-78"/>
                <a:cs typeface="IRANSansWeb" panose="020B0506030804020204" pitchFamily="34" charset="-78"/>
              </a:rPr>
              <a:t>برای </a:t>
            </a:r>
            <a:r>
              <a:rPr lang="fa-IR" b="1" dirty="0">
                <a:latin typeface="IRANSansWeb" panose="020B0506030804020204" pitchFamily="34" charset="-78"/>
                <a:cs typeface="IRANSansWeb" panose="020B0506030804020204" pitchFamily="34" charset="-78"/>
              </a:rPr>
              <a:t>سیگنال دادن</a:t>
            </a:r>
            <a:r>
              <a:rPr lang="fa-IR" dirty="0">
                <a:latin typeface="IRANSansWeb" panose="020B0506030804020204" pitchFamily="34" charset="-78"/>
                <a:cs typeface="IRANSansWeb" panose="020B0506030804020204" pitchFamily="34" charset="-78"/>
              </a:rPr>
              <a:t> بین </a:t>
            </a:r>
            <a:r>
              <a:rPr lang="en-US" dirty="0">
                <a:latin typeface="IRANSansWeb" panose="020B0506030804020204" pitchFamily="34" charset="-78"/>
                <a:cs typeface="IRANSansWeb" panose="020B0506030804020204" pitchFamily="34" charset="-78"/>
              </a:rPr>
              <a:t>Task</a:t>
            </a:r>
            <a:r>
              <a:rPr lang="fa-IR" dirty="0">
                <a:latin typeface="IRANSansWeb" panose="020B0506030804020204" pitchFamily="34" charset="-78"/>
                <a:cs typeface="IRANSansWeb" panose="020B0506030804020204" pitchFamily="34" charset="-78"/>
              </a:rPr>
              <a:t>ها یا بین </a:t>
            </a:r>
            <a:r>
              <a:rPr lang="en-US" dirty="0">
                <a:latin typeface="IRANSansWeb" panose="020B0506030804020204" pitchFamily="34" charset="-78"/>
                <a:cs typeface="IRANSansWeb" panose="020B0506030804020204" pitchFamily="34" charset="-78"/>
              </a:rPr>
              <a:t>ISR → Task.</a:t>
            </a:r>
          </a:p>
          <a:p>
            <a:pPr marL="0" indent="0" algn="r" rtl="1">
              <a:lnSpc>
                <a:spcPct val="170000"/>
              </a:lnSpc>
              <a:buNone/>
            </a:pPr>
            <a:r>
              <a:rPr lang="fa-IR" b="1" dirty="0">
                <a:latin typeface="IRANSansWeb" panose="020B0506030804020204" pitchFamily="34" charset="-78"/>
                <a:cs typeface="IRANSansWeb" panose="020B0506030804020204" pitchFamily="34" charset="-78"/>
              </a:rPr>
              <a:t>ویژگی‌ها:</a:t>
            </a:r>
            <a:endParaRPr lang="fa-IR" dirty="0">
              <a:latin typeface="IRANSansWeb" panose="020B0506030804020204" pitchFamily="34" charset="-78"/>
              <a:cs typeface="IRANSansWeb" panose="020B0506030804020204" pitchFamily="34" charset="-78"/>
            </a:endParaRPr>
          </a:p>
          <a:p>
            <a:pPr marL="0" indent="0" algn="r" rtl="1">
              <a:lnSpc>
                <a:spcPct val="170000"/>
              </a:lnSpc>
              <a:buNone/>
            </a:pPr>
            <a:r>
              <a:rPr lang="fa-IR" dirty="0">
                <a:latin typeface="IRANSansWeb" panose="020B0506030804020204" pitchFamily="34" charset="-78"/>
                <a:cs typeface="IRANSansWeb" panose="020B0506030804020204" pitchFamily="34" charset="-78"/>
              </a:rPr>
              <a:t>فقط 0 یا 1</a:t>
            </a:r>
          </a:p>
          <a:p>
            <a:pPr marL="0" indent="0" algn="r" rtl="1">
              <a:lnSpc>
                <a:spcPct val="170000"/>
              </a:lnSpc>
              <a:buNone/>
            </a:pPr>
            <a:r>
              <a:rPr lang="fa-IR" dirty="0">
                <a:latin typeface="IRANSansWeb" panose="020B0506030804020204" pitchFamily="34" charset="-78"/>
                <a:cs typeface="IRANSansWeb" panose="020B0506030804020204" pitchFamily="34" charset="-78"/>
              </a:rPr>
              <a:t>مالکیت ندارد برخلاف </a:t>
            </a:r>
            <a:r>
              <a:rPr lang="en-US" dirty="0">
                <a:latin typeface="IRANSansWeb" panose="020B0506030804020204" pitchFamily="34" charset="-78"/>
                <a:cs typeface="IRANSansWeb" panose="020B0506030804020204" pitchFamily="34" charset="-78"/>
              </a:rPr>
              <a:t>(Mutex)</a:t>
            </a:r>
          </a:p>
          <a:p>
            <a:pPr marL="0" indent="0" algn="r" rtl="1">
              <a:lnSpc>
                <a:spcPct val="170000"/>
              </a:lnSpc>
              <a:buNone/>
            </a:pPr>
            <a:r>
              <a:rPr lang="fa-IR" dirty="0">
                <a:latin typeface="IRANSansWeb" panose="020B0506030804020204" pitchFamily="34" charset="-78"/>
                <a:cs typeface="IRANSansWeb" panose="020B0506030804020204" pitchFamily="34" charset="-78"/>
              </a:rPr>
              <a:t>مناسب برای </a:t>
            </a:r>
            <a:r>
              <a:rPr lang="en-US" dirty="0">
                <a:latin typeface="IRANSansWeb" panose="020B0506030804020204" pitchFamily="34" charset="-78"/>
                <a:cs typeface="IRANSansWeb" panose="020B0506030804020204" pitchFamily="34" charset="-78"/>
              </a:rPr>
              <a:t>Event Notification</a:t>
            </a:r>
          </a:p>
          <a:p>
            <a:pPr marL="0" indent="0" algn="r" rtl="1">
              <a:lnSpc>
                <a:spcPct val="170000"/>
              </a:lnSpc>
              <a:buNone/>
            </a:pPr>
            <a:r>
              <a:rPr lang="fa-IR" b="1" dirty="0">
                <a:latin typeface="IRANSansWeb" panose="020B0506030804020204" pitchFamily="34" charset="-78"/>
                <a:cs typeface="IRANSansWeb" panose="020B0506030804020204" pitchFamily="34" charset="-78"/>
              </a:rPr>
              <a:t>کاربرد رایج:</a:t>
            </a:r>
            <a:endParaRPr lang="fa-IR" dirty="0">
              <a:latin typeface="IRANSansWeb" panose="020B0506030804020204" pitchFamily="34" charset="-78"/>
              <a:cs typeface="IRANSansWeb" panose="020B0506030804020204" pitchFamily="34" charset="-78"/>
            </a:endParaRPr>
          </a:p>
          <a:p>
            <a:pPr marL="0" indent="0" algn="r" rtl="1">
              <a:lnSpc>
                <a:spcPct val="170000"/>
              </a:lnSpc>
              <a:buNone/>
            </a:pPr>
            <a:r>
              <a:rPr lang="en-US" dirty="0">
                <a:latin typeface="IRANSansWeb" panose="020B0506030804020204" pitchFamily="34" charset="-78"/>
                <a:cs typeface="IRANSansWeb" panose="020B0506030804020204" pitchFamily="34" charset="-78"/>
              </a:rPr>
              <a:t>ISR </a:t>
            </a:r>
            <a:r>
              <a:rPr lang="fa-IR" dirty="0">
                <a:latin typeface="IRANSansWeb" panose="020B0506030804020204" pitchFamily="34" charset="-78"/>
                <a:cs typeface="IRANSansWeb" panose="020B0506030804020204" pitchFamily="34" charset="-78"/>
              </a:rPr>
              <a:t>به </a:t>
            </a:r>
            <a:r>
              <a:rPr lang="en-US" dirty="0">
                <a:latin typeface="IRANSansWeb" panose="020B0506030804020204" pitchFamily="34" charset="-78"/>
                <a:cs typeface="IRANSansWeb" panose="020B0506030804020204" pitchFamily="34" charset="-78"/>
              </a:rPr>
              <a:t>Task </a:t>
            </a:r>
            <a:r>
              <a:rPr lang="fa-IR" dirty="0">
                <a:latin typeface="IRANSansWeb" panose="020B0506030804020204" pitchFamily="34" charset="-78"/>
                <a:cs typeface="IRANSansWeb" panose="020B0506030804020204" pitchFamily="34" charset="-78"/>
              </a:rPr>
              <a:t>خبر بدهد که یک اتفاق افتاده (مثلاً داده‌ی </a:t>
            </a:r>
            <a:r>
              <a:rPr lang="en-US" dirty="0">
                <a:latin typeface="IRANSansWeb" panose="020B0506030804020204" pitchFamily="34" charset="-78"/>
                <a:cs typeface="IRANSansWeb" panose="020B0506030804020204" pitchFamily="34" charset="-78"/>
              </a:rPr>
              <a:t>UART </a:t>
            </a:r>
            <a:r>
              <a:rPr lang="fa-IR" dirty="0">
                <a:latin typeface="IRANSansWeb" panose="020B0506030804020204" pitchFamily="34" charset="-78"/>
                <a:cs typeface="IRANSansWeb" panose="020B0506030804020204" pitchFamily="34" charset="-78"/>
              </a:rPr>
              <a:t>رسید)</a:t>
            </a:r>
          </a:p>
          <a:p>
            <a:pPr marL="0" indent="0" rtl="1">
              <a:lnSpc>
                <a:spcPct val="170000"/>
              </a:lnSpc>
              <a:buNone/>
            </a:pPr>
            <a:r>
              <a:rPr lang="en-US" dirty="0" err="1">
                <a:latin typeface="IRANSansWeb" panose="020B0506030804020204" pitchFamily="34" charset="-78"/>
                <a:cs typeface="IRANSansWeb" panose="020B0506030804020204" pitchFamily="34" charset="-78"/>
              </a:rPr>
              <a:t>xSemaphoreGiveFromISR</a:t>
            </a:r>
            <a:r>
              <a:rPr lang="en-US" dirty="0">
                <a:latin typeface="IRANSansWeb" panose="020B0506030804020204" pitchFamily="34" charset="-78"/>
                <a:cs typeface="IRANSansWeb" panose="020B0506030804020204" pitchFamily="34" charset="-78"/>
              </a:rPr>
              <a:t>(</a:t>
            </a:r>
            <a:r>
              <a:rPr lang="en-US" dirty="0" err="1">
                <a:latin typeface="IRANSansWeb" panose="020B0506030804020204" pitchFamily="34" charset="-78"/>
                <a:cs typeface="IRANSansWeb" panose="020B0506030804020204" pitchFamily="34" charset="-78"/>
              </a:rPr>
              <a:t>xBinarySemaphore</a:t>
            </a:r>
            <a:r>
              <a:rPr lang="en-US" dirty="0">
                <a:latin typeface="IRANSansWeb" panose="020B0506030804020204" pitchFamily="34" charset="-78"/>
                <a:cs typeface="IRANSansWeb" panose="020B0506030804020204" pitchFamily="34" charset="-78"/>
              </a:rPr>
              <a:t>, &amp;</a:t>
            </a:r>
            <a:r>
              <a:rPr lang="en-US" dirty="0" err="1">
                <a:latin typeface="IRANSansWeb" panose="020B0506030804020204" pitchFamily="34" charset="-78"/>
                <a:cs typeface="IRANSansWeb" panose="020B0506030804020204" pitchFamily="34" charset="-78"/>
              </a:rPr>
              <a:t>xHigherPriorityTaskWoken</a:t>
            </a:r>
            <a:r>
              <a:rPr lang="en-US" dirty="0">
                <a:latin typeface="IRANSansWeb" panose="020B0506030804020204" pitchFamily="34" charset="-78"/>
                <a:cs typeface="IRANSansWeb" panose="020B0506030804020204" pitchFamily="34" charset="-78"/>
              </a:rPr>
              <a:t>);</a:t>
            </a:r>
          </a:p>
          <a:p>
            <a:pPr marL="0" indent="0" rtl="1">
              <a:lnSpc>
                <a:spcPct val="170000"/>
              </a:lnSpc>
              <a:buNone/>
            </a:pPr>
            <a:r>
              <a:rPr lang="en-US" dirty="0" err="1">
                <a:latin typeface="IRANSansWeb" panose="020B0506030804020204" pitchFamily="34" charset="-78"/>
                <a:cs typeface="IRANSansWeb" panose="020B0506030804020204" pitchFamily="34" charset="-78"/>
              </a:rPr>
              <a:t>xSemaphoreTake</a:t>
            </a:r>
            <a:r>
              <a:rPr lang="en-US" dirty="0">
                <a:latin typeface="IRANSansWeb" panose="020B0506030804020204" pitchFamily="34" charset="-78"/>
                <a:cs typeface="IRANSansWeb" panose="020B0506030804020204" pitchFamily="34" charset="-78"/>
              </a:rPr>
              <a:t>(</a:t>
            </a:r>
            <a:r>
              <a:rPr lang="en-US" dirty="0" err="1">
                <a:latin typeface="IRANSansWeb" panose="020B0506030804020204" pitchFamily="34" charset="-78"/>
                <a:cs typeface="IRANSansWeb" panose="020B0506030804020204" pitchFamily="34" charset="-78"/>
              </a:rPr>
              <a:t>xBinarySemaphore</a:t>
            </a:r>
            <a:r>
              <a:rPr lang="en-US" dirty="0">
                <a:latin typeface="IRANSansWeb" panose="020B0506030804020204" pitchFamily="34" charset="-78"/>
                <a:cs typeface="IRANSansWeb" panose="020B0506030804020204" pitchFamily="34" charset="-78"/>
              </a:rPr>
              <a:t>, </a:t>
            </a:r>
            <a:r>
              <a:rPr lang="en-US" dirty="0" err="1">
                <a:latin typeface="IRANSansWeb" panose="020B0506030804020204" pitchFamily="34" charset="-78"/>
                <a:cs typeface="IRANSansWeb" panose="020B0506030804020204" pitchFamily="34" charset="-78"/>
              </a:rPr>
              <a:t>portMAX_DELAY</a:t>
            </a:r>
            <a:r>
              <a:rPr lang="en-US" dirty="0">
                <a:latin typeface="IRANSansWeb" panose="020B0506030804020204" pitchFamily="34" charset="-78"/>
                <a:cs typeface="IRANSansWeb" panose="020B0506030804020204" pitchFamily="34" charset="-78"/>
              </a:rPr>
              <a:t>);</a:t>
            </a:r>
          </a:p>
          <a:p>
            <a:pPr marL="0" indent="0" algn="r" rtl="1">
              <a:lnSpc>
                <a:spcPct val="170000"/>
              </a:lnSpc>
              <a:buNone/>
            </a:pP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سبک و سریع</a:t>
            </a:r>
            <a:br>
              <a:rPr lang="fa-IR" dirty="0">
                <a:latin typeface="IRANSansWeb" panose="020B0506030804020204" pitchFamily="34" charset="-78"/>
                <a:cs typeface="IRANSansWeb" panose="020B0506030804020204" pitchFamily="34" charset="-78"/>
              </a:rPr>
            </a:b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محافظت از </a:t>
            </a:r>
            <a:r>
              <a:rPr lang="en-US" dirty="0">
                <a:latin typeface="IRANSansWeb" panose="020B0506030804020204" pitchFamily="34" charset="-78"/>
                <a:cs typeface="IRANSansWeb" panose="020B0506030804020204" pitchFamily="34" charset="-78"/>
              </a:rPr>
              <a:t>Resource </a:t>
            </a:r>
            <a:r>
              <a:rPr lang="fa-IR" dirty="0">
                <a:latin typeface="IRANSansWeb" panose="020B0506030804020204" pitchFamily="34" charset="-78"/>
                <a:cs typeface="IRANSansWeb" panose="020B0506030804020204" pitchFamily="34" charset="-78"/>
              </a:rPr>
              <a:t>مناسب نیست</a:t>
            </a:r>
          </a:p>
        </p:txBody>
      </p:sp>
    </p:spTree>
    <p:extLst>
      <p:ext uri="{BB962C8B-B14F-4D97-AF65-F5344CB8AC3E}">
        <p14:creationId xmlns:p14="http://schemas.microsoft.com/office/powerpoint/2010/main" val="39866500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A6191-59DC-BA7D-5F2B-D148FE241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9685A5-AB9F-30A9-94B4-2D2C6434F77F}"/>
              </a:ext>
            </a:extLst>
          </p:cNvPr>
          <p:cNvSpPr>
            <a:spLocks noGrp="1"/>
          </p:cNvSpPr>
          <p:nvPr>
            <p:ph type="title"/>
          </p:nvPr>
        </p:nvSpPr>
        <p:spPr/>
        <p:txBody>
          <a:bodyPr>
            <a:normAutofit/>
          </a:bodyPr>
          <a:lstStyle/>
          <a:p>
            <a:pPr rtl="1"/>
            <a:r>
              <a:rPr lang="fa-IR" sz="4000" dirty="0">
                <a:latin typeface="IRANSansWeb" panose="020B0506030804020204" pitchFamily="34" charset="-78"/>
                <a:cs typeface="IRANSansWeb" panose="020B0506030804020204" pitchFamily="34" charset="-78"/>
              </a:rPr>
              <a:t>سمافور</a:t>
            </a:r>
            <a:r>
              <a:rPr lang="en-US" sz="4000" dirty="0">
                <a:latin typeface="IRANSansWeb" panose="020B0506030804020204" pitchFamily="34" charset="-78"/>
                <a:cs typeface="IRANSansWeb" panose="020B0506030804020204" pitchFamily="34" charset="-78"/>
              </a:rPr>
              <a:t> - </a:t>
            </a:r>
            <a:r>
              <a:rPr lang="fa-IR" sz="4000" dirty="0">
                <a:latin typeface="IRANSansWeb" panose="020B0506030804020204" pitchFamily="34" charset="-78"/>
                <a:cs typeface="IRANSansWeb" panose="020B0506030804020204" pitchFamily="34" charset="-78"/>
              </a:rPr>
              <a:t> </a:t>
            </a:r>
            <a:r>
              <a:rPr lang="en-US" sz="4000" dirty="0">
                <a:latin typeface="IRANSansWeb" panose="020B0506030804020204" pitchFamily="34" charset="-78"/>
                <a:cs typeface="IRANSansWeb" panose="020B0506030804020204" pitchFamily="34" charset="-78"/>
              </a:rPr>
              <a:t>Semaphore</a:t>
            </a:r>
          </a:p>
        </p:txBody>
      </p:sp>
      <p:sp>
        <p:nvSpPr>
          <p:cNvPr id="3" name="Content Placeholder 2">
            <a:extLst>
              <a:ext uri="{FF2B5EF4-FFF2-40B4-BE49-F238E27FC236}">
                <a16:creationId xmlns:a16="http://schemas.microsoft.com/office/drawing/2014/main" id="{4F9C045A-29CA-FFC5-75D3-85992D6E06C9}"/>
              </a:ext>
            </a:extLst>
          </p:cNvPr>
          <p:cNvSpPr>
            <a:spLocks noGrp="1"/>
          </p:cNvSpPr>
          <p:nvPr>
            <p:ph idx="1"/>
          </p:nvPr>
        </p:nvSpPr>
        <p:spPr>
          <a:xfrm>
            <a:off x="457200" y="1600200"/>
            <a:ext cx="8229600" cy="4863353"/>
          </a:xfrm>
        </p:spPr>
        <p:txBody>
          <a:bodyPr>
            <a:normAutofit/>
          </a:bodyPr>
          <a:lstStyle/>
          <a:p>
            <a:pPr marL="0" indent="0" algn="r" rtl="1">
              <a:lnSpc>
                <a:spcPct val="150000"/>
              </a:lnSpc>
              <a:buNone/>
            </a:pPr>
            <a:r>
              <a:rPr lang="en-US" sz="2000" b="1" dirty="0">
                <a:latin typeface="IRANSansWeb" panose="020B0506030804020204" pitchFamily="34" charset="-78"/>
                <a:cs typeface="IRANSansWeb" panose="020B0506030804020204" pitchFamily="34" charset="-78"/>
              </a:rPr>
              <a:t>Counting Semaphore</a:t>
            </a:r>
          </a:p>
          <a:p>
            <a:pPr marL="0" indent="0" algn="r" rtl="1">
              <a:lnSpc>
                <a:spcPct val="150000"/>
              </a:lnSpc>
              <a:buNone/>
            </a:pPr>
            <a:r>
              <a:rPr lang="fa-IR" sz="2000" dirty="0">
                <a:latin typeface="IRANSansWeb" panose="020B0506030804020204" pitchFamily="34" charset="-78"/>
                <a:cs typeface="IRANSansWeb" panose="020B0506030804020204" pitchFamily="34" charset="-78"/>
              </a:rPr>
              <a:t>برای مدیریت </a:t>
            </a:r>
            <a:r>
              <a:rPr lang="fa-IR" sz="2000" b="1" dirty="0">
                <a:latin typeface="IRANSansWeb" panose="020B0506030804020204" pitchFamily="34" charset="-78"/>
                <a:cs typeface="IRANSansWeb" panose="020B0506030804020204" pitchFamily="34" charset="-78"/>
              </a:rPr>
              <a:t>تعداد منابع محدود</a:t>
            </a:r>
            <a:r>
              <a:rPr lang="fa-IR" sz="2000" dirty="0">
                <a:latin typeface="IRANSansWeb" panose="020B0506030804020204" pitchFamily="34" charset="-78"/>
                <a:cs typeface="IRANSansWeb" panose="020B0506030804020204" pitchFamily="34" charset="-78"/>
              </a:rPr>
              <a:t>.</a:t>
            </a:r>
          </a:p>
          <a:p>
            <a:pPr marL="0" indent="0" algn="r" rtl="1">
              <a:lnSpc>
                <a:spcPct val="150000"/>
              </a:lnSpc>
              <a:buNone/>
            </a:pPr>
            <a:r>
              <a:rPr lang="fa-IR" sz="2000" b="1" dirty="0">
                <a:latin typeface="IRANSansWeb" panose="020B0506030804020204" pitchFamily="34" charset="-78"/>
                <a:cs typeface="IRANSansWeb" panose="020B0506030804020204" pitchFamily="34" charset="-78"/>
              </a:rPr>
              <a:t>مثال‌ها:</a:t>
            </a:r>
            <a:endParaRPr lang="fa-IR" sz="2000" dirty="0">
              <a:latin typeface="IRANSansWeb" panose="020B0506030804020204" pitchFamily="34" charset="-78"/>
              <a:cs typeface="IRANSansWeb" panose="020B0506030804020204" pitchFamily="34" charset="-78"/>
            </a:endParaRPr>
          </a:p>
          <a:p>
            <a:pPr marL="0" indent="0" algn="r" rtl="1">
              <a:lnSpc>
                <a:spcPct val="150000"/>
              </a:lnSpc>
              <a:buNone/>
            </a:pPr>
            <a:r>
              <a:rPr lang="fa-IR" sz="2000" dirty="0">
                <a:latin typeface="IRANSansWeb" panose="020B0506030804020204" pitchFamily="34" charset="-78"/>
                <a:cs typeface="IRANSansWeb" panose="020B0506030804020204" pitchFamily="34" charset="-78"/>
              </a:rPr>
              <a:t>تعداد بافر آزاد</a:t>
            </a:r>
          </a:p>
          <a:p>
            <a:pPr marL="0" indent="0" algn="r" rtl="1">
              <a:lnSpc>
                <a:spcPct val="150000"/>
              </a:lnSpc>
              <a:buNone/>
            </a:pPr>
            <a:r>
              <a:rPr lang="fa-IR" sz="2000" dirty="0">
                <a:latin typeface="IRANSansWeb" panose="020B0506030804020204" pitchFamily="34" charset="-78"/>
                <a:cs typeface="IRANSansWeb" panose="020B0506030804020204" pitchFamily="34" charset="-78"/>
              </a:rPr>
              <a:t>تعداد اتصال هم‌زمان</a:t>
            </a:r>
          </a:p>
          <a:p>
            <a:pPr marL="0" indent="0" rtl="1">
              <a:lnSpc>
                <a:spcPct val="150000"/>
              </a:lnSpc>
              <a:buNone/>
            </a:pPr>
            <a:r>
              <a:rPr lang="en-US" sz="2000" dirty="0" err="1">
                <a:latin typeface="IRANSansWeb" panose="020B0506030804020204" pitchFamily="34" charset="-78"/>
                <a:cs typeface="IRANSansWeb" panose="020B0506030804020204" pitchFamily="34" charset="-78"/>
              </a:rPr>
              <a:t>xSemaphoreCreateCounting</a:t>
            </a:r>
            <a:r>
              <a:rPr lang="en-US" sz="2000" dirty="0">
                <a:latin typeface="IRANSansWeb" panose="020B0506030804020204" pitchFamily="34" charset="-78"/>
                <a:cs typeface="IRANSansWeb" panose="020B0506030804020204" pitchFamily="34" charset="-78"/>
              </a:rPr>
              <a:t>(5, 5);</a:t>
            </a:r>
          </a:p>
          <a:p>
            <a:pPr marL="0" indent="0" algn="r" rtl="1">
              <a:lnSpc>
                <a:spcPct val="150000"/>
              </a:lnSpc>
              <a:buNone/>
            </a:pPr>
            <a:r>
              <a:rPr lang="fa-IR" sz="2000" dirty="0">
                <a:latin typeface="IRANSansWeb" panose="020B0506030804020204" pitchFamily="34" charset="-78"/>
                <a:cs typeface="IRANSansWeb" panose="020B0506030804020204" pitchFamily="34" charset="-78"/>
              </a:rPr>
              <a:t>اگر مقدارش 5 باشد یعنی 5 منبع در دسترس است.</a:t>
            </a:r>
          </a:p>
        </p:txBody>
      </p:sp>
    </p:spTree>
    <p:extLst>
      <p:ext uri="{BB962C8B-B14F-4D97-AF65-F5344CB8AC3E}">
        <p14:creationId xmlns:p14="http://schemas.microsoft.com/office/powerpoint/2010/main" val="23530198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D1AE4-7ED4-9126-DDAD-10D6FDCBBE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746084-81C5-5BE9-F158-B982C469E6F8}"/>
              </a:ext>
            </a:extLst>
          </p:cNvPr>
          <p:cNvSpPr>
            <a:spLocks noGrp="1"/>
          </p:cNvSpPr>
          <p:nvPr>
            <p:ph type="title"/>
          </p:nvPr>
        </p:nvSpPr>
        <p:spPr/>
        <p:txBody>
          <a:bodyPr>
            <a:normAutofit fontScale="90000"/>
          </a:bodyPr>
          <a:lstStyle/>
          <a:p>
            <a:pPr rtl="1"/>
            <a:r>
              <a:rPr lang="fa-IR" sz="4000" dirty="0">
                <a:latin typeface="IRANSansWeb" panose="020B0506030804020204" pitchFamily="34" charset="-78"/>
                <a:cs typeface="IRANSansWeb" panose="020B0506030804020204" pitchFamily="34" charset="-78"/>
              </a:rPr>
              <a:t>میوتکس</a:t>
            </a:r>
            <a:r>
              <a:rPr lang="en-US" sz="4000" dirty="0">
                <a:latin typeface="IRANSansWeb" panose="020B0506030804020204" pitchFamily="34" charset="-78"/>
                <a:cs typeface="IRANSansWeb" panose="020B0506030804020204" pitchFamily="34" charset="-78"/>
              </a:rPr>
              <a:t> - </a:t>
            </a:r>
            <a:r>
              <a:rPr lang="fa-IR" sz="4000" dirty="0">
                <a:latin typeface="IRANSansWeb" panose="020B0506030804020204" pitchFamily="34" charset="-78"/>
                <a:cs typeface="IRANSansWeb" panose="020B0506030804020204" pitchFamily="34" charset="-78"/>
              </a:rPr>
              <a:t> </a:t>
            </a:r>
            <a:r>
              <a:rPr lang="en-US" sz="4000" dirty="0">
                <a:latin typeface="IRANSansWeb" panose="020B0506030804020204" pitchFamily="34" charset="-78"/>
                <a:cs typeface="IRANSansWeb" panose="020B0506030804020204" pitchFamily="34" charset="-78"/>
              </a:rPr>
              <a:t>Mutex (Mutual Exclusion)</a:t>
            </a:r>
          </a:p>
        </p:txBody>
      </p:sp>
      <p:sp>
        <p:nvSpPr>
          <p:cNvPr id="3" name="Content Placeholder 2">
            <a:extLst>
              <a:ext uri="{FF2B5EF4-FFF2-40B4-BE49-F238E27FC236}">
                <a16:creationId xmlns:a16="http://schemas.microsoft.com/office/drawing/2014/main" id="{79619028-3AB5-80B6-1D01-5696FE74E208}"/>
              </a:ext>
            </a:extLst>
          </p:cNvPr>
          <p:cNvSpPr>
            <a:spLocks noGrp="1"/>
          </p:cNvSpPr>
          <p:nvPr>
            <p:ph idx="1"/>
          </p:nvPr>
        </p:nvSpPr>
        <p:spPr>
          <a:xfrm>
            <a:off x="457200" y="1600200"/>
            <a:ext cx="8229600" cy="4863353"/>
          </a:xfrm>
        </p:spPr>
        <p:txBody>
          <a:bodyPr>
            <a:normAutofit/>
          </a:bodyPr>
          <a:lstStyle/>
          <a:p>
            <a:pPr marL="0" indent="0" algn="r" rtl="1">
              <a:lnSpc>
                <a:spcPct val="150000"/>
              </a:lnSpc>
              <a:buNone/>
            </a:pPr>
            <a:r>
              <a:rPr lang="fa-IR" sz="1600" dirty="0">
                <a:latin typeface="IRANSansWeb" panose="020B0506030804020204" pitchFamily="34" charset="-78"/>
                <a:cs typeface="IRANSansWeb" panose="020B0506030804020204" pitchFamily="34" charset="-78"/>
              </a:rPr>
              <a:t>برای </a:t>
            </a:r>
            <a:r>
              <a:rPr lang="fa-IR" sz="1600" b="1" dirty="0">
                <a:latin typeface="IRANSansWeb" panose="020B0506030804020204" pitchFamily="34" charset="-78"/>
                <a:cs typeface="IRANSansWeb" panose="020B0506030804020204" pitchFamily="34" charset="-78"/>
              </a:rPr>
              <a:t>محافظت از منابع مشترک</a:t>
            </a:r>
            <a:r>
              <a:rPr lang="fa-IR" sz="1600" dirty="0">
                <a:latin typeface="IRANSansWeb" panose="020B0506030804020204" pitchFamily="34" charset="-78"/>
                <a:cs typeface="IRANSansWeb" panose="020B0506030804020204" pitchFamily="34" charset="-78"/>
              </a:rPr>
              <a:t> مثل </a:t>
            </a:r>
            <a:r>
              <a:rPr lang="en-US" sz="1600" dirty="0">
                <a:latin typeface="IRANSansWeb" panose="020B0506030804020204" pitchFamily="34" charset="-78"/>
                <a:cs typeface="IRANSansWeb" panose="020B0506030804020204" pitchFamily="34" charset="-78"/>
              </a:rPr>
              <a:t>LCD، I2C، SPI.</a:t>
            </a:r>
          </a:p>
          <a:p>
            <a:pPr marL="0" indent="0" algn="r" rtl="1">
              <a:lnSpc>
                <a:spcPct val="150000"/>
              </a:lnSpc>
              <a:buNone/>
            </a:pPr>
            <a:r>
              <a:rPr lang="fa-IR" sz="1600" b="1" dirty="0">
                <a:latin typeface="IRANSansWeb" panose="020B0506030804020204" pitchFamily="34" charset="-78"/>
                <a:cs typeface="IRANSansWeb" panose="020B0506030804020204" pitchFamily="34" charset="-78"/>
              </a:rPr>
              <a:t>ویژگی مهم: </a:t>
            </a:r>
            <a:r>
              <a:rPr lang="en-US" sz="1600" b="1" dirty="0">
                <a:latin typeface="IRANSansWeb" panose="020B0506030804020204" pitchFamily="34" charset="-78"/>
                <a:cs typeface="IRANSansWeb" panose="020B0506030804020204" pitchFamily="34" charset="-78"/>
              </a:rPr>
              <a:t>Priority Inheritance</a:t>
            </a:r>
          </a:p>
          <a:p>
            <a:pPr marL="0" indent="0" algn="r" rtl="1">
              <a:lnSpc>
                <a:spcPct val="150000"/>
              </a:lnSpc>
              <a:buNone/>
            </a:pPr>
            <a:r>
              <a:rPr lang="fa-IR" sz="1600" dirty="0">
                <a:latin typeface="IRANSansWeb" panose="020B0506030804020204" pitchFamily="34" charset="-78"/>
                <a:cs typeface="IRANSansWeb" panose="020B0506030804020204" pitchFamily="34" charset="-78"/>
              </a:rPr>
              <a:t>اگر  </a:t>
            </a:r>
            <a:r>
              <a:rPr lang="en-US" sz="1600" dirty="0">
                <a:latin typeface="IRANSansWeb" panose="020B0506030804020204" pitchFamily="34" charset="-78"/>
                <a:cs typeface="IRANSansWeb" panose="020B0506030804020204" pitchFamily="34" charset="-78"/>
              </a:rPr>
              <a:t>Task</a:t>
            </a:r>
            <a:r>
              <a:rPr lang="fa-IR" sz="1600" dirty="0">
                <a:latin typeface="IRANSansWeb" panose="020B0506030804020204" pitchFamily="34" charset="-78"/>
                <a:cs typeface="IRANSansWeb" panose="020B0506030804020204" pitchFamily="34" charset="-78"/>
              </a:rPr>
              <a:t> </a:t>
            </a:r>
            <a:r>
              <a:rPr lang="en-US" sz="1600" dirty="0">
                <a:latin typeface="IRANSansWeb" panose="020B0506030804020204" pitchFamily="34" charset="-78"/>
                <a:cs typeface="IRANSansWeb" panose="020B0506030804020204" pitchFamily="34" charset="-78"/>
              </a:rPr>
              <a:t> </a:t>
            </a:r>
            <a:r>
              <a:rPr lang="fa-IR" sz="1600" dirty="0">
                <a:latin typeface="IRANSansWeb" panose="020B0506030804020204" pitchFamily="34" charset="-78"/>
                <a:cs typeface="IRANSansWeb" panose="020B0506030804020204" pitchFamily="34" charset="-78"/>
              </a:rPr>
              <a:t>کم‌اولویت </a:t>
            </a:r>
            <a:r>
              <a:rPr lang="en-US" sz="1600" dirty="0">
                <a:latin typeface="IRANSansWeb" panose="020B0506030804020204" pitchFamily="34" charset="-78"/>
                <a:cs typeface="IRANSansWeb" panose="020B0506030804020204" pitchFamily="34" charset="-78"/>
              </a:rPr>
              <a:t>Mutex </a:t>
            </a:r>
            <a:r>
              <a:rPr lang="fa-IR" sz="1600" dirty="0">
                <a:latin typeface="IRANSansWeb" panose="020B0506030804020204" pitchFamily="34" charset="-78"/>
                <a:cs typeface="IRANSansWeb" panose="020B0506030804020204" pitchFamily="34" charset="-78"/>
              </a:rPr>
              <a:t> را بگیرد و </a:t>
            </a:r>
            <a:r>
              <a:rPr lang="en-US" sz="1600" dirty="0">
                <a:latin typeface="IRANSansWeb" panose="020B0506030804020204" pitchFamily="34" charset="-78"/>
                <a:cs typeface="IRANSansWeb" panose="020B0506030804020204" pitchFamily="34" charset="-78"/>
              </a:rPr>
              <a:t>Task</a:t>
            </a:r>
            <a:r>
              <a:rPr lang="fa-IR" sz="1600" dirty="0">
                <a:latin typeface="IRANSansWeb" panose="020B0506030804020204" pitchFamily="34" charset="-78"/>
                <a:cs typeface="IRANSansWeb" panose="020B0506030804020204" pitchFamily="34" charset="-78"/>
              </a:rPr>
              <a:t> </a:t>
            </a:r>
            <a:r>
              <a:rPr lang="en-US" sz="1600" dirty="0">
                <a:latin typeface="IRANSansWeb" panose="020B0506030804020204" pitchFamily="34" charset="-78"/>
                <a:cs typeface="IRANSansWeb" panose="020B0506030804020204" pitchFamily="34" charset="-78"/>
              </a:rPr>
              <a:t> </a:t>
            </a:r>
            <a:r>
              <a:rPr lang="fa-IR" sz="1600" dirty="0">
                <a:latin typeface="IRANSansWeb" panose="020B0506030804020204" pitchFamily="34" charset="-78"/>
                <a:cs typeface="IRANSansWeb" panose="020B0506030804020204" pitchFamily="34" charset="-78"/>
              </a:rPr>
              <a:t>پر‌اولویت منتظرش بماند</a:t>
            </a:r>
          </a:p>
          <a:p>
            <a:pPr marL="0" indent="0" algn="r" rtl="1">
              <a:lnSpc>
                <a:spcPct val="150000"/>
              </a:lnSpc>
              <a:buNone/>
            </a:pPr>
            <a:r>
              <a:rPr lang="en-US" sz="1600" dirty="0" err="1">
                <a:latin typeface="IRANSansWeb" panose="020B0506030804020204" pitchFamily="34" charset="-78"/>
                <a:cs typeface="IRANSansWeb" panose="020B0506030804020204" pitchFamily="34" charset="-78"/>
              </a:rPr>
              <a:t>FreeRTOS</a:t>
            </a:r>
            <a:r>
              <a:rPr lang="fa-IR" sz="1600" dirty="0">
                <a:latin typeface="IRANSansWeb" panose="020B0506030804020204" pitchFamily="34" charset="-78"/>
                <a:cs typeface="IRANSansWeb" panose="020B0506030804020204" pitchFamily="34" charset="-78"/>
              </a:rPr>
              <a:t> </a:t>
            </a:r>
            <a:r>
              <a:rPr lang="en-US" sz="1600" dirty="0">
                <a:latin typeface="IRANSansWeb" panose="020B0506030804020204" pitchFamily="34" charset="-78"/>
                <a:cs typeface="IRANSansWeb" panose="020B0506030804020204" pitchFamily="34" charset="-78"/>
              </a:rPr>
              <a:t> </a:t>
            </a:r>
            <a:r>
              <a:rPr lang="fa-IR" sz="1600" dirty="0">
                <a:latin typeface="IRANSansWeb" panose="020B0506030804020204" pitchFamily="34" charset="-78"/>
                <a:cs typeface="IRANSansWeb" panose="020B0506030804020204" pitchFamily="34" charset="-78"/>
              </a:rPr>
              <a:t>موقتاً اولویت </a:t>
            </a:r>
            <a:r>
              <a:rPr lang="en-US" sz="1600" dirty="0">
                <a:latin typeface="IRANSansWeb" panose="020B0506030804020204" pitchFamily="34" charset="-78"/>
                <a:cs typeface="IRANSansWeb" panose="020B0506030804020204" pitchFamily="34" charset="-78"/>
              </a:rPr>
              <a:t>Task</a:t>
            </a:r>
            <a:r>
              <a:rPr lang="fa-IR" sz="1600" dirty="0">
                <a:latin typeface="IRANSansWeb" panose="020B0506030804020204" pitchFamily="34" charset="-78"/>
                <a:cs typeface="IRANSansWeb" panose="020B0506030804020204" pitchFamily="34" charset="-78"/>
              </a:rPr>
              <a:t> </a:t>
            </a:r>
            <a:r>
              <a:rPr lang="en-US" sz="1600" dirty="0">
                <a:latin typeface="IRANSansWeb" panose="020B0506030804020204" pitchFamily="34" charset="-78"/>
                <a:cs typeface="IRANSansWeb" panose="020B0506030804020204" pitchFamily="34" charset="-78"/>
              </a:rPr>
              <a:t> </a:t>
            </a:r>
            <a:r>
              <a:rPr lang="fa-IR" sz="1600" dirty="0">
                <a:latin typeface="IRANSansWeb" panose="020B0506030804020204" pitchFamily="34" charset="-78"/>
                <a:cs typeface="IRANSansWeb" panose="020B0506030804020204" pitchFamily="34" charset="-78"/>
              </a:rPr>
              <a:t>کم‌ اولویت را بالا می‌برد وجلوی </a:t>
            </a:r>
            <a:r>
              <a:rPr lang="en-US" sz="1600" b="1" dirty="0">
                <a:latin typeface="IRANSansWeb" panose="020B0506030804020204" pitchFamily="34" charset="-78"/>
                <a:cs typeface="IRANSansWeb" panose="020B0506030804020204" pitchFamily="34" charset="-78"/>
              </a:rPr>
              <a:t>Priority Inversion</a:t>
            </a:r>
            <a:r>
              <a:rPr lang="en-US" sz="1600" dirty="0">
                <a:latin typeface="IRANSansWeb" panose="020B0506030804020204" pitchFamily="34" charset="-78"/>
                <a:cs typeface="IRANSansWeb" panose="020B0506030804020204" pitchFamily="34" charset="-78"/>
              </a:rPr>
              <a:t> </a:t>
            </a:r>
            <a:r>
              <a:rPr lang="fa-IR" sz="1600" dirty="0">
                <a:latin typeface="IRANSansWeb" panose="020B0506030804020204" pitchFamily="34" charset="-78"/>
                <a:cs typeface="IRANSansWeb" panose="020B0506030804020204" pitchFamily="34" charset="-78"/>
              </a:rPr>
              <a:t>را می‌گیرد.</a:t>
            </a:r>
          </a:p>
          <a:p>
            <a:pPr marL="0" indent="0" algn="r" rtl="1">
              <a:lnSpc>
                <a:spcPct val="150000"/>
              </a:lnSpc>
              <a:buNone/>
            </a:pPr>
            <a:endParaRPr lang="fa-IR" sz="1600" dirty="0">
              <a:latin typeface="IRANSansWeb" panose="020B0506030804020204" pitchFamily="34" charset="-78"/>
              <a:cs typeface="IRANSansWeb" panose="020B0506030804020204" pitchFamily="34" charset="-78"/>
            </a:endParaRPr>
          </a:p>
          <a:p>
            <a:pPr marL="0" indent="0" rtl="1">
              <a:lnSpc>
                <a:spcPct val="150000"/>
              </a:lnSpc>
              <a:buNone/>
            </a:pPr>
            <a:r>
              <a:rPr lang="en-US" sz="1800" dirty="0" err="1">
                <a:latin typeface="IRANSansWeb" panose="020B0506030804020204" pitchFamily="34" charset="-78"/>
                <a:cs typeface="IRANSansWeb" panose="020B0506030804020204" pitchFamily="34" charset="-78"/>
              </a:rPr>
              <a:t>xSemaphoreHandle</a:t>
            </a:r>
            <a:r>
              <a:rPr lang="en-US" sz="1800" dirty="0">
                <a:latin typeface="IRANSansWeb" panose="020B0506030804020204" pitchFamily="34" charset="-78"/>
                <a:cs typeface="IRANSansWeb" panose="020B0506030804020204" pitchFamily="34" charset="-78"/>
              </a:rPr>
              <a:t> </a:t>
            </a:r>
            <a:r>
              <a:rPr lang="en-US" sz="1800" dirty="0" err="1">
                <a:latin typeface="IRANSansWeb" panose="020B0506030804020204" pitchFamily="34" charset="-78"/>
                <a:cs typeface="IRANSansWeb" panose="020B0506030804020204" pitchFamily="34" charset="-78"/>
              </a:rPr>
              <a:t>xMutex</a:t>
            </a:r>
            <a:r>
              <a:rPr lang="en-US" sz="1800" dirty="0">
                <a:latin typeface="IRANSansWeb" panose="020B0506030804020204" pitchFamily="34" charset="-78"/>
                <a:cs typeface="IRANSansWeb" panose="020B0506030804020204" pitchFamily="34" charset="-78"/>
              </a:rPr>
              <a:t> = </a:t>
            </a:r>
            <a:r>
              <a:rPr lang="en-US" sz="1800" dirty="0" err="1">
                <a:latin typeface="IRANSansWeb" panose="020B0506030804020204" pitchFamily="34" charset="-78"/>
                <a:cs typeface="IRANSansWeb" panose="020B0506030804020204" pitchFamily="34" charset="-78"/>
              </a:rPr>
              <a:t>xSemaphoreCreateMutex</a:t>
            </a:r>
            <a:r>
              <a:rPr lang="en-US" sz="1800" dirty="0">
                <a:latin typeface="IRANSansWeb" panose="020B0506030804020204" pitchFamily="34" charset="-78"/>
                <a:cs typeface="IRANSansWeb" panose="020B0506030804020204" pitchFamily="34" charset="-78"/>
              </a:rPr>
              <a:t>();</a:t>
            </a:r>
          </a:p>
          <a:p>
            <a:pPr marL="0" indent="0" rtl="1">
              <a:lnSpc>
                <a:spcPct val="150000"/>
              </a:lnSpc>
              <a:buNone/>
            </a:pPr>
            <a:r>
              <a:rPr lang="en-US" sz="1800" dirty="0" err="1">
                <a:latin typeface="IRANSansWeb" panose="020B0506030804020204" pitchFamily="34" charset="-78"/>
                <a:cs typeface="IRANSansWeb" panose="020B0506030804020204" pitchFamily="34" charset="-78"/>
              </a:rPr>
              <a:t>xSemaphoreTake</a:t>
            </a:r>
            <a:r>
              <a:rPr lang="en-US" sz="1800" dirty="0">
                <a:latin typeface="IRANSansWeb" panose="020B0506030804020204" pitchFamily="34" charset="-78"/>
                <a:cs typeface="IRANSansWeb" panose="020B0506030804020204" pitchFamily="34" charset="-78"/>
              </a:rPr>
              <a:t>(</a:t>
            </a:r>
            <a:r>
              <a:rPr lang="en-US" sz="1800" dirty="0" err="1">
                <a:latin typeface="IRANSansWeb" panose="020B0506030804020204" pitchFamily="34" charset="-78"/>
                <a:cs typeface="IRANSansWeb" panose="020B0506030804020204" pitchFamily="34" charset="-78"/>
              </a:rPr>
              <a:t>xMutex</a:t>
            </a:r>
            <a:r>
              <a:rPr lang="en-US" sz="1800" dirty="0">
                <a:latin typeface="IRANSansWeb" panose="020B0506030804020204" pitchFamily="34" charset="-78"/>
                <a:cs typeface="IRANSansWeb" panose="020B0506030804020204" pitchFamily="34" charset="-78"/>
              </a:rPr>
              <a:t>, </a:t>
            </a:r>
            <a:r>
              <a:rPr lang="en-US" sz="1800" dirty="0" err="1">
                <a:latin typeface="IRANSansWeb" panose="020B0506030804020204" pitchFamily="34" charset="-78"/>
                <a:cs typeface="IRANSansWeb" panose="020B0506030804020204" pitchFamily="34" charset="-78"/>
              </a:rPr>
              <a:t>portMAX_DELAY</a:t>
            </a:r>
            <a:r>
              <a:rPr lang="en-US" sz="1800" dirty="0">
                <a:latin typeface="IRANSansWeb" panose="020B0506030804020204" pitchFamily="34" charset="-78"/>
                <a:cs typeface="IRANSansWeb" panose="020B0506030804020204" pitchFamily="34" charset="-78"/>
              </a:rPr>
              <a:t>);</a:t>
            </a:r>
          </a:p>
          <a:p>
            <a:pPr marL="0" indent="0" algn="r" rtl="1">
              <a:lnSpc>
                <a:spcPct val="150000"/>
              </a:lnSpc>
              <a:buNone/>
            </a:pPr>
            <a:r>
              <a:rPr lang="fa-IR" sz="1800" dirty="0">
                <a:latin typeface="IRANSansWeb" panose="020B0506030804020204" pitchFamily="34" charset="-78"/>
                <a:cs typeface="IRANSansWeb" panose="020B0506030804020204" pitchFamily="34" charset="-78"/>
              </a:rPr>
              <a:t>استفاده از منبع مشترک</a:t>
            </a:r>
          </a:p>
          <a:p>
            <a:pPr marL="0" indent="0" rtl="1">
              <a:lnSpc>
                <a:spcPct val="150000"/>
              </a:lnSpc>
              <a:buNone/>
            </a:pPr>
            <a:r>
              <a:rPr lang="en-US" sz="1800" dirty="0" err="1">
                <a:latin typeface="IRANSansWeb" panose="020B0506030804020204" pitchFamily="34" charset="-78"/>
                <a:cs typeface="IRANSansWeb" panose="020B0506030804020204" pitchFamily="34" charset="-78"/>
              </a:rPr>
              <a:t>xSemaphoreGive</a:t>
            </a:r>
            <a:r>
              <a:rPr lang="en-US" sz="1800" dirty="0">
                <a:latin typeface="IRANSansWeb" panose="020B0506030804020204" pitchFamily="34" charset="-78"/>
                <a:cs typeface="IRANSansWeb" panose="020B0506030804020204" pitchFamily="34" charset="-78"/>
              </a:rPr>
              <a:t>(</a:t>
            </a:r>
            <a:r>
              <a:rPr lang="en-US" sz="1800" dirty="0" err="1">
                <a:latin typeface="IRANSansWeb" panose="020B0506030804020204" pitchFamily="34" charset="-78"/>
                <a:cs typeface="IRANSansWeb" panose="020B0506030804020204" pitchFamily="34" charset="-78"/>
              </a:rPr>
              <a:t>xMutex</a:t>
            </a:r>
            <a:r>
              <a:rPr lang="en-US" sz="1800" dirty="0">
                <a:latin typeface="IRANSansWeb" panose="020B0506030804020204" pitchFamily="34" charset="-78"/>
                <a:cs typeface="IRANSansWeb" panose="020B0506030804020204" pitchFamily="34" charset="-78"/>
              </a:rPr>
              <a:t>);</a:t>
            </a:r>
          </a:p>
          <a:p>
            <a:pPr marL="0" indent="0" algn="r" rtl="1">
              <a:lnSpc>
                <a:spcPct val="150000"/>
              </a:lnSpc>
              <a:buNone/>
            </a:pPr>
            <a:r>
              <a:rPr lang="en-US" sz="1600" dirty="0">
                <a:latin typeface="IRANSansWeb" panose="020B0506030804020204" pitchFamily="34" charset="-78"/>
                <a:cs typeface="IRANSansWeb" panose="020B0506030804020204" pitchFamily="34" charset="-78"/>
              </a:rPr>
              <a:t>❌ </a:t>
            </a:r>
            <a:r>
              <a:rPr lang="fa-IR" sz="1600" dirty="0">
                <a:latin typeface="IRANSansWeb" panose="020B0506030804020204" pitchFamily="34" charset="-78"/>
                <a:cs typeface="IRANSansWeb" panose="020B0506030804020204" pitchFamily="34" charset="-78"/>
              </a:rPr>
              <a:t>نباید از  </a:t>
            </a:r>
            <a:r>
              <a:rPr lang="en-US" sz="1600" dirty="0">
                <a:latin typeface="IRANSansWeb" panose="020B0506030804020204" pitchFamily="34" charset="-78"/>
                <a:cs typeface="IRANSansWeb" panose="020B0506030804020204" pitchFamily="34" charset="-78"/>
              </a:rPr>
              <a:t>ISR</a:t>
            </a:r>
            <a:r>
              <a:rPr lang="fa-IR" sz="1600" dirty="0">
                <a:latin typeface="IRANSansWeb" panose="020B0506030804020204" pitchFamily="34" charset="-78"/>
                <a:cs typeface="IRANSansWeb" panose="020B0506030804020204" pitchFamily="34" charset="-78"/>
              </a:rPr>
              <a:t> </a:t>
            </a:r>
            <a:r>
              <a:rPr lang="en-US" sz="1600" dirty="0">
                <a:latin typeface="IRANSansWeb" panose="020B0506030804020204" pitchFamily="34" charset="-78"/>
                <a:cs typeface="IRANSansWeb" panose="020B0506030804020204" pitchFamily="34" charset="-78"/>
              </a:rPr>
              <a:t> </a:t>
            </a:r>
            <a:r>
              <a:rPr lang="fa-IR" sz="1600" dirty="0">
                <a:latin typeface="IRANSansWeb" panose="020B0506030804020204" pitchFamily="34" charset="-78"/>
                <a:cs typeface="IRANSansWeb" panose="020B0506030804020204" pitchFamily="34" charset="-78"/>
              </a:rPr>
              <a:t>استفاده شود</a:t>
            </a:r>
            <a:br>
              <a:rPr lang="fa-IR" sz="1600" dirty="0">
                <a:latin typeface="IRANSansWeb" panose="020B0506030804020204" pitchFamily="34" charset="-78"/>
                <a:cs typeface="IRANSansWeb" panose="020B0506030804020204" pitchFamily="34" charset="-78"/>
              </a:rPr>
            </a:br>
            <a:r>
              <a:rPr lang="en-US" sz="1600" dirty="0">
                <a:latin typeface="IRANSansWeb" panose="020B0506030804020204" pitchFamily="34" charset="-78"/>
                <a:cs typeface="IRANSansWeb" panose="020B0506030804020204" pitchFamily="34" charset="-78"/>
              </a:rPr>
              <a:t>✅ </a:t>
            </a:r>
            <a:r>
              <a:rPr lang="fa-IR" sz="1600" dirty="0">
                <a:latin typeface="IRANSansWeb" panose="020B0506030804020204" pitchFamily="34" charset="-78"/>
                <a:cs typeface="IRANSansWeb" panose="020B0506030804020204" pitchFamily="34" charset="-78"/>
              </a:rPr>
              <a:t>فقط بین </a:t>
            </a:r>
            <a:r>
              <a:rPr lang="en-US" sz="1600" dirty="0">
                <a:latin typeface="IRANSansWeb" panose="020B0506030804020204" pitchFamily="34" charset="-78"/>
                <a:cs typeface="IRANSansWeb" panose="020B0506030804020204" pitchFamily="34" charset="-78"/>
              </a:rPr>
              <a:t>Task</a:t>
            </a:r>
            <a:r>
              <a:rPr lang="fa-IR" sz="1600" dirty="0">
                <a:latin typeface="IRANSansWeb" panose="020B0506030804020204" pitchFamily="34" charset="-78"/>
                <a:cs typeface="IRANSansWeb" panose="020B0506030804020204" pitchFamily="34" charset="-78"/>
              </a:rPr>
              <a:t>ها</a:t>
            </a:r>
          </a:p>
        </p:txBody>
      </p:sp>
    </p:spTree>
    <p:extLst>
      <p:ext uri="{BB962C8B-B14F-4D97-AF65-F5344CB8AC3E}">
        <p14:creationId xmlns:p14="http://schemas.microsoft.com/office/powerpoint/2010/main" val="27818589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8F59E-4FAB-15F0-A8A4-77522DD93D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8FB410-CB4E-EB9E-5990-61642135BB2D}"/>
              </a:ext>
            </a:extLst>
          </p:cNvPr>
          <p:cNvSpPr>
            <a:spLocks noGrp="1"/>
          </p:cNvSpPr>
          <p:nvPr>
            <p:ph type="title"/>
          </p:nvPr>
        </p:nvSpPr>
        <p:spPr/>
        <p:txBody>
          <a:bodyPr>
            <a:normAutofit/>
          </a:bodyPr>
          <a:lstStyle/>
          <a:p>
            <a:pPr rtl="1"/>
            <a:r>
              <a:rPr lang="fa-IR" sz="4000" dirty="0">
                <a:latin typeface="IRANSansWeb" panose="020B0506030804020204" pitchFamily="34" charset="-78"/>
                <a:cs typeface="IRANSansWeb" panose="020B0506030804020204" pitchFamily="34" charset="-78"/>
              </a:rPr>
              <a:t>صف</a:t>
            </a:r>
            <a:r>
              <a:rPr lang="en-US" sz="4000" dirty="0">
                <a:latin typeface="IRANSansWeb" panose="020B0506030804020204" pitchFamily="34" charset="-78"/>
                <a:cs typeface="IRANSansWeb" panose="020B0506030804020204" pitchFamily="34" charset="-78"/>
              </a:rPr>
              <a:t> - </a:t>
            </a:r>
            <a:r>
              <a:rPr lang="fa-IR" sz="4000" dirty="0">
                <a:latin typeface="IRANSansWeb" panose="020B0506030804020204" pitchFamily="34" charset="-78"/>
                <a:cs typeface="IRANSansWeb" panose="020B0506030804020204" pitchFamily="34" charset="-78"/>
              </a:rPr>
              <a:t> </a:t>
            </a:r>
            <a:r>
              <a:rPr lang="en-US" sz="4000" dirty="0">
                <a:latin typeface="IRANSansWeb" panose="020B0506030804020204" pitchFamily="34" charset="-78"/>
                <a:cs typeface="IRANSansWeb" panose="020B0506030804020204" pitchFamily="34" charset="-78"/>
              </a:rPr>
              <a:t>Queue</a:t>
            </a:r>
          </a:p>
        </p:txBody>
      </p:sp>
      <p:sp>
        <p:nvSpPr>
          <p:cNvPr id="3" name="Content Placeholder 2">
            <a:extLst>
              <a:ext uri="{FF2B5EF4-FFF2-40B4-BE49-F238E27FC236}">
                <a16:creationId xmlns:a16="http://schemas.microsoft.com/office/drawing/2014/main" id="{878F1439-A048-5166-EA23-E468CEABF897}"/>
              </a:ext>
            </a:extLst>
          </p:cNvPr>
          <p:cNvSpPr>
            <a:spLocks noGrp="1"/>
          </p:cNvSpPr>
          <p:nvPr>
            <p:ph idx="1"/>
          </p:nvPr>
        </p:nvSpPr>
        <p:spPr>
          <a:xfrm>
            <a:off x="457200" y="1417638"/>
            <a:ext cx="8229600" cy="5045915"/>
          </a:xfrm>
        </p:spPr>
        <p:txBody>
          <a:bodyPr>
            <a:noAutofit/>
          </a:bodyPr>
          <a:lstStyle/>
          <a:p>
            <a:pPr marL="0" indent="0" algn="r" rtl="1">
              <a:lnSpc>
                <a:spcPct val="150000"/>
              </a:lnSpc>
              <a:buNone/>
            </a:pPr>
            <a:r>
              <a:rPr lang="fa-IR" sz="1800" dirty="0">
                <a:latin typeface="IRANSansWeb" panose="020B0506030804020204" pitchFamily="34" charset="-78"/>
                <a:cs typeface="IRANSansWeb" panose="020B0506030804020204" pitchFamily="34" charset="-78"/>
              </a:rPr>
              <a:t> </a:t>
            </a:r>
            <a:r>
              <a:rPr lang="en-US" sz="1800" dirty="0">
                <a:latin typeface="IRANSansWeb" panose="020B0506030804020204" pitchFamily="34" charset="-78"/>
                <a:cs typeface="IRANSansWeb" panose="020B0506030804020204" pitchFamily="34" charset="-78"/>
              </a:rPr>
              <a:t>Queue</a:t>
            </a:r>
            <a:r>
              <a:rPr lang="fa-IR" sz="1800" dirty="0">
                <a:latin typeface="IRANSansWeb" panose="020B0506030804020204" pitchFamily="34" charset="-78"/>
                <a:cs typeface="IRANSansWeb" panose="020B0506030804020204" pitchFamily="34" charset="-78"/>
              </a:rPr>
              <a:t> </a:t>
            </a:r>
            <a:r>
              <a:rPr lang="en-US" sz="1800" dirty="0">
                <a:latin typeface="IRANSansWeb" panose="020B0506030804020204" pitchFamily="34" charset="-78"/>
                <a:cs typeface="IRANSansWeb" panose="020B0506030804020204" pitchFamily="34" charset="-78"/>
              </a:rPr>
              <a:t> </a:t>
            </a:r>
            <a:r>
              <a:rPr lang="fa-IR" sz="1800" dirty="0">
                <a:latin typeface="IRANSansWeb" panose="020B0506030804020204" pitchFamily="34" charset="-78"/>
                <a:cs typeface="IRANSansWeb" panose="020B0506030804020204" pitchFamily="34" charset="-78"/>
              </a:rPr>
              <a:t>فقط برای داده نیست!</a:t>
            </a:r>
            <a:br>
              <a:rPr lang="fa-IR" sz="1800" dirty="0">
                <a:latin typeface="IRANSansWeb" panose="020B0506030804020204" pitchFamily="34" charset="-78"/>
                <a:cs typeface="IRANSansWeb" panose="020B0506030804020204" pitchFamily="34" charset="-78"/>
              </a:rPr>
            </a:br>
            <a:r>
              <a:rPr lang="fa-IR" sz="1800" dirty="0">
                <a:latin typeface="IRANSansWeb" panose="020B0506030804020204" pitchFamily="34" charset="-78"/>
                <a:cs typeface="IRANSansWeb" panose="020B0506030804020204" pitchFamily="34" charset="-78"/>
              </a:rPr>
              <a:t>یکی از قوی‌ترین ابزارهای </a:t>
            </a:r>
            <a:r>
              <a:rPr lang="en-US" sz="1800" dirty="0">
                <a:latin typeface="IRANSansWeb" panose="020B0506030804020204" pitchFamily="34" charset="-78"/>
                <a:cs typeface="IRANSansWeb" panose="020B0506030804020204" pitchFamily="34" charset="-78"/>
              </a:rPr>
              <a:t>Synchronization</a:t>
            </a:r>
            <a:r>
              <a:rPr lang="fa-IR" sz="1800" dirty="0">
                <a:latin typeface="IRANSansWeb" panose="020B0506030804020204" pitchFamily="34" charset="-78"/>
                <a:cs typeface="IRANSansWeb" panose="020B0506030804020204" pitchFamily="34" charset="-78"/>
              </a:rPr>
              <a:t> </a:t>
            </a:r>
            <a:r>
              <a:rPr lang="en-US" sz="1800" dirty="0">
                <a:latin typeface="IRANSansWeb" panose="020B0506030804020204" pitchFamily="34" charset="-78"/>
                <a:cs typeface="IRANSansWeb" panose="020B0506030804020204" pitchFamily="34" charset="-78"/>
              </a:rPr>
              <a:t> </a:t>
            </a:r>
            <a:r>
              <a:rPr lang="fa-IR" sz="1800" dirty="0">
                <a:latin typeface="IRANSansWeb" panose="020B0506030804020204" pitchFamily="34" charset="-78"/>
                <a:cs typeface="IRANSansWeb" panose="020B0506030804020204" pitchFamily="34" charset="-78"/>
              </a:rPr>
              <a:t>است.</a:t>
            </a:r>
          </a:p>
          <a:p>
            <a:pPr marL="0" indent="0" algn="r" rtl="1">
              <a:lnSpc>
                <a:spcPct val="150000"/>
              </a:lnSpc>
              <a:buNone/>
            </a:pPr>
            <a:r>
              <a:rPr lang="fa-IR" sz="1800" b="1" dirty="0">
                <a:latin typeface="IRANSansWeb" panose="020B0506030804020204" pitchFamily="34" charset="-78"/>
                <a:cs typeface="IRANSansWeb" panose="020B0506030804020204" pitchFamily="34" charset="-78"/>
              </a:rPr>
              <a:t>قابلیت‌ها:</a:t>
            </a:r>
            <a:endParaRPr lang="fa-IR" sz="1800" dirty="0">
              <a:latin typeface="IRANSansWeb" panose="020B0506030804020204" pitchFamily="34" charset="-78"/>
              <a:cs typeface="IRANSansWeb" panose="020B0506030804020204" pitchFamily="34" charset="-78"/>
            </a:endParaRPr>
          </a:p>
          <a:p>
            <a:pPr marL="0" indent="0" algn="r" rtl="1">
              <a:lnSpc>
                <a:spcPct val="150000"/>
              </a:lnSpc>
              <a:buNone/>
            </a:pPr>
            <a:r>
              <a:rPr lang="fa-IR" sz="1800" dirty="0">
                <a:latin typeface="IRANSansWeb" panose="020B0506030804020204" pitchFamily="34" charset="-78"/>
                <a:cs typeface="IRANSansWeb" panose="020B0506030804020204" pitchFamily="34" charset="-78"/>
              </a:rPr>
              <a:t>انتقال داده</a:t>
            </a:r>
          </a:p>
          <a:p>
            <a:pPr marL="0" indent="0" algn="r" rtl="1">
              <a:lnSpc>
                <a:spcPct val="150000"/>
              </a:lnSpc>
              <a:buNone/>
            </a:pPr>
            <a:r>
              <a:rPr lang="en-US" sz="1800" dirty="0">
                <a:latin typeface="IRANSansWeb" panose="020B0506030804020204" pitchFamily="34" charset="-78"/>
                <a:cs typeface="IRANSansWeb" panose="020B0506030804020204" pitchFamily="34" charset="-78"/>
              </a:rPr>
              <a:t>Block</a:t>
            </a:r>
            <a:r>
              <a:rPr lang="fa-IR" sz="1800" dirty="0">
                <a:latin typeface="IRANSansWeb" panose="020B0506030804020204" pitchFamily="34" charset="-78"/>
                <a:cs typeface="IRANSansWeb" panose="020B0506030804020204" pitchFamily="34" charset="-78"/>
              </a:rPr>
              <a:t> </a:t>
            </a:r>
            <a:r>
              <a:rPr lang="en-US" sz="1800" dirty="0">
                <a:latin typeface="IRANSansWeb" panose="020B0506030804020204" pitchFamily="34" charset="-78"/>
                <a:cs typeface="IRANSansWeb" panose="020B0506030804020204" pitchFamily="34" charset="-78"/>
              </a:rPr>
              <a:t> </a:t>
            </a:r>
            <a:r>
              <a:rPr lang="fa-IR" sz="1800" dirty="0">
                <a:latin typeface="IRANSansWeb" panose="020B0506030804020204" pitchFamily="34" charset="-78"/>
                <a:cs typeface="IRANSansWeb" panose="020B0506030804020204" pitchFamily="34" charset="-78"/>
              </a:rPr>
              <a:t>شدن </a:t>
            </a:r>
            <a:r>
              <a:rPr lang="en-US" sz="1800" dirty="0">
                <a:latin typeface="IRANSansWeb" panose="020B0506030804020204" pitchFamily="34" charset="-78"/>
                <a:cs typeface="IRANSansWeb" panose="020B0506030804020204" pitchFamily="34" charset="-78"/>
              </a:rPr>
              <a:t>Task</a:t>
            </a:r>
          </a:p>
          <a:p>
            <a:pPr marL="0" indent="0" algn="r" rtl="1">
              <a:lnSpc>
                <a:spcPct val="150000"/>
              </a:lnSpc>
              <a:buNone/>
            </a:pPr>
            <a:r>
              <a:rPr lang="fa-IR" sz="1800" dirty="0">
                <a:latin typeface="IRANSansWeb" panose="020B0506030804020204" pitchFamily="34" charset="-78"/>
                <a:cs typeface="IRANSansWeb" panose="020B0506030804020204" pitchFamily="34" charset="-78"/>
              </a:rPr>
              <a:t>همزمانی امن</a:t>
            </a:r>
          </a:p>
          <a:p>
            <a:pPr marL="0" indent="0" rtl="1">
              <a:lnSpc>
                <a:spcPct val="150000"/>
              </a:lnSpc>
              <a:buNone/>
            </a:pPr>
            <a:r>
              <a:rPr lang="en-US" sz="1800" dirty="0" err="1">
                <a:latin typeface="IRANSansWeb" panose="020B0506030804020204" pitchFamily="34" charset="-78"/>
                <a:cs typeface="IRANSansWeb" panose="020B0506030804020204" pitchFamily="34" charset="-78"/>
              </a:rPr>
              <a:t>xQueueSend</a:t>
            </a:r>
            <a:r>
              <a:rPr lang="en-US" sz="1800" dirty="0">
                <a:latin typeface="IRANSansWeb" panose="020B0506030804020204" pitchFamily="34" charset="-78"/>
                <a:cs typeface="IRANSansWeb" panose="020B0506030804020204" pitchFamily="34" charset="-78"/>
              </a:rPr>
              <a:t>(queue, &amp;data, </a:t>
            </a:r>
            <a:r>
              <a:rPr lang="en-US" sz="1800" dirty="0" err="1">
                <a:latin typeface="IRANSansWeb" panose="020B0506030804020204" pitchFamily="34" charset="-78"/>
                <a:cs typeface="IRANSansWeb" panose="020B0506030804020204" pitchFamily="34" charset="-78"/>
              </a:rPr>
              <a:t>portMAX_DELAY</a:t>
            </a:r>
            <a:r>
              <a:rPr lang="en-US" sz="1800" dirty="0">
                <a:latin typeface="IRANSansWeb" panose="020B0506030804020204" pitchFamily="34" charset="-78"/>
                <a:cs typeface="IRANSansWeb" panose="020B0506030804020204" pitchFamily="34" charset="-78"/>
              </a:rPr>
              <a:t>);</a:t>
            </a:r>
          </a:p>
          <a:p>
            <a:pPr marL="0" indent="0" rtl="1">
              <a:lnSpc>
                <a:spcPct val="150000"/>
              </a:lnSpc>
              <a:buNone/>
            </a:pPr>
            <a:r>
              <a:rPr lang="en-US" sz="1800" dirty="0" err="1">
                <a:latin typeface="IRANSansWeb" panose="020B0506030804020204" pitchFamily="34" charset="-78"/>
                <a:cs typeface="IRANSansWeb" panose="020B0506030804020204" pitchFamily="34" charset="-78"/>
              </a:rPr>
              <a:t>xQueueReceive</a:t>
            </a:r>
            <a:r>
              <a:rPr lang="en-US" sz="1800" dirty="0">
                <a:latin typeface="IRANSansWeb" panose="020B0506030804020204" pitchFamily="34" charset="-78"/>
                <a:cs typeface="IRANSansWeb" panose="020B0506030804020204" pitchFamily="34" charset="-78"/>
              </a:rPr>
              <a:t>(queue, &amp;</a:t>
            </a:r>
            <a:r>
              <a:rPr lang="en-US" sz="1800" dirty="0" err="1">
                <a:latin typeface="IRANSansWeb" panose="020B0506030804020204" pitchFamily="34" charset="-78"/>
                <a:cs typeface="IRANSansWeb" panose="020B0506030804020204" pitchFamily="34" charset="-78"/>
              </a:rPr>
              <a:t>rxData</a:t>
            </a:r>
            <a:r>
              <a:rPr lang="en-US" sz="1800" dirty="0">
                <a:latin typeface="IRANSansWeb" panose="020B0506030804020204" pitchFamily="34" charset="-78"/>
                <a:cs typeface="IRANSansWeb" panose="020B0506030804020204" pitchFamily="34" charset="-78"/>
              </a:rPr>
              <a:t>, </a:t>
            </a:r>
            <a:r>
              <a:rPr lang="en-US" sz="1800" dirty="0" err="1">
                <a:latin typeface="IRANSansWeb" panose="020B0506030804020204" pitchFamily="34" charset="-78"/>
                <a:cs typeface="IRANSansWeb" panose="020B0506030804020204" pitchFamily="34" charset="-78"/>
              </a:rPr>
              <a:t>portMAX_DELAY</a:t>
            </a:r>
            <a:r>
              <a:rPr lang="en-US" sz="1800" dirty="0">
                <a:latin typeface="IRANSansWeb" panose="020B0506030804020204" pitchFamily="34" charset="-78"/>
                <a:cs typeface="IRANSansWeb" panose="020B0506030804020204" pitchFamily="34" charset="-78"/>
              </a:rPr>
              <a:t>);</a:t>
            </a:r>
          </a:p>
          <a:p>
            <a:pPr marL="0" indent="0" algn="r" rtl="1">
              <a:lnSpc>
                <a:spcPct val="150000"/>
              </a:lnSpc>
              <a:buNone/>
            </a:pPr>
            <a:r>
              <a:rPr lang="en-US" sz="1800" dirty="0">
                <a:latin typeface="IRANSansWeb" panose="020B0506030804020204" pitchFamily="34" charset="-78"/>
                <a:cs typeface="IRANSansWeb" panose="020B0506030804020204" pitchFamily="34" charset="-78"/>
              </a:rPr>
              <a:t>📌 </a:t>
            </a:r>
            <a:r>
              <a:rPr lang="fa-IR" sz="1800" dirty="0">
                <a:latin typeface="IRANSansWeb" panose="020B0506030804020204" pitchFamily="34" charset="-78"/>
                <a:cs typeface="IRANSansWeb" panose="020B0506030804020204" pitchFamily="34" charset="-78"/>
              </a:rPr>
              <a:t>اگر </a:t>
            </a:r>
            <a:r>
              <a:rPr lang="en-US" sz="1800" dirty="0">
                <a:latin typeface="IRANSansWeb" panose="020B0506030804020204" pitchFamily="34" charset="-78"/>
                <a:cs typeface="IRANSansWeb" panose="020B0506030804020204" pitchFamily="34" charset="-78"/>
              </a:rPr>
              <a:t>Queue</a:t>
            </a:r>
            <a:r>
              <a:rPr lang="fa-IR" sz="1800" dirty="0">
                <a:latin typeface="IRANSansWeb" panose="020B0506030804020204" pitchFamily="34" charset="-78"/>
                <a:cs typeface="IRANSansWeb" panose="020B0506030804020204" pitchFamily="34" charset="-78"/>
              </a:rPr>
              <a:t> </a:t>
            </a:r>
            <a:r>
              <a:rPr lang="en-US" sz="1800" dirty="0">
                <a:latin typeface="IRANSansWeb" panose="020B0506030804020204" pitchFamily="34" charset="-78"/>
                <a:cs typeface="IRANSansWeb" panose="020B0506030804020204" pitchFamily="34" charset="-78"/>
              </a:rPr>
              <a:t> </a:t>
            </a:r>
            <a:r>
              <a:rPr lang="fa-IR" sz="1800" dirty="0">
                <a:latin typeface="IRANSansWeb" panose="020B0506030804020204" pitchFamily="34" charset="-78"/>
                <a:cs typeface="IRANSansWeb" panose="020B0506030804020204" pitchFamily="34" charset="-78"/>
              </a:rPr>
              <a:t>خالی باشد → </a:t>
            </a:r>
            <a:r>
              <a:rPr lang="en-US" sz="1800" dirty="0">
                <a:latin typeface="IRANSansWeb" panose="020B0506030804020204" pitchFamily="34" charset="-78"/>
                <a:cs typeface="IRANSansWeb" panose="020B0506030804020204" pitchFamily="34" charset="-78"/>
              </a:rPr>
              <a:t>Task</a:t>
            </a:r>
            <a:r>
              <a:rPr lang="fa-IR" sz="1800" dirty="0">
                <a:latin typeface="IRANSansWeb" panose="020B0506030804020204" pitchFamily="34" charset="-78"/>
                <a:cs typeface="IRANSansWeb" panose="020B0506030804020204" pitchFamily="34" charset="-78"/>
              </a:rPr>
              <a:t> </a:t>
            </a:r>
            <a:r>
              <a:rPr lang="en-US" sz="1800" dirty="0">
                <a:latin typeface="IRANSansWeb" panose="020B0506030804020204" pitchFamily="34" charset="-78"/>
                <a:cs typeface="IRANSansWeb" panose="020B0506030804020204" pitchFamily="34" charset="-78"/>
              </a:rPr>
              <a:t> </a:t>
            </a:r>
            <a:r>
              <a:rPr lang="fa-IR" sz="1800" dirty="0">
                <a:latin typeface="IRANSansWeb" panose="020B0506030804020204" pitchFamily="34" charset="-78"/>
                <a:cs typeface="IRANSansWeb" panose="020B0506030804020204" pitchFamily="34" charset="-78"/>
              </a:rPr>
              <a:t>گیر می‌کند</a:t>
            </a:r>
            <a:br>
              <a:rPr lang="fa-IR" sz="1800" dirty="0">
                <a:latin typeface="IRANSansWeb" panose="020B0506030804020204" pitchFamily="34" charset="-78"/>
                <a:cs typeface="IRANSansWeb" panose="020B0506030804020204" pitchFamily="34" charset="-78"/>
              </a:rPr>
            </a:br>
            <a:r>
              <a:rPr lang="en-US" sz="1800" dirty="0">
                <a:latin typeface="IRANSansWeb" panose="020B0506030804020204" pitchFamily="34" charset="-78"/>
                <a:cs typeface="IRANSansWeb" panose="020B0506030804020204" pitchFamily="34" charset="-78"/>
              </a:rPr>
              <a:t>📌 </a:t>
            </a:r>
            <a:r>
              <a:rPr lang="fa-IR" sz="1800" dirty="0">
                <a:latin typeface="IRANSansWeb" panose="020B0506030804020204" pitchFamily="34" charset="-78"/>
                <a:cs typeface="IRANSansWeb" panose="020B0506030804020204" pitchFamily="34" charset="-78"/>
              </a:rPr>
              <a:t>اگر داده برسد → </a:t>
            </a:r>
            <a:r>
              <a:rPr lang="en-US" sz="1800" dirty="0">
                <a:latin typeface="IRANSansWeb" panose="020B0506030804020204" pitchFamily="34" charset="-78"/>
                <a:cs typeface="IRANSansWeb" panose="020B0506030804020204" pitchFamily="34" charset="-78"/>
              </a:rPr>
              <a:t>Task</a:t>
            </a:r>
            <a:r>
              <a:rPr lang="fa-IR" sz="1800" dirty="0">
                <a:latin typeface="IRANSansWeb" panose="020B0506030804020204" pitchFamily="34" charset="-78"/>
                <a:cs typeface="IRANSansWeb" panose="020B0506030804020204" pitchFamily="34" charset="-78"/>
              </a:rPr>
              <a:t> </a:t>
            </a:r>
            <a:r>
              <a:rPr lang="en-US" sz="1800" dirty="0">
                <a:latin typeface="IRANSansWeb" panose="020B0506030804020204" pitchFamily="34" charset="-78"/>
                <a:cs typeface="IRANSansWeb" panose="020B0506030804020204" pitchFamily="34" charset="-78"/>
              </a:rPr>
              <a:t> </a:t>
            </a:r>
            <a:r>
              <a:rPr lang="fa-IR" sz="1800" dirty="0">
                <a:latin typeface="IRANSansWeb" panose="020B0506030804020204" pitchFamily="34" charset="-78"/>
                <a:cs typeface="IRANSansWeb" panose="020B0506030804020204" pitchFamily="34" charset="-78"/>
              </a:rPr>
              <a:t>بلافاصله بیدار می‌شود</a:t>
            </a:r>
          </a:p>
        </p:txBody>
      </p:sp>
    </p:spTree>
    <p:extLst>
      <p:ext uri="{BB962C8B-B14F-4D97-AF65-F5344CB8AC3E}">
        <p14:creationId xmlns:p14="http://schemas.microsoft.com/office/powerpoint/2010/main" val="3253782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86E3F-B060-D10F-BA81-61304EA03D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031942-7EDA-BC68-4CAF-7792001E6CDB}"/>
              </a:ext>
            </a:extLst>
          </p:cNvPr>
          <p:cNvSpPr>
            <a:spLocks noGrp="1"/>
          </p:cNvSpPr>
          <p:nvPr>
            <p:ph type="title"/>
          </p:nvPr>
        </p:nvSpPr>
        <p:spPr/>
        <p:txBody>
          <a:bodyPr>
            <a:normAutofit/>
          </a:bodyPr>
          <a:lstStyle/>
          <a:p>
            <a:pPr rtl="1"/>
            <a:r>
              <a:rPr lang="fa-IR" sz="4000" dirty="0">
                <a:latin typeface="IRANSansWeb" panose="020B0506030804020204" pitchFamily="34" charset="-78"/>
                <a:cs typeface="IRANSansWeb" panose="020B0506030804020204" pitchFamily="34" charset="-78"/>
              </a:rPr>
              <a:t>ایونت گروپ</a:t>
            </a:r>
            <a:r>
              <a:rPr lang="en-US" sz="4000" dirty="0">
                <a:latin typeface="IRANSansWeb" panose="020B0506030804020204" pitchFamily="34" charset="-78"/>
                <a:cs typeface="IRANSansWeb" panose="020B0506030804020204" pitchFamily="34" charset="-78"/>
              </a:rPr>
              <a:t> - </a:t>
            </a:r>
            <a:r>
              <a:rPr lang="fa-IR" sz="4000" dirty="0">
                <a:latin typeface="IRANSansWeb" panose="020B0506030804020204" pitchFamily="34" charset="-78"/>
                <a:cs typeface="IRANSansWeb" panose="020B0506030804020204" pitchFamily="34" charset="-78"/>
              </a:rPr>
              <a:t> </a:t>
            </a:r>
            <a:r>
              <a:rPr lang="en-US" sz="4000" dirty="0">
                <a:latin typeface="IRANSansWeb" panose="020B0506030804020204" pitchFamily="34" charset="-78"/>
                <a:cs typeface="IRANSansWeb" panose="020B0506030804020204" pitchFamily="34" charset="-78"/>
              </a:rPr>
              <a:t>Event Group</a:t>
            </a:r>
          </a:p>
        </p:txBody>
      </p:sp>
      <p:sp>
        <p:nvSpPr>
          <p:cNvPr id="3" name="Content Placeholder 2">
            <a:extLst>
              <a:ext uri="{FF2B5EF4-FFF2-40B4-BE49-F238E27FC236}">
                <a16:creationId xmlns:a16="http://schemas.microsoft.com/office/drawing/2014/main" id="{7818FA14-F5B0-799B-F72E-725D68144E12}"/>
              </a:ext>
            </a:extLst>
          </p:cNvPr>
          <p:cNvSpPr>
            <a:spLocks noGrp="1"/>
          </p:cNvSpPr>
          <p:nvPr>
            <p:ph idx="1"/>
          </p:nvPr>
        </p:nvSpPr>
        <p:spPr>
          <a:xfrm>
            <a:off x="457200" y="1417638"/>
            <a:ext cx="8229600" cy="4920409"/>
          </a:xfrm>
        </p:spPr>
        <p:txBody>
          <a:bodyPr>
            <a:noAutofit/>
          </a:bodyPr>
          <a:lstStyle/>
          <a:p>
            <a:pPr marL="0" indent="0" algn="r" rtl="1">
              <a:lnSpc>
                <a:spcPct val="150000"/>
              </a:lnSpc>
              <a:buNone/>
            </a:pPr>
            <a:r>
              <a:rPr lang="fa-IR" sz="1800" dirty="0">
                <a:latin typeface="IRANSansWeb" panose="020B0506030804020204" pitchFamily="34" charset="-78"/>
                <a:cs typeface="IRANSansWeb" panose="020B0506030804020204" pitchFamily="34" charset="-78"/>
              </a:rPr>
              <a:t>برای </a:t>
            </a:r>
            <a:r>
              <a:rPr lang="fa-IR" sz="1800" b="1" dirty="0">
                <a:latin typeface="IRANSansWeb" panose="020B0506030804020204" pitchFamily="34" charset="-78"/>
                <a:cs typeface="IRANSansWeb" panose="020B0506030804020204" pitchFamily="34" charset="-78"/>
              </a:rPr>
              <a:t>چند رویداد هم‌زمان</a:t>
            </a:r>
            <a:r>
              <a:rPr lang="fa-IR" sz="1800" dirty="0">
                <a:latin typeface="IRANSansWeb" panose="020B0506030804020204" pitchFamily="34" charset="-78"/>
                <a:cs typeface="IRANSansWeb" panose="020B0506030804020204" pitchFamily="34" charset="-78"/>
              </a:rPr>
              <a:t> (</a:t>
            </a:r>
            <a:r>
              <a:rPr lang="en-US" sz="1800" dirty="0">
                <a:latin typeface="IRANSansWeb" panose="020B0506030804020204" pitchFamily="34" charset="-78"/>
                <a:cs typeface="IRANSansWeb" panose="020B0506030804020204" pitchFamily="34" charset="-78"/>
              </a:rPr>
              <a:t>(Bit-based synchronization</a:t>
            </a:r>
            <a:endParaRPr lang="fa-IR" sz="1800" dirty="0">
              <a:latin typeface="IRANSansWeb" panose="020B0506030804020204" pitchFamily="34" charset="-78"/>
              <a:cs typeface="IRANSansWeb" panose="020B0506030804020204" pitchFamily="34" charset="-78"/>
            </a:endParaRPr>
          </a:p>
          <a:p>
            <a:pPr marL="0" indent="0" algn="r" rtl="1">
              <a:lnSpc>
                <a:spcPct val="150000"/>
              </a:lnSpc>
              <a:buNone/>
            </a:pPr>
            <a:r>
              <a:rPr lang="fa-IR" sz="1800" b="1" dirty="0">
                <a:latin typeface="IRANSansWeb" panose="020B0506030804020204" pitchFamily="34" charset="-78"/>
                <a:cs typeface="IRANSansWeb" panose="020B0506030804020204" pitchFamily="34" charset="-78"/>
              </a:rPr>
              <a:t>مثال کاربردی:</a:t>
            </a:r>
            <a:endParaRPr lang="fa-IR" sz="1800" dirty="0">
              <a:latin typeface="IRANSansWeb" panose="020B0506030804020204" pitchFamily="34" charset="-78"/>
              <a:cs typeface="IRANSansWeb" panose="020B0506030804020204" pitchFamily="34" charset="-78"/>
            </a:endParaRPr>
          </a:p>
          <a:p>
            <a:pPr marL="0" indent="0" algn="r" rtl="1">
              <a:lnSpc>
                <a:spcPct val="150000"/>
              </a:lnSpc>
              <a:buNone/>
            </a:pPr>
            <a:r>
              <a:rPr lang="en-US" sz="1800" dirty="0" err="1">
                <a:latin typeface="IRANSansWeb" panose="020B0506030804020204" pitchFamily="34" charset="-78"/>
                <a:cs typeface="IRANSansWeb" panose="020B0506030804020204" pitchFamily="34" charset="-78"/>
              </a:rPr>
              <a:t>WiFi</a:t>
            </a:r>
            <a:r>
              <a:rPr lang="fa-IR" sz="1800" dirty="0">
                <a:latin typeface="IRANSansWeb" panose="020B0506030804020204" pitchFamily="34" charset="-78"/>
                <a:cs typeface="IRANSansWeb" panose="020B0506030804020204" pitchFamily="34" charset="-78"/>
              </a:rPr>
              <a:t> </a:t>
            </a:r>
            <a:r>
              <a:rPr lang="en-US" sz="1800" dirty="0">
                <a:latin typeface="IRANSansWeb" panose="020B0506030804020204" pitchFamily="34" charset="-78"/>
                <a:cs typeface="IRANSansWeb" panose="020B0506030804020204" pitchFamily="34" charset="-78"/>
              </a:rPr>
              <a:t> </a:t>
            </a:r>
            <a:r>
              <a:rPr lang="fa-IR" sz="1800" dirty="0">
                <a:latin typeface="IRANSansWeb" panose="020B0506030804020204" pitchFamily="34" charset="-78"/>
                <a:cs typeface="IRANSansWeb" panose="020B0506030804020204" pitchFamily="34" charset="-78"/>
              </a:rPr>
              <a:t>وصل شد</a:t>
            </a:r>
          </a:p>
          <a:p>
            <a:pPr marL="0" indent="0" algn="r" rtl="1">
              <a:lnSpc>
                <a:spcPct val="150000"/>
              </a:lnSpc>
              <a:buNone/>
            </a:pPr>
            <a:r>
              <a:rPr lang="en-US" sz="1800" dirty="0">
                <a:latin typeface="IRANSansWeb" panose="020B0506030804020204" pitchFamily="34" charset="-78"/>
                <a:cs typeface="IRANSansWeb" panose="020B0506030804020204" pitchFamily="34" charset="-78"/>
              </a:rPr>
              <a:t>IP</a:t>
            </a:r>
            <a:r>
              <a:rPr lang="fa-IR" sz="1800" dirty="0">
                <a:latin typeface="IRANSansWeb" panose="020B0506030804020204" pitchFamily="34" charset="-78"/>
                <a:cs typeface="IRANSansWeb" panose="020B0506030804020204" pitchFamily="34" charset="-78"/>
              </a:rPr>
              <a:t> </a:t>
            </a:r>
            <a:r>
              <a:rPr lang="en-US" sz="1800" dirty="0">
                <a:latin typeface="IRANSansWeb" panose="020B0506030804020204" pitchFamily="34" charset="-78"/>
                <a:cs typeface="IRANSansWeb" panose="020B0506030804020204" pitchFamily="34" charset="-78"/>
              </a:rPr>
              <a:t> </a:t>
            </a:r>
            <a:r>
              <a:rPr lang="fa-IR" sz="1800" dirty="0">
                <a:latin typeface="IRANSansWeb" panose="020B0506030804020204" pitchFamily="34" charset="-78"/>
                <a:cs typeface="IRANSansWeb" panose="020B0506030804020204" pitchFamily="34" charset="-78"/>
              </a:rPr>
              <a:t>گرفت</a:t>
            </a:r>
          </a:p>
          <a:p>
            <a:pPr marL="0" indent="0" algn="r" rtl="1">
              <a:lnSpc>
                <a:spcPct val="150000"/>
              </a:lnSpc>
              <a:buNone/>
            </a:pPr>
            <a:r>
              <a:rPr lang="en-US" sz="1800" dirty="0">
                <a:latin typeface="IRANSansWeb" panose="020B0506030804020204" pitchFamily="34" charset="-78"/>
                <a:cs typeface="IRANSansWeb" panose="020B0506030804020204" pitchFamily="34" charset="-78"/>
              </a:rPr>
              <a:t>MQTT</a:t>
            </a:r>
            <a:r>
              <a:rPr lang="fa-IR" sz="1800" dirty="0">
                <a:latin typeface="IRANSansWeb" panose="020B0506030804020204" pitchFamily="34" charset="-78"/>
                <a:cs typeface="IRANSansWeb" panose="020B0506030804020204" pitchFamily="34" charset="-78"/>
              </a:rPr>
              <a:t> </a:t>
            </a:r>
            <a:r>
              <a:rPr lang="en-US" sz="1800" dirty="0">
                <a:latin typeface="IRANSansWeb" panose="020B0506030804020204" pitchFamily="34" charset="-78"/>
                <a:cs typeface="IRANSansWeb" panose="020B0506030804020204" pitchFamily="34" charset="-78"/>
              </a:rPr>
              <a:t> </a:t>
            </a:r>
            <a:r>
              <a:rPr lang="fa-IR" sz="1800" dirty="0">
                <a:latin typeface="IRANSansWeb" panose="020B0506030804020204" pitchFamily="34" charset="-78"/>
                <a:cs typeface="IRANSansWeb" panose="020B0506030804020204" pitchFamily="34" charset="-78"/>
              </a:rPr>
              <a:t>آماده است</a:t>
            </a:r>
          </a:p>
          <a:p>
            <a:pPr marL="0" indent="0" algn="r" rtl="1">
              <a:lnSpc>
                <a:spcPct val="150000"/>
              </a:lnSpc>
              <a:buNone/>
            </a:pPr>
            <a:r>
              <a:rPr lang="fa-IR" sz="1800" dirty="0">
                <a:latin typeface="IRANSansWeb" panose="020B0506030804020204" pitchFamily="34" charset="-78"/>
                <a:cs typeface="IRANSansWeb" panose="020B0506030804020204" pitchFamily="34" charset="-78"/>
              </a:rPr>
              <a:t>هر رویداد یک </a:t>
            </a:r>
            <a:r>
              <a:rPr lang="en-US" sz="1800" dirty="0">
                <a:latin typeface="IRANSansWeb" panose="020B0506030804020204" pitchFamily="34" charset="-78"/>
                <a:cs typeface="IRANSansWeb" panose="020B0506030804020204" pitchFamily="34" charset="-78"/>
              </a:rPr>
              <a:t>Bit</a:t>
            </a:r>
            <a:r>
              <a:rPr lang="fa-IR" sz="1800" dirty="0">
                <a:latin typeface="IRANSansWeb" panose="020B0506030804020204" pitchFamily="34" charset="-78"/>
                <a:cs typeface="IRANSansWeb" panose="020B0506030804020204" pitchFamily="34" charset="-78"/>
              </a:rPr>
              <a:t> </a:t>
            </a:r>
            <a:r>
              <a:rPr lang="en-US" sz="1800" dirty="0">
                <a:latin typeface="IRANSansWeb" panose="020B0506030804020204" pitchFamily="34" charset="-78"/>
                <a:cs typeface="IRANSansWeb" panose="020B0506030804020204" pitchFamily="34" charset="-78"/>
              </a:rPr>
              <a:t> </a:t>
            </a:r>
            <a:r>
              <a:rPr lang="fa-IR" sz="1800" dirty="0">
                <a:latin typeface="IRANSansWeb" panose="020B0506030804020204" pitchFamily="34" charset="-78"/>
                <a:cs typeface="IRANSansWeb" panose="020B0506030804020204" pitchFamily="34" charset="-78"/>
              </a:rPr>
              <a:t>است.</a:t>
            </a:r>
          </a:p>
          <a:p>
            <a:pPr marL="0" indent="0" algn="l">
              <a:lnSpc>
                <a:spcPct val="150000"/>
              </a:lnSpc>
              <a:buNone/>
            </a:pPr>
            <a:r>
              <a:rPr lang="en-US" sz="1200" dirty="0" err="1">
                <a:latin typeface="IRANSansWeb" panose="020B0506030804020204" pitchFamily="34" charset="-78"/>
                <a:cs typeface="IRANSansWeb" panose="020B0506030804020204" pitchFamily="34" charset="-78"/>
              </a:rPr>
              <a:t>xEventGroupWaitBits</a:t>
            </a:r>
            <a:r>
              <a:rPr lang="en-US" sz="1200" dirty="0">
                <a:latin typeface="IRANSansWeb" panose="020B0506030804020204" pitchFamily="34" charset="-78"/>
                <a:cs typeface="IRANSansWeb" panose="020B0506030804020204" pitchFamily="34" charset="-78"/>
              </a:rPr>
              <a:t>(</a:t>
            </a:r>
            <a:r>
              <a:rPr lang="en-US" sz="1200" dirty="0" err="1">
                <a:latin typeface="IRANSansWeb" panose="020B0506030804020204" pitchFamily="34" charset="-78"/>
                <a:cs typeface="IRANSansWeb" panose="020B0506030804020204" pitchFamily="34" charset="-78"/>
              </a:rPr>
              <a:t>eventGroup</a:t>
            </a:r>
            <a:r>
              <a:rPr lang="en-US" sz="1200" dirty="0">
                <a:latin typeface="IRANSansWeb" panose="020B0506030804020204" pitchFamily="34" charset="-78"/>
                <a:cs typeface="IRANSansWeb" panose="020B0506030804020204" pitchFamily="34" charset="-78"/>
              </a:rPr>
              <a:t>, WIFI_CONNECTED | MQTT_READY, </a:t>
            </a:r>
            <a:r>
              <a:rPr lang="en-US" sz="1200" dirty="0" err="1">
                <a:latin typeface="IRANSansWeb" panose="020B0506030804020204" pitchFamily="34" charset="-78"/>
                <a:cs typeface="IRANSansWeb" panose="020B0506030804020204" pitchFamily="34" charset="-78"/>
              </a:rPr>
              <a:t>pdTRUE</a:t>
            </a:r>
            <a:r>
              <a:rPr lang="en-US" sz="1200" dirty="0">
                <a:latin typeface="IRANSansWeb" panose="020B0506030804020204" pitchFamily="34" charset="-78"/>
                <a:cs typeface="IRANSansWeb" panose="020B0506030804020204" pitchFamily="34" charset="-78"/>
              </a:rPr>
              <a:t>, </a:t>
            </a:r>
            <a:r>
              <a:rPr lang="en-US" sz="1200" dirty="0" err="1">
                <a:latin typeface="IRANSansWeb" panose="020B0506030804020204" pitchFamily="34" charset="-78"/>
                <a:cs typeface="IRANSansWeb" panose="020B0506030804020204" pitchFamily="34" charset="-78"/>
              </a:rPr>
              <a:t>pdTRUE</a:t>
            </a:r>
            <a:r>
              <a:rPr lang="en-US" sz="1200" dirty="0">
                <a:latin typeface="IRANSansWeb" panose="020B0506030804020204" pitchFamily="34" charset="-78"/>
                <a:cs typeface="IRANSansWeb" panose="020B0506030804020204" pitchFamily="34" charset="-78"/>
              </a:rPr>
              <a:t>, </a:t>
            </a:r>
            <a:r>
              <a:rPr lang="en-US" sz="1200" dirty="0" err="1">
                <a:latin typeface="IRANSansWeb" panose="020B0506030804020204" pitchFamily="34" charset="-78"/>
                <a:cs typeface="IRANSansWeb" panose="020B0506030804020204" pitchFamily="34" charset="-78"/>
              </a:rPr>
              <a:t>portMAX_DELAY</a:t>
            </a:r>
            <a:r>
              <a:rPr lang="en-US" sz="1200" dirty="0">
                <a:latin typeface="IRANSansWeb" panose="020B0506030804020204" pitchFamily="34" charset="-78"/>
                <a:cs typeface="IRANSansWeb" panose="020B0506030804020204" pitchFamily="34" charset="-78"/>
              </a:rPr>
              <a:t>);</a:t>
            </a:r>
          </a:p>
          <a:p>
            <a:pPr marL="0" indent="0" algn="r" rtl="1">
              <a:lnSpc>
                <a:spcPct val="150000"/>
              </a:lnSpc>
              <a:buNone/>
            </a:pPr>
            <a:r>
              <a:rPr lang="fa-IR" sz="1800" dirty="0">
                <a:latin typeface="IRANSansWeb" panose="020B0506030804020204" pitchFamily="34" charset="-78"/>
                <a:cs typeface="IRANSansWeb" panose="020B0506030804020204" pitchFamily="34" charset="-78"/>
              </a:rPr>
              <a:t>یعنی:</a:t>
            </a:r>
          </a:p>
          <a:p>
            <a:pPr marL="0" indent="0" algn="r" rtl="1">
              <a:lnSpc>
                <a:spcPct val="150000"/>
              </a:lnSpc>
              <a:buNone/>
            </a:pPr>
            <a:r>
              <a:rPr lang="fa-IR" sz="1800" dirty="0">
                <a:latin typeface="IRANSansWeb" panose="020B0506030804020204" pitchFamily="34" charset="-78"/>
                <a:cs typeface="IRANSansWeb" panose="020B0506030804020204" pitchFamily="34" charset="-78"/>
              </a:rPr>
              <a:t>صبر کن تا </a:t>
            </a:r>
            <a:r>
              <a:rPr lang="fa-IR" sz="1800" b="1" dirty="0">
                <a:latin typeface="IRANSansWeb" panose="020B0506030804020204" pitchFamily="34" charset="-78"/>
                <a:cs typeface="IRANSansWeb" panose="020B0506030804020204" pitchFamily="34" charset="-78"/>
              </a:rPr>
              <a:t>همه‌ی این بیت‌ها</a:t>
            </a:r>
            <a:r>
              <a:rPr lang="fa-IR" sz="1800" dirty="0">
                <a:latin typeface="IRANSansWeb" panose="020B0506030804020204" pitchFamily="34" charset="-78"/>
                <a:cs typeface="IRANSansWeb" panose="020B0506030804020204" pitchFamily="34" charset="-78"/>
              </a:rPr>
              <a:t> ست شوند</a:t>
            </a:r>
          </a:p>
          <a:p>
            <a:pPr marL="0" indent="0" algn="r" rtl="1">
              <a:lnSpc>
                <a:spcPct val="150000"/>
              </a:lnSpc>
              <a:buNone/>
            </a:pPr>
            <a:r>
              <a:rPr lang="en-US" sz="1800" dirty="0">
                <a:latin typeface="IRANSansWeb" panose="020B0506030804020204" pitchFamily="34" charset="-78"/>
                <a:cs typeface="IRANSansWeb" panose="020B0506030804020204" pitchFamily="34" charset="-78"/>
              </a:rPr>
              <a:t>✅ </a:t>
            </a:r>
            <a:r>
              <a:rPr lang="fa-IR" sz="1800" dirty="0">
                <a:latin typeface="IRANSansWeb" panose="020B0506030804020204" pitchFamily="34" charset="-78"/>
                <a:cs typeface="IRANSansWeb" panose="020B0506030804020204" pitchFamily="34" charset="-78"/>
              </a:rPr>
              <a:t>عالی برای </a:t>
            </a:r>
            <a:r>
              <a:rPr lang="en-US" sz="1800" dirty="0">
                <a:latin typeface="IRANSansWeb" panose="020B0506030804020204" pitchFamily="34" charset="-78"/>
                <a:cs typeface="IRANSansWeb" panose="020B0506030804020204" pitchFamily="34" charset="-78"/>
              </a:rPr>
              <a:t>State Machine</a:t>
            </a:r>
            <a:br>
              <a:rPr lang="en-US" sz="1800" dirty="0">
                <a:latin typeface="IRANSansWeb" panose="020B0506030804020204" pitchFamily="34" charset="-78"/>
                <a:cs typeface="IRANSansWeb" panose="020B0506030804020204" pitchFamily="34" charset="-78"/>
              </a:rPr>
            </a:br>
            <a:r>
              <a:rPr lang="en-US" sz="1800" dirty="0">
                <a:latin typeface="IRANSansWeb" panose="020B0506030804020204" pitchFamily="34" charset="-78"/>
                <a:cs typeface="IRANSansWeb" panose="020B0506030804020204" pitchFamily="34" charset="-78"/>
              </a:rPr>
              <a:t>❌ </a:t>
            </a:r>
            <a:r>
              <a:rPr lang="fa-IR" sz="1800" dirty="0">
                <a:latin typeface="IRANSansWeb" panose="020B0506030804020204" pitchFamily="34" charset="-78"/>
                <a:cs typeface="IRANSansWeb" panose="020B0506030804020204" pitchFamily="34" charset="-78"/>
              </a:rPr>
              <a:t>مناسب انتقال داده نیست</a:t>
            </a:r>
          </a:p>
        </p:txBody>
      </p:sp>
    </p:spTree>
    <p:extLst>
      <p:ext uri="{BB962C8B-B14F-4D97-AF65-F5344CB8AC3E}">
        <p14:creationId xmlns:p14="http://schemas.microsoft.com/office/powerpoint/2010/main" val="2970117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61687-68E9-85FF-EC7B-9E0FE48399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6B976A-D51F-0381-9F43-D4DB9EA3A6C0}"/>
              </a:ext>
            </a:extLst>
          </p:cNvPr>
          <p:cNvSpPr>
            <a:spLocks noGrp="1"/>
          </p:cNvSpPr>
          <p:nvPr>
            <p:ph type="title"/>
          </p:nvPr>
        </p:nvSpPr>
        <p:spPr/>
        <p:txBody>
          <a:bodyPr>
            <a:normAutofit fontScale="90000"/>
          </a:bodyPr>
          <a:lstStyle/>
          <a:p>
            <a:pPr rtl="1"/>
            <a:r>
              <a:rPr lang="fa-IR" sz="4000" dirty="0">
                <a:latin typeface="IRANSansWeb" panose="020B0506030804020204" pitchFamily="34" charset="-78"/>
                <a:cs typeface="IRANSansWeb" panose="020B0506030804020204" pitchFamily="34" charset="-78"/>
              </a:rPr>
              <a:t>تسک نوتیفیکیشن</a:t>
            </a:r>
            <a:r>
              <a:rPr lang="en-US" sz="4000" dirty="0">
                <a:latin typeface="IRANSansWeb" panose="020B0506030804020204" pitchFamily="34" charset="-78"/>
                <a:cs typeface="IRANSansWeb" panose="020B0506030804020204" pitchFamily="34" charset="-78"/>
              </a:rPr>
              <a:t> - </a:t>
            </a:r>
            <a:r>
              <a:rPr lang="fa-IR" sz="4000" dirty="0">
                <a:latin typeface="IRANSansWeb" panose="020B0506030804020204" pitchFamily="34" charset="-78"/>
                <a:cs typeface="IRANSansWeb" panose="020B0506030804020204" pitchFamily="34" charset="-78"/>
              </a:rPr>
              <a:t> </a:t>
            </a:r>
            <a:r>
              <a:rPr lang="en-US" sz="4000" dirty="0">
                <a:latin typeface="IRANSansWeb" panose="020B0506030804020204" pitchFamily="34" charset="-78"/>
                <a:cs typeface="IRANSansWeb" panose="020B0506030804020204" pitchFamily="34" charset="-78"/>
              </a:rPr>
              <a:t>Task Notification</a:t>
            </a:r>
          </a:p>
        </p:txBody>
      </p:sp>
      <p:sp>
        <p:nvSpPr>
          <p:cNvPr id="3" name="Content Placeholder 2">
            <a:extLst>
              <a:ext uri="{FF2B5EF4-FFF2-40B4-BE49-F238E27FC236}">
                <a16:creationId xmlns:a16="http://schemas.microsoft.com/office/drawing/2014/main" id="{6DEE191C-2376-3C76-2680-5178A1C95578}"/>
              </a:ext>
            </a:extLst>
          </p:cNvPr>
          <p:cNvSpPr>
            <a:spLocks noGrp="1"/>
          </p:cNvSpPr>
          <p:nvPr>
            <p:ph idx="1"/>
          </p:nvPr>
        </p:nvSpPr>
        <p:spPr>
          <a:xfrm>
            <a:off x="457200" y="1417638"/>
            <a:ext cx="8229600" cy="4920409"/>
          </a:xfrm>
        </p:spPr>
        <p:txBody>
          <a:bodyPr>
            <a:noAutofit/>
          </a:bodyPr>
          <a:lstStyle/>
          <a:p>
            <a:pPr marL="0" indent="0" algn="r" rtl="1">
              <a:lnSpc>
                <a:spcPct val="150000"/>
              </a:lnSpc>
              <a:buNone/>
            </a:pPr>
            <a:r>
              <a:rPr lang="fa-IR" sz="1800" dirty="0">
                <a:latin typeface="IRANSansWeb" panose="020B0506030804020204" pitchFamily="34" charset="-78"/>
                <a:cs typeface="IRANSansWeb" panose="020B0506030804020204" pitchFamily="34" charset="-78"/>
              </a:rPr>
              <a:t>سریع‌ترین روش </a:t>
            </a:r>
            <a:r>
              <a:rPr lang="en-US" sz="1800" dirty="0">
                <a:latin typeface="IRANSansWeb" panose="020B0506030804020204" pitchFamily="34" charset="-78"/>
                <a:cs typeface="IRANSansWeb" panose="020B0506030804020204" pitchFamily="34" charset="-78"/>
              </a:rPr>
              <a:t>Synchronization</a:t>
            </a:r>
            <a:r>
              <a:rPr lang="fa-IR" sz="1800" dirty="0">
                <a:latin typeface="IRANSansWeb" panose="020B0506030804020204" pitchFamily="34" charset="-78"/>
                <a:cs typeface="IRANSansWeb" panose="020B0506030804020204" pitchFamily="34" charset="-78"/>
              </a:rPr>
              <a:t> </a:t>
            </a:r>
            <a:r>
              <a:rPr lang="en-US" sz="1800" dirty="0">
                <a:latin typeface="IRANSansWeb" panose="020B0506030804020204" pitchFamily="34" charset="-78"/>
                <a:cs typeface="IRANSansWeb" panose="020B0506030804020204" pitchFamily="34" charset="-78"/>
              </a:rPr>
              <a:t> </a:t>
            </a:r>
            <a:r>
              <a:rPr lang="fa-IR" sz="1800" dirty="0">
                <a:latin typeface="IRANSansWeb" panose="020B0506030804020204" pitchFamily="34" charset="-78"/>
                <a:cs typeface="IRANSansWeb" panose="020B0506030804020204" pitchFamily="34" charset="-78"/>
              </a:rPr>
              <a:t>در  </a:t>
            </a:r>
            <a:r>
              <a:rPr lang="en-US" sz="1800" dirty="0" err="1">
                <a:latin typeface="IRANSansWeb" panose="020B0506030804020204" pitchFamily="34" charset="-78"/>
                <a:cs typeface="IRANSansWeb" panose="020B0506030804020204" pitchFamily="34" charset="-78"/>
              </a:rPr>
              <a:t>FreeRTOS</a:t>
            </a:r>
            <a:r>
              <a:rPr lang="fa-IR" sz="1800" dirty="0">
                <a:latin typeface="IRANSansWeb" panose="020B0506030804020204" pitchFamily="34" charset="-78"/>
                <a:cs typeface="IRANSansWeb" panose="020B0506030804020204" pitchFamily="34" charset="-78"/>
              </a:rPr>
              <a:t> </a:t>
            </a:r>
            <a:endParaRPr lang="en-US" sz="1800" dirty="0">
              <a:latin typeface="IRANSansWeb" panose="020B0506030804020204" pitchFamily="34" charset="-78"/>
              <a:cs typeface="IRANSansWeb" panose="020B0506030804020204" pitchFamily="34" charset="-78"/>
            </a:endParaRPr>
          </a:p>
          <a:p>
            <a:pPr marL="0" indent="0" algn="r" rtl="1">
              <a:lnSpc>
                <a:spcPct val="150000"/>
              </a:lnSpc>
              <a:buNone/>
            </a:pPr>
            <a:r>
              <a:rPr lang="fa-IR" sz="1800" b="1" dirty="0">
                <a:latin typeface="IRANSansWeb" panose="020B0506030804020204" pitchFamily="34" charset="-78"/>
                <a:cs typeface="IRANSansWeb" panose="020B0506030804020204" pitchFamily="34" charset="-78"/>
              </a:rPr>
              <a:t>ویژگی‌ها:</a:t>
            </a:r>
            <a:endParaRPr lang="fa-IR" sz="1800" dirty="0">
              <a:latin typeface="IRANSansWeb" panose="020B0506030804020204" pitchFamily="34" charset="-78"/>
              <a:cs typeface="IRANSansWeb" panose="020B0506030804020204" pitchFamily="34" charset="-78"/>
            </a:endParaRPr>
          </a:p>
          <a:p>
            <a:pPr marL="0" indent="0" algn="r" rtl="1">
              <a:lnSpc>
                <a:spcPct val="150000"/>
              </a:lnSpc>
              <a:buNone/>
            </a:pPr>
            <a:r>
              <a:rPr lang="fa-IR" sz="1800" dirty="0">
                <a:latin typeface="IRANSansWeb" panose="020B0506030804020204" pitchFamily="34" charset="-78"/>
                <a:cs typeface="IRANSansWeb" panose="020B0506030804020204" pitchFamily="34" charset="-78"/>
              </a:rPr>
              <a:t>هر </a:t>
            </a:r>
            <a:r>
              <a:rPr lang="en-US" sz="1800" dirty="0">
                <a:latin typeface="IRANSansWeb" panose="020B0506030804020204" pitchFamily="34" charset="-78"/>
                <a:cs typeface="IRANSansWeb" panose="020B0506030804020204" pitchFamily="34" charset="-78"/>
              </a:rPr>
              <a:t>Task</a:t>
            </a:r>
            <a:r>
              <a:rPr lang="fa-IR" sz="1800" dirty="0">
                <a:latin typeface="IRANSansWeb" panose="020B0506030804020204" pitchFamily="34" charset="-78"/>
                <a:cs typeface="IRANSansWeb" panose="020B0506030804020204" pitchFamily="34" charset="-78"/>
              </a:rPr>
              <a:t> </a:t>
            </a:r>
            <a:r>
              <a:rPr lang="en-US" sz="1800" dirty="0">
                <a:latin typeface="IRANSansWeb" panose="020B0506030804020204" pitchFamily="34" charset="-78"/>
                <a:cs typeface="IRANSansWeb" panose="020B0506030804020204" pitchFamily="34" charset="-78"/>
              </a:rPr>
              <a:t> </a:t>
            </a:r>
            <a:r>
              <a:rPr lang="fa-IR" sz="1800" dirty="0">
                <a:latin typeface="IRANSansWeb" panose="020B0506030804020204" pitchFamily="34" charset="-78"/>
                <a:cs typeface="IRANSansWeb" panose="020B0506030804020204" pitchFamily="34" charset="-78"/>
              </a:rPr>
              <a:t>یک </a:t>
            </a:r>
            <a:r>
              <a:rPr lang="en-US" sz="1800" dirty="0">
                <a:latin typeface="IRANSansWeb" panose="020B0506030804020204" pitchFamily="34" charset="-78"/>
                <a:cs typeface="IRANSansWeb" panose="020B0506030804020204" pitchFamily="34" charset="-78"/>
              </a:rPr>
              <a:t>Notification Value</a:t>
            </a:r>
            <a:r>
              <a:rPr lang="fa-IR" sz="1800" dirty="0">
                <a:latin typeface="IRANSansWeb" panose="020B0506030804020204" pitchFamily="34" charset="-78"/>
                <a:cs typeface="IRANSansWeb" panose="020B0506030804020204" pitchFamily="34" charset="-78"/>
              </a:rPr>
              <a:t> </a:t>
            </a:r>
            <a:r>
              <a:rPr lang="en-US" sz="1800" dirty="0">
                <a:latin typeface="IRANSansWeb" panose="020B0506030804020204" pitchFamily="34" charset="-78"/>
                <a:cs typeface="IRANSansWeb" panose="020B0506030804020204" pitchFamily="34" charset="-78"/>
              </a:rPr>
              <a:t> </a:t>
            </a:r>
            <a:r>
              <a:rPr lang="fa-IR" sz="1800" dirty="0">
                <a:latin typeface="IRANSansWeb" panose="020B0506030804020204" pitchFamily="34" charset="-78"/>
                <a:cs typeface="IRANSansWeb" panose="020B0506030804020204" pitchFamily="34" charset="-78"/>
              </a:rPr>
              <a:t>با طول 32 بیت دارد </a:t>
            </a:r>
          </a:p>
          <a:p>
            <a:pPr marL="0" indent="0" algn="r" rtl="1">
              <a:lnSpc>
                <a:spcPct val="150000"/>
              </a:lnSpc>
              <a:buNone/>
            </a:pPr>
            <a:r>
              <a:rPr lang="fa-IR" sz="1800" dirty="0">
                <a:latin typeface="IRANSansWeb" panose="020B0506030804020204" pitchFamily="34" charset="-78"/>
                <a:cs typeface="IRANSansWeb" panose="020B0506030804020204" pitchFamily="34" charset="-78"/>
              </a:rPr>
              <a:t>بدون تخصیص حافظه</a:t>
            </a:r>
          </a:p>
          <a:p>
            <a:pPr marL="0" indent="0" algn="r" rtl="1">
              <a:lnSpc>
                <a:spcPct val="150000"/>
              </a:lnSpc>
              <a:buNone/>
            </a:pPr>
            <a:r>
              <a:rPr lang="fa-IR" sz="1800" dirty="0">
                <a:latin typeface="IRANSansWeb" panose="020B0506030804020204" pitchFamily="34" charset="-78"/>
                <a:cs typeface="IRANSansWeb" panose="020B0506030804020204" pitchFamily="34" charset="-78"/>
              </a:rPr>
              <a:t>جایگزین </a:t>
            </a:r>
            <a:r>
              <a:rPr lang="en-US" sz="1800" dirty="0">
                <a:latin typeface="IRANSansWeb" panose="020B0506030804020204" pitchFamily="34" charset="-78"/>
                <a:cs typeface="IRANSansWeb" panose="020B0506030804020204" pitchFamily="34" charset="-78"/>
              </a:rPr>
              <a:t>Semaphore / Event / Queue</a:t>
            </a:r>
            <a:r>
              <a:rPr lang="fa-IR" sz="1800" dirty="0">
                <a:latin typeface="IRANSansWeb" panose="020B0506030804020204" pitchFamily="34" charset="-78"/>
                <a:cs typeface="IRANSansWeb" panose="020B0506030804020204" pitchFamily="34" charset="-78"/>
              </a:rPr>
              <a:t> </a:t>
            </a:r>
            <a:r>
              <a:rPr lang="en-US" sz="1800" dirty="0">
                <a:latin typeface="IRANSansWeb" panose="020B0506030804020204" pitchFamily="34" charset="-78"/>
                <a:cs typeface="IRANSansWeb" panose="020B0506030804020204" pitchFamily="34" charset="-78"/>
              </a:rPr>
              <a:t> </a:t>
            </a:r>
            <a:r>
              <a:rPr lang="fa-IR" sz="1800" dirty="0">
                <a:latin typeface="IRANSansWeb" panose="020B0506030804020204" pitchFamily="34" charset="-78"/>
                <a:cs typeface="IRANSansWeb" panose="020B0506030804020204" pitchFamily="34" charset="-78"/>
              </a:rPr>
              <a:t>کوچک</a:t>
            </a:r>
          </a:p>
          <a:p>
            <a:pPr marL="0" indent="0" rtl="1">
              <a:lnSpc>
                <a:spcPct val="150000"/>
              </a:lnSpc>
              <a:buNone/>
            </a:pPr>
            <a:r>
              <a:rPr lang="en-US" sz="1800" dirty="0" err="1">
                <a:latin typeface="IRANSansWeb" panose="020B0506030804020204" pitchFamily="34" charset="-78"/>
                <a:cs typeface="IRANSansWeb" panose="020B0506030804020204" pitchFamily="34" charset="-78"/>
              </a:rPr>
              <a:t>xTaskNotify</a:t>
            </a:r>
            <a:r>
              <a:rPr lang="en-US" sz="1800" dirty="0">
                <a:latin typeface="IRANSansWeb" panose="020B0506030804020204" pitchFamily="34" charset="-78"/>
                <a:cs typeface="IRANSansWeb" panose="020B0506030804020204" pitchFamily="34" charset="-78"/>
              </a:rPr>
              <a:t>(</a:t>
            </a:r>
            <a:r>
              <a:rPr lang="en-US" sz="1800" dirty="0" err="1">
                <a:latin typeface="IRANSansWeb" panose="020B0506030804020204" pitchFamily="34" charset="-78"/>
                <a:cs typeface="IRANSansWeb" panose="020B0506030804020204" pitchFamily="34" charset="-78"/>
              </a:rPr>
              <a:t>taskHandle</a:t>
            </a:r>
            <a:r>
              <a:rPr lang="en-US" sz="1800" dirty="0">
                <a:latin typeface="IRANSansWeb" panose="020B0506030804020204" pitchFamily="34" charset="-78"/>
                <a:cs typeface="IRANSansWeb" panose="020B0506030804020204" pitchFamily="34" charset="-78"/>
              </a:rPr>
              <a:t>, 0x01, </a:t>
            </a:r>
            <a:r>
              <a:rPr lang="en-US" sz="1800" dirty="0" err="1">
                <a:latin typeface="IRANSansWeb" panose="020B0506030804020204" pitchFamily="34" charset="-78"/>
                <a:cs typeface="IRANSansWeb" panose="020B0506030804020204" pitchFamily="34" charset="-78"/>
              </a:rPr>
              <a:t>eSetBits</a:t>
            </a:r>
            <a:r>
              <a:rPr lang="en-US" sz="1800" dirty="0">
                <a:latin typeface="IRANSansWeb" panose="020B0506030804020204" pitchFamily="34" charset="-78"/>
                <a:cs typeface="IRANSansWeb" panose="020B0506030804020204" pitchFamily="34" charset="-78"/>
              </a:rPr>
              <a:t>);</a:t>
            </a:r>
          </a:p>
          <a:p>
            <a:pPr marL="0" indent="0" rtl="1">
              <a:lnSpc>
                <a:spcPct val="150000"/>
              </a:lnSpc>
              <a:buNone/>
            </a:pPr>
            <a:r>
              <a:rPr lang="en-US" sz="1800" dirty="0" err="1">
                <a:latin typeface="IRANSansWeb" panose="020B0506030804020204" pitchFamily="34" charset="-78"/>
                <a:cs typeface="IRANSansWeb" panose="020B0506030804020204" pitchFamily="34" charset="-78"/>
              </a:rPr>
              <a:t>ulTaskNotifyTake</a:t>
            </a:r>
            <a:r>
              <a:rPr lang="en-US" sz="1800" dirty="0">
                <a:latin typeface="IRANSansWeb" panose="020B0506030804020204" pitchFamily="34" charset="-78"/>
                <a:cs typeface="IRANSansWeb" panose="020B0506030804020204" pitchFamily="34" charset="-78"/>
              </a:rPr>
              <a:t>(</a:t>
            </a:r>
            <a:r>
              <a:rPr lang="en-US" sz="1800" dirty="0" err="1">
                <a:latin typeface="IRANSansWeb" panose="020B0506030804020204" pitchFamily="34" charset="-78"/>
                <a:cs typeface="IRANSansWeb" panose="020B0506030804020204" pitchFamily="34" charset="-78"/>
              </a:rPr>
              <a:t>pdTRUE</a:t>
            </a:r>
            <a:r>
              <a:rPr lang="en-US" sz="1800" dirty="0">
                <a:latin typeface="IRANSansWeb" panose="020B0506030804020204" pitchFamily="34" charset="-78"/>
                <a:cs typeface="IRANSansWeb" panose="020B0506030804020204" pitchFamily="34" charset="-78"/>
              </a:rPr>
              <a:t>, </a:t>
            </a:r>
            <a:r>
              <a:rPr lang="en-US" sz="1800" dirty="0" err="1">
                <a:latin typeface="IRANSansWeb" panose="020B0506030804020204" pitchFamily="34" charset="-78"/>
                <a:cs typeface="IRANSansWeb" panose="020B0506030804020204" pitchFamily="34" charset="-78"/>
              </a:rPr>
              <a:t>portMAX_DELAY</a:t>
            </a:r>
            <a:r>
              <a:rPr lang="en-US" sz="1800" dirty="0">
                <a:latin typeface="IRANSansWeb" panose="020B0506030804020204" pitchFamily="34" charset="-78"/>
                <a:cs typeface="IRANSansWeb" panose="020B0506030804020204" pitchFamily="34" charset="-78"/>
              </a:rPr>
              <a:t>);</a:t>
            </a:r>
          </a:p>
          <a:p>
            <a:pPr marL="0" indent="0" algn="r" rtl="1">
              <a:lnSpc>
                <a:spcPct val="150000"/>
              </a:lnSpc>
              <a:buNone/>
            </a:pPr>
            <a:r>
              <a:rPr lang="en-US" sz="1800" dirty="0">
                <a:latin typeface="IRANSansWeb" panose="020B0506030804020204" pitchFamily="34" charset="-78"/>
                <a:cs typeface="IRANSansWeb" panose="020B0506030804020204" pitchFamily="34" charset="-78"/>
              </a:rPr>
              <a:t>⚡ </a:t>
            </a:r>
            <a:r>
              <a:rPr lang="fa-IR" sz="1800" dirty="0">
                <a:latin typeface="IRANSansWeb" panose="020B0506030804020204" pitchFamily="34" charset="-78"/>
                <a:cs typeface="IRANSansWeb" panose="020B0506030804020204" pitchFamily="34" charset="-78"/>
              </a:rPr>
              <a:t>سریع‌تر از </a:t>
            </a:r>
            <a:r>
              <a:rPr lang="en-US" sz="1800" dirty="0">
                <a:latin typeface="IRANSansWeb" panose="020B0506030804020204" pitchFamily="34" charset="-78"/>
                <a:cs typeface="IRANSansWeb" panose="020B0506030804020204" pitchFamily="34" charset="-78"/>
              </a:rPr>
              <a:t>Semaphore</a:t>
            </a:r>
            <a:br>
              <a:rPr lang="en-US" sz="1800" dirty="0">
                <a:latin typeface="IRANSansWeb" panose="020B0506030804020204" pitchFamily="34" charset="-78"/>
                <a:cs typeface="IRANSansWeb" panose="020B0506030804020204" pitchFamily="34" charset="-78"/>
              </a:rPr>
            </a:br>
            <a:r>
              <a:rPr lang="en-US" sz="1800" dirty="0">
                <a:latin typeface="IRANSansWeb" panose="020B0506030804020204" pitchFamily="34" charset="-78"/>
                <a:cs typeface="IRANSansWeb" panose="020B0506030804020204" pitchFamily="34" charset="-78"/>
              </a:rPr>
              <a:t>⚡ </a:t>
            </a:r>
            <a:r>
              <a:rPr lang="fa-IR" sz="1800" dirty="0">
                <a:latin typeface="IRANSansWeb" panose="020B0506030804020204" pitchFamily="34" charset="-78"/>
                <a:cs typeface="IRANSansWeb" panose="020B0506030804020204" pitchFamily="34" charset="-78"/>
              </a:rPr>
              <a:t>مناسب </a:t>
            </a:r>
            <a:r>
              <a:rPr lang="en-US" sz="1800" dirty="0">
                <a:latin typeface="IRANSansWeb" panose="020B0506030804020204" pitchFamily="34" charset="-78"/>
                <a:cs typeface="IRANSansWeb" panose="020B0506030804020204" pitchFamily="34" charset="-78"/>
              </a:rPr>
              <a:t>ISR → Task</a:t>
            </a:r>
          </a:p>
          <a:p>
            <a:pPr marL="0" indent="0" algn="r" rtl="1">
              <a:lnSpc>
                <a:spcPct val="150000"/>
              </a:lnSpc>
              <a:buNone/>
            </a:pPr>
            <a:r>
              <a:rPr lang="en-US" sz="1800" dirty="0">
                <a:latin typeface="IRANSansWeb" panose="020B0506030804020204" pitchFamily="34" charset="-78"/>
                <a:cs typeface="IRANSansWeb" panose="020B0506030804020204" pitchFamily="34" charset="-78"/>
              </a:rPr>
              <a:t>📌 </a:t>
            </a:r>
            <a:r>
              <a:rPr lang="fa-IR" sz="1800" dirty="0">
                <a:latin typeface="IRANSansWeb" panose="020B0506030804020204" pitchFamily="34" charset="-78"/>
                <a:cs typeface="IRANSansWeb" panose="020B0506030804020204" pitchFamily="34" charset="-78"/>
              </a:rPr>
              <a:t>محدودیت: فقط </a:t>
            </a:r>
            <a:r>
              <a:rPr lang="fa-IR" sz="1800" b="1" dirty="0">
                <a:latin typeface="IRANSansWeb" panose="020B0506030804020204" pitchFamily="34" charset="-78"/>
                <a:cs typeface="IRANSansWeb" panose="020B0506030804020204" pitchFamily="34" charset="-78"/>
              </a:rPr>
              <a:t>یک گیرنده</a:t>
            </a:r>
            <a:r>
              <a:rPr lang="fa-IR" sz="1800" dirty="0">
                <a:latin typeface="IRANSansWeb" panose="020B0506030804020204" pitchFamily="34" charset="-78"/>
                <a:cs typeface="IRANSansWeb" panose="020B0506030804020204" pitchFamily="34" charset="-78"/>
              </a:rPr>
              <a:t> (یک </a:t>
            </a:r>
            <a:r>
              <a:rPr lang="en-US" sz="1800" dirty="0">
                <a:latin typeface="IRANSansWeb" panose="020B0506030804020204" pitchFamily="34" charset="-78"/>
                <a:cs typeface="IRANSansWeb" panose="020B0506030804020204" pitchFamily="34" charset="-78"/>
              </a:rPr>
              <a:t>Task</a:t>
            </a:r>
            <a:r>
              <a:rPr lang="fa-IR" sz="1800" dirty="0">
                <a:latin typeface="IRANSansWeb" panose="020B0506030804020204" pitchFamily="34" charset="-78"/>
                <a:cs typeface="IRANSansWeb" panose="020B0506030804020204" pitchFamily="34" charset="-78"/>
              </a:rPr>
              <a:t>)</a:t>
            </a:r>
            <a:endParaRPr lang="en-US" sz="1800"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42335882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B3635-545A-6083-3722-F366D6B5C4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7A85F6-5A44-58AA-A611-15CADB0494F2}"/>
              </a:ext>
            </a:extLst>
          </p:cNvPr>
          <p:cNvSpPr>
            <a:spLocks noGrp="1"/>
          </p:cNvSpPr>
          <p:nvPr>
            <p:ph type="title"/>
          </p:nvPr>
        </p:nvSpPr>
        <p:spPr/>
        <p:txBody>
          <a:bodyPr>
            <a:normAutofit fontScale="90000"/>
          </a:bodyPr>
          <a:lstStyle/>
          <a:p>
            <a:pPr rtl="1"/>
            <a:r>
              <a:rPr lang="fa-IR" sz="4000" dirty="0">
                <a:latin typeface="IRANSansWeb" panose="020B0506030804020204" pitchFamily="34" charset="-78"/>
                <a:cs typeface="IRANSansWeb" panose="020B0506030804020204" pitchFamily="34" charset="-78"/>
              </a:rPr>
              <a:t>بافر</a:t>
            </a:r>
            <a:r>
              <a:rPr lang="en-US" sz="4000" dirty="0">
                <a:latin typeface="IRANSansWeb" panose="020B0506030804020204" pitchFamily="34" charset="-78"/>
                <a:cs typeface="IRANSansWeb" panose="020B0506030804020204" pitchFamily="34" charset="-78"/>
              </a:rPr>
              <a:t>- </a:t>
            </a:r>
            <a:r>
              <a:rPr lang="fa-IR" sz="4000" dirty="0">
                <a:latin typeface="IRANSansWeb" panose="020B0506030804020204" pitchFamily="34" charset="-78"/>
                <a:cs typeface="IRANSansWeb" panose="020B0506030804020204" pitchFamily="34" charset="-78"/>
              </a:rPr>
              <a:t> </a:t>
            </a:r>
            <a:r>
              <a:rPr lang="en-US" sz="4000" dirty="0">
                <a:latin typeface="IRANSansWeb" panose="020B0506030804020204" pitchFamily="34" charset="-78"/>
                <a:cs typeface="IRANSansWeb" panose="020B0506030804020204" pitchFamily="34" charset="-78"/>
              </a:rPr>
              <a:t>Stream Buffer / Message Buffer</a:t>
            </a:r>
          </a:p>
        </p:txBody>
      </p:sp>
      <p:sp>
        <p:nvSpPr>
          <p:cNvPr id="3" name="Content Placeholder 2">
            <a:extLst>
              <a:ext uri="{FF2B5EF4-FFF2-40B4-BE49-F238E27FC236}">
                <a16:creationId xmlns:a16="http://schemas.microsoft.com/office/drawing/2014/main" id="{41694752-0374-0DF4-6382-4237E9704FAA}"/>
              </a:ext>
            </a:extLst>
          </p:cNvPr>
          <p:cNvSpPr>
            <a:spLocks noGrp="1"/>
          </p:cNvSpPr>
          <p:nvPr>
            <p:ph idx="1"/>
          </p:nvPr>
        </p:nvSpPr>
        <p:spPr>
          <a:xfrm>
            <a:off x="457200" y="1417638"/>
            <a:ext cx="8229600" cy="4920409"/>
          </a:xfrm>
        </p:spPr>
        <p:txBody>
          <a:bodyPr>
            <a:noAutofit/>
          </a:bodyPr>
          <a:lstStyle/>
          <a:p>
            <a:pPr marL="0" indent="0" algn="r" rtl="1">
              <a:lnSpc>
                <a:spcPct val="150000"/>
              </a:lnSpc>
              <a:buNone/>
            </a:pPr>
            <a:r>
              <a:rPr lang="en-US" sz="2000" b="1" dirty="0">
                <a:latin typeface="IRANSansWeb" panose="020B0506030804020204" pitchFamily="34" charset="-78"/>
                <a:cs typeface="IRANSansWeb" panose="020B0506030804020204" pitchFamily="34" charset="-78"/>
              </a:rPr>
              <a:t>Stream Buffer</a:t>
            </a:r>
            <a:r>
              <a:rPr lang="fa-IR" sz="2000" b="1" dirty="0">
                <a:latin typeface="IRANSansWeb" panose="020B0506030804020204" pitchFamily="34" charset="-78"/>
                <a:cs typeface="IRANSansWeb" panose="020B0506030804020204" pitchFamily="34" charset="-78"/>
              </a:rPr>
              <a:t> </a:t>
            </a:r>
            <a:r>
              <a:rPr lang="en-US" sz="2000" dirty="0">
                <a:latin typeface="IRANSansWeb" panose="020B0506030804020204" pitchFamily="34" charset="-78"/>
                <a:cs typeface="IRANSansWeb" panose="020B0506030804020204" pitchFamily="34" charset="-78"/>
              </a:rPr>
              <a:t> </a:t>
            </a:r>
            <a:r>
              <a:rPr lang="fa-IR" sz="2000" dirty="0">
                <a:latin typeface="IRANSansWeb" panose="020B0506030804020204" pitchFamily="34" charset="-78"/>
                <a:cs typeface="IRANSansWeb" panose="020B0506030804020204" pitchFamily="34" charset="-78"/>
              </a:rPr>
              <a:t>داده‌ی پیوسته </a:t>
            </a:r>
            <a:r>
              <a:rPr lang="en-US" sz="2000" dirty="0">
                <a:latin typeface="IRANSansWeb" panose="020B0506030804020204" pitchFamily="34" charset="-78"/>
                <a:cs typeface="IRANSansWeb" panose="020B0506030804020204" pitchFamily="34" charset="-78"/>
              </a:rPr>
              <a:t>(Byte Stream)</a:t>
            </a:r>
          </a:p>
          <a:p>
            <a:pPr marL="0" indent="0" algn="r" rtl="1">
              <a:lnSpc>
                <a:spcPct val="150000"/>
              </a:lnSpc>
              <a:buNone/>
            </a:pPr>
            <a:r>
              <a:rPr lang="en-US" sz="2000" b="1" dirty="0">
                <a:latin typeface="IRANSansWeb" panose="020B0506030804020204" pitchFamily="34" charset="-78"/>
                <a:cs typeface="IRANSansWeb" panose="020B0506030804020204" pitchFamily="34" charset="-78"/>
              </a:rPr>
              <a:t>Message Buffer</a:t>
            </a:r>
            <a:r>
              <a:rPr lang="fa-IR" sz="2000" b="1" dirty="0">
                <a:latin typeface="IRANSansWeb" panose="020B0506030804020204" pitchFamily="34" charset="-78"/>
                <a:cs typeface="IRANSansWeb" panose="020B0506030804020204" pitchFamily="34" charset="-78"/>
              </a:rPr>
              <a:t> </a:t>
            </a:r>
            <a:r>
              <a:rPr lang="en-US" sz="2000" dirty="0">
                <a:latin typeface="IRANSansWeb" panose="020B0506030804020204" pitchFamily="34" charset="-78"/>
                <a:cs typeface="IRANSansWeb" panose="020B0506030804020204" pitchFamily="34" charset="-78"/>
              </a:rPr>
              <a:t> </a:t>
            </a:r>
            <a:r>
              <a:rPr lang="fa-IR" sz="2000" dirty="0">
                <a:latin typeface="IRANSansWeb" panose="020B0506030804020204" pitchFamily="34" charset="-78"/>
                <a:cs typeface="IRANSansWeb" panose="020B0506030804020204" pitchFamily="34" charset="-78"/>
              </a:rPr>
              <a:t>پیام‌های جداگانه</a:t>
            </a:r>
          </a:p>
          <a:p>
            <a:pPr marL="0" indent="0" algn="r" rtl="1">
              <a:lnSpc>
                <a:spcPct val="150000"/>
              </a:lnSpc>
              <a:buNone/>
            </a:pPr>
            <a:r>
              <a:rPr lang="fa-IR" sz="2000" dirty="0">
                <a:latin typeface="IRANSansWeb" panose="020B0506030804020204" pitchFamily="34" charset="-78"/>
                <a:cs typeface="IRANSansWeb" panose="020B0506030804020204" pitchFamily="34" charset="-78"/>
              </a:rPr>
              <a:t>مناسب:</a:t>
            </a:r>
          </a:p>
          <a:p>
            <a:pPr marL="0" indent="0" algn="r" rtl="1">
              <a:lnSpc>
                <a:spcPct val="150000"/>
              </a:lnSpc>
              <a:buNone/>
            </a:pPr>
            <a:r>
              <a:rPr lang="en-US" sz="2000" dirty="0">
                <a:latin typeface="IRANSansWeb" panose="020B0506030804020204" pitchFamily="34" charset="-78"/>
                <a:cs typeface="IRANSansWeb" panose="020B0506030804020204" pitchFamily="34" charset="-78"/>
              </a:rPr>
              <a:t>UART</a:t>
            </a:r>
          </a:p>
          <a:p>
            <a:pPr marL="0" indent="0" algn="r" rtl="1">
              <a:lnSpc>
                <a:spcPct val="150000"/>
              </a:lnSpc>
              <a:buNone/>
            </a:pPr>
            <a:r>
              <a:rPr lang="en-US" sz="2000" dirty="0">
                <a:latin typeface="IRANSansWeb" panose="020B0506030804020204" pitchFamily="34" charset="-78"/>
                <a:cs typeface="IRANSansWeb" panose="020B0506030804020204" pitchFamily="34" charset="-78"/>
              </a:rPr>
              <a:t>SPI</a:t>
            </a:r>
          </a:p>
          <a:p>
            <a:pPr marL="0" indent="0" algn="r" rtl="1">
              <a:lnSpc>
                <a:spcPct val="150000"/>
              </a:lnSpc>
              <a:buNone/>
            </a:pPr>
            <a:r>
              <a:rPr lang="en-US" sz="2000" dirty="0">
                <a:latin typeface="IRANSansWeb" panose="020B0506030804020204" pitchFamily="34" charset="-78"/>
                <a:cs typeface="IRANSansWeb" panose="020B0506030804020204" pitchFamily="34" charset="-78"/>
              </a:rPr>
              <a:t>DMA</a:t>
            </a:r>
          </a:p>
          <a:p>
            <a:pPr marL="0" indent="0" rtl="1">
              <a:lnSpc>
                <a:spcPct val="150000"/>
              </a:lnSpc>
              <a:buNone/>
            </a:pPr>
            <a:r>
              <a:rPr lang="en-US" sz="2000" dirty="0" err="1">
                <a:latin typeface="IRANSansWeb" panose="020B0506030804020204" pitchFamily="34" charset="-78"/>
                <a:cs typeface="IRANSansWeb" panose="020B0506030804020204" pitchFamily="34" charset="-78"/>
              </a:rPr>
              <a:t>xStreamBufferSendFromISR</a:t>
            </a:r>
            <a:r>
              <a:rPr lang="en-US" sz="2000" dirty="0">
                <a:latin typeface="IRANSansWeb" panose="020B0506030804020204" pitchFamily="34" charset="-78"/>
                <a:cs typeface="IRANSansWeb" panose="020B0506030804020204" pitchFamily="34" charset="-78"/>
              </a:rPr>
              <a:t>(...)</a:t>
            </a:r>
          </a:p>
          <a:p>
            <a:pPr marL="0" indent="0" rtl="1">
              <a:lnSpc>
                <a:spcPct val="150000"/>
              </a:lnSpc>
              <a:buNone/>
            </a:pPr>
            <a:r>
              <a:rPr lang="en-US" sz="2000" dirty="0" err="1">
                <a:latin typeface="IRANSansWeb" panose="020B0506030804020204" pitchFamily="34" charset="-78"/>
                <a:cs typeface="IRANSansWeb" panose="020B0506030804020204" pitchFamily="34" charset="-78"/>
              </a:rPr>
              <a:t>xStreamBufferReceive</a:t>
            </a:r>
            <a:r>
              <a:rPr lang="en-US" sz="2000" dirty="0">
                <a:latin typeface="IRANSansWeb" panose="020B0506030804020204" pitchFamily="34" charset="-78"/>
                <a:cs typeface="IRANSansWeb" panose="020B0506030804020204" pitchFamily="34" charset="-78"/>
              </a:rPr>
              <a:t>(...)</a:t>
            </a:r>
          </a:p>
        </p:txBody>
      </p:sp>
    </p:spTree>
    <p:extLst>
      <p:ext uri="{BB962C8B-B14F-4D97-AF65-F5344CB8AC3E}">
        <p14:creationId xmlns:p14="http://schemas.microsoft.com/office/powerpoint/2010/main" val="41944045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A1CA3-F14E-2696-286D-D91EAC6D77E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E516666-B61E-A84E-E387-B52638FC791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7066730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20EBE-D89D-39D6-B8EE-1BEA23092D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6F41ED-23E4-FD10-8C07-BE84B22A0B79}"/>
              </a:ext>
            </a:extLst>
          </p:cNvPr>
          <p:cNvSpPr>
            <a:spLocks noGrp="1"/>
          </p:cNvSpPr>
          <p:nvPr>
            <p:ph type="title"/>
          </p:nvPr>
        </p:nvSpPr>
        <p:spPr/>
        <p:txBody>
          <a:bodyPr/>
          <a:lstStyle/>
          <a:p>
            <a:r>
              <a:rPr lang="en-US" dirty="0"/>
              <a:t>Ethernet</a:t>
            </a:r>
          </a:p>
        </p:txBody>
      </p:sp>
      <p:sp>
        <p:nvSpPr>
          <p:cNvPr id="3" name="Content Placeholder 2">
            <a:extLst>
              <a:ext uri="{FF2B5EF4-FFF2-40B4-BE49-F238E27FC236}">
                <a16:creationId xmlns:a16="http://schemas.microsoft.com/office/drawing/2014/main" id="{4ECBAF53-A64B-18E0-FEEA-30FAD339F952}"/>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3409655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2A9D9-9A4C-7161-FCC8-EABED7DA02A0}"/>
              </a:ext>
            </a:extLst>
          </p:cNvPr>
          <p:cNvSpPr>
            <a:spLocks noGrp="1"/>
          </p:cNvSpPr>
          <p:nvPr>
            <p:ph type="title"/>
          </p:nvPr>
        </p:nvSpPr>
        <p:spPr/>
        <p:txBody>
          <a:bodyPr/>
          <a:lstStyle/>
          <a:p>
            <a:r>
              <a:rPr lang="fa-IR" dirty="0">
                <a:latin typeface="IRANSansWeb" panose="020B0506030804020204" pitchFamily="34" charset="-78"/>
                <a:cs typeface="IRANSansWeb" panose="020B0506030804020204" pitchFamily="34" charset="-78"/>
              </a:rPr>
              <a:t>شبکه و کاربرد آن</a:t>
            </a:r>
            <a:endParaRPr lang="en-US" dirty="0">
              <a:latin typeface="IRANSansWeb" panose="020B0506030804020204" pitchFamily="34" charset="-78"/>
              <a:cs typeface="IRANSansWeb" panose="020B0506030804020204" pitchFamily="34" charset="-78"/>
            </a:endParaRPr>
          </a:p>
        </p:txBody>
      </p:sp>
      <p:sp>
        <p:nvSpPr>
          <p:cNvPr id="3" name="Content Placeholder 2">
            <a:extLst>
              <a:ext uri="{FF2B5EF4-FFF2-40B4-BE49-F238E27FC236}">
                <a16:creationId xmlns:a16="http://schemas.microsoft.com/office/drawing/2014/main" id="{CB7BFC51-FC81-9614-4C46-2394AD8E9232}"/>
              </a:ext>
            </a:extLst>
          </p:cNvPr>
          <p:cNvSpPr>
            <a:spLocks noGrp="1"/>
          </p:cNvSpPr>
          <p:nvPr>
            <p:ph idx="1"/>
          </p:nvPr>
        </p:nvSpPr>
        <p:spPr/>
        <p:txBody>
          <a:bodyPr/>
          <a:lstStyle/>
          <a:p>
            <a:pPr algn="r" rtl="1"/>
            <a:r>
              <a:rPr lang="fa-IR" dirty="0">
                <a:latin typeface="IRANSansWeb" panose="020B0506030804020204" pitchFamily="34" charset="-78"/>
                <a:cs typeface="IRANSansWeb" panose="020B0506030804020204" pitchFamily="34" charset="-78"/>
              </a:rPr>
              <a:t>تاریخچه</a:t>
            </a:r>
          </a:p>
          <a:p>
            <a:pPr algn="r" rtl="1"/>
            <a:r>
              <a:rPr lang="fa-IR" dirty="0">
                <a:latin typeface="IRANSansWeb" panose="020B0506030804020204" pitchFamily="34" charset="-78"/>
                <a:cs typeface="IRANSansWeb" panose="020B0506030804020204" pitchFamily="34" charset="-78"/>
              </a:rPr>
              <a:t>شبکه چیست</a:t>
            </a:r>
          </a:p>
          <a:p>
            <a:pPr algn="r" rtl="1"/>
            <a:r>
              <a:rPr lang="fa-IR" dirty="0">
                <a:latin typeface="IRANSansWeb" panose="020B0506030804020204" pitchFamily="34" charset="-78"/>
                <a:cs typeface="IRANSansWeb" panose="020B0506030804020204" pitchFamily="34" charset="-78"/>
              </a:rPr>
              <a:t>ادوات شبکه</a:t>
            </a:r>
          </a:p>
          <a:p>
            <a:pPr algn="r" rtl="1"/>
            <a:r>
              <a:rPr lang="fa-IR" dirty="0">
                <a:latin typeface="IRANSansWeb" panose="020B0506030804020204" pitchFamily="34" charset="-78"/>
                <a:cs typeface="IRANSansWeb" panose="020B0506030804020204" pitchFamily="34" charset="-78"/>
              </a:rPr>
              <a:t>کاربرد شبکه</a:t>
            </a:r>
          </a:p>
          <a:p>
            <a:pPr algn="r" rtl="1"/>
            <a:r>
              <a:rPr lang="fa-IR" dirty="0">
                <a:latin typeface="IRANSansWeb" panose="020B0506030804020204" pitchFamily="34" charset="-78"/>
                <a:cs typeface="IRANSansWeb" panose="020B0506030804020204" pitchFamily="34" charset="-78"/>
              </a:rPr>
              <a:t>شبکه در امبدد سیستم ها</a:t>
            </a:r>
          </a:p>
          <a:p>
            <a:pPr algn="r" rtl="1"/>
            <a:r>
              <a:rPr lang="fa-IR" dirty="0">
                <a:latin typeface="IRANSansWeb" panose="020B0506030804020204" pitchFamily="34" charset="-78"/>
                <a:cs typeface="IRANSansWeb" panose="020B0506030804020204" pitchFamily="34" charset="-78"/>
              </a:rPr>
              <a:t>شبکه در </a:t>
            </a:r>
            <a:r>
              <a:rPr lang="en-US" dirty="0">
                <a:latin typeface="IRANSansWeb" panose="020B0506030804020204" pitchFamily="34" charset="-78"/>
                <a:cs typeface="IRANSansWeb" panose="020B0506030804020204" pitchFamily="34" charset="-78"/>
              </a:rPr>
              <a:t>STM32</a:t>
            </a:r>
          </a:p>
          <a:p>
            <a:pPr algn="r" rtl="1"/>
            <a:endParaRPr lang="en-US"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5166191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D6DB2-87BF-A60A-7425-AC1D48C67ADE}"/>
              </a:ext>
            </a:extLst>
          </p:cNvPr>
          <p:cNvSpPr>
            <a:spLocks noGrp="1"/>
          </p:cNvSpPr>
          <p:nvPr>
            <p:ph type="title"/>
          </p:nvPr>
        </p:nvSpPr>
        <p:spPr/>
        <p:txBody>
          <a:bodyPr>
            <a:noAutofit/>
          </a:bodyPr>
          <a:lstStyle/>
          <a:p>
            <a:r>
              <a:rPr lang="fa-IR" sz="2800" b="1" dirty="0">
                <a:latin typeface="IRANSansWeb" panose="020B0506030804020204" pitchFamily="34" charset="-78"/>
                <a:cs typeface="IRANSansWeb" panose="020B0506030804020204" pitchFamily="34" charset="-78"/>
              </a:rPr>
              <a:t>شبکه­ های کامپیوتری چگونه و چرا به وجود آمدند؟</a:t>
            </a:r>
            <a:endParaRPr lang="en-US" sz="2800" dirty="0">
              <a:latin typeface="IRANSansWeb" panose="020B0506030804020204" pitchFamily="34" charset="-78"/>
              <a:cs typeface="IRANSansWeb" panose="020B0506030804020204" pitchFamily="34" charset="-78"/>
            </a:endParaRPr>
          </a:p>
        </p:txBody>
      </p:sp>
      <p:sp>
        <p:nvSpPr>
          <p:cNvPr id="3" name="Content Placeholder 2">
            <a:extLst>
              <a:ext uri="{FF2B5EF4-FFF2-40B4-BE49-F238E27FC236}">
                <a16:creationId xmlns:a16="http://schemas.microsoft.com/office/drawing/2014/main" id="{C3DC9012-3095-9652-EBA6-942FC0E5CEB2}"/>
              </a:ext>
            </a:extLst>
          </p:cNvPr>
          <p:cNvSpPr>
            <a:spLocks noGrp="1"/>
          </p:cNvSpPr>
          <p:nvPr>
            <p:ph idx="1"/>
          </p:nvPr>
        </p:nvSpPr>
        <p:spPr/>
        <p:txBody>
          <a:bodyPr>
            <a:normAutofit/>
          </a:bodyPr>
          <a:lstStyle/>
          <a:p>
            <a:pPr algn="r" rtl="1">
              <a:lnSpc>
                <a:spcPct val="150000"/>
              </a:lnSpc>
            </a:pPr>
            <a:r>
              <a:rPr lang="fa-IR" sz="1400" dirty="0">
                <a:latin typeface="IRANSansWeb" panose="020B0506030804020204" pitchFamily="34" charset="-78"/>
                <a:cs typeface="IRANSansWeb" panose="020B0506030804020204" pitchFamily="34" charset="-78"/>
              </a:rPr>
              <a:t>در سال ۱۹۵۷ نخستین ماهواره، یعنی اسپوتنیک توسط اتحاد جماهیر شوروی سابق به فضا پرتاب شد. در همین دوران رقابت سختی از نظر تسلیحاتی بین دو ابرقدرت آن زمان </a:t>
            </a:r>
            <a:r>
              <a:rPr lang="fa-IR" sz="1400" dirty="0">
                <a:latin typeface="IRANSansWeb" panose="020B0506030804020204" pitchFamily="34" charset="-78"/>
                <a:cs typeface="IRANSansWeb" panose="020B0506030804020204" pitchFamily="34" charset="-78"/>
                <a:hlinkClick r:id="rId2" tooltip="جریان چیست؟ + نحوه اندازه گیری جریان الکتریکی"/>
              </a:rPr>
              <a:t>جریان</a:t>
            </a:r>
            <a:r>
              <a:rPr lang="fa-IR" sz="1400" dirty="0">
                <a:latin typeface="IRANSansWeb" panose="020B0506030804020204" pitchFamily="34" charset="-78"/>
                <a:cs typeface="IRANSansWeb" panose="020B0506030804020204" pitchFamily="34" charset="-78"/>
              </a:rPr>
              <a:t> داشت و دنیا در دوران جنگ سرد به سر می‌برد.</a:t>
            </a:r>
          </a:p>
          <a:p>
            <a:pPr algn="r" rtl="1">
              <a:lnSpc>
                <a:spcPct val="150000"/>
              </a:lnSpc>
            </a:pPr>
            <a:r>
              <a:rPr lang="fa-IR" sz="1400" dirty="0">
                <a:latin typeface="IRANSansWeb" panose="020B0506030804020204" pitchFamily="34" charset="-78"/>
                <a:cs typeface="IRANSansWeb" panose="020B0506030804020204" pitchFamily="34" charset="-78"/>
              </a:rPr>
              <a:t>وزارت دفاع آمریکا در واکنش به این اقدام رقیب نظامی خود</a:t>
            </a:r>
            <a:r>
              <a:rPr lang="en-US" sz="1400" dirty="0">
                <a:latin typeface="IRANSansWeb" panose="020B0506030804020204" pitchFamily="34" charset="-78"/>
                <a:cs typeface="IRANSansWeb" panose="020B0506030804020204" pitchFamily="34" charset="-78"/>
              </a:rPr>
              <a:t> </a:t>
            </a:r>
            <a:r>
              <a:rPr lang="fa-IR" sz="1400" dirty="0">
                <a:latin typeface="IRANSansWeb" panose="020B0506030804020204" pitchFamily="34" charset="-78"/>
                <a:cs typeface="IRANSansWeb" panose="020B0506030804020204" pitchFamily="34" charset="-78"/>
              </a:rPr>
              <a:t>، آژانس پروژه‌های تحقیقاتی پیشرفته یا آرپا </a:t>
            </a:r>
            <a:r>
              <a:rPr lang="en-US" sz="1400" dirty="0">
                <a:latin typeface="IRANSansWeb" panose="020B0506030804020204" pitchFamily="34" charset="-78"/>
                <a:cs typeface="IRANSansWeb" panose="020B0506030804020204" pitchFamily="34" charset="-78"/>
              </a:rPr>
              <a:t>(ARPA)</a:t>
            </a:r>
            <a:r>
              <a:rPr lang="fa-IR" sz="1400" dirty="0">
                <a:latin typeface="IRANSansWeb" panose="020B0506030804020204" pitchFamily="34" charset="-78"/>
                <a:cs typeface="IRANSansWeb" panose="020B0506030804020204" pitchFamily="34" charset="-78"/>
              </a:rPr>
              <a:t>را تأسیس کرد. یکی از پروژه‌های مهم این آژانس تأمین ارتباطات در زمان جنگ جهانی احتمالی تعریف شده بود. در همین سال‌ها در مراکز تحقیقاتی غیرنظامی که بر پایه دانشگاه‌ها بودند، تلاش برای اتصال کامپیوترها به یکدیگر در جریان بود.</a:t>
            </a:r>
          </a:p>
          <a:p>
            <a:pPr algn="r" rtl="1">
              <a:lnSpc>
                <a:spcPct val="150000"/>
              </a:lnSpc>
            </a:pPr>
            <a:r>
              <a:rPr lang="fa-IR" sz="1400" dirty="0">
                <a:latin typeface="IRANSansWeb" panose="020B0506030804020204" pitchFamily="34" charset="-78"/>
                <a:cs typeface="IRANSansWeb" panose="020B0506030804020204" pitchFamily="34" charset="-78"/>
              </a:rPr>
              <a:t>در آن زمان کامپیوترهای </a:t>
            </a:r>
            <a:r>
              <a:rPr lang="en-US" sz="1400" dirty="0">
                <a:latin typeface="IRANSansWeb" panose="020B0506030804020204" pitchFamily="34" charset="-78"/>
                <a:cs typeface="IRANSansWeb" panose="020B0506030804020204" pitchFamily="34" charset="-78"/>
              </a:rPr>
              <a:t> Mainframe</a:t>
            </a:r>
            <a:r>
              <a:rPr lang="fa-IR" sz="1400" dirty="0">
                <a:latin typeface="IRANSansWeb" panose="020B0506030804020204" pitchFamily="34" charset="-78"/>
                <a:cs typeface="IRANSansWeb" panose="020B0506030804020204" pitchFamily="34" charset="-78"/>
              </a:rPr>
              <a:t>از طریق ترمینال‌ها به کاربران سرویس می‌دادند. در اثر اهمیت یافتن این موضوع آژانس آرپا منابع مالی پروژه اتصال دو کامپیوتر از راه دور به یکدیگر را در دانشگاه </a:t>
            </a:r>
            <a:r>
              <a:rPr lang="en-US" sz="1400" dirty="0">
                <a:latin typeface="IRANSansWeb" panose="020B0506030804020204" pitchFamily="34" charset="-78"/>
                <a:cs typeface="IRANSansWeb" panose="020B0506030804020204" pitchFamily="34" charset="-78"/>
              </a:rPr>
              <a:t> MIT</a:t>
            </a:r>
            <a:r>
              <a:rPr lang="fa-IR" sz="1400" dirty="0">
                <a:latin typeface="IRANSansWeb" panose="020B0506030804020204" pitchFamily="34" charset="-78"/>
                <a:cs typeface="IRANSansWeb" panose="020B0506030804020204" pitchFamily="34" charset="-78"/>
              </a:rPr>
              <a:t>بر عهده گرفت.</a:t>
            </a:r>
          </a:p>
          <a:p>
            <a:pPr algn="r" rtl="1">
              <a:lnSpc>
                <a:spcPct val="150000"/>
              </a:lnSpc>
            </a:pPr>
            <a:r>
              <a:rPr lang="fa-IR" sz="1400" dirty="0">
                <a:latin typeface="IRANSansWeb" panose="020B0506030804020204" pitchFamily="34" charset="-78"/>
                <a:cs typeface="IRANSansWeb" panose="020B0506030804020204" pitchFamily="34" charset="-78"/>
              </a:rPr>
              <a:t>در اواخر سال ۱۹۶۰ اولین شبکه کامپیوتری بین چهار کامپیوتر که دوتای آنها در </a:t>
            </a:r>
            <a:r>
              <a:rPr lang="en-US" sz="1400" dirty="0">
                <a:latin typeface="IRANSansWeb" panose="020B0506030804020204" pitchFamily="34" charset="-78"/>
                <a:cs typeface="IRANSansWeb" panose="020B0506030804020204" pitchFamily="34" charset="-78"/>
              </a:rPr>
              <a:t>MIT، </a:t>
            </a:r>
            <a:r>
              <a:rPr lang="fa-IR" sz="1400" dirty="0">
                <a:latin typeface="IRANSansWeb" panose="020B0506030804020204" pitchFamily="34" charset="-78"/>
                <a:cs typeface="IRANSansWeb" panose="020B0506030804020204" pitchFamily="34" charset="-78"/>
              </a:rPr>
              <a:t>یکی در دانشگاه کالیفرنیا و دیگری در مرکز تحقیقاتی استنفورد قرار داشتند، راه‌اندازی شد. این شبکه آرپانت نام‌گذاری شد در سال ۱۹۶۵ نخستین ارتباط راه دور بین دانشگاه </a:t>
            </a:r>
            <a:r>
              <a:rPr lang="en-US" sz="1400" dirty="0">
                <a:latin typeface="IRANSansWeb" panose="020B0506030804020204" pitchFamily="34" charset="-78"/>
                <a:cs typeface="IRANSansWeb" panose="020B0506030804020204" pitchFamily="34" charset="-78"/>
              </a:rPr>
              <a:t> MIT </a:t>
            </a:r>
            <a:r>
              <a:rPr lang="fa-IR" sz="1400" dirty="0">
                <a:latin typeface="IRANSansWeb" panose="020B0506030804020204" pitchFamily="34" charset="-78"/>
                <a:cs typeface="IRANSansWeb" panose="020B0506030804020204" pitchFamily="34" charset="-78"/>
              </a:rPr>
              <a:t>و یک مرکز دیگر نیز برقرار گردید.</a:t>
            </a:r>
          </a:p>
          <a:p>
            <a:pPr algn="r" rtl="1">
              <a:lnSpc>
                <a:spcPct val="150000"/>
              </a:lnSpc>
            </a:pPr>
            <a:endParaRPr lang="en-US" sz="1400"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16939091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34D44-8FB1-FA58-5337-509C04A588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FD1C51-5F03-51CB-E93B-30891E8FDDEB}"/>
              </a:ext>
            </a:extLst>
          </p:cNvPr>
          <p:cNvSpPr>
            <a:spLocks noGrp="1"/>
          </p:cNvSpPr>
          <p:nvPr>
            <p:ph type="title"/>
          </p:nvPr>
        </p:nvSpPr>
        <p:spPr/>
        <p:txBody>
          <a:bodyPr>
            <a:noAutofit/>
          </a:bodyPr>
          <a:lstStyle/>
          <a:p>
            <a:r>
              <a:rPr lang="fa-IR" sz="2800" b="1" dirty="0">
                <a:latin typeface="IRANSansWeb" panose="020B0506030804020204" pitchFamily="34" charset="-78"/>
                <a:cs typeface="IRANSansWeb" panose="020B0506030804020204" pitchFamily="34" charset="-78"/>
              </a:rPr>
              <a:t>شبکه­ های کامپیوتری چگونه و چرا به وجود آمدند؟</a:t>
            </a:r>
            <a:endParaRPr lang="en-US" sz="2800" dirty="0">
              <a:latin typeface="IRANSansWeb" panose="020B0506030804020204" pitchFamily="34" charset="-78"/>
              <a:cs typeface="IRANSansWeb" panose="020B0506030804020204" pitchFamily="34" charset="-78"/>
            </a:endParaRPr>
          </a:p>
        </p:txBody>
      </p:sp>
      <p:sp>
        <p:nvSpPr>
          <p:cNvPr id="3" name="Content Placeholder 2">
            <a:extLst>
              <a:ext uri="{FF2B5EF4-FFF2-40B4-BE49-F238E27FC236}">
                <a16:creationId xmlns:a16="http://schemas.microsoft.com/office/drawing/2014/main" id="{FED52A31-2097-ED97-8243-D97EA6F1BFFC}"/>
              </a:ext>
            </a:extLst>
          </p:cNvPr>
          <p:cNvSpPr>
            <a:spLocks noGrp="1"/>
          </p:cNvSpPr>
          <p:nvPr>
            <p:ph idx="1"/>
          </p:nvPr>
        </p:nvSpPr>
        <p:spPr/>
        <p:txBody>
          <a:bodyPr>
            <a:normAutofit fontScale="77500" lnSpcReduction="20000"/>
          </a:bodyPr>
          <a:lstStyle/>
          <a:p>
            <a:pPr algn="r" rtl="1">
              <a:lnSpc>
                <a:spcPct val="150000"/>
              </a:lnSpc>
            </a:pPr>
            <a:r>
              <a:rPr lang="fa-IR" sz="1400" dirty="0">
                <a:latin typeface="IRANSansWeb" panose="020B0506030804020204" pitchFamily="34" charset="-78"/>
                <a:cs typeface="IRANSansWeb" panose="020B0506030804020204" pitchFamily="34" charset="-78"/>
              </a:rPr>
              <a:t>در سال ۱۹72 شبکه آرپانت به عموم معرفی شد. در این سال شبکه آرپانت مراکز کامپیوتری بسیاری از دانشگاه‌ها و مراکز تحقیقاتی را به هم متصل کرده بود. در این سال‌ها حرکتی غیر انتفاعی به نام </a:t>
            </a:r>
            <a:r>
              <a:rPr lang="en-US" sz="1400" dirty="0">
                <a:latin typeface="IRANSansWeb" panose="020B0506030804020204" pitchFamily="34" charset="-78"/>
                <a:cs typeface="IRANSansWeb" panose="020B0506030804020204" pitchFamily="34" charset="-78"/>
              </a:rPr>
              <a:t> MERIT</a:t>
            </a:r>
            <a:r>
              <a:rPr lang="fa-IR" sz="1400" dirty="0">
                <a:latin typeface="IRANSansWeb" panose="020B0506030804020204" pitchFamily="34" charset="-78"/>
                <a:cs typeface="IRANSansWeb" panose="020B0506030804020204" pitchFamily="34" charset="-78"/>
              </a:rPr>
              <a:t>که چندین دانشگاه بنیان‌گذار آن بوده‌اند، مشغول توسعه روش‌های اتصال کاربران ترمینال‌ها به کامپیوتر مرکزی یا میزبان بود. مهندسان پروژه </a:t>
            </a:r>
            <a:r>
              <a:rPr lang="en-US" sz="1400" dirty="0">
                <a:latin typeface="IRANSansWeb" panose="020B0506030804020204" pitchFamily="34" charset="-78"/>
                <a:cs typeface="IRANSansWeb" panose="020B0506030804020204" pitchFamily="34" charset="-78"/>
              </a:rPr>
              <a:t> MERIT</a:t>
            </a:r>
            <a:r>
              <a:rPr lang="fa-IR" sz="1400" dirty="0">
                <a:latin typeface="IRANSansWeb" panose="020B0506030804020204" pitchFamily="34" charset="-78"/>
                <a:cs typeface="IRANSansWeb" panose="020B0506030804020204" pitchFamily="34" charset="-78"/>
              </a:rPr>
              <a:t>در تلاش برای ایجاد ارتباط بین کامپیوترها، مجبور شدند تجهیزات لازم را خود طراحی کنند.</a:t>
            </a:r>
          </a:p>
          <a:p>
            <a:pPr algn="r" rtl="1">
              <a:lnSpc>
                <a:spcPct val="150000"/>
              </a:lnSpc>
            </a:pPr>
            <a:endParaRPr lang="fa-IR" sz="1400" dirty="0">
              <a:latin typeface="IRANSansWeb" panose="020B0506030804020204" pitchFamily="34" charset="-78"/>
              <a:cs typeface="IRANSansWeb" panose="020B0506030804020204" pitchFamily="34" charset="-78"/>
            </a:endParaRPr>
          </a:p>
          <a:p>
            <a:pPr algn="r" rtl="1">
              <a:lnSpc>
                <a:spcPct val="150000"/>
              </a:lnSpc>
            </a:pPr>
            <a:r>
              <a:rPr lang="fa-IR" sz="1400" dirty="0">
                <a:latin typeface="IRANSansWeb" panose="020B0506030804020204" pitchFamily="34" charset="-78"/>
                <a:cs typeface="IRANSansWeb" panose="020B0506030804020204" pitchFamily="34" charset="-78"/>
              </a:rPr>
              <a:t>آنان با طراحی تجهیزات واسطه برای مینی کامپیوتر 11-</a:t>
            </a:r>
            <a:r>
              <a:rPr lang="en-US" sz="1400" dirty="0">
                <a:latin typeface="IRANSansWeb" panose="020B0506030804020204" pitchFamily="34" charset="-78"/>
                <a:cs typeface="IRANSansWeb" panose="020B0506030804020204" pitchFamily="34" charset="-78"/>
              </a:rPr>
              <a:t> DECPDP </a:t>
            </a:r>
            <a:r>
              <a:rPr lang="fa-IR" sz="1400" dirty="0">
                <a:latin typeface="IRANSansWeb" panose="020B0506030804020204" pitchFamily="34" charset="-78"/>
                <a:cs typeface="IRANSansWeb" panose="020B0506030804020204" pitchFamily="34" charset="-78"/>
              </a:rPr>
              <a:t>توانستند نخستین بستر اصلی شبکه کامپیوتری را بسازند. تا سال‌ها نمونه‌های اصلاح شده این کامپیوتر با نام </a:t>
            </a:r>
            <a:r>
              <a:rPr lang="en-US" sz="1400" dirty="0">
                <a:latin typeface="IRANSansWeb" panose="020B0506030804020204" pitchFamily="34" charset="-78"/>
                <a:cs typeface="IRANSansWeb" panose="020B0506030804020204" pitchFamily="34" charset="-78"/>
              </a:rPr>
              <a:t> PCP </a:t>
            </a:r>
            <a:r>
              <a:rPr lang="fa-IR" sz="1400" dirty="0">
                <a:latin typeface="IRANSansWeb" panose="020B0506030804020204" pitchFamily="34" charset="-78"/>
                <a:cs typeface="IRANSansWeb" panose="020B0506030804020204" pitchFamily="34" charset="-78"/>
              </a:rPr>
              <a:t>یا </a:t>
            </a:r>
            <a:r>
              <a:rPr lang="en-US" sz="1400" dirty="0">
                <a:latin typeface="IRANSansWeb" panose="020B0506030804020204" pitchFamily="34" charset="-78"/>
                <a:cs typeface="IRANSansWeb" panose="020B0506030804020204" pitchFamily="34" charset="-78"/>
              </a:rPr>
              <a:t> Processor Communications Primary </a:t>
            </a:r>
            <a:r>
              <a:rPr lang="fa-IR" sz="1400" dirty="0">
                <a:latin typeface="IRANSansWeb" panose="020B0506030804020204" pitchFamily="34" charset="-78"/>
                <a:cs typeface="IRANSansWeb" panose="020B0506030804020204" pitchFamily="34" charset="-78"/>
              </a:rPr>
              <a:t>نقش میزبان را در شبکه‌ها ایفا می‌کرد.</a:t>
            </a:r>
          </a:p>
          <a:p>
            <a:pPr algn="r" rtl="1">
              <a:lnSpc>
                <a:spcPct val="150000"/>
              </a:lnSpc>
            </a:pPr>
            <a:endParaRPr lang="fa-IR" sz="1400" dirty="0">
              <a:latin typeface="IRANSansWeb" panose="020B0506030804020204" pitchFamily="34" charset="-78"/>
              <a:cs typeface="IRANSansWeb" panose="020B0506030804020204" pitchFamily="34" charset="-78"/>
            </a:endParaRPr>
          </a:p>
          <a:p>
            <a:pPr algn="r" rtl="1">
              <a:lnSpc>
                <a:spcPct val="150000"/>
              </a:lnSpc>
            </a:pPr>
            <a:r>
              <a:rPr lang="fa-IR" sz="1400" dirty="0">
                <a:latin typeface="IRANSansWeb" panose="020B0506030804020204" pitchFamily="34" charset="-78"/>
                <a:cs typeface="IRANSansWeb" panose="020B0506030804020204" pitchFamily="34" charset="-78"/>
              </a:rPr>
              <a:t>نخستین شبکه از این نوع که چندین ایالت را به هم متصل می‌کرد </a:t>
            </a:r>
            <a:r>
              <a:rPr lang="en-US" sz="1400" dirty="0">
                <a:latin typeface="IRANSansWeb" panose="020B0506030804020204" pitchFamily="34" charset="-78"/>
                <a:cs typeface="IRANSansWeb" panose="020B0506030804020204" pitchFamily="34" charset="-78"/>
              </a:rPr>
              <a:t> </a:t>
            </a:r>
            <a:r>
              <a:rPr lang="en-US" sz="1400" dirty="0" err="1">
                <a:latin typeface="IRANSansWeb" panose="020B0506030804020204" pitchFamily="34" charset="-78"/>
                <a:cs typeface="IRANSansWeb" panose="020B0506030804020204" pitchFamily="34" charset="-78"/>
              </a:rPr>
              <a:t>Michnet</a:t>
            </a:r>
            <a:r>
              <a:rPr lang="en-US" sz="1400" dirty="0">
                <a:latin typeface="IRANSansWeb" panose="020B0506030804020204" pitchFamily="34" charset="-78"/>
                <a:cs typeface="IRANSansWeb" panose="020B0506030804020204" pitchFamily="34" charset="-78"/>
              </a:rPr>
              <a:t> </a:t>
            </a:r>
            <a:r>
              <a:rPr lang="fa-IR" sz="1400" dirty="0">
                <a:latin typeface="IRANSansWeb" panose="020B0506030804020204" pitchFamily="34" charset="-78"/>
                <a:cs typeface="IRANSansWeb" panose="020B0506030804020204" pitchFamily="34" charset="-78"/>
              </a:rPr>
              <a:t>نام داشت. روش اتصال کاربران به کامپیوتر میزبان در آن زمان به این صورت بود که یک نرم‌افزار خاص بر روی کامپیوتر مرکزی اجرا می‌شد؛ و ارتباط کاربران را برقرار می‌کرد. اما در سال ۱۹۷۶ نرم‌افزار جدیدی به نام </a:t>
            </a:r>
            <a:r>
              <a:rPr lang="en-US" sz="1400" dirty="0">
                <a:latin typeface="IRANSansWeb" panose="020B0506030804020204" pitchFamily="34" charset="-78"/>
                <a:cs typeface="IRANSansWeb" panose="020B0506030804020204" pitchFamily="34" charset="-78"/>
              </a:rPr>
              <a:t> Hermes </a:t>
            </a:r>
            <a:r>
              <a:rPr lang="fa-IR" sz="1400" dirty="0">
                <a:latin typeface="IRANSansWeb" panose="020B0506030804020204" pitchFamily="34" charset="-78"/>
                <a:cs typeface="IRANSansWeb" panose="020B0506030804020204" pitchFamily="34" charset="-78"/>
              </a:rPr>
              <a:t>عرضه شد که برای نخستین‌بار به کاربران اجازه می‌داد تا از طریق یک ترمینال به‌صورت تعاملی مستقیماً به سیستم </a:t>
            </a:r>
            <a:r>
              <a:rPr lang="en-US" sz="1400" dirty="0">
                <a:latin typeface="IRANSansWeb" panose="020B0506030804020204" pitchFamily="34" charset="-78"/>
                <a:cs typeface="IRANSansWeb" panose="020B0506030804020204" pitchFamily="34" charset="-78"/>
              </a:rPr>
              <a:t>MERIT </a:t>
            </a:r>
            <a:r>
              <a:rPr lang="fa-IR" sz="1400" dirty="0">
                <a:latin typeface="IRANSansWeb" panose="020B0506030804020204" pitchFamily="34" charset="-78"/>
                <a:cs typeface="IRANSansWeb" panose="020B0506030804020204" pitchFamily="34" charset="-78"/>
              </a:rPr>
              <a:t>متصل شوند. این</a:t>
            </a:r>
            <a:r>
              <a:rPr lang="en-US" sz="1400" dirty="0">
                <a:latin typeface="IRANSansWeb" panose="020B0506030804020204" pitchFamily="34" charset="-78"/>
                <a:cs typeface="IRANSansWeb" panose="020B0506030804020204" pitchFamily="34" charset="-78"/>
              </a:rPr>
              <a:t> </a:t>
            </a:r>
            <a:r>
              <a:rPr lang="fa-IR" sz="1400" dirty="0">
                <a:latin typeface="IRANSansWeb" panose="020B0506030804020204" pitchFamily="34" charset="-78"/>
                <a:cs typeface="IRANSansWeb" panose="020B0506030804020204" pitchFamily="34" charset="-78"/>
              </a:rPr>
              <a:t>، نخستین باری بود که کاربران می‌توانستند در هنگام برقراری ارتباط از خود بپرسند: کدام میزبان؟</a:t>
            </a:r>
          </a:p>
          <a:p>
            <a:pPr algn="r" rtl="1">
              <a:lnSpc>
                <a:spcPct val="150000"/>
              </a:lnSpc>
            </a:pPr>
            <a:endParaRPr lang="fa-IR" sz="1400" dirty="0">
              <a:latin typeface="IRANSansWeb" panose="020B0506030804020204" pitchFamily="34" charset="-78"/>
              <a:cs typeface="IRANSansWeb" panose="020B0506030804020204" pitchFamily="34" charset="-78"/>
            </a:endParaRPr>
          </a:p>
          <a:p>
            <a:pPr algn="r" rtl="1">
              <a:lnSpc>
                <a:spcPct val="150000"/>
              </a:lnSpc>
            </a:pPr>
            <a:r>
              <a:rPr lang="fa-IR" sz="1400" dirty="0">
                <a:latin typeface="IRANSansWeb" panose="020B0506030804020204" pitchFamily="34" charset="-78"/>
                <a:cs typeface="IRANSansWeb" panose="020B0506030804020204" pitchFamily="34" charset="-78"/>
              </a:rPr>
              <a:t>با گسترش این شبکه­ ها نیاز به قوانینی برای ایجاد یک شبکه ایده­آل (هم از لحاظ سیم­کشی و هم از لحاظ حجم، سرعت و خطای ارتباطی) و ارتباط صحیح و بدون خطا بیشتر دیده می­شد. این امر باعث به‌وجودآمدن انواع شبکه ­ها و پروتکل­های ارتباطی شد. درنتیجه در سال ۱۹۷۴ پروتکل ارتباطی </a:t>
            </a:r>
            <a:r>
              <a:rPr lang="en-US" sz="1400" dirty="0">
                <a:latin typeface="IRANSansWeb" panose="020B0506030804020204" pitchFamily="34" charset="-78"/>
                <a:cs typeface="IRANSansWeb" panose="020B0506030804020204" pitchFamily="34" charset="-78"/>
              </a:rPr>
              <a:t> IP/TCP </a:t>
            </a:r>
            <a:r>
              <a:rPr lang="fa-IR" sz="1400" dirty="0">
                <a:latin typeface="IRANSansWeb" panose="020B0506030804020204" pitchFamily="34" charset="-78"/>
                <a:cs typeface="IRANSansWeb" panose="020B0506030804020204" pitchFamily="34" charset="-78"/>
              </a:rPr>
              <a:t>به وجود آمد. این پروتکل در سال ۱۹۸۲ جایگزین پروتکل </a:t>
            </a:r>
            <a:r>
              <a:rPr lang="en-US" sz="1400" dirty="0">
                <a:latin typeface="IRANSansWeb" panose="020B0506030804020204" pitchFamily="34" charset="-78"/>
                <a:cs typeface="IRANSansWeb" panose="020B0506030804020204" pitchFamily="34" charset="-78"/>
              </a:rPr>
              <a:t> NCP </a:t>
            </a:r>
            <a:r>
              <a:rPr lang="fa-IR" sz="1400" dirty="0">
                <a:latin typeface="IRANSansWeb" panose="020B0506030804020204" pitchFamily="34" charset="-78"/>
                <a:cs typeface="IRANSansWeb" panose="020B0506030804020204" pitchFamily="34" charset="-78"/>
              </a:rPr>
              <a:t>شد و به پروتکل استاندارد برای آرپانت تبدیل گشت.</a:t>
            </a:r>
            <a:endParaRPr lang="en-US" sz="1400"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30966617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DFDB0-C59B-B4CB-39E4-135ADEB29678}"/>
              </a:ext>
            </a:extLst>
          </p:cNvPr>
          <p:cNvSpPr>
            <a:spLocks noGrp="1"/>
          </p:cNvSpPr>
          <p:nvPr>
            <p:ph type="title"/>
          </p:nvPr>
        </p:nvSpPr>
        <p:spPr/>
        <p:txBody>
          <a:bodyPr>
            <a:normAutofit/>
          </a:bodyPr>
          <a:lstStyle/>
          <a:p>
            <a:r>
              <a:rPr lang="fa-IR" sz="3200" dirty="0">
                <a:latin typeface="IRANSansWeb" panose="020B0506030804020204" pitchFamily="34" charset="-78"/>
                <a:cs typeface="IRANSansWeb" panose="020B0506030804020204" pitchFamily="34" charset="-78"/>
              </a:rPr>
              <a:t>شبکه چیست؟</a:t>
            </a:r>
            <a:endParaRPr lang="en-US" sz="3200" dirty="0">
              <a:latin typeface="IRANSansWeb" panose="020B0506030804020204" pitchFamily="34" charset="-78"/>
              <a:cs typeface="IRANSansWeb" panose="020B0506030804020204" pitchFamily="34" charset="-78"/>
            </a:endParaRPr>
          </a:p>
        </p:txBody>
      </p:sp>
      <p:sp>
        <p:nvSpPr>
          <p:cNvPr id="3" name="Content Placeholder 2">
            <a:extLst>
              <a:ext uri="{FF2B5EF4-FFF2-40B4-BE49-F238E27FC236}">
                <a16:creationId xmlns:a16="http://schemas.microsoft.com/office/drawing/2014/main" id="{07BA382F-158C-3134-5729-74A6120315E1}"/>
              </a:ext>
            </a:extLst>
          </p:cNvPr>
          <p:cNvSpPr>
            <a:spLocks noGrp="1"/>
          </p:cNvSpPr>
          <p:nvPr>
            <p:ph idx="1"/>
          </p:nvPr>
        </p:nvSpPr>
        <p:spPr/>
        <p:txBody>
          <a:bodyPr>
            <a:normAutofit fontScale="85000" lnSpcReduction="10000"/>
          </a:bodyPr>
          <a:lstStyle/>
          <a:p>
            <a:pPr algn="r" rtl="1">
              <a:lnSpc>
                <a:spcPct val="170000"/>
              </a:lnSpc>
            </a:pPr>
            <a:r>
              <a:rPr lang="fa-IR" sz="2400" dirty="0">
                <a:latin typeface="IRANSansWeb" panose="020B0506030804020204" pitchFamily="34" charset="-78"/>
                <a:cs typeface="IRANSansWeb" panose="020B0506030804020204" pitchFamily="34" charset="-78"/>
              </a:rPr>
              <a:t>به اتصال دو یا چند سیستم (مانند کامپیوتر، لپ‌تاپ، و…) با توانایی ارسال و دریافت داده گفته می‌شود. این انتقال داده‌ها می‌تواند با کابل چندرسانه‌ای، کابل نوری یا بیسیم انجام شود. همچنین می‌توانیم منابع داخل شبکه را در دسترس تمامی کاربران درون شبکه قرار دهیم. شبکه رایانه‌ای باعث تسهیل ارتباط میان کاربران شده و اجازه می‌دهد تا کاربران منابع خود را به اشتراک بگذارند. منابعی مانند فایل‌های داخل شبکه (شامل: اسناد متنی، عکس، فایل صوتی و تصویری و…) و همچنین پرینتر، اسکنر و دستگاه‌های مشابه که داخل شبکه استفاده می‌شوند.</a:t>
            </a:r>
            <a:endParaRPr lang="en-US" sz="2400"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38860446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A191B-42D1-534D-E30C-00ADBF9E0C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1C6C0D-2024-EFC0-95CD-4CF281ABA3E4}"/>
              </a:ext>
            </a:extLst>
          </p:cNvPr>
          <p:cNvSpPr>
            <a:spLocks noGrp="1"/>
          </p:cNvSpPr>
          <p:nvPr>
            <p:ph type="title"/>
          </p:nvPr>
        </p:nvSpPr>
        <p:spPr>
          <a:xfrm>
            <a:off x="457200" y="274638"/>
            <a:ext cx="8229600" cy="803885"/>
          </a:xfrm>
        </p:spPr>
        <p:txBody>
          <a:bodyPr>
            <a:normAutofit/>
          </a:bodyPr>
          <a:lstStyle/>
          <a:p>
            <a:r>
              <a:rPr lang="fa-IR" sz="3200" dirty="0">
                <a:latin typeface="IRANSansWeb" panose="020B0506030804020204" pitchFamily="34" charset="-78"/>
                <a:cs typeface="IRANSansWeb" panose="020B0506030804020204" pitchFamily="34" charset="-78"/>
              </a:rPr>
              <a:t>پروتکل چیست؟</a:t>
            </a:r>
          </a:p>
        </p:txBody>
      </p:sp>
      <p:sp>
        <p:nvSpPr>
          <p:cNvPr id="3" name="Content Placeholder 2">
            <a:extLst>
              <a:ext uri="{FF2B5EF4-FFF2-40B4-BE49-F238E27FC236}">
                <a16:creationId xmlns:a16="http://schemas.microsoft.com/office/drawing/2014/main" id="{A282A043-D0BA-FCE4-B2FD-DF3576BCB9BB}"/>
              </a:ext>
            </a:extLst>
          </p:cNvPr>
          <p:cNvSpPr>
            <a:spLocks noGrp="1"/>
          </p:cNvSpPr>
          <p:nvPr>
            <p:ph idx="1"/>
          </p:nvPr>
        </p:nvSpPr>
        <p:spPr>
          <a:xfrm>
            <a:off x="457200" y="1289538"/>
            <a:ext cx="8229600" cy="4836625"/>
          </a:xfrm>
        </p:spPr>
        <p:txBody>
          <a:bodyPr>
            <a:normAutofit fontScale="40000" lnSpcReduction="20000"/>
          </a:bodyPr>
          <a:lstStyle/>
          <a:p>
            <a:pPr algn="r" rtl="1">
              <a:lnSpc>
                <a:spcPct val="220000"/>
              </a:lnSpc>
            </a:pPr>
            <a:r>
              <a:rPr lang="fa-IR" sz="2400" dirty="0">
                <a:latin typeface="IRANSansWeb" panose="020B0506030804020204" pitchFamily="34" charset="-78"/>
                <a:cs typeface="IRANSansWeb" panose="020B0506030804020204" pitchFamily="34" charset="-78"/>
              </a:rPr>
              <a:t>به مجموعه‌ای از قوانین و فرایندهایی که (به‌صورت نرم‌افزاری و سخت‌افزاری) بر ارتباط دو یا چند دستگاه حاکم است، پروتکل گفته می‌شود. پروتکل مشخص می‌کند که دستگاه‌ها چگونه شناسایی می‌شوند، چگونه باید داده‌ها را قالب‌بندی و رمزگذاری کنند، ارتباطات را شروع کنند یا خاتمه دهند، خطاها و تصدیق‌ها را مدیریت کنند، اقدامات خود را همگام‌سازی و هماهنگ کنند و چگونه باید امنیت داده‌ها را فراهم کنند.</a:t>
            </a:r>
          </a:p>
          <a:p>
            <a:pPr algn="r" rtl="1">
              <a:lnSpc>
                <a:spcPct val="220000"/>
              </a:lnSpc>
            </a:pPr>
            <a:endParaRPr lang="fa-IR" sz="2400" dirty="0">
              <a:latin typeface="IRANSansWeb" panose="020B0506030804020204" pitchFamily="34" charset="-78"/>
              <a:cs typeface="IRANSansWeb" panose="020B0506030804020204" pitchFamily="34" charset="-78"/>
            </a:endParaRPr>
          </a:p>
          <a:p>
            <a:pPr algn="r" rtl="1">
              <a:lnSpc>
                <a:spcPct val="220000"/>
              </a:lnSpc>
            </a:pPr>
            <a:r>
              <a:rPr lang="fa-IR" sz="2400" dirty="0">
                <a:latin typeface="IRANSansWeb" panose="020B0506030804020204" pitchFamily="34" charset="-78"/>
                <a:cs typeface="IRANSansWeb" panose="020B0506030804020204" pitchFamily="34" charset="-78"/>
              </a:rPr>
              <a:t>پروتکل‌ها برای حصول اطمینان از هماهنگی، سازگاری و تعامل بین دستگاه‌های مختلف ضروری هستند. آن‌ها همچنین به بهینه‌سازی عملکرد، کارایی و قابل‌اطمینان بودن ارتباطات کمک می‌کنند.</a:t>
            </a:r>
          </a:p>
          <a:p>
            <a:pPr algn="r" rtl="1">
              <a:lnSpc>
                <a:spcPct val="220000"/>
              </a:lnSpc>
            </a:pPr>
            <a:endParaRPr lang="fa-IR" sz="2400" dirty="0">
              <a:latin typeface="IRANSansWeb" panose="020B0506030804020204" pitchFamily="34" charset="-78"/>
              <a:cs typeface="IRANSansWeb" panose="020B0506030804020204" pitchFamily="34" charset="-78"/>
            </a:endParaRPr>
          </a:p>
          <a:p>
            <a:pPr algn="r" rtl="1">
              <a:lnSpc>
                <a:spcPct val="220000"/>
              </a:lnSpc>
            </a:pPr>
            <a:r>
              <a:rPr lang="fa-IR" sz="2400" dirty="0">
                <a:latin typeface="IRANSansWeb" panose="020B0506030804020204" pitchFamily="34" charset="-78"/>
                <a:cs typeface="IRANSansWeb" panose="020B0506030804020204" pitchFamily="34" charset="-78"/>
              </a:rPr>
              <a:t>در الکترونیک گاهی برای ارسال یا دریافت داده­ها از پروتکل­ هایی مانند </a:t>
            </a:r>
            <a:r>
              <a:rPr lang="en-US" sz="2400" dirty="0">
                <a:latin typeface="IRANSansWeb" panose="020B0506030804020204" pitchFamily="34" charset="-78"/>
                <a:cs typeface="IRANSansWeb" panose="020B0506030804020204" pitchFamily="34" charset="-78"/>
              </a:rPr>
              <a:t>UART، SPI، I2C </a:t>
            </a:r>
            <a:r>
              <a:rPr lang="fa-IR" sz="2400" dirty="0">
                <a:latin typeface="IRANSansWeb" panose="020B0506030804020204" pitchFamily="34" charset="-78"/>
                <a:cs typeface="IRANSansWeb" panose="020B0506030804020204" pitchFamily="34" charset="-78"/>
              </a:rPr>
              <a:t>و… که در لایه­های پایین (لایه­های فیزیکی) ارتباط قرار دارند یا در فاصله کمی از هم هستند، استفاده می­شود. بعضی از مواقع فاصله بین دو دستگاه بسیار زیاد است. مثلاً بین دو قاره! در این مواقع پروتکل ­های نام‌برده دیگر جوابگوی آن فاصله زیاد، حجم اطلاعات، تداخل اطلاعات و… نیستند و باید به دنبال شبکه ­های قوی ­تری برویم!</a:t>
            </a:r>
          </a:p>
          <a:p>
            <a:pPr algn="r" rtl="1">
              <a:lnSpc>
                <a:spcPct val="220000"/>
              </a:lnSpc>
            </a:pPr>
            <a:endParaRPr lang="fa-IR" sz="2400" dirty="0">
              <a:latin typeface="IRANSansWeb" panose="020B0506030804020204" pitchFamily="34" charset="-78"/>
              <a:cs typeface="IRANSansWeb" panose="020B0506030804020204" pitchFamily="34" charset="-78"/>
            </a:endParaRPr>
          </a:p>
          <a:p>
            <a:pPr algn="r" rtl="1">
              <a:lnSpc>
                <a:spcPct val="220000"/>
              </a:lnSpc>
            </a:pPr>
            <a:r>
              <a:rPr lang="fa-IR" sz="2400" dirty="0">
                <a:latin typeface="IRANSansWeb" panose="020B0506030804020204" pitchFamily="34" charset="-78"/>
                <a:cs typeface="IRANSansWeb" panose="020B0506030804020204" pitchFamily="34" charset="-78"/>
              </a:rPr>
              <a:t>این نوع پروتکل­ ها (پروتکل اینترنت یکی از انواع پروتکل‌ها است که می‌توانیم دراین‌رابطه مثال بزنیم.) هم از لحاظ سخت‌افزاری و هم از لحاظ نرم‌افزاری باید قوی­ تر و پیچیده ­تر باشند. برای این‌گونه ارتباطات دورتر، با حجم اطلاعات بیشتر، نیاز به سرعت بالاتر، امنیت بهتر و نیاز به پروتکل­ های پیچیده‌تری داریم.</a:t>
            </a:r>
            <a:endParaRPr lang="en-US" sz="2400"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3802184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3A169-C86D-FA1B-A319-6A1FBF320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F126FE-A976-0EF5-0F83-7DB74ECF4CA7}"/>
              </a:ext>
            </a:extLst>
          </p:cNvPr>
          <p:cNvSpPr>
            <a:spLocks noGrp="1"/>
          </p:cNvSpPr>
          <p:nvPr>
            <p:ph type="title"/>
          </p:nvPr>
        </p:nvSpPr>
        <p:spPr/>
        <p:txBody>
          <a:bodyPr>
            <a:normAutofit/>
          </a:bodyPr>
          <a:lstStyle/>
          <a:p>
            <a:r>
              <a:rPr lang="fa-IR" sz="3200" dirty="0">
                <a:latin typeface="IRANSansWeb" panose="020B0506030804020204" pitchFamily="34" charset="-78"/>
                <a:cs typeface="IRANSansWeb" panose="020B0506030804020204" pitchFamily="34" charset="-78"/>
              </a:rPr>
              <a:t>اینترنت چیست؟</a:t>
            </a:r>
          </a:p>
        </p:txBody>
      </p:sp>
      <p:sp>
        <p:nvSpPr>
          <p:cNvPr id="3" name="Content Placeholder 2">
            <a:extLst>
              <a:ext uri="{FF2B5EF4-FFF2-40B4-BE49-F238E27FC236}">
                <a16:creationId xmlns:a16="http://schemas.microsoft.com/office/drawing/2014/main" id="{353FF81D-E26F-B1AF-093E-696AB29C9FEB}"/>
              </a:ext>
            </a:extLst>
          </p:cNvPr>
          <p:cNvSpPr>
            <a:spLocks noGrp="1"/>
          </p:cNvSpPr>
          <p:nvPr>
            <p:ph idx="1"/>
          </p:nvPr>
        </p:nvSpPr>
        <p:spPr/>
        <p:txBody>
          <a:bodyPr>
            <a:normAutofit/>
          </a:bodyPr>
          <a:lstStyle/>
          <a:p>
            <a:pPr algn="r" rtl="1">
              <a:lnSpc>
                <a:spcPct val="170000"/>
              </a:lnSpc>
            </a:pPr>
            <a:r>
              <a:rPr lang="fa-IR" sz="2400" dirty="0">
                <a:latin typeface="IRANSansWeb" panose="020B0506030804020204" pitchFamily="34" charset="-78"/>
                <a:cs typeface="IRANSansWeb" panose="020B0506030804020204" pitchFamily="34" charset="-78"/>
              </a:rPr>
              <a:t>مجموعه‌ای از شبکه‌های جهانی (سخت‌افزاری و نرم‌افزاری) است که میلیاردها دستگاه را در سراسر دنیا به هم متصل می‌کند و بر مجموعه‌ای از پروتکل‌ها متکی است. پروتکل اینترنت نحوه ارتباط دستگاه‌ها را در شبکه‌ها و فناوری‌های مختلف با یکدیگر تعریف می‌کند که برخی از مهم‌ترین‌های آن‌ها عبارت هستند از </a:t>
            </a:r>
            <a:r>
              <a:rPr lang="en-US" sz="2400" dirty="0">
                <a:latin typeface="IRANSansWeb" panose="020B0506030804020204" pitchFamily="34" charset="-78"/>
                <a:cs typeface="IRANSansWeb" panose="020B0506030804020204" pitchFamily="34" charset="-78"/>
              </a:rPr>
              <a:t>TCP/IP، HTTP، DNS، SMTP، FTP</a:t>
            </a:r>
            <a:r>
              <a:rPr lang="fa-IR" sz="2400" dirty="0">
                <a:latin typeface="IRANSansWeb" panose="020B0506030804020204" pitchFamily="34" charset="-78"/>
                <a:cs typeface="IRANSansWeb" panose="020B0506030804020204" pitchFamily="34" charset="-78"/>
              </a:rPr>
              <a:t> و… .</a:t>
            </a:r>
            <a:endParaRPr lang="en-US" sz="2400"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21188775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BDC20-BFF9-2514-7A34-A06BEEDA3D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0E43DC-3DDD-E312-F799-D114E865B0CC}"/>
              </a:ext>
            </a:extLst>
          </p:cNvPr>
          <p:cNvSpPr>
            <a:spLocks noGrp="1"/>
          </p:cNvSpPr>
          <p:nvPr>
            <p:ph type="title"/>
          </p:nvPr>
        </p:nvSpPr>
        <p:spPr/>
        <p:txBody>
          <a:bodyPr>
            <a:normAutofit/>
          </a:bodyPr>
          <a:lstStyle/>
          <a:p>
            <a:r>
              <a:rPr lang="fa-IR" sz="3200" dirty="0">
                <a:latin typeface="IRANSansWeb" panose="020B0506030804020204" pitchFamily="34" charset="-78"/>
                <a:cs typeface="IRANSansWeb" panose="020B0506030804020204" pitchFamily="34" charset="-78"/>
              </a:rPr>
              <a:t>وب چیست؟</a:t>
            </a:r>
          </a:p>
        </p:txBody>
      </p:sp>
      <p:sp>
        <p:nvSpPr>
          <p:cNvPr id="3" name="Content Placeholder 2">
            <a:extLst>
              <a:ext uri="{FF2B5EF4-FFF2-40B4-BE49-F238E27FC236}">
                <a16:creationId xmlns:a16="http://schemas.microsoft.com/office/drawing/2014/main" id="{8772F5BF-4109-1FB6-20B3-0BDF48218C3C}"/>
              </a:ext>
            </a:extLst>
          </p:cNvPr>
          <p:cNvSpPr>
            <a:spLocks noGrp="1"/>
          </p:cNvSpPr>
          <p:nvPr>
            <p:ph idx="1"/>
          </p:nvPr>
        </p:nvSpPr>
        <p:spPr/>
        <p:txBody>
          <a:bodyPr>
            <a:normAutofit fontScale="77500" lnSpcReduction="20000"/>
          </a:bodyPr>
          <a:lstStyle/>
          <a:p>
            <a:pPr algn="r" rtl="1">
              <a:lnSpc>
                <a:spcPct val="170000"/>
              </a:lnSpc>
            </a:pPr>
            <a:r>
              <a:rPr lang="fa-IR" sz="2400" dirty="0">
                <a:latin typeface="IRANSansWeb" panose="020B0506030804020204" pitchFamily="34" charset="-78"/>
                <a:cs typeface="IRANSansWeb" panose="020B0506030804020204" pitchFamily="34" charset="-78"/>
              </a:rPr>
              <a:t>وب </a:t>
            </a:r>
            <a:r>
              <a:rPr lang="en-US" sz="2400" dirty="0">
                <a:latin typeface="IRANSansWeb" panose="020B0506030804020204" pitchFamily="34" charset="-78"/>
                <a:cs typeface="IRANSansWeb" panose="020B0506030804020204" pitchFamily="34" charset="-78"/>
              </a:rPr>
              <a:t> (WEB) </a:t>
            </a:r>
            <a:r>
              <a:rPr lang="fa-IR" sz="2400" dirty="0">
                <a:latin typeface="IRANSansWeb" panose="020B0506030804020204" pitchFamily="34" charset="-78"/>
                <a:cs typeface="IRANSansWeb" panose="020B0506030804020204" pitchFamily="34" charset="-78"/>
              </a:rPr>
              <a:t>یک سیستم مبتنی بر سرویس‌دهنده سرویس‌گیرنده </a:t>
            </a:r>
            <a:r>
              <a:rPr lang="en-US" sz="2400" dirty="0">
                <a:latin typeface="IRANSansWeb" panose="020B0506030804020204" pitchFamily="34" charset="-78"/>
                <a:cs typeface="IRANSansWeb" panose="020B0506030804020204" pitchFamily="34" charset="-78"/>
              </a:rPr>
              <a:t> (Server/Client)</a:t>
            </a:r>
            <a:r>
              <a:rPr lang="fa-IR" sz="2400" dirty="0">
                <a:latin typeface="IRANSansWeb" panose="020B0506030804020204" pitchFamily="34" charset="-78"/>
                <a:cs typeface="IRANSansWeb" panose="020B0506030804020204" pitchFamily="34" charset="-78"/>
              </a:rPr>
              <a:t> بر روی اینترنت است که با استفاده از ابزار فرامتن (</a:t>
            </a:r>
            <a:r>
              <a:rPr lang="en-US" sz="2400" dirty="0">
                <a:latin typeface="IRANSansWeb" panose="020B0506030804020204" pitchFamily="34" charset="-78"/>
                <a:cs typeface="IRANSansWeb" panose="020B0506030804020204" pitchFamily="34" charset="-78"/>
              </a:rPr>
              <a:t> (Hypertext</a:t>
            </a:r>
            <a:r>
              <a:rPr lang="fa-IR" sz="2400" dirty="0">
                <a:latin typeface="IRANSansWeb" panose="020B0506030804020204" pitchFamily="34" charset="-78"/>
                <a:cs typeface="IRANSansWeb" panose="020B0506030804020204" pitchFamily="34" charset="-78"/>
              </a:rPr>
              <a:t>و پیوند </a:t>
            </a:r>
            <a:r>
              <a:rPr lang="en-US" sz="2400" dirty="0">
                <a:latin typeface="IRANSansWeb" panose="020B0506030804020204" pitchFamily="34" charset="-78"/>
                <a:cs typeface="IRANSansWeb" panose="020B0506030804020204" pitchFamily="34" charset="-78"/>
              </a:rPr>
              <a:t>(Link)</a:t>
            </a:r>
            <a:r>
              <a:rPr lang="fa-IR" sz="2400" dirty="0">
                <a:latin typeface="IRANSansWeb" panose="020B0506030804020204" pitchFamily="34" charset="-78"/>
                <a:cs typeface="IRANSansWeb" panose="020B0506030804020204" pitchFamily="34" charset="-78"/>
              </a:rPr>
              <a:t> دادن اجزای اطلاعات به یکدیگر دسترسی به منابع اطلاعاتی را تسهیل می‌کند.</a:t>
            </a:r>
          </a:p>
          <a:p>
            <a:pPr algn="r" rtl="1">
              <a:lnSpc>
                <a:spcPct val="170000"/>
              </a:lnSpc>
            </a:pPr>
            <a:endParaRPr lang="fa-IR" sz="2400" dirty="0">
              <a:latin typeface="IRANSansWeb" panose="020B0506030804020204" pitchFamily="34" charset="-78"/>
              <a:cs typeface="IRANSansWeb" panose="020B0506030804020204" pitchFamily="34" charset="-78"/>
            </a:endParaRPr>
          </a:p>
          <a:p>
            <a:pPr algn="r" rtl="1">
              <a:lnSpc>
                <a:spcPct val="170000"/>
              </a:lnSpc>
            </a:pPr>
            <a:r>
              <a:rPr lang="fa-IR" sz="2400" dirty="0">
                <a:latin typeface="IRANSansWeb" panose="020B0506030804020204" pitchFamily="34" charset="-78"/>
                <a:cs typeface="IRANSansWeb" panose="020B0506030804020204" pitchFamily="34" charset="-78"/>
              </a:rPr>
              <a:t>وب متکی به پروتکل‌هایی است که نحوه درخواست و دریافت صفحات وب (از سرورهای وب)، نحوه قالب‌‌بندی و نمایش صفحات وب با استفاده از </a:t>
            </a:r>
            <a:r>
              <a:rPr lang="en-US" sz="2400" dirty="0">
                <a:latin typeface="IRANSansWeb" panose="020B0506030804020204" pitchFamily="34" charset="-78"/>
                <a:cs typeface="IRANSansWeb" panose="020B0506030804020204" pitchFamily="34" charset="-78"/>
              </a:rPr>
              <a:t>HTML،CSS  </a:t>
            </a:r>
            <a:r>
              <a:rPr lang="fa-IR" sz="2400" dirty="0">
                <a:latin typeface="IRANSansWeb" panose="020B0506030804020204" pitchFamily="34" charset="-78"/>
                <a:cs typeface="IRANSansWeb" panose="020B0506030804020204" pitchFamily="34" charset="-78"/>
              </a:rPr>
              <a:t>و</a:t>
            </a:r>
            <a:r>
              <a:rPr lang="en-US" sz="2400" dirty="0">
                <a:latin typeface="IRANSansWeb" panose="020B0506030804020204" pitchFamily="34" charset="-78"/>
                <a:cs typeface="IRANSansWeb" panose="020B0506030804020204" pitchFamily="34" charset="-78"/>
              </a:rPr>
              <a:t> </a:t>
            </a:r>
            <a:r>
              <a:rPr lang="fa-IR" sz="2400" dirty="0">
                <a:latin typeface="IRANSansWeb" panose="020B0506030804020204" pitchFamily="34" charset="-78"/>
                <a:cs typeface="IRANSansWeb" panose="020B0506030804020204" pitchFamily="34" charset="-78"/>
              </a:rPr>
              <a:t> </a:t>
            </a:r>
            <a:r>
              <a:rPr lang="en-US" sz="2400" dirty="0">
                <a:latin typeface="IRANSansWeb" panose="020B0506030804020204" pitchFamily="34" charset="-78"/>
                <a:cs typeface="IRANSansWeb" panose="020B0506030804020204" pitchFamily="34" charset="-78"/>
              </a:rPr>
              <a:t> JavaScript</a:t>
            </a:r>
            <a:r>
              <a:rPr lang="fa-IR" sz="2400" dirty="0">
                <a:latin typeface="IRANSansWeb" panose="020B0506030804020204" pitchFamily="34" charset="-78"/>
                <a:cs typeface="IRANSansWeb" panose="020B0506030804020204" pitchFamily="34" charset="-78"/>
              </a:rPr>
              <a:t>را تعریف می‌کند. صفحات وب می‌توانند با استفاده از </a:t>
            </a:r>
            <a:r>
              <a:rPr lang="en-US" sz="2400" dirty="0">
                <a:latin typeface="IRANSansWeb" panose="020B0506030804020204" pitchFamily="34" charset="-78"/>
                <a:cs typeface="IRANSansWeb" panose="020B0506030804020204" pitchFamily="34" charset="-78"/>
              </a:rPr>
              <a:t>API</a:t>
            </a:r>
            <a:r>
              <a:rPr lang="fa-IR" sz="2400" dirty="0">
                <a:latin typeface="IRANSansWeb" panose="020B0506030804020204" pitchFamily="34" charset="-78"/>
                <a:cs typeface="IRANSansWeb" panose="020B0506030804020204" pitchFamily="34" charset="-78"/>
              </a:rPr>
              <a:t>ها (رابط برنامه‌نویسی اپلیکیشن) و غیره با یکدیگر تعامل داشته باشند. </a:t>
            </a:r>
            <a:endParaRPr lang="en-US" sz="2400"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42209569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15489-4767-9E1A-0AB6-D22A0D2EA1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646649-383E-21C8-F881-685BCFBC7245}"/>
              </a:ext>
            </a:extLst>
          </p:cNvPr>
          <p:cNvSpPr>
            <a:spLocks noGrp="1"/>
          </p:cNvSpPr>
          <p:nvPr>
            <p:ph type="title"/>
          </p:nvPr>
        </p:nvSpPr>
        <p:spPr/>
        <p:txBody>
          <a:bodyPr>
            <a:normAutofit/>
          </a:bodyPr>
          <a:lstStyle/>
          <a:p>
            <a:r>
              <a:rPr lang="fa-IR" sz="3200" dirty="0">
                <a:latin typeface="IRANSansWeb" panose="020B0506030804020204" pitchFamily="34" charset="-78"/>
                <a:cs typeface="IRANSansWeb" panose="020B0506030804020204" pitchFamily="34" charset="-78"/>
              </a:rPr>
              <a:t>اینترنت اشیا چیست؟</a:t>
            </a:r>
          </a:p>
        </p:txBody>
      </p:sp>
      <p:sp>
        <p:nvSpPr>
          <p:cNvPr id="3" name="Content Placeholder 2">
            <a:extLst>
              <a:ext uri="{FF2B5EF4-FFF2-40B4-BE49-F238E27FC236}">
                <a16:creationId xmlns:a16="http://schemas.microsoft.com/office/drawing/2014/main" id="{55B27451-4E32-A947-BB67-E2391152DC6B}"/>
              </a:ext>
            </a:extLst>
          </p:cNvPr>
          <p:cNvSpPr>
            <a:spLocks noGrp="1"/>
          </p:cNvSpPr>
          <p:nvPr>
            <p:ph idx="1"/>
          </p:nvPr>
        </p:nvSpPr>
        <p:spPr/>
        <p:txBody>
          <a:bodyPr>
            <a:normAutofit/>
          </a:bodyPr>
          <a:lstStyle/>
          <a:p>
            <a:pPr algn="r" rtl="1">
              <a:lnSpc>
                <a:spcPct val="170000"/>
              </a:lnSpc>
            </a:pPr>
            <a:r>
              <a:rPr lang="fa-IR" sz="2000" dirty="0">
                <a:latin typeface="IRANSansWeb" panose="020B0506030804020204" pitchFamily="34" charset="-78"/>
                <a:cs typeface="IRANSansWeb" panose="020B0506030804020204" pitchFamily="34" charset="-78"/>
              </a:rPr>
              <a:t>شبکه‌ای از اشیا فیزیکی است که در آن‌ها حسگرها، محرک‌ها و نرم‌افزارهایی تعبیه شده است که آن‌ها را قادر می‌سازد تا داده‌ها را با دستگاه‌ها یا سیستم‌های دیگر از طریق اینترنت جمع‌آوری و یا مبادله کنند. اینترنت اشیا بر پروتکل‌هایی متکی است که نحوه شناسایی دستگاه‌ها با استفاده از شناسه‌ها یا آدرس‌های منحصربه‌فرد بوده و نحوه برقراری ارتباط آن‌ها با یکدیگر با استفاده از پروتکل‌های کم‌مصرف و پهنای باند کم انجام می‌گیرد. </a:t>
            </a:r>
          </a:p>
          <a:p>
            <a:pPr algn="r" rtl="1">
              <a:lnSpc>
                <a:spcPct val="170000"/>
              </a:lnSpc>
            </a:pPr>
            <a:r>
              <a:rPr lang="fa-IR" sz="2000" dirty="0">
                <a:latin typeface="IRANSansWeb" panose="020B0506030804020204" pitchFamily="34" charset="-78"/>
                <a:cs typeface="IRANSansWeb" panose="020B0506030804020204" pitchFamily="34" charset="-78"/>
              </a:rPr>
              <a:t>برای مثال</a:t>
            </a:r>
            <a:r>
              <a:rPr lang="en-US" sz="2000" dirty="0">
                <a:latin typeface="IRANSansWeb" panose="020B0506030804020204" pitchFamily="34" charset="-78"/>
                <a:cs typeface="IRANSansWeb" panose="020B0506030804020204" pitchFamily="34" charset="-78"/>
              </a:rPr>
              <a:t>MQTT ،CoAP </a:t>
            </a:r>
            <a:r>
              <a:rPr lang="fa-IR" sz="2000" dirty="0">
                <a:latin typeface="IRANSansWeb" panose="020B0506030804020204" pitchFamily="34" charset="-78"/>
                <a:cs typeface="IRANSansWeb" panose="020B0506030804020204" pitchFamily="34" charset="-78"/>
              </a:rPr>
              <a:t>و </a:t>
            </a:r>
            <a:r>
              <a:rPr lang="en-US" sz="2000" dirty="0">
                <a:latin typeface="IRANSansWeb" panose="020B0506030804020204" pitchFamily="34" charset="-78"/>
                <a:cs typeface="IRANSansWeb" panose="020B0506030804020204" pitchFamily="34" charset="-78"/>
              </a:rPr>
              <a:t>    LoRaWAN</a:t>
            </a:r>
            <a:r>
              <a:rPr lang="fa-IR" sz="2000" dirty="0">
                <a:latin typeface="IRANSansWeb" panose="020B0506030804020204" pitchFamily="34" charset="-78"/>
                <a:cs typeface="IRANSansWeb" panose="020B0506030804020204" pitchFamily="34" charset="-78"/>
              </a:rPr>
              <a:t> برخی از این پروتکل‌ها هستند.</a:t>
            </a:r>
            <a:endParaRPr lang="en-US" sz="2000"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806625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0FB6E-C744-DAF5-B0E4-B6E8BF2E6681}"/>
              </a:ext>
            </a:extLst>
          </p:cNvPr>
          <p:cNvSpPr>
            <a:spLocks noGrp="1"/>
          </p:cNvSpPr>
          <p:nvPr>
            <p:ph type="title"/>
          </p:nvPr>
        </p:nvSpPr>
        <p:spPr/>
        <p:txBody>
          <a:bodyPr/>
          <a:lstStyle/>
          <a:p>
            <a:r>
              <a:rPr lang="fa-IR" dirty="0">
                <a:latin typeface="IRANSansWeb" panose="020B0506030804020204" pitchFamily="34" charset="-78"/>
                <a:cs typeface="IRANSansWeb" panose="020B0506030804020204" pitchFamily="34" charset="-78"/>
              </a:rPr>
              <a:t>اینترنت اشیا چیست؟</a:t>
            </a:r>
            <a:endParaRPr lang="en-US" dirty="0"/>
          </a:p>
        </p:txBody>
      </p:sp>
      <p:pic>
        <p:nvPicPr>
          <p:cNvPr id="4" name="Content Placeholder 3">
            <a:extLst>
              <a:ext uri="{FF2B5EF4-FFF2-40B4-BE49-F238E27FC236}">
                <a16:creationId xmlns:a16="http://schemas.microsoft.com/office/drawing/2014/main" id="{CC0AF186-FC18-C125-85C7-41FFAA39633B}"/>
              </a:ext>
            </a:extLst>
          </p:cNvPr>
          <p:cNvPicPr>
            <a:picLocks noGrp="1" noChangeAspect="1"/>
          </p:cNvPicPr>
          <p:nvPr>
            <p:ph idx="1"/>
          </p:nvPr>
        </p:nvPicPr>
        <p:blipFill>
          <a:blip r:embed="rId2"/>
          <a:stretch>
            <a:fillRect/>
          </a:stretch>
        </p:blipFill>
        <p:spPr>
          <a:xfrm>
            <a:off x="1472316" y="1600200"/>
            <a:ext cx="6199368" cy="4525963"/>
          </a:xfrm>
          <a:prstGeom prst="rect">
            <a:avLst/>
          </a:prstGeom>
        </p:spPr>
      </p:pic>
    </p:spTree>
    <p:extLst>
      <p:ext uri="{BB962C8B-B14F-4D97-AF65-F5344CB8AC3E}">
        <p14:creationId xmlns:p14="http://schemas.microsoft.com/office/powerpoint/2010/main" val="39910002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E068C-25C9-50B7-BF83-F3811171C315}"/>
              </a:ext>
            </a:extLst>
          </p:cNvPr>
          <p:cNvSpPr>
            <a:spLocks noGrp="1"/>
          </p:cNvSpPr>
          <p:nvPr>
            <p:ph type="title"/>
          </p:nvPr>
        </p:nvSpPr>
        <p:spPr>
          <a:xfrm>
            <a:off x="457200" y="274638"/>
            <a:ext cx="8229600" cy="811923"/>
          </a:xfrm>
        </p:spPr>
        <p:txBody>
          <a:bodyPr>
            <a:normAutofit/>
          </a:bodyPr>
          <a:lstStyle/>
          <a:p>
            <a:r>
              <a:rPr lang="fa-IR" dirty="0">
                <a:latin typeface="IRANSansWeb" panose="020B0506030804020204" pitchFamily="34" charset="-78"/>
                <a:cs typeface="IRANSansWeb" panose="020B0506030804020204" pitchFamily="34" charset="-78"/>
              </a:rPr>
              <a:t>لایه‌های شبکه</a:t>
            </a:r>
            <a:endParaRPr lang="en-US" dirty="0">
              <a:latin typeface="IRANSansWeb" panose="020B0506030804020204" pitchFamily="34" charset="-78"/>
              <a:cs typeface="IRANSansWeb" panose="020B0506030804020204" pitchFamily="34" charset="-78"/>
            </a:endParaRPr>
          </a:p>
        </p:txBody>
      </p:sp>
      <p:pic>
        <p:nvPicPr>
          <p:cNvPr id="5" name="Content Placeholder 4">
            <a:extLst>
              <a:ext uri="{FF2B5EF4-FFF2-40B4-BE49-F238E27FC236}">
                <a16:creationId xmlns:a16="http://schemas.microsoft.com/office/drawing/2014/main" id="{E62F0BA4-E1E5-80AE-12CE-ED13B57A8290}"/>
              </a:ext>
            </a:extLst>
          </p:cNvPr>
          <p:cNvPicPr>
            <a:picLocks noGrp="1" noChangeAspect="1"/>
          </p:cNvPicPr>
          <p:nvPr>
            <p:ph idx="1"/>
          </p:nvPr>
        </p:nvPicPr>
        <p:blipFill>
          <a:blip r:embed="rId2"/>
          <a:stretch>
            <a:fillRect/>
          </a:stretch>
        </p:blipFill>
        <p:spPr>
          <a:xfrm>
            <a:off x="949570" y="2704264"/>
            <a:ext cx="7397262" cy="4153736"/>
          </a:xfrm>
          <a:prstGeom prst="rect">
            <a:avLst/>
          </a:prstGeom>
        </p:spPr>
      </p:pic>
      <p:sp>
        <p:nvSpPr>
          <p:cNvPr id="7" name="TextBox 6">
            <a:extLst>
              <a:ext uri="{FF2B5EF4-FFF2-40B4-BE49-F238E27FC236}">
                <a16:creationId xmlns:a16="http://schemas.microsoft.com/office/drawing/2014/main" id="{EF27175F-E73E-D32D-ACF8-F9A9AC02D266}"/>
              </a:ext>
            </a:extLst>
          </p:cNvPr>
          <p:cNvSpPr txBox="1"/>
          <p:nvPr/>
        </p:nvSpPr>
        <p:spPr>
          <a:xfrm>
            <a:off x="109416" y="1043600"/>
            <a:ext cx="8729784" cy="1219565"/>
          </a:xfrm>
          <a:prstGeom prst="rect">
            <a:avLst/>
          </a:prstGeom>
          <a:noFill/>
        </p:spPr>
        <p:txBody>
          <a:bodyPr wrap="square">
            <a:spAutoFit/>
          </a:bodyPr>
          <a:lstStyle/>
          <a:p>
            <a:pPr algn="r" rtl="1">
              <a:lnSpc>
                <a:spcPct val="150000"/>
              </a:lnSpc>
            </a:pPr>
            <a:r>
              <a:rPr lang="fa-IR" b="0" i="0" dirty="0">
                <a:solidFill>
                  <a:srgbClr val="221E22"/>
                </a:solidFill>
                <a:effectLst/>
                <a:latin typeface="IRANSansWeb" panose="020B0506030804020204" pitchFamily="34" charset="-78"/>
                <a:cs typeface="IRANSansWeb" panose="020B0506030804020204" pitchFamily="34" charset="-78"/>
              </a:rPr>
              <a:t>به چارچوب یا پلتفرمی گفته می‌شود که به درک بهتر تعاملات پیچیده شبکه کمک می‌کند و شبکه قوانین آن را اجرا می­کند. دو مدل لایه شبکه که امروزه به طور گسترده کاربرد دارند مدل </a:t>
            </a:r>
            <a:r>
              <a:rPr lang="en-US" sz="1400" b="0" i="0" dirty="0">
                <a:solidFill>
                  <a:srgbClr val="221E22"/>
                </a:solidFill>
                <a:effectLst/>
                <a:latin typeface="IRANSansWeb" panose="020B0506030804020204" pitchFamily="34" charset="-78"/>
                <a:cs typeface="IRANSansWeb" panose="020B0506030804020204" pitchFamily="34" charset="-78"/>
              </a:rPr>
              <a:t>OSI(Open Systems Interconnection)</a:t>
            </a:r>
            <a:r>
              <a:rPr lang="fa-IR" sz="1400" b="0" i="0" dirty="0">
                <a:solidFill>
                  <a:srgbClr val="221E22"/>
                </a:solidFill>
                <a:effectLst/>
                <a:latin typeface="IRANSansWeb" panose="020B0506030804020204" pitchFamily="34" charset="-78"/>
                <a:cs typeface="IRANSansWeb" panose="020B0506030804020204" pitchFamily="34" charset="-78"/>
              </a:rPr>
              <a:t> </a:t>
            </a:r>
            <a:r>
              <a:rPr lang="fa-IR" sz="1400" dirty="0">
                <a:solidFill>
                  <a:srgbClr val="221E22"/>
                </a:solidFill>
                <a:latin typeface="IRANSansWeb" panose="020B0506030804020204" pitchFamily="34" charset="-78"/>
                <a:cs typeface="IRANSansWeb" panose="020B0506030804020204" pitchFamily="34" charset="-78"/>
              </a:rPr>
              <a:t>و مدل </a:t>
            </a:r>
            <a:r>
              <a:rPr lang="en-US" sz="1400" dirty="0">
                <a:solidFill>
                  <a:srgbClr val="221E22"/>
                </a:solidFill>
                <a:latin typeface="IRANSansWeb" panose="020B0506030804020204" pitchFamily="34" charset="-78"/>
                <a:cs typeface="IRANSansWeb" panose="020B0506030804020204" pitchFamily="34" charset="-78"/>
              </a:rPr>
              <a:t>TCP/IP(Transmission Control Protocol/Internet Protocol). </a:t>
            </a:r>
            <a:endParaRPr lang="en-US" sz="1400" b="0" i="0" dirty="0">
              <a:solidFill>
                <a:srgbClr val="221E22"/>
              </a:solidFill>
              <a:effectLst/>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9588509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9B097-5767-E836-E2C6-1A25C6AFD4D7}"/>
              </a:ext>
            </a:extLst>
          </p:cNvPr>
          <p:cNvSpPr>
            <a:spLocks noGrp="1"/>
          </p:cNvSpPr>
          <p:nvPr>
            <p:ph type="title"/>
          </p:nvPr>
        </p:nvSpPr>
        <p:spPr/>
        <p:txBody>
          <a:bodyPr>
            <a:normAutofit/>
          </a:bodyPr>
          <a:lstStyle/>
          <a:p>
            <a:r>
              <a:rPr lang="fa-IR" b="1" dirty="0">
                <a:latin typeface="IRANSansWeb" panose="020B0506030804020204" pitchFamily="34" charset="-78"/>
                <a:cs typeface="IRANSansWeb" panose="020B0506030804020204" pitchFamily="34" charset="-78"/>
              </a:rPr>
              <a:t>پروتکل شبکه</a:t>
            </a:r>
            <a:endParaRPr lang="en-US" dirty="0">
              <a:latin typeface="IRANSansWeb" panose="020B0506030804020204" pitchFamily="34" charset="-78"/>
              <a:cs typeface="IRANSansWeb" panose="020B0506030804020204" pitchFamily="34" charset="-78"/>
            </a:endParaRPr>
          </a:p>
        </p:txBody>
      </p:sp>
      <p:sp>
        <p:nvSpPr>
          <p:cNvPr id="3" name="Content Placeholder 2">
            <a:extLst>
              <a:ext uri="{FF2B5EF4-FFF2-40B4-BE49-F238E27FC236}">
                <a16:creationId xmlns:a16="http://schemas.microsoft.com/office/drawing/2014/main" id="{B8615ECE-D196-BECC-751B-C0907DBD5E8B}"/>
              </a:ext>
            </a:extLst>
          </p:cNvPr>
          <p:cNvSpPr>
            <a:spLocks noGrp="1"/>
          </p:cNvSpPr>
          <p:nvPr>
            <p:ph idx="1"/>
          </p:nvPr>
        </p:nvSpPr>
        <p:spPr/>
        <p:txBody>
          <a:bodyPr>
            <a:normAutofit/>
          </a:bodyPr>
          <a:lstStyle/>
          <a:p>
            <a:pPr algn="r" rtl="1">
              <a:lnSpc>
                <a:spcPct val="170000"/>
              </a:lnSpc>
            </a:pPr>
            <a:r>
              <a:rPr lang="fa-IR" sz="2000" dirty="0">
                <a:latin typeface="IRANSansWeb" panose="020B0506030804020204" pitchFamily="34" charset="-78"/>
                <a:cs typeface="IRANSansWeb" panose="020B0506030804020204" pitchFamily="34" charset="-78"/>
              </a:rPr>
              <a:t>پروتکل شبکه به مجموعه پروتکل‌هایی (قوانین و روش­هایی) گفته می‌شود که در لایه‌های شبکه از جمله مدل </a:t>
            </a:r>
            <a:r>
              <a:rPr lang="en-US" sz="2000" dirty="0">
                <a:latin typeface="IRANSansWeb" panose="020B0506030804020204" pitchFamily="34" charset="-78"/>
                <a:cs typeface="IRANSansWeb" panose="020B0506030804020204" pitchFamily="34" charset="-78"/>
              </a:rPr>
              <a:t>OSI (Open Systems Interconnection) </a:t>
            </a:r>
            <a:r>
              <a:rPr lang="fa-IR" sz="2000" dirty="0">
                <a:latin typeface="IRANSansWeb" panose="020B0506030804020204" pitchFamily="34" charset="-78"/>
                <a:cs typeface="IRANSansWeb" panose="020B0506030804020204" pitchFamily="34" charset="-78"/>
              </a:rPr>
              <a:t>یا لایه اینترنت مدل </a:t>
            </a:r>
            <a:r>
              <a:rPr lang="en-US" sz="2000" dirty="0">
                <a:latin typeface="IRANSansWeb" panose="020B0506030804020204" pitchFamily="34" charset="-78"/>
                <a:cs typeface="IRANSansWeb" panose="020B0506030804020204" pitchFamily="34" charset="-78"/>
              </a:rPr>
              <a:t>TCP/IP </a:t>
            </a:r>
            <a:r>
              <a:rPr lang="fa-IR" sz="2000" dirty="0">
                <a:latin typeface="IRANSansWeb" panose="020B0506030804020204" pitchFamily="34" charset="-78"/>
                <a:cs typeface="IRANSansWeb" panose="020B0506030804020204" pitchFamily="34" charset="-78"/>
              </a:rPr>
              <a:t>عمل می‌کنند. پروتکل شبکه مسئول مسیریابی و ارسال بسته‌های داده در شبکه‌ها یا زیرشبکه‌های مختلف است. همچنین، با ارائه آدرس‌های منحصربه‌فرد به دستگاه‌ها، آن‌ها را از یکدیگر متمایز می‌کند. برخی از نمونه‌های پروتکل شبکه عبارت هستند از </a:t>
            </a:r>
            <a:r>
              <a:rPr lang="en-US" sz="2000" dirty="0">
                <a:latin typeface="IRANSansWeb" panose="020B0506030804020204" pitchFamily="34" charset="-78"/>
                <a:cs typeface="IRANSansWeb" panose="020B0506030804020204" pitchFamily="34" charset="-78"/>
              </a:rPr>
              <a:t>IP ،ICMP ،ARP </a:t>
            </a:r>
            <a:r>
              <a:rPr lang="fa-IR" sz="2000" dirty="0">
                <a:latin typeface="IRANSansWeb" panose="020B0506030804020204" pitchFamily="34" charset="-78"/>
                <a:cs typeface="IRANSansWeb" panose="020B0506030804020204" pitchFamily="34" charset="-78"/>
              </a:rPr>
              <a:t>و غیره. پس می‌توان گفت یک شبکه می‌تواند چندین پروتکل شبکه را در لایه­های مختلف شبکه خود، داشته باشد.</a:t>
            </a:r>
            <a:endParaRPr lang="en-US" sz="2000"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42549812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40153-105A-8663-45C5-A49DD4B8824B}"/>
              </a:ext>
            </a:extLst>
          </p:cNvPr>
          <p:cNvSpPr>
            <a:spLocks noGrp="1"/>
          </p:cNvSpPr>
          <p:nvPr>
            <p:ph type="title"/>
          </p:nvPr>
        </p:nvSpPr>
        <p:spPr/>
        <p:txBody>
          <a:bodyPr>
            <a:normAutofit/>
          </a:bodyPr>
          <a:lstStyle/>
          <a:p>
            <a:r>
              <a:rPr lang="en-US" dirty="0"/>
              <a:t>RFC Compliance for IPv4</a:t>
            </a:r>
          </a:p>
        </p:txBody>
      </p:sp>
      <p:sp>
        <p:nvSpPr>
          <p:cNvPr id="3" name="Content Placeholder 2">
            <a:extLst>
              <a:ext uri="{FF2B5EF4-FFF2-40B4-BE49-F238E27FC236}">
                <a16:creationId xmlns:a16="http://schemas.microsoft.com/office/drawing/2014/main" id="{724CBA89-C007-EFDF-B1A3-FA796E98D37B}"/>
              </a:ext>
            </a:extLst>
          </p:cNvPr>
          <p:cNvSpPr>
            <a:spLocks noGrp="1"/>
          </p:cNvSpPr>
          <p:nvPr>
            <p:ph idx="1"/>
          </p:nvPr>
        </p:nvSpPr>
        <p:spPr/>
        <p:txBody>
          <a:bodyPr>
            <a:normAutofit fontScale="47500" lnSpcReduction="20000"/>
          </a:bodyPr>
          <a:lstStyle/>
          <a:p>
            <a:pPr fontAlgn="base"/>
            <a:r>
              <a:rPr lang="en-US" dirty="0"/>
              <a:t>RFC 768; (UDP User Datagram Protocol)</a:t>
            </a:r>
          </a:p>
          <a:p>
            <a:pPr fontAlgn="base"/>
            <a:r>
              <a:rPr lang="en-US" dirty="0"/>
              <a:t>RFC 791; (IP Internet Protocol)</a:t>
            </a:r>
          </a:p>
          <a:p>
            <a:pPr fontAlgn="base"/>
            <a:r>
              <a:rPr lang="en-US" dirty="0"/>
              <a:t>RFC 792; (ICMP Internet Control Message Protocol)</a:t>
            </a:r>
          </a:p>
          <a:p>
            <a:pPr fontAlgn="base"/>
            <a:r>
              <a:rPr lang="en-US" dirty="0"/>
              <a:t>RFC 793; (TCP Transmission Control Protocol)</a:t>
            </a:r>
          </a:p>
          <a:p>
            <a:pPr fontAlgn="base"/>
            <a:r>
              <a:rPr lang="en-US" dirty="0"/>
              <a:t>RFC 813; (Window &amp; Acknowledgement Strategy in TCP)</a:t>
            </a:r>
          </a:p>
          <a:p>
            <a:pPr fontAlgn="base"/>
            <a:r>
              <a:rPr lang="en-US" dirty="0"/>
              <a:t>RFC 826; (Ethernet Address Resolution Protocol)</a:t>
            </a:r>
          </a:p>
          <a:p>
            <a:pPr fontAlgn="base"/>
            <a:r>
              <a:rPr lang="en-US" dirty="0"/>
              <a:t>RFC 896; (Congestion Control in TCP/IP Inter-networks)</a:t>
            </a:r>
          </a:p>
          <a:p>
            <a:pPr fontAlgn="base"/>
            <a:r>
              <a:rPr lang="en-US" dirty="0"/>
              <a:t>RFC 903; (Reverse Address Resolution Protocol)</a:t>
            </a:r>
          </a:p>
          <a:p>
            <a:pPr fontAlgn="base"/>
            <a:r>
              <a:rPr lang="en-US" dirty="0"/>
              <a:t>RFC 1058; (Routing Information Protocol)</a:t>
            </a:r>
          </a:p>
          <a:p>
            <a:pPr fontAlgn="base"/>
            <a:r>
              <a:rPr lang="en-US" dirty="0"/>
              <a:t>RFC 1112; (Host Extension for IP Multicast)</a:t>
            </a:r>
          </a:p>
          <a:p>
            <a:pPr fontAlgn="base"/>
            <a:r>
              <a:rPr lang="en-US" dirty="0"/>
              <a:t>RFC 1122; (Requirements for Internet Hosts – Communications layers)</a:t>
            </a:r>
          </a:p>
          <a:p>
            <a:pPr fontAlgn="base"/>
            <a:r>
              <a:rPr lang="en-US" dirty="0"/>
              <a:t>RFC 1144; (Compressing TCP/IP Headers for low speed links)</a:t>
            </a:r>
          </a:p>
          <a:p>
            <a:pPr fontAlgn="base"/>
            <a:r>
              <a:rPr lang="en-US" dirty="0"/>
              <a:t>RFC 1256; (ICMP Router Discovery Messages)</a:t>
            </a:r>
          </a:p>
          <a:p>
            <a:pPr fontAlgn="base"/>
            <a:r>
              <a:rPr lang="en-US" dirty="0"/>
              <a:t>RFC 1323; (TCP Extensions for High Performance)</a:t>
            </a:r>
          </a:p>
          <a:p>
            <a:pPr fontAlgn="base"/>
            <a:r>
              <a:rPr lang="en-US" dirty="0"/>
              <a:t>RFC 1349; (TOS Bit Type of service In Internet Protocol)</a:t>
            </a:r>
          </a:p>
          <a:p>
            <a:pPr fontAlgn="base"/>
            <a:r>
              <a:rPr lang="en-US" dirty="0"/>
              <a:t>RFC 1388; (Routing Information Protocol V2)</a:t>
            </a:r>
          </a:p>
          <a:p>
            <a:pPr fontAlgn="base"/>
            <a:r>
              <a:rPr lang="en-US" dirty="0"/>
              <a:t>RFC 1644; (TCP Extensions for Transactions T/TCP)</a:t>
            </a:r>
          </a:p>
          <a:p>
            <a:pPr fontAlgn="base"/>
            <a:r>
              <a:rPr lang="en-US" dirty="0"/>
              <a:t>RFC 2001; (TCP Slow start congestion avoidance)</a:t>
            </a:r>
          </a:p>
          <a:p>
            <a:pPr fontAlgn="base"/>
            <a:r>
              <a:rPr lang="en-US" dirty="0"/>
              <a:t>RFC 2018; (TCP Selective Acknowledge Options)</a:t>
            </a:r>
          </a:p>
          <a:p>
            <a:endParaRPr lang="en-US" dirty="0"/>
          </a:p>
        </p:txBody>
      </p:sp>
    </p:spTree>
    <p:extLst>
      <p:ext uri="{BB962C8B-B14F-4D97-AF65-F5344CB8AC3E}">
        <p14:creationId xmlns:p14="http://schemas.microsoft.com/office/powerpoint/2010/main" val="33233239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337D4-DFB2-580D-AB30-4F270DDCA3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BAD994-73E8-9DAE-1812-626F2BCBB489}"/>
              </a:ext>
            </a:extLst>
          </p:cNvPr>
          <p:cNvSpPr>
            <a:spLocks noGrp="1"/>
          </p:cNvSpPr>
          <p:nvPr>
            <p:ph type="title"/>
          </p:nvPr>
        </p:nvSpPr>
        <p:spPr/>
        <p:txBody>
          <a:bodyPr>
            <a:normAutofit/>
          </a:bodyPr>
          <a:lstStyle/>
          <a:p>
            <a:r>
              <a:rPr lang="fa-IR" b="1" dirty="0">
                <a:latin typeface="IRANSansWeb" panose="020B0506030804020204" pitchFamily="34" charset="-78"/>
                <a:cs typeface="IRANSansWeb" panose="020B0506030804020204" pitchFamily="34" charset="-78"/>
              </a:rPr>
              <a:t>پروتکل اینترنت</a:t>
            </a:r>
            <a:endParaRPr lang="en-US" dirty="0">
              <a:latin typeface="IRANSansWeb" panose="020B0506030804020204" pitchFamily="34" charset="-78"/>
              <a:cs typeface="IRANSansWeb" panose="020B0506030804020204" pitchFamily="34" charset="-78"/>
            </a:endParaRPr>
          </a:p>
        </p:txBody>
      </p:sp>
      <p:sp>
        <p:nvSpPr>
          <p:cNvPr id="3" name="Content Placeholder 2">
            <a:extLst>
              <a:ext uri="{FF2B5EF4-FFF2-40B4-BE49-F238E27FC236}">
                <a16:creationId xmlns:a16="http://schemas.microsoft.com/office/drawing/2014/main" id="{E7790BC2-6713-8807-2CED-91BA914D8175}"/>
              </a:ext>
            </a:extLst>
          </p:cNvPr>
          <p:cNvSpPr>
            <a:spLocks noGrp="1"/>
          </p:cNvSpPr>
          <p:nvPr>
            <p:ph idx="1"/>
          </p:nvPr>
        </p:nvSpPr>
        <p:spPr/>
        <p:txBody>
          <a:bodyPr>
            <a:normAutofit fontScale="77500" lnSpcReduction="20000"/>
          </a:bodyPr>
          <a:lstStyle/>
          <a:p>
            <a:pPr algn="r" rtl="1">
              <a:lnSpc>
                <a:spcPct val="160000"/>
              </a:lnSpc>
            </a:pPr>
            <a:r>
              <a:rPr lang="fa-IR" dirty="0">
                <a:latin typeface="IRANSansWeb" panose="020B0506030804020204" pitchFamily="34" charset="-78"/>
                <a:cs typeface="IRANSansWeb" panose="020B0506030804020204" pitchFamily="34" charset="-78"/>
              </a:rPr>
              <a:t>پروتکل اینترنت به پروتکل‌هایی گفته می‌شود که در لایه انتقال یا لایه‌های بالاتر مدل </a:t>
            </a:r>
            <a:r>
              <a:rPr lang="en-US" dirty="0">
                <a:latin typeface="IRANSansWeb" panose="020B0506030804020204" pitchFamily="34" charset="-78"/>
                <a:cs typeface="IRANSansWeb" panose="020B0506030804020204" pitchFamily="34" charset="-78"/>
              </a:rPr>
              <a:t>TCP/IP</a:t>
            </a:r>
            <a:r>
              <a:rPr lang="fa-IR" dirty="0">
                <a:latin typeface="IRANSansWeb" panose="020B0506030804020204" pitchFamily="34" charset="-78"/>
                <a:cs typeface="IRANSansWeb" panose="020B0506030804020204" pitchFamily="34" charset="-78"/>
              </a:rPr>
              <a:t> </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کار می‌کنند. پروتکل اینترنت وظیفه برقراری ارتباط سراسری بین برنامه‌های در حال اجرا در دستگاه‌های مختلف از طریق اینترنت را برعهده دارد. همچنین، خدماتی مانند قابلیت اطمینان و کنترل خطا، جریان، ترافیک، امنیت و غیره را ارائه می‌دهند. برخی از نمونه‌های پروتکل اینترنت عبارت هستند از </a:t>
            </a:r>
            <a:r>
              <a:rPr lang="en-US" dirty="0">
                <a:latin typeface="IRANSansWeb" panose="020B0506030804020204" pitchFamily="34" charset="-78"/>
                <a:cs typeface="IRANSansWeb" panose="020B0506030804020204" pitchFamily="34" charset="-78"/>
              </a:rPr>
              <a:t>TCP ،UDP ،HTTP،HTTPS</a:t>
            </a:r>
            <a:r>
              <a:rPr lang="fa-IR" dirty="0">
                <a:latin typeface="IRANSansWeb" panose="020B0506030804020204" pitchFamily="34" charset="-78"/>
                <a:cs typeface="IRANSansWeb" panose="020B0506030804020204" pitchFamily="34" charset="-78"/>
              </a:rPr>
              <a:t> </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و غیره.</a:t>
            </a:r>
            <a:endParaRPr lang="en-US"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7697625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0CFD-82B1-8920-B3FB-BD2B0FE32B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57039A-03FE-6950-4121-BF463E5FC835}"/>
              </a:ext>
            </a:extLst>
          </p:cNvPr>
          <p:cNvSpPr>
            <a:spLocks noGrp="1"/>
          </p:cNvSpPr>
          <p:nvPr>
            <p:ph type="title"/>
          </p:nvPr>
        </p:nvSpPr>
        <p:spPr/>
        <p:txBody>
          <a:bodyPr>
            <a:normAutofit/>
          </a:bodyPr>
          <a:lstStyle/>
          <a:p>
            <a:r>
              <a:rPr lang="fa-IR" b="1" dirty="0">
                <a:latin typeface="IRANSansWeb" panose="020B0506030804020204" pitchFamily="34" charset="-78"/>
                <a:cs typeface="IRANSansWeb" panose="020B0506030804020204" pitchFamily="34" charset="-78"/>
              </a:rPr>
              <a:t>پروتکل ارتباط بی‌سیم</a:t>
            </a:r>
          </a:p>
        </p:txBody>
      </p:sp>
      <p:sp>
        <p:nvSpPr>
          <p:cNvPr id="3" name="Content Placeholder 2">
            <a:extLst>
              <a:ext uri="{FF2B5EF4-FFF2-40B4-BE49-F238E27FC236}">
                <a16:creationId xmlns:a16="http://schemas.microsoft.com/office/drawing/2014/main" id="{F8B04CB8-BD10-0D16-429C-5D113F67909E}"/>
              </a:ext>
            </a:extLst>
          </p:cNvPr>
          <p:cNvSpPr>
            <a:spLocks noGrp="1"/>
          </p:cNvSpPr>
          <p:nvPr>
            <p:ph idx="1"/>
          </p:nvPr>
        </p:nvSpPr>
        <p:spPr/>
        <p:txBody>
          <a:bodyPr>
            <a:normAutofit fontScale="85000" lnSpcReduction="10000"/>
          </a:bodyPr>
          <a:lstStyle/>
          <a:p>
            <a:pPr algn="r" rtl="1">
              <a:lnSpc>
                <a:spcPct val="150000"/>
              </a:lnSpc>
            </a:pPr>
            <a:r>
              <a:rPr lang="fa-IR" dirty="0">
                <a:latin typeface="IRANSansWeb" panose="020B0506030804020204" pitchFamily="34" charset="-78"/>
                <a:cs typeface="IRANSansWeb" panose="020B0506030804020204" pitchFamily="34" charset="-78"/>
              </a:rPr>
              <a:t>پروتکل ارتباط بی‌سیم به پروتکل‌هایی گفته می‌شود که در لایه فیزیکی یا لایه پیوند داده مدل </a:t>
            </a:r>
            <a:r>
              <a:rPr lang="en-US" dirty="0">
                <a:latin typeface="IRANSansWeb" panose="020B0506030804020204" pitchFamily="34" charset="-78"/>
                <a:cs typeface="IRANSansWeb" panose="020B0506030804020204" pitchFamily="34" charset="-78"/>
              </a:rPr>
              <a:t>OSI </a:t>
            </a:r>
            <a:r>
              <a:rPr lang="fa-IR" dirty="0">
                <a:latin typeface="IRANSansWeb" panose="020B0506030804020204" pitchFamily="34" charset="-78"/>
                <a:cs typeface="IRANSansWeb" panose="020B0506030804020204" pitchFamily="34" charset="-78"/>
              </a:rPr>
              <a:t>یا مدل </a:t>
            </a:r>
            <a:r>
              <a:rPr lang="en-US" dirty="0">
                <a:latin typeface="IRANSansWeb" panose="020B0506030804020204" pitchFamily="34" charset="-78"/>
                <a:cs typeface="IRANSansWeb" panose="020B0506030804020204" pitchFamily="34" charset="-78"/>
              </a:rPr>
              <a:t>TCP/IP </a:t>
            </a:r>
            <a:r>
              <a:rPr lang="fa-IR" dirty="0">
                <a:latin typeface="IRANSansWeb" panose="020B0506030804020204" pitchFamily="34" charset="-78"/>
                <a:cs typeface="IRANSansWeb" panose="020B0506030804020204" pitchFamily="34" charset="-78"/>
              </a:rPr>
              <a:t>کار می‌کنند. این پروتکل‌ها وظیفه انتقال و دریافت داده‌ها را با استفاده از امواج الکترومغناطیسی روی یک رسانه بی‌سیم برعهده دارند و ویژگی‌هایی مانند مدولاسیون، دمدولاسیون، رمزگذاری، رمزگشایی، چندگانه‌سازی و غیره را ارائه می‌دهند.</a:t>
            </a:r>
            <a:endParaRPr lang="en-US"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25273801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B92FA-3355-17DF-7A67-9238F27401C6}"/>
              </a:ext>
            </a:extLst>
          </p:cNvPr>
          <p:cNvSpPr>
            <a:spLocks noGrp="1"/>
          </p:cNvSpPr>
          <p:nvPr>
            <p:ph type="title"/>
          </p:nvPr>
        </p:nvSpPr>
        <p:spPr/>
        <p:txBody>
          <a:bodyPr>
            <a:normAutofit/>
          </a:bodyPr>
          <a:lstStyle/>
          <a:p>
            <a:pPr rtl="1"/>
            <a:r>
              <a:rPr lang="fa-IR" dirty="0">
                <a:latin typeface="IRANSansWeb" panose="020B0506030804020204" pitchFamily="34" charset="-78"/>
                <a:cs typeface="IRANSansWeb" panose="020B0506030804020204" pitchFamily="34" charset="-78"/>
              </a:rPr>
              <a:t>فرهنگ اصطلاحات شبکه</a:t>
            </a:r>
            <a:endParaRPr lang="en-US" dirty="0">
              <a:latin typeface="IRANSansWeb" panose="020B0506030804020204" pitchFamily="34" charset="-78"/>
              <a:cs typeface="IRANSansWeb" panose="020B0506030804020204" pitchFamily="34" charset="-78"/>
            </a:endParaRPr>
          </a:p>
        </p:txBody>
      </p:sp>
      <p:sp>
        <p:nvSpPr>
          <p:cNvPr id="3" name="Content Placeholder 2">
            <a:extLst>
              <a:ext uri="{FF2B5EF4-FFF2-40B4-BE49-F238E27FC236}">
                <a16:creationId xmlns:a16="http://schemas.microsoft.com/office/drawing/2014/main" id="{5B133779-53AE-14A5-1AFE-ABEDFFF5816B}"/>
              </a:ext>
            </a:extLst>
          </p:cNvPr>
          <p:cNvSpPr>
            <a:spLocks noGrp="1"/>
          </p:cNvSpPr>
          <p:nvPr>
            <p:ph idx="1"/>
          </p:nvPr>
        </p:nvSpPr>
        <p:spPr>
          <a:xfrm>
            <a:off x="457200" y="1258278"/>
            <a:ext cx="8229600" cy="5325084"/>
          </a:xfrm>
        </p:spPr>
        <p:txBody>
          <a:bodyPr>
            <a:normAutofit fontScale="25000" lnSpcReduction="20000"/>
          </a:bodyPr>
          <a:lstStyle/>
          <a:p>
            <a:r>
              <a:rPr lang="en-US" sz="6400" dirty="0"/>
              <a:t>Ethernet Networking and Addressing</a:t>
            </a:r>
          </a:p>
          <a:p>
            <a:r>
              <a:rPr lang="en-US" sz="6400" dirty="0"/>
              <a:t>MTU - Maximum Transmission Unit</a:t>
            </a:r>
          </a:p>
          <a:p>
            <a:r>
              <a:rPr lang="en-US" sz="6400" dirty="0"/>
              <a:t>IP Networking</a:t>
            </a:r>
          </a:p>
          <a:p>
            <a:r>
              <a:rPr lang="en-US" sz="6400" dirty="0"/>
              <a:t>IP Network Addressing</a:t>
            </a:r>
          </a:p>
          <a:p>
            <a:r>
              <a:rPr lang="en-US" sz="6400" dirty="0"/>
              <a:t>ARP - Address Resolution Protocol</a:t>
            </a:r>
          </a:p>
          <a:p>
            <a:r>
              <a:rPr lang="en-US" sz="6400" dirty="0"/>
              <a:t>Subnets / Netmasks</a:t>
            </a:r>
          </a:p>
          <a:p>
            <a:r>
              <a:rPr lang="en-US" sz="6400" dirty="0"/>
              <a:t>Gateways and Routers</a:t>
            </a:r>
          </a:p>
          <a:p>
            <a:r>
              <a:rPr lang="en-US" sz="6400" dirty="0"/>
              <a:t>UDP Networking</a:t>
            </a:r>
          </a:p>
          <a:p>
            <a:r>
              <a:rPr lang="en-US" sz="6400" dirty="0"/>
              <a:t>TCP Networking</a:t>
            </a:r>
          </a:p>
          <a:p>
            <a:r>
              <a:rPr lang="en-US" sz="6400" dirty="0"/>
              <a:t>MSS - Maximum Segment Size</a:t>
            </a:r>
          </a:p>
          <a:p>
            <a:r>
              <a:rPr lang="en-US" sz="6400" dirty="0"/>
              <a:t>Port Numbers</a:t>
            </a:r>
          </a:p>
          <a:p>
            <a:r>
              <a:rPr lang="en-US" sz="6400" dirty="0"/>
              <a:t>Sockets</a:t>
            </a:r>
          </a:p>
          <a:p>
            <a:r>
              <a:rPr lang="en-US" sz="6400" dirty="0"/>
              <a:t>Binding</a:t>
            </a:r>
          </a:p>
          <a:p>
            <a:r>
              <a:rPr lang="en-US" sz="6400" dirty="0"/>
              <a:t>Clients and Servers</a:t>
            </a:r>
          </a:p>
          <a:p>
            <a:r>
              <a:rPr lang="en-US" sz="6400" dirty="0"/>
              <a:t>Static IP Addresses</a:t>
            </a:r>
          </a:p>
          <a:p>
            <a:r>
              <a:rPr lang="en-US" sz="6400" dirty="0"/>
              <a:t>DHCP - Dynamic Host Control Protocol</a:t>
            </a:r>
          </a:p>
          <a:p>
            <a:r>
              <a:rPr lang="en-US" sz="6400" dirty="0"/>
              <a:t>Name Resolution</a:t>
            </a:r>
          </a:p>
          <a:p>
            <a:r>
              <a:rPr lang="en-US" sz="6400" dirty="0"/>
              <a:t>DNS - Domain Name Service</a:t>
            </a:r>
          </a:p>
          <a:p>
            <a:r>
              <a:rPr lang="en-US" sz="6400" dirty="0"/>
              <a:t>LLMNR - Link-local Multicast Name Resolution</a:t>
            </a:r>
          </a:p>
          <a:p>
            <a:r>
              <a:rPr lang="en-US" sz="6400" dirty="0"/>
              <a:t>NBNS - NetBIOS Name Service</a:t>
            </a:r>
          </a:p>
          <a:p>
            <a:r>
              <a:rPr lang="en-US" sz="6400" dirty="0"/>
              <a:t>Bytes Order and Endian</a:t>
            </a:r>
          </a:p>
          <a:p>
            <a:endParaRPr lang="en-US" dirty="0"/>
          </a:p>
        </p:txBody>
      </p:sp>
    </p:spTree>
    <p:extLst>
      <p:ext uri="{BB962C8B-B14F-4D97-AF65-F5344CB8AC3E}">
        <p14:creationId xmlns:p14="http://schemas.microsoft.com/office/powerpoint/2010/main" val="1524239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2A9FE-D188-B967-410B-F54391F2DC0B}"/>
              </a:ext>
            </a:extLst>
          </p:cNvPr>
          <p:cNvSpPr>
            <a:spLocks noGrp="1"/>
          </p:cNvSpPr>
          <p:nvPr>
            <p:ph type="title"/>
          </p:nvPr>
        </p:nvSpPr>
        <p:spPr/>
        <p:txBody>
          <a:bodyPr>
            <a:normAutofit fontScale="90000"/>
          </a:bodyPr>
          <a:lstStyle/>
          <a:p>
            <a:r>
              <a:rPr lang="en-US" dirty="0"/>
              <a:t>Ethernet Networking and Addressing</a:t>
            </a:r>
          </a:p>
        </p:txBody>
      </p:sp>
      <p:sp>
        <p:nvSpPr>
          <p:cNvPr id="3" name="Content Placeholder 2">
            <a:extLst>
              <a:ext uri="{FF2B5EF4-FFF2-40B4-BE49-F238E27FC236}">
                <a16:creationId xmlns:a16="http://schemas.microsoft.com/office/drawing/2014/main" id="{9016F876-2471-7068-3C19-A8910073EC7B}"/>
              </a:ext>
            </a:extLst>
          </p:cNvPr>
          <p:cNvSpPr>
            <a:spLocks noGrp="1"/>
          </p:cNvSpPr>
          <p:nvPr>
            <p:ph idx="1"/>
          </p:nvPr>
        </p:nvSpPr>
        <p:spPr/>
        <p:txBody>
          <a:bodyPr>
            <a:normAutofit fontScale="40000" lnSpcReduction="20000"/>
          </a:bodyPr>
          <a:lstStyle/>
          <a:p>
            <a:pPr marL="0" indent="0" algn="r" rtl="1">
              <a:buNone/>
            </a:pPr>
            <a:endParaRPr lang="en-US" dirty="0"/>
          </a:p>
          <a:p>
            <a:pPr algn="r" rtl="1">
              <a:lnSpc>
                <a:spcPct val="170000"/>
              </a:lnSpc>
            </a:pPr>
            <a:r>
              <a:rPr lang="fa-IR" dirty="0">
                <a:latin typeface="IRANSansWeb" panose="020B0506030804020204" pitchFamily="34" charset="-78"/>
                <a:cs typeface="IRANSansWeb" panose="020B0506030804020204" pitchFamily="34" charset="-78"/>
              </a:rPr>
              <a:t>فریم‌های اترنت برای انتقال داده‌ها از گره‌ای به گره دیگر در شبکه استفاده می‌شوند. داده‌های موجود در فریم اترنت ممکن است فقط داده‌های خام باشند، اما معمولاً با پروتکل دیگری مانند پروتکل اینترنت</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)مرتبط هستند که به نوبه خود ممکن است پروتکل‌های بیشتری مانند </a:t>
            </a:r>
            <a:r>
              <a:rPr lang="en-US" dirty="0">
                <a:latin typeface="IRANSansWeb" panose="020B0506030804020204" pitchFamily="34" charset="-78"/>
                <a:cs typeface="IRANSansWeb" panose="020B0506030804020204" pitchFamily="34" charset="-78"/>
              </a:rPr>
              <a:t>UDP</a:t>
            </a:r>
            <a:r>
              <a:rPr lang="fa-IR" dirty="0">
                <a:latin typeface="IRANSansWeb" panose="020B0506030804020204" pitchFamily="34" charset="-78"/>
                <a:cs typeface="IRANSansWeb" panose="020B0506030804020204" pitchFamily="34" charset="-78"/>
              </a:rPr>
              <a:t> </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یا </a:t>
            </a:r>
            <a:r>
              <a:rPr lang="en-US" dirty="0">
                <a:latin typeface="IRANSansWeb" panose="020B0506030804020204" pitchFamily="34" charset="-78"/>
                <a:cs typeface="IRANSansWeb" panose="020B0506030804020204" pitchFamily="34" charset="-78"/>
              </a:rPr>
              <a:t>TCP </a:t>
            </a:r>
            <a:r>
              <a:rPr lang="fa-IR" dirty="0">
                <a:latin typeface="IRANSansWeb" panose="020B0506030804020204" pitchFamily="34" charset="-78"/>
                <a:cs typeface="IRANSansWeb" panose="020B0506030804020204" pitchFamily="34" charset="-78"/>
              </a:rPr>
              <a:t>را حمل کند.</a:t>
            </a:r>
          </a:p>
          <a:p>
            <a:pPr algn="r" rtl="1">
              <a:lnSpc>
                <a:spcPct val="170000"/>
              </a:lnSpc>
            </a:pPr>
            <a:endParaRPr lang="fa-IR" dirty="0">
              <a:latin typeface="IRANSansWeb" panose="020B0506030804020204" pitchFamily="34" charset="-78"/>
              <a:cs typeface="IRANSansWeb" panose="020B0506030804020204" pitchFamily="34" charset="-78"/>
            </a:endParaRPr>
          </a:p>
          <a:p>
            <a:pPr algn="r" rtl="1">
              <a:lnSpc>
                <a:spcPct val="170000"/>
              </a:lnSpc>
            </a:pPr>
            <a:r>
              <a:rPr lang="fa-IR" dirty="0">
                <a:latin typeface="IRANSansWeb" panose="020B0506030804020204" pitchFamily="34" charset="-78"/>
                <a:cs typeface="IRANSansWeb" panose="020B0506030804020204" pitchFamily="34" charset="-78"/>
              </a:rPr>
              <a:t>گره‌های مختلف در یک شبکه اترنت یکسان توسط آدرس </a:t>
            </a:r>
            <a:r>
              <a:rPr lang="en-US" dirty="0">
                <a:latin typeface="IRANSansWeb" panose="020B0506030804020204" pitchFamily="34" charset="-78"/>
                <a:cs typeface="IRANSansWeb" panose="020B0506030804020204" pitchFamily="34" charset="-78"/>
              </a:rPr>
              <a:t>MAC</a:t>
            </a:r>
            <a:r>
              <a:rPr lang="fa-IR" dirty="0">
                <a:latin typeface="IRANSansWeb" panose="020B0506030804020204" pitchFamily="34" charset="-78"/>
                <a:cs typeface="IRANSansWeb" panose="020B0506030804020204" pitchFamily="34" charset="-78"/>
              </a:rPr>
              <a:t> </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خود (آدرس سخت‌افزاری) شناسایی می‌شوند. آدرس‌های </a:t>
            </a:r>
            <a:r>
              <a:rPr lang="en-US" dirty="0">
                <a:latin typeface="IRANSansWeb" panose="020B0506030804020204" pitchFamily="34" charset="-78"/>
                <a:cs typeface="IRANSansWeb" panose="020B0506030804020204" pitchFamily="34" charset="-78"/>
              </a:rPr>
              <a:t>MAC </a:t>
            </a:r>
            <a:r>
              <a:rPr lang="fa-IR" dirty="0">
                <a:latin typeface="IRANSansWeb" panose="020B0506030804020204" pitchFamily="34" charset="-78"/>
                <a:cs typeface="IRANSansWeb" panose="020B0506030804020204" pitchFamily="34" charset="-78"/>
              </a:rPr>
              <a:t>معمولاً به صورت ۶ اکتت (مقادیر ۸ بیتی) که با علامت دونقطه از هم جدا شده‌اند، نوشته می‌شوند. به عنوان مثال ۰۰:۱۲:۳۴:۵۶:۷۸:۹۰. هر گره در یک شبکه اترنت محلی باید یک آدرس </a:t>
            </a:r>
            <a:r>
              <a:rPr lang="en-US" dirty="0">
                <a:latin typeface="IRANSansWeb" panose="020B0506030804020204" pitchFamily="34" charset="-78"/>
                <a:cs typeface="IRANSansWeb" panose="020B0506030804020204" pitchFamily="34" charset="-78"/>
              </a:rPr>
              <a:t>MAC</a:t>
            </a:r>
            <a:r>
              <a:rPr lang="fa-IR" dirty="0">
                <a:latin typeface="IRANSansWeb" panose="020B0506030804020204" pitchFamily="34" charset="-78"/>
                <a:cs typeface="IRANSansWeb" panose="020B0506030804020204" pitchFamily="34" charset="-78"/>
              </a:rPr>
              <a:t> </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منحصر به فرد داشته باشد.</a:t>
            </a:r>
          </a:p>
          <a:p>
            <a:pPr algn="r" rtl="1"/>
            <a:endParaRPr lang="en-US" dirty="0"/>
          </a:p>
          <a:p>
            <a:pPr algn="r" rtl="1">
              <a:lnSpc>
                <a:spcPct val="170000"/>
              </a:lnSpc>
            </a:pPr>
            <a:r>
              <a:rPr lang="fa-IR" dirty="0">
                <a:latin typeface="IRANSansWeb" panose="020B0506030804020204" pitchFamily="34" charset="-78"/>
                <a:cs typeface="IRANSansWeb" panose="020B0506030804020204" pitchFamily="34" charset="-78"/>
              </a:rPr>
              <a:t>آدرس‌های </a:t>
            </a:r>
            <a:r>
              <a:rPr lang="en-US" dirty="0">
                <a:latin typeface="IRANSansWeb" panose="020B0506030804020204" pitchFamily="34" charset="-78"/>
                <a:cs typeface="IRANSansWeb" panose="020B0506030804020204" pitchFamily="34" charset="-78"/>
              </a:rPr>
              <a:t>IP</a:t>
            </a:r>
            <a:r>
              <a:rPr lang="fa-IR" dirty="0">
                <a:latin typeface="IRANSansWeb" panose="020B0506030804020204" pitchFamily="34" charset="-78"/>
                <a:cs typeface="IRANSansWeb" panose="020B0506030804020204" pitchFamily="34" charset="-78"/>
              </a:rPr>
              <a:t> </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برای شناسایی منحصر به فرد هر میزبان (که به عنوان گره شبکه نیز شناخته می‌شود) در یک شبکه پروتکل کنترل انتقال/پروتکل اینترنت (</a:t>
            </a:r>
            <a:r>
              <a:rPr lang="en-US" dirty="0">
                <a:latin typeface="IRANSansWeb" panose="020B0506030804020204" pitchFamily="34" charset="-78"/>
                <a:cs typeface="IRANSansWeb" panose="020B0506030804020204" pitchFamily="34" charset="-78"/>
              </a:rPr>
              <a:t>TCP/IP</a:t>
            </a:r>
            <a:r>
              <a:rPr lang="fa-IR" dirty="0">
                <a:latin typeface="IRANSansWeb" panose="020B0506030804020204" pitchFamily="34" charset="-78"/>
                <a:cs typeface="IRANSansWeb" panose="020B0506030804020204" pitchFamily="34" charset="-78"/>
              </a:rPr>
              <a:t>)</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استفاده می‌شوند. آن‌ها آدرس‌های مجازی هستند که توسط روترها</a:t>
            </a:r>
            <a:r>
              <a:rPr lang="en-US" dirty="0">
                <a:latin typeface="IRANSansWeb" panose="020B0506030804020204" pitchFamily="34" charset="-78"/>
                <a:cs typeface="IRANSansWeb" panose="020B0506030804020204" pitchFamily="34" charset="-78"/>
              </a:rPr>
              <a:t> (DHCP)</a:t>
            </a:r>
            <a:r>
              <a:rPr lang="fa-IR" dirty="0">
                <a:latin typeface="IRANSansWeb" panose="020B0506030804020204" pitchFamily="34" charset="-78"/>
                <a:cs typeface="IRANSansWeb" panose="020B0506030804020204" pitchFamily="34" charset="-78"/>
              </a:rPr>
              <a:t> و یا به صورت دستی </a:t>
            </a:r>
            <a:r>
              <a:rPr lang="en-US" dirty="0">
                <a:latin typeface="IRANSansWeb" panose="020B0506030804020204" pitchFamily="34" charset="-78"/>
                <a:cs typeface="IRANSansWeb" panose="020B0506030804020204" pitchFamily="34" charset="-78"/>
              </a:rPr>
              <a:t> (Static)</a:t>
            </a:r>
            <a:r>
              <a:rPr lang="fa-IR" dirty="0">
                <a:latin typeface="IRANSansWeb" panose="020B0506030804020204" pitchFamily="34" charset="-78"/>
                <a:cs typeface="IRANSansWeb" panose="020B0506030804020204" pitchFamily="34" charset="-78"/>
              </a:rPr>
              <a:t>اختصاص داده می‌شوند. هر یک از چهار فیلد ۸ بیتی با یک عدد اعشاری از ۰ تا ۲۵۵ نمایش داده می‌شوند. مانند :  192.168.10.1</a:t>
            </a:r>
            <a:endParaRPr lang="en-US" dirty="0"/>
          </a:p>
        </p:txBody>
      </p:sp>
    </p:spTree>
    <p:extLst>
      <p:ext uri="{BB962C8B-B14F-4D97-AF65-F5344CB8AC3E}">
        <p14:creationId xmlns:p14="http://schemas.microsoft.com/office/powerpoint/2010/main" val="30159883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35751-6A62-9627-DE39-07477D25D9C4}"/>
              </a:ext>
            </a:extLst>
          </p:cNvPr>
          <p:cNvSpPr>
            <a:spLocks noGrp="1"/>
          </p:cNvSpPr>
          <p:nvPr>
            <p:ph type="title"/>
          </p:nvPr>
        </p:nvSpPr>
        <p:spPr/>
        <p:txBody>
          <a:bodyPr/>
          <a:lstStyle/>
          <a:p>
            <a:r>
              <a:rPr lang="en-US" dirty="0"/>
              <a:t>Frames</a:t>
            </a:r>
          </a:p>
        </p:txBody>
      </p:sp>
      <p:pic>
        <p:nvPicPr>
          <p:cNvPr id="4" name="Content Placeholder 3">
            <a:extLst>
              <a:ext uri="{FF2B5EF4-FFF2-40B4-BE49-F238E27FC236}">
                <a16:creationId xmlns:a16="http://schemas.microsoft.com/office/drawing/2014/main" id="{D4048BE9-5608-C4B4-5F4A-F55905DA1F71}"/>
              </a:ext>
            </a:extLst>
          </p:cNvPr>
          <p:cNvPicPr>
            <a:picLocks noGrp="1" noChangeAspect="1"/>
          </p:cNvPicPr>
          <p:nvPr>
            <p:ph idx="1"/>
          </p:nvPr>
        </p:nvPicPr>
        <p:blipFill>
          <a:blip r:embed="rId2"/>
          <a:stretch>
            <a:fillRect/>
          </a:stretch>
        </p:blipFill>
        <p:spPr>
          <a:xfrm>
            <a:off x="457200" y="2844278"/>
            <a:ext cx="8229600" cy="1459468"/>
          </a:xfrm>
          <a:prstGeom prst="rect">
            <a:avLst/>
          </a:prstGeom>
        </p:spPr>
      </p:pic>
    </p:spTree>
    <p:extLst>
      <p:ext uri="{BB962C8B-B14F-4D97-AF65-F5344CB8AC3E}">
        <p14:creationId xmlns:p14="http://schemas.microsoft.com/office/powerpoint/2010/main" val="35502565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E8574-E3EB-40F1-E29E-C1C318B0A142}"/>
              </a:ext>
            </a:extLst>
          </p:cNvPr>
          <p:cNvSpPr>
            <a:spLocks noGrp="1"/>
          </p:cNvSpPr>
          <p:nvPr>
            <p:ph type="title"/>
          </p:nvPr>
        </p:nvSpPr>
        <p:spPr>
          <a:xfrm>
            <a:off x="457200" y="274638"/>
            <a:ext cx="8229600" cy="772624"/>
          </a:xfrm>
        </p:spPr>
        <p:txBody>
          <a:bodyPr/>
          <a:lstStyle/>
          <a:p>
            <a:r>
              <a:rPr lang="en-US" dirty="0"/>
              <a:t>Frames</a:t>
            </a:r>
          </a:p>
        </p:txBody>
      </p:sp>
      <p:sp>
        <p:nvSpPr>
          <p:cNvPr id="3" name="Content Placeholder 2">
            <a:extLst>
              <a:ext uri="{FF2B5EF4-FFF2-40B4-BE49-F238E27FC236}">
                <a16:creationId xmlns:a16="http://schemas.microsoft.com/office/drawing/2014/main" id="{7B958F52-F035-42DB-2F68-6190C2AC4A8B}"/>
              </a:ext>
            </a:extLst>
          </p:cNvPr>
          <p:cNvSpPr>
            <a:spLocks noGrp="1"/>
          </p:cNvSpPr>
          <p:nvPr>
            <p:ph idx="1"/>
          </p:nvPr>
        </p:nvSpPr>
        <p:spPr>
          <a:xfrm>
            <a:off x="257908" y="1273908"/>
            <a:ext cx="8612554" cy="4852255"/>
          </a:xfrm>
        </p:spPr>
        <p:txBody>
          <a:bodyPr>
            <a:normAutofit lnSpcReduction="10000"/>
          </a:bodyPr>
          <a:lstStyle/>
          <a:p>
            <a:pPr marL="0" indent="0">
              <a:lnSpc>
                <a:spcPct val="170000"/>
              </a:lnSpc>
              <a:buNone/>
            </a:pPr>
            <a:r>
              <a:rPr lang="en-US" sz="1400" b="1" dirty="0"/>
              <a:t>Bits flowing across the Ethernet are grouped into structures called frames. A frame must be between 46</a:t>
            </a:r>
            <a:r>
              <a:rPr lang="fa-IR" sz="1400" b="1" dirty="0"/>
              <a:t> </a:t>
            </a:r>
            <a:r>
              <a:rPr lang="en-US" sz="1400" b="1" dirty="0"/>
              <a:t>and 1500 bytes in size. An Ethernet frame has four parts:</a:t>
            </a:r>
          </a:p>
          <a:p>
            <a:pPr marL="0" indent="0">
              <a:lnSpc>
                <a:spcPct val="170000"/>
              </a:lnSpc>
              <a:buNone/>
            </a:pPr>
            <a:r>
              <a:rPr lang="en-US" sz="1400" b="1" dirty="0"/>
              <a:t>1. A Preamble of 8 bytes that helps synchronize the circuitry, thus allowing small bit rate differences</a:t>
            </a:r>
            <a:r>
              <a:rPr lang="fa-IR" sz="1400" b="1" dirty="0"/>
              <a:t> </a:t>
            </a:r>
            <a:r>
              <a:rPr lang="en-US" sz="1400" b="1" dirty="0"/>
              <a:t>between sender and receiver.</a:t>
            </a:r>
          </a:p>
          <a:p>
            <a:pPr marL="0" indent="0">
              <a:lnSpc>
                <a:spcPct val="170000"/>
              </a:lnSpc>
              <a:buNone/>
            </a:pPr>
            <a:r>
              <a:rPr lang="en-US" sz="1400" b="1" dirty="0"/>
              <a:t>2. A Header of 14 bytes that contains a 6 byte destination address, 6 byte source address and a 2 byte type</a:t>
            </a:r>
            <a:r>
              <a:rPr lang="fa-IR" sz="1400" b="1" dirty="0"/>
              <a:t> </a:t>
            </a:r>
            <a:r>
              <a:rPr lang="en-US" sz="1400" b="1" dirty="0"/>
              <a:t>field.</a:t>
            </a:r>
          </a:p>
          <a:p>
            <a:pPr marL="0" indent="0">
              <a:lnSpc>
                <a:spcPct val="170000"/>
              </a:lnSpc>
              <a:buNone/>
            </a:pPr>
            <a:r>
              <a:rPr lang="en-US" sz="1400" b="1" dirty="0"/>
              <a:t>3. A Data area of variable length that, along with the header, is passed to the IP layer (aka. the Network</a:t>
            </a:r>
            <a:r>
              <a:rPr lang="fa-IR" sz="1400" b="1" dirty="0"/>
              <a:t> </a:t>
            </a:r>
            <a:r>
              <a:rPr lang="en-US" sz="1400" b="1" dirty="0"/>
              <a:t>layer).</a:t>
            </a:r>
          </a:p>
          <a:p>
            <a:pPr marL="0" indent="0">
              <a:lnSpc>
                <a:spcPct val="170000"/>
              </a:lnSpc>
              <a:buNone/>
            </a:pPr>
            <a:r>
              <a:rPr lang="en-US" sz="1400" b="1" dirty="0"/>
              <a:t>4. A Trailer of 4 bytes that contains a CRC to guard against corrupted frames.</a:t>
            </a:r>
          </a:p>
          <a:p>
            <a:pPr marL="0" indent="0">
              <a:lnSpc>
                <a:spcPct val="170000"/>
              </a:lnSpc>
              <a:buNone/>
            </a:pPr>
            <a:r>
              <a:rPr lang="en-US" sz="1400" b="1" dirty="0"/>
              <a:t>If the destination address is all 1 bits, it defines a broadcast frame and all systems on the local network</a:t>
            </a:r>
          </a:p>
          <a:p>
            <a:pPr marL="0" indent="0">
              <a:lnSpc>
                <a:spcPct val="170000"/>
              </a:lnSpc>
              <a:buNone/>
            </a:pPr>
            <a:r>
              <a:rPr lang="en-US" sz="1400" b="1" dirty="0"/>
              <a:t>process the frame. There are also multicast frames. A subset of systems can form a “multicast” group that</a:t>
            </a:r>
            <a:r>
              <a:rPr lang="fa-IR" sz="1400" b="1" dirty="0"/>
              <a:t> </a:t>
            </a:r>
            <a:r>
              <a:rPr lang="en-US" sz="1400" b="1" dirty="0"/>
              <a:t>has an address that does not match any other system on the network. All systems in a particular subset process a packet with a destination address that matches their subset. A system can belong to any number of</a:t>
            </a:r>
            <a:r>
              <a:rPr lang="fa-IR" sz="1400" b="1" dirty="0"/>
              <a:t> </a:t>
            </a:r>
            <a:r>
              <a:rPr lang="en-US" sz="1400" b="1" dirty="0"/>
              <a:t>subsets.</a:t>
            </a:r>
          </a:p>
          <a:p>
            <a:pPr marL="0" indent="0">
              <a:lnSpc>
                <a:spcPct val="170000"/>
              </a:lnSpc>
              <a:buNone/>
            </a:pPr>
            <a:r>
              <a:rPr lang="en-US" sz="1400" b="1" dirty="0"/>
              <a:t>A system may put its interface(s) into promiscuous mode and process all frames sent across its Ethernet.</a:t>
            </a:r>
          </a:p>
          <a:p>
            <a:pPr marL="0" indent="0">
              <a:lnSpc>
                <a:spcPct val="170000"/>
              </a:lnSpc>
              <a:buNone/>
            </a:pPr>
            <a:r>
              <a:rPr lang="en-US" sz="1400" b="1" dirty="0"/>
              <a:t>This is known as "sniffing the ether." It is used for network debugging and spying</a:t>
            </a:r>
          </a:p>
        </p:txBody>
      </p:sp>
    </p:spTree>
    <p:extLst>
      <p:ext uri="{BB962C8B-B14F-4D97-AF65-F5344CB8AC3E}">
        <p14:creationId xmlns:p14="http://schemas.microsoft.com/office/powerpoint/2010/main" val="38488971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432FB-A2A8-BF9B-9E56-61B4F965EC4F}"/>
              </a:ext>
            </a:extLst>
          </p:cNvPr>
          <p:cNvSpPr>
            <a:spLocks noGrp="1"/>
          </p:cNvSpPr>
          <p:nvPr>
            <p:ph type="title"/>
          </p:nvPr>
        </p:nvSpPr>
        <p:spPr/>
        <p:txBody>
          <a:bodyPr/>
          <a:lstStyle/>
          <a:p>
            <a:r>
              <a:rPr lang="en-US" dirty="0"/>
              <a:t>NETWORKS</a:t>
            </a:r>
          </a:p>
        </p:txBody>
      </p:sp>
      <p:sp>
        <p:nvSpPr>
          <p:cNvPr id="3" name="Content Placeholder 2">
            <a:extLst>
              <a:ext uri="{FF2B5EF4-FFF2-40B4-BE49-F238E27FC236}">
                <a16:creationId xmlns:a16="http://schemas.microsoft.com/office/drawing/2014/main" id="{146BE7FC-FB76-5859-B36C-A6AAFC1EA452}"/>
              </a:ext>
            </a:extLst>
          </p:cNvPr>
          <p:cNvSpPr>
            <a:spLocks noGrp="1"/>
          </p:cNvSpPr>
          <p:nvPr>
            <p:ph idx="1"/>
          </p:nvPr>
        </p:nvSpPr>
        <p:spPr/>
        <p:txBody>
          <a:bodyPr>
            <a:normAutofit fontScale="77500" lnSpcReduction="20000"/>
          </a:bodyPr>
          <a:lstStyle/>
          <a:p>
            <a:r>
              <a:rPr lang="en-US" dirty="0"/>
              <a:t>A network is a system of hardware and software, put together for the purpose of communication and</a:t>
            </a:r>
          </a:p>
          <a:p>
            <a:r>
              <a:rPr lang="en-US" dirty="0"/>
              <a:t>resource sharing. A network includes transmission hardware, devices to interconnect transmission media</a:t>
            </a:r>
          </a:p>
          <a:p>
            <a:r>
              <a:rPr lang="en-US" dirty="0"/>
              <a:t>and to control transmissions, and software to decode and format data, as well as to detect and correct problems.</a:t>
            </a:r>
          </a:p>
          <a:p>
            <a:r>
              <a:rPr lang="en-US" dirty="0"/>
              <a:t>There are several types of networks in use today. This chapter will focus on three of them:</a:t>
            </a:r>
          </a:p>
          <a:p>
            <a:r>
              <a:rPr lang="en-US" dirty="0"/>
              <a:t>• LAN - Local Area Network</a:t>
            </a:r>
          </a:p>
          <a:p>
            <a:r>
              <a:rPr lang="en-US" dirty="0"/>
              <a:t>• WAN - Wide Area Network</a:t>
            </a:r>
          </a:p>
          <a:p>
            <a:r>
              <a:rPr lang="en-US" dirty="0"/>
              <a:t>• VPN - Virtual Private Network</a:t>
            </a:r>
          </a:p>
        </p:txBody>
      </p:sp>
    </p:spTree>
    <p:extLst>
      <p:ext uri="{BB962C8B-B14F-4D97-AF65-F5344CB8AC3E}">
        <p14:creationId xmlns:p14="http://schemas.microsoft.com/office/powerpoint/2010/main" val="27050145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AB17F-C41E-1B86-309E-FC629042E7C5}"/>
              </a:ext>
            </a:extLst>
          </p:cNvPr>
          <p:cNvSpPr>
            <a:spLocks noGrp="1"/>
          </p:cNvSpPr>
          <p:nvPr>
            <p:ph type="title"/>
          </p:nvPr>
        </p:nvSpPr>
        <p:spPr/>
        <p:txBody>
          <a:bodyPr>
            <a:normAutofit fontScale="90000"/>
          </a:bodyPr>
          <a:lstStyle/>
          <a:p>
            <a:r>
              <a:rPr lang="en-US" dirty="0"/>
              <a:t>MTU </a:t>
            </a:r>
            <a:r>
              <a:rPr lang="fa-IR" dirty="0"/>
              <a:t>) </a:t>
            </a:r>
            <a:r>
              <a:rPr lang="en-US" dirty="0"/>
              <a:t>Maximum Transmission Unit</a:t>
            </a:r>
            <a:r>
              <a:rPr lang="fa-IR" dirty="0"/>
              <a:t>(</a:t>
            </a:r>
            <a:endParaRPr lang="en-US" dirty="0"/>
          </a:p>
        </p:txBody>
      </p:sp>
      <p:sp>
        <p:nvSpPr>
          <p:cNvPr id="3" name="Content Placeholder 2">
            <a:extLst>
              <a:ext uri="{FF2B5EF4-FFF2-40B4-BE49-F238E27FC236}">
                <a16:creationId xmlns:a16="http://schemas.microsoft.com/office/drawing/2014/main" id="{AA6253E3-2816-23E0-B40B-17A196F9F920}"/>
              </a:ext>
            </a:extLst>
          </p:cNvPr>
          <p:cNvSpPr>
            <a:spLocks noGrp="1"/>
          </p:cNvSpPr>
          <p:nvPr>
            <p:ph idx="1"/>
          </p:nvPr>
        </p:nvSpPr>
        <p:spPr/>
        <p:txBody>
          <a:bodyPr>
            <a:normAutofit fontScale="62500" lnSpcReduction="20000"/>
          </a:bodyPr>
          <a:lstStyle/>
          <a:p>
            <a:pPr algn="r" rtl="1">
              <a:lnSpc>
                <a:spcPct val="170000"/>
              </a:lnSpc>
            </a:pPr>
            <a:r>
              <a:rPr lang="fa-IR" dirty="0">
                <a:latin typeface="IRANSansWeb" panose="020B0506030804020204" pitchFamily="34" charset="-78"/>
                <a:cs typeface="IRANSansWeb" panose="020B0506030804020204" pitchFamily="34" charset="-78"/>
              </a:rPr>
              <a:t>حداکثر واحد انتقال (</a:t>
            </a:r>
            <a:r>
              <a:rPr lang="en-US" dirty="0">
                <a:latin typeface="IRANSansWeb" panose="020B0506030804020204" pitchFamily="34" charset="-78"/>
                <a:cs typeface="IRANSansWeb" panose="020B0506030804020204" pitchFamily="34" charset="-78"/>
              </a:rPr>
              <a:t> (Maximum Transmission Unit</a:t>
            </a:r>
            <a:r>
              <a:rPr lang="fa-IR" dirty="0">
                <a:latin typeface="IRANSansWeb" panose="020B0506030804020204" pitchFamily="34" charset="-78"/>
                <a:cs typeface="IRANSansWeb" panose="020B0506030804020204" pitchFamily="34" charset="-78"/>
              </a:rPr>
              <a:t>به اندازه بزرگ‌ترین پکت داده‌ای گفته می‌شود که یک دستگاه متصل به اینترنت می‌تواند دریافت و یا ارسال کند.</a:t>
            </a:r>
            <a:endParaRPr lang="en-US" dirty="0">
              <a:latin typeface="IRANSansWeb" panose="020B0506030804020204" pitchFamily="34" charset="-78"/>
              <a:cs typeface="IRANSansWeb" panose="020B0506030804020204" pitchFamily="34" charset="-78"/>
            </a:endParaRPr>
          </a:p>
          <a:p>
            <a:pPr algn="r" rtl="1">
              <a:lnSpc>
                <a:spcPct val="170000"/>
              </a:lnSpc>
            </a:pPr>
            <a:r>
              <a:rPr lang="fa-IR" dirty="0">
                <a:latin typeface="IRANSansWeb" panose="020B0506030804020204" pitchFamily="34" charset="-78"/>
                <a:cs typeface="IRANSansWeb" panose="020B0506030804020204" pitchFamily="34" charset="-78"/>
              </a:rPr>
              <a:t>پکت‌هایی که اندازه‌ی آنها بیش از</a:t>
            </a:r>
            <a:r>
              <a:rPr lang="en-US" dirty="0">
                <a:latin typeface="IRANSansWeb" panose="020B0506030804020204" pitchFamily="34" charset="-78"/>
                <a:cs typeface="IRANSansWeb" panose="020B0506030804020204" pitchFamily="34" charset="-78"/>
              </a:rPr>
              <a:t> MTU </a:t>
            </a:r>
            <a:r>
              <a:rPr lang="fa-IR" dirty="0">
                <a:latin typeface="IRANSansWeb" panose="020B0506030804020204" pitchFamily="34" charset="-78"/>
                <a:cs typeface="IRANSansWeb" panose="020B0506030804020204" pitchFamily="34" charset="-78"/>
              </a:rPr>
              <a:t>باشد، به قسمت‌های کوچک‌تر تقسیم شده به طوری که قادر به عبور از شبکه باشند. این فرایند تحت عنوان تکه تکه شدن </a:t>
            </a:r>
            <a:r>
              <a:rPr lang="en-US" dirty="0">
                <a:latin typeface="IRANSansWeb" panose="020B0506030804020204" pitchFamily="34" charset="-78"/>
                <a:cs typeface="IRANSansWeb" panose="020B0506030804020204" pitchFamily="34" charset="-78"/>
              </a:rPr>
              <a:t>(Fragmentation)</a:t>
            </a:r>
            <a:r>
              <a:rPr lang="fa-IR" dirty="0">
                <a:latin typeface="IRANSansWeb" panose="020B0506030804020204" pitchFamily="34" charset="-78"/>
                <a:cs typeface="IRANSansWeb" panose="020B0506030804020204" pitchFamily="34" charset="-78"/>
              </a:rPr>
              <a:t>نامیده می‌شود. پکت‌های قطعه قطعه شده زمانی که به مقصد خود می‌رسند، مجددا به هم متصل می‌شوند.</a:t>
            </a:r>
          </a:p>
          <a:p>
            <a:pPr algn="r" rtl="1">
              <a:lnSpc>
                <a:spcPct val="170000"/>
              </a:lnSpc>
            </a:pPr>
            <a:r>
              <a:rPr lang="fa-IR" dirty="0">
                <a:latin typeface="IRANSansWeb" panose="020B0506030804020204" pitchFamily="34" charset="-78"/>
                <a:cs typeface="IRANSansWeb" panose="020B0506030804020204" pitchFamily="34" charset="-78"/>
              </a:rPr>
              <a:t>واحد اندازه‌گیری </a:t>
            </a:r>
            <a:r>
              <a:rPr lang="en-US" dirty="0">
                <a:latin typeface="IRANSansWeb" panose="020B0506030804020204" pitchFamily="34" charset="-78"/>
                <a:cs typeface="IRANSansWeb" panose="020B0506030804020204" pitchFamily="34" charset="-78"/>
              </a:rPr>
              <a:t>MTU، </a:t>
            </a:r>
            <a:r>
              <a:rPr lang="fa-IR" dirty="0">
                <a:latin typeface="IRANSansWeb" panose="020B0506030804020204" pitchFamily="34" charset="-78"/>
                <a:cs typeface="IRANSansWeb" panose="020B0506030804020204" pitchFamily="34" charset="-78"/>
              </a:rPr>
              <a:t>بایت است. حداکثر اندازه‌ی </a:t>
            </a:r>
            <a:r>
              <a:rPr lang="en-US" dirty="0">
                <a:latin typeface="IRANSansWeb" panose="020B0506030804020204" pitchFamily="34" charset="-78"/>
                <a:cs typeface="IRANSansWeb" panose="020B0506030804020204" pitchFamily="34" charset="-78"/>
              </a:rPr>
              <a:t> MTU</a:t>
            </a:r>
            <a:r>
              <a:rPr lang="fa-IR" dirty="0">
                <a:latin typeface="IRANSansWeb" panose="020B0506030804020204" pitchFamily="34" charset="-78"/>
                <a:cs typeface="IRANSansWeb" panose="020B0506030804020204" pitchFamily="34" charset="-78"/>
              </a:rPr>
              <a:t>برابر با 1500 بایت می‌باشد.</a:t>
            </a:r>
          </a:p>
        </p:txBody>
      </p:sp>
    </p:spTree>
    <p:extLst>
      <p:ext uri="{BB962C8B-B14F-4D97-AF65-F5344CB8AC3E}">
        <p14:creationId xmlns:p14="http://schemas.microsoft.com/office/powerpoint/2010/main" val="22822776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C3EBF-E06F-6710-F579-F7850D733966}"/>
              </a:ext>
            </a:extLst>
          </p:cNvPr>
          <p:cNvSpPr>
            <a:spLocks noGrp="1"/>
          </p:cNvSpPr>
          <p:nvPr>
            <p:ph type="title"/>
          </p:nvPr>
        </p:nvSpPr>
        <p:spPr/>
        <p:txBody>
          <a:bodyPr>
            <a:normAutofit/>
          </a:bodyPr>
          <a:lstStyle/>
          <a:p>
            <a:pPr rtl="1"/>
            <a:r>
              <a:rPr lang="fa-IR" b="1" dirty="0">
                <a:latin typeface="IRANSansWeb" panose="020B0506030804020204" pitchFamily="34" charset="-78"/>
                <a:cs typeface="IRANSansWeb" panose="020B0506030804020204" pitchFamily="34" charset="-78"/>
              </a:rPr>
              <a:t>پروتکل </a:t>
            </a:r>
            <a:r>
              <a:rPr lang="en-US" b="1" dirty="0">
                <a:latin typeface="IRANSansWeb" panose="020B0506030804020204" pitchFamily="34" charset="-78"/>
                <a:cs typeface="IRANSansWeb" panose="020B0506030804020204" pitchFamily="34" charset="-78"/>
              </a:rPr>
              <a:t>IP (Internet Protocol)</a:t>
            </a:r>
            <a:endParaRPr lang="en-US" dirty="0"/>
          </a:p>
        </p:txBody>
      </p:sp>
      <p:sp>
        <p:nvSpPr>
          <p:cNvPr id="3" name="Content Placeholder 2">
            <a:extLst>
              <a:ext uri="{FF2B5EF4-FFF2-40B4-BE49-F238E27FC236}">
                <a16:creationId xmlns:a16="http://schemas.microsoft.com/office/drawing/2014/main" id="{67FA6ADC-EB0E-3B05-9BC8-FCB35FCF186C}"/>
              </a:ext>
            </a:extLst>
          </p:cNvPr>
          <p:cNvSpPr>
            <a:spLocks noGrp="1"/>
          </p:cNvSpPr>
          <p:nvPr>
            <p:ph idx="1"/>
          </p:nvPr>
        </p:nvSpPr>
        <p:spPr/>
        <p:txBody>
          <a:bodyPr>
            <a:normAutofit fontScale="47500" lnSpcReduction="20000"/>
          </a:bodyPr>
          <a:lstStyle/>
          <a:p>
            <a:pPr algn="r" rtl="1">
              <a:lnSpc>
                <a:spcPct val="170000"/>
              </a:lnSpc>
            </a:pPr>
            <a:r>
              <a:rPr lang="fa-IR" dirty="0">
                <a:latin typeface="IRANSansWeb" panose="020B0506030804020204" pitchFamily="34" charset="-78"/>
                <a:cs typeface="IRANSansWeb" panose="020B0506030804020204" pitchFamily="34" charset="-78"/>
              </a:rPr>
              <a:t>پروتکل </a:t>
            </a:r>
            <a:r>
              <a:rPr lang="en-US" dirty="0">
                <a:latin typeface="IRANSansWeb" panose="020B0506030804020204" pitchFamily="34" charset="-78"/>
                <a:cs typeface="IRANSansWeb" panose="020B0506030804020204" pitchFamily="34" charset="-78"/>
              </a:rPr>
              <a:t>IP</a:t>
            </a:r>
            <a:r>
              <a:rPr lang="fa-IR" dirty="0">
                <a:latin typeface="IRANSansWeb" panose="020B0506030804020204" pitchFamily="34" charset="-78"/>
                <a:cs typeface="IRANSansWeb" panose="020B0506030804020204" pitchFamily="34" charset="-78"/>
              </a:rPr>
              <a:t> مهم ­ترین قراردادی (پروتکلی) است که برای مبادله اطلاعات در شبکه ­های اینترنتی وجود دارد. این پروتکل بنیادی­ترین پروتکل شکل‌دهنده اینترنت می­باشد و وظیفه مسیردهی بسته‌های اطلاعاتی، در گذر از مرزهای شبکه­ها را به عهده دارد. پروتکل اینترنت یک پروتکل لایه ­ای است که در نرم‌افزار داخلی استفاده می­شود و در لایه ارتباط </a:t>
            </a:r>
            <a:r>
              <a:rPr lang="en-US" dirty="0">
                <a:latin typeface="IRANSansWeb" panose="020B0506030804020204" pitchFamily="34" charset="-78"/>
                <a:cs typeface="IRANSansWeb" panose="020B0506030804020204" pitchFamily="34" charset="-78"/>
              </a:rPr>
              <a:t>  (Link) </a:t>
            </a:r>
            <a:r>
              <a:rPr lang="fa-IR" dirty="0">
                <a:latin typeface="IRANSansWeb" panose="020B0506030804020204" pitchFamily="34" charset="-78"/>
                <a:cs typeface="IRANSansWeb" panose="020B0506030804020204" pitchFamily="34" charset="-78"/>
              </a:rPr>
              <a:t>قرار می­گیرد.</a:t>
            </a:r>
          </a:p>
          <a:p>
            <a:pPr algn="r" rtl="1">
              <a:lnSpc>
                <a:spcPct val="170000"/>
              </a:lnSpc>
            </a:pPr>
            <a:r>
              <a:rPr lang="fa-IR" dirty="0">
                <a:latin typeface="IRANSansWeb" panose="020B0506030804020204" pitchFamily="34" charset="-78"/>
                <a:cs typeface="IRANSansWeb" panose="020B0506030804020204" pitchFamily="34" charset="-78"/>
              </a:rPr>
              <a:t>پروتکل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 وظیفه دارد بسته ­ها را فقط از طریق آدرس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 موجود در سربرگ ­های بسته از منبع به مقصد تحویل دهد. </a:t>
            </a:r>
            <a:r>
              <a:rPr lang="fa-IR" b="1" dirty="0">
                <a:latin typeface="IRANSansWeb" panose="020B0506030804020204" pitchFamily="34" charset="-78"/>
                <a:cs typeface="IRANSansWeb" panose="020B0506030804020204" pitchFamily="34" charset="-78"/>
              </a:rPr>
              <a:t>پروتکل اینترنت  </a:t>
            </a:r>
            <a:r>
              <a:rPr lang="fa-IR" dirty="0">
                <a:latin typeface="IRANSansWeb" panose="020B0506030804020204" pitchFamily="34" charset="-78"/>
                <a:cs typeface="IRANSansWeb" panose="020B0506030804020204" pitchFamily="34" charset="-78"/>
              </a:rPr>
              <a:t>اهمیتی نمی‌دهد که آیا بسته‌ها به مقصد می‌رسند یا نه. این پروتکل حتی درباره اتصالات و شماره پورت‌ها نیز چیزی نمی‌داند. کار </a:t>
            </a:r>
            <a:r>
              <a:rPr lang="fa-IR" b="1" dirty="0">
                <a:latin typeface="IRANSansWeb" panose="020B0506030804020204" pitchFamily="34" charset="-78"/>
                <a:cs typeface="IRANSansWeb" panose="020B0506030804020204" pitchFamily="34" charset="-78"/>
              </a:rPr>
              <a:t>پروتکل اینترنت</a:t>
            </a:r>
            <a:r>
              <a:rPr lang="fa-IR" dirty="0">
                <a:latin typeface="IRANSansWeb" panose="020B0506030804020204" pitchFamily="34" charset="-78"/>
                <a:cs typeface="IRANSansWeb" panose="020B0506030804020204" pitchFamily="34" charset="-78"/>
              </a:rPr>
              <a:t> ارسال و مسیریابی بسته‌ها به سمت کامپیوتر یا مقصد بعدی است. از نظر </a:t>
            </a:r>
            <a:r>
              <a:rPr lang="fa-IR" b="1" dirty="0">
                <a:latin typeface="IRANSansWeb" panose="020B0506030804020204" pitchFamily="34" charset="-78"/>
                <a:cs typeface="IRANSansWeb" panose="020B0506030804020204" pitchFamily="34" charset="-78"/>
              </a:rPr>
              <a:t>پروتکل اینترنت</a:t>
            </a:r>
            <a:r>
              <a:rPr lang="fa-IR" dirty="0">
                <a:latin typeface="IRANSansWeb" panose="020B0506030804020204" pitchFamily="34" charset="-78"/>
                <a:cs typeface="IRANSansWeb" panose="020B0506030804020204" pitchFamily="34" charset="-78"/>
              </a:rPr>
              <a:t>، بسته‌های </a:t>
            </a:r>
            <a:r>
              <a:rPr lang="en-US" b="1" dirty="0">
                <a:latin typeface="IRANSansWeb" panose="020B0506030804020204" pitchFamily="34" charset="-78"/>
                <a:cs typeface="IRANSansWeb" panose="020B0506030804020204" pitchFamily="34" charset="-78"/>
              </a:rPr>
              <a:t>IP</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 موجودیت‌های مستقلی هستند و لذا ترتیب صحیح این بسته‌ها برایش مهم نیست. پس ممکن است بسته‌ها به ترتیبی که ارسال شده‌اند، به مقصد نرسند. اطمینان‌یافتن از رسیدن بسته‌ها به مقصد و نیز مرتب‌سازی بسته‌ها بر اساس ترتیب صحیحشان، وظیفه پروتکل دیگری است که پروتکل کنترل انتقال یا </a:t>
            </a:r>
            <a:r>
              <a:rPr lang="en-US" dirty="0">
                <a:latin typeface="IRANSansWeb" panose="020B0506030804020204" pitchFamily="34" charset="-78"/>
                <a:cs typeface="IRANSansWeb" panose="020B0506030804020204" pitchFamily="34" charset="-78"/>
              </a:rPr>
              <a:t>TCP</a:t>
            </a:r>
            <a:r>
              <a:rPr lang="fa-IR" dirty="0">
                <a:latin typeface="IRANSansWeb" panose="020B0506030804020204" pitchFamily="34" charset="-78"/>
                <a:cs typeface="IRANSansWeb" panose="020B0506030804020204" pitchFamily="34" charset="-78"/>
              </a:rPr>
              <a:t> </a:t>
            </a:r>
            <a:r>
              <a:rPr lang="en-US" dirty="0">
                <a:latin typeface="IRANSansWeb" panose="020B0506030804020204" pitchFamily="34" charset="-78"/>
                <a:cs typeface="IRANSansWeb" panose="020B0506030804020204" pitchFamily="34" charset="-78"/>
              </a:rPr>
              <a:t>(Transmission Control Protocol) </a:t>
            </a:r>
            <a:r>
              <a:rPr lang="fa-IR" dirty="0">
                <a:latin typeface="IRANSansWeb" panose="020B0506030804020204" pitchFamily="34" charset="-78"/>
                <a:cs typeface="IRANSansWeb" panose="020B0506030804020204" pitchFamily="34" charset="-78"/>
              </a:rPr>
              <a:t> نام دارد.</a:t>
            </a:r>
          </a:p>
          <a:p>
            <a:pPr algn="r" rtl="1">
              <a:lnSpc>
                <a:spcPct val="170000"/>
              </a:lnSpc>
            </a:pPr>
            <a:endParaRPr lang="en-US"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18867707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4FE27-0176-9E0D-0CD9-166F534EBEF9}"/>
              </a:ext>
            </a:extLst>
          </p:cNvPr>
          <p:cNvSpPr>
            <a:spLocks noGrp="1"/>
          </p:cNvSpPr>
          <p:nvPr>
            <p:ph type="title"/>
          </p:nvPr>
        </p:nvSpPr>
        <p:spPr/>
        <p:txBody>
          <a:bodyPr>
            <a:normAutofit/>
          </a:bodyPr>
          <a:lstStyle/>
          <a:p>
            <a:r>
              <a:rPr lang="en-US" dirty="0"/>
              <a:t>IP Networking</a:t>
            </a:r>
          </a:p>
        </p:txBody>
      </p:sp>
      <p:sp>
        <p:nvSpPr>
          <p:cNvPr id="7" name="TextBox 6">
            <a:extLst>
              <a:ext uri="{FF2B5EF4-FFF2-40B4-BE49-F238E27FC236}">
                <a16:creationId xmlns:a16="http://schemas.microsoft.com/office/drawing/2014/main" id="{45915730-AD70-9F34-C095-AC45B5FDC568}"/>
              </a:ext>
            </a:extLst>
          </p:cNvPr>
          <p:cNvSpPr txBox="1"/>
          <p:nvPr/>
        </p:nvSpPr>
        <p:spPr>
          <a:xfrm>
            <a:off x="527538" y="1707163"/>
            <a:ext cx="7916985" cy="4455066"/>
          </a:xfrm>
          <a:prstGeom prst="rect">
            <a:avLst/>
          </a:prstGeom>
          <a:noFill/>
        </p:spPr>
        <p:txBody>
          <a:bodyPr wrap="square">
            <a:spAutoFit/>
          </a:bodyPr>
          <a:lstStyle/>
          <a:p>
            <a:pPr algn="r" rtl="1">
              <a:lnSpc>
                <a:spcPct val="200000"/>
              </a:lnSpc>
            </a:pPr>
            <a:r>
              <a:rPr lang="fa-IR" dirty="0">
                <a:latin typeface="IRANSansWeb" panose="020B0506030804020204" pitchFamily="34" charset="-78"/>
                <a:cs typeface="IRANSansWeb" panose="020B0506030804020204" pitchFamily="34" charset="-78"/>
              </a:rPr>
              <a:t>پروتکل </a:t>
            </a:r>
            <a:r>
              <a:rPr lang="en-US" dirty="0">
                <a:latin typeface="IRANSansWeb" panose="020B0506030804020204" pitchFamily="34" charset="-78"/>
                <a:cs typeface="IRANSansWeb" panose="020B0506030804020204" pitchFamily="34" charset="-78"/>
              </a:rPr>
              <a:t>IPv4  </a:t>
            </a:r>
            <a:r>
              <a:rPr lang="fa-IR" dirty="0">
                <a:latin typeface="IRANSansWeb" panose="020B0506030804020204" pitchFamily="34" charset="-78"/>
                <a:cs typeface="IRANSansWeb" panose="020B0506030804020204" pitchFamily="34" charset="-78"/>
              </a:rPr>
              <a:t> از یک آدرس 32 بیتی , به صورت چهار عدد , یک بایتی که بین هر عدد یک نقطه وجود دارد: </a:t>
            </a:r>
            <a:r>
              <a:rPr lang="en-US" dirty="0">
                <a:latin typeface="IRANSansWeb" panose="020B0506030804020204" pitchFamily="34" charset="-78"/>
                <a:cs typeface="IRANSansWeb" panose="020B0506030804020204" pitchFamily="34" charset="-78"/>
              </a:rPr>
              <a:t>X . X . X . X) </a:t>
            </a:r>
            <a:r>
              <a:rPr lang="fa-IR" dirty="0">
                <a:latin typeface="IRANSansWeb" panose="020B0506030804020204" pitchFamily="34" charset="-78"/>
                <a:cs typeface="IRANSansWeb" panose="020B0506030804020204" pitchFamily="34" charset="-78"/>
              </a:rPr>
              <a:t>) برای آدرس‌های اینترنتی خود استفاده می‌کند. این بدان معناست که می‌تواند 2 به توان 32 آدرس را که بیش از 4 میلیارد آدرس می‌شود را ذخیره کند. تا به امروز، به عنوان پروتکل اصلی اینترنت در نظر گرفته شده است و 94% ترافیک را به خود اختصاص داده است. </a:t>
            </a:r>
          </a:p>
          <a:p>
            <a:pPr algn="r" rtl="1">
              <a:lnSpc>
                <a:spcPct val="200000"/>
              </a:lnSpc>
            </a:pPr>
            <a:r>
              <a:rPr lang="fa-IR" dirty="0">
                <a:latin typeface="IRANSansWeb" panose="020B0506030804020204" pitchFamily="34" charset="-78"/>
                <a:cs typeface="IRANSansWeb" panose="020B0506030804020204" pitchFamily="34" charset="-78"/>
              </a:rPr>
              <a:t>این مجموعه‌ چهار عددی که هر کدام با یک نقطه از سایر بخش‌ها جدا می‌گردند اصطلاحاً</a:t>
            </a:r>
            <a:r>
              <a:rPr lang="en-US" dirty="0">
                <a:latin typeface="IRANSansWeb" panose="020B0506030804020204" pitchFamily="34" charset="-78"/>
                <a:cs typeface="IRANSansWeb" panose="020B0506030804020204" pitchFamily="34" charset="-78"/>
              </a:rPr>
              <a:t>dotted decimal format </a:t>
            </a:r>
            <a:r>
              <a:rPr lang="fa-IR" dirty="0">
                <a:latin typeface="IRANSansWeb" panose="020B0506030804020204" pitchFamily="34" charset="-78"/>
                <a:cs typeface="IRANSansWeb" panose="020B0506030804020204" pitchFamily="34" charset="-78"/>
              </a:rPr>
              <a:t> به معنی “فرمت اعشاری نقطه‌دار” گفته می‌شود.</a:t>
            </a:r>
          </a:p>
          <a:p>
            <a:pPr algn="r" rtl="1">
              <a:lnSpc>
                <a:spcPct val="200000"/>
              </a:lnSpc>
            </a:pPr>
            <a:r>
              <a:rPr lang="fa-IR" dirty="0">
                <a:latin typeface="IRANSansWeb" panose="020B0506030804020204" pitchFamily="34" charset="-78"/>
                <a:cs typeface="IRANSansWeb" panose="020B0506030804020204" pitchFamily="34" charset="-78"/>
              </a:rPr>
              <a:t>هر مجموعه، یک “</a:t>
            </a:r>
            <a:r>
              <a:rPr lang="en-US" dirty="0">
                <a:latin typeface="IRANSansWeb" panose="020B0506030804020204" pitchFamily="34" charset="-78"/>
                <a:cs typeface="IRANSansWeb" panose="020B0506030804020204" pitchFamily="34" charset="-78"/>
              </a:rPr>
              <a:t>octet” </a:t>
            </a:r>
            <a:r>
              <a:rPr lang="fa-IR" dirty="0">
                <a:latin typeface="IRANSansWeb" panose="020B0506030804020204" pitchFamily="34" charset="-78"/>
                <a:cs typeface="IRANSansWeb" panose="020B0506030804020204" pitchFamily="34" charset="-78"/>
              </a:rPr>
              <a:t> یا “هشتایی” است و متشکل از 8 بیت (یک بایت) می‌باشد.</a:t>
            </a:r>
            <a:endParaRPr lang="en-US"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36858814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107AF-297A-5180-CDCD-8D66F38B93A8}"/>
              </a:ext>
            </a:extLst>
          </p:cNvPr>
          <p:cNvSpPr>
            <a:spLocks noGrp="1"/>
          </p:cNvSpPr>
          <p:nvPr>
            <p:ph type="title"/>
          </p:nvPr>
        </p:nvSpPr>
        <p:spPr/>
        <p:txBody>
          <a:bodyPr/>
          <a:lstStyle/>
          <a:p>
            <a:r>
              <a:rPr lang="fa-IR" dirty="0">
                <a:latin typeface="IRANSansWeb" panose="020B0506030804020204" pitchFamily="34" charset="-78"/>
                <a:cs typeface="IRANSansWeb" panose="020B0506030804020204" pitchFamily="34" charset="-78"/>
              </a:rPr>
              <a:t>کلاس های مختلف آی پی</a:t>
            </a:r>
            <a:endParaRPr lang="en-US" dirty="0">
              <a:latin typeface="IRANSansWeb" panose="020B0506030804020204" pitchFamily="34" charset="-78"/>
              <a:cs typeface="IRANSansWeb" panose="020B0506030804020204" pitchFamily="34" charset="-78"/>
            </a:endParaRPr>
          </a:p>
        </p:txBody>
      </p:sp>
      <p:pic>
        <p:nvPicPr>
          <p:cNvPr id="5" name="Content Placeholder 4">
            <a:extLst>
              <a:ext uri="{FF2B5EF4-FFF2-40B4-BE49-F238E27FC236}">
                <a16:creationId xmlns:a16="http://schemas.microsoft.com/office/drawing/2014/main" id="{85250F36-1BF4-4A4C-75CF-772F25190393}"/>
              </a:ext>
            </a:extLst>
          </p:cNvPr>
          <p:cNvPicPr>
            <a:picLocks noGrp="1" noChangeAspect="1"/>
          </p:cNvPicPr>
          <p:nvPr>
            <p:ph idx="1"/>
          </p:nvPr>
        </p:nvPicPr>
        <p:blipFill>
          <a:blip r:embed="rId2"/>
          <a:stretch>
            <a:fillRect/>
          </a:stretch>
        </p:blipFill>
        <p:spPr>
          <a:xfrm>
            <a:off x="1988282" y="1594218"/>
            <a:ext cx="4553195" cy="3084108"/>
          </a:xfrm>
          <a:prstGeom prst="rect">
            <a:avLst/>
          </a:prstGeom>
        </p:spPr>
      </p:pic>
      <p:pic>
        <p:nvPicPr>
          <p:cNvPr id="7" name="Picture 6">
            <a:extLst>
              <a:ext uri="{FF2B5EF4-FFF2-40B4-BE49-F238E27FC236}">
                <a16:creationId xmlns:a16="http://schemas.microsoft.com/office/drawing/2014/main" id="{548F49A8-3C26-FAA9-F76F-E72B6C63055D}"/>
              </a:ext>
            </a:extLst>
          </p:cNvPr>
          <p:cNvPicPr>
            <a:picLocks noChangeAspect="1"/>
          </p:cNvPicPr>
          <p:nvPr/>
        </p:nvPicPr>
        <p:blipFill>
          <a:blip r:embed="rId3"/>
          <a:stretch>
            <a:fillRect/>
          </a:stretch>
        </p:blipFill>
        <p:spPr>
          <a:xfrm>
            <a:off x="1540352" y="4854906"/>
            <a:ext cx="5925377" cy="1914792"/>
          </a:xfrm>
          <a:prstGeom prst="rect">
            <a:avLst/>
          </a:prstGeom>
        </p:spPr>
      </p:pic>
    </p:spTree>
    <p:extLst>
      <p:ext uri="{BB962C8B-B14F-4D97-AF65-F5344CB8AC3E}">
        <p14:creationId xmlns:p14="http://schemas.microsoft.com/office/powerpoint/2010/main" val="12993701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2B8D5-CAC6-C761-2F70-A524C0714528}"/>
              </a:ext>
            </a:extLst>
          </p:cNvPr>
          <p:cNvSpPr>
            <a:spLocks noGrp="1"/>
          </p:cNvSpPr>
          <p:nvPr>
            <p:ph type="title"/>
          </p:nvPr>
        </p:nvSpPr>
        <p:spPr/>
        <p:txBody>
          <a:bodyPr>
            <a:normAutofit/>
          </a:bodyPr>
          <a:lstStyle/>
          <a:p>
            <a:pPr rtl="1"/>
            <a:r>
              <a:rPr lang="fa-IR" b="1" dirty="0">
                <a:latin typeface="IRANSansWeb" panose="020B0506030804020204" pitchFamily="34" charset="-78"/>
                <a:cs typeface="IRANSansWeb" panose="020B0506030804020204" pitchFamily="34" charset="-78"/>
              </a:rPr>
              <a:t>محدوده های رزرو شده خصوصی</a:t>
            </a:r>
            <a:endParaRPr lang="en-US" dirty="0">
              <a:latin typeface="IRANSansWeb" panose="020B0506030804020204" pitchFamily="34" charset="-78"/>
              <a:cs typeface="IRANSansWeb" panose="020B0506030804020204" pitchFamily="34" charset="-78"/>
            </a:endParaRPr>
          </a:p>
        </p:txBody>
      </p:sp>
      <p:sp>
        <p:nvSpPr>
          <p:cNvPr id="3" name="Content Placeholder 2">
            <a:extLst>
              <a:ext uri="{FF2B5EF4-FFF2-40B4-BE49-F238E27FC236}">
                <a16:creationId xmlns:a16="http://schemas.microsoft.com/office/drawing/2014/main" id="{CB69ED77-07B5-D2B7-F955-FE5B5D4B47BF}"/>
              </a:ext>
            </a:extLst>
          </p:cNvPr>
          <p:cNvSpPr>
            <a:spLocks noGrp="1"/>
          </p:cNvSpPr>
          <p:nvPr>
            <p:ph idx="1"/>
          </p:nvPr>
        </p:nvSpPr>
        <p:spPr/>
        <p:txBody>
          <a:bodyPr>
            <a:normAutofit fontScale="40000" lnSpcReduction="20000"/>
          </a:bodyPr>
          <a:lstStyle/>
          <a:p>
            <a:pPr algn="r" rtl="1">
              <a:lnSpc>
                <a:spcPct val="170000"/>
              </a:lnSpc>
            </a:pPr>
            <a:r>
              <a:rPr lang="fa-IR" dirty="0">
                <a:latin typeface="IRANSansWeb" panose="020B0506030804020204" pitchFamily="34" charset="-78"/>
                <a:cs typeface="IRANSansWeb" panose="020B0506030804020204" pitchFamily="34" charset="-78"/>
              </a:rPr>
              <a:t>در فضای آدرس‌دهی </a:t>
            </a:r>
            <a:r>
              <a:rPr lang="en-US" dirty="0">
                <a:latin typeface="IRANSansWeb" panose="020B0506030804020204" pitchFamily="34" charset="-78"/>
                <a:cs typeface="IRANSansWeb" panose="020B0506030804020204" pitchFamily="34" charset="-78"/>
              </a:rPr>
              <a:t>IPv4، </a:t>
            </a:r>
            <a:r>
              <a:rPr lang="fa-IR" dirty="0">
                <a:latin typeface="IRANSansWeb" panose="020B0506030804020204" pitchFamily="34" charset="-78"/>
                <a:cs typeface="IRANSansWeb" panose="020B0506030804020204" pitchFamily="34" charset="-78"/>
              </a:rPr>
              <a:t>بخش‌هایی برای کاربردهای خاص رزرو شده‌اند که یکی از مهم‌ترین آن‌ها، محدوده‌ی لوپ‌بک </a:t>
            </a:r>
            <a:r>
              <a:rPr lang="en-US" dirty="0">
                <a:latin typeface="IRANSansWeb" panose="020B0506030804020204" pitchFamily="34" charset="-78"/>
                <a:cs typeface="IRANSansWeb" panose="020B0506030804020204" pitchFamily="34" charset="-78"/>
              </a:rPr>
              <a:t>Loopback) </a:t>
            </a:r>
            <a:r>
              <a:rPr lang="fa-IR" dirty="0">
                <a:latin typeface="IRANSansWeb" panose="020B0506030804020204" pitchFamily="34" charset="-78"/>
                <a:cs typeface="IRANSansWeb" panose="020B0506030804020204" pitchFamily="34" charset="-78"/>
              </a:rPr>
              <a:t>) است.</a:t>
            </a:r>
          </a:p>
          <a:p>
            <a:pPr algn="r" rtl="1">
              <a:lnSpc>
                <a:spcPct val="170000"/>
              </a:lnSpc>
            </a:pPr>
            <a:r>
              <a:rPr lang="fa-IR" dirty="0">
                <a:latin typeface="IRANSansWeb" panose="020B0506030804020204" pitchFamily="34" charset="-78"/>
                <a:cs typeface="IRANSansWeb" panose="020B0506030804020204" pitchFamily="34" charset="-78"/>
              </a:rPr>
              <a:t> این محدوده شامل آدرس‌هایی از 127.0.0.0 تا 127.255.255.255 می‌شود و برای تست ارتباط شبکه‌ای روی خود سیستم استفاده می‌شود.</a:t>
            </a:r>
          </a:p>
          <a:p>
            <a:pPr algn="r" rtl="1">
              <a:lnSpc>
                <a:spcPct val="170000"/>
              </a:lnSpc>
            </a:pPr>
            <a:r>
              <a:rPr lang="fa-IR" dirty="0">
                <a:latin typeface="IRANSansWeb" panose="020B0506030804020204" pitchFamily="34" charset="-78"/>
                <a:cs typeface="IRANSansWeb" panose="020B0506030804020204" pitchFamily="34" charset="-78"/>
              </a:rPr>
              <a:t> رایج‌ترین آدرس در این محدوده 127.0.0.1 است که به عنوان آدرس لوکال‌ هاست </a:t>
            </a:r>
            <a:r>
              <a:rPr lang="en-US" dirty="0">
                <a:latin typeface="IRANSansWeb" panose="020B0506030804020204" pitchFamily="34" charset="-78"/>
                <a:cs typeface="IRANSansWeb" panose="020B0506030804020204" pitchFamily="34" charset="-78"/>
              </a:rPr>
              <a:t>localhost) </a:t>
            </a:r>
            <a:r>
              <a:rPr lang="fa-IR" dirty="0">
                <a:latin typeface="IRANSansWeb" panose="020B0506030804020204" pitchFamily="34" charset="-78"/>
                <a:cs typeface="IRANSansWeb" panose="020B0506030804020204" pitchFamily="34" charset="-78"/>
              </a:rPr>
              <a:t>) شناخته می‌شود.</a:t>
            </a:r>
          </a:p>
          <a:p>
            <a:pPr algn="r" rtl="1">
              <a:lnSpc>
                <a:spcPct val="170000"/>
              </a:lnSpc>
            </a:pPr>
            <a:r>
              <a:rPr lang="fa-IR" dirty="0">
                <a:latin typeface="IRANSansWeb" panose="020B0506030804020204" pitchFamily="34" charset="-78"/>
                <a:cs typeface="IRANSansWeb" panose="020B0506030804020204" pitchFamily="34" charset="-78"/>
              </a:rPr>
              <a:t>علاوه بر این، هر یک از کلاس‌های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 یعنی کلاس‌های </a:t>
            </a:r>
            <a:r>
              <a:rPr lang="en-US" dirty="0">
                <a:latin typeface="IRANSansWeb" panose="020B0506030804020204" pitchFamily="34" charset="-78"/>
                <a:cs typeface="IRANSansWeb" panose="020B0506030804020204" pitchFamily="34" charset="-78"/>
              </a:rPr>
              <a:t>A</a:t>
            </a:r>
            <a:r>
              <a:rPr lang="fa-IR" dirty="0">
                <a:latin typeface="IRANSansWeb" panose="020B0506030804020204" pitchFamily="34" charset="-78"/>
                <a:cs typeface="IRANSansWeb" panose="020B0506030804020204" pitchFamily="34" charset="-78"/>
              </a:rPr>
              <a:t> و</a:t>
            </a:r>
            <a:r>
              <a:rPr lang="en-US" dirty="0">
                <a:latin typeface="IRANSansWeb" panose="020B0506030804020204" pitchFamily="34" charset="-78"/>
                <a:cs typeface="IRANSansWeb" panose="020B0506030804020204" pitchFamily="34" charset="-78"/>
              </a:rPr>
              <a:t>B </a:t>
            </a:r>
            <a:r>
              <a:rPr lang="fa-IR" dirty="0">
                <a:latin typeface="IRANSansWeb" panose="020B0506030804020204" pitchFamily="34" charset="-78"/>
                <a:cs typeface="IRANSansWeb" panose="020B0506030804020204" pitchFamily="34" charset="-78"/>
              </a:rPr>
              <a:t> و </a:t>
            </a:r>
            <a:r>
              <a:rPr lang="en-US" dirty="0">
                <a:latin typeface="IRANSansWeb" panose="020B0506030804020204" pitchFamily="34" charset="-78"/>
                <a:cs typeface="IRANSansWeb" panose="020B0506030804020204" pitchFamily="34" charset="-78"/>
              </a:rPr>
              <a:t>C</a:t>
            </a:r>
            <a:r>
              <a:rPr lang="fa-IR" dirty="0">
                <a:latin typeface="IRANSansWeb" panose="020B0506030804020204" pitchFamily="34" charset="-78"/>
                <a:cs typeface="IRANSansWeb" panose="020B0506030804020204" pitchFamily="34" charset="-78"/>
              </a:rPr>
              <a:t> </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دارای محدوده‌هایی هستند که برای شبکه‌های خصوصی در نظر گرفته شده‌اند:</a:t>
            </a:r>
          </a:p>
          <a:p>
            <a:pPr algn="r" rtl="1">
              <a:lnSpc>
                <a:spcPct val="170000"/>
              </a:lnSpc>
            </a:pPr>
            <a:r>
              <a:rPr lang="fa-IR" b="1" dirty="0">
                <a:latin typeface="IRANSansWeb" panose="020B0506030804020204" pitchFamily="34" charset="-78"/>
                <a:cs typeface="IRANSansWeb" panose="020B0506030804020204" pitchFamily="34" charset="-78"/>
              </a:rPr>
              <a:t>کلاس </a:t>
            </a:r>
            <a:r>
              <a:rPr lang="en-US" b="1" dirty="0">
                <a:latin typeface="IRANSansWeb" panose="020B0506030804020204" pitchFamily="34" charset="-78"/>
                <a:cs typeface="IRANSansWeb" panose="020B0506030804020204" pitchFamily="34" charset="-78"/>
              </a:rPr>
              <a:t>A</a:t>
            </a:r>
            <a:r>
              <a:rPr lang="fa-IR" b="1" dirty="0">
                <a:latin typeface="IRANSansWeb" panose="020B0506030804020204" pitchFamily="34" charset="-78"/>
                <a:cs typeface="IRANSansWeb" panose="020B0506030804020204" pitchFamily="34" charset="-78"/>
              </a:rPr>
              <a:t>: آدرس‌های بین 10.0.0.0 تا 10.255.255.255 برای شبکه‌های خصوصی رزرو شده‌اند.</a:t>
            </a:r>
          </a:p>
          <a:p>
            <a:pPr algn="r" rtl="1">
              <a:lnSpc>
                <a:spcPct val="170000"/>
              </a:lnSpc>
            </a:pPr>
            <a:r>
              <a:rPr lang="fa-IR" b="1" dirty="0">
                <a:latin typeface="IRANSansWeb" panose="020B0506030804020204" pitchFamily="34" charset="-78"/>
                <a:cs typeface="IRANSansWeb" panose="020B0506030804020204" pitchFamily="34" charset="-78"/>
              </a:rPr>
              <a:t>کلاس </a:t>
            </a:r>
            <a:r>
              <a:rPr lang="en-US" b="1" dirty="0">
                <a:latin typeface="IRANSansWeb" panose="020B0506030804020204" pitchFamily="34" charset="-78"/>
                <a:cs typeface="IRANSansWeb" panose="020B0506030804020204" pitchFamily="34" charset="-78"/>
              </a:rPr>
              <a:t>B</a:t>
            </a:r>
            <a:r>
              <a:rPr lang="fa-IR" b="1" dirty="0">
                <a:latin typeface="IRANSansWeb" panose="020B0506030804020204" pitchFamily="34" charset="-78"/>
                <a:cs typeface="IRANSansWeb" panose="020B0506030804020204" pitchFamily="34" charset="-78"/>
              </a:rPr>
              <a:t>: محدوده‌ی 172.16.0.0 تا 172.31.255.255 برای استفاده خصوصی اختصاص یافته است.</a:t>
            </a:r>
          </a:p>
          <a:p>
            <a:pPr algn="r" rtl="1">
              <a:lnSpc>
                <a:spcPct val="170000"/>
              </a:lnSpc>
            </a:pPr>
            <a:r>
              <a:rPr lang="fa-IR" b="1" dirty="0">
                <a:latin typeface="IRANSansWeb" panose="020B0506030804020204" pitchFamily="34" charset="-78"/>
                <a:cs typeface="IRANSansWeb" panose="020B0506030804020204" pitchFamily="34" charset="-78"/>
              </a:rPr>
              <a:t>کلاس </a:t>
            </a:r>
            <a:r>
              <a:rPr lang="en-US" b="1" dirty="0">
                <a:latin typeface="IRANSansWeb" panose="020B0506030804020204" pitchFamily="34" charset="-78"/>
                <a:cs typeface="IRANSansWeb" panose="020B0506030804020204" pitchFamily="34" charset="-78"/>
              </a:rPr>
              <a:t>C</a:t>
            </a:r>
            <a:r>
              <a:rPr lang="fa-IR" b="1" dirty="0">
                <a:latin typeface="IRANSansWeb" panose="020B0506030804020204" pitchFamily="34" charset="-78"/>
                <a:cs typeface="IRANSansWeb" panose="020B0506030804020204" pitchFamily="34" charset="-78"/>
              </a:rPr>
              <a:t>: آدرس‌های بین 192.168.0.0 تا 192.168.255.255 برای شبکه‌های خصوصی مورد استفاده قرار می‌گیرند.</a:t>
            </a:r>
          </a:p>
          <a:p>
            <a:pPr algn="r" rtl="1">
              <a:lnSpc>
                <a:spcPct val="170000"/>
              </a:lnSpc>
            </a:pPr>
            <a:endParaRPr lang="fa-IR" b="1" dirty="0">
              <a:latin typeface="IRANSansWeb" panose="020B0506030804020204" pitchFamily="34" charset="-78"/>
              <a:cs typeface="IRANSansWeb" panose="020B0506030804020204" pitchFamily="34" charset="-78"/>
            </a:endParaRPr>
          </a:p>
          <a:p>
            <a:pPr algn="r" rtl="1">
              <a:lnSpc>
                <a:spcPct val="170000"/>
              </a:lnSpc>
            </a:pPr>
            <a:r>
              <a:rPr lang="fa-IR" dirty="0">
                <a:latin typeface="IRANSansWeb" panose="020B0506030804020204" pitchFamily="34" charset="-78"/>
                <a:cs typeface="IRANSansWeb" panose="020B0506030804020204" pitchFamily="34" charset="-78"/>
              </a:rPr>
              <a:t>هر سیستمی که به طور مستقیم به اینترنت متصل نیست (مانند دستگاه‌هایی که از طریق یک روتر یا سیستم </a:t>
            </a:r>
            <a:r>
              <a:rPr lang="en-US" dirty="0">
                <a:latin typeface="IRANSansWeb" panose="020B0506030804020204" pitchFamily="34" charset="-78"/>
                <a:cs typeface="IRANSansWeb" panose="020B0506030804020204" pitchFamily="34" charset="-78"/>
              </a:rPr>
              <a:t>NAT </a:t>
            </a:r>
            <a:r>
              <a:rPr lang="fa-IR" dirty="0">
                <a:latin typeface="IRANSansWeb" panose="020B0506030804020204" pitchFamily="34" charset="-78"/>
                <a:cs typeface="IRANSansWeb" panose="020B0506030804020204" pitchFamily="34" charset="-78"/>
              </a:rPr>
              <a:t> به اینترنت وصل می‌شوند)، می‌تواند از این آدرس‌های خصوصی استفاده کند.</a:t>
            </a:r>
          </a:p>
          <a:p>
            <a:pPr algn="r" rtl="1">
              <a:lnSpc>
                <a:spcPct val="170000"/>
              </a:lnSpc>
            </a:pPr>
            <a:endParaRPr lang="en-US"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28657946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9FCAA-73AD-386B-8473-F1161EDD6897}"/>
              </a:ext>
            </a:extLst>
          </p:cNvPr>
          <p:cNvSpPr>
            <a:spLocks noGrp="1"/>
          </p:cNvSpPr>
          <p:nvPr>
            <p:ph type="title"/>
          </p:nvPr>
        </p:nvSpPr>
        <p:spPr/>
        <p:txBody>
          <a:bodyPr>
            <a:noAutofit/>
          </a:bodyPr>
          <a:lstStyle/>
          <a:p>
            <a:pPr rtl="1"/>
            <a:r>
              <a:rPr lang="fa-IR" sz="3200" b="1" dirty="0">
                <a:latin typeface="IRANSansWeb" panose="020B0506030804020204" pitchFamily="34" charset="-78"/>
                <a:cs typeface="IRANSansWeb" panose="020B0506030804020204" pitchFamily="34" charset="-78"/>
              </a:rPr>
              <a:t>پروتکل </a:t>
            </a:r>
            <a:r>
              <a:rPr lang="en-US" sz="3200" b="1" dirty="0">
                <a:latin typeface="IRANSansWeb" panose="020B0506030804020204" pitchFamily="34" charset="-78"/>
                <a:cs typeface="IRANSansWeb" panose="020B0506030804020204" pitchFamily="34" charset="-78"/>
              </a:rPr>
              <a:t>IPv6 (Internet Protocol version 6)</a:t>
            </a:r>
            <a:endParaRPr lang="en-US" sz="3200" dirty="0"/>
          </a:p>
        </p:txBody>
      </p:sp>
      <p:sp>
        <p:nvSpPr>
          <p:cNvPr id="3" name="Content Placeholder 2">
            <a:extLst>
              <a:ext uri="{FF2B5EF4-FFF2-40B4-BE49-F238E27FC236}">
                <a16:creationId xmlns:a16="http://schemas.microsoft.com/office/drawing/2014/main" id="{AB69728D-4C1D-AB89-616D-8E2F149A8DF7}"/>
              </a:ext>
            </a:extLst>
          </p:cNvPr>
          <p:cNvSpPr>
            <a:spLocks noGrp="1"/>
          </p:cNvSpPr>
          <p:nvPr>
            <p:ph idx="1"/>
          </p:nvPr>
        </p:nvSpPr>
        <p:spPr/>
        <p:txBody>
          <a:bodyPr>
            <a:normAutofit fontScale="47500" lnSpcReduction="20000"/>
          </a:bodyPr>
          <a:lstStyle/>
          <a:p>
            <a:pPr algn="r" rtl="1">
              <a:lnSpc>
                <a:spcPct val="170000"/>
              </a:lnSpc>
            </a:pPr>
            <a:r>
              <a:rPr lang="fa-IR" dirty="0">
                <a:latin typeface="IRANSansWeb" panose="020B0506030804020204" pitchFamily="34" charset="-78"/>
                <a:cs typeface="IRANSansWeb" panose="020B0506030804020204" pitchFamily="34" charset="-78"/>
              </a:rPr>
              <a:t>پروتکل اینترنت نسخه 6 یا به اختصار </a:t>
            </a:r>
            <a:r>
              <a:rPr lang="en-US" dirty="0">
                <a:latin typeface="IRANSansWeb" panose="020B0506030804020204" pitchFamily="34" charset="-78"/>
                <a:cs typeface="IRANSansWeb" panose="020B0506030804020204" pitchFamily="34" charset="-78"/>
              </a:rPr>
              <a:t>IPv6 </a:t>
            </a:r>
            <a:r>
              <a:rPr lang="fa-IR" dirty="0">
                <a:latin typeface="IRANSansWeb" panose="020B0506030804020204" pitchFamily="34" charset="-78"/>
                <a:cs typeface="IRANSansWeb" panose="020B0506030804020204" pitchFamily="34" charset="-78"/>
              </a:rPr>
              <a:t>جدیدترین نسخه پروتکل اینترنت است که ارتباط های اینترنتی بر پایه آن شکل می گیرد. این نسخه قرار است جایگزین نسخه 4 این پروتکل (</a:t>
            </a:r>
            <a:r>
              <a:rPr lang="en-US" dirty="0">
                <a:latin typeface="IRANSansWeb" panose="020B0506030804020204" pitchFamily="34" charset="-78"/>
                <a:cs typeface="IRANSansWeb" panose="020B0506030804020204" pitchFamily="34" charset="-78"/>
              </a:rPr>
              <a:t>IPv4</a:t>
            </a:r>
            <a:r>
              <a:rPr lang="fa-IR" dirty="0">
                <a:latin typeface="IRANSansWeb" panose="020B0506030804020204" pitchFamily="34" charset="-78"/>
                <a:cs typeface="IRANSansWeb" panose="020B0506030804020204" pitchFamily="34" charset="-78"/>
              </a:rPr>
              <a:t>)</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که هم اکنون در حال استفاده است، بشود.</a:t>
            </a:r>
            <a:endParaRPr lang="en-US" dirty="0">
              <a:latin typeface="IRANSansWeb" panose="020B0506030804020204" pitchFamily="34" charset="-78"/>
              <a:cs typeface="IRANSansWeb" panose="020B0506030804020204" pitchFamily="34" charset="-78"/>
            </a:endParaRPr>
          </a:p>
          <a:p>
            <a:pPr algn="r" rtl="1">
              <a:lnSpc>
                <a:spcPct val="170000"/>
              </a:lnSpc>
            </a:pPr>
            <a:r>
              <a:rPr lang="fa-IR" dirty="0">
                <a:latin typeface="IRANSansWeb" panose="020B0506030804020204" pitchFamily="34" charset="-78"/>
                <a:cs typeface="IRANSansWeb" panose="020B0506030804020204" pitchFamily="34" charset="-78"/>
              </a:rPr>
              <a:t> پروتکل </a:t>
            </a:r>
            <a:r>
              <a:rPr lang="en-US" dirty="0">
                <a:latin typeface="IRANSansWeb" panose="020B0506030804020204" pitchFamily="34" charset="-78"/>
                <a:cs typeface="IRANSansWeb" panose="020B0506030804020204" pitchFamily="34" charset="-78"/>
              </a:rPr>
              <a:t>IPv4 </a:t>
            </a:r>
            <a:r>
              <a:rPr lang="fa-IR" dirty="0">
                <a:latin typeface="IRANSansWeb" panose="020B0506030804020204" pitchFamily="34" charset="-78"/>
                <a:cs typeface="IRANSansWeb" panose="020B0506030804020204" pitchFamily="34" charset="-78"/>
              </a:rPr>
              <a:t> از فضای آدرسی 32 بیتی استفاده می کند. این فضای اجازه آدرس دهی دو به توان 32 یعنی حدود 4 میلیارد آدرس در اینترنت را می دهد. با توجه به این که امروزه بسیاری از دستگاه ها افزون بر کامپیوترها مانند موبایل ها، دوربین ها و حتی لوازم خانگی و قاب عکس های دیجیتال به اینترنت متصل می­شوند، این فضا رو به اتمام است و تاکنون با تمهیداتی مانند </a:t>
            </a:r>
            <a:r>
              <a:rPr lang="en-US" dirty="0">
                <a:latin typeface="IRANSansWeb" panose="020B0506030804020204" pitchFamily="34" charset="-78"/>
                <a:cs typeface="IRANSansWeb" panose="020B0506030804020204" pitchFamily="34" charset="-78"/>
              </a:rPr>
              <a:t>NAT </a:t>
            </a:r>
            <a:r>
              <a:rPr lang="fa-IR" dirty="0">
                <a:latin typeface="IRANSansWeb" panose="020B0506030804020204" pitchFamily="34" charset="-78"/>
                <a:cs typeface="IRANSansWeb" panose="020B0506030804020204" pitchFamily="34" charset="-78"/>
              </a:rPr>
              <a:t> سعی در جبران این کمبود داشته است. پروتکل </a:t>
            </a:r>
            <a:r>
              <a:rPr lang="en-US" dirty="0">
                <a:latin typeface="IRANSansWeb" panose="020B0506030804020204" pitchFamily="34" charset="-78"/>
                <a:cs typeface="IRANSansWeb" panose="020B0506030804020204" pitchFamily="34" charset="-78"/>
              </a:rPr>
              <a:t>IPv6 </a:t>
            </a:r>
            <a:r>
              <a:rPr lang="fa-IR" dirty="0">
                <a:latin typeface="IRANSansWeb" panose="020B0506030804020204" pitchFamily="34" charset="-78"/>
                <a:cs typeface="IRANSansWeb" panose="020B0506030804020204" pitchFamily="34" charset="-78"/>
              </a:rPr>
              <a:t> اما از فضای آدرس دهی 128 بیتی (16 بایتی) که هر مجموعه چهاربایتی با یک “دو نقطه” از مجموعه های چهار بایتی دیگر، جدا شده است استفاده می­کند و اجازه داشتن دو به توان 128 آدرس یکتا را به ما می دهد. این تعداد آدرس مشکل فضای آدرسی که هم اکنون با آن روبرو هستیم را رفع می کند.</a:t>
            </a:r>
          </a:p>
          <a:p>
            <a:pPr algn="r" rtl="1">
              <a:lnSpc>
                <a:spcPct val="170000"/>
              </a:lnSpc>
            </a:pPr>
            <a:endParaRPr lang="en-US"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12291330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073C570-3000-F6F9-B0BD-7A51D482557A}"/>
              </a:ext>
            </a:extLst>
          </p:cNvPr>
          <p:cNvPicPr>
            <a:picLocks noGrp="1" noChangeAspect="1"/>
          </p:cNvPicPr>
          <p:nvPr>
            <p:ph idx="1"/>
          </p:nvPr>
        </p:nvPicPr>
        <p:blipFill>
          <a:blip r:embed="rId2"/>
          <a:stretch>
            <a:fillRect/>
          </a:stretch>
        </p:blipFill>
        <p:spPr>
          <a:xfrm>
            <a:off x="453903" y="869919"/>
            <a:ext cx="8541205" cy="5118161"/>
          </a:xfrm>
          <a:prstGeom prst="rect">
            <a:avLst/>
          </a:prstGeom>
        </p:spPr>
      </p:pic>
    </p:spTree>
    <p:extLst>
      <p:ext uri="{BB962C8B-B14F-4D97-AF65-F5344CB8AC3E}">
        <p14:creationId xmlns:p14="http://schemas.microsoft.com/office/powerpoint/2010/main" val="28470537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F2721-4110-ADDA-D57F-220E8E9A1630}"/>
              </a:ext>
            </a:extLst>
          </p:cNvPr>
          <p:cNvSpPr>
            <a:spLocks noGrp="1"/>
          </p:cNvSpPr>
          <p:nvPr>
            <p:ph type="title"/>
          </p:nvPr>
        </p:nvSpPr>
        <p:spPr/>
        <p:txBody>
          <a:bodyPr>
            <a:normAutofit/>
          </a:bodyPr>
          <a:lstStyle/>
          <a:p>
            <a:r>
              <a:rPr lang="en-US" dirty="0"/>
              <a:t>IP Network Addressing</a:t>
            </a:r>
          </a:p>
        </p:txBody>
      </p:sp>
      <p:sp>
        <p:nvSpPr>
          <p:cNvPr id="3" name="Content Placeholder 2">
            <a:extLst>
              <a:ext uri="{FF2B5EF4-FFF2-40B4-BE49-F238E27FC236}">
                <a16:creationId xmlns:a16="http://schemas.microsoft.com/office/drawing/2014/main" id="{ABFB33B8-7467-26B0-950C-F8E03E3DFA68}"/>
              </a:ext>
            </a:extLst>
          </p:cNvPr>
          <p:cNvSpPr>
            <a:spLocks noGrp="1"/>
          </p:cNvSpPr>
          <p:nvPr>
            <p:ph idx="1"/>
          </p:nvPr>
        </p:nvSpPr>
        <p:spPr/>
        <p:txBody>
          <a:bodyPr>
            <a:normAutofit fontScale="85000" lnSpcReduction="10000"/>
          </a:bodyPr>
          <a:lstStyle/>
          <a:p>
            <a:r>
              <a:rPr lang="en-US" b="1" dirty="0"/>
              <a:t>Static IP Address</a:t>
            </a:r>
          </a:p>
          <a:p>
            <a:pPr marL="0" indent="0">
              <a:buNone/>
            </a:pPr>
            <a:endParaRPr lang="en-US" b="1" dirty="0"/>
          </a:p>
          <a:p>
            <a:pPr algn="r" rtl="1">
              <a:lnSpc>
                <a:spcPct val="170000"/>
              </a:lnSpc>
            </a:pPr>
            <a:r>
              <a:rPr lang="fa-IR" sz="2400" dirty="0">
                <a:latin typeface="IRANSansWeb" panose="020B0506030804020204" pitchFamily="34" charset="-78"/>
                <a:cs typeface="IRANSansWeb" panose="020B0506030804020204" pitchFamily="34" charset="-78"/>
              </a:rPr>
              <a:t>قبلاً اشاره شد که هر گره شبکه یک آدرس </a:t>
            </a:r>
            <a:r>
              <a:rPr lang="en-US" sz="2400" dirty="0">
                <a:latin typeface="IRANSansWeb" panose="020B0506030804020204" pitchFamily="34" charset="-78"/>
                <a:cs typeface="IRANSansWeb" panose="020B0506030804020204" pitchFamily="34" charset="-78"/>
              </a:rPr>
              <a:t>IP </a:t>
            </a:r>
            <a:r>
              <a:rPr lang="fa-IR" sz="2400" dirty="0">
                <a:latin typeface="IRANSansWeb" panose="020B0506030804020204" pitchFamily="34" charset="-78"/>
                <a:cs typeface="IRANSansWeb" panose="020B0506030804020204" pitchFamily="34" charset="-78"/>
              </a:rPr>
              <a:t> دارد. اگر آدرس </a:t>
            </a:r>
            <a:r>
              <a:rPr lang="en-US" sz="2400" dirty="0">
                <a:latin typeface="IRANSansWeb" panose="020B0506030804020204" pitchFamily="34" charset="-78"/>
                <a:cs typeface="IRANSansWeb" panose="020B0506030804020204" pitchFamily="34" charset="-78"/>
              </a:rPr>
              <a:t>IP</a:t>
            </a:r>
            <a:r>
              <a:rPr lang="fa-IR" sz="2400" dirty="0">
                <a:latin typeface="IRANSansWeb" panose="020B0506030804020204" pitchFamily="34" charset="-78"/>
                <a:cs typeface="IRANSansWeb" panose="020B0506030804020204" pitchFamily="34" charset="-78"/>
              </a:rPr>
              <a:t> استاتیک  باشد، از قبل اختصاص داده شده و هرگز تغییر نمی‌کند.</a:t>
            </a:r>
          </a:p>
          <a:p>
            <a:pPr algn="r" rtl="1"/>
            <a:endParaRPr lang="fa-IR" sz="2400" dirty="0">
              <a:latin typeface="IRANSansWeb" panose="020B0506030804020204" pitchFamily="34" charset="-78"/>
              <a:cs typeface="IRANSansWeb" panose="020B0506030804020204" pitchFamily="34" charset="-78"/>
            </a:endParaRPr>
          </a:p>
          <a:p>
            <a:r>
              <a:rPr lang="en-US" sz="2400" b="1" dirty="0"/>
              <a:t>Dynamic IP Address</a:t>
            </a:r>
          </a:p>
          <a:p>
            <a:endParaRPr lang="en-US" sz="2400" b="1" dirty="0"/>
          </a:p>
          <a:p>
            <a:pPr algn="r" rtl="1">
              <a:lnSpc>
                <a:spcPct val="160000"/>
              </a:lnSpc>
            </a:pPr>
            <a:r>
              <a:rPr lang="fa-IR" sz="2400" dirty="0">
                <a:latin typeface="IRANSansWeb" panose="020B0506030804020204" pitchFamily="34" charset="-78"/>
                <a:cs typeface="IRANSansWeb" panose="020B0506030804020204" pitchFamily="34" charset="-78"/>
              </a:rPr>
              <a:t>یک آدرس </a:t>
            </a:r>
            <a:r>
              <a:rPr lang="en-US" sz="2400" dirty="0">
                <a:latin typeface="IRANSansWeb" panose="020B0506030804020204" pitchFamily="34" charset="-78"/>
                <a:cs typeface="IRANSansWeb" panose="020B0506030804020204" pitchFamily="34" charset="-78"/>
              </a:rPr>
              <a:t> IP </a:t>
            </a:r>
            <a:r>
              <a:rPr lang="fa-IR" sz="2400" dirty="0">
                <a:latin typeface="IRANSansWeb" panose="020B0506030804020204" pitchFamily="34" charset="-78"/>
                <a:cs typeface="IRANSansWeb" panose="020B0506030804020204" pitchFamily="34" charset="-78"/>
              </a:rPr>
              <a:t>در صورتی «پویا» در نظر گرفته می‌شود که هر بار که کاربر یا دستگاه به شبکه متصل می‌شود، توسط روتر از مجموعه‌ای از آدرس‌های</a:t>
            </a:r>
            <a:r>
              <a:rPr lang="en-US" sz="2400" dirty="0">
                <a:latin typeface="IRANSansWeb" panose="020B0506030804020204" pitchFamily="34" charset="-78"/>
                <a:cs typeface="IRANSansWeb" panose="020B0506030804020204" pitchFamily="34" charset="-78"/>
              </a:rPr>
              <a:t> IP</a:t>
            </a:r>
            <a:r>
              <a:rPr lang="fa-IR" sz="2400" dirty="0">
                <a:latin typeface="IRANSansWeb" panose="020B0506030804020204" pitchFamily="34" charset="-78"/>
                <a:cs typeface="IRANSansWeb" panose="020B0506030804020204" pitchFamily="34" charset="-78"/>
              </a:rPr>
              <a:t>موجود انتخاب شود. برای این منظور از </a:t>
            </a:r>
            <a:r>
              <a:rPr lang="en-US" sz="2400" dirty="0">
                <a:latin typeface="IRANSansWeb" panose="020B0506030804020204" pitchFamily="34" charset="-78"/>
                <a:cs typeface="IRANSansWeb" panose="020B0506030804020204" pitchFamily="34" charset="-78"/>
              </a:rPr>
              <a:t>DHCP</a:t>
            </a:r>
            <a:r>
              <a:rPr lang="fa-IR" sz="2400" dirty="0">
                <a:latin typeface="IRANSansWeb" panose="020B0506030804020204" pitchFamily="34" charset="-78"/>
                <a:cs typeface="IRANSansWeb" panose="020B0506030804020204" pitchFamily="34" charset="-78"/>
              </a:rPr>
              <a:t> استفاده می شود.</a:t>
            </a:r>
          </a:p>
          <a:p>
            <a:pPr algn="r" rtl="1"/>
            <a:endParaRPr lang="en-US" sz="2400"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40529669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2BC37-C568-7315-9AF3-6802B8F7F7E2}"/>
              </a:ext>
            </a:extLst>
          </p:cNvPr>
          <p:cNvSpPr>
            <a:spLocks noGrp="1"/>
          </p:cNvSpPr>
          <p:nvPr>
            <p:ph type="title"/>
          </p:nvPr>
        </p:nvSpPr>
        <p:spPr/>
        <p:txBody>
          <a:bodyPr>
            <a:noAutofit/>
          </a:bodyPr>
          <a:lstStyle/>
          <a:p>
            <a:r>
              <a:rPr lang="en-US" sz="2800" dirty="0"/>
              <a:t>ARP </a:t>
            </a:r>
            <a:r>
              <a:rPr lang="fa-IR" sz="2800" dirty="0"/>
              <a:t>)</a:t>
            </a:r>
            <a:r>
              <a:rPr lang="en-US" sz="2800" dirty="0"/>
              <a:t>Address Resolution Protocol</a:t>
            </a:r>
            <a:r>
              <a:rPr lang="fa-IR" sz="2800" dirty="0"/>
              <a:t>(</a:t>
            </a:r>
            <a:endParaRPr lang="en-US" sz="2800" dirty="0"/>
          </a:p>
        </p:txBody>
      </p:sp>
      <p:sp>
        <p:nvSpPr>
          <p:cNvPr id="3" name="Content Placeholder 2">
            <a:extLst>
              <a:ext uri="{FF2B5EF4-FFF2-40B4-BE49-F238E27FC236}">
                <a16:creationId xmlns:a16="http://schemas.microsoft.com/office/drawing/2014/main" id="{1269987C-5F86-4C56-7437-9C877ED6001D}"/>
              </a:ext>
            </a:extLst>
          </p:cNvPr>
          <p:cNvSpPr>
            <a:spLocks noGrp="1"/>
          </p:cNvSpPr>
          <p:nvPr>
            <p:ph idx="1"/>
          </p:nvPr>
        </p:nvSpPr>
        <p:spPr/>
        <p:txBody>
          <a:bodyPr>
            <a:normAutofit fontScale="70000" lnSpcReduction="20000"/>
          </a:bodyPr>
          <a:lstStyle/>
          <a:p>
            <a:pPr algn="r" rtl="1">
              <a:lnSpc>
                <a:spcPct val="170000"/>
              </a:lnSpc>
            </a:pPr>
            <a:r>
              <a:rPr lang="fa-IR" dirty="0">
                <a:latin typeface="IRANSansWeb" panose="020B0506030804020204" pitchFamily="34" charset="-78"/>
                <a:cs typeface="IRANSansWeb" panose="020B0506030804020204" pitchFamily="34" charset="-78"/>
              </a:rPr>
              <a:t>بسته‌های </a:t>
            </a:r>
            <a:r>
              <a:rPr lang="en-US" dirty="0">
                <a:latin typeface="IRANSansWeb" panose="020B0506030804020204" pitchFamily="34" charset="-78"/>
                <a:cs typeface="IRANSansWeb" panose="020B0506030804020204" pitchFamily="34" charset="-78"/>
              </a:rPr>
              <a:t>IP</a:t>
            </a:r>
            <a:r>
              <a:rPr lang="fa-IR" dirty="0">
                <a:latin typeface="IRANSansWeb" panose="020B0506030804020204" pitchFamily="34" charset="-78"/>
                <a:cs typeface="IRANSansWeb" panose="020B0506030804020204" pitchFamily="34" charset="-78"/>
              </a:rPr>
              <a:t> </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بین آدرس‌های </a:t>
            </a:r>
            <a:r>
              <a:rPr lang="en-US" dirty="0">
                <a:latin typeface="IRANSansWeb" panose="020B0506030804020204" pitchFamily="34" charset="-78"/>
                <a:cs typeface="IRANSansWeb" panose="020B0506030804020204" pitchFamily="34" charset="-78"/>
              </a:rPr>
              <a:t>IP</a:t>
            </a:r>
            <a:r>
              <a:rPr lang="fa-IR" dirty="0">
                <a:latin typeface="IRANSansWeb" panose="020B0506030804020204" pitchFamily="34" charset="-78"/>
                <a:cs typeface="IRANSansWeb" panose="020B0506030804020204" pitchFamily="34" charset="-78"/>
              </a:rPr>
              <a:t> </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ارسال می‌شوند، اما فریم‌های اترنت که در آنها بسته‌بندی شده‌اند، بین آدرس‌های سخت‌افزاری(</a:t>
            </a:r>
            <a:r>
              <a:rPr lang="en-US" dirty="0">
                <a:latin typeface="IRANSansWeb" panose="020B0506030804020204" pitchFamily="34" charset="-78"/>
                <a:cs typeface="IRANSansWeb" panose="020B0506030804020204" pitchFamily="34" charset="-78"/>
              </a:rPr>
              <a:t>MAC</a:t>
            </a:r>
            <a:r>
              <a:rPr lang="fa-IR" dirty="0">
                <a:latin typeface="IRANSansWeb" panose="020B0506030804020204" pitchFamily="34" charset="-78"/>
                <a:cs typeface="IRANSansWeb" panose="020B0506030804020204" pitchFamily="34" charset="-78"/>
              </a:rPr>
              <a:t>) ارسال می‌شوند. بنابراین، قبل از ارسال یک بسته </a:t>
            </a:r>
            <a:r>
              <a:rPr lang="en-US" dirty="0">
                <a:latin typeface="IRANSansWeb" panose="020B0506030804020204" pitchFamily="34" charset="-78"/>
                <a:cs typeface="IRANSansWeb" panose="020B0506030804020204" pitchFamily="34" charset="-78"/>
              </a:rPr>
              <a:t>IP</a:t>
            </a:r>
            <a:r>
              <a:rPr lang="fa-IR" dirty="0">
                <a:latin typeface="IRANSansWeb" panose="020B0506030804020204" pitchFamily="34" charset="-78"/>
                <a:cs typeface="IRANSansWeb" panose="020B0506030804020204" pitchFamily="34" charset="-78"/>
              </a:rPr>
              <a:t> </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به شبکه اترنت، باید آدرس </a:t>
            </a:r>
            <a:r>
              <a:rPr lang="en-US" dirty="0">
                <a:latin typeface="IRANSansWeb" panose="020B0506030804020204" pitchFamily="34" charset="-78"/>
                <a:cs typeface="IRANSansWeb" panose="020B0506030804020204" pitchFamily="34" charset="-78"/>
              </a:rPr>
              <a:t>MAC</a:t>
            </a:r>
            <a:r>
              <a:rPr lang="fa-IR" dirty="0">
                <a:latin typeface="IRANSansWeb" panose="020B0506030804020204" pitchFamily="34" charset="-78"/>
                <a:cs typeface="IRANSansWeb" panose="020B0506030804020204" pitchFamily="34" charset="-78"/>
              </a:rPr>
              <a:t> ,</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آن آدرس </a:t>
            </a:r>
            <a:r>
              <a:rPr lang="en-US" dirty="0">
                <a:latin typeface="IRANSansWeb" panose="020B0506030804020204" pitchFamily="34" charset="-78"/>
                <a:cs typeface="IRANSansWeb" panose="020B0506030804020204" pitchFamily="34" charset="-78"/>
              </a:rPr>
              <a:t>IP</a:t>
            </a:r>
            <a:r>
              <a:rPr lang="fa-IR" dirty="0">
                <a:latin typeface="IRANSansWeb" panose="020B0506030804020204" pitchFamily="34" charset="-78"/>
                <a:cs typeface="IRANSansWeb" panose="020B0506030804020204" pitchFamily="34" charset="-78"/>
              </a:rPr>
              <a:t> </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مقصد مشخص باشد.</a:t>
            </a:r>
          </a:p>
          <a:p>
            <a:endParaRPr lang="en-US" dirty="0"/>
          </a:p>
          <a:p>
            <a:pPr algn="r" rtl="1">
              <a:lnSpc>
                <a:spcPct val="170000"/>
              </a:lnSpc>
            </a:pPr>
            <a:r>
              <a:rPr lang="fa-IR" dirty="0">
                <a:latin typeface="IRANSansWeb" panose="020B0506030804020204" pitchFamily="34" charset="-78"/>
                <a:cs typeface="IRANSansWeb" panose="020B0506030804020204" pitchFamily="34" charset="-78"/>
              </a:rPr>
              <a:t>پروتکل تفکیک آدرس (</a:t>
            </a:r>
            <a:r>
              <a:rPr lang="en-US" dirty="0">
                <a:latin typeface="IRANSansWeb" panose="020B0506030804020204" pitchFamily="34" charset="-78"/>
                <a:cs typeface="IRANSansWeb" panose="020B0506030804020204" pitchFamily="34" charset="-78"/>
              </a:rPr>
              <a:t>ARP</a:t>
            </a:r>
            <a:r>
              <a:rPr lang="fa-IR" dirty="0">
                <a:latin typeface="IRANSansWeb" panose="020B0506030804020204" pitchFamily="34" charset="-78"/>
                <a:cs typeface="IRANSansWeb" panose="020B0506030804020204" pitchFamily="34" charset="-78"/>
              </a:rPr>
              <a:t>) برای به دست آوردن اطلاعات آدرس </a:t>
            </a:r>
            <a:r>
              <a:rPr lang="en-US" dirty="0">
                <a:latin typeface="IRANSansWeb" panose="020B0506030804020204" pitchFamily="34" charset="-78"/>
                <a:cs typeface="IRANSansWeb" panose="020B0506030804020204" pitchFamily="34" charset="-78"/>
              </a:rPr>
              <a:t>MAC</a:t>
            </a:r>
            <a:r>
              <a:rPr lang="fa-IR" dirty="0">
                <a:latin typeface="IRANSansWeb" panose="020B0506030804020204" pitchFamily="34" charset="-78"/>
                <a:cs typeface="IRANSansWeb" panose="020B0506030804020204" pitchFamily="34" charset="-78"/>
              </a:rPr>
              <a:t> </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استفاده می‌شود.</a:t>
            </a:r>
            <a:r>
              <a:rPr lang="en-US" dirty="0">
                <a:latin typeface="IRANSansWeb" panose="020B0506030804020204" pitchFamily="34" charset="-78"/>
                <a:cs typeface="IRANSansWeb" panose="020B0506030804020204" pitchFamily="34" charset="-78"/>
              </a:rPr>
              <a:t>ARP </a:t>
            </a:r>
            <a:r>
              <a:rPr lang="fa-IR" dirty="0">
                <a:latin typeface="IRANSansWeb" panose="020B0506030804020204" pitchFamily="34" charset="-78"/>
                <a:cs typeface="IRANSansWeb" panose="020B0506030804020204" pitchFamily="34" charset="-78"/>
              </a:rPr>
              <a:t> به طور خودکار توسط پشته </a:t>
            </a:r>
            <a:r>
              <a:rPr lang="en-US" dirty="0">
                <a:latin typeface="IRANSansWeb" panose="020B0506030804020204" pitchFamily="34" charset="-78"/>
                <a:cs typeface="IRANSansWeb" panose="020B0506030804020204" pitchFamily="34" charset="-78"/>
              </a:rPr>
              <a:t>TCP/IP </a:t>
            </a:r>
            <a:r>
              <a:rPr lang="fa-IR" dirty="0">
                <a:latin typeface="IRANSansWeb" panose="020B0506030804020204" pitchFamily="34" charset="-78"/>
                <a:cs typeface="IRANSansWeb" panose="020B0506030804020204" pitchFamily="34" charset="-78"/>
              </a:rPr>
              <a:t>مدیریت می‌شود.</a:t>
            </a:r>
          </a:p>
        </p:txBody>
      </p:sp>
    </p:spTree>
    <p:extLst>
      <p:ext uri="{BB962C8B-B14F-4D97-AF65-F5344CB8AC3E}">
        <p14:creationId xmlns:p14="http://schemas.microsoft.com/office/powerpoint/2010/main" val="21413310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2C136-11D2-8785-14DD-B58A53DA835D}"/>
              </a:ext>
            </a:extLst>
          </p:cNvPr>
          <p:cNvSpPr>
            <a:spLocks noGrp="1"/>
          </p:cNvSpPr>
          <p:nvPr>
            <p:ph type="title"/>
          </p:nvPr>
        </p:nvSpPr>
        <p:spPr/>
        <p:txBody>
          <a:bodyPr/>
          <a:lstStyle/>
          <a:p>
            <a:r>
              <a:rPr lang="en-US" dirty="0"/>
              <a:t>ARP</a:t>
            </a:r>
          </a:p>
        </p:txBody>
      </p:sp>
      <p:sp>
        <p:nvSpPr>
          <p:cNvPr id="3" name="Content Placeholder 2">
            <a:extLst>
              <a:ext uri="{FF2B5EF4-FFF2-40B4-BE49-F238E27FC236}">
                <a16:creationId xmlns:a16="http://schemas.microsoft.com/office/drawing/2014/main" id="{99949274-C90F-AAE9-E0C2-EC60AD067611}"/>
              </a:ext>
            </a:extLst>
          </p:cNvPr>
          <p:cNvSpPr>
            <a:spLocks noGrp="1"/>
          </p:cNvSpPr>
          <p:nvPr>
            <p:ph idx="1"/>
          </p:nvPr>
        </p:nvSpPr>
        <p:spPr/>
        <p:txBody>
          <a:bodyPr>
            <a:normAutofit fontScale="47500" lnSpcReduction="20000"/>
          </a:bodyPr>
          <a:lstStyle/>
          <a:p>
            <a:r>
              <a:rPr lang="en-US" dirty="0"/>
              <a:t>The Address Resolution Protocol is used to translate virtual addresses to physical ones. The network hard-</a:t>
            </a:r>
          </a:p>
          <a:p>
            <a:r>
              <a:rPr lang="en-US" dirty="0"/>
              <a:t>ware does not understand the software-maintained IP addresses. IP uses ARP to translate the 32-bit IP</a:t>
            </a:r>
          </a:p>
          <a:p>
            <a:r>
              <a:rPr lang="en-US" dirty="0"/>
              <a:t>address to a physical address that matches the addressing scheme of the underlying hardware (for Ethernet,</a:t>
            </a:r>
          </a:p>
          <a:p>
            <a:r>
              <a:rPr lang="en-US" dirty="0"/>
              <a:t>the 48-bit MAC address).</a:t>
            </a:r>
          </a:p>
          <a:p>
            <a:r>
              <a:rPr lang="en-US" dirty="0"/>
              <a:t>There are three general addressing strategies:</a:t>
            </a:r>
          </a:p>
          <a:p>
            <a:r>
              <a:rPr lang="en-US" dirty="0"/>
              <a:t>1. Table lookup</a:t>
            </a:r>
          </a:p>
          <a:p>
            <a:r>
              <a:rPr lang="en-US" dirty="0"/>
              <a:t>1. Translation performed by a mathematical function</a:t>
            </a:r>
          </a:p>
          <a:p>
            <a:r>
              <a:rPr lang="en-US" dirty="0"/>
              <a:t>2. Message exchange</a:t>
            </a:r>
          </a:p>
          <a:p>
            <a:r>
              <a:rPr lang="en-US" dirty="0"/>
              <a:t>TCP/IP can use any of the three. ARP employs the third strategy, message exchange. ARP defines a</a:t>
            </a:r>
          </a:p>
          <a:p>
            <a:r>
              <a:rPr lang="en-US" dirty="0"/>
              <a:t>request and a response. A request message is placed in a hardware frame (e.g., an Ethernet frame), and</a:t>
            </a:r>
          </a:p>
          <a:p>
            <a:r>
              <a:rPr lang="en-US" dirty="0"/>
              <a:t>broadcast to all computers on the network. Only the computer whose IP address matches the request sends</a:t>
            </a:r>
          </a:p>
          <a:p>
            <a:r>
              <a:rPr lang="en-US" dirty="0"/>
              <a:t>a response.</a:t>
            </a:r>
          </a:p>
        </p:txBody>
      </p:sp>
    </p:spTree>
    <p:extLst>
      <p:ext uri="{BB962C8B-B14F-4D97-AF65-F5344CB8AC3E}">
        <p14:creationId xmlns:p14="http://schemas.microsoft.com/office/powerpoint/2010/main" val="21859745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28D54-1CB2-FA6B-976E-8491B5564D61}"/>
              </a:ext>
            </a:extLst>
          </p:cNvPr>
          <p:cNvSpPr>
            <a:spLocks noGrp="1"/>
          </p:cNvSpPr>
          <p:nvPr>
            <p:ph type="title"/>
          </p:nvPr>
        </p:nvSpPr>
        <p:spPr/>
        <p:txBody>
          <a:bodyPr>
            <a:normAutofit/>
          </a:bodyPr>
          <a:lstStyle/>
          <a:p>
            <a:r>
              <a:rPr lang="en-US" dirty="0"/>
              <a:t>Subnet and Netmask</a:t>
            </a:r>
          </a:p>
        </p:txBody>
      </p:sp>
      <p:sp>
        <p:nvSpPr>
          <p:cNvPr id="3" name="Content Placeholder 2">
            <a:extLst>
              <a:ext uri="{FF2B5EF4-FFF2-40B4-BE49-F238E27FC236}">
                <a16:creationId xmlns:a16="http://schemas.microsoft.com/office/drawing/2014/main" id="{341531F1-A0D7-409C-2EA7-3C5A8F689880}"/>
              </a:ext>
            </a:extLst>
          </p:cNvPr>
          <p:cNvSpPr>
            <a:spLocks noGrp="1"/>
          </p:cNvSpPr>
          <p:nvPr>
            <p:ph idx="1"/>
          </p:nvPr>
        </p:nvSpPr>
        <p:spPr/>
        <p:txBody>
          <a:bodyPr>
            <a:normAutofit/>
          </a:bodyPr>
          <a:lstStyle/>
          <a:p>
            <a:r>
              <a:rPr lang="en-US" sz="1200" dirty="0"/>
              <a:t>Subnet</a:t>
            </a:r>
          </a:p>
          <a:p>
            <a:pPr algn="r" rtl="1">
              <a:lnSpc>
                <a:spcPct val="170000"/>
              </a:lnSpc>
            </a:pPr>
            <a:r>
              <a:rPr lang="fa-IR" sz="1200" dirty="0">
                <a:latin typeface="IRANSansWeb" panose="020B0506030804020204" pitchFamily="34" charset="-78"/>
                <a:cs typeface="IRANSansWeb" panose="020B0506030804020204" pitchFamily="34" charset="-78"/>
              </a:rPr>
              <a:t>به زیرشبکه‌ها اجازه می‌دهند که بیت‌های پرازش یک آدرس </a:t>
            </a:r>
            <a:r>
              <a:rPr lang="en-US" sz="1200" dirty="0">
                <a:latin typeface="IRANSansWeb" panose="020B0506030804020204" pitchFamily="34" charset="-78"/>
                <a:cs typeface="IRANSansWeb" panose="020B0506030804020204" pitchFamily="34" charset="-78"/>
              </a:rPr>
              <a:t>IP</a:t>
            </a:r>
            <a:r>
              <a:rPr lang="fa-IR" sz="1200" dirty="0">
                <a:latin typeface="IRANSansWeb" panose="020B0506030804020204" pitchFamily="34" charset="-78"/>
                <a:cs typeface="IRANSansWeb" panose="020B0506030804020204" pitchFamily="34" charset="-78"/>
              </a:rPr>
              <a:t> </a:t>
            </a:r>
            <a:r>
              <a:rPr lang="en-US" sz="1200" dirty="0">
                <a:latin typeface="IRANSansWeb" panose="020B0506030804020204" pitchFamily="34" charset="-78"/>
                <a:cs typeface="IRANSansWeb" panose="020B0506030804020204" pitchFamily="34" charset="-78"/>
              </a:rPr>
              <a:t> </a:t>
            </a:r>
            <a:r>
              <a:rPr lang="fa-IR" sz="1200" dirty="0">
                <a:latin typeface="IRANSansWeb" panose="020B0506030804020204" pitchFamily="34" charset="-78"/>
                <a:cs typeface="IRANSansWeb" panose="020B0506030804020204" pitchFamily="34" charset="-78"/>
              </a:rPr>
              <a:t>به عنوان اطلاعات مسیریابی تفسیر شوند و بیت‌های کم ارزش یک آدرس </a:t>
            </a:r>
            <a:r>
              <a:rPr lang="en-US" sz="1200" dirty="0">
                <a:latin typeface="IRANSansWeb" panose="020B0506030804020204" pitchFamily="34" charset="-78"/>
                <a:cs typeface="IRANSansWeb" panose="020B0506030804020204" pitchFamily="34" charset="-78"/>
              </a:rPr>
              <a:t>IP</a:t>
            </a:r>
            <a:r>
              <a:rPr lang="fa-IR" sz="1200" dirty="0">
                <a:latin typeface="IRANSansWeb" panose="020B0506030804020204" pitchFamily="34" charset="-78"/>
                <a:cs typeface="IRANSansWeb" panose="020B0506030804020204" pitchFamily="34" charset="-78"/>
              </a:rPr>
              <a:t> </a:t>
            </a:r>
            <a:r>
              <a:rPr lang="en-US" sz="1200" dirty="0">
                <a:latin typeface="IRANSansWeb" panose="020B0506030804020204" pitchFamily="34" charset="-78"/>
                <a:cs typeface="IRANSansWeb" panose="020B0506030804020204" pitchFamily="34" charset="-78"/>
              </a:rPr>
              <a:t> </a:t>
            </a:r>
            <a:r>
              <a:rPr lang="fa-IR" sz="1200" dirty="0">
                <a:latin typeface="IRANSansWeb" panose="020B0506030804020204" pitchFamily="34" charset="-78"/>
                <a:cs typeface="IRANSansWeb" panose="020B0506030804020204" pitchFamily="34" charset="-78"/>
              </a:rPr>
              <a:t>به عنوان یک آدرس گره منحصر به فرد در شبکه </a:t>
            </a:r>
            <a:r>
              <a:rPr lang="en-US" sz="1200" dirty="0">
                <a:latin typeface="IRANSansWeb" panose="020B0506030804020204" pitchFamily="34" charset="-78"/>
                <a:cs typeface="IRANSansWeb" panose="020B0506030804020204" pitchFamily="34" charset="-78"/>
              </a:rPr>
              <a:t>IP</a:t>
            </a:r>
            <a:r>
              <a:rPr lang="fa-IR" sz="1200" dirty="0">
                <a:latin typeface="IRANSansWeb" panose="020B0506030804020204" pitchFamily="34" charset="-78"/>
                <a:cs typeface="IRANSansWeb" panose="020B0506030804020204" pitchFamily="34" charset="-78"/>
              </a:rPr>
              <a:t> </a:t>
            </a:r>
            <a:r>
              <a:rPr lang="en-US" sz="1200" dirty="0">
                <a:latin typeface="IRANSansWeb" panose="020B0506030804020204" pitchFamily="34" charset="-78"/>
                <a:cs typeface="IRANSansWeb" panose="020B0506030804020204" pitchFamily="34" charset="-78"/>
              </a:rPr>
              <a:t> </a:t>
            </a:r>
            <a:r>
              <a:rPr lang="fa-IR" sz="1200" dirty="0">
                <a:latin typeface="IRANSansWeb" panose="020B0506030804020204" pitchFamily="34" charset="-78"/>
                <a:cs typeface="IRANSansWeb" panose="020B0506030804020204" pitchFamily="34" charset="-78"/>
              </a:rPr>
              <a:t>محلی تفسیر شوند. شبکه </a:t>
            </a:r>
            <a:r>
              <a:rPr lang="en-US" sz="1200" dirty="0">
                <a:latin typeface="IRANSansWeb" panose="020B0506030804020204" pitchFamily="34" charset="-78"/>
                <a:cs typeface="IRANSansWeb" panose="020B0506030804020204" pitchFamily="34" charset="-78"/>
              </a:rPr>
              <a:t>IP</a:t>
            </a:r>
            <a:r>
              <a:rPr lang="fa-IR" sz="1200" dirty="0">
                <a:latin typeface="IRANSansWeb" panose="020B0506030804020204" pitchFamily="34" charset="-78"/>
                <a:cs typeface="IRANSansWeb" panose="020B0506030804020204" pitchFamily="34" charset="-78"/>
              </a:rPr>
              <a:t> </a:t>
            </a:r>
            <a:r>
              <a:rPr lang="en-US" sz="1200" dirty="0">
                <a:latin typeface="IRANSansWeb" panose="020B0506030804020204" pitchFamily="34" charset="-78"/>
                <a:cs typeface="IRANSansWeb" panose="020B0506030804020204" pitchFamily="34" charset="-78"/>
              </a:rPr>
              <a:t> </a:t>
            </a:r>
            <a:r>
              <a:rPr lang="fa-IR" sz="1200" dirty="0">
                <a:latin typeface="IRANSansWeb" panose="020B0506030804020204" pitchFamily="34" charset="-78"/>
                <a:cs typeface="IRANSansWeb" panose="020B0506030804020204" pitchFamily="34" charset="-78"/>
              </a:rPr>
              <a:t>محلی (زیرشبکه) شبکه‌ای است که می‌توان بدون استفاده از دروازه یا روتر به آن آدرس داد. ترافیک بین زیرشبکه‌ها باید از طریق یک روتر عبور کند. اینکه چه مقدار از آدرس به شبکه و چه مقدار به میزبان اختصاص داده می‌شود، بستگی به کلاس آدرس دارد. به عنوان مثال، در کلاس </a:t>
            </a:r>
            <a:r>
              <a:rPr lang="en-US" sz="1200" dirty="0">
                <a:latin typeface="IRANSansWeb" panose="020B0506030804020204" pitchFamily="34" charset="-78"/>
                <a:cs typeface="IRANSansWeb" panose="020B0506030804020204" pitchFamily="34" charset="-78"/>
              </a:rPr>
              <a:t>C، </a:t>
            </a:r>
            <a:r>
              <a:rPr lang="fa-IR" sz="1200" dirty="0">
                <a:latin typeface="IRANSansWeb" panose="020B0506030804020204" pitchFamily="34" charset="-78"/>
                <a:cs typeface="IRANSansWeb" panose="020B0506030804020204" pitchFamily="34" charset="-78"/>
              </a:rPr>
              <a:t>سه اکتت اول (هر اکتت ۸ بیت دارد) برای توصیف شبکه استفاده می‌شود. برای آدرس 192.168.0.15، بخش 192.168.0 نمایانگر شبکه است و عدد 15 نشان‌دهنده میزبان در آن شبکه می‌باشد.</a:t>
            </a:r>
          </a:p>
          <a:p>
            <a:pPr algn="r" rtl="1">
              <a:lnSpc>
                <a:spcPct val="170000"/>
              </a:lnSpc>
            </a:pPr>
            <a:endParaRPr lang="fa-IR" sz="1200" dirty="0">
              <a:latin typeface="IRANSansWeb" panose="020B0506030804020204" pitchFamily="34" charset="-78"/>
              <a:cs typeface="IRANSansWeb" panose="020B0506030804020204" pitchFamily="34" charset="-78"/>
            </a:endParaRPr>
          </a:p>
          <a:p>
            <a:endParaRPr lang="en-US" sz="1200" dirty="0"/>
          </a:p>
          <a:p>
            <a:r>
              <a:rPr lang="en-US" sz="1200" dirty="0"/>
              <a:t>Netmask</a:t>
            </a:r>
          </a:p>
          <a:p>
            <a:pPr algn="r" rtl="1">
              <a:lnSpc>
                <a:spcPct val="170000"/>
              </a:lnSpc>
            </a:pPr>
            <a:r>
              <a:rPr lang="fa-IR" sz="1200" dirty="0">
                <a:latin typeface="IRANSansWeb" panose="020B0506030804020204" pitchFamily="34" charset="-78"/>
                <a:cs typeface="IRANSansWeb" panose="020B0506030804020204" pitchFamily="34" charset="-78"/>
              </a:rPr>
              <a:t>تعداد بیت‌هایی که به عنوان حاوی اطلاعات مسیریابی تفسیر می‌شوند، توسط ماسک شبکه تعیین می‌شوند. تنظیم یک بیت در ماسک شبکه به این معنی است که آن بیت به عنوان اطلاعات مسیریابی تفسیر می‌شود. به عنوان مثال، اگر آدرس </a:t>
            </a:r>
            <a:r>
              <a:rPr lang="en-US" sz="1200" dirty="0">
                <a:latin typeface="IRANSansWeb" panose="020B0506030804020204" pitchFamily="34" charset="-78"/>
                <a:cs typeface="IRANSansWeb" panose="020B0506030804020204" pitchFamily="34" charset="-78"/>
              </a:rPr>
              <a:t>IPv4</a:t>
            </a:r>
            <a:r>
              <a:rPr lang="fa-IR" sz="1200" dirty="0">
                <a:latin typeface="IRANSansWeb" panose="020B0506030804020204" pitchFamily="34" charset="-78"/>
                <a:cs typeface="IRANSansWeb" panose="020B0506030804020204" pitchFamily="34" charset="-78"/>
              </a:rPr>
              <a:t> </a:t>
            </a:r>
            <a:r>
              <a:rPr lang="en-US" sz="1200" dirty="0">
                <a:latin typeface="IRANSansWeb" panose="020B0506030804020204" pitchFamily="34" charset="-78"/>
                <a:cs typeface="IRANSansWeb" panose="020B0506030804020204" pitchFamily="34" charset="-78"/>
              </a:rPr>
              <a:t> </a:t>
            </a:r>
            <a:r>
              <a:rPr lang="fa-IR" sz="1200" dirty="0">
                <a:latin typeface="IRANSansWeb" panose="020B0506030804020204" pitchFamily="34" charset="-78"/>
                <a:cs typeface="IRANSansWeb" panose="020B0506030804020204" pitchFamily="34" charset="-78"/>
              </a:rPr>
              <a:t>برابر با 10.134.134.10 و ماسک شبکه برابر با 255.255.0.0 باشد، آنگاه 10.134 اطلاعات مسیریابی و 134.10 اطلاعات آدرس محلی را ارائه می‌دهد. آدرس‌های </a:t>
            </a:r>
            <a:r>
              <a:rPr lang="en-US" sz="1200" dirty="0">
                <a:latin typeface="IRANSansWeb" panose="020B0506030804020204" pitchFamily="34" charset="-78"/>
                <a:cs typeface="IRANSansWeb" panose="020B0506030804020204" pitchFamily="34" charset="-78"/>
              </a:rPr>
              <a:t>IP</a:t>
            </a:r>
            <a:r>
              <a:rPr lang="fa-IR" sz="1200" dirty="0">
                <a:latin typeface="IRANSansWeb" panose="020B0506030804020204" pitchFamily="34" charset="-78"/>
                <a:cs typeface="IRANSansWeb" panose="020B0506030804020204" pitchFamily="34" charset="-78"/>
              </a:rPr>
              <a:t> </a:t>
            </a:r>
            <a:r>
              <a:rPr lang="en-US" sz="1200" dirty="0">
                <a:latin typeface="IRANSansWeb" panose="020B0506030804020204" pitchFamily="34" charset="-78"/>
                <a:cs typeface="IRANSansWeb" panose="020B0506030804020204" pitchFamily="34" charset="-78"/>
              </a:rPr>
              <a:t> </a:t>
            </a:r>
            <a:r>
              <a:rPr lang="fa-IR" sz="1200" dirty="0">
                <a:latin typeface="IRANSansWeb" panose="020B0506030804020204" pitchFamily="34" charset="-78"/>
                <a:cs typeface="IRANSansWeb" panose="020B0506030804020204" pitchFamily="34" charset="-78"/>
              </a:rPr>
              <a:t>که با 10.134 شروع می‌شوند، می‌توانند مستقیماً به مقصد خود در شبکه محلی ارسال شوند. آدرس‌های </a:t>
            </a:r>
            <a:r>
              <a:rPr lang="en-US" sz="1200" dirty="0">
                <a:latin typeface="IRANSansWeb" panose="020B0506030804020204" pitchFamily="34" charset="-78"/>
                <a:cs typeface="IRANSansWeb" panose="020B0506030804020204" pitchFamily="34" charset="-78"/>
              </a:rPr>
              <a:t>IP</a:t>
            </a:r>
            <a:r>
              <a:rPr lang="fa-IR" sz="1200" dirty="0">
                <a:latin typeface="IRANSansWeb" panose="020B0506030804020204" pitchFamily="34" charset="-78"/>
                <a:cs typeface="IRANSansWeb" panose="020B0506030804020204" pitchFamily="34" charset="-78"/>
              </a:rPr>
              <a:t> </a:t>
            </a:r>
            <a:r>
              <a:rPr lang="en-US" sz="1200" dirty="0">
                <a:latin typeface="IRANSansWeb" panose="020B0506030804020204" pitchFamily="34" charset="-78"/>
                <a:cs typeface="IRANSansWeb" panose="020B0506030804020204" pitchFamily="34" charset="-78"/>
              </a:rPr>
              <a:t> </a:t>
            </a:r>
            <a:r>
              <a:rPr lang="fa-IR" sz="1200" dirty="0">
                <a:latin typeface="IRANSansWeb" panose="020B0506030804020204" pitchFamily="34" charset="-78"/>
                <a:cs typeface="IRANSansWeb" panose="020B0506030804020204" pitchFamily="34" charset="-78"/>
              </a:rPr>
              <a:t>که با هر عدد دیگری شروع می‌شوند، در شبکه محلی نیستند، بنابراین باید به روتر ارسال شوند.</a:t>
            </a:r>
          </a:p>
        </p:txBody>
      </p:sp>
    </p:spTree>
    <p:extLst>
      <p:ext uri="{BB962C8B-B14F-4D97-AF65-F5344CB8AC3E}">
        <p14:creationId xmlns:p14="http://schemas.microsoft.com/office/powerpoint/2010/main" val="11085981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43707-CC2E-729C-0324-9CBCB7DC7A0B}"/>
              </a:ext>
            </a:extLst>
          </p:cNvPr>
          <p:cNvSpPr>
            <a:spLocks noGrp="1"/>
          </p:cNvSpPr>
          <p:nvPr>
            <p:ph type="title"/>
          </p:nvPr>
        </p:nvSpPr>
        <p:spPr/>
        <p:txBody>
          <a:bodyPr>
            <a:normAutofit/>
          </a:bodyPr>
          <a:lstStyle/>
          <a:p>
            <a:r>
              <a:rPr lang="en-US" dirty="0"/>
              <a:t>Router and Gateway Address</a:t>
            </a:r>
          </a:p>
        </p:txBody>
      </p:sp>
      <p:sp>
        <p:nvSpPr>
          <p:cNvPr id="3" name="Content Placeholder 2">
            <a:extLst>
              <a:ext uri="{FF2B5EF4-FFF2-40B4-BE49-F238E27FC236}">
                <a16:creationId xmlns:a16="http://schemas.microsoft.com/office/drawing/2014/main" id="{1678C17A-74A8-A2EA-BA84-BC8D457FF576}"/>
              </a:ext>
            </a:extLst>
          </p:cNvPr>
          <p:cNvSpPr>
            <a:spLocks noGrp="1"/>
          </p:cNvSpPr>
          <p:nvPr>
            <p:ph idx="1"/>
          </p:nvPr>
        </p:nvSpPr>
        <p:spPr/>
        <p:txBody>
          <a:bodyPr>
            <a:normAutofit fontScale="40000" lnSpcReduction="20000"/>
          </a:bodyPr>
          <a:lstStyle/>
          <a:p>
            <a:r>
              <a:rPr lang="en-US" dirty="0"/>
              <a:t>Router</a:t>
            </a:r>
          </a:p>
          <a:p>
            <a:pPr marL="0" indent="0">
              <a:buNone/>
            </a:pPr>
            <a:endParaRPr lang="en-US" dirty="0"/>
          </a:p>
          <a:p>
            <a:pPr algn="r" rtl="1">
              <a:lnSpc>
                <a:spcPct val="170000"/>
              </a:lnSpc>
            </a:pPr>
            <a:r>
              <a:rPr lang="fa-IR" dirty="0">
                <a:latin typeface="IRANSansWeb" panose="020B0506030804020204" pitchFamily="34" charset="-78"/>
                <a:cs typeface="IRANSansWeb" panose="020B0506030804020204" pitchFamily="34" charset="-78"/>
              </a:rPr>
              <a:t>ماسک شبکه برای تقسیم یک آدرس </a:t>
            </a:r>
            <a:r>
              <a:rPr lang="en-US" dirty="0">
                <a:latin typeface="IRANSansWeb" panose="020B0506030804020204" pitchFamily="34" charset="-78"/>
                <a:cs typeface="IRANSansWeb" panose="020B0506030804020204" pitchFamily="34" charset="-78"/>
              </a:rPr>
              <a:t>IP</a:t>
            </a:r>
            <a:r>
              <a:rPr lang="fa-IR" dirty="0">
                <a:latin typeface="IRANSansWeb" panose="020B0506030804020204" pitchFamily="34" charset="-78"/>
                <a:cs typeface="IRANSansWeb" panose="020B0506030804020204" pitchFamily="34" charset="-78"/>
              </a:rPr>
              <a:t> </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به بایت‌هایی که اطلاعات مسیریابی را ارائه می‌دهند و بایت‌هایی که اطلاعات آدرس محلی را ارائه می‌دهند، استفاده می‌شود. اگر آدرس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مقصد که با ماسک زیرشبکه </a:t>
            </a:r>
            <a:r>
              <a:rPr lang="en-US" dirty="0">
                <a:latin typeface="IRANSansWeb" panose="020B0506030804020204" pitchFamily="34" charset="-78"/>
                <a:cs typeface="IRANSansWeb" panose="020B0506030804020204" pitchFamily="34" charset="-78"/>
              </a:rPr>
              <a:t>AND</a:t>
            </a:r>
            <a:r>
              <a:rPr lang="fa-IR" dirty="0">
                <a:latin typeface="IRANSansWeb" panose="020B0506030804020204" pitchFamily="34" charset="-78"/>
                <a:cs typeface="IRANSansWeb" panose="020B0506030804020204" pitchFamily="34" charset="-78"/>
              </a:rPr>
              <a:t> </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بیتی شده است با آدرس </a:t>
            </a:r>
            <a:r>
              <a:rPr lang="en-US" dirty="0">
                <a:latin typeface="IRANSansWeb" panose="020B0506030804020204" pitchFamily="34" charset="-78"/>
                <a:cs typeface="IRANSansWeb" panose="020B0506030804020204" pitchFamily="34" charset="-78"/>
              </a:rPr>
              <a:t>IP</a:t>
            </a:r>
            <a:r>
              <a:rPr lang="fa-IR" dirty="0">
                <a:latin typeface="IRANSansWeb" panose="020B0506030804020204" pitchFamily="34" charset="-78"/>
                <a:cs typeface="IRANSansWeb" panose="020B0506030804020204" pitchFamily="34" charset="-78"/>
              </a:rPr>
              <a:t> </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محلی که با ماسک زیرشبکه </a:t>
            </a:r>
            <a:r>
              <a:rPr lang="en-US" dirty="0">
                <a:latin typeface="IRANSansWeb" panose="020B0506030804020204" pitchFamily="34" charset="-78"/>
                <a:cs typeface="IRANSansWeb" panose="020B0506030804020204" pitchFamily="34" charset="-78"/>
              </a:rPr>
              <a:t>AND</a:t>
            </a:r>
            <a:r>
              <a:rPr lang="fa-IR" dirty="0">
                <a:latin typeface="IRANSansWeb" panose="020B0506030804020204" pitchFamily="34" charset="-78"/>
                <a:cs typeface="IRANSansWeb" panose="020B0506030804020204" pitchFamily="34" charset="-78"/>
              </a:rPr>
              <a:t> </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بیتی شده است، مطابقت نداشته باشد، آنگاه دو آدرس </a:t>
            </a:r>
            <a:r>
              <a:rPr lang="en-US" dirty="0">
                <a:latin typeface="IRANSansWeb" panose="020B0506030804020204" pitchFamily="34" charset="-78"/>
                <a:cs typeface="IRANSansWeb" panose="020B0506030804020204" pitchFamily="34" charset="-78"/>
              </a:rPr>
              <a:t>IP</a:t>
            </a:r>
            <a:r>
              <a:rPr lang="fa-IR" dirty="0">
                <a:latin typeface="IRANSansWeb" panose="020B0506030804020204" pitchFamily="34" charset="-78"/>
                <a:cs typeface="IRANSansWeb" panose="020B0506030804020204" pitchFamily="34" charset="-78"/>
              </a:rPr>
              <a:t> </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در یک شبکه وجود ندارند. در این حالت، بسته‌ای که به آدرس مقصد ارسال می‌شود، نمی‌تواند مستقیماً ارسال شود و در عوض باید برای مسیریابی هوشمند بین شبکه‌ای به یک روتر ارسال شود. روتر دستگاهی از تجهیزات شبکهٔ رایانه‌ای است که بسته‌های داده </a:t>
            </a:r>
            <a:r>
              <a:rPr lang="en-US" dirty="0">
                <a:latin typeface="IRANSansWeb" panose="020B0506030804020204" pitchFamily="34" charset="-78"/>
                <a:cs typeface="IRANSansWeb" panose="020B0506030804020204" pitchFamily="34" charset="-78"/>
              </a:rPr>
              <a:t>(Data Packets) </a:t>
            </a:r>
            <a:r>
              <a:rPr lang="fa-IR" dirty="0">
                <a:latin typeface="IRANSansWeb" panose="020B0506030804020204" pitchFamily="34" charset="-78"/>
                <a:cs typeface="IRANSansWeb" panose="020B0506030804020204" pitchFamily="34" charset="-78"/>
              </a:rPr>
              <a:t>را در یک شبکه برای رسیدن به مقصدشان، هدایت می‌کند. مسیریابی در لایهٔ سوم مدل </a:t>
            </a:r>
            <a:r>
              <a:rPr lang="en-US" dirty="0">
                <a:latin typeface="IRANSansWeb" panose="020B0506030804020204" pitchFamily="34" charset="-78"/>
                <a:cs typeface="IRANSansWeb" panose="020B0506030804020204" pitchFamily="34" charset="-78"/>
              </a:rPr>
              <a:t> OSI</a:t>
            </a:r>
            <a:r>
              <a:rPr lang="fa-IR" dirty="0">
                <a:latin typeface="IRANSansWeb" panose="020B0506030804020204" pitchFamily="34" charset="-78"/>
                <a:cs typeface="IRANSansWeb" panose="020B0506030804020204" pitchFamily="34" charset="-78"/>
              </a:rPr>
              <a:t>رخ می‌دهد. مسیریاب جهت اتصال دو یا چند شبکه محلی به هم یا اتصال چندین خط شبکه بزرگ به هم مورد استفاده قرار می‌گیرند. مسیریاب می‌تواند انواع مختلف شبکه را به هم وصل کند</a:t>
            </a:r>
          </a:p>
          <a:p>
            <a:pPr algn="r" rtl="1">
              <a:lnSpc>
                <a:spcPct val="170000"/>
              </a:lnSpc>
            </a:pPr>
            <a:endParaRPr lang="en-US" dirty="0">
              <a:latin typeface="IRANSansWeb" panose="020B0506030804020204" pitchFamily="34" charset="-78"/>
              <a:cs typeface="IRANSansWeb" panose="020B0506030804020204" pitchFamily="34" charset="-78"/>
            </a:endParaRPr>
          </a:p>
          <a:p>
            <a:r>
              <a:rPr lang="en-US" dirty="0"/>
              <a:t>Gateway Address</a:t>
            </a:r>
          </a:p>
          <a:p>
            <a:endParaRPr lang="en-US" dirty="0"/>
          </a:p>
          <a:p>
            <a:pPr algn="r" rtl="1"/>
            <a:r>
              <a:rPr lang="fa-IR" dirty="0">
                <a:latin typeface="IRANSansWeb" panose="020B0506030804020204" pitchFamily="34" charset="-78"/>
                <a:cs typeface="IRANSansWeb" panose="020B0506030804020204" pitchFamily="34" charset="-78"/>
              </a:rPr>
              <a:t>آدرس دروازه</a:t>
            </a:r>
            <a:r>
              <a:rPr lang="en-US" dirty="0">
                <a:latin typeface="IRANSansWeb" panose="020B0506030804020204" pitchFamily="34" charset="-78"/>
                <a:cs typeface="IRANSansWeb" panose="020B0506030804020204" pitchFamily="34" charset="-78"/>
              </a:rPr>
              <a:t> (Gateway address) </a:t>
            </a:r>
            <a:r>
              <a:rPr lang="fa-IR" dirty="0">
                <a:latin typeface="IRANSansWeb" panose="020B0506030804020204" pitchFamily="34" charset="-78"/>
                <a:cs typeface="IRANSansWeb" panose="020B0506030804020204" pitchFamily="34" charset="-78"/>
              </a:rPr>
              <a:t>  آدرس </a:t>
            </a:r>
            <a:r>
              <a:rPr lang="en-US" dirty="0">
                <a:latin typeface="IRANSansWeb" panose="020B0506030804020204" pitchFamily="34" charset="-78"/>
                <a:cs typeface="IRANSansWeb" panose="020B0506030804020204" pitchFamily="34" charset="-78"/>
              </a:rPr>
              <a:t>IP</a:t>
            </a:r>
            <a:r>
              <a:rPr lang="fa-IR" dirty="0">
                <a:latin typeface="IRANSansWeb" panose="020B0506030804020204" pitchFamily="34" charset="-78"/>
                <a:cs typeface="IRANSansWeb" panose="020B0506030804020204" pitchFamily="34" charset="-78"/>
              </a:rPr>
              <a:t> </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روتر است - روتر دروازه‌ای به شبکه‌های دیگر (از راه دور) است.</a:t>
            </a:r>
            <a:endParaRPr lang="en-US" dirty="0">
              <a:latin typeface="IRANSansWeb" panose="020B0506030804020204" pitchFamily="34" charset="-78"/>
              <a:cs typeface="IRANSansWeb" panose="020B0506030804020204" pitchFamily="34" charset="-78"/>
            </a:endParaRPr>
          </a:p>
          <a:p>
            <a:endParaRPr lang="en-US" dirty="0"/>
          </a:p>
        </p:txBody>
      </p:sp>
    </p:spTree>
    <p:extLst>
      <p:ext uri="{BB962C8B-B14F-4D97-AF65-F5344CB8AC3E}">
        <p14:creationId xmlns:p14="http://schemas.microsoft.com/office/powerpoint/2010/main" val="4882972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6BF57-A908-B660-E16B-9BAFCDF9A7EC}"/>
              </a:ext>
            </a:extLst>
          </p:cNvPr>
          <p:cNvSpPr>
            <a:spLocks noGrp="1"/>
          </p:cNvSpPr>
          <p:nvPr>
            <p:ph type="title"/>
          </p:nvPr>
        </p:nvSpPr>
        <p:spPr/>
        <p:txBody>
          <a:bodyPr/>
          <a:lstStyle/>
          <a:p>
            <a:r>
              <a:rPr lang="en-US" dirty="0"/>
              <a:t>UDP(User Datagram Protocol)</a:t>
            </a:r>
          </a:p>
        </p:txBody>
      </p:sp>
      <p:sp>
        <p:nvSpPr>
          <p:cNvPr id="3" name="Content Placeholder 2">
            <a:extLst>
              <a:ext uri="{FF2B5EF4-FFF2-40B4-BE49-F238E27FC236}">
                <a16:creationId xmlns:a16="http://schemas.microsoft.com/office/drawing/2014/main" id="{E7779269-1EAC-5DB8-9241-68AF9701D8BC}"/>
              </a:ext>
            </a:extLst>
          </p:cNvPr>
          <p:cNvSpPr>
            <a:spLocks noGrp="1"/>
          </p:cNvSpPr>
          <p:nvPr>
            <p:ph idx="1"/>
          </p:nvPr>
        </p:nvSpPr>
        <p:spPr/>
        <p:txBody>
          <a:bodyPr>
            <a:normAutofit fontScale="40000" lnSpcReduction="20000"/>
          </a:bodyPr>
          <a:lstStyle/>
          <a:p>
            <a:pPr algn="r" rtl="1">
              <a:lnSpc>
                <a:spcPct val="170000"/>
              </a:lnSpc>
            </a:pPr>
            <a:r>
              <a:rPr lang="fa-IR" dirty="0">
                <a:latin typeface="IRANSansWeb" panose="020B0506030804020204" pitchFamily="34" charset="-78"/>
                <a:cs typeface="IRANSansWeb" panose="020B0506030804020204" pitchFamily="34" charset="-78"/>
              </a:rPr>
              <a:t>بسته‌های اترنت می‌توانند بسته‌های </a:t>
            </a:r>
            <a:r>
              <a:rPr lang="en-US" dirty="0">
                <a:latin typeface="IRANSansWeb" panose="020B0506030804020204" pitchFamily="34" charset="-78"/>
                <a:cs typeface="IRANSansWeb" panose="020B0506030804020204" pitchFamily="34" charset="-78"/>
              </a:rPr>
              <a:t> IP</a:t>
            </a:r>
            <a:r>
              <a:rPr lang="fa-IR" dirty="0">
                <a:latin typeface="IRANSansWeb" panose="020B0506030804020204" pitchFamily="34" charset="-78"/>
                <a:cs typeface="IRANSansWeb" panose="020B0506030804020204" pitchFamily="34" charset="-78"/>
              </a:rPr>
              <a:t>را حمل کنند که به نوبه خود می‌توانند بسته‌های </a:t>
            </a:r>
            <a:r>
              <a:rPr lang="en-US" dirty="0">
                <a:latin typeface="IRANSansWeb" panose="020B0506030804020204" pitchFamily="34" charset="-78"/>
                <a:cs typeface="IRANSansWeb" panose="020B0506030804020204" pitchFamily="34" charset="-78"/>
              </a:rPr>
              <a:t> UDP</a:t>
            </a:r>
            <a:r>
              <a:rPr lang="fa-IR" dirty="0">
                <a:latin typeface="IRANSansWeb" panose="020B0506030804020204" pitchFamily="34" charset="-78"/>
                <a:cs typeface="IRANSansWeb" panose="020B0506030804020204" pitchFamily="34" charset="-78"/>
              </a:rPr>
              <a:t>را حمل کنند.</a:t>
            </a:r>
          </a:p>
          <a:p>
            <a:pPr algn="r" rtl="1">
              <a:lnSpc>
                <a:spcPct val="170000"/>
              </a:lnSpc>
            </a:pPr>
            <a:endParaRPr lang="fa-IR" dirty="0">
              <a:latin typeface="IRANSansWeb" panose="020B0506030804020204" pitchFamily="34" charset="-78"/>
              <a:cs typeface="IRANSansWeb" panose="020B0506030804020204" pitchFamily="34" charset="-78"/>
            </a:endParaRPr>
          </a:p>
          <a:p>
            <a:pPr algn="r" rtl="1">
              <a:lnSpc>
                <a:spcPct val="170000"/>
              </a:lnSpc>
            </a:pPr>
            <a:r>
              <a:rPr lang="fa-IR" dirty="0">
                <a:latin typeface="IRANSansWeb" panose="020B0506030804020204" pitchFamily="34" charset="-78"/>
                <a:cs typeface="IRANSansWeb" panose="020B0506030804020204" pitchFamily="34" charset="-78"/>
              </a:rPr>
              <a:t>استاندارد </a:t>
            </a:r>
            <a:r>
              <a:rPr lang="en-US" dirty="0">
                <a:latin typeface="IRANSansWeb" panose="020B0506030804020204" pitchFamily="34" charset="-78"/>
                <a:cs typeface="IRANSansWeb" panose="020B0506030804020204" pitchFamily="34" charset="-78"/>
              </a:rPr>
              <a:t> UDP </a:t>
            </a:r>
            <a:r>
              <a:rPr lang="fa-IR" dirty="0">
                <a:latin typeface="IRANSansWeb" panose="020B0506030804020204" pitchFamily="34" charset="-78"/>
                <a:cs typeface="IRANSansWeb" panose="020B0506030804020204" pitchFamily="34" charset="-78"/>
              </a:rPr>
              <a:t>برای ارسال و دریافت داده‌ها در بسته‌های بدون اتصال استفاده می‌شود. این بسته‌ها بدون اتصال در نظر گرفته می‌شوند زیرا برخلاف بسته‌های </a:t>
            </a:r>
            <a:r>
              <a:rPr lang="en-US" dirty="0">
                <a:latin typeface="IRANSansWeb" panose="020B0506030804020204" pitchFamily="34" charset="-78"/>
                <a:cs typeface="IRANSansWeb" panose="020B0506030804020204" pitchFamily="34" charset="-78"/>
              </a:rPr>
              <a:t>TCP، </a:t>
            </a:r>
            <a:r>
              <a:rPr lang="fa-IR" dirty="0">
                <a:latin typeface="IRANSansWeb" panose="020B0506030804020204" pitchFamily="34" charset="-78"/>
                <a:cs typeface="IRANSansWeb" panose="020B0506030804020204" pitchFamily="34" charset="-78"/>
              </a:rPr>
              <a:t>قبل از ارسال یا دریافت داده، نیازی به برقراری اتصال با گره شبکه دیگری ندارند.</a:t>
            </a:r>
          </a:p>
          <a:p>
            <a:pPr algn="r" rtl="1">
              <a:lnSpc>
                <a:spcPct val="170000"/>
              </a:lnSpc>
            </a:pPr>
            <a:endParaRPr lang="fa-IR" dirty="0">
              <a:latin typeface="IRANSansWeb" panose="020B0506030804020204" pitchFamily="34" charset="-78"/>
              <a:cs typeface="IRANSansWeb" panose="020B0506030804020204" pitchFamily="34" charset="-78"/>
            </a:endParaRPr>
          </a:p>
          <a:p>
            <a:pPr algn="r" rtl="1">
              <a:lnSpc>
                <a:spcPct val="170000"/>
              </a:lnSpc>
            </a:pPr>
            <a:r>
              <a:rPr lang="fa-IR" dirty="0">
                <a:latin typeface="IRANSansWeb" panose="020B0506030804020204" pitchFamily="34" charset="-78"/>
                <a:cs typeface="IRANSansWeb" panose="020B0506030804020204" pitchFamily="34" charset="-78"/>
              </a:rPr>
              <a:t>پروتکل </a:t>
            </a:r>
            <a:r>
              <a:rPr lang="en-US" dirty="0">
                <a:latin typeface="IRANSansWeb" panose="020B0506030804020204" pitchFamily="34" charset="-78"/>
                <a:cs typeface="IRANSansWeb" panose="020B0506030804020204" pitchFamily="34" charset="-78"/>
              </a:rPr>
              <a:t> UDP</a:t>
            </a:r>
            <a:r>
              <a:rPr lang="fa-IR" dirty="0">
                <a:latin typeface="IRANSansWeb" panose="020B0506030804020204" pitchFamily="34" charset="-78"/>
                <a:cs typeface="IRANSansWeb" panose="020B0506030804020204" pitchFamily="34" charset="-78"/>
              </a:rPr>
              <a:t>شامل ابزاری برای اطلاع از اینکه آیا داده‌های ارسالی به گیرنده مورد نظر خود رسیده‌اند یا خیر، نیست. اگر چنین تأییدی لازم باشد، باید توسط خود برنامه ارائه شود. به عنوان مثال، یک برنامه ممکن است به طور بسیار خام از بسته‌های </a:t>
            </a:r>
            <a:r>
              <a:rPr lang="en-US" dirty="0">
                <a:latin typeface="IRANSansWeb" panose="020B0506030804020204" pitchFamily="34" charset="-78"/>
                <a:cs typeface="IRANSansWeb" panose="020B0506030804020204" pitchFamily="34" charset="-78"/>
              </a:rPr>
              <a:t> UDP</a:t>
            </a:r>
            <a:r>
              <a:rPr lang="fa-IR" dirty="0">
                <a:latin typeface="IRANSansWeb" panose="020B0506030804020204" pitchFamily="34" charset="-78"/>
                <a:cs typeface="IRANSansWeb" panose="020B0506030804020204" pitchFamily="34" charset="-78"/>
              </a:rPr>
              <a:t>جداگانه برای انعکاس داده‌های دریافتی به فرستنده استفاده کند تا فرستنده بداند که داده‌ها دریافت شده‌اند.</a:t>
            </a:r>
          </a:p>
          <a:p>
            <a:pPr algn="r" rtl="1">
              <a:lnSpc>
                <a:spcPct val="170000"/>
              </a:lnSpc>
            </a:pPr>
            <a:endParaRPr lang="fa-IR" dirty="0">
              <a:latin typeface="IRANSansWeb" panose="020B0506030804020204" pitchFamily="34" charset="-78"/>
              <a:cs typeface="IRANSansWeb" panose="020B0506030804020204" pitchFamily="34" charset="-78"/>
            </a:endParaRPr>
          </a:p>
          <a:p>
            <a:pPr algn="r" rtl="1">
              <a:lnSpc>
                <a:spcPct val="170000"/>
              </a:lnSpc>
            </a:pPr>
            <a:r>
              <a:rPr lang="en-US" dirty="0">
                <a:latin typeface="IRANSansWeb" panose="020B0506030804020204" pitchFamily="34" charset="-78"/>
                <a:cs typeface="IRANSansWeb" panose="020B0506030804020204" pitchFamily="34" charset="-78"/>
              </a:rPr>
              <a:t> UDP </a:t>
            </a:r>
            <a:r>
              <a:rPr lang="fa-IR" dirty="0">
                <a:latin typeface="IRANSansWeb" panose="020B0506030804020204" pitchFamily="34" charset="-78"/>
                <a:cs typeface="IRANSansWeb" panose="020B0506030804020204" pitchFamily="34" charset="-78"/>
              </a:rPr>
              <a:t>بسیار سریعتر‌</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 و ساده‌ تر از </a:t>
            </a:r>
            <a:r>
              <a:rPr lang="en-US" dirty="0">
                <a:latin typeface="IRANSansWeb" panose="020B0506030804020204" pitchFamily="34" charset="-78"/>
                <a:cs typeface="IRANSansWeb" panose="020B0506030804020204" pitchFamily="34" charset="-78"/>
              </a:rPr>
              <a:t>TCP</a:t>
            </a:r>
            <a:r>
              <a:rPr lang="fa-IR" dirty="0">
                <a:latin typeface="IRANSansWeb" panose="020B0506030804020204" pitchFamily="34" charset="-78"/>
                <a:cs typeface="IRANSansWeb" panose="020B0506030804020204" pitchFamily="34" charset="-78"/>
              </a:rPr>
              <a:t> است و به رم کمتری نسبت به </a:t>
            </a:r>
            <a:r>
              <a:rPr lang="en-US" dirty="0">
                <a:latin typeface="IRANSansWeb" panose="020B0506030804020204" pitchFamily="34" charset="-78"/>
                <a:cs typeface="IRANSansWeb" panose="020B0506030804020204" pitchFamily="34" charset="-78"/>
              </a:rPr>
              <a:t> TCP</a:t>
            </a:r>
            <a:r>
              <a:rPr lang="fa-IR" dirty="0">
                <a:latin typeface="IRANSansWeb" panose="020B0506030804020204" pitchFamily="34" charset="-78"/>
                <a:cs typeface="IRANSansWeb" panose="020B0506030804020204" pitchFamily="34" charset="-78"/>
              </a:rPr>
              <a:t>نیاز دارد.</a:t>
            </a:r>
          </a:p>
        </p:txBody>
      </p:sp>
    </p:spTree>
    <p:extLst>
      <p:ext uri="{BB962C8B-B14F-4D97-AF65-F5344CB8AC3E}">
        <p14:creationId xmlns:p14="http://schemas.microsoft.com/office/powerpoint/2010/main" val="6480240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3ABC-BC89-4CB2-7DB1-C2A7AA0BC8D5}"/>
              </a:ext>
            </a:extLst>
          </p:cNvPr>
          <p:cNvSpPr>
            <a:spLocks noGrp="1"/>
          </p:cNvSpPr>
          <p:nvPr>
            <p:ph type="title"/>
          </p:nvPr>
        </p:nvSpPr>
        <p:spPr/>
        <p:txBody>
          <a:bodyPr>
            <a:normAutofit fontScale="90000"/>
          </a:bodyPr>
          <a:lstStyle/>
          <a:p>
            <a:r>
              <a:rPr lang="en-US" dirty="0"/>
              <a:t>TCP (Transmission Control Protocol)</a:t>
            </a:r>
          </a:p>
        </p:txBody>
      </p:sp>
      <p:sp>
        <p:nvSpPr>
          <p:cNvPr id="3" name="Content Placeholder 2">
            <a:extLst>
              <a:ext uri="{FF2B5EF4-FFF2-40B4-BE49-F238E27FC236}">
                <a16:creationId xmlns:a16="http://schemas.microsoft.com/office/drawing/2014/main" id="{C412BB75-15F8-09DD-B07C-13B2954C2051}"/>
              </a:ext>
            </a:extLst>
          </p:cNvPr>
          <p:cNvSpPr>
            <a:spLocks noGrp="1"/>
          </p:cNvSpPr>
          <p:nvPr>
            <p:ph idx="1"/>
          </p:nvPr>
        </p:nvSpPr>
        <p:spPr/>
        <p:txBody>
          <a:bodyPr>
            <a:normAutofit fontScale="47500" lnSpcReduction="20000"/>
          </a:bodyPr>
          <a:lstStyle/>
          <a:p>
            <a:pPr algn="r" rtl="1">
              <a:lnSpc>
                <a:spcPct val="170000"/>
              </a:lnSpc>
            </a:pPr>
            <a:endParaRPr lang="en-US" dirty="0">
              <a:latin typeface="IRANSansWeb" panose="020B0506030804020204" pitchFamily="34" charset="-78"/>
              <a:cs typeface="IRANSansWeb" panose="020B0506030804020204" pitchFamily="34" charset="-78"/>
            </a:endParaRPr>
          </a:p>
          <a:p>
            <a:pPr algn="r" rtl="1">
              <a:lnSpc>
                <a:spcPct val="170000"/>
              </a:lnSpc>
            </a:pPr>
            <a:r>
              <a:rPr lang="fa-IR" sz="2900" dirty="0">
                <a:latin typeface="IRANSansWeb" panose="020B0506030804020204" pitchFamily="34" charset="-78"/>
                <a:cs typeface="IRANSansWeb" panose="020B0506030804020204" pitchFamily="34" charset="-78"/>
              </a:rPr>
              <a:t>بسته‌های اترنت می‌توانند بسته‌های </a:t>
            </a:r>
            <a:r>
              <a:rPr lang="en-US" sz="2900" dirty="0">
                <a:latin typeface="IRANSansWeb" panose="020B0506030804020204" pitchFamily="34" charset="-78"/>
                <a:cs typeface="IRANSansWeb" panose="020B0506030804020204" pitchFamily="34" charset="-78"/>
              </a:rPr>
              <a:t>IP</a:t>
            </a:r>
            <a:r>
              <a:rPr lang="fa-IR" sz="2900" dirty="0">
                <a:latin typeface="IRANSansWeb" panose="020B0506030804020204" pitchFamily="34" charset="-78"/>
                <a:cs typeface="IRANSansWeb" panose="020B0506030804020204" pitchFamily="34" charset="-78"/>
              </a:rPr>
              <a:t> را  حمل کنند که به نوبه خود می‌توانند بسته‌های </a:t>
            </a:r>
            <a:r>
              <a:rPr lang="en-US" sz="2900" dirty="0">
                <a:latin typeface="IRANSansWeb" panose="020B0506030804020204" pitchFamily="34" charset="-78"/>
                <a:cs typeface="IRANSansWeb" panose="020B0506030804020204" pitchFamily="34" charset="-78"/>
              </a:rPr>
              <a:t>TCP </a:t>
            </a:r>
            <a:r>
              <a:rPr lang="fa-IR" sz="2900" dirty="0">
                <a:latin typeface="IRANSansWeb" panose="020B0506030804020204" pitchFamily="34" charset="-78"/>
                <a:cs typeface="IRANSansWeb" panose="020B0506030804020204" pitchFamily="34" charset="-78"/>
              </a:rPr>
              <a:t> را حمل کنند.</a:t>
            </a:r>
          </a:p>
          <a:p>
            <a:pPr algn="r" rtl="1">
              <a:lnSpc>
                <a:spcPct val="170000"/>
              </a:lnSpc>
            </a:pPr>
            <a:endParaRPr lang="fa-IR" sz="2900" dirty="0">
              <a:latin typeface="IRANSansWeb" panose="020B0506030804020204" pitchFamily="34" charset="-78"/>
              <a:cs typeface="IRANSansWeb" panose="020B0506030804020204" pitchFamily="34" charset="-78"/>
            </a:endParaRPr>
          </a:p>
          <a:p>
            <a:pPr algn="r" rtl="1">
              <a:lnSpc>
                <a:spcPct val="170000"/>
              </a:lnSpc>
            </a:pPr>
            <a:r>
              <a:rPr lang="en-US" sz="2900" dirty="0">
                <a:latin typeface="IRANSansWeb" panose="020B0506030804020204" pitchFamily="34" charset="-78"/>
                <a:cs typeface="IRANSansWeb" panose="020B0506030804020204" pitchFamily="34" charset="-78"/>
              </a:rPr>
              <a:t>TCP </a:t>
            </a:r>
            <a:r>
              <a:rPr lang="fa-IR" sz="2900" dirty="0">
                <a:latin typeface="IRANSansWeb" panose="020B0506030804020204" pitchFamily="34" charset="-78"/>
                <a:cs typeface="IRANSansWeb" panose="020B0506030804020204" pitchFamily="34" charset="-78"/>
              </a:rPr>
              <a:t>برای ارسال و دریافت جریانی از داده‌ها در یک اتصال از پیش برقرار شده استفاده می‌شود. خود پروتکل </a:t>
            </a:r>
            <a:r>
              <a:rPr lang="en-US" sz="2900" dirty="0">
                <a:latin typeface="IRANSansWeb" panose="020B0506030804020204" pitchFamily="34" charset="-78"/>
                <a:cs typeface="IRANSansWeb" panose="020B0506030804020204" pitchFamily="34" charset="-78"/>
              </a:rPr>
              <a:t>TCP </a:t>
            </a:r>
            <a:r>
              <a:rPr lang="fa-IR" sz="2900" dirty="0">
                <a:latin typeface="IRANSansWeb" panose="020B0506030804020204" pitchFamily="34" charset="-78"/>
                <a:cs typeface="IRANSansWeb" panose="020B0506030804020204" pitchFamily="34" charset="-78"/>
              </a:rPr>
              <a:t>وظیفه تنظیم اتصال و اطمینان از دریافت صحیح تمام داده‌های منتقل شده را بر عهده دارد.</a:t>
            </a:r>
          </a:p>
          <a:p>
            <a:pPr algn="r" rtl="1">
              <a:lnSpc>
                <a:spcPct val="170000"/>
              </a:lnSpc>
            </a:pPr>
            <a:endParaRPr lang="fa-IR" sz="2900" dirty="0">
              <a:latin typeface="IRANSansWeb" panose="020B0506030804020204" pitchFamily="34" charset="-78"/>
              <a:cs typeface="IRANSansWeb" panose="020B0506030804020204" pitchFamily="34" charset="-78"/>
            </a:endParaRPr>
          </a:p>
          <a:p>
            <a:pPr algn="r" rtl="1">
              <a:lnSpc>
                <a:spcPct val="170000"/>
              </a:lnSpc>
            </a:pPr>
            <a:r>
              <a:rPr lang="en-US" sz="2900" dirty="0">
                <a:latin typeface="IRANSansWeb" panose="020B0506030804020204" pitchFamily="34" charset="-78"/>
                <a:cs typeface="IRANSansWeb" panose="020B0506030804020204" pitchFamily="34" charset="-78"/>
              </a:rPr>
              <a:t>TCP </a:t>
            </a:r>
            <a:r>
              <a:rPr lang="fa-IR" sz="2900" dirty="0">
                <a:latin typeface="IRANSansWeb" panose="020B0506030804020204" pitchFamily="34" charset="-78"/>
                <a:cs typeface="IRANSansWeb" panose="020B0506030804020204" pitchFamily="34" charset="-78"/>
              </a:rPr>
              <a:t> از </a:t>
            </a:r>
            <a:r>
              <a:rPr lang="en-US" sz="2900" dirty="0">
                <a:latin typeface="IRANSansWeb" panose="020B0506030804020204" pitchFamily="34" charset="-78"/>
                <a:cs typeface="IRANSansWeb" panose="020B0506030804020204" pitchFamily="34" charset="-78"/>
              </a:rPr>
              <a:t>UDP </a:t>
            </a:r>
            <a:r>
              <a:rPr lang="fa-IR" sz="2900" dirty="0">
                <a:latin typeface="IRANSansWeb" panose="020B0506030804020204" pitchFamily="34" charset="-78"/>
                <a:cs typeface="IRANSansWeb" panose="020B0506030804020204" pitchFamily="34" charset="-78"/>
              </a:rPr>
              <a:t> قابل اعتمادتر است، اما استفاده از آن پیچیده‌تر است و به </a:t>
            </a:r>
            <a:r>
              <a:rPr lang="en-US" sz="2900" dirty="0">
                <a:latin typeface="IRANSansWeb" panose="020B0506030804020204" pitchFamily="34" charset="-78"/>
                <a:cs typeface="IRANSansWeb" panose="020B0506030804020204" pitchFamily="34" charset="-78"/>
              </a:rPr>
              <a:t>RAM </a:t>
            </a:r>
            <a:r>
              <a:rPr lang="fa-IR" sz="2900" dirty="0">
                <a:latin typeface="IRANSansWeb" panose="020B0506030804020204" pitchFamily="34" charset="-78"/>
                <a:cs typeface="IRANSansWeb" panose="020B0506030804020204" pitchFamily="34" charset="-78"/>
              </a:rPr>
              <a:t> بیشتری نیاز دارد. استفاده اضافی از </a:t>
            </a:r>
            <a:r>
              <a:rPr lang="en-US" sz="2900" dirty="0">
                <a:latin typeface="IRANSansWeb" panose="020B0506030804020204" pitchFamily="34" charset="-78"/>
                <a:cs typeface="IRANSansWeb" panose="020B0506030804020204" pitchFamily="34" charset="-78"/>
              </a:rPr>
              <a:t>RAM </a:t>
            </a:r>
            <a:r>
              <a:rPr lang="fa-IR" sz="2900" dirty="0">
                <a:latin typeface="IRANSansWeb" panose="020B0506030804020204" pitchFamily="34" charset="-78"/>
                <a:cs typeface="IRANSansWeb" panose="020B0506030804020204" pitchFamily="34" charset="-78"/>
              </a:rPr>
              <a:t> تا حدی به دلیل لزوم نگهداری بسته‌هایی است که قبلاً به شبکه ارسال شده‌اند تا زمانی که به درستی تأیید شوند (در صورتی که بسته‌ها نیاز به ارسال مجدد داشته باشند) و نیاز به جمع‌آوری داده‌هایی که بین چندین بسته تقسیم می‌شوند تا یک جریان قابل اعتماد ایجاد شود.</a:t>
            </a:r>
          </a:p>
          <a:p>
            <a:pPr marL="0" indent="0" algn="r" rtl="1">
              <a:lnSpc>
                <a:spcPct val="170000"/>
              </a:lnSpc>
              <a:buNone/>
            </a:pPr>
            <a:endParaRPr lang="en-US"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31148428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299D3-8C22-BE6E-947F-A64BC19F456B}"/>
              </a:ext>
            </a:extLst>
          </p:cNvPr>
          <p:cNvSpPr>
            <a:spLocks noGrp="1"/>
          </p:cNvSpPr>
          <p:nvPr>
            <p:ph type="title"/>
          </p:nvPr>
        </p:nvSpPr>
        <p:spPr/>
        <p:txBody>
          <a:bodyPr>
            <a:normAutofit/>
          </a:bodyPr>
          <a:lstStyle/>
          <a:p>
            <a:r>
              <a:rPr lang="en-US" dirty="0"/>
              <a:t>MSS</a:t>
            </a:r>
            <a:r>
              <a:rPr lang="fa-IR" dirty="0"/>
              <a:t> </a:t>
            </a:r>
            <a:r>
              <a:rPr lang="en-US" dirty="0"/>
              <a:t>(Maximum Segment Size)</a:t>
            </a:r>
          </a:p>
        </p:txBody>
      </p:sp>
      <p:sp>
        <p:nvSpPr>
          <p:cNvPr id="3" name="Content Placeholder 2">
            <a:extLst>
              <a:ext uri="{FF2B5EF4-FFF2-40B4-BE49-F238E27FC236}">
                <a16:creationId xmlns:a16="http://schemas.microsoft.com/office/drawing/2014/main" id="{FF477F4B-4059-2C8E-FA48-F32A1A59E3EA}"/>
              </a:ext>
            </a:extLst>
          </p:cNvPr>
          <p:cNvSpPr>
            <a:spLocks noGrp="1"/>
          </p:cNvSpPr>
          <p:nvPr>
            <p:ph idx="1"/>
          </p:nvPr>
        </p:nvSpPr>
        <p:spPr/>
        <p:txBody>
          <a:bodyPr>
            <a:normAutofit fontScale="40000" lnSpcReduction="20000"/>
          </a:bodyPr>
          <a:lstStyle/>
          <a:p>
            <a:r>
              <a:rPr lang="en-US" dirty="0"/>
              <a:t>MSS</a:t>
            </a:r>
          </a:p>
          <a:p>
            <a:pPr algn="r" rtl="1">
              <a:lnSpc>
                <a:spcPct val="170000"/>
              </a:lnSpc>
            </a:pPr>
            <a:r>
              <a:rPr lang="fa-IR" dirty="0">
                <a:latin typeface="IRANSansWeb" panose="020B0506030804020204" pitchFamily="34" charset="-78"/>
                <a:cs typeface="IRANSansWeb" panose="020B0506030804020204" pitchFamily="34" charset="-78"/>
              </a:rPr>
              <a:t>حداکثر مقدار داده‌ای را که می‌توان در یک بسته </a:t>
            </a:r>
            <a:r>
              <a:rPr lang="en-US" dirty="0">
                <a:latin typeface="IRANSansWeb" panose="020B0506030804020204" pitchFamily="34" charset="-78"/>
                <a:cs typeface="IRANSansWeb" panose="020B0506030804020204" pitchFamily="34" charset="-78"/>
              </a:rPr>
              <a:t>TCP </a:t>
            </a:r>
            <a:r>
              <a:rPr lang="fa-IR" dirty="0">
                <a:latin typeface="IRANSansWeb" panose="020B0506030804020204" pitchFamily="34" charset="-78"/>
                <a:cs typeface="IRANSansWeb" panose="020B0506030804020204" pitchFamily="34" charset="-78"/>
              </a:rPr>
              <a:t> یا </a:t>
            </a:r>
            <a:r>
              <a:rPr lang="en-US" dirty="0">
                <a:latin typeface="IRANSansWeb" panose="020B0506030804020204" pitchFamily="34" charset="-78"/>
                <a:cs typeface="IRANSansWeb" panose="020B0506030804020204" pitchFamily="34" charset="-78"/>
              </a:rPr>
              <a:t>UDP </a:t>
            </a:r>
            <a:r>
              <a:rPr lang="fa-IR" dirty="0">
                <a:latin typeface="IRANSansWeb" panose="020B0506030804020204" pitchFamily="34" charset="-78"/>
                <a:cs typeface="IRANSansWeb" panose="020B0506030804020204" pitchFamily="34" charset="-78"/>
              </a:rPr>
              <a:t> ارسال یا دریافت کرد، تعریف می‌کند. این عبارت با مقدار </a:t>
            </a:r>
            <a:r>
              <a:rPr lang="en-US" dirty="0">
                <a:latin typeface="IRANSansWeb" panose="020B0506030804020204" pitchFamily="34" charset="-78"/>
                <a:cs typeface="IRANSansWeb" panose="020B0506030804020204" pitchFamily="34" charset="-78"/>
              </a:rPr>
              <a:t>MTU </a:t>
            </a:r>
            <a:r>
              <a:rPr lang="fa-IR" dirty="0">
                <a:latin typeface="IRANSansWeb" panose="020B0506030804020204" pitchFamily="34" charset="-78"/>
                <a:cs typeface="IRANSansWeb" panose="020B0506030804020204" pitchFamily="34" charset="-78"/>
              </a:rPr>
              <a:t> متفاوت است، زیرا مقدار آن فقط به اندازه داده اعمال می‌شود، نه به اندازه فریم، بنابراین هدرهای پروتکل اترنت، </a:t>
            </a:r>
            <a:r>
              <a:rPr lang="en-US" dirty="0">
                <a:latin typeface="IRANSansWeb" panose="020B0506030804020204" pitchFamily="34" charset="-78"/>
                <a:cs typeface="IRANSansWeb" panose="020B0506030804020204" pitchFamily="34" charset="-78"/>
              </a:rPr>
              <a:t>IP، TCP </a:t>
            </a:r>
            <a:r>
              <a:rPr lang="fa-IR" dirty="0">
                <a:latin typeface="IRANSansWeb" panose="020B0506030804020204" pitchFamily="34" charset="-78"/>
                <a:cs typeface="IRANSansWeb" panose="020B0506030804020204" pitchFamily="34" charset="-78"/>
              </a:rPr>
              <a:t>یا </a:t>
            </a:r>
            <a:r>
              <a:rPr lang="en-US" dirty="0">
                <a:latin typeface="IRANSansWeb" panose="020B0506030804020204" pitchFamily="34" charset="-78"/>
                <a:cs typeface="IRANSansWeb" panose="020B0506030804020204" pitchFamily="34" charset="-78"/>
              </a:rPr>
              <a:t>UDP </a:t>
            </a:r>
            <a:r>
              <a:rPr lang="fa-IR" dirty="0">
                <a:latin typeface="IRANSansWeb" panose="020B0506030804020204" pitchFamily="34" charset="-78"/>
                <a:cs typeface="IRANSansWeb" panose="020B0506030804020204" pitchFamily="34" charset="-78"/>
              </a:rPr>
              <a:t> را شامل نمی‌شود. </a:t>
            </a:r>
            <a:r>
              <a:rPr lang="en-US" dirty="0">
                <a:latin typeface="IRANSansWeb" panose="020B0506030804020204" pitchFamily="34" charset="-78"/>
                <a:cs typeface="IRANSansWeb" panose="020B0506030804020204" pitchFamily="34" charset="-78"/>
              </a:rPr>
              <a:t>MSS </a:t>
            </a:r>
            <a:r>
              <a:rPr lang="fa-IR" dirty="0">
                <a:latin typeface="IRANSansWeb" panose="020B0506030804020204" pitchFamily="34" charset="-78"/>
                <a:cs typeface="IRANSansWeb" panose="020B0506030804020204" pitchFamily="34" charset="-78"/>
              </a:rPr>
              <a:t> به </a:t>
            </a:r>
            <a:r>
              <a:rPr lang="en-US" dirty="0">
                <a:latin typeface="IRANSansWeb" panose="020B0506030804020204" pitchFamily="34" charset="-78"/>
                <a:cs typeface="IRANSansWeb" panose="020B0506030804020204" pitchFamily="34" charset="-78"/>
              </a:rPr>
              <a:t>MTU </a:t>
            </a:r>
            <a:r>
              <a:rPr lang="fa-IR" dirty="0">
                <a:latin typeface="IRANSansWeb" panose="020B0506030804020204" pitchFamily="34" charset="-78"/>
                <a:cs typeface="IRANSansWeb" panose="020B0506030804020204" pitchFamily="34" charset="-78"/>
              </a:rPr>
              <a:t> و حداکثر تعداد بایت‌های گزینه‌ها وابسته است.</a:t>
            </a:r>
          </a:p>
          <a:p>
            <a:pPr algn="r" rtl="1">
              <a:lnSpc>
                <a:spcPct val="170000"/>
              </a:lnSpc>
            </a:pPr>
            <a:r>
              <a:rPr lang="fa-IR" dirty="0">
                <a:latin typeface="IRANSansWeb" panose="020B0506030804020204" pitchFamily="34" charset="-78"/>
                <a:cs typeface="IRANSansWeb" panose="020B0506030804020204" pitchFamily="34" charset="-78"/>
              </a:rPr>
              <a:t>در زیر یک مثال از محاسبه </a:t>
            </a:r>
            <a:r>
              <a:rPr lang="en-US" dirty="0">
                <a:latin typeface="IRANSansWeb" panose="020B0506030804020204" pitchFamily="34" charset="-78"/>
                <a:cs typeface="IRANSansWeb" panose="020B0506030804020204" pitchFamily="34" charset="-78"/>
              </a:rPr>
              <a:t>MSS </a:t>
            </a:r>
            <a:r>
              <a:rPr lang="fa-IR" dirty="0">
                <a:latin typeface="IRANSansWeb" panose="020B0506030804020204" pitchFamily="34" charset="-78"/>
                <a:cs typeface="IRANSansWeb" panose="020B0506030804020204" pitchFamily="34" charset="-78"/>
              </a:rPr>
              <a:t> برای </a:t>
            </a:r>
            <a:r>
              <a:rPr lang="en-US" dirty="0">
                <a:latin typeface="IRANSansWeb" panose="020B0506030804020204" pitchFamily="34" charset="-78"/>
                <a:cs typeface="IRANSansWeb" panose="020B0506030804020204" pitchFamily="34" charset="-78"/>
              </a:rPr>
              <a:t>IPv4</a:t>
            </a:r>
            <a:r>
              <a:rPr lang="fa-IR" dirty="0">
                <a:latin typeface="IRANSansWeb" panose="020B0506030804020204" pitchFamily="34" charset="-78"/>
                <a:cs typeface="IRANSansWeb" panose="020B0506030804020204" pitchFamily="34" charset="-78"/>
              </a:rPr>
              <a:t> آمده است که از </a:t>
            </a:r>
            <a:r>
              <a:rPr lang="en-US" dirty="0">
                <a:latin typeface="IRANSansWeb" panose="020B0506030804020204" pitchFamily="34" charset="-78"/>
                <a:cs typeface="IRANSansWeb" panose="020B0506030804020204" pitchFamily="34" charset="-78"/>
              </a:rPr>
              <a:t>MTU 1526 </a:t>
            </a:r>
            <a:r>
              <a:rPr lang="fa-IR" dirty="0">
                <a:latin typeface="IRANSansWeb" panose="020B0506030804020204" pitchFamily="34" charset="-78"/>
                <a:cs typeface="IRANSansWeb" panose="020B0506030804020204" pitchFamily="34" charset="-78"/>
              </a:rPr>
              <a:t> بایت شروع می‌شود. تعداد بایت‌های مصرف شده توسط هدرهای مختلف موجود در فریم برای بدست آوردن اندازه </a:t>
            </a:r>
            <a:r>
              <a:rPr lang="en-US" dirty="0">
                <a:latin typeface="IRANSansWeb" panose="020B0506030804020204" pitchFamily="34" charset="-78"/>
                <a:cs typeface="IRANSansWeb" panose="020B0506030804020204" pitchFamily="34" charset="-78"/>
              </a:rPr>
              <a:t>MSS </a:t>
            </a:r>
            <a:r>
              <a:rPr lang="fa-IR" dirty="0">
                <a:latin typeface="IRANSansWeb" panose="020B0506030804020204" pitchFamily="34" charset="-78"/>
                <a:cs typeface="IRANSansWeb" panose="020B0506030804020204" pitchFamily="34" charset="-78"/>
              </a:rPr>
              <a:t> کم می‌شوند:</a:t>
            </a:r>
          </a:p>
          <a:p>
            <a:endParaRPr lang="en-US" dirty="0"/>
          </a:p>
          <a:p>
            <a:pPr marL="0" indent="0">
              <a:buNone/>
            </a:pPr>
            <a:r>
              <a:rPr lang="en-US" dirty="0"/>
              <a:t>1526  MTU size</a:t>
            </a:r>
          </a:p>
          <a:p>
            <a:pPr marL="0" indent="0">
              <a:buNone/>
            </a:pPr>
            <a:r>
              <a:rPr lang="en-US" dirty="0"/>
              <a:t> -14  Ethernet header size</a:t>
            </a:r>
          </a:p>
          <a:p>
            <a:pPr marL="0" indent="0">
              <a:buNone/>
            </a:pPr>
            <a:r>
              <a:rPr lang="en-US" dirty="0"/>
              <a:t> -20  IP protocol header size</a:t>
            </a:r>
          </a:p>
          <a:p>
            <a:pPr marL="0" indent="0">
              <a:buNone/>
            </a:pPr>
            <a:r>
              <a:rPr lang="en-US" dirty="0"/>
              <a:t> -20  TCP protocol header size</a:t>
            </a:r>
          </a:p>
          <a:p>
            <a:pPr marL="0" indent="0">
              <a:buNone/>
            </a:pPr>
            <a:r>
              <a:rPr lang="en-US" dirty="0"/>
              <a:t> -12  TCP options bytes</a:t>
            </a:r>
          </a:p>
          <a:p>
            <a:pPr marL="0" indent="0">
              <a:buNone/>
            </a:pPr>
            <a:r>
              <a:rPr lang="en-US" dirty="0"/>
              <a:t>----</a:t>
            </a:r>
          </a:p>
          <a:p>
            <a:pPr marL="0" indent="0">
              <a:buNone/>
            </a:pPr>
            <a:r>
              <a:rPr lang="en-US" dirty="0"/>
              <a:t>1460  MSS size</a:t>
            </a:r>
          </a:p>
          <a:p>
            <a:pPr marL="0" indent="0">
              <a:buNone/>
            </a:pPr>
            <a:endParaRPr lang="en-US" dirty="0"/>
          </a:p>
        </p:txBody>
      </p:sp>
    </p:spTree>
    <p:extLst>
      <p:ext uri="{BB962C8B-B14F-4D97-AF65-F5344CB8AC3E}">
        <p14:creationId xmlns:p14="http://schemas.microsoft.com/office/powerpoint/2010/main" val="24587152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17E2F-632D-1639-B7DA-DEBD238FB74C}"/>
              </a:ext>
            </a:extLst>
          </p:cNvPr>
          <p:cNvSpPr>
            <a:spLocks noGrp="1"/>
          </p:cNvSpPr>
          <p:nvPr>
            <p:ph type="title"/>
          </p:nvPr>
        </p:nvSpPr>
        <p:spPr/>
        <p:txBody>
          <a:bodyPr>
            <a:normAutofit/>
          </a:bodyPr>
          <a:lstStyle/>
          <a:p>
            <a:r>
              <a:rPr lang="en-US" b="1" dirty="0"/>
              <a:t>Port Number</a:t>
            </a:r>
            <a:endParaRPr lang="en-US" dirty="0"/>
          </a:p>
        </p:txBody>
      </p:sp>
      <p:sp>
        <p:nvSpPr>
          <p:cNvPr id="3" name="Content Placeholder 2">
            <a:extLst>
              <a:ext uri="{FF2B5EF4-FFF2-40B4-BE49-F238E27FC236}">
                <a16:creationId xmlns:a16="http://schemas.microsoft.com/office/drawing/2014/main" id="{8586D5FE-E7D6-11C9-982F-72D50A9C439E}"/>
              </a:ext>
            </a:extLst>
          </p:cNvPr>
          <p:cNvSpPr>
            <a:spLocks noGrp="1"/>
          </p:cNvSpPr>
          <p:nvPr>
            <p:ph idx="1"/>
          </p:nvPr>
        </p:nvSpPr>
        <p:spPr>
          <a:xfrm>
            <a:off x="457199" y="1600200"/>
            <a:ext cx="8014677" cy="2565399"/>
          </a:xfrm>
        </p:spPr>
        <p:txBody>
          <a:bodyPr>
            <a:normAutofit fontScale="47500" lnSpcReduction="20000"/>
          </a:bodyPr>
          <a:lstStyle/>
          <a:p>
            <a:pPr algn="r" rtl="1">
              <a:lnSpc>
                <a:spcPct val="170000"/>
              </a:lnSpc>
            </a:pPr>
            <a:r>
              <a:rPr lang="fa-IR" dirty="0">
                <a:latin typeface="IRANSansWeb" panose="020B0506030804020204" pitchFamily="34" charset="-78"/>
                <a:cs typeface="IRANSansWeb" panose="020B0506030804020204" pitchFamily="34" charset="-78"/>
              </a:rPr>
              <a:t>هر گره شبکه می‌تواند چندین برنامه را که از رابط شبکه یکسانی استفاده می‌کنند، اجرا کند و بنابراین از آدرس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 یکسانی استفاده کند. به عنوان مثال، یک برنامه </a:t>
            </a:r>
            <a:r>
              <a:rPr lang="en-US" dirty="0">
                <a:latin typeface="IRANSansWeb" panose="020B0506030804020204" pitchFamily="34" charset="-78"/>
                <a:cs typeface="IRANSansWeb" panose="020B0506030804020204" pitchFamily="34" charset="-78"/>
              </a:rPr>
              <a:t>RTOS </a:t>
            </a:r>
            <a:r>
              <a:rPr lang="fa-IR" dirty="0">
                <a:latin typeface="IRANSansWeb" panose="020B0506030804020204" pitchFamily="34" charset="-78"/>
                <a:cs typeface="IRANSansWeb" panose="020B0506030804020204" pitchFamily="34" charset="-78"/>
              </a:rPr>
              <a:t>می‌تواند یک سرور </a:t>
            </a:r>
            <a:r>
              <a:rPr lang="en-US" dirty="0">
                <a:latin typeface="IRANSansWeb" panose="020B0506030804020204" pitchFamily="34" charset="-78"/>
                <a:cs typeface="IRANSansWeb" panose="020B0506030804020204" pitchFamily="34" charset="-78"/>
              </a:rPr>
              <a:t>TFTP، </a:t>
            </a:r>
            <a:r>
              <a:rPr lang="fa-IR" dirty="0">
                <a:latin typeface="IRANSansWeb" panose="020B0506030804020204" pitchFamily="34" charset="-78"/>
                <a:cs typeface="IRANSansWeb" panose="020B0506030804020204" pitchFamily="34" charset="-78"/>
              </a:rPr>
              <a:t>یک سرور </a:t>
            </a:r>
            <a:r>
              <a:rPr lang="en-US" dirty="0">
                <a:latin typeface="IRANSansWeb" panose="020B0506030804020204" pitchFamily="34" charset="-78"/>
                <a:cs typeface="IRANSansWeb" panose="020B0506030804020204" pitchFamily="34" charset="-78"/>
              </a:rPr>
              <a:t>echo </a:t>
            </a:r>
            <a:r>
              <a:rPr lang="fa-IR" dirty="0">
                <a:latin typeface="IRANSansWeb" panose="020B0506030804020204" pitchFamily="34" charset="-78"/>
                <a:cs typeface="IRANSansWeb" panose="020B0506030804020204" pitchFamily="34" charset="-78"/>
              </a:rPr>
              <a:t> و یک کلاینت </a:t>
            </a:r>
            <a:r>
              <a:rPr lang="en-US" dirty="0">
                <a:latin typeface="IRANSansWeb" panose="020B0506030804020204" pitchFamily="34" charset="-78"/>
                <a:cs typeface="IRANSansWeb" panose="020B0506030804020204" pitchFamily="34" charset="-78"/>
              </a:rPr>
              <a:t>HTTP</a:t>
            </a:r>
            <a:r>
              <a:rPr lang="fa-IR" dirty="0">
                <a:latin typeface="IRANSansWeb" panose="020B0506030804020204" pitchFamily="34" charset="-78"/>
                <a:cs typeface="IRANSansWeb" panose="020B0506030804020204" pitchFamily="34" charset="-78"/>
              </a:rPr>
              <a:t> </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را همزمان اجرا کند - که همه آنها از پشته </a:t>
            </a:r>
            <a:r>
              <a:rPr lang="en-US" dirty="0">
                <a:latin typeface="IRANSansWeb" panose="020B0506030804020204" pitchFamily="34" charset="-78"/>
                <a:cs typeface="IRANSansWeb" panose="020B0506030804020204" pitchFamily="34" charset="-78"/>
              </a:rPr>
              <a:t>TCP/IP </a:t>
            </a:r>
            <a:r>
              <a:rPr lang="fa-IR" dirty="0">
                <a:latin typeface="IRANSansWeb" panose="020B0506030804020204" pitchFamily="34" charset="-78"/>
                <a:cs typeface="IRANSansWeb" panose="020B0506030804020204" pitchFamily="34" charset="-78"/>
              </a:rPr>
              <a:t> استفاده می‌کنند. برنامه‌های مختلفی که روی یک گره شبکه یکسان و بنابراین در یک آدرس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 یکسان اجرا می‌شوند، با شماره پورت خود شناسایی می‌شوند. بنابراین، آدرس مبدا و مقصد هر بسته </a:t>
            </a:r>
            <a:r>
              <a:rPr lang="en-US" dirty="0">
                <a:latin typeface="IRANSansWeb" panose="020B0506030804020204" pitchFamily="34" charset="-78"/>
                <a:cs typeface="IRANSansWeb" panose="020B0506030804020204" pitchFamily="34" charset="-78"/>
              </a:rPr>
              <a:t>TCP </a:t>
            </a:r>
            <a:r>
              <a:rPr lang="fa-IR" dirty="0">
                <a:latin typeface="IRANSansWeb" panose="020B0506030804020204" pitchFamily="34" charset="-78"/>
                <a:cs typeface="IRANSansWeb" panose="020B0506030804020204" pitchFamily="34" charset="-78"/>
              </a:rPr>
              <a:t> یا </a:t>
            </a:r>
            <a:r>
              <a:rPr lang="en-US" dirty="0">
                <a:latin typeface="IRANSansWeb" panose="020B0506030804020204" pitchFamily="34" charset="-78"/>
                <a:cs typeface="IRANSansWeb" panose="020B0506030804020204" pitchFamily="34" charset="-78"/>
              </a:rPr>
              <a:t>UDP </a:t>
            </a:r>
            <a:r>
              <a:rPr lang="fa-IR" dirty="0">
                <a:latin typeface="IRANSansWeb" panose="020B0506030804020204" pitchFamily="34" charset="-78"/>
                <a:cs typeface="IRANSansWeb" panose="020B0506030804020204" pitchFamily="34" charset="-78"/>
              </a:rPr>
              <a:t> ترکیبی از یک آدرس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 و یک شماره پورت است. آدرس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گره موجود در شبکه را مشخص می‌کند و شماره پورت، برنامه کاربردی درون گره را مشخص می‌کند</a:t>
            </a:r>
          </a:p>
          <a:p>
            <a:pPr marL="0" indent="0">
              <a:buNone/>
            </a:pPr>
            <a:endParaRPr lang="en-US" dirty="0"/>
          </a:p>
        </p:txBody>
      </p:sp>
      <p:sp>
        <p:nvSpPr>
          <p:cNvPr id="5" name="TextBox 4">
            <a:extLst>
              <a:ext uri="{FF2B5EF4-FFF2-40B4-BE49-F238E27FC236}">
                <a16:creationId xmlns:a16="http://schemas.microsoft.com/office/drawing/2014/main" id="{CF0694D2-F414-C5FA-2A0A-0D5D418C0F21}"/>
              </a:ext>
            </a:extLst>
          </p:cNvPr>
          <p:cNvSpPr txBox="1"/>
          <p:nvPr/>
        </p:nvSpPr>
        <p:spPr>
          <a:xfrm>
            <a:off x="1023816" y="4778611"/>
            <a:ext cx="5185508" cy="1448473"/>
          </a:xfrm>
          <a:prstGeom prst="rect">
            <a:avLst/>
          </a:prstGeom>
          <a:noFill/>
        </p:spPr>
        <p:txBody>
          <a:bodyPr wrap="square">
            <a:spAutoFit/>
          </a:bodyPr>
          <a:lstStyle/>
          <a:p>
            <a:pPr marL="0" marR="0" algn="l">
              <a:lnSpc>
                <a:spcPct val="150000"/>
              </a:lnSpc>
              <a:spcBef>
                <a:spcPts val="400"/>
              </a:spcBef>
              <a:spcAft>
                <a:spcPts val="200"/>
              </a:spcAft>
              <a:buFont typeface="Arial" panose="020B0604020202020204" pitchFamily="34" charset="0"/>
              <a:buChar char="•"/>
            </a:pPr>
            <a:r>
              <a:rPr lang="en-US" sz="1800" b="0" i="0" u="none" strike="noStrike" dirty="0">
                <a:solidFill>
                  <a:srgbClr val="000000"/>
                </a:solidFill>
                <a:effectLst/>
                <a:latin typeface="Open Sans" panose="020B0606030504020204" pitchFamily="34" charset="0"/>
              </a:rPr>
              <a:t>Well-known ports: 0 to 1023</a:t>
            </a:r>
          </a:p>
          <a:p>
            <a:pPr marL="0" marR="0" algn="l">
              <a:lnSpc>
                <a:spcPct val="150000"/>
              </a:lnSpc>
              <a:spcBef>
                <a:spcPts val="400"/>
              </a:spcBef>
              <a:spcAft>
                <a:spcPts val="200"/>
              </a:spcAft>
              <a:buFont typeface="Arial" panose="020B0604020202020204" pitchFamily="34" charset="0"/>
              <a:buChar char="•"/>
            </a:pPr>
            <a:r>
              <a:rPr lang="en-US" sz="1800" b="0" i="0" u="none" strike="noStrike" dirty="0">
                <a:solidFill>
                  <a:srgbClr val="000000"/>
                </a:solidFill>
                <a:effectLst/>
                <a:latin typeface="Open Sans" panose="020B0606030504020204" pitchFamily="34" charset="0"/>
              </a:rPr>
              <a:t>Registered ports: 1024 to 49151</a:t>
            </a:r>
          </a:p>
          <a:p>
            <a:pPr marL="0" marR="0" algn="l">
              <a:lnSpc>
                <a:spcPct val="150000"/>
              </a:lnSpc>
              <a:spcBef>
                <a:spcPts val="400"/>
              </a:spcBef>
              <a:spcAft>
                <a:spcPts val="200"/>
              </a:spcAft>
              <a:buFont typeface="Arial" panose="020B0604020202020204" pitchFamily="34" charset="0"/>
              <a:buChar char="•"/>
            </a:pPr>
            <a:r>
              <a:rPr lang="en-US" sz="1800" b="0" i="0" u="none" strike="noStrike" dirty="0">
                <a:solidFill>
                  <a:srgbClr val="000000"/>
                </a:solidFill>
                <a:effectLst/>
                <a:latin typeface="Open Sans" panose="020B0606030504020204" pitchFamily="34" charset="0"/>
              </a:rPr>
              <a:t>Dynamic and/or private ports: 49152 to 65535</a:t>
            </a:r>
          </a:p>
        </p:txBody>
      </p:sp>
    </p:spTree>
    <p:extLst>
      <p:ext uri="{BB962C8B-B14F-4D97-AF65-F5344CB8AC3E}">
        <p14:creationId xmlns:p14="http://schemas.microsoft.com/office/powerpoint/2010/main" val="18190300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FF801-DDFD-339B-4D77-BDAE96A2B8EC}"/>
              </a:ext>
            </a:extLst>
          </p:cNvPr>
          <p:cNvSpPr>
            <a:spLocks noGrp="1"/>
          </p:cNvSpPr>
          <p:nvPr>
            <p:ph type="title"/>
          </p:nvPr>
        </p:nvSpPr>
        <p:spPr>
          <a:xfrm>
            <a:off x="1910862" y="283553"/>
            <a:ext cx="5537200" cy="530347"/>
          </a:xfrm>
        </p:spPr>
        <p:txBody>
          <a:bodyPr>
            <a:noAutofit/>
          </a:bodyPr>
          <a:lstStyle/>
          <a:p>
            <a:pPr rtl="1"/>
            <a:r>
              <a:rPr lang="fa-IR" sz="2800" dirty="0">
                <a:latin typeface="IRANSansWeb" panose="020B0506030804020204" pitchFamily="34" charset="-78"/>
                <a:cs typeface="IRANSansWeb" panose="020B0506030804020204" pitchFamily="34" charset="-78"/>
              </a:rPr>
              <a:t>لیست پورتهای معروف</a:t>
            </a:r>
            <a:endParaRPr lang="en-US" sz="2800" dirty="0">
              <a:latin typeface="IRANSansWeb" panose="020B0506030804020204" pitchFamily="34" charset="-78"/>
              <a:cs typeface="IRANSansWeb" panose="020B0506030804020204" pitchFamily="34" charset="-78"/>
            </a:endParaRPr>
          </a:p>
        </p:txBody>
      </p:sp>
      <p:graphicFrame>
        <p:nvGraphicFramePr>
          <p:cNvPr id="4" name="Content Placeholder 3">
            <a:extLst>
              <a:ext uri="{FF2B5EF4-FFF2-40B4-BE49-F238E27FC236}">
                <a16:creationId xmlns:a16="http://schemas.microsoft.com/office/drawing/2014/main" id="{86EE4423-BB90-8001-B4FD-8FB00E3B1F9C}"/>
              </a:ext>
            </a:extLst>
          </p:cNvPr>
          <p:cNvGraphicFramePr>
            <a:graphicFrameLocks noGrp="1"/>
          </p:cNvGraphicFramePr>
          <p:nvPr>
            <p:ph idx="1"/>
          </p:nvPr>
        </p:nvGraphicFramePr>
        <p:xfrm>
          <a:off x="984738" y="883138"/>
          <a:ext cx="7346462" cy="5879444"/>
        </p:xfrm>
        <a:graphic>
          <a:graphicData uri="http://schemas.openxmlformats.org/drawingml/2006/table">
            <a:tbl>
              <a:tblPr>
                <a:tableStyleId>{69C7853C-536D-4A76-A0AE-DD22124D55A5}</a:tableStyleId>
              </a:tblPr>
              <a:tblGrid>
                <a:gridCol w="1227016">
                  <a:extLst>
                    <a:ext uri="{9D8B030D-6E8A-4147-A177-3AD203B41FA5}">
                      <a16:colId xmlns:a16="http://schemas.microsoft.com/office/drawing/2014/main" val="252769769"/>
                    </a:ext>
                  </a:extLst>
                </a:gridCol>
                <a:gridCol w="1078523">
                  <a:extLst>
                    <a:ext uri="{9D8B030D-6E8A-4147-A177-3AD203B41FA5}">
                      <a16:colId xmlns:a16="http://schemas.microsoft.com/office/drawing/2014/main" val="1894024285"/>
                    </a:ext>
                  </a:extLst>
                </a:gridCol>
                <a:gridCol w="1398954">
                  <a:extLst>
                    <a:ext uri="{9D8B030D-6E8A-4147-A177-3AD203B41FA5}">
                      <a16:colId xmlns:a16="http://schemas.microsoft.com/office/drawing/2014/main" val="228634518"/>
                    </a:ext>
                  </a:extLst>
                </a:gridCol>
                <a:gridCol w="3641969">
                  <a:extLst>
                    <a:ext uri="{9D8B030D-6E8A-4147-A177-3AD203B41FA5}">
                      <a16:colId xmlns:a16="http://schemas.microsoft.com/office/drawing/2014/main" val="2571014168"/>
                    </a:ext>
                  </a:extLst>
                </a:gridCol>
              </a:tblGrid>
              <a:tr h="223418">
                <a:tc>
                  <a:txBody>
                    <a:bodyPr/>
                    <a:lstStyle/>
                    <a:p>
                      <a:pPr algn="ctr">
                        <a:buNone/>
                      </a:pPr>
                      <a:r>
                        <a:rPr lang="fa-IR" sz="1600" b="1">
                          <a:effectLst/>
                          <a:latin typeface="IRANSansWeb" panose="020B0506030804020204" pitchFamily="34" charset="-78"/>
                          <a:cs typeface="IRANSansWeb" panose="020B0506030804020204" pitchFamily="34" charset="-78"/>
                        </a:rPr>
                        <a:t>شماره پورت</a:t>
                      </a:r>
                    </a:p>
                  </a:txBody>
                  <a:tcPr marL="56229" marR="56229" marT="25952" marB="25952" anchor="ctr"/>
                </a:tc>
                <a:tc>
                  <a:txBody>
                    <a:bodyPr/>
                    <a:lstStyle/>
                    <a:p>
                      <a:pPr algn="ctr">
                        <a:buNone/>
                      </a:pPr>
                      <a:r>
                        <a:rPr lang="fa-IR" sz="1600" b="1">
                          <a:effectLst/>
                          <a:latin typeface="IRANSansWeb" panose="020B0506030804020204" pitchFamily="34" charset="-78"/>
                          <a:cs typeface="IRANSansWeb" panose="020B0506030804020204" pitchFamily="34" charset="-78"/>
                        </a:rPr>
                        <a:t>پروتکل</a:t>
                      </a:r>
                    </a:p>
                  </a:txBody>
                  <a:tcPr marL="56229" marR="56229" marT="25952" marB="25952" anchor="ctr"/>
                </a:tc>
                <a:tc>
                  <a:txBody>
                    <a:bodyPr/>
                    <a:lstStyle/>
                    <a:p>
                      <a:pPr algn="ctr">
                        <a:buNone/>
                      </a:pPr>
                      <a:r>
                        <a:rPr lang="fa-IR" sz="1600" b="1">
                          <a:effectLst/>
                          <a:latin typeface="IRANSansWeb" panose="020B0506030804020204" pitchFamily="34" charset="-78"/>
                          <a:cs typeface="IRANSansWeb" panose="020B0506030804020204" pitchFamily="34" charset="-78"/>
                        </a:rPr>
                        <a:t>نام پروتکل</a:t>
                      </a:r>
                    </a:p>
                  </a:txBody>
                  <a:tcPr marL="56229" marR="56229" marT="25952" marB="25952" anchor="ctr"/>
                </a:tc>
                <a:tc>
                  <a:txBody>
                    <a:bodyPr/>
                    <a:lstStyle/>
                    <a:p>
                      <a:pPr algn="ctr" rtl="1">
                        <a:buNone/>
                      </a:pPr>
                      <a:r>
                        <a:rPr lang="fa-IR" sz="1600" b="1" dirty="0">
                          <a:effectLst/>
                          <a:latin typeface="IRANSansWeb" panose="020B0506030804020204" pitchFamily="34" charset="-78"/>
                          <a:cs typeface="IRANSansWeb" panose="020B0506030804020204" pitchFamily="34" charset="-78"/>
                        </a:rPr>
                        <a:t>محل استفاده</a:t>
                      </a:r>
                    </a:p>
                  </a:txBody>
                  <a:tcPr marL="56229" marR="56229" marT="25952" marB="25952" anchor="ctr"/>
                </a:tc>
                <a:extLst>
                  <a:ext uri="{0D108BD9-81ED-4DB2-BD59-A6C34878D82A}">
                    <a16:rowId xmlns:a16="http://schemas.microsoft.com/office/drawing/2014/main" val="3153973685"/>
                  </a:ext>
                </a:extLst>
              </a:tr>
              <a:tr h="223418">
                <a:tc>
                  <a:txBody>
                    <a:bodyPr/>
                    <a:lstStyle/>
                    <a:p>
                      <a:pPr algn="ctr">
                        <a:buNone/>
                      </a:pPr>
                      <a:r>
                        <a:rPr lang="en-US" sz="1600" b="1" dirty="0">
                          <a:effectLst/>
                          <a:latin typeface="IRANSansWeb" panose="020B0506030804020204" pitchFamily="34" charset="-78"/>
                          <a:cs typeface="IRANSansWeb" panose="020B0506030804020204" pitchFamily="34" charset="-78"/>
                        </a:rPr>
                        <a:t>20, 21</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TCP</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FTP</a:t>
                      </a:r>
                    </a:p>
                  </a:txBody>
                  <a:tcPr marL="56229" marR="56229" marT="25952" marB="25952" anchor="ctr"/>
                </a:tc>
                <a:tc>
                  <a:txBody>
                    <a:bodyPr/>
                    <a:lstStyle/>
                    <a:p>
                      <a:pPr algn="ctr" rtl="1">
                        <a:buNone/>
                      </a:pPr>
                      <a:r>
                        <a:rPr lang="fa-IR" sz="1600" b="1" dirty="0">
                          <a:effectLst/>
                          <a:latin typeface="IRANSansWeb" panose="020B0506030804020204" pitchFamily="34" charset="-78"/>
                          <a:cs typeface="IRANSansWeb" panose="020B0506030804020204" pitchFamily="34" charset="-78"/>
                        </a:rPr>
                        <a:t>انتقال فایل‌ها</a:t>
                      </a:r>
                    </a:p>
                  </a:txBody>
                  <a:tcPr marL="56229" marR="56229" marT="25952" marB="25952" anchor="ctr"/>
                </a:tc>
                <a:extLst>
                  <a:ext uri="{0D108BD9-81ED-4DB2-BD59-A6C34878D82A}">
                    <a16:rowId xmlns:a16="http://schemas.microsoft.com/office/drawing/2014/main" val="95390037"/>
                  </a:ext>
                </a:extLst>
              </a:tr>
              <a:tr h="556733">
                <a:tc>
                  <a:txBody>
                    <a:bodyPr/>
                    <a:lstStyle/>
                    <a:p>
                      <a:pPr algn="ctr">
                        <a:buNone/>
                      </a:pPr>
                      <a:r>
                        <a:rPr lang="en-US" sz="1600" b="1">
                          <a:effectLst/>
                          <a:latin typeface="IRANSansWeb" panose="020B0506030804020204" pitchFamily="34" charset="-78"/>
                          <a:cs typeface="IRANSansWeb" panose="020B0506030804020204" pitchFamily="34" charset="-78"/>
                        </a:rPr>
                        <a:t>22</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TCP</a:t>
                      </a:r>
                    </a:p>
                  </a:txBody>
                  <a:tcPr marL="56229" marR="56229" marT="25952" marB="25952" anchor="ctr"/>
                </a:tc>
                <a:tc>
                  <a:txBody>
                    <a:bodyPr/>
                    <a:lstStyle/>
                    <a:p>
                      <a:pPr algn="ctr">
                        <a:buNone/>
                      </a:pPr>
                      <a:r>
                        <a:rPr lang="en-US" sz="1600" b="1" dirty="0">
                          <a:effectLst/>
                          <a:latin typeface="IRANSansWeb" panose="020B0506030804020204" pitchFamily="34" charset="-78"/>
                          <a:cs typeface="IRANSansWeb" panose="020B0506030804020204" pitchFamily="34" charset="-78"/>
                        </a:rPr>
                        <a:t>SSH</a:t>
                      </a:r>
                    </a:p>
                  </a:txBody>
                  <a:tcPr marL="56229" marR="56229" marT="25952" marB="25952" anchor="ctr"/>
                </a:tc>
                <a:tc>
                  <a:txBody>
                    <a:bodyPr/>
                    <a:lstStyle/>
                    <a:p>
                      <a:pPr algn="ctr" rtl="1">
                        <a:buNone/>
                      </a:pPr>
                      <a:r>
                        <a:rPr lang="fa-IR" sz="1600" b="1" dirty="0">
                          <a:effectLst/>
                          <a:latin typeface="IRANSansWeb" panose="020B0506030804020204" pitchFamily="34" charset="-78"/>
                          <a:cs typeface="IRANSansWeb" panose="020B0506030804020204" pitchFamily="34" charset="-78"/>
                        </a:rPr>
                        <a:t>دسترسی امن به خط فرمان </a:t>
                      </a:r>
                      <a:r>
                        <a:rPr lang="en-US" sz="1600" b="1" dirty="0">
                          <a:effectLst/>
                          <a:latin typeface="IRANSansWeb" panose="020B0506030804020204" pitchFamily="34" charset="-78"/>
                          <a:cs typeface="IRANSansWeb" panose="020B0506030804020204" pitchFamily="34" charset="-78"/>
                        </a:rPr>
                        <a:t>(CLI)</a:t>
                      </a:r>
                    </a:p>
                  </a:txBody>
                  <a:tcPr marL="56229" marR="56229" marT="25952" marB="25952" anchor="ctr"/>
                </a:tc>
                <a:extLst>
                  <a:ext uri="{0D108BD9-81ED-4DB2-BD59-A6C34878D82A}">
                    <a16:rowId xmlns:a16="http://schemas.microsoft.com/office/drawing/2014/main" val="3537842918"/>
                  </a:ext>
                </a:extLst>
              </a:tr>
              <a:tr h="556733">
                <a:tc>
                  <a:txBody>
                    <a:bodyPr/>
                    <a:lstStyle/>
                    <a:p>
                      <a:pPr algn="ctr">
                        <a:buNone/>
                      </a:pPr>
                      <a:r>
                        <a:rPr lang="en-US" sz="1600" b="1">
                          <a:effectLst/>
                          <a:latin typeface="IRANSansWeb" panose="020B0506030804020204" pitchFamily="34" charset="-78"/>
                          <a:cs typeface="IRANSansWeb" panose="020B0506030804020204" pitchFamily="34" charset="-78"/>
                        </a:rPr>
                        <a:t>23</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TCP</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Telnet</a:t>
                      </a:r>
                    </a:p>
                  </a:txBody>
                  <a:tcPr marL="56229" marR="56229" marT="25952" marB="25952" anchor="ctr"/>
                </a:tc>
                <a:tc>
                  <a:txBody>
                    <a:bodyPr/>
                    <a:lstStyle/>
                    <a:p>
                      <a:pPr algn="ctr" rtl="1">
                        <a:buNone/>
                      </a:pPr>
                      <a:r>
                        <a:rPr lang="fa-IR" sz="1600" b="1" dirty="0">
                          <a:effectLst/>
                          <a:latin typeface="IRANSansWeb" panose="020B0506030804020204" pitchFamily="34" charset="-78"/>
                          <a:cs typeface="IRANSansWeb" panose="020B0506030804020204" pitchFamily="34" charset="-78"/>
                        </a:rPr>
                        <a:t>دسترسی از راه دور به خط فرمان </a:t>
                      </a:r>
                      <a:r>
                        <a:rPr lang="en-US" sz="1600" b="1" dirty="0">
                          <a:effectLst/>
                          <a:latin typeface="IRANSansWeb" panose="020B0506030804020204" pitchFamily="34" charset="-78"/>
                          <a:cs typeface="IRANSansWeb" panose="020B0506030804020204" pitchFamily="34" charset="-78"/>
                        </a:rPr>
                        <a:t>(CLI)</a:t>
                      </a:r>
                    </a:p>
                  </a:txBody>
                  <a:tcPr marL="56229" marR="56229" marT="25952" marB="25952" anchor="ctr"/>
                </a:tc>
                <a:extLst>
                  <a:ext uri="{0D108BD9-81ED-4DB2-BD59-A6C34878D82A}">
                    <a16:rowId xmlns:a16="http://schemas.microsoft.com/office/drawing/2014/main" val="3869933805"/>
                  </a:ext>
                </a:extLst>
              </a:tr>
              <a:tr h="223418">
                <a:tc>
                  <a:txBody>
                    <a:bodyPr/>
                    <a:lstStyle/>
                    <a:p>
                      <a:pPr algn="ctr">
                        <a:buNone/>
                      </a:pPr>
                      <a:r>
                        <a:rPr lang="en-US" sz="1600" b="1">
                          <a:effectLst/>
                          <a:latin typeface="IRANSansWeb" panose="020B0506030804020204" pitchFamily="34" charset="-78"/>
                          <a:cs typeface="IRANSansWeb" panose="020B0506030804020204" pitchFamily="34" charset="-78"/>
                        </a:rPr>
                        <a:t>25</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TCP</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SMTP</a:t>
                      </a:r>
                    </a:p>
                  </a:txBody>
                  <a:tcPr marL="56229" marR="56229" marT="25952" marB="25952" anchor="ctr"/>
                </a:tc>
                <a:tc>
                  <a:txBody>
                    <a:bodyPr/>
                    <a:lstStyle/>
                    <a:p>
                      <a:pPr algn="ctr" rtl="1">
                        <a:buNone/>
                      </a:pPr>
                      <a:r>
                        <a:rPr lang="fa-IR" sz="1600" b="1" dirty="0">
                          <a:effectLst/>
                          <a:latin typeface="IRANSansWeb" panose="020B0506030804020204" pitchFamily="34" charset="-78"/>
                          <a:cs typeface="IRANSansWeb" panose="020B0506030804020204" pitchFamily="34" charset="-78"/>
                        </a:rPr>
                        <a:t>ارسال ایمیل</a:t>
                      </a:r>
                    </a:p>
                  </a:txBody>
                  <a:tcPr marL="56229" marR="56229" marT="25952" marB="25952" anchor="ctr"/>
                </a:tc>
                <a:extLst>
                  <a:ext uri="{0D108BD9-81ED-4DB2-BD59-A6C34878D82A}">
                    <a16:rowId xmlns:a16="http://schemas.microsoft.com/office/drawing/2014/main" val="3672354194"/>
                  </a:ext>
                </a:extLst>
              </a:tr>
              <a:tr h="390075">
                <a:tc>
                  <a:txBody>
                    <a:bodyPr/>
                    <a:lstStyle/>
                    <a:p>
                      <a:pPr algn="ctr">
                        <a:buNone/>
                      </a:pPr>
                      <a:r>
                        <a:rPr lang="en-US" sz="1600" b="1">
                          <a:effectLst/>
                          <a:latin typeface="IRANSansWeb" panose="020B0506030804020204" pitchFamily="34" charset="-78"/>
                          <a:cs typeface="IRANSansWeb" panose="020B0506030804020204" pitchFamily="34" charset="-78"/>
                        </a:rPr>
                        <a:t>53</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UDP/TCP</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DNS</a:t>
                      </a:r>
                    </a:p>
                  </a:txBody>
                  <a:tcPr marL="56229" marR="56229" marT="25952" marB="25952" anchor="ctr"/>
                </a:tc>
                <a:tc>
                  <a:txBody>
                    <a:bodyPr/>
                    <a:lstStyle/>
                    <a:p>
                      <a:pPr algn="ctr" rtl="1">
                        <a:buNone/>
                      </a:pPr>
                      <a:r>
                        <a:rPr lang="fa-IR" sz="1600" b="1" dirty="0">
                          <a:effectLst/>
                          <a:latin typeface="IRANSansWeb" panose="020B0506030804020204" pitchFamily="34" charset="-78"/>
                          <a:cs typeface="IRANSansWeb" panose="020B0506030804020204" pitchFamily="34" charset="-78"/>
                        </a:rPr>
                        <a:t>ترجمه نام دامنه به آدرس </a:t>
                      </a:r>
                      <a:r>
                        <a:rPr lang="en-US" sz="1600" b="1" dirty="0">
                          <a:effectLst/>
                          <a:latin typeface="IRANSansWeb" panose="020B0506030804020204" pitchFamily="34" charset="-78"/>
                          <a:cs typeface="IRANSansWeb" panose="020B0506030804020204" pitchFamily="34" charset="-78"/>
                        </a:rPr>
                        <a:t>IP</a:t>
                      </a:r>
                    </a:p>
                  </a:txBody>
                  <a:tcPr marL="56229" marR="56229" marT="25952" marB="25952" anchor="ctr"/>
                </a:tc>
                <a:extLst>
                  <a:ext uri="{0D108BD9-81ED-4DB2-BD59-A6C34878D82A}">
                    <a16:rowId xmlns:a16="http://schemas.microsoft.com/office/drawing/2014/main" val="1806031242"/>
                  </a:ext>
                </a:extLst>
              </a:tr>
              <a:tr h="390075">
                <a:tc>
                  <a:txBody>
                    <a:bodyPr/>
                    <a:lstStyle/>
                    <a:p>
                      <a:pPr algn="ctr">
                        <a:buNone/>
                      </a:pPr>
                      <a:r>
                        <a:rPr lang="en-US" sz="1600" b="1">
                          <a:effectLst/>
                          <a:latin typeface="IRANSansWeb" panose="020B0506030804020204" pitchFamily="34" charset="-78"/>
                          <a:cs typeface="IRANSansWeb" panose="020B0506030804020204" pitchFamily="34" charset="-78"/>
                        </a:rPr>
                        <a:t>80</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TCP</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HTTP</a:t>
                      </a:r>
                    </a:p>
                  </a:txBody>
                  <a:tcPr marL="56229" marR="56229" marT="25952" marB="25952" anchor="ctr"/>
                </a:tc>
                <a:tc>
                  <a:txBody>
                    <a:bodyPr/>
                    <a:lstStyle/>
                    <a:p>
                      <a:pPr algn="ctr" rtl="1">
                        <a:buNone/>
                      </a:pPr>
                      <a:r>
                        <a:rPr lang="fa-IR" sz="1600" b="1" dirty="0">
                          <a:effectLst/>
                          <a:latin typeface="IRANSansWeb" panose="020B0506030804020204" pitchFamily="34" charset="-78"/>
                          <a:cs typeface="IRANSansWeb" panose="020B0506030804020204" pitchFamily="34" charset="-78"/>
                        </a:rPr>
                        <a:t>مرور وب (غیر امن)</a:t>
                      </a:r>
                    </a:p>
                  </a:txBody>
                  <a:tcPr marL="56229" marR="56229" marT="25952" marB="25952" anchor="ctr"/>
                </a:tc>
                <a:extLst>
                  <a:ext uri="{0D108BD9-81ED-4DB2-BD59-A6C34878D82A}">
                    <a16:rowId xmlns:a16="http://schemas.microsoft.com/office/drawing/2014/main" val="2464890032"/>
                  </a:ext>
                </a:extLst>
              </a:tr>
              <a:tr h="223418">
                <a:tc>
                  <a:txBody>
                    <a:bodyPr/>
                    <a:lstStyle/>
                    <a:p>
                      <a:pPr algn="ctr">
                        <a:buNone/>
                      </a:pPr>
                      <a:r>
                        <a:rPr lang="en-US" sz="1600" b="1">
                          <a:effectLst/>
                          <a:latin typeface="IRANSansWeb" panose="020B0506030804020204" pitchFamily="34" charset="-78"/>
                          <a:cs typeface="IRANSansWeb" panose="020B0506030804020204" pitchFamily="34" charset="-78"/>
                        </a:rPr>
                        <a:t>110</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TCP</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POP3</a:t>
                      </a:r>
                    </a:p>
                  </a:txBody>
                  <a:tcPr marL="56229" marR="56229" marT="25952" marB="25952" anchor="ctr"/>
                </a:tc>
                <a:tc>
                  <a:txBody>
                    <a:bodyPr/>
                    <a:lstStyle/>
                    <a:p>
                      <a:pPr algn="ctr" rtl="1">
                        <a:buNone/>
                      </a:pPr>
                      <a:r>
                        <a:rPr lang="fa-IR" sz="1600" b="1" dirty="0">
                          <a:effectLst/>
                          <a:latin typeface="IRANSansWeb" panose="020B0506030804020204" pitchFamily="34" charset="-78"/>
                          <a:cs typeface="IRANSansWeb" panose="020B0506030804020204" pitchFamily="34" charset="-78"/>
                        </a:rPr>
                        <a:t>دریافت ایمیل</a:t>
                      </a:r>
                    </a:p>
                  </a:txBody>
                  <a:tcPr marL="56229" marR="56229" marT="25952" marB="25952" anchor="ctr"/>
                </a:tc>
                <a:extLst>
                  <a:ext uri="{0D108BD9-81ED-4DB2-BD59-A6C34878D82A}">
                    <a16:rowId xmlns:a16="http://schemas.microsoft.com/office/drawing/2014/main" val="1236613875"/>
                  </a:ext>
                </a:extLst>
              </a:tr>
              <a:tr h="223418">
                <a:tc>
                  <a:txBody>
                    <a:bodyPr/>
                    <a:lstStyle/>
                    <a:p>
                      <a:pPr algn="ctr">
                        <a:buNone/>
                      </a:pPr>
                      <a:r>
                        <a:rPr lang="en-US" sz="1600" b="1">
                          <a:effectLst/>
                          <a:latin typeface="IRANSansWeb" panose="020B0506030804020204" pitchFamily="34" charset="-78"/>
                          <a:cs typeface="IRANSansWeb" panose="020B0506030804020204" pitchFamily="34" charset="-78"/>
                        </a:rPr>
                        <a:t>143</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TCP</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IMAP</a:t>
                      </a:r>
                    </a:p>
                  </a:txBody>
                  <a:tcPr marL="56229" marR="56229" marT="25952" marB="25952" anchor="ctr"/>
                </a:tc>
                <a:tc>
                  <a:txBody>
                    <a:bodyPr/>
                    <a:lstStyle/>
                    <a:p>
                      <a:pPr algn="ctr" rtl="1">
                        <a:buNone/>
                      </a:pPr>
                      <a:r>
                        <a:rPr lang="fa-IR" sz="1600" b="1" dirty="0">
                          <a:effectLst/>
                          <a:latin typeface="IRANSansWeb" panose="020B0506030804020204" pitchFamily="34" charset="-78"/>
                          <a:cs typeface="IRANSansWeb" panose="020B0506030804020204" pitchFamily="34" charset="-78"/>
                        </a:rPr>
                        <a:t>دریافت ایمیل</a:t>
                      </a:r>
                    </a:p>
                  </a:txBody>
                  <a:tcPr marL="56229" marR="56229" marT="25952" marB="25952" anchor="ctr"/>
                </a:tc>
                <a:extLst>
                  <a:ext uri="{0D108BD9-81ED-4DB2-BD59-A6C34878D82A}">
                    <a16:rowId xmlns:a16="http://schemas.microsoft.com/office/drawing/2014/main" val="2104125433"/>
                  </a:ext>
                </a:extLst>
              </a:tr>
              <a:tr h="390075">
                <a:tc>
                  <a:txBody>
                    <a:bodyPr/>
                    <a:lstStyle/>
                    <a:p>
                      <a:pPr algn="ctr">
                        <a:buNone/>
                      </a:pPr>
                      <a:r>
                        <a:rPr lang="en-US" sz="1600" b="1">
                          <a:effectLst/>
                          <a:latin typeface="IRANSansWeb" panose="020B0506030804020204" pitchFamily="34" charset="-78"/>
                          <a:cs typeface="IRANSansWeb" panose="020B0506030804020204" pitchFamily="34" charset="-78"/>
                        </a:rPr>
                        <a:t>443</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TCP</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HTTPS</a:t>
                      </a:r>
                    </a:p>
                  </a:txBody>
                  <a:tcPr marL="56229" marR="56229" marT="25952" marB="25952" anchor="ctr"/>
                </a:tc>
                <a:tc>
                  <a:txBody>
                    <a:bodyPr/>
                    <a:lstStyle/>
                    <a:p>
                      <a:pPr algn="ctr" rtl="1">
                        <a:buNone/>
                      </a:pPr>
                      <a:r>
                        <a:rPr lang="fa-IR" sz="1600" b="1" dirty="0">
                          <a:effectLst/>
                          <a:latin typeface="IRANSansWeb" panose="020B0506030804020204" pitchFamily="34" charset="-78"/>
                          <a:cs typeface="IRANSansWeb" panose="020B0506030804020204" pitchFamily="34" charset="-78"/>
                        </a:rPr>
                        <a:t>مرور وب امن </a:t>
                      </a:r>
                      <a:r>
                        <a:rPr lang="en-US" sz="1600" b="1" dirty="0">
                          <a:effectLst/>
                          <a:latin typeface="IRANSansWeb" panose="020B0506030804020204" pitchFamily="34" charset="-78"/>
                          <a:cs typeface="IRANSansWeb" panose="020B0506030804020204" pitchFamily="34" charset="-78"/>
                        </a:rPr>
                        <a:t>SSL/TLS)</a:t>
                      </a:r>
                      <a:r>
                        <a:rPr lang="fa-IR" sz="1600" b="1" dirty="0">
                          <a:effectLst/>
                          <a:latin typeface="IRANSansWeb" panose="020B0506030804020204" pitchFamily="34" charset="-78"/>
                          <a:cs typeface="IRANSansWeb" panose="020B0506030804020204" pitchFamily="34" charset="-78"/>
                        </a:rPr>
                        <a:t>)</a:t>
                      </a:r>
                      <a:endParaRPr lang="en-US" sz="1600" b="1" dirty="0">
                        <a:effectLst/>
                        <a:latin typeface="IRANSansWeb" panose="020B0506030804020204" pitchFamily="34" charset="-78"/>
                        <a:cs typeface="IRANSansWeb" panose="020B0506030804020204" pitchFamily="34" charset="-78"/>
                      </a:endParaRPr>
                    </a:p>
                  </a:txBody>
                  <a:tcPr marL="56229" marR="56229" marT="25952" marB="25952" anchor="ctr"/>
                </a:tc>
                <a:extLst>
                  <a:ext uri="{0D108BD9-81ED-4DB2-BD59-A6C34878D82A}">
                    <a16:rowId xmlns:a16="http://schemas.microsoft.com/office/drawing/2014/main" val="1461906680"/>
                  </a:ext>
                </a:extLst>
              </a:tr>
              <a:tr h="556733">
                <a:tc>
                  <a:txBody>
                    <a:bodyPr/>
                    <a:lstStyle/>
                    <a:p>
                      <a:pPr algn="ctr">
                        <a:buNone/>
                      </a:pPr>
                      <a:r>
                        <a:rPr lang="en-US" sz="1600" b="1">
                          <a:effectLst/>
                          <a:latin typeface="IRANSansWeb" panose="020B0506030804020204" pitchFamily="34" charset="-78"/>
                          <a:cs typeface="IRANSansWeb" panose="020B0506030804020204" pitchFamily="34" charset="-78"/>
                        </a:rPr>
                        <a:t>3389</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TCP</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RDP</a:t>
                      </a:r>
                    </a:p>
                  </a:txBody>
                  <a:tcPr marL="56229" marR="56229" marT="25952" marB="25952" anchor="ctr"/>
                </a:tc>
                <a:tc>
                  <a:txBody>
                    <a:bodyPr/>
                    <a:lstStyle/>
                    <a:p>
                      <a:pPr algn="ctr" rtl="1">
                        <a:buNone/>
                      </a:pPr>
                      <a:r>
                        <a:rPr lang="fa-IR" sz="1600" b="1" dirty="0">
                          <a:effectLst/>
                          <a:latin typeface="IRANSansWeb" panose="020B0506030804020204" pitchFamily="34" charset="-78"/>
                          <a:cs typeface="IRANSansWeb" panose="020B0506030804020204" pitchFamily="34" charset="-78"/>
                        </a:rPr>
                        <a:t>دسترسی از راه دور به دسکتاپ ویندوز</a:t>
                      </a:r>
                    </a:p>
                  </a:txBody>
                  <a:tcPr marL="56229" marR="56229" marT="25952" marB="25952" anchor="ctr"/>
                </a:tc>
                <a:extLst>
                  <a:ext uri="{0D108BD9-81ED-4DB2-BD59-A6C34878D82A}">
                    <a16:rowId xmlns:a16="http://schemas.microsoft.com/office/drawing/2014/main" val="598015952"/>
                  </a:ext>
                </a:extLst>
              </a:tr>
              <a:tr h="390075">
                <a:tc>
                  <a:txBody>
                    <a:bodyPr/>
                    <a:lstStyle/>
                    <a:p>
                      <a:pPr algn="ctr">
                        <a:buNone/>
                      </a:pPr>
                      <a:r>
                        <a:rPr lang="en-US" sz="1600" b="1">
                          <a:effectLst/>
                          <a:latin typeface="IRANSansWeb" panose="020B0506030804020204" pitchFamily="34" charset="-78"/>
                          <a:cs typeface="IRANSansWeb" panose="020B0506030804020204" pitchFamily="34" charset="-78"/>
                        </a:rPr>
                        <a:t>995</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TCP</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POP3S</a:t>
                      </a:r>
                    </a:p>
                  </a:txBody>
                  <a:tcPr marL="56229" marR="56229" marT="25952" marB="25952" anchor="ctr"/>
                </a:tc>
                <a:tc>
                  <a:txBody>
                    <a:bodyPr/>
                    <a:lstStyle/>
                    <a:p>
                      <a:pPr algn="ctr" rtl="1">
                        <a:buNone/>
                      </a:pPr>
                      <a:r>
                        <a:rPr lang="fa-IR" sz="1600" b="1" dirty="0">
                          <a:effectLst/>
                          <a:latin typeface="IRANSansWeb" panose="020B0506030804020204" pitchFamily="34" charset="-78"/>
                          <a:cs typeface="IRANSansWeb" panose="020B0506030804020204" pitchFamily="34" charset="-78"/>
                        </a:rPr>
                        <a:t>دریافت ایمیل امن </a:t>
                      </a:r>
                      <a:r>
                        <a:rPr lang="en-US" sz="1600" b="1" dirty="0">
                          <a:effectLst/>
                          <a:latin typeface="IRANSansWeb" panose="020B0506030804020204" pitchFamily="34" charset="-78"/>
                          <a:cs typeface="IRANSansWeb" panose="020B0506030804020204" pitchFamily="34" charset="-78"/>
                        </a:rPr>
                        <a:t>SSL/TLS)</a:t>
                      </a:r>
                      <a:r>
                        <a:rPr lang="fa-IR" sz="1600" b="1" dirty="0">
                          <a:effectLst/>
                          <a:latin typeface="IRANSansWeb" panose="020B0506030804020204" pitchFamily="34" charset="-78"/>
                          <a:cs typeface="IRANSansWeb" panose="020B0506030804020204" pitchFamily="34" charset="-78"/>
                        </a:rPr>
                        <a:t>)</a:t>
                      </a:r>
                      <a:endParaRPr lang="en-US" sz="1600" b="1" dirty="0">
                        <a:effectLst/>
                        <a:latin typeface="IRANSansWeb" panose="020B0506030804020204" pitchFamily="34" charset="-78"/>
                        <a:cs typeface="IRANSansWeb" panose="020B0506030804020204" pitchFamily="34" charset="-78"/>
                      </a:endParaRPr>
                    </a:p>
                  </a:txBody>
                  <a:tcPr marL="56229" marR="56229" marT="25952" marB="25952" anchor="ctr"/>
                </a:tc>
                <a:extLst>
                  <a:ext uri="{0D108BD9-81ED-4DB2-BD59-A6C34878D82A}">
                    <a16:rowId xmlns:a16="http://schemas.microsoft.com/office/drawing/2014/main" val="3474758589"/>
                  </a:ext>
                </a:extLst>
              </a:tr>
              <a:tr h="390075">
                <a:tc>
                  <a:txBody>
                    <a:bodyPr/>
                    <a:lstStyle/>
                    <a:p>
                      <a:pPr algn="ctr">
                        <a:buNone/>
                      </a:pPr>
                      <a:r>
                        <a:rPr lang="en-US" sz="1600" b="1">
                          <a:effectLst/>
                          <a:latin typeface="IRANSansWeb" panose="020B0506030804020204" pitchFamily="34" charset="-78"/>
                          <a:cs typeface="IRANSansWeb" panose="020B0506030804020204" pitchFamily="34" charset="-78"/>
                        </a:rPr>
                        <a:t>993</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TCP</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IMAPS</a:t>
                      </a:r>
                    </a:p>
                  </a:txBody>
                  <a:tcPr marL="56229" marR="56229" marT="25952" marB="25952" anchor="ctr"/>
                </a:tc>
                <a:tc>
                  <a:txBody>
                    <a:bodyPr/>
                    <a:lstStyle/>
                    <a:p>
                      <a:pPr algn="ctr" rtl="1">
                        <a:buNone/>
                      </a:pPr>
                      <a:r>
                        <a:rPr lang="fa-IR" sz="1600" b="1" dirty="0">
                          <a:effectLst/>
                          <a:latin typeface="IRANSansWeb" panose="020B0506030804020204" pitchFamily="34" charset="-78"/>
                          <a:cs typeface="IRANSansWeb" panose="020B0506030804020204" pitchFamily="34" charset="-78"/>
                        </a:rPr>
                        <a:t>دریافت ایمیل امن </a:t>
                      </a:r>
                      <a:r>
                        <a:rPr lang="en-US" sz="1600" b="1" dirty="0">
                          <a:effectLst/>
                          <a:latin typeface="IRANSansWeb" panose="020B0506030804020204" pitchFamily="34" charset="-78"/>
                          <a:cs typeface="IRANSansWeb" panose="020B0506030804020204" pitchFamily="34" charset="-78"/>
                        </a:rPr>
                        <a:t>SSL/TLS)</a:t>
                      </a:r>
                      <a:r>
                        <a:rPr lang="fa-IR" sz="1600" b="1" dirty="0">
                          <a:effectLst/>
                          <a:latin typeface="IRANSansWeb" panose="020B0506030804020204" pitchFamily="34" charset="-78"/>
                          <a:cs typeface="IRANSansWeb" panose="020B0506030804020204" pitchFamily="34" charset="-78"/>
                        </a:rPr>
                        <a:t>)</a:t>
                      </a:r>
                      <a:endParaRPr lang="en-US" sz="1600" b="1" dirty="0">
                        <a:effectLst/>
                        <a:latin typeface="IRANSansWeb" panose="020B0506030804020204" pitchFamily="34" charset="-78"/>
                        <a:cs typeface="IRANSansWeb" panose="020B0506030804020204" pitchFamily="34" charset="-78"/>
                      </a:endParaRPr>
                    </a:p>
                  </a:txBody>
                  <a:tcPr marL="56229" marR="56229" marT="25952" marB="25952" anchor="ctr"/>
                </a:tc>
                <a:extLst>
                  <a:ext uri="{0D108BD9-81ED-4DB2-BD59-A6C34878D82A}">
                    <a16:rowId xmlns:a16="http://schemas.microsoft.com/office/drawing/2014/main" val="618320535"/>
                  </a:ext>
                </a:extLst>
              </a:tr>
              <a:tr h="390075">
                <a:tc>
                  <a:txBody>
                    <a:bodyPr/>
                    <a:lstStyle/>
                    <a:p>
                      <a:pPr algn="ctr">
                        <a:buNone/>
                      </a:pPr>
                      <a:r>
                        <a:rPr lang="en-US" sz="1600" b="1">
                          <a:effectLst/>
                          <a:latin typeface="IRANSansWeb" panose="020B0506030804020204" pitchFamily="34" charset="-78"/>
                          <a:cs typeface="IRANSansWeb" panose="020B0506030804020204" pitchFamily="34" charset="-78"/>
                        </a:rPr>
                        <a:t>69</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UDP</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TFTP</a:t>
                      </a:r>
                    </a:p>
                  </a:txBody>
                  <a:tcPr marL="56229" marR="56229" marT="25952" marB="25952" anchor="ctr"/>
                </a:tc>
                <a:tc>
                  <a:txBody>
                    <a:bodyPr/>
                    <a:lstStyle/>
                    <a:p>
                      <a:pPr algn="ctr" rtl="1">
                        <a:buNone/>
                      </a:pPr>
                      <a:r>
                        <a:rPr lang="fa-IR" sz="1600" b="1" dirty="0">
                          <a:effectLst/>
                          <a:latin typeface="IRANSansWeb" panose="020B0506030804020204" pitchFamily="34" charset="-78"/>
                          <a:cs typeface="IRANSansWeb" panose="020B0506030804020204" pitchFamily="34" charset="-78"/>
                        </a:rPr>
                        <a:t>انتقال فایل‌های کوچک</a:t>
                      </a:r>
                    </a:p>
                  </a:txBody>
                  <a:tcPr marL="56229" marR="56229" marT="25952" marB="25952" anchor="ctr"/>
                </a:tc>
                <a:extLst>
                  <a:ext uri="{0D108BD9-81ED-4DB2-BD59-A6C34878D82A}">
                    <a16:rowId xmlns:a16="http://schemas.microsoft.com/office/drawing/2014/main" val="1776044167"/>
                  </a:ext>
                </a:extLst>
              </a:tr>
              <a:tr h="390075">
                <a:tc>
                  <a:txBody>
                    <a:bodyPr/>
                    <a:lstStyle/>
                    <a:p>
                      <a:pPr algn="ctr">
                        <a:buNone/>
                      </a:pPr>
                      <a:r>
                        <a:rPr lang="en-US" sz="1600" b="1">
                          <a:effectLst/>
                          <a:latin typeface="IRANSansWeb" panose="020B0506030804020204" pitchFamily="34" charset="-78"/>
                          <a:cs typeface="IRANSansWeb" panose="020B0506030804020204" pitchFamily="34" charset="-78"/>
                        </a:rPr>
                        <a:t>161, 162</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UDP</a:t>
                      </a:r>
                    </a:p>
                  </a:txBody>
                  <a:tcPr marL="56229" marR="56229" marT="25952" marB="25952" anchor="ctr"/>
                </a:tc>
                <a:tc>
                  <a:txBody>
                    <a:bodyPr/>
                    <a:lstStyle/>
                    <a:p>
                      <a:pPr algn="ctr">
                        <a:buNone/>
                      </a:pPr>
                      <a:r>
                        <a:rPr lang="en-US" sz="1600" b="1">
                          <a:effectLst/>
                          <a:latin typeface="IRANSansWeb" panose="020B0506030804020204" pitchFamily="34" charset="-78"/>
                          <a:cs typeface="IRANSansWeb" panose="020B0506030804020204" pitchFamily="34" charset="-78"/>
                        </a:rPr>
                        <a:t>SNMP</a:t>
                      </a:r>
                    </a:p>
                  </a:txBody>
                  <a:tcPr marL="56229" marR="56229" marT="25952" marB="25952" anchor="ctr"/>
                </a:tc>
                <a:tc>
                  <a:txBody>
                    <a:bodyPr/>
                    <a:lstStyle/>
                    <a:p>
                      <a:pPr algn="ctr" rtl="1">
                        <a:buNone/>
                      </a:pPr>
                      <a:r>
                        <a:rPr lang="fa-IR" sz="1600" b="1" dirty="0">
                          <a:effectLst/>
                          <a:latin typeface="IRANSansWeb" panose="020B0506030804020204" pitchFamily="34" charset="-78"/>
                          <a:cs typeface="IRANSansWeb" panose="020B0506030804020204" pitchFamily="34" charset="-78"/>
                        </a:rPr>
                        <a:t>مدیریت و نظارت بر شبکه</a:t>
                      </a:r>
                    </a:p>
                  </a:txBody>
                  <a:tcPr marL="56229" marR="56229" marT="25952" marB="25952" anchor="ctr"/>
                </a:tc>
                <a:extLst>
                  <a:ext uri="{0D108BD9-81ED-4DB2-BD59-A6C34878D82A}">
                    <a16:rowId xmlns:a16="http://schemas.microsoft.com/office/drawing/2014/main" val="672355393"/>
                  </a:ext>
                </a:extLst>
              </a:tr>
            </a:tbl>
          </a:graphicData>
        </a:graphic>
      </p:graphicFrame>
    </p:spTree>
    <p:extLst>
      <p:ext uri="{BB962C8B-B14F-4D97-AF65-F5344CB8AC3E}">
        <p14:creationId xmlns:p14="http://schemas.microsoft.com/office/powerpoint/2010/main" val="2905955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AFE34-DEF1-3A7E-C975-B18804CFCC1E}"/>
              </a:ext>
            </a:extLst>
          </p:cNvPr>
          <p:cNvSpPr>
            <a:spLocks noGrp="1"/>
          </p:cNvSpPr>
          <p:nvPr>
            <p:ph type="title"/>
          </p:nvPr>
        </p:nvSpPr>
        <p:spPr/>
        <p:txBody>
          <a:bodyPr>
            <a:normAutofit/>
          </a:bodyPr>
          <a:lstStyle/>
          <a:p>
            <a:r>
              <a:rPr lang="en-US" dirty="0"/>
              <a:t>Network Sockets</a:t>
            </a:r>
          </a:p>
        </p:txBody>
      </p:sp>
      <p:sp>
        <p:nvSpPr>
          <p:cNvPr id="3" name="Content Placeholder 2">
            <a:extLst>
              <a:ext uri="{FF2B5EF4-FFF2-40B4-BE49-F238E27FC236}">
                <a16:creationId xmlns:a16="http://schemas.microsoft.com/office/drawing/2014/main" id="{8E429471-293B-1AFD-4D5B-8649306AB628}"/>
              </a:ext>
            </a:extLst>
          </p:cNvPr>
          <p:cNvSpPr>
            <a:spLocks noGrp="1"/>
          </p:cNvSpPr>
          <p:nvPr>
            <p:ph idx="1"/>
          </p:nvPr>
        </p:nvSpPr>
        <p:spPr/>
        <p:txBody>
          <a:bodyPr>
            <a:normAutofit fontScale="40000" lnSpcReduction="20000"/>
          </a:bodyPr>
          <a:lstStyle/>
          <a:p>
            <a:pPr algn="r" rtl="1">
              <a:lnSpc>
                <a:spcPct val="170000"/>
              </a:lnSpc>
            </a:pPr>
            <a:r>
              <a:rPr lang="fa-IR" dirty="0">
                <a:latin typeface="IRANSansWeb" panose="020B0506030804020204" pitchFamily="34" charset="-78"/>
                <a:cs typeface="IRANSansWeb" panose="020B0506030804020204" pitchFamily="34" charset="-78"/>
              </a:rPr>
              <a:t>یک سوکت از نظر مفهومی یک نقطه پایانی برای ارتباط است و رابط برنامه‌نویسی کاربردی برکلی , </a:t>
            </a:r>
            <a:r>
              <a:rPr lang="en-US" dirty="0">
                <a:latin typeface="IRANSansWeb" panose="020B0506030804020204" pitchFamily="34" charset="-78"/>
                <a:cs typeface="IRANSansWeb" panose="020B0506030804020204" pitchFamily="34" charset="-78"/>
              </a:rPr>
              <a:t> (BSD)</a:t>
            </a:r>
            <a:r>
              <a:rPr lang="fa-IR" dirty="0">
                <a:latin typeface="IRANSansWeb" panose="020B0506030804020204" pitchFamily="34" charset="-78"/>
                <a:cs typeface="IRANSansWeb" panose="020B0506030804020204" pitchFamily="34" charset="-78"/>
              </a:rPr>
              <a:t>رابط برنامه‌نویسی کاربردی استاندارد چند پلتفرمی است که برای ایجاد، پیکربندی، خواندن از، نوشتن در و مدیریت سوکت‌ها استفاده می‌شود.یک سوکت با استفاده از آدرس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 گره شبکه و شماره پورت درون گره شبکه شناسایی می‌شود.اگر یک گره شبکه بخواهد داده‌های </a:t>
            </a:r>
            <a:r>
              <a:rPr lang="en-US" dirty="0">
                <a:latin typeface="IRANSansWeb" panose="020B0506030804020204" pitchFamily="34" charset="-78"/>
                <a:cs typeface="IRANSansWeb" panose="020B0506030804020204" pitchFamily="34" charset="-78"/>
              </a:rPr>
              <a:t>UDP </a:t>
            </a:r>
            <a:r>
              <a:rPr lang="fa-IR" dirty="0">
                <a:latin typeface="IRANSansWeb" panose="020B0506030804020204" pitchFamily="34" charset="-78"/>
                <a:cs typeface="IRANSansWeb" panose="020B0506030804020204" pitchFamily="34" charset="-78"/>
              </a:rPr>
              <a:t> را به شبکه ارسال کند، ابتدا یک سوکت ایجاد می‌کند، سپس داده‌ها را به آن سوکت ارسال می‌کند. اگر یک گره شبکه بخواهد داده‌های </a:t>
            </a:r>
            <a:r>
              <a:rPr lang="en-US" dirty="0">
                <a:latin typeface="IRANSansWeb" panose="020B0506030804020204" pitchFamily="34" charset="-78"/>
                <a:cs typeface="IRANSansWeb" panose="020B0506030804020204" pitchFamily="34" charset="-78"/>
              </a:rPr>
              <a:t>UDP </a:t>
            </a:r>
            <a:r>
              <a:rPr lang="fa-IR" dirty="0">
                <a:latin typeface="IRANSansWeb" panose="020B0506030804020204" pitchFamily="34" charset="-78"/>
                <a:cs typeface="IRANSansWeb" panose="020B0506030804020204" pitchFamily="34" charset="-78"/>
              </a:rPr>
              <a:t> را دریافت کند، ابتدا یک سوکت روی آدرسی که توسط گره‌ای که داده‌ها را ارسال می‌کند شناخته شده است، ایجاد می‌کند، سپس داده‌ها را از آن سوکت می‌خواند.اگر یک گره شبکه بخواهد داده‌های </a:t>
            </a:r>
            <a:r>
              <a:rPr lang="en-US" dirty="0">
                <a:latin typeface="IRANSansWeb" panose="020B0506030804020204" pitchFamily="34" charset="-78"/>
                <a:cs typeface="IRANSansWeb" panose="020B0506030804020204" pitchFamily="34" charset="-78"/>
              </a:rPr>
              <a:t>TCP </a:t>
            </a:r>
            <a:r>
              <a:rPr lang="fa-IR" dirty="0">
                <a:latin typeface="IRANSansWeb" panose="020B0506030804020204" pitchFamily="34" charset="-78"/>
                <a:cs typeface="IRANSansWeb" panose="020B0506030804020204" pitchFamily="34" charset="-78"/>
              </a:rPr>
              <a:t> را به شبکه ارسال کند، ابتدا یک سوکت ایجاد می‌کند، آن سوکت را به یک سوکت روی یک گره راه دور متصل می‌کند، سپس داده‌ها را به آن سوکت ارسال می‌کند. اگر یک گره شبکه بخواهد داده‌های </a:t>
            </a:r>
            <a:r>
              <a:rPr lang="en-US" dirty="0">
                <a:latin typeface="IRANSansWeb" panose="020B0506030804020204" pitchFamily="34" charset="-78"/>
                <a:cs typeface="IRANSansWeb" panose="020B0506030804020204" pitchFamily="34" charset="-78"/>
              </a:rPr>
              <a:t>TCP </a:t>
            </a:r>
            <a:r>
              <a:rPr lang="fa-IR" dirty="0">
                <a:latin typeface="IRANSansWeb" panose="020B0506030804020204" pitchFamily="34" charset="-78"/>
                <a:cs typeface="IRANSansWeb" panose="020B0506030804020204" pitchFamily="34" charset="-78"/>
              </a:rPr>
              <a:t> را دریافت کند، ابتدا یک سوکت ایجاد می‌کند، سپس در آن سوکت منتظر اتصالات ورودی می‌ماند. وقتی اتصالی دریافت می‌شود، ممکن است (به صورت اختیاری) یک سوکت جدید برای مدیریت اتصال ایجاد کند و سپس داده‌ها را روی سوکت جدید دریافت کند - سوکت اصلی را در حال گوش دادن به اتصالات ورودی اضافی رها می‌کند.پس می‌توان مشاهده کرد که هر گره شبکه می‌تواند به طور همزمان در چندین مکالمه شبکه درگیر شود - و در هر انتهای هر مکالمه منحصر به فرد از یک سوکت استفاده می‌شود.سوکت‌ها همچنین می‌توانند برای ارسال و دریافت ارتباطات برودکست و مولتی کست - که هر دو نوعی از ارتباطات یک به چند هستند - استفاده شوند.</a:t>
            </a:r>
            <a:endParaRPr lang="en-US"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23075385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D8FC3-BCAB-D193-4A5D-0920CA02ED9C}"/>
              </a:ext>
            </a:extLst>
          </p:cNvPr>
          <p:cNvSpPr>
            <a:spLocks noGrp="1"/>
          </p:cNvSpPr>
          <p:nvPr>
            <p:ph type="title"/>
          </p:nvPr>
        </p:nvSpPr>
        <p:spPr/>
        <p:txBody>
          <a:bodyPr/>
          <a:lstStyle/>
          <a:p>
            <a:r>
              <a:rPr lang="en-US" dirty="0"/>
              <a:t>Binding</a:t>
            </a:r>
          </a:p>
        </p:txBody>
      </p:sp>
      <p:sp>
        <p:nvSpPr>
          <p:cNvPr id="3" name="Content Placeholder 2">
            <a:extLst>
              <a:ext uri="{FF2B5EF4-FFF2-40B4-BE49-F238E27FC236}">
                <a16:creationId xmlns:a16="http://schemas.microsoft.com/office/drawing/2014/main" id="{98939DFA-52CB-3F24-C994-A6D6D3FC0AC9}"/>
              </a:ext>
            </a:extLst>
          </p:cNvPr>
          <p:cNvSpPr>
            <a:spLocks noGrp="1"/>
          </p:cNvSpPr>
          <p:nvPr>
            <p:ph idx="1"/>
          </p:nvPr>
        </p:nvSpPr>
        <p:spPr/>
        <p:txBody>
          <a:bodyPr>
            <a:normAutofit fontScale="62500" lnSpcReduction="20000"/>
          </a:bodyPr>
          <a:lstStyle/>
          <a:p>
            <a:r>
              <a:rPr lang="en-US" dirty="0"/>
              <a:t>Binding</a:t>
            </a:r>
          </a:p>
          <a:p>
            <a:pPr algn="r" rtl="1">
              <a:lnSpc>
                <a:spcPct val="170000"/>
              </a:lnSpc>
            </a:pPr>
            <a:r>
              <a:rPr lang="fa-IR" dirty="0">
                <a:latin typeface="IRANSansWeb" panose="020B0506030804020204" pitchFamily="34" charset="-78"/>
                <a:cs typeface="IRANSansWeb" panose="020B0506030804020204" pitchFamily="34" charset="-78"/>
              </a:rPr>
              <a:t>هر سوکت به یک آدرس منحصر به فرد نیاز دارد. همانطور که قبلاً گفته شد، یک آدرس ترکیبی از یک آدرس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 و یک شماره پورت است.وقتی یک سوکت ایجاد می‌شود، آدرس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 گره شبکه‌ای که آن را ایجاد کرده است را در نظر می‌گیرد. اگر یک سوکت دارای آدرس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 باشد اما شماره پورت نداشته باشد، به آن «غیرمرتبط» (</a:t>
            </a:r>
            <a:r>
              <a:rPr lang="en-US" dirty="0">
                <a:latin typeface="IRANSansWeb" panose="020B0506030804020204" pitchFamily="34" charset="-78"/>
                <a:cs typeface="IRANSansWeb" panose="020B0506030804020204" pitchFamily="34" charset="-78"/>
              </a:rPr>
              <a:t>unbound</a:t>
            </a:r>
            <a:r>
              <a:rPr lang="fa-IR" dirty="0">
                <a:latin typeface="IRANSansWeb" panose="020B0506030804020204" pitchFamily="34" charset="-78"/>
                <a:cs typeface="IRANSansWeb" panose="020B0506030804020204" pitchFamily="34" charset="-78"/>
              </a:rPr>
              <a:t>) گفته می‌شود. یک سوکت غیرمرتبط نمی‌تواند داده دریافت کند زیرا آدرس کاملی ندارد.وقتی یک سوکت هم آدرس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 و هم شماره پورت دارد، به آن «متصل به یک پورت» یا «متصل به یک آدرس» گفته می‌شود. یک سوکت متصل می‌تواند داده دریافت کند زیرا آدرس کاملی دارد.فرآیند اختصاص شماره پورت به یک سوکت (</a:t>
            </a:r>
            <a:r>
              <a:rPr lang="en-US" dirty="0">
                <a:latin typeface="IRANSansWeb" panose="020B0506030804020204" pitchFamily="34" charset="-78"/>
                <a:cs typeface="IRANSansWeb" panose="020B0506030804020204" pitchFamily="34" charset="-78"/>
              </a:rPr>
              <a:t>binding</a:t>
            </a:r>
            <a:r>
              <a:rPr lang="fa-IR" dirty="0">
                <a:latin typeface="IRANSansWeb" panose="020B0506030804020204" pitchFamily="34" charset="-78"/>
                <a:cs typeface="IRANSansWeb" panose="020B0506030804020204" pitchFamily="34" charset="-78"/>
              </a:rPr>
              <a:t>) نامیده می‌شود.</a:t>
            </a:r>
          </a:p>
          <a:p>
            <a:endParaRPr lang="en-US" dirty="0"/>
          </a:p>
        </p:txBody>
      </p:sp>
    </p:spTree>
    <p:extLst>
      <p:ext uri="{BB962C8B-B14F-4D97-AF65-F5344CB8AC3E}">
        <p14:creationId xmlns:p14="http://schemas.microsoft.com/office/powerpoint/2010/main" val="115691958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22F60-83E1-49CB-85AB-0DDEFF00EF2E}"/>
              </a:ext>
            </a:extLst>
          </p:cNvPr>
          <p:cNvSpPr>
            <a:spLocks noGrp="1"/>
          </p:cNvSpPr>
          <p:nvPr>
            <p:ph type="title"/>
          </p:nvPr>
        </p:nvSpPr>
        <p:spPr/>
        <p:txBody>
          <a:bodyPr>
            <a:normAutofit/>
          </a:bodyPr>
          <a:lstStyle/>
          <a:p>
            <a:r>
              <a:rPr lang="en-US" dirty="0"/>
              <a:t>Client and Server</a:t>
            </a:r>
          </a:p>
        </p:txBody>
      </p:sp>
      <p:sp>
        <p:nvSpPr>
          <p:cNvPr id="3" name="Content Placeholder 2">
            <a:extLst>
              <a:ext uri="{FF2B5EF4-FFF2-40B4-BE49-F238E27FC236}">
                <a16:creationId xmlns:a16="http://schemas.microsoft.com/office/drawing/2014/main" id="{C97E6217-B7E3-E4C9-4DB2-4DED85D91235}"/>
              </a:ext>
            </a:extLst>
          </p:cNvPr>
          <p:cNvSpPr>
            <a:spLocks noGrp="1"/>
          </p:cNvSpPr>
          <p:nvPr>
            <p:ph idx="1"/>
          </p:nvPr>
        </p:nvSpPr>
        <p:spPr/>
        <p:txBody>
          <a:bodyPr>
            <a:normAutofit fontScale="40000" lnSpcReduction="20000"/>
          </a:bodyPr>
          <a:lstStyle/>
          <a:p>
            <a:r>
              <a:rPr lang="en-US" dirty="0"/>
              <a:t>Client</a:t>
            </a:r>
          </a:p>
          <a:p>
            <a:pPr algn="r" rtl="1">
              <a:lnSpc>
                <a:spcPct val="170000"/>
              </a:lnSpc>
            </a:pPr>
            <a:r>
              <a:rPr lang="fa-IR" dirty="0">
                <a:latin typeface="IRANSansWeb" panose="020B0506030804020204" pitchFamily="34" charset="-78"/>
                <a:cs typeface="IRANSansWeb" panose="020B0506030804020204" pitchFamily="34" charset="-78"/>
              </a:rPr>
              <a:t>کلاینت‌ها برنامه‌هایی هستند که به طور فعال به برنامه‌های راه دور متصل می‌شوند تا از برنامه راه دور سرویس دریافت کنند. برنامه راه دور، سرور است.</a:t>
            </a:r>
          </a:p>
          <a:p>
            <a:pPr marL="0" indent="0" algn="r" rtl="1">
              <a:lnSpc>
                <a:spcPct val="170000"/>
              </a:lnSpc>
              <a:buNone/>
            </a:pPr>
            <a:endParaRPr lang="en-US" dirty="0">
              <a:latin typeface="IRANSansWeb" panose="020B0506030804020204" pitchFamily="34" charset="-78"/>
              <a:cs typeface="IRANSansWeb" panose="020B0506030804020204" pitchFamily="34" charset="-78"/>
            </a:endParaRPr>
          </a:p>
          <a:p>
            <a:r>
              <a:rPr lang="en-US" dirty="0"/>
              <a:t>Server</a:t>
            </a:r>
          </a:p>
          <a:p>
            <a:pPr algn="r" rtl="1"/>
            <a:r>
              <a:rPr lang="fa-IR" dirty="0">
                <a:latin typeface="IRANSansWeb" panose="020B0506030804020204" pitchFamily="34" charset="-78"/>
                <a:cs typeface="IRANSansWeb" panose="020B0506030804020204" pitchFamily="34" charset="-78"/>
              </a:rPr>
              <a:t>سرورها برنامه‌هایی هستند که منتظر درخواست‌های دریافتی از کلاینت‌ها می‌مانند و سپس به آنها پاسخ می‌دهند.</a:t>
            </a:r>
          </a:p>
          <a:p>
            <a:pPr algn="r" rtl="1"/>
            <a:endParaRPr lang="en-US" dirty="0">
              <a:latin typeface="IRANSansWeb" panose="020B0506030804020204" pitchFamily="34" charset="-78"/>
              <a:cs typeface="IRANSansWeb" panose="020B0506030804020204" pitchFamily="34" charset="-78"/>
            </a:endParaRPr>
          </a:p>
          <a:p>
            <a:endParaRPr lang="en-US" dirty="0"/>
          </a:p>
          <a:p>
            <a:pPr algn="r" rtl="1">
              <a:lnSpc>
                <a:spcPct val="170000"/>
              </a:lnSpc>
            </a:pPr>
            <a:r>
              <a:rPr lang="fa-IR" dirty="0">
                <a:latin typeface="IRANSansWeb" panose="020B0506030804020204" pitchFamily="34" charset="-78"/>
                <a:cs typeface="IRANSansWeb" panose="020B0506030804020204" pitchFamily="34" charset="-78"/>
              </a:rPr>
              <a:t>کلاینت‌ها باید سرورها را پیدا کنند و ساده‌ترین راه برای دستیابی به این هدف، اتصال سرور به یک آدرس از پیش توافق شده است (روش‌های پیچیده‌تر دیگری نیز وجود دارد).سرورها نیازی به دانستن آدرس کلاینت از قبل ندارند، آنها فقط پاسخ‌های خود را به آدرسی که درخواست کلاینت از آن سرچشمه گرفته است، ارسال می‌کنند. بنابراین کلاینت‌ها می‌توانند (معمولاً) تقریباً به هر شماره پورتی متصل شوند.</a:t>
            </a:r>
          </a:p>
          <a:p>
            <a:pPr algn="r" rtl="1">
              <a:lnSpc>
                <a:spcPct val="170000"/>
              </a:lnSpc>
            </a:pPr>
            <a:r>
              <a:rPr lang="fa-IR" dirty="0">
                <a:latin typeface="IRANSansWeb" panose="020B0506030804020204" pitchFamily="34" charset="-78"/>
                <a:cs typeface="IRANSansWeb" panose="020B0506030804020204" pitchFamily="34" charset="-78"/>
              </a:rPr>
              <a:t>بسیاری از شماره پورت‌های پایین (فقط طبق قرارداد) برای شبکه مشترک رزرو شده‌اند.</a:t>
            </a:r>
          </a:p>
          <a:p>
            <a:pPr algn="r" rtl="1">
              <a:lnSpc>
                <a:spcPct val="170000"/>
              </a:lnSpc>
            </a:pPr>
            <a:r>
              <a:rPr lang="fa-IR" dirty="0">
                <a:latin typeface="IRANSansWeb" panose="020B0506030804020204" pitchFamily="34" charset="-78"/>
                <a:cs typeface="IRANSansWeb" panose="020B0506030804020204" pitchFamily="34" charset="-78"/>
              </a:rPr>
              <a:t>سوکت‌ها فقط باید یک بار ایجاد و اتصال شوند، نه برای هر تراکنش.</a:t>
            </a:r>
            <a:endParaRPr lang="en-US" dirty="0">
              <a:latin typeface="IRANSansWeb" panose="020B0506030804020204" pitchFamily="34" charset="-78"/>
              <a:cs typeface="IRANSansWeb" panose="020B0506030804020204" pitchFamily="34" charset="-78"/>
            </a:endParaRPr>
          </a:p>
          <a:p>
            <a:endParaRPr lang="en-US" dirty="0"/>
          </a:p>
        </p:txBody>
      </p:sp>
    </p:spTree>
    <p:extLst>
      <p:ext uri="{BB962C8B-B14F-4D97-AF65-F5344CB8AC3E}">
        <p14:creationId xmlns:p14="http://schemas.microsoft.com/office/powerpoint/2010/main" val="18176626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66E8A-3217-047D-E342-13F444907137}"/>
              </a:ext>
            </a:extLst>
          </p:cNvPr>
          <p:cNvSpPr>
            <a:spLocks noGrp="1"/>
          </p:cNvSpPr>
          <p:nvPr>
            <p:ph type="title"/>
          </p:nvPr>
        </p:nvSpPr>
        <p:spPr/>
        <p:txBody>
          <a:bodyPr/>
          <a:lstStyle/>
          <a:p>
            <a:r>
              <a:rPr lang="en-US" dirty="0"/>
              <a:t>Client and Server</a:t>
            </a:r>
          </a:p>
        </p:txBody>
      </p:sp>
      <p:pic>
        <p:nvPicPr>
          <p:cNvPr id="17410" name="Picture 2" descr="network clients and servers">
            <a:extLst>
              <a:ext uri="{FF2B5EF4-FFF2-40B4-BE49-F238E27FC236}">
                <a16:creationId xmlns:a16="http://schemas.microsoft.com/office/drawing/2014/main" id="{66E7E727-BB1E-266E-1A4C-C9DB7FFDCB8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60485" y="1600200"/>
            <a:ext cx="7423030"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036179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05E5-C700-FB2C-F809-5E1C41145A35}"/>
              </a:ext>
            </a:extLst>
          </p:cNvPr>
          <p:cNvSpPr>
            <a:spLocks noGrp="1"/>
          </p:cNvSpPr>
          <p:nvPr>
            <p:ph type="title"/>
          </p:nvPr>
        </p:nvSpPr>
        <p:spPr/>
        <p:txBody>
          <a:bodyPr>
            <a:noAutofit/>
          </a:bodyPr>
          <a:lstStyle/>
          <a:p>
            <a:r>
              <a:rPr lang="en-US" sz="2800" dirty="0"/>
              <a:t>DHCP </a:t>
            </a:r>
            <a:r>
              <a:rPr lang="fa-IR" sz="2800" dirty="0"/>
              <a:t>)</a:t>
            </a:r>
            <a:r>
              <a:rPr lang="en-US" sz="2800" dirty="0"/>
              <a:t>Dynamic Host Control Protocol</a:t>
            </a:r>
            <a:r>
              <a:rPr lang="fa-IR" sz="2800" dirty="0"/>
              <a:t>(</a:t>
            </a:r>
            <a:r>
              <a:rPr lang="en-US" sz="2800" dirty="0"/>
              <a:t> (IPv4)</a:t>
            </a:r>
          </a:p>
        </p:txBody>
      </p:sp>
      <p:sp>
        <p:nvSpPr>
          <p:cNvPr id="3" name="Content Placeholder 2">
            <a:extLst>
              <a:ext uri="{FF2B5EF4-FFF2-40B4-BE49-F238E27FC236}">
                <a16:creationId xmlns:a16="http://schemas.microsoft.com/office/drawing/2014/main" id="{5B432AF1-B347-1E0A-5317-0E2E12A16771}"/>
              </a:ext>
            </a:extLst>
          </p:cNvPr>
          <p:cNvSpPr>
            <a:spLocks noGrp="1"/>
          </p:cNvSpPr>
          <p:nvPr>
            <p:ph idx="1"/>
          </p:nvPr>
        </p:nvSpPr>
        <p:spPr/>
        <p:txBody>
          <a:bodyPr>
            <a:normAutofit fontScale="55000" lnSpcReduction="20000"/>
          </a:bodyPr>
          <a:lstStyle/>
          <a:p>
            <a:endParaRPr lang="fa-IR" dirty="0"/>
          </a:p>
          <a:p>
            <a:pPr algn="r" rtl="1">
              <a:lnSpc>
                <a:spcPct val="170000"/>
              </a:lnSpc>
            </a:pPr>
            <a:r>
              <a:rPr lang="fa-IR" dirty="0">
                <a:latin typeface="IRANSansWeb" panose="020B0506030804020204" pitchFamily="34" charset="-78"/>
                <a:cs typeface="IRANSansWeb" panose="020B0506030804020204" pitchFamily="34" charset="-78"/>
              </a:rPr>
              <a:t>آدرس‌های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 استاتیک در طول توسعه برنامه مفید هستند، اما برای استقرار محصول غیرعملی هستند زیرا:آنها باید به صورت کدنویسی سخت یا در حافظه فلش خارجی اجرا شوند.آدرس‌های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 را نمی‌توان بدون اطلاع قبلی از محیط شبکه‌ای که محصولات در آن مستقر می‌شوند، از قبل به محصولات اختصاص داد.هیچ اطلاع قبلی از تعداد گره‌های موجود در شبکه یا در واقع تعداد کل گره‌های ممکن در هر زمان فعال نخواهد بود.</a:t>
            </a:r>
            <a:r>
              <a:rPr lang="en-US" dirty="0">
                <a:latin typeface="IRANSansWeb" panose="020B0506030804020204" pitchFamily="34" charset="-78"/>
                <a:cs typeface="IRANSansWeb" panose="020B0506030804020204" pitchFamily="34" charset="-78"/>
              </a:rPr>
              <a:t>DHCP </a:t>
            </a:r>
            <a:r>
              <a:rPr lang="fa-IR" dirty="0">
                <a:latin typeface="IRANSansWeb" panose="020B0506030804020204" pitchFamily="34" charset="-78"/>
                <a:cs typeface="IRANSansWeb" panose="020B0506030804020204" pitchFamily="34" charset="-78"/>
              </a:rPr>
              <a:t>  جایگزینی برای تخصیص آدرس </a:t>
            </a:r>
            <a:r>
              <a:rPr lang="en-US" dirty="0">
                <a:latin typeface="IRANSansWeb" panose="020B0506030804020204" pitchFamily="34" charset="-78"/>
                <a:cs typeface="IRANSansWeb" panose="020B0506030804020204" pitchFamily="34" charset="-78"/>
              </a:rPr>
              <a:t>IPv4 </a:t>
            </a:r>
            <a:r>
              <a:rPr lang="fa-IR" dirty="0">
                <a:latin typeface="IRANSansWeb" panose="020B0506030804020204" pitchFamily="34" charset="-78"/>
                <a:cs typeface="IRANSansWeb" panose="020B0506030804020204" pitchFamily="34" charset="-78"/>
              </a:rPr>
              <a:t> استاتیک ارائه می‌دهد. سرورهای </a:t>
            </a:r>
            <a:r>
              <a:rPr lang="en-US" dirty="0">
                <a:latin typeface="IRANSansWeb" panose="020B0506030804020204" pitchFamily="34" charset="-78"/>
                <a:cs typeface="IRANSansWeb" panose="020B0506030804020204" pitchFamily="34" charset="-78"/>
              </a:rPr>
              <a:t>DHCP </a:t>
            </a:r>
            <a:r>
              <a:rPr lang="fa-IR" dirty="0">
                <a:latin typeface="IRANSansWeb" panose="020B0506030804020204" pitchFamily="34" charset="-78"/>
                <a:cs typeface="IRANSansWeb" panose="020B0506030804020204" pitchFamily="34" charset="-78"/>
              </a:rPr>
              <a:t> در شبکه‌های محلی وجود دارند تا آدرس‌های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 را به صورت پویا به گره‌های همان شبکه اختصاص دهند. هنگامی که یک محصول فعال شده در شبکه راه‌اندازی می‌شود، با سرور </a:t>
            </a:r>
            <a:r>
              <a:rPr lang="en-US" dirty="0">
                <a:latin typeface="IRANSansWeb" panose="020B0506030804020204" pitchFamily="34" charset="-78"/>
                <a:cs typeface="IRANSansWeb" panose="020B0506030804020204" pitchFamily="34" charset="-78"/>
              </a:rPr>
              <a:t>DHCP </a:t>
            </a:r>
            <a:r>
              <a:rPr lang="fa-IR" dirty="0">
                <a:latin typeface="IRANSansWeb" panose="020B0506030804020204" pitchFamily="34" charset="-78"/>
                <a:cs typeface="IRANSansWeb" panose="020B0506030804020204" pitchFamily="34" charset="-78"/>
              </a:rPr>
              <a:t>تماس می‌گیرد تا آدرس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 خود را درخواست کند و نیاز به پیکربندی استاتیک هر گره را از بین می‌برد.</a:t>
            </a:r>
          </a:p>
          <a:p>
            <a:endParaRPr lang="en-US" dirty="0"/>
          </a:p>
        </p:txBody>
      </p:sp>
    </p:spTree>
    <p:extLst>
      <p:ext uri="{BB962C8B-B14F-4D97-AF65-F5344CB8AC3E}">
        <p14:creationId xmlns:p14="http://schemas.microsoft.com/office/powerpoint/2010/main" val="14887910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D7A0C-AB04-5CDA-FF0E-1CFEB4AAFF32}"/>
              </a:ext>
            </a:extLst>
          </p:cNvPr>
          <p:cNvSpPr>
            <a:spLocks noGrp="1"/>
          </p:cNvSpPr>
          <p:nvPr>
            <p:ph type="title"/>
          </p:nvPr>
        </p:nvSpPr>
        <p:spPr/>
        <p:txBody>
          <a:bodyPr>
            <a:normAutofit/>
          </a:bodyPr>
          <a:lstStyle/>
          <a:p>
            <a:r>
              <a:rPr lang="en-US" dirty="0"/>
              <a:t>Network Name Resolution</a:t>
            </a:r>
          </a:p>
        </p:txBody>
      </p:sp>
      <p:sp>
        <p:nvSpPr>
          <p:cNvPr id="3" name="Content Placeholder 2">
            <a:extLst>
              <a:ext uri="{FF2B5EF4-FFF2-40B4-BE49-F238E27FC236}">
                <a16:creationId xmlns:a16="http://schemas.microsoft.com/office/drawing/2014/main" id="{521820E2-8403-211D-0692-9B337A45C051}"/>
              </a:ext>
            </a:extLst>
          </p:cNvPr>
          <p:cNvSpPr>
            <a:spLocks noGrp="1"/>
          </p:cNvSpPr>
          <p:nvPr>
            <p:ph idx="1"/>
          </p:nvPr>
        </p:nvSpPr>
        <p:spPr/>
        <p:txBody>
          <a:bodyPr>
            <a:normAutofit fontScale="62500" lnSpcReduction="20000"/>
          </a:bodyPr>
          <a:lstStyle/>
          <a:p>
            <a:pPr algn="r" rtl="1">
              <a:lnSpc>
                <a:spcPct val="170000"/>
              </a:lnSpc>
            </a:pPr>
            <a:r>
              <a:rPr lang="fa-IR" dirty="0">
                <a:latin typeface="IRANSansWeb" panose="020B0506030804020204" pitchFamily="34" charset="-78"/>
                <a:cs typeface="IRANSansWeb" panose="020B0506030804020204" pitchFamily="34" charset="-78"/>
              </a:rPr>
              <a:t>آدرس‌دهی گره‌های راه دور با استفاده از یک آدرس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 خام همیشه عملی نیست زیرا:</a:t>
            </a:r>
          </a:p>
          <a:p>
            <a:pPr algn="r" rtl="1">
              <a:lnSpc>
                <a:spcPct val="170000"/>
              </a:lnSpc>
            </a:pPr>
            <a:r>
              <a:rPr lang="fa-IR" dirty="0">
                <a:latin typeface="IRANSansWeb" panose="020B0506030804020204" pitchFamily="34" charset="-78"/>
                <a:cs typeface="IRANSansWeb" panose="020B0506030804020204" pitchFamily="34" charset="-78"/>
              </a:rPr>
              <a:t>آدرس‌های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 می‌توانند تغییر کنند.</a:t>
            </a:r>
          </a:p>
          <a:p>
            <a:pPr algn="r" rtl="1">
              <a:lnSpc>
                <a:spcPct val="170000"/>
              </a:lnSpc>
            </a:pPr>
            <a:r>
              <a:rPr lang="fa-IR" dirty="0">
                <a:latin typeface="IRANSansWeb" panose="020B0506030804020204" pitchFamily="34" charset="-78"/>
                <a:cs typeface="IRANSansWeb" panose="020B0506030804020204" pitchFamily="34" charset="-78"/>
              </a:rPr>
              <a:t>آدرس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 یک کامپیوتر راه دور ممکن است شناخته شده نباشد.</a:t>
            </a:r>
          </a:p>
          <a:p>
            <a:pPr algn="r" rtl="1">
              <a:lnSpc>
                <a:spcPct val="170000"/>
              </a:lnSpc>
            </a:pPr>
            <a:r>
              <a:rPr lang="fa-IR" dirty="0">
                <a:latin typeface="IRANSansWeb" panose="020B0506030804020204" pitchFamily="34" charset="-78"/>
                <a:cs typeface="IRANSansWeb" panose="020B0506030804020204" pitchFamily="34" charset="-78"/>
              </a:rPr>
              <a:t>آدرس‌های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 خیلی به خاطر سپردنی نیستند.</a:t>
            </a:r>
          </a:p>
          <a:p>
            <a:pPr algn="r" rtl="1">
              <a:lnSpc>
                <a:spcPct val="170000"/>
              </a:lnSpc>
            </a:pPr>
            <a:r>
              <a:rPr lang="fa-IR" dirty="0">
                <a:latin typeface="IRANSansWeb" panose="020B0506030804020204" pitchFamily="34" charset="-78"/>
                <a:cs typeface="IRANSansWeb" panose="020B0506030804020204" pitchFamily="34" charset="-78"/>
              </a:rPr>
              <a:t>آدرس‌دهی یک گره راه دور با استفاده از یک نام قابل خواندن توسط انسان راحت‌تر است. فرآیند تبدیل یک نام قابل خواندن توسط انسان به یک آدرس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تفکیک نام </a:t>
            </a:r>
            <a:r>
              <a:rPr lang="en-US" dirty="0">
                <a:latin typeface="IRANSansWeb" panose="020B0506030804020204" pitchFamily="34" charset="-78"/>
                <a:cs typeface="IRANSansWeb" panose="020B0506030804020204" pitchFamily="34" charset="-78"/>
              </a:rPr>
              <a:t>Name Resolution) </a:t>
            </a:r>
            <a:r>
              <a:rPr lang="fa-IR" dirty="0">
                <a:latin typeface="IRANSansWeb" panose="020B0506030804020204" pitchFamily="34" charset="-78"/>
                <a:cs typeface="IRANSansWeb" panose="020B0506030804020204" pitchFamily="34" charset="-78"/>
              </a:rPr>
              <a:t>) نامیده می‌شود. </a:t>
            </a:r>
          </a:p>
          <a:p>
            <a:pPr algn="r" rtl="1">
              <a:lnSpc>
                <a:spcPct val="170000"/>
              </a:lnSpc>
            </a:pPr>
            <a:r>
              <a:rPr lang="fa-IR" dirty="0">
                <a:latin typeface="IRANSansWeb" panose="020B0506030804020204" pitchFamily="34" charset="-78"/>
                <a:cs typeface="IRANSansWeb" panose="020B0506030804020204" pitchFamily="34" charset="-78"/>
              </a:rPr>
              <a:t>پروتکل‌های </a:t>
            </a:r>
            <a:r>
              <a:rPr lang="en-US" dirty="0">
                <a:latin typeface="IRANSansWeb" panose="020B0506030804020204" pitchFamily="34" charset="-78"/>
                <a:cs typeface="IRANSansWeb" panose="020B0506030804020204" pitchFamily="34" charset="-78"/>
              </a:rPr>
              <a:t>DNS، LLMNR </a:t>
            </a:r>
            <a:r>
              <a:rPr lang="fa-IR" dirty="0">
                <a:latin typeface="IRANSansWeb" panose="020B0506030804020204" pitchFamily="34" charset="-78"/>
                <a:cs typeface="IRANSansWeb" panose="020B0506030804020204" pitchFamily="34" charset="-78"/>
              </a:rPr>
              <a:t> و </a:t>
            </a:r>
            <a:r>
              <a:rPr lang="en-US" dirty="0">
                <a:latin typeface="IRANSansWeb" panose="020B0506030804020204" pitchFamily="34" charset="-78"/>
                <a:cs typeface="IRANSansWeb" panose="020B0506030804020204" pitchFamily="34" charset="-78"/>
              </a:rPr>
              <a:t>NBNS </a:t>
            </a:r>
            <a:r>
              <a:rPr lang="fa-IR" dirty="0">
                <a:latin typeface="IRANSansWeb" panose="020B0506030804020204" pitchFamily="34" charset="-78"/>
                <a:cs typeface="IRANSansWeb" panose="020B0506030804020204" pitchFamily="34" charset="-78"/>
              </a:rPr>
              <a:t> برای این منظور است.</a:t>
            </a:r>
            <a:endParaRPr lang="en-US" dirty="0">
              <a:latin typeface="IRANSansWeb" panose="020B0506030804020204" pitchFamily="34" charset="-78"/>
              <a:cs typeface="IRANSansWeb" panose="020B0506030804020204" pitchFamily="34" charset="-78"/>
            </a:endParaRPr>
          </a:p>
          <a:p>
            <a:endParaRPr lang="en-US" dirty="0"/>
          </a:p>
        </p:txBody>
      </p:sp>
    </p:spTree>
    <p:extLst>
      <p:ext uri="{BB962C8B-B14F-4D97-AF65-F5344CB8AC3E}">
        <p14:creationId xmlns:p14="http://schemas.microsoft.com/office/powerpoint/2010/main" val="1943006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7C49E-7558-D71F-9844-C965EC9511FF}"/>
              </a:ext>
            </a:extLst>
          </p:cNvPr>
          <p:cNvSpPr>
            <a:spLocks noGrp="1"/>
          </p:cNvSpPr>
          <p:nvPr>
            <p:ph type="title"/>
          </p:nvPr>
        </p:nvSpPr>
        <p:spPr/>
        <p:txBody>
          <a:bodyPr>
            <a:normAutofit/>
          </a:bodyPr>
          <a:lstStyle/>
          <a:p>
            <a:r>
              <a:rPr lang="en-US" dirty="0"/>
              <a:t>DNS </a:t>
            </a:r>
            <a:r>
              <a:rPr lang="fa-IR" dirty="0"/>
              <a:t>)</a:t>
            </a:r>
            <a:r>
              <a:rPr lang="en-US" dirty="0"/>
              <a:t>Domain Name System</a:t>
            </a:r>
            <a:r>
              <a:rPr lang="fa-IR" dirty="0"/>
              <a:t>(</a:t>
            </a:r>
            <a:endParaRPr lang="en-US" dirty="0"/>
          </a:p>
        </p:txBody>
      </p:sp>
      <p:sp>
        <p:nvSpPr>
          <p:cNvPr id="3" name="Content Placeholder 2">
            <a:extLst>
              <a:ext uri="{FF2B5EF4-FFF2-40B4-BE49-F238E27FC236}">
                <a16:creationId xmlns:a16="http://schemas.microsoft.com/office/drawing/2014/main" id="{3D82B2ED-F98E-21C1-26A3-9F29626FA411}"/>
              </a:ext>
            </a:extLst>
          </p:cNvPr>
          <p:cNvSpPr>
            <a:spLocks noGrp="1"/>
          </p:cNvSpPr>
          <p:nvPr>
            <p:ph idx="1"/>
          </p:nvPr>
        </p:nvSpPr>
        <p:spPr/>
        <p:txBody>
          <a:bodyPr>
            <a:normAutofit/>
          </a:bodyPr>
          <a:lstStyle/>
          <a:p>
            <a:endParaRPr lang="en-US" dirty="0"/>
          </a:p>
          <a:p>
            <a:endParaRPr lang="en-US" dirty="0"/>
          </a:p>
          <a:p>
            <a:pPr algn="r" rtl="1">
              <a:lnSpc>
                <a:spcPct val="170000"/>
              </a:lnSpc>
            </a:pPr>
            <a:r>
              <a:rPr lang="en-US" sz="1800" dirty="0">
                <a:latin typeface="IRANSansWeb" panose="020B0506030804020204" pitchFamily="34" charset="-78"/>
                <a:cs typeface="IRANSansWeb" panose="020B0506030804020204" pitchFamily="34" charset="-78"/>
              </a:rPr>
              <a:t>DNS </a:t>
            </a:r>
            <a:r>
              <a:rPr lang="fa-IR" sz="1800" dirty="0">
                <a:latin typeface="IRANSansWeb" panose="020B0506030804020204" pitchFamily="34" charset="-78"/>
                <a:cs typeface="IRANSansWeb" panose="020B0506030804020204" pitchFamily="34" charset="-78"/>
              </a:rPr>
              <a:t> نام‌های متنی (به جای عددی) ایستا و قابل خواندن توسط انسان را به آدرس‌های </a:t>
            </a:r>
            <a:r>
              <a:rPr lang="en-US" sz="1800" dirty="0">
                <a:latin typeface="IRANSansWeb" panose="020B0506030804020204" pitchFamily="34" charset="-78"/>
                <a:cs typeface="IRANSansWeb" panose="020B0506030804020204" pitchFamily="34" charset="-78"/>
              </a:rPr>
              <a:t>IP </a:t>
            </a:r>
            <a:r>
              <a:rPr lang="fa-IR" sz="1800" dirty="0">
                <a:latin typeface="IRANSansWeb" panose="020B0506030804020204" pitchFamily="34" charset="-78"/>
                <a:cs typeface="IRANSansWeb" panose="020B0506030804020204" pitchFamily="34" charset="-78"/>
              </a:rPr>
              <a:t> نگاشت می‌کند. یک سرور نام دامنه، نام دامنه متنی را به آدرس </a:t>
            </a:r>
            <a:r>
              <a:rPr lang="en-US" sz="1800" dirty="0">
                <a:latin typeface="IRANSansWeb" panose="020B0506030804020204" pitchFamily="34" charset="-78"/>
                <a:cs typeface="IRANSansWeb" panose="020B0506030804020204" pitchFamily="34" charset="-78"/>
              </a:rPr>
              <a:t>IP </a:t>
            </a:r>
            <a:r>
              <a:rPr lang="fa-IR" sz="1800" dirty="0">
                <a:latin typeface="IRANSansWeb" panose="020B0506030804020204" pitchFamily="34" charset="-78"/>
                <a:cs typeface="IRANSansWeb" panose="020B0506030804020204" pitchFamily="34" charset="-78"/>
              </a:rPr>
              <a:t> مناسب تبدیل می‌کند. برای مثال، وارد کردن </a:t>
            </a:r>
            <a:r>
              <a:rPr lang="en-US" sz="1800" dirty="0">
                <a:latin typeface="IRANSansWeb" panose="020B0506030804020204" pitchFamily="34" charset="-78"/>
                <a:cs typeface="IRANSansWeb" panose="020B0506030804020204" pitchFamily="34" charset="-78"/>
              </a:rPr>
              <a:t>ping www.mahdidadashi.ir </a:t>
            </a:r>
            <a:r>
              <a:rPr lang="fa-IR" sz="1800" dirty="0">
                <a:latin typeface="IRANSansWeb" panose="020B0506030804020204" pitchFamily="34" charset="-78"/>
                <a:cs typeface="IRANSansWeb" panose="020B0506030804020204" pitchFamily="34" charset="-78"/>
              </a:rPr>
              <a:t> در کنسول فرمان یک رایانه رومیزی، نشان می‌دهد که یک درخواست پینگ به آدرس </a:t>
            </a:r>
            <a:r>
              <a:rPr lang="en-US" sz="1800" dirty="0">
                <a:latin typeface="IRANSansWeb" panose="020B0506030804020204" pitchFamily="34" charset="-78"/>
                <a:cs typeface="IRANSansWeb" panose="020B0506030804020204" pitchFamily="34" charset="-78"/>
              </a:rPr>
              <a:t>IP 46.4.97.105 </a:t>
            </a:r>
            <a:r>
              <a:rPr lang="fa-IR" sz="1800" dirty="0">
                <a:latin typeface="IRANSansWeb" panose="020B0506030804020204" pitchFamily="34" charset="-78"/>
                <a:cs typeface="IRANSansWeb" panose="020B0506030804020204" pitchFamily="34" charset="-78"/>
              </a:rPr>
              <a:t> ارسال می‌شود</a:t>
            </a:r>
          </a:p>
          <a:p>
            <a:pPr algn="r" rtl="1">
              <a:lnSpc>
                <a:spcPct val="170000"/>
              </a:lnSpc>
            </a:pPr>
            <a:endParaRPr lang="en-US" dirty="0"/>
          </a:p>
        </p:txBody>
      </p:sp>
    </p:spTree>
    <p:extLst>
      <p:ext uri="{BB962C8B-B14F-4D97-AF65-F5344CB8AC3E}">
        <p14:creationId xmlns:p14="http://schemas.microsoft.com/office/powerpoint/2010/main" val="149527238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39304-ADAC-90B8-7A15-400B3F541BB6}"/>
              </a:ext>
            </a:extLst>
          </p:cNvPr>
          <p:cNvSpPr>
            <a:spLocks noGrp="1"/>
          </p:cNvSpPr>
          <p:nvPr>
            <p:ph type="title"/>
          </p:nvPr>
        </p:nvSpPr>
        <p:spPr/>
        <p:txBody>
          <a:bodyPr>
            <a:noAutofit/>
          </a:bodyPr>
          <a:lstStyle/>
          <a:p>
            <a:r>
              <a:rPr lang="en-US" sz="3200" dirty="0" err="1"/>
              <a:t>mDNS</a:t>
            </a:r>
            <a:r>
              <a:rPr lang="fa-IR" sz="3200" dirty="0"/>
              <a:t>) </a:t>
            </a:r>
            <a:r>
              <a:rPr lang="en-US" sz="3200" dirty="0"/>
              <a:t>Multicast Domain Name System</a:t>
            </a:r>
            <a:r>
              <a:rPr lang="fa-IR" sz="3200" dirty="0"/>
              <a:t>(</a:t>
            </a:r>
            <a:endParaRPr lang="en-US" sz="3200" dirty="0"/>
          </a:p>
        </p:txBody>
      </p:sp>
      <p:sp>
        <p:nvSpPr>
          <p:cNvPr id="3" name="Content Placeholder 2">
            <a:extLst>
              <a:ext uri="{FF2B5EF4-FFF2-40B4-BE49-F238E27FC236}">
                <a16:creationId xmlns:a16="http://schemas.microsoft.com/office/drawing/2014/main" id="{BF054338-B370-21CE-0279-E348226D4BFB}"/>
              </a:ext>
            </a:extLst>
          </p:cNvPr>
          <p:cNvSpPr>
            <a:spLocks noGrp="1"/>
          </p:cNvSpPr>
          <p:nvPr>
            <p:ph idx="1"/>
          </p:nvPr>
        </p:nvSpPr>
        <p:spPr/>
        <p:txBody>
          <a:bodyPr>
            <a:normAutofit fontScale="47500" lnSpcReduction="20000"/>
          </a:bodyPr>
          <a:lstStyle/>
          <a:p>
            <a:pPr marL="0" indent="0" algn="r" rtl="1">
              <a:lnSpc>
                <a:spcPct val="170000"/>
              </a:lnSpc>
              <a:buNone/>
            </a:pPr>
            <a:endParaRPr lang="en-US" dirty="0">
              <a:latin typeface="IRANSansWeb" panose="020B0506030804020204" pitchFamily="34" charset="-78"/>
              <a:cs typeface="IRANSansWeb" panose="020B0506030804020204" pitchFamily="34" charset="-78"/>
            </a:endParaRPr>
          </a:p>
          <a:p>
            <a:pPr algn="r" rtl="1">
              <a:lnSpc>
                <a:spcPct val="170000"/>
              </a:lnSpc>
            </a:pPr>
            <a:r>
              <a:rPr lang="en-US" dirty="0" err="1">
                <a:latin typeface="IRANSansWeb" panose="020B0506030804020204" pitchFamily="34" charset="-78"/>
                <a:cs typeface="IRANSansWeb" panose="020B0506030804020204" pitchFamily="34" charset="-78"/>
              </a:rPr>
              <a:t>mDNS</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 نوعی سرویس </a:t>
            </a:r>
            <a:r>
              <a:rPr lang="en-US" dirty="0">
                <a:latin typeface="IRANSansWeb" panose="020B0506030804020204" pitchFamily="34" charset="-78"/>
                <a:cs typeface="IRANSansWeb" panose="020B0506030804020204" pitchFamily="34" charset="-78"/>
              </a:rPr>
              <a:t>DNS </a:t>
            </a:r>
            <a:r>
              <a:rPr lang="fa-IR" dirty="0">
                <a:latin typeface="IRANSansWeb" panose="020B0506030804020204" pitchFamily="34" charset="-78"/>
                <a:cs typeface="IRANSansWeb" panose="020B0506030804020204" pitchFamily="34" charset="-78"/>
              </a:rPr>
              <a:t> است که نوعی از تفکیک نام دامنه محسوب می‌شود. وقتی یک کلاینت </a:t>
            </a:r>
            <a:r>
              <a:rPr lang="en-US" dirty="0" err="1">
                <a:latin typeface="IRANSansWeb" panose="020B0506030804020204" pitchFamily="34" charset="-78"/>
                <a:cs typeface="IRANSansWeb" panose="020B0506030804020204" pitchFamily="34" charset="-78"/>
              </a:rPr>
              <a:t>mDNS</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 نیاز به تفکیک نام میزبان دارد، یک پیام پرس‌وجوی </a:t>
            </a:r>
            <a:r>
              <a:rPr lang="en-US" dirty="0">
                <a:latin typeface="IRANSansWeb" panose="020B0506030804020204" pitchFamily="34" charset="-78"/>
                <a:cs typeface="IRANSansWeb" panose="020B0506030804020204" pitchFamily="34" charset="-78"/>
              </a:rPr>
              <a:t>IP multicast</a:t>
            </a:r>
            <a:r>
              <a:rPr lang="fa-IR" dirty="0">
                <a:latin typeface="IRANSansWeb" panose="020B0506030804020204" pitchFamily="34" charset="-78"/>
                <a:cs typeface="IRANSansWeb" panose="020B0506030804020204" pitchFamily="34" charset="-78"/>
              </a:rPr>
              <a:t> ارسال می‌کند که از میزبان دارای آن نام می‌خواهد خود را معرفی کند.</a:t>
            </a:r>
          </a:p>
          <a:p>
            <a:pPr algn="r" rtl="1">
              <a:lnSpc>
                <a:spcPct val="170000"/>
              </a:lnSpc>
            </a:pPr>
            <a:endParaRPr lang="fa-IR" dirty="0">
              <a:latin typeface="IRANSansWeb" panose="020B0506030804020204" pitchFamily="34" charset="-78"/>
              <a:cs typeface="IRANSansWeb" panose="020B0506030804020204" pitchFamily="34" charset="-78"/>
            </a:endParaRPr>
          </a:p>
          <a:p>
            <a:pPr algn="r" rtl="1">
              <a:lnSpc>
                <a:spcPct val="170000"/>
              </a:lnSpc>
            </a:pPr>
            <a:r>
              <a:rPr lang="fa-IR" dirty="0">
                <a:latin typeface="IRANSansWeb" panose="020B0506030804020204" pitchFamily="34" charset="-78"/>
                <a:cs typeface="IRANSansWeb" panose="020B0506030804020204" pitchFamily="34" charset="-78"/>
              </a:rPr>
              <a:t>یک پیام </a:t>
            </a:r>
            <a:r>
              <a:rPr lang="en-US" dirty="0" err="1">
                <a:latin typeface="IRANSansWeb" panose="020B0506030804020204" pitchFamily="34" charset="-78"/>
                <a:cs typeface="IRANSansWeb" panose="020B0506030804020204" pitchFamily="34" charset="-78"/>
              </a:rPr>
              <a:t>mDNS</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 یک بسته </a:t>
            </a:r>
            <a:r>
              <a:rPr lang="en-US" dirty="0">
                <a:latin typeface="IRANSansWeb" panose="020B0506030804020204" pitchFamily="34" charset="-78"/>
                <a:cs typeface="IRANSansWeb" panose="020B0506030804020204" pitchFamily="34" charset="-78"/>
              </a:rPr>
              <a:t>UDP </a:t>
            </a:r>
            <a:r>
              <a:rPr lang="fa-IR" dirty="0">
                <a:latin typeface="IRANSansWeb" panose="020B0506030804020204" pitchFamily="34" charset="-78"/>
                <a:cs typeface="IRANSansWeb" panose="020B0506030804020204" pitchFamily="34" charset="-78"/>
              </a:rPr>
              <a:t> مولتی کست  است که با استفاده از آدرس‌دهی زیر ارسال می‌شود:</a:t>
            </a:r>
          </a:p>
          <a:p>
            <a:pPr algn="r" rtl="1">
              <a:lnSpc>
                <a:spcPct val="170000"/>
              </a:lnSpc>
            </a:pPr>
            <a:endParaRPr lang="fa-IR" dirty="0">
              <a:latin typeface="IRANSansWeb" panose="020B0506030804020204" pitchFamily="34" charset="-78"/>
              <a:cs typeface="IRANSansWeb" panose="020B0506030804020204" pitchFamily="34" charset="-78"/>
            </a:endParaRPr>
          </a:p>
          <a:p>
            <a:pPr algn="r" rtl="1">
              <a:lnSpc>
                <a:spcPct val="170000"/>
              </a:lnSpc>
            </a:pPr>
            <a:r>
              <a:rPr lang="fa-IR" dirty="0">
                <a:latin typeface="IRANSansWeb" panose="020B0506030804020204" pitchFamily="34" charset="-78"/>
                <a:cs typeface="IRANSansWeb" panose="020B0506030804020204" pitchFamily="34" charset="-78"/>
              </a:rPr>
              <a:t>آدرس </a:t>
            </a:r>
            <a:r>
              <a:rPr lang="en-US" dirty="0">
                <a:latin typeface="IRANSansWeb" panose="020B0506030804020204" pitchFamily="34" charset="-78"/>
                <a:cs typeface="IRANSansWeb" panose="020B0506030804020204" pitchFamily="34" charset="-78"/>
              </a:rPr>
              <a:t>IPv4:  224.0.0.251  </a:t>
            </a:r>
            <a:r>
              <a:rPr lang="fa-IR" dirty="0">
                <a:latin typeface="IRANSansWeb" panose="020B0506030804020204" pitchFamily="34" charset="-78"/>
                <a:cs typeface="IRANSansWeb" panose="020B0506030804020204" pitchFamily="34" charset="-78"/>
              </a:rPr>
              <a:t> یا آدرس </a:t>
            </a:r>
            <a:r>
              <a:rPr lang="en-US" dirty="0">
                <a:latin typeface="IRANSansWeb" panose="020B0506030804020204" pitchFamily="34" charset="-78"/>
                <a:cs typeface="IRANSansWeb" panose="020B0506030804020204" pitchFamily="34" charset="-78"/>
              </a:rPr>
              <a:t>IPv6:   ff02::fb</a:t>
            </a:r>
          </a:p>
          <a:p>
            <a:pPr algn="r" rtl="1">
              <a:lnSpc>
                <a:spcPct val="170000"/>
              </a:lnSpc>
            </a:pPr>
            <a:r>
              <a:rPr lang="fa-IR" dirty="0">
                <a:latin typeface="IRANSansWeb" panose="020B0506030804020204" pitchFamily="34" charset="-78"/>
                <a:cs typeface="IRANSansWeb" panose="020B0506030804020204" pitchFamily="34" charset="-78"/>
              </a:rPr>
              <a:t>پورت </a:t>
            </a:r>
            <a:r>
              <a:rPr lang="en-US" dirty="0">
                <a:latin typeface="IRANSansWeb" panose="020B0506030804020204" pitchFamily="34" charset="-78"/>
                <a:cs typeface="IRANSansWeb" panose="020B0506030804020204" pitchFamily="34" charset="-78"/>
              </a:rPr>
              <a:t>UDP 5353</a:t>
            </a:r>
          </a:p>
          <a:p>
            <a:pPr algn="r" rtl="1">
              <a:lnSpc>
                <a:spcPct val="170000"/>
              </a:lnSpc>
            </a:pPr>
            <a:r>
              <a:rPr lang="fa-IR" dirty="0">
                <a:latin typeface="IRANSansWeb" panose="020B0506030804020204" pitchFamily="34" charset="-78"/>
                <a:cs typeface="IRANSansWeb" panose="020B0506030804020204" pitchFamily="34" charset="-78"/>
              </a:rPr>
              <a:t>هنگام استفاده از </a:t>
            </a:r>
            <a:r>
              <a:rPr lang="en-US" dirty="0">
                <a:latin typeface="IRANSansWeb" panose="020B0506030804020204" pitchFamily="34" charset="-78"/>
                <a:cs typeface="IRANSansWeb" panose="020B0506030804020204" pitchFamily="34" charset="-78"/>
              </a:rPr>
              <a:t>Ethernet frames، </a:t>
            </a:r>
            <a:r>
              <a:rPr lang="fa-IR" dirty="0">
                <a:latin typeface="IRANSansWeb" panose="020B0506030804020204" pitchFamily="34" charset="-78"/>
                <a:cs typeface="IRANSansWeb" panose="020B0506030804020204" pitchFamily="34" charset="-78"/>
              </a:rPr>
              <a:t>آدرس </a:t>
            </a:r>
            <a:r>
              <a:rPr lang="en-US" dirty="0">
                <a:latin typeface="IRANSansWeb" panose="020B0506030804020204" pitchFamily="34" charset="-78"/>
                <a:cs typeface="IRANSansWeb" panose="020B0506030804020204" pitchFamily="34" charset="-78"/>
              </a:rPr>
              <a:t>MAC </a:t>
            </a:r>
            <a:r>
              <a:rPr lang="fa-IR" dirty="0">
                <a:latin typeface="IRANSansWeb" panose="020B0506030804020204" pitchFamily="34" charset="-78"/>
                <a:cs typeface="IRANSansWeb" panose="020B0506030804020204" pitchFamily="34" charset="-78"/>
              </a:rPr>
              <a:t> مولتی کست </a:t>
            </a:r>
            <a:r>
              <a:rPr lang="en-US" dirty="0">
                <a:latin typeface="IRANSansWeb" panose="020B0506030804020204" pitchFamily="34" charset="-78"/>
                <a:cs typeface="IRANSansWeb" panose="020B0506030804020204" pitchFamily="34" charset="-78"/>
              </a:rPr>
              <a:t>IP </a:t>
            </a:r>
            <a:r>
              <a:rPr lang="fa-IR" dirty="0">
                <a:latin typeface="IRANSansWeb" panose="020B0506030804020204" pitchFamily="34" charset="-78"/>
                <a:cs typeface="IRANSansWeb" panose="020B0506030804020204" pitchFamily="34" charset="-78"/>
              </a:rPr>
              <a:t> استاندارد </a:t>
            </a:r>
            <a:r>
              <a:rPr lang="en-US" dirty="0">
                <a:latin typeface="IRANSansWeb" panose="020B0506030804020204" pitchFamily="34" charset="-78"/>
                <a:cs typeface="IRANSansWeb" panose="020B0506030804020204" pitchFamily="34" charset="-78"/>
              </a:rPr>
              <a:t> 01:00:5E:00:00:FB </a:t>
            </a:r>
            <a:r>
              <a:rPr lang="fa-IR" dirty="0">
                <a:latin typeface="IRANSansWeb" panose="020B0506030804020204" pitchFamily="34" charset="-78"/>
                <a:cs typeface="IRANSansWeb" panose="020B0506030804020204" pitchFamily="34" charset="-78"/>
              </a:rPr>
              <a:t> برای </a:t>
            </a:r>
            <a:r>
              <a:rPr lang="en-US" dirty="0">
                <a:latin typeface="IRANSansWeb" panose="020B0506030804020204" pitchFamily="34" charset="-78"/>
                <a:cs typeface="IRANSansWeb" panose="020B0506030804020204" pitchFamily="34" charset="-78"/>
              </a:rPr>
              <a:t>IPv4</a:t>
            </a:r>
            <a:r>
              <a:rPr lang="fa-IR" dirty="0">
                <a:latin typeface="IRANSansWeb" panose="020B0506030804020204" pitchFamily="34" charset="-78"/>
                <a:cs typeface="IRANSansWeb" panose="020B0506030804020204" pitchFamily="34" charset="-78"/>
              </a:rPr>
              <a:t> یا 33:33:00:00:00:</a:t>
            </a:r>
            <a:r>
              <a:rPr lang="en-US" dirty="0">
                <a:latin typeface="IRANSansWeb" panose="020B0506030804020204" pitchFamily="34" charset="-78"/>
                <a:cs typeface="IRANSansWeb" panose="020B0506030804020204" pitchFamily="34" charset="-78"/>
              </a:rPr>
              <a:t>FB</a:t>
            </a:r>
            <a:r>
              <a:rPr lang="fa-IR" dirty="0">
                <a:latin typeface="IRANSansWeb" panose="020B0506030804020204" pitchFamily="34" charset="-78"/>
                <a:cs typeface="IRANSansWeb" panose="020B0506030804020204" pitchFamily="34" charset="-78"/>
              </a:rPr>
              <a:t> برای </a:t>
            </a:r>
            <a:r>
              <a:rPr lang="en-US" dirty="0">
                <a:latin typeface="IRANSansWeb" panose="020B0506030804020204" pitchFamily="34" charset="-78"/>
                <a:cs typeface="IRANSansWeb" panose="020B0506030804020204" pitchFamily="34" charset="-78"/>
              </a:rPr>
              <a:t>IPv6</a:t>
            </a:r>
            <a:r>
              <a:rPr lang="fa-IR" dirty="0">
                <a:latin typeface="IRANSansWeb" panose="020B0506030804020204" pitchFamily="34" charset="-78"/>
                <a:cs typeface="IRANSansWeb" panose="020B0506030804020204" pitchFamily="34" charset="-78"/>
              </a:rPr>
              <a:t> </a:t>
            </a:r>
            <a:r>
              <a:rPr lang="en-US" dirty="0">
                <a:latin typeface="IRANSansWeb" panose="020B0506030804020204" pitchFamily="34" charset="-78"/>
                <a:cs typeface="IRANSansWeb" panose="020B0506030804020204" pitchFamily="34" charset="-78"/>
              </a:rPr>
              <a:t> </a:t>
            </a:r>
            <a:r>
              <a:rPr lang="fa-IR" dirty="0">
                <a:latin typeface="IRANSansWeb" panose="020B0506030804020204" pitchFamily="34" charset="-78"/>
                <a:cs typeface="IRANSansWeb" panose="020B0506030804020204" pitchFamily="34" charset="-78"/>
              </a:rPr>
              <a:t> است.</a:t>
            </a:r>
          </a:p>
        </p:txBody>
      </p:sp>
    </p:spTree>
    <p:extLst>
      <p:ext uri="{BB962C8B-B14F-4D97-AF65-F5344CB8AC3E}">
        <p14:creationId xmlns:p14="http://schemas.microsoft.com/office/powerpoint/2010/main" val="26870015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ABBD3-420B-73B4-F27F-3852C4B59777}"/>
              </a:ext>
            </a:extLst>
          </p:cNvPr>
          <p:cNvSpPr>
            <a:spLocks noGrp="1"/>
          </p:cNvSpPr>
          <p:nvPr>
            <p:ph type="title"/>
          </p:nvPr>
        </p:nvSpPr>
        <p:spPr/>
        <p:txBody>
          <a:bodyPr/>
          <a:lstStyle/>
          <a:p>
            <a:r>
              <a:rPr lang="en-US" dirty="0"/>
              <a:t>LLMNR</a:t>
            </a:r>
          </a:p>
        </p:txBody>
      </p:sp>
      <p:sp>
        <p:nvSpPr>
          <p:cNvPr id="3" name="Content Placeholder 2">
            <a:extLst>
              <a:ext uri="{FF2B5EF4-FFF2-40B4-BE49-F238E27FC236}">
                <a16:creationId xmlns:a16="http://schemas.microsoft.com/office/drawing/2014/main" id="{691FF11A-FDA5-CC62-BC3A-A1775D519914}"/>
              </a:ext>
            </a:extLst>
          </p:cNvPr>
          <p:cNvSpPr>
            <a:spLocks noGrp="1"/>
          </p:cNvSpPr>
          <p:nvPr>
            <p:ph idx="1"/>
          </p:nvPr>
        </p:nvSpPr>
        <p:spPr/>
        <p:txBody>
          <a:bodyPr>
            <a:normAutofit fontScale="70000" lnSpcReduction="20000"/>
          </a:bodyPr>
          <a:lstStyle/>
          <a:p>
            <a:endParaRPr lang="en-US" dirty="0"/>
          </a:p>
          <a:p>
            <a:r>
              <a:rPr lang="en-US" dirty="0"/>
              <a:t>LLMNR stands for Link Local Multicast Name Resolution, which is a protocol for name resolution.</a:t>
            </a:r>
          </a:p>
          <a:p>
            <a:endParaRPr lang="en-US" dirty="0"/>
          </a:p>
          <a:p>
            <a:r>
              <a:rPr lang="en-US" dirty="0"/>
              <a:t>LLMNR is a multicast protocol used on local area networks. It is the method used by all major web browsers to resolve names that do not include a dot ('.'). For example, if you attempt to open the web page: http://my</a:t>
            </a:r>
            <a:r>
              <a:rPr lang="fa-IR" dirty="0"/>
              <a:t>_</a:t>
            </a:r>
            <a:r>
              <a:rPr lang="en-US" dirty="0"/>
              <a:t>device/index.htmlexternal_link, then the web browser would send an LLMNR request to try to resolve the name '</a:t>
            </a:r>
            <a:r>
              <a:rPr lang="en-US" dirty="0" err="1"/>
              <a:t>my_device</a:t>
            </a:r>
            <a:r>
              <a:rPr lang="en-US" dirty="0"/>
              <a:t>'.</a:t>
            </a:r>
          </a:p>
          <a:p>
            <a:endParaRPr lang="en-US" dirty="0"/>
          </a:p>
          <a:p>
            <a:r>
              <a:rPr lang="en-US" dirty="0"/>
              <a:t>All LLMNR packets are sent to IP address 224.0.0.252 on MAC address 01:00:5E:00:00:FC, so the network interface (MAC) must be programmed to accept packets on that address for LLMNR to function. </a:t>
            </a:r>
          </a:p>
        </p:txBody>
      </p:sp>
    </p:spTree>
    <p:extLst>
      <p:ext uri="{BB962C8B-B14F-4D97-AF65-F5344CB8AC3E}">
        <p14:creationId xmlns:p14="http://schemas.microsoft.com/office/powerpoint/2010/main" val="321809021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0B55C-3801-8595-240B-C5D2A857D816}"/>
              </a:ext>
            </a:extLst>
          </p:cNvPr>
          <p:cNvSpPr>
            <a:spLocks noGrp="1"/>
          </p:cNvSpPr>
          <p:nvPr>
            <p:ph type="title"/>
          </p:nvPr>
        </p:nvSpPr>
        <p:spPr/>
        <p:txBody>
          <a:bodyPr/>
          <a:lstStyle/>
          <a:p>
            <a:r>
              <a:rPr lang="en-US" dirty="0"/>
              <a:t>NBNS</a:t>
            </a:r>
          </a:p>
        </p:txBody>
      </p:sp>
      <p:sp>
        <p:nvSpPr>
          <p:cNvPr id="3" name="Content Placeholder 2">
            <a:extLst>
              <a:ext uri="{FF2B5EF4-FFF2-40B4-BE49-F238E27FC236}">
                <a16:creationId xmlns:a16="http://schemas.microsoft.com/office/drawing/2014/main" id="{0DF2DC87-9817-A82C-21EA-FE79AA0E9374}"/>
              </a:ext>
            </a:extLst>
          </p:cNvPr>
          <p:cNvSpPr>
            <a:spLocks noGrp="1"/>
          </p:cNvSpPr>
          <p:nvPr>
            <p:ph idx="1"/>
          </p:nvPr>
        </p:nvSpPr>
        <p:spPr/>
        <p:txBody>
          <a:bodyPr>
            <a:normAutofit fontScale="92500"/>
          </a:bodyPr>
          <a:lstStyle/>
          <a:p>
            <a:pPr marL="0" indent="0">
              <a:buNone/>
            </a:pPr>
            <a:endParaRPr lang="en-US" dirty="0"/>
          </a:p>
          <a:p>
            <a:r>
              <a:rPr lang="en-US" dirty="0"/>
              <a:t>NBNS (sometimes called WINS) stands for </a:t>
            </a:r>
            <a:r>
              <a:rPr lang="en-US" dirty="0" err="1"/>
              <a:t>NetBIO</a:t>
            </a:r>
            <a:r>
              <a:rPr lang="en-US" dirty="0"/>
              <a:t> Name Service, which is a protocol for name resolution.</a:t>
            </a:r>
          </a:p>
          <a:p>
            <a:endParaRPr lang="en-US" dirty="0"/>
          </a:p>
          <a:p>
            <a:r>
              <a:rPr lang="en-US" dirty="0"/>
              <a:t>NBNS performs the same function as LLMNR, but using UDP broadcast packets instead of multi cast packets. Browsers normally only attempt to use NBNS after attempts to use LLMNR have failed.</a:t>
            </a:r>
          </a:p>
          <a:p>
            <a:endParaRPr lang="en-US" dirty="0"/>
          </a:p>
        </p:txBody>
      </p:sp>
    </p:spTree>
    <p:extLst>
      <p:ext uri="{BB962C8B-B14F-4D97-AF65-F5344CB8AC3E}">
        <p14:creationId xmlns:p14="http://schemas.microsoft.com/office/powerpoint/2010/main" val="262272106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FD907-FE6A-AF29-5E96-31CDE5E5BAE1}"/>
              </a:ext>
            </a:extLst>
          </p:cNvPr>
          <p:cNvSpPr>
            <a:spLocks noGrp="1"/>
          </p:cNvSpPr>
          <p:nvPr>
            <p:ph type="title"/>
          </p:nvPr>
        </p:nvSpPr>
        <p:spPr/>
        <p:txBody>
          <a:bodyPr/>
          <a:lstStyle/>
          <a:p>
            <a:r>
              <a:rPr lang="en-US" dirty="0"/>
              <a:t>ND</a:t>
            </a:r>
          </a:p>
        </p:txBody>
      </p:sp>
      <p:sp>
        <p:nvSpPr>
          <p:cNvPr id="3" name="Content Placeholder 2">
            <a:extLst>
              <a:ext uri="{FF2B5EF4-FFF2-40B4-BE49-F238E27FC236}">
                <a16:creationId xmlns:a16="http://schemas.microsoft.com/office/drawing/2014/main" id="{38DF384B-6BEB-7836-1680-58ED22A7E675}"/>
              </a:ext>
            </a:extLst>
          </p:cNvPr>
          <p:cNvSpPr>
            <a:spLocks noGrp="1"/>
          </p:cNvSpPr>
          <p:nvPr>
            <p:ph idx="1"/>
          </p:nvPr>
        </p:nvSpPr>
        <p:spPr/>
        <p:txBody>
          <a:bodyPr>
            <a:normAutofit fontScale="70000" lnSpcReduction="20000"/>
          </a:bodyPr>
          <a:lstStyle/>
          <a:p>
            <a:endParaRPr lang="en-US" dirty="0"/>
          </a:p>
          <a:p>
            <a:r>
              <a:rPr lang="en-US" dirty="0"/>
              <a:t>ND stands for Neighbor Discovery.</a:t>
            </a:r>
          </a:p>
          <a:p>
            <a:endParaRPr lang="en-US" dirty="0"/>
          </a:p>
          <a:p>
            <a:r>
              <a:rPr lang="en-US" dirty="0"/>
              <a:t>The protocol defines five ICMPv6 packet types to perform functions to gather MAC address information for IPv6, similar to the Address Resolution Protocol (ARP). Besides that, it is also responsible for gathering various information required for network communication, including the configuration of local connections and the domain name servers and gateways.</a:t>
            </a:r>
          </a:p>
          <a:p>
            <a:endParaRPr lang="en-US" dirty="0"/>
          </a:p>
          <a:p>
            <a:r>
              <a:rPr lang="en-US" dirty="0"/>
              <a:t>The Neighbor Discovery (ND) is used to obtain MAC address information. </a:t>
            </a:r>
            <a:r>
              <a:rPr lang="en-US" dirty="0" err="1"/>
              <a:t>FreeRTOS</a:t>
            </a:r>
            <a:r>
              <a:rPr lang="en-US" dirty="0"/>
              <a:t>-Plus-TCP (like most, if not all, IP stacks) stores IP address to MAC address mappings in an ND table (sometimes called the ND cache). ND is handled automatically by the TCP/IP stack.</a:t>
            </a:r>
          </a:p>
        </p:txBody>
      </p:sp>
    </p:spTree>
    <p:extLst>
      <p:ext uri="{BB962C8B-B14F-4D97-AF65-F5344CB8AC3E}">
        <p14:creationId xmlns:p14="http://schemas.microsoft.com/office/powerpoint/2010/main" val="279039025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E9EBB-F8CD-4EFB-81E0-02D27021897E}"/>
              </a:ext>
            </a:extLst>
          </p:cNvPr>
          <p:cNvSpPr>
            <a:spLocks noGrp="1"/>
          </p:cNvSpPr>
          <p:nvPr>
            <p:ph type="title"/>
          </p:nvPr>
        </p:nvSpPr>
        <p:spPr/>
        <p:txBody>
          <a:bodyPr>
            <a:normAutofit/>
          </a:bodyPr>
          <a:lstStyle/>
          <a:p>
            <a:r>
              <a:rPr lang="en-US" dirty="0"/>
              <a:t>Little Endian, Big Endian</a:t>
            </a:r>
          </a:p>
        </p:txBody>
      </p:sp>
      <p:sp>
        <p:nvSpPr>
          <p:cNvPr id="3" name="Content Placeholder 2">
            <a:extLst>
              <a:ext uri="{FF2B5EF4-FFF2-40B4-BE49-F238E27FC236}">
                <a16:creationId xmlns:a16="http://schemas.microsoft.com/office/drawing/2014/main" id="{596602E2-DCAC-992B-C88C-D84E95AF6BEE}"/>
              </a:ext>
            </a:extLst>
          </p:cNvPr>
          <p:cNvSpPr>
            <a:spLocks noGrp="1"/>
          </p:cNvSpPr>
          <p:nvPr>
            <p:ph idx="1"/>
          </p:nvPr>
        </p:nvSpPr>
        <p:spPr/>
        <p:txBody>
          <a:bodyPr>
            <a:normAutofit fontScale="47500" lnSpcReduction="20000"/>
          </a:bodyPr>
          <a:lstStyle/>
          <a:p>
            <a:r>
              <a:rPr lang="en-US" dirty="0"/>
              <a:t>Different MCUs store multi byte values, such as a two byte uint16_t or a four byte uint32_t, in different ways. Microcontrollers that store the most significant byte first are called big endian. Microcontrollers that store the least significant byte first are called little endian. </a:t>
            </a:r>
          </a:p>
          <a:p>
            <a:r>
              <a:rPr lang="en-US" dirty="0"/>
              <a:t>It is rare for the writer of a non connected application to need to concern themselves with how their target MCU stores data internally. If data is written to memory in little endian order, it will be read back from memory in little endian order - and so the value read back will match the value originally written.</a:t>
            </a:r>
          </a:p>
          <a:p>
            <a:endParaRPr lang="en-US" dirty="0"/>
          </a:p>
          <a:p>
            <a:r>
              <a:rPr lang="en-US" dirty="0"/>
              <a:t>It is more complicated when MCUs are connected, because there are no guarantees that all the MCUs on a connected network will have the same byte order. All the MCUs on the network have to agree the byte order used to send and receive data in advance. The byte order used for data in transit is called the network byte order.</a:t>
            </a:r>
          </a:p>
          <a:p>
            <a:endParaRPr lang="en-US" dirty="0"/>
          </a:p>
          <a:p>
            <a:r>
              <a:rPr lang="en-US" dirty="0"/>
              <a:t>In TCP/IP networks data is sent most significant byte first, making TCP/IP networks effectively big endian. Therefore, a little endian MCU sending to a TCP/IP network must swap the order in which bytes appear within multi byte values before the values are sent onto the network, and must swap the order in which bytes appear in multi byte values received from the network before the values are used. A big endian MCUs does not need to perform any byte swapping because the endian of the MCU (the host byte order) matches the agreed endian of the network (the network byte order).</a:t>
            </a:r>
          </a:p>
          <a:p>
            <a:endParaRPr lang="en-US" dirty="0"/>
          </a:p>
          <a:p>
            <a:r>
              <a:rPr lang="en-US" dirty="0"/>
              <a:t>NOTE: The byte swapping is performed by the TCP/IP stack - the user does not need to swap bytes manually.</a:t>
            </a:r>
          </a:p>
        </p:txBody>
      </p:sp>
    </p:spTree>
    <p:extLst>
      <p:ext uri="{BB962C8B-B14F-4D97-AF65-F5344CB8AC3E}">
        <p14:creationId xmlns:p14="http://schemas.microsoft.com/office/powerpoint/2010/main" val="23799339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204B3-159D-D10A-DE4E-5D8B263FE1BD}"/>
              </a:ext>
            </a:extLst>
          </p:cNvPr>
          <p:cNvSpPr>
            <a:spLocks noGrp="1"/>
          </p:cNvSpPr>
          <p:nvPr>
            <p:ph type="title"/>
          </p:nvPr>
        </p:nvSpPr>
        <p:spPr/>
        <p:txBody>
          <a:bodyPr/>
          <a:lstStyle/>
          <a:p>
            <a:r>
              <a:rPr lang="en-US" dirty="0"/>
              <a:t>ICMP</a:t>
            </a:r>
          </a:p>
        </p:txBody>
      </p:sp>
      <p:sp>
        <p:nvSpPr>
          <p:cNvPr id="3" name="Content Placeholder 2">
            <a:extLst>
              <a:ext uri="{FF2B5EF4-FFF2-40B4-BE49-F238E27FC236}">
                <a16:creationId xmlns:a16="http://schemas.microsoft.com/office/drawing/2014/main" id="{11FE07C8-DFB6-DA99-DEB8-DE804CBE6D45}"/>
              </a:ext>
            </a:extLst>
          </p:cNvPr>
          <p:cNvSpPr>
            <a:spLocks noGrp="1"/>
          </p:cNvSpPr>
          <p:nvPr>
            <p:ph idx="1"/>
          </p:nvPr>
        </p:nvSpPr>
        <p:spPr/>
        <p:txBody>
          <a:bodyPr/>
          <a:lstStyle/>
          <a:p>
            <a:r>
              <a:rPr lang="en-US" dirty="0"/>
              <a:t>ICMP</a:t>
            </a:r>
            <a:r>
              <a:rPr lang="fa-IR" dirty="0"/>
              <a:t> </a:t>
            </a:r>
            <a:r>
              <a:rPr lang="en-US" dirty="0"/>
              <a:t>stands for Internet Control Message Protocol. uses ICMP messages as a framework to implement echo ping request/reply.</a:t>
            </a:r>
          </a:p>
        </p:txBody>
      </p:sp>
    </p:spTree>
    <p:extLst>
      <p:ext uri="{BB962C8B-B14F-4D97-AF65-F5344CB8AC3E}">
        <p14:creationId xmlns:p14="http://schemas.microsoft.com/office/powerpoint/2010/main" val="17368150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5F7FE-FA77-2F8F-C3FE-017A21631E1E}"/>
              </a:ext>
            </a:extLst>
          </p:cNvPr>
          <p:cNvSpPr>
            <a:spLocks noGrp="1"/>
          </p:cNvSpPr>
          <p:nvPr>
            <p:ph type="title"/>
          </p:nvPr>
        </p:nvSpPr>
        <p:spPr/>
        <p:txBody>
          <a:bodyPr/>
          <a:lstStyle/>
          <a:p>
            <a:r>
              <a:rPr lang="en-US" dirty="0"/>
              <a:t>Ethernet Address (MAC)</a:t>
            </a:r>
          </a:p>
        </p:txBody>
      </p:sp>
      <p:sp>
        <p:nvSpPr>
          <p:cNvPr id="3" name="Content Placeholder 2">
            <a:extLst>
              <a:ext uri="{FF2B5EF4-FFF2-40B4-BE49-F238E27FC236}">
                <a16:creationId xmlns:a16="http://schemas.microsoft.com/office/drawing/2014/main" id="{C2DF91F5-5DA4-C228-A2D6-48D38F59A994}"/>
              </a:ext>
            </a:extLst>
          </p:cNvPr>
          <p:cNvSpPr>
            <a:spLocks noGrp="1"/>
          </p:cNvSpPr>
          <p:nvPr>
            <p:ph idx="1"/>
          </p:nvPr>
        </p:nvSpPr>
        <p:spPr/>
        <p:txBody>
          <a:bodyPr>
            <a:normAutofit fontScale="85000" lnSpcReduction="10000"/>
          </a:bodyPr>
          <a:lstStyle/>
          <a:p>
            <a:r>
              <a:rPr lang="en-US" dirty="0"/>
              <a:t>All Ethernet interfaces have a unique 48-bit address that is supplied by the manufacturer. It is called the</a:t>
            </a:r>
          </a:p>
          <a:p>
            <a:r>
              <a:rPr lang="en-US" dirty="0"/>
              <a:t>Ethernet address (also known as the MAC address, for Media Access Control). Ethernet-enabled Rabbit</a:t>
            </a:r>
          </a:p>
          <a:p>
            <a:r>
              <a:rPr lang="en-US" dirty="0"/>
              <a:t>boards store this value in Flash Memory (EEPROM) that is programmed at the factory. If you need unique</a:t>
            </a:r>
          </a:p>
          <a:p>
            <a:r>
              <a:rPr lang="en-US" dirty="0"/>
              <a:t>Ethernet addresses for some product you are making, you can obtain them from the IEEE Registration</a:t>
            </a:r>
          </a:p>
          <a:p>
            <a:r>
              <a:rPr lang="en-US" dirty="0"/>
              <a:t>Authority.</a:t>
            </a:r>
          </a:p>
        </p:txBody>
      </p:sp>
    </p:spTree>
    <p:extLst>
      <p:ext uri="{BB962C8B-B14F-4D97-AF65-F5344CB8AC3E}">
        <p14:creationId xmlns:p14="http://schemas.microsoft.com/office/powerpoint/2010/main" val="77863965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5E89B35-020B-4C9C-35A4-9E92C9E84835}"/>
              </a:ext>
            </a:extLst>
          </p:cNvPr>
          <p:cNvPicPr>
            <a:picLocks noGrp="1" noChangeAspect="1"/>
          </p:cNvPicPr>
          <p:nvPr>
            <p:ph idx="1"/>
          </p:nvPr>
        </p:nvPicPr>
        <p:blipFill>
          <a:blip r:embed="rId2"/>
          <a:stretch>
            <a:fillRect/>
          </a:stretch>
        </p:blipFill>
        <p:spPr>
          <a:xfrm>
            <a:off x="2085626" y="125678"/>
            <a:ext cx="4972747" cy="6172423"/>
          </a:xfrm>
          <a:prstGeom prst="rect">
            <a:avLst/>
          </a:prstGeom>
        </p:spPr>
      </p:pic>
    </p:spTree>
    <p:extLst>
      <p:ext uri="{BB962C8B-B14F-4D97-AF65-F5344CB8AC3E}">
        <p14:creationId xmlns:p14="http://schemas.microsoft.com/office/powerpoint/2010/main" val="197793746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4249891-FA82-3681-614C-97F65D4B2047}"/>
              </a:ext>
            </a:extLst>
          </p:cNvPr>
          <p:cNvPicPr>
            <a:picLocks noGrp="1" noChangeAspect="1"/>
          </p:cNvPicPr>
          <p:nvPr>
            <p:ph idx="1"/>
          </p:nvPr>
        </p:nvPicPr>
        <p:blipFill>
          <a:blip r:embed="rId2"/>
          <a:stretch>
            <a:fillRect/>
          </a:stretch>
        </p:blipFill>
        <p:spPr>
          <a:xfrm>
            <a:off x="1594339" y="1108169"/>
            <a:ext cx="5754810" cy="5181933"/>
          </a:xfrm>
          <a:prstGeom prst="rect">
            <a:avLst/>
          </a:prstGeom>
        </p:spPr>
      </p:pic>
    </p:spTree>
    <p:extLst>
      <p:ext uri="{BB962C8B-B14F-4D97-AF65-F5344CB8AC3E}">
        <p14:creationId xmlns:p14="http://schemas.microsoft.com/office/powerpoint/2010/main" val="248086271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7265F-5014-F0EC-7702-D1A1BD980E1A}"/>
              </a:ext>
            </a:extLst>
          </p:cNvPr>
          <p:cNvSpPr>
            <a:spLocks noGrp="1"/>
          </p:cNvSpPr>
          <p:nvPr>
            <p:ph type="title"/>
          </p:nvPr>
        </p:nvSpPr>
        <p:spPr/>
        <p:txBody>
          <a:bodyPr/>
          <a:lstStyle/>
          <a:p>
            <a:endParaRPr lang="en-US"/>
          </a:p>
        </p:txBody>
      </p:sp>
      <p:pic>
        <p:nvPicPr>
          <p:cNvPr id="31746" name="Picture 2">
            <a:extLst>
              <a:ext uri="{FF2B5EF4-FFF2-40B4-BE49-F238E27FC236}">
                <a16:creationId xmlns:a16="http://schemas.microsoft.com/office/drawing/2014/main" id="{4FA9009B-5D8A-C087-64D7-E76546D5F64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19983" y="1600200"/>
            <a:ext cx="7504034"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006719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CF367-CA59-63AA-E474-4FD3A6C723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3F47C8-692A-B83A-7BF8-5CA6A87529C2}"/>
              </a:ext>
            </a:extLst>
          </p:cNvPr>
          <p:cNvSpPr>
            <a:spLocks noGrp="1"/>
          </p:cNvSpPr>
          <p:nvPr>
            <p:ph type="title"/>
          </p:nvPr>
        </p:nvSpPr>
        <p:spPr/>
        <p:txBody>
          <a:bodyPr/>
          <a:lstStyle/>
          <a:p>
            <a:r>
              <a:rPr lang="fa-IR" dirty="0">
                <a:latin typeface="IRANSansWeb" panose="020B0506030804020204" pitchFamily="34" charset="-78"/>
                <a:cs typeface="IRANSansWeb" panose="020B0506030804020204" pitchFamily="34" charset="-78"/>
              </a:rPr>
              <a:t>شبکه در دنیای امبدد</a:t>
            </a:r>
            <a:endParaRPr lang="en-US" dirty="0">
              <a:latin typeface="IRANSansWeb" panose="020B0506030804020204" pitchFamily="34" charset="-78"/>
              <a:cs typeface="IRANSansWeb" panose="020B0506030804020204" pitchFamily="34" charset="-78"/>
            </a:endParaRPr>
          </a:p>
        </p:txBody>
      </p:sp>
      <p:sp>
        <p:nvSpPr>
          <p:cNvPr id="3" name="Content Placeholder 2">
            <a:extLst>
              <a:ext uri="{FF2B5EF4-FFF2-40B4-BE49-F238E27FC236}">
                <a16:creationId xmlns:a16="http://schemas.microsoft.com/office/drawing/2014/main" id="{8F82CE67-2BFF-A69C-9E7A-E1ECAA159222}"/>
              </a:ext>
            </a:extLst>
          </p:cNvPr>
          <p:cNvSpPr>
            <a:spLocks noGrp="1"/>
          </p:cNvSpPr>
          <p:nvPr>
            <p:ph idx="1"/>
          </p:nvPr>
        </p:nvSpPr>
        <p:spPr/>
        <p:txBody>
          <a:bodyPr/>
          <a:lstStyle/>
          <a:p>
            <a:pPr algn="r" rtl="1"/>
            <a:r>
              <a:rPr lang="fa-IR" dirty="0">
                <a:latin typeface="IRANSansWeb" panose="020B0506030804020204" pitchFamily="34" charset="-78"/>
                <a:cs typeface="IRANSansWeb" panose="020B0506030804020204" pitchFamily="34" charset="-78"/>
              </a:rPr>
              <a:t>سخت افزار</a:t>
            </a:r>
          </a:p>
          <a:p>
            <a:pPr algn="r" rtl="1"/>
            <a:r>
              <a:rPr lang="fa-IR" dirty="0">
                <a:latin typeface="IRANSansWeb" panose="020B0506030804020204" pitchFamily="34" charset="-78"/>
                <a:cs typeface="IRANSansWeb" panose="020B0506030804020204" pitchFamily="34" charset="-78"/>
              </a:rPr>
              <a:t>نرم افزار</a:t>
            </a:r>
          </a:p>
          <a:p>
            <a:pPr algn="r" rtl="1"/>
            <a:r>
              <a:rPr lang="fa-IR" dirty="0">
                <a:latin typeface="IRANSansWeb" panose="020B0506030804020204" pitchFamily="34" charset="-78"/>
                <a:cs typeface="IRANSansWeb" panose="020B0506030804020204" pitchFamily="34" charset="-78"/>
              </a:rPr>
              <a:t>اپلیکیشن</a:t>
            </a:r>
            <a:endParaRPr lang="en-US" dirty="0">
              <a:latin typeface="IRANSansWeb" panose="020B0506030804020204" pitchFamily="34" charset="-78"/>
              <a:cs typeface="IRANSansWeb" panose="020B0506030804020204" pitchFamily="34" charset="-78"/>
            </a:endParaRPr>
          </a:p>
          <a:p>
            <a:pPr algn="r" rtl="1"/>
            <a:r>
              <a:rPr lang="fa-IR" dirty="0">
                <a:latin typeface="IRANSansWeb" panose="020B0506030804020204" pitchFamily="34" charset="-78"/>
                <a:cs typeface="IRANSansWeb" panose="020B0506030804020204" pitchFamily="34" charset="-78"/>
              </a:rPr>
              <a:t>ابزار دیباگ و مانیتورینگ</a:t>
            </a:r>
          </a:p>
          <a:p>
            <a:pPr algn="r" rtl="1"/>
            <a:r>
              <a:rPr lang="fa-IR" dirty="0">
                <a:latin typeface="IRANSansWeb" panose="020B0506030804020204" pitchFamily="34" charset="-78"/>
                <a:cs typeface="IRANSansWeb" panose="020B0506030804020204" pitchFamily="34" charset="-78"/>
              </a:rPr>
              <a:t>ابزار تست</a:t>
            </a:r>
            <a:endParaRPr lang="en-US" dirty="0">
              <a:latin typeface="IRANSansWeb" panose="020B0506030804020204" pitchFamily="34" charset="-78"/>
              <a:cs typeface="IRANSansWeb" panose="020B0506030804020204" pitchFamily="34" charset="-78"/>
            </a:endParaRPr>
          </a:p>
          <a:p>
            <a:pPr algn="r" rtl="1"/>
            <a:endParaRPr lang="en-US"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95539029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BCF16-C125-7102-2D0A-A2B50903E3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F07A2A-E774-D04B-CCB7-72755D9DB539}"/>
              </a:ext>
            </a:extLst>
          </p:cNvPr>
          <p:cNvSpPr>
            <a:spLocks noGrp="1"/>
          </p:cNvSpPr>
          <p:nvPr>
            <p:ph type="title"/>
          </p:nvPr>
        </p:nvSpPr>
        <p:spPr/>
        <p:txBody>
          <a:bodyPr/>
          <a:lstStyle/>
          <a:p>
            <a:pPr rtl="1"/>
            <a:r>
              <a:rPr lang="fa-IR" dirty="0">
                <a:latin typeface="IRANSansWeb" panose="020B0506030804020204" pitchFamily="34" charset="-78"/>
                <a:cs typeface="IRANSansWeb" panose="020B0506030804020204" pitchFamily="34" charset="-78"/>
              </a:rPr>
              <a:t>نرم افزار شبکه</a:t>
            </a:r>
            <a:r>
              <a:rPr lang="en-US" dirty="0">
                <a:cs typeface="B Nazanin" panose="00000400000000000000" pitchFamily="2" charset="-78"/>
              </a:rPr>
              <a:t> (TCP/IP Stack) </a:t>
            </a:r>
            <a:endParaRPr lang="en-US" dirty="0">
              <a:latin typeface="IRANSansWeb" panose="020B0506030804020204" pitchFamily="34" charset="-78"/>
              <a:cs typeface="IRANSansWeb" panose="020B0506030804020204" pitchFamily="34" charset="-78"/>
            </a:endParaRPr>
          </a:p>
        </p:txBody>
      </p:sp>
      <p:sp>
        <p:nvSpPr>
          <p:cNvPr id="3" name="Content Placeholder 2">
            <a:extLst>
              <a:ext uri="{FF2B5EF4-FFF2-40B4-BE49-F238E27FC236}">
                <a16:creationId xmlns:a16="http://schemas.microsoft.com/office/drawing/2014/main" id="{47AE485F-B0ED-1C18-482B-3F9C46128704}"/>
              </a:ext>
            </a:extLst>
          </p:cNvPr>
          <p:cNvSpPr>
            <a:spLocks noGrp="1"/>
          </p:cNvSpPr>
          <p:nvPr>
            <p:ph idx="1"/>
          </p:nvPr>
        </p:nvSpPr>
        <p:spPr/>
        <p:txBody>
          <a:bodyPr>
            <a:normAutofit fontScale="92500" lnSpcReduction="10000"/>
          </a:bodyPr>
          <a:lstStyle/>
          <a:p>
            <a:pPr>
              <a:lnSpc>
                <a:spcPct val="170000"/>
              </a:lnSpc>
            </a:pPr>
            <a:r>
              <a:rPr lang="en-US" sz="1400" b="1" dirty="0" err="1">
                <a:latin typeface="IRANSansWeb" panose="020B0506030804020204" pitchFamily="34" charset="-78"/>
                <a:cs typeface="IRANSansWeb" panose="020B0506030804020204" pitchFamily="34" charset="-78"/>
              </a:rPr>
              <a:t>uIP</a:t>
            </a:r>
            <a:r>
              <a:rPr lang="en-US" sz="1400" b="1" dirty="0">
                <a:latin typeface="IRANSansWeb" panose="020B0506030804020204" pitchFamily="34" charset="-78"/>
                <a:cs typeface="IRANSansWeb" panose="020B0506030804020204" pitchFamily="34" charset="-78"/>
              </a:rPr>
              <a:t> </a:t>
            </a:r>
          </a:p>
          <a:p>
            <a:pPr>
              <a:lnSpc>
                <a:spcPct val="170000"/>
              </a:lnSpc>
            </a:pPr>
            <a:r>
              <a:rPr lang="en-US" sz="1400" b="1" dirty="0" err="1">
                <a:latin typeface="IRANSansWeb" panose="020B0506030804020204" pitchFamily="34" charset="-78"/>
                <a:cs typeface="IRANSansWeb" panose="020B0506030804020204" pitchFamily="34" charset="-78"/>
              </a:rPr>
              <a:t>lwIP</a:t>
            </a:r>
            <a:r>
              <a:rPr lang="en-US" sz="1400" b="1" dirty="0">
                <a:latin typeface="IRANSansWeb" panose="020B0506030804020204" pitchFamily="34" charset="-78"/>
                <a:cs typeface="IRANSansWeb" panose="020B0506030804020204" pitchFamily="34" charset="-78"/>
              </a:rPr>
              <a:t> (lightweight IP) </a:t>
            </a:r>
          </a:p>
          <a:p>
            <a:pPr>
              <a:lnSpc>
                <a:spcPct val="170000"/>
              </a:lnSpc>
            </a:pPr>
            <a:r>
              <a:rPr lang="en-US" sz="1400" b="1" dirty="0" err="1">
                <a:latin typeface="IRANSansWeb" panose="020B0506030804020204" pitchFamily="34" charset="-78"/>
                <a:cs typeface="IRANSansWeb" panose="020B0506030804020204" pitchFamily="34" charset="-78"/>
              </a:rPr>
              <a:t>CycloneTCP</a:t>
            </a:r>
            <a:r>
              <a:rPr lang="en-US" sz="1400" b="1" dirty="0">
                <a:latin typeface="IRANSansWeb" panose="020B0506030804020204" pitchFamily="34" charset="-78"/>
                <a:cs typeface="IRANSansWeb" panose="020B0506030804020204" pitchFamily="34" charset="-78"/>
              </a:rPr>
              <a:t> | Oryx Embedded</a:t>
            </a:r>
          </a:p>
          <a:p>
            <a:pPr>
              <a:lnSpc>
                <a:spcPct val="170000"/>
              </a:lnSpc>
            </a:pPr>
            <a:r>
              <a:rPr lang="en-US" sz="1400" b="1" dirty="0">
                <a:latin typeface="IRANSansWeb" panose="020B0506030804020204" pitchFamily="34" charset="-78"/>
                <a:cs typeface="IRANSansWeb" panose="020B0506030804020204" pitchFamily="34" charset="-78"/>
              </a:rPr>
              <a:t>Mongoose - Embedded Web Server, MQTT, </a:t>
            </a:r>
            <a:r>
              <a:rPr lang="en-US" sz="1400" b="1" dirty="0" err="1">
                <a:latin typeface="IRANSansWeb" panose="020B0506030804020204" pitchFamily="34" charset="-78"/>
                <a:cs typeface="IRANSansWeb" panose="020B0506030804020204" pitchFamily="34" charset="-78"/>
              </a:rPr>
              <a:t>Websocket</a:t>
            </a:r>
            <a:r>
              <a:rPr lang="en-US" sz="1400" b="1" dirty="0">
                <a:latin typeface="IRANSansWeb" panose="020B0506030804020204" pitchFamily="34" charset="-78"/>
                <a:cs typeface="IRANSansWeb" panose="020B0506030804020204" pitchFamily="34" charset="-78"/>
              </a:rPr>
              <a:t> </a:t>
            </a:r>
          </a:p>
          <a:p>
            <a:pPr>
              <a:lnSpc>
                <a:spcPct val="170000"/>
              </a:lnSpc>
            </a:pPr>
            <a:r>
              <a:rPr lang="en-US" sz="1400" b="1" dirty="0" err="1">
                <a:latin typeface="IRANSansWeb" panose="020B0506030804020204" pitchFamily="34" charset="-78"/>
                <a:cs typeface="IRANSansWeb" panose="020B0506030804020204" pitchFamily="34" charset="-78"/>
              </a:rPr>
              <a:t>Micrium</a:t>
            </a:r>
            <a:r>
              <a:rPr lang="en-US" sz="1400" b="1" dirty="0">
                <a:latin typeface="IRANSansWeb" panose="020B0506030804020204" pitchFamily="34" charset="-78"/>
                <a:cs typeface="IRANSansWeb" panose="020B0506030804020204" pitchFamily="34" charset="-78"/>
              </a:rPr>
              <a:t> µC/TCP-IP </a:t>
            </a:r>
          </a:p>
          <a:p>
            <a:pPr>
              <a:lnSpc>
                <a:spcPct val="170000"/>
              </a:lnSpc>
            </a:pPr>
            <a:r>
              <a:rPr lang="en-US" sz="1400" b="1" dirty="0" err="1">
                <a:latin typeface="IRANSansWeb" panose="020B0506030804020204" pitchFamily="34" charset="-78"/>
                <a:cs typeface="IRANSansWeb" panose="020B0506030804020204" pitchFamily="34" charset="-78"/>
              </a:rPr>
              <a:t>FreeRTOS</a:t>
            </a:r>
            <a:r>
              <a:rPr lang="en-US" sz="1400" b="1" dirty="0">
                <a:latin typeface="IRANSansWeb" panose="020B0506030804020204" pitchFamily="34" charset="-78"/>
                <a:cs typeface="IRANSansWeb" panose="020B0506030804020204" pitchFamily="34" charset="-78"/>
              </a:rPr>
              <a:t>-Plus-TCP </a:t>
            </a:r>
          </a:p>
          <a:p>
            <a:pPr>
              <a:lnSpc>
                <a:spcPct val="170000"/>
              </a:lnSpc>
            </a:pPr>
            <a:r>
              <a:rPr lang="en-US" sz="1400" b="1" dirty="0">
                <a:latin typeface="IRANSansWeb" panose="020B0506030804020204" pitchFamily="34" charset="-78"/>
                <a:cs typeface="IRANSansWeb" panose="020B0506030804020204" pitchFamily="34" charset="-78"/>
              </a:rPr>
              <a:t>Zephyr OS</a:t>
            </a:r>
          </a:p>
          <a:p>
            <a:pPr>
              <a:lnSpc>
                <a:spcPct val="170000"/>
              </a:lnSpc>
            </a:pPr>
            <a:r>
              <a:rPr lang="en-US" sz="1400" b="1" dirty="0">
                <a:latin typeface="IRANSansWeb" panose="020B0506030804020204" pitchFamily="34" charset="-78"/>
                <a:cs typeface="IRANSansWeb" panose="020B0506030804020204" pitchFamily="34" charset="-78"/>
              </a:rPr>
              <a:t>Eclipse </a:t>
            </a:r>
            <a:r>
              <a:rPr lang="en-US" sz="1400" b="1" dirty="0" err="1">
                <a:latin typeface="IRANSansWeb" panose="020B0506030804020204" pitchFamily="34" charset="-78"/>
                <a:cs typeface="IRANSansWeb" panose="020B0506030804020204" pitchFamily="34" charset="-78"/>
              </a:rPr>
              <a:t>ThreadX</a:t>
            </a:r>
            <a:r>
              <a:rPr lang="en-US" sz="1400" b="1" dirty="0">
                <a:latin typeface="IRANSansWeb" panose="020B0506030804020204" pitchFamily="34" charset="-78"/>
                <a:cs typeface="IRANSansWeb" panose="020B0506030804020204" pitchFamily="34" charset="-78"/>
              </a:rPr>
              <a:t> </a:t>
            </a:r>
            <a:r>
              <a:rPr lang="en-US" sz="1400" b="1" dirty="0" err="1">
                <a:latin typeface="IRANSansWeb" panose="020B0506030804020204" pitchFamily="34" charset="-78"/>
                <a:cs typeface="IRANSansWeb" panose="020B0506030804020204" pitchFamily="34" charset="-78"/>
              </a:rPr>
              <a:t>NetX</a:t>
            </a:r>
            <a:r>
              <a:rPr lang="en-US" sz="1400" b="1" dirty="0">
                <a:latin typeface="IRANSansWeb" panose="020B0506030804020204" pitchFamily="34" charset="-78"/>
                <a:cs typeface="IRANSansWeb" panose="020B0506030804020204" pitchFamily="34" charset="-78"/>
              </a:rPr>
              <a:t> Duo(Azure RTOS)</a:t>
            </a:r>
          </a:p>
          <a:p>
            <a:pPr>
              <a:lnSpc>
                <a:spcPct val="170000"/>
              </a:lnSpc>
            </a:pPr>
            <a:r>
              <a:rPr lang="en-US" sz="1400" b="1" dirty="0" err="1">
                <a:latin typeface="IRANSansWeb" panose="020B0506030804020204" pitchFamily="34" charset="-78"/>
                <a:cs typeface="IRANSansWeb" panose="020B0506030804020204" pitchFamily="34" charset="-78"/>
              </a:rPr>
              <a:t>Libwebsockets</a:t>
            </a:r>
            <a:endParaRPr lang="en-US" sz="1400" b="1" dirty="0">
              <a:latin typeface="IRANSansWeb" panose="020B0506030804020204" pitchFamily="34" charset="-78"/>
              <a:cs typeface="IRANSansWeb" panose="020B0506030804020204" pitchFamily="34" charset="-78"/>
            </a:endParaRPr>
          </a:p>
          <a:p>
            <a:pPr>
              <a:lnSpc>
                <a:spcPct val="170000"/>
              </a:lnSpc>
            </a:pPr>
            <a:r>
              <a:rPr lang="en-US" sz="1400" b="1" dirty="0">
                <a:latin typeface="IRANSansWeb" panose="020B0506030804020204" pitchFamily="34" charset="-78"/>
                <a:cs typeface="IRANSansWeb" panose="020B0506030804020204" pitchFamily="34" charset="-78"/>
              </a:rPr>
              <a:t>FNET TCP/IP Stack</a:t>
            </a:r>
          </a:p>
          <a:p>
            <a:pPr>
              <a:lnSpc>
                <a:spcPct val="170000"/>
              </a:lnSpc>
            </a:pPr>
            <a:r>
              <a:rPr lang="en-US" sz="1400" b="1" dirty="0" err="1">
                <a:latin typeface="IRANSansWeb" panose="020B0506030804020204" pitchFamily="34" charset="-78"/>
                <a:cs typeface="IRANSansWeb" panose="020B0506030804020204" pitchFamily="34" charset="-78"/>
              </a:rPr>
              <a:t>picoTCP</a:t>
            </a:r>
            <a:endParaRPr lang="en-US" sz="1400" b="1" dirty="0">
              <a:latin typeface="IRANSansWeb" panose="020B0506030804020204" pitchFamily="34" charset="-78"/>
              <a:cs typeface="IRANSansWeb" panose="020B0506030804020204" pitchFamily="34" charset="-78"/>
            </a:endParaRPr>
          </a:p>
          <a:p>
            <a:pPr>
              <a:lnSpc>
                <a:spcPct val="170000"/>
              </a:lnSpc>
            </a:pPr>
            <a:r>
              <a:rPr lang="en-US" sz="1400" b="1" dirty="0" err="1">
                <a:latin typeface="IRANSansWeb" panose="020B0506030804020204" pitchFamily="34" charset="-78"/>
                <a:cs typeface="IRANSansWeb" panose="020B0506030804020204" pitchFamily="34" charset="-78"/>
              </a:rPr>
              <a:t>Tuxera</a:t>
            </a:r>
            <a:r>
              <a:rPr lang="en-US" sz="1400" b="1" dirty="0">
                <a:latin typeface="IRANSansWeb" panose="020B0506030804020204" pitchFamily="34" charset="-78"/>
                <a:cs typeface="IRANSansWeb" panose="020B0506030804020204" pitchFamily="34" charset="-78"/>
              </a:rPr>
              <a:t> </a:t>
            </a:r>
          </a:p>
          <a:p>
            <a:endParaRPr lang="en-US" sz="1400" b="1" dirty="0"/>
          </a:p>
          <a:p>
            <a:pPr algn="l"/>
            <a:endParaRPr lang="en-US" sz="1400"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349495169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D965F-C286-7A4E-6625-E4BD9F9D5B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2D9551-2600-78AD-0DD7-908AE0D4971B}"/>
              </a:ext>
            </a:extLst>
          </p:cNvPr>
          <p:cNvSpPr>
            <a:spLocks noGrp="1"/>
          </p:cNvSpPr>
          <p:nvPr>
            <p:ph type="title"/>
          </p:nvPr>
        </p:nvSpPr>
        <p:spPr/>
        <p:txBody>
          <a:bodyPr/>
          <a:lstStyle/>
          <a:p>
            <a:r>
              <a:rPr lang="fa-IR" dirty="0">
                <a:latin typeface="IRANSansWeb" panose="020B0506030804020204" pitchFamily="34" charset="-78"/>
                <a:cs typeface="IRANSansWeb" panose="020B0506030804020204" pitchFamily="34" charset="-78"/>
              </a:rPr>
              <a:t>سخت افزار شبکه</a:t>
            </a:r>
            <a:endParaRPr lang="en-US" dirty="0">
              <a:latin typeface="IRANSansWeb" panose="020B0506030804020204" pitchFamily="34" charset="-78"/>
              <a:cs typeface="IRANSansWeb" panose="020B0506030804020204" pitchFamily="34" charset="-78"/>
            </a:endParaRPr>
          </a:p>
        </p:txBody>
      </p:sp>
      <p:sp>
        <p:nvSpPr>
          <p:cNvPr id="3" name="Content Placeholder 2">
            <a:extLst>
              <a:ext uri="{FF2B5EF4-FFF2-40B4-BE49-F238E27FC236}">
                <a16:creationId xmlns:a16="http://schemas.microsoft.com/office/drawing/2014/main" id="{CA03AE6E-C03E-852D-174D-BAE130E62B03}"/>
              </a:ext>
            </a:extLst>
          </p:cNvPr>
          <p:cNvSpPr>
            <a:spLocks noGrp="1"/>
          </p:cNvSpPr>
          <p:nvPr>
            <p:ph idx="1"/>
          </p:nvPr>
        </p:nvSpPr>
        <p:spPr/>
        <p:txBody>
          <a:bodyPr/>
          <a:lstStyle/>
          <a:p>
            <a:r>
              <a:rPr lang="en-US" dirty="0">
                <a:latin typeface="IRANSansWeb" panose="020B0506030804020204" pitchFamily="34" charset="-78"/>
                <a:cs typeface="IRANSansWeb" panose="020B0506030804020204" pitchFamily="34" charset="-78"/>
              </a:rPr>
              <a:t>STM32 </a:t>
            </a:r>
            <a:r>
              <a:rPr lang="en-US" kern="100" dirty="0"/>
              <a:t>Ethernet MAC and PHY LAN8720A </a:t>
            </a:r>
            <a:endParaRPr lang="en-US" dirty="0">
              <a:latin typeface="IRANSansWeb" panose="020B0506030804020204" pitchFamily="34" charset="-78"/>
              <a:cs typeface="IRANSansWeb" panose="020B0506030804020204" pitchFamily="34" charset="-78"/>
            </a:endParaRPr>
          </a:p>
          <a:p>
            <a:pPr algn="l"/>
            <a:r>
              <a:rPr lang="en-US" dirty="0">
                <a:latin typeface="IRANSansWeb" panose="020B0506030804020204" pitchFamily="34" charset="-78"/>
                <a:cs typeface="IRANSansWeb" panose="020B0506030804020204" pitchFamily="34" charset="-78"/>
              </a:rPr>
              <a:t>HLK-RM04</a:t>
            </a:r>
            <a:endParaRPr lang="fa-IR" dirty="0">
              <a:cs typeface="B Nazanin" panose="00000400000000000000" pitchFamily="2" charset="-78"/>
            </a:endParaRPr>
          </a:p>
          <a:p>
            <a:pPr algn="l"/>
            <a:r>
              <a:rPr lang="en-US" dirty="0">
                <a:cs typeface="B Nazanin" panose="00000400000000000000" pitchFamily="2" charset="-78"/>
              </a:rPr>
              <a:t>ENC28J60</a:t>
            </a:r>
            <a:endParaRPr lang="fa-IR" dirty="0">
              <a:cs typeface="B Nazanin" panose="00000400000000000000" pitchFamily="2" charset="-78"/>
            </a:endParaRPr>
          </a:p>
          <a:p>
            <a:pPr algn="l"/>
            <a:r>
              <a:rPr lang="en-US" dirty="0">
                <a:cs typeface="B Nazanin" panose="00000400000000000000" pitchFamily="2" charset="-78"/>
              </a:rPr>
              <a:t>W5500</a:t>
            </a:r>
          </a:p>
          <a:p>
            <a:pPr algn="l"/>
            <a:r>
              <a:rPr lang="en-US" dirty="0">
                <a:cs typeface="B Nazanin" panose="00000400000000000000" pitchFamily="2" charset="-78"/>
              </a:rPr>
              <a:t>ESP8266</a:t>
            </a:r>
          </a:p>
          <a:p>
            <a:pPr algn="l"/>
            <a:r>
              <a:rPr lang="en-US" dirty="0">
                <a:cs typeface="B Nazanin" panose="00000400000000000000" pitchFamily="2" charset="-78"/>
              </a:rPr>
              <a:t>ESP32</a:t>
            </a:r>
          </a:p>
          <a:p>
            <a:pPr algn="l"/>
            <a:r>
              <a:rPr lang="en-US" dirty="0">
                <a:cs typeface="B Nazanin" panose="00000400000000000000" pitchFamily="2" charset="-78"/>
              </a:rPr>
              <a:t>SIM800</a:t>
            </a:r>
            <a:endParaRPr lang="fa-IR" dirty="0">
              <a:cs typeface="B Nazanin" panose="00000400000000000000" pitchFamily="2" charset="-78"/>
            </a:endParaRPr>
          </a:p>
          <a:p>
            <a:pPr algn="r" rtl="1"/>
            <a:endParaRPr lang="fa-IR" dirty="0">
              <a:latin typeface="IRANSansWeb" panose="020B0506030804020204" pitchFamily="34" charset="-78"/>
              <a:cs typeface="B Nazanin" panose="00000400000000000000" pitchFamily="2" charset="-78"/>
            </a:endParaRPr>
          </a:p>
          <a:p>
            <a:pPr algn="r" rtl="1"/>
            <a:endParaRPr lang="en-US"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323332963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5E9A8-9CF4-D806-E186-8705DCE69EB5}"/>
              </a:ext>
            </a:extLst>
          </p:cNvPr>
          <p:cNvSpPr>
            <a:spLocks noGrp="1"/>
          </p:cNvSpPr>
          <p:nvPr>
            <p:ph type="title"/>
          </p:nvPr>
        </p:nvSpPr>
        <p:spPr/>
        <p:txBody>
          <a:bodyPr/>
          <a:lstStyle/>
          <a:p>
            <a:r>
              <a:rPr lang="en-US" dirty="0"/>
              <a:t>MAC and PHY</a:t>
            </a:r>
          </a:p>
        </p:txBody>
      </p:sp>
      <p:sp>
        <p:nvSpPr>
          <p:cNvPr id="3" name="Content Placeholder 2">
            <a:extLst>
              <a:ext uri="{FF2B5EF4-FFF2-40B4-BE49-F238E27FC236}">
                <a16:creationId xmlns:a16="http://schemas.microsoft.com/office/drawing/2014/main" id="{6EEC1557-0CF4-E8A0-8246-8DB2D69CF206}"/>
              </a:ext>
            </a:extLst>
          </p:cNvPr>
          <p:cNvSpPr>
            <a:spLocks noGrp="1"/>
          </p:cNvSpPr>
          <p:nvPr>
            <p:ph idx="1"/>
          </p:nvPr>
        </p:nvSpPr>
        <p:spPr/>
        <p:txBody>
          <a:bodyPr>
            <a:normAutofit fontScale="92500" lnSpcReduction="10000"/>
          </a:bodyPr>
          <a:lstStyle/>
          <a:p>
            <a:r>
              <a:rPr lang="en-US" b="1" dirty="0"/>
              <a:t>MAC (Media Access Controller):</a:t>
            </a:r>
            <a:br>
              <a:rPr lang="en-US" dirty="0"/>
            </a:br>
            <a:r>
              <a:rPr lang="en-US" dirty="0"/>
              <a:t>The MAC is inside the STM32 microcontroller. It handles the data link layer functions such as framing, addressing, and managing Ethernet packets.</a:t>
            </a:r>
          </a:p>
          <a:p>
            <a:r>
              <a:rPr lang="en-US" b="1" dirty="0"/>
              <a:t>PHY (Physical Layer):</a:t>
            </a:r>
            <a:br>
              <a:rPr lang="en-US" dirty="0"/>
            </a:br>
            <a:r>
              <a:rPr lang="en-US" dirty="0"/>
              <a:t>The PHY is usually an external chip connected to STM32 through RMII or MII interface. It manages the actual electrical signaling, link detection, and speed negotiation with the Ethernet cable.</a:t>
            </a:r>
          </a:p>
          <a:p>
            <a:endParaRPr lang="en-US" dirty="0"/>
          </a:p>
        </p:txBody>
      </p:sp>
    </p:spTree>
    <p:extLst>
      <p:ext uri="{BB962C8B-B14F-4D97-AF65-F5344CB8AC3E}">
        <p14:creationId xmlns:p14="http://schemas.microsoft.com/office/powerpoint/2010/main" val="330241457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9542A6-7582-550E-5697-1D78157042B6}"/>
              </a:ext>
            </a:extLst>
          </p:cNvPr>
          <p:cNvSpPr>
            <a:spLocks noGrp="1"/>
          </p:cNvSpPr>
          <p:nvPr>
            <p:ph idx="1"/>
          </p:nvPr>
        </p:nvSpPr>
        <p:spPr/>
        <p:txBody>
          <a:bodyPr>
            <a:normAutofit fontScale="92500" lnSpcReduction="20000"/>
          </a:bodyPr>
          <a:lstStyle/>
          <a:p>
            <a:r>
              <a:rPr lang="en-US" b="1" dirty="0"/>
              <a:t>External MAC</a:t>
            </a:r>
            <a:r>
              <a:rPr lang="en-US" dirty="0"/>
              <a:t>: Microchip LAN924x, Broadcom BCM5241</a:t>
            </a:r>
          </a:p>
          <a:p>
            <a:r>
              <a:rPr lang="en-US" b="1" dirty="0"/>
              <a:t>External PHY</a:t>
            </a:r>
            <a:r>
              <a:rPr lang="en-US" dirty="0"/>
              <a:t>: TI DP83848, Microchip LAN87x, Analog Devices ADIN1200</a:t>
            </a:r>
          </a:p>
          <a:p>
            <a:r>
              <a:rPr lang="en-US" b="1" dirty="0"/>
              <a:t>External MAC + PHY</a:t>
            </a:r>
            <a:r>
              <a:rPr lang="en-US" dirty="0"/>
              <a:t>: </a:t>
            </a:r>
            <a:r>
              <a:rPr lang="en-US" dirty="0" err="1"/>
              <a:t>Wiznet</a:t>
            </a:r>
            <a:r>
              <a:rPr lang="en-US" dirty="0"/>
              <a:t> W5500, Microchip ENC28J60</a:t>
            </a:r>
          </a:p>
          <a:p>
            <a:r>
              <a:rPr lang="en-US" b="1" dirty="0"/>
              <a:t>MCU with built-in MAC</a:t>
            </a:r>
            <a:r>
              <a:rPr lang="en-US" dirty="0"/>
              <a:t>: ESP32, NXP i.MX RT, STM32</a:t>
            </a:r>
          </a:p>
          <a:p>
            <a:r>
              <a:rPr lang="en-US" b="1" dirty="0"/>
              <a:t>MCU with built-in MAC + PHY</a:t>
            </a:r>
            <a:r>
              <a:rPr lang="en-US" dirty="0"/>
              <a:t>: Microchip PIC32MX, TI TM4C129x</a:t>
            </a:r>
          </a:p>
          <a:p>
            <a:endParaRPr lang="en-US" dirty="0"/>
          </a:p>
        </p:txBody>
      </p:sp>
    </p:spTree>
    <p:extLst>
      <p:ext uri="{BB962C8B-B14F-4D97-AF65-F5344CB8AC3E}">
        <p14:creationId xmlns:p14="http://schemas.microsoft.com/office/powerpoint/2010/main" val="6819090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F64D6B2-0D1A-A76B-EF04-BD478EA1D989}"/>
              </a:ext>
            </a:extLst>
          </p:cNvPr>
          <p:cNvPicPr>
            <a:picLocks noGrp="1" noChangeAspect="1"/>
          </p:cNvPicPr>
          <p:nvPr>
            <p:ph idx="1"/>
          </p:nvPr>
        </p:nvPicPr>
        <p:blipFill>
          <a:blip r:embed="rId2"/>
          <a:stretch>
            <a:fillRect/>
          </a:stretch>
        </p:blipFill>
        <p:spPr>
          <a:xfrm>
            <a:off x="1118824" y="1733062"/>
            <a:ext cx="6906352" cy="4525963"/>
          </a:xfrm>
          <a:prstGeom prst="rect">
            <a:avLst/>
          </a:prstGeom>
        </p:spPr>
      </p:pic>
    </p:spTree>
    <p:extLst>
      <p:ext uri="{BB962C8B-B14F-4D97-AF65-F5344CB8AC3E}">
        <p14:creationId xmlns:p14="http://schemas.microsoft.com/office/powerpoint/2010/main" val="203272509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02A7FBE-2D21-1722-064A-4DF18DDD0CAE}"/>
              </a:ext>
            </a:extLst>
          </p:cNvPr>
          <p:cNvPicPr>
            <a:picLocks noChangeAspect="1"/>
          </p:cNvPicPr>
          <p:nvPr/>
        </p:nvPicPr>
        <p:blipFill>
          <a:blip r:embed="rId2"/>
          <a:srcRect r="2142" b="6087"/>
          <a:stretch>
            <a:fillRect/>
          </a:stretch>
        </p:blipFill>
        <p:spPr>
          <a:xfrm>
            <a:off x="2114292" y="1168258"/>
            <a:ext cx="4810139" cy="4521484"/>
          </a:xfrm>
          <a:prstGeom prst="rect">
            <a:avLst/>
          </a:prstGeom>
        </p:spPr>
      </p:pic>
    </p:spTree>
    <p:extLst>
      <p:ext uri="{BB962C8B-B14F-4D97-AF65-F5344CB8AC3E}">
        <p14:creationId xmlns:p14="http://schemas.microsoft.com/office/powerpoint/2010/main" val="370037884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DC1954F1-67B4-D7A6-D073-F97F14931068}"/>
              </a:ext>
            </a:extLst>
          </p:cNvPr>
          <p:cNvPicPr>
            <a:picLocks noGrp="1" noChangeAspect="1"/>
          </p:cNvPicPr>
          <p:nvPr>
            <p:ph idx="1"/>
          </p:nvPr>
        </p:nvPicPr>
        <p:blipFill rotWithShape="1">
          <a:blip r:embed="rId2"/>
          <a:srcRect l="998" t="2344" r="1282" b="6912"/>
          <a:stretch>
            <a:fillRect/>
          </a:stretch>
        </p:blipFill>
        <p:spPr bwMode="auto">
          <a:xfrm>
            <a:off x="539262" y="1596292"/>
            <a:ext cx="8042030" cy="3665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876657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95018-06B5-56F6-E3A0-597A1D651DAC}"/>
              </a:ext>
            </a:extLst>
          </p:cNvPr>
          <p:cNvSpPr>
            <a:spLocks noGrp="1"/>
          </p:cNvSpPr>
          <p:nvPr>
            <p:ph type="title"/>
          </p:nvPr>
        </p:nvSpPr>
        <p:spPr/>
        <p:txBody>
          <a:bodyPr/>
          <a:lstStyle/>
          <a:p>
            <a:r>
              <a:rPr lang="en-US" dirty="0"/>
              <a:t>W5500</a:t>
            </a:r>
          </a:p>
        </p:txBody>
      </p:sp>
      <p:pic>
        <p:nvPicPr>
          <p:cNvPr id="6146" name="Picture 2" descr="How to Use wiznet w5500 mini ethernet : Pinouts, Specs, and ...">
            <a:extLst>
              <a:ext uri="{FF2B5EF4-FFF2-40B4-BE49-F238E27FC236}">
                <a16:creationId xmlns:a16="http://schemas.microsoft.com/office/drawing/2014/main" id="{B58FE5E0-1EBD-6B7E-2ED7-21A05345D69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306623" y="2463921"/>
            <a:ext cx="3781953" cy="2657846"/>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ACEIRMC W5500 SPI to LAN Ethernet Network Module TCP IP STM32 Interface  3.3V 5V for Arduino WIZ820io RC5 (3pcs) : Amazon.in: Computers &amp; Accessories">
            <a:extLst>
              <a:ext uri="{FF2B5EF4-FFF2-40B4-BE49-F238E27FC236}">
                <a16:creationId xmlns:a16="http://schemas.microsoft.com/office/drawing/2014/main" id="{9C041AC4-4FC9-A1E2-817E-CBCDA50042D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9878"/>
          <a:stretch>
            <a:fillRect/>
          </a:stretch>
        </p:blipFill>
        <p:spPr bwMode="auto">
          <a:xfrm>
            <a:off x="941756" y="2463921"/>
            <a:ext cx="2427378" cy="282843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C0BDECF-C626-8AF5-3FC3-20BFED814C75}"/>
              </a:ext>
            </a:extLst>
          </p:cNvPr>
          <p:cNvSpPr txBox="1"/>
          <p:nvPr/>
        </p:nvSpPr>
        <p:spPr>
          <a:xfrm>
            <a:off x="2286000" y="5780184"/>
            <a:ext cx="4572000" cy="369332"/>
          </a:xfrm>
          <a:prstGeom prst="rect">
            <a:avLst/>
          </a:prstGeom>
          <a:noFill/>
        </p:spPr>
        <p:txBody>
          <a:bodyPr wrap="square">
            <a:spAutoFit/>
          </a:bodyPr>
          <a:lstStyle/>
          <a:p>
            <a:r>
              <a:rPr lang="en-US" dirty="0"/>
              <a:t>https://github.com/Wiznet/ioLibrary_Driver</a:t>
            </a:r>
          </a:p>
        </p:txBody>
      </p:sp>
    </p:spTree>
    <p:extLst>
      <p:ext uri="{BB962C8B-B14F-4D97-AF65-F5344CB8AC3E}">
        <p14:creationId xmlns:p14="http://schemas.microsoft.com/office/powerpoint/2010/main" val="399011079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7753A-2000-A2B4-C5C8-FE063B8E63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976DB3-E0F1-1613-13FD-5EC7E9D726AB}"/>
              </a:ext>
            </a:extLst>
          </p:cNvPr>
          <p:cNvSpPr>
            <a:spLocks noGrp="1"/>
          </p:cNvSpPr>
          <p:nvPr>
            <p:ph type="title"/>
          </p:nvPr>
        </p:nvSpPr>
        <p:spPr/>
        <p:txBody>
          <a:bodyPr/>
          <a:lstStyle/>
          <a:p>
            <a:r>
              <a:rPr lang="en-US" dirty="0"/>
              <a:t>ENC28J60</a:t>
            </a:r>
          </a:p>
        </p:txBody>
      </p:sp>
      <p:pic>
        <p:nvPicPr>
          <p:cNvPr id="12290" name="Picture 2" descr="How to Use ENC28J60 Ethernet Board: Pinouts, Specs, and Examples | Cirkit  Designer">
            <a:extLst>
              <a:ext uri="{FF2B5EF4-FFF2-40B4-BE49-F238E27FC236}">
                <a16:creationId xmlns:a16="http://schemas.microsoft.com/office/drawing/2014/main" id="{78D2812F-7C76-B606-599D-A7CA3E0F611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67137" y="2439194"/>
            <a:ext cx="1609725" cy="2847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39939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FF6B3CA-6A35-E0FC-3499-8A07F0A67D98}"/>
              </a:ext>
            </a:extLst>
          </p:cNvPr>
          <p:cNvGraphicFramePr>
            <a:graphicFrameLocks noGrp="1"/>
          </p:cNvGraphicFramePr>
          <p:nvPr>
            <p:ph idx="1"/>
          </p:nvPr>
        </p:nvGraphicFramePr>
        <p:xfrm>
          <a:off x="1321725" y="1462302"/>
          <a:ext cx="6500550" cy="4801760"/>
        </p:xfrm>
        <a:graphic>
          <a:graphicData uri="http://schemas.openxmlformats.org/drawingml/2006/table">
            <a:tbl>
              <a:tblPr/>
              <a:tblGrid>
                <a:gridCol w="2166850">
                  <a:extLst>
                    <a:ext uri="{9D8B030D-6E8A-4147-A177-3AD203B41FA5}">
                      <a16:colId xmlns:a16="http://schemas.microsoft.com/office/drawing/2014/main" val="2327702074"/>
                    </a:ext>
                  </a:extLst>
                </a:gridCol>
                <a:gridCol w="2166850">
                  <a:extLst>
                    <a:ext uri="{9D8B030D-6E8A-4147-A177-3AD203B41FA5}">
                      <a16:colId xmlns:a16="http://schemas.microsoft.com/office/drawing/2014/main" val="2058734004"/>
                    </a:ext>
                  </a:extLst>
                </a:gridCol>
                <a:gridCol w="2166850">
                  <a:extLst>
                    <a:ext uri="{9D8B030D-6E8A-4147-A177-3AD203B41FA5}">
                      <a16:colId xmlns:a16="http://schemas.microsoft.com/office/drawing/2014/main" val="3773241293"/>
                    </a:ext>
                  </a:extLst>
                </a:gridCol>
              </a:tblGrid>
              <a:tr h="238209">
                <a:tc>
                  <a:txBody>
                    <a:bodyPr/>
                    <a:lstStyle/>
                    <a:p>
                      <a:pPr algn="l" fontAlgn="t">
                        <a:buNone/>
                      </a:pPr>
                      <a:r>
                        <a:rPr lang="en-US" sz="1200">
                          <a:effectLst/>
                        </a:rPr>
                        <a:t>Feature / Aspect</a:t>
                      </a: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algn="l" fontAlgn="t">
                        <a:buNone/>
                      </a:pPr>
                      <a:r>
                        <a:rPr lang="en-US" sz="1200" b="1">
                          <a:solidFill>
                            <a:srgbClr val="0F0F0F"/>
                          </a:solidFill>
                          <a:effectLst/>
                        </a:rPr>
                        <a:t>ENC28J60</a:t>
                      </a:r>
                      <a:endParaRPr lang="en-US" sz="1200">
                        <a:effectLst/>
                      </a:endParaRP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algn="l" fontAlgn="t">
                        <a:buNone/>
                      </a:pPr>
                      <a:r>
                        <a:rPr lang="en-US" sz="1200" b="1">
                          <a:solidFill>
                            <a:srgbClr val="0F0F0F"/>
                          </a:solidFill>
                          <a:effectLst/>
                        </a:rPr>
                        <a:t>W5500</a:t>
                      </a:r>
                      <a:endParaRPr lang="en-US" sz="1200">
                        <a:effectLst/>
                      </a:endParaRP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1203081932"/>
                  </a:ext>
                </a:extLst>
              </a:tr>
              <a:tr h="416865">
                <a:tc>
                  <a:txBody>
                    <a:bodyPr/>
                    <a:lstStyle/>
                    <a:p>
                      <a:pPr fontAlgn="t">
                        <a:buNone/>
                      </a:pPr>
                      <a:r>
                        <a:rPr lang="en-US" sz="1200" b="1">
                          <a:solidFill>
                            <a:srgbClr val="0F0F0F"/>
                          </a:solidFill>
                          <a:effectLst/>
                        </a:rPr>
                        <a:t>Popularity &amp; Availability</a:t>
                      </a:r>
                      <a:endParaRPr lang="en-US" sz="1200">
                        <a:effectLst/>
                      </a:endParaRP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fontAlgn="t">
                        <a:buNone/>
                      </a:pPr>
                      <a:r>
                        <a:rPr lang="en-US" sz="1200">
                          <a:effectLst/>
                        </a:rPr>
                        <a:t>Very popular and easily available; low-cost option</a:t>
                      </a: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fontAlgn="t">
                        <a:buNone/>
                      </a:pPr>
                      <a:r>
                        <a:rPr lang="en-US" sz="1200">
                          <a:effectLst/>
                        </a:rPr>
                        <a:t>Slightly costlier but also widely available</a:t>
                      </a: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2028361022"/>
                  </a:ext>
                </a:extLst>
              </a:tr>
              <a:tr h="595521">
                <a:tc>
                  <a:txBody>
                    <a:bodyPr/>
                    <a:lstStyle/>
                    <a:p>
                      <a:pPr fontAlgn="t">
                        <a:buNone/>
                      </a:pPr>
                      <a:r>
                        <a:rPr lang="en-US" sz="1200" b="1">
                          <a:solidFill>
                            <a:srgbClr val="0F0F0F"/>
                          </a:solidFill>
                          <a:effectLst/>
                        </a:rPr>
                        <a:t>TCP/IP Stack Handling</a:t>
                      </a:r>
                      <a:endParaRPr lang="en-US" sz="1200">
                        <a:effectLst/>
                      </a:endParaRP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fontAlgn="t">
                        <a:buNone/>
                      </a:pPr>
                      <a:r>
                        <a:rPr lang="en-US" sz="1200" dirty="0">
                          <a:effectLst/>
                        </a:rPr>
                        <a:t>Requires the MCU to handle the entire TCP/IP stack using software (like LWIP)</a:t>
                      </a: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fontAlgn="t">
                        <a:buNone/>
                      </a:pPr>
                      <a:r>
                        <a:rPr lang="en-US" sz="1200">
                          <a:effectLst/>
                        </a:rPr>
                        <a:t>Has a </a:t>
                      </a:r>
                      <a:r>
                        <a:rPr lang="en-US" sz="1200" b="1">
                          <a:solidFill>
                            <a:srgbClr val="0F0F0F"/>
                          </a:solidFill>
                          <a:effectLst/>
                        </a:rPr>
                        <a:t>built-in hardware TCP/IP stack</a:t>
                      </a:r>
                      <a:r>
                        <a:rPr lang="en-US" sz="1200">
                          <a:effectLst/>
                        </a:rPr>
                        <a:t>, handled internally</a:t>
                      </a: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3208715800"/>
                  </a:ext>
                </a:extLst>
              </a:tr>
              <a:tr h="416865">
                <a:tc>
                  <a:txBody>
                    <a:bodyPr/>
                    <a:lstStyle/>
                    <a:p>
                      <a:pPr fontAlgn="t">
                        <a:buNone/>
                      </a:pPr>
                      <a:r>
                        <a:rPr lang="en-US" sz="1200" b="1">
                          <a:solidFill>
                            <a:srgbClr val="0F0F0F"/>
                          </a:solidFill>
                          <a:effectLst/>
                        </a:rPr>
                        <a:t>MCU Resource Usage</a:t>
                      </a:r>
                      <a:endParaRPr lang="en-US" sz="1200">
                        <a:effectLst/>
                      </a:endParaRP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fontAlgn="t">
                        <a:buNone/>
                      </a:pPr>
                      <a:r>
                        <a:rPr lang="en-US" sz="1200" dirty="0">
                          <a:effectLst/>
                        </a:rPr>
                        <a:t>High — consumes more Flash and RAM, and increases CPU load</a:t>
                      </a: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fontAlgn="t">
                        <a:buNone/>
                      </a:pPr>
                      <a:r>
                        <a:rPr lang="en-US" sz="1200">
                          <a:effectLst/>
                        </a:rPr>
                        <a:t>Low — minimal MCU processing and memory required</a:t>
                      </a: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2834583221"/>
                  </a:ext>
                </a:extLst>
              </a:tr>
              <a:tr h="595521">
                <a:tc>
                  <a:txBody>
                    <a:bodyPr/>
                    <a:lstStyle/>
                    <a:p>
                      <a:pPr fontAlgn="t">
                        <a:buNone/>
                      </a:pPr>
                      <a:r>
                        <a:rPr lang="en-US" sz="1200" b="1">
                          <a:solidFill>
                            <a:srgbClr val="0F0F0F"/>
                          </a:solidFill>
                          <a:effectLst/>
                        </a:rPr>
                        <a:t>Performance</a:t>
                      </a:r>
                      <a:endParaRPr lang="en-US" sz="1200">
                        <a:effectLst/>
                      </a:endParaRP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fontAlgn="t">
                        <a:buNone/>
                      </a:pPr>
                      <a:r>
                        <a:rPr lang="en-US" sz="1200">
                          <a:effectLst/>
                        </a:rPr>
                        <a:t>Slower, especially with multiple connections or large data transfers</a:t>
                      </a: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fontAlgn="t">
                        <a:buNone/>
                      </a:pPr>
                      <a:r>
                        <a:rPr lang="en-US" sz="1200" dirty="0">
                          <a:effectLst/>
                        </a:rPr>
                        <a:t>Faster and more stable due to hardware-based protocol handling</a:t>
                      </a: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4140650274"/>
                  </a:ext>
                </a:extLst>
              </a:tr>
              <a:tr h="416865">
                <a:tc>
                  <a:txBody>
                    <a:bodyPr/>
                    <a:lstStyle/>
                    <a:p>
                      <a:pPr fontAlgn="t">
                        <a:buNone/>
                      </a:pPr>
                      <a:r>
                        <a:rPr lang="en-US" sz="1200" b="1">
                          <a:solidFill>
                            <a:srgbClr val="0F0F0F"/>
                          </a:solidFill>
                          <a:effectLst/>
                        </a:rPr>
                        <a:t>Simultaneous Connections</a:t>
                      </a:r>
                      <a:endParaRPr lang="en-US" sz="1200">
                        <a:effectLst/>
                      </a:endParaRP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fontAlgn="t">
                        <a:buNone/>
                      </a:pPr>
                      <a:r>
                        <a:rPr lang="en-US" sz="1200">
                          <a:effectLst/>
                        </a:rPr>
                        <a:t>Limited (depends on software stack and available memory)</a:t>
                      </a: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fontAlgn="t">
                        <a:buNone/>
                      </a:pPr>
                      <a:r>
                        <a:rPr lang="en-US" sz="1200" dirty="0">
                          <a:effectLst/>
                        </a:rPr>
                        <a:t>Supports </a:t>
                      </a:r>
                      <a:r>
                        <a:rPr lang="en-US" sz="1200" b="1" dirty="0">
                          <a:solidFill>
                            <a:srgbClr val="0F0F0F"/>
                          </a:solidFill>
                          <a:effectLst/>
                        </a:rPr>
                        <a:t>up to 8 simultaneous socket connections</a:t>
                      </a:r>
                      <a:endParaRPr lang="en-US" sz="1200" dirty="0">
                        <a:effectLst/>
                      </a:endParaRP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893171434"/>
                  </a:ext>
                </a:extLst>
              </a:tr>
              <a:tr h="416865">
                <a:tc>
                  <a:txBody>
                    <a:bodyPr/>
                    <a:lstStyle/>
                    <a:p>
                      <a:pPr fontAlgn="t">
                        <a:buNone/>
                      </a:pPr>
                      <a:r>
                        <a:rPr lang="en-US" sz="1200" b="1">
                          <a:solidFill>
                            <a:srgbClr val="0F0F0F"/>
                          </a:solidFill>
                          <a:effectLst/>
                        </a:rPr>
                        <a:t>Data Buffer</a:t>
                      </a:r>
                      <a:endParaRPr lang="en-US" sz="1200">
                        <a:effectLst/>
                      </a:endParaRP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fontAlgn="t">
                        <a:buNone/>
                      </a:pPr>
                      <a:r>
                        <a:rPr lang="en-US" sz="1200">
                          <a:effectLst/>
                        </a:rPr>
                        <a:t>No dedicated internal buffer; depends on MCU memory</a:t>
                      </a: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fontAlgn="t">
                        <a:buNone/>
                      </a:pPr>
                      <a:r>
                        <a:rPr lang="en-US" sz="1200" b="1">
                          <a:solidFill>
                            <a:srgbClr val="0F0F0F"/>
                          </a:solidFill>
                          <a:effectLst/>
                        </a:rPr>
                        <a:t>32 KB internal buffer</a:t>
                      </a:r>
                      <a:r>
                        <a:rPr lang="en-US" sz="1200">
                          <a:effectLst/>
                        </a:rPr>
                        <a:t> for efficient data handling</a:t>
                      </a: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365812703"/>
                  </a:ext>
                </a:extLst>
              </a:tr>
              <a:tr h="238209">
                <a:tc>
                  <a:txBody>
                    <a:bodyPr/>
                    <a:lstStyle/>
                    <a:p>
                      <a:pPr fontAlgn="t">
                        <a:buNone/>
                      </a:pPr>
                      <a:r>
                        <a:rPr lang="en-US" sz="1200" b="1">
                          <a:solidFill>
                            <a:srgbClr val="0F0F0F"/>
                          </a:solidFill>
                          <a:effectLst/>
                        </a:rPr>
                        <a:t>Interface Speed</a:t>
                      </a:r>
                      <a:endParaRPr lang="en-US" sz="1200">
                        <a:effectLst/>
                      </a:endParaRP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fontAlgn="t">
                        <a:buNone/>
                      </a:pPr>
                      <a:r>
                        <a:rPr lang="en-US" sz="1200" dirty="0">
                          <a:effectLst/>
                        </a:rPr>
                        <a:t>10 Mbps Ethernet</a:t>
                      </a: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fontAlgn="t">
                        <a:buNone/>
                      </a:pPr>
                      <a:r>
                        <a:rPr lang="en-US" sz="1200" b="1">
                          <a:solidFill>
                            <a:srgbClr val="0F0F0F"/>
                          </a:solidFill>
                          <a:effectLst/>
                        </a:rPr>
                        <a:t>10/100 Mbps Ethernet</a:t>
                      </a:r>
                      <a:endParaRPr lang="en-US" sz="1200">
                        <a:effectLst/>
                      </a:endParaRP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2601268013"/>
                  </a:ext>
                </a:extLst>
              </a:tr>
              <a:tr h="595521">
                <a:tc>
                  <a:txBody>
                    <a:bodyPr/>
                    <a:lstStyle/>
                    <a:p>
                      <a:pPr fontAlgn="t">
                        <a:buNone/>
                      </a:pPr>
                      <a:r>
                        <a:rPr lang="en-US" sz="1200" b="1">
                          <a:solidFill>
                            <a:srgbClr val="0F0F0F"/>
                          </a:solidFill>
                          <a:effectLst/>
                        </a:rPr>
                        <a:t>Ease of Integration with STM32</a:t>
                      </a:r>
                      <a:endParaRPr lang="en-US" sz="1200">
                        <a:effectLst/>
                      </a:endParaRP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fontAlgn="t">
                        <a:buNone/>
                      </a:pPr>
                      <a:r>
                        <a:rPr lang="en-US" sz="1200">
                          <a:effectLst/>
                        </a:rPr>
                        <a:t>Requires LWIP and more configuration effort</a:t>
                      </a: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fontAlgn="t">
                        <a:buNone/>
                      </a:pPr>
                      <a:r>
                        <a:rPr lang="en-US" sz="1200">
                          <a:effectLst/>
                        </a:rPr>
                        <a:t>Simple SPI-based communication; works easily with most STM32 MCUs</a:t>
                      </a: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2247079726"/>
                  </a:ext>
                </a:extLst>
              </a:tr>
              <a:tr h="595521">
                <a:tc>
                  <a:txBody>
                    <a:bodyPr/>
                    <a:lstStyle/>
                    <a:p>
                      <a:pPr fontAlgn="t">
                        <a:buNone/>
                      </a:pPr>
                      <a:r>
                        <a:rPr lang="en-US" sz="1200" b="1" dirty="0">
                          <a:solidFill>
                            <a:srgbClr val="0F0F0F"/>
                          </a:solidFill>
                          <a:effectLst/>
                        </a:rPr>
                        <a:t>Ideal Use Case</a:t>
                      </a:r>
                      <a:endParaRPr lang="en-US" sz="1200" dirty="0">
                        <a:effectLst/>
                      </a:endParaRP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fontAlgn="t">
                        <a:buNone/>
                      </a:pPr>
                      <a:r>
                        <a:rPr lang="en-US" sz="1200">
                          <a:effectLst/>
                        </a:rPr>
                        <a:t>Suitable for simple or low-speed Ethernet applications</a:t>
                      </a: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tc>
                  <a:txBody>
                    <a:bodyPr/>
                    <a:lstStyle/>
                    <a:p>
                      <a:pPr fontAlgn="t">
                        <a:buNone/>
                      </a:pPr>
                      <a:r>
                        <a:rPr lang="en-US" sz="1200" dirty="0">
                          <a:effectLst/>
                        </a:rPr>
                        <a:t>Recommended for high-performance and reliable Ethernet communication</a:t>
                      </a:r>
                    </a:p>
                  </a:txBody>
                  <a:tcPr marL="59552" marR="59552" marT="29776" marB="2977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3903119176"/>
                  </a:ext>
                </a:extLst>
              </a:tr>
            </a:tbl>
          </a:graphicData>
        </a:graphic>
      </p:graphicFrame>
    </p:spTree>
    <p:extLst>
      <p:ext uri="{BB962C8B-B14F-4D97-AF65-F5344CB8AC3E}">
        <p14:creationId xmlns:p14="http://schemas.microsoft.com/office/powerpoint/2010/main" val="79931128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CA2F9-89C7-31AE-EAEC-83DBF65536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2B749A-2DC7-75AE-C68C-711053F36CA1}"/>
              </a:ext>
            </a:extLst>
          </p:cNvPr>
          <p:cNvSpPr>
            <a:spLocks noGrp="1"/>
          </p:cNvSpPr>
          <p:nvPr>
            <p:ph type="title"/>
          </p:nvPr>
        </p:nvSpPr>
        <p:spPr/>
        <p:txBody>
          <a:bodyPr/>
          <a:lstStyle/>
          <a:p>
            <a:r>
              <a:rPr lang="en-US" dirty="0"/>
              <a:t>SIM800</a:t>
            </a:r>
          </a:p>
        </p:txBody>
      </p:sp>
      <p:pic>
        <p:nvPicPr>
          <p:cNvPr id="5" name="Content Placeholder 4">
            <a:extLst>
              <a:ext uri="{FF2B5EF4-FFF2-40B4-BE49-F238E27FC236}">
                <a16:creationId xmlns:a16="http://schemas.microsoft.com/office/drawing/2014/main" id="{DA742C42-587B-F063-BD62-5121F43C9FF9}"/>
              </a:ext>
            </a:extLst>
          </p:cNvPr>
          <p:cNvPicPr>
            <a:picLocks noGrp="1" noChangeAspect="1"/>
          </p:cNvPicPr>
          <p:nvPr>
            <p:ph idx="1"/>
          </p:nvPr>
        </p:nvPicPr>
        <p:blipFill>
          <a:blip r:embed="rId2"/>
          <a:stretch>
            <a:fillRect/>
          </a:stretch>
        </p:blipFill>
        <p:spPr>
          <a:xfrm>
            <a:off x="2309018" y="1600200"/>
            <a:ext cx="4525963" cy="4525963"/>
          </a:xfrm>
          <a:prstGeom prst="rect">
            <a:avLst/>
          </a:prstGeom>
        </p:spPr>
      </p:pic>
      <p:sp>
        <p:nvSpPr>
          <p:cNvPr id="4" name="AutoShape 2" descr="ماژول sim800l (سیم کارت) اورجینال">
            <a:extLst>
              <a:ext uri="{FF2B5EF4-FFF2-40B4-BE49-F238E27FC236}">
                <a16:creationId xmlns:a16="http://schemas.microsoft.com/office/drawing/2014/main" id="{5CC4638D-A3A6-5394-22CE-23304D377C0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07028301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EA8DF-A0AC-4CEB-EFDA-558DFF61DF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ED373A-5CBA-9A3E-CA43-2B78B5AF93A6}"/>
              </a:ext>
            </a:extLst>
          </p:cNvPr>
          <p:cNvSpPr>
            <a:spLocks noGrp="1"/>
          </p:cNvSpPr>
          <p:nvPr>
            <p:ph type="title"/>
          </p:nvPr>
        </p:nvSpPr>
        <p:spPr/>
        <p:txBody>
          <a:bodyPr/>
          <a:lstStyle/>
          <a:p>
            <a:r>
              <a:rPr lang="en-US" dirty="0"/>
              <a:t>ESP8266</a:t>
            </a:r>
          </a:p>
        </p:txBody>
      </p:sp>
      <p:sp>
        <p:nvSpPr>
          <p:cNvPr id="4" name="AutoShape 2" descr="ماژول sim800l (سیم کارت) اورجینال">
            <a:extLst>
              <a:ext uri="{FF2B5EF4-FFF2-40B4-BE49-F238E27FC236}">
                <a16:creationId xmlns:a16="http://schemas.microsoft.com/office/drawing/2014/main" id="{6DD332EC-2EE7-0E48-6BB2-636F1CBC22C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4338" name="Picture 2" descr="Sensors Modules Esp8266 Wifi Module | Sensors Modules">
            <a:extLst>
              <a:ext uri="{FF2B5EF4-FFF2-40B4-BE49-F238E27FC236}">
                <a16:creationId xmlns:a16="http://schemas.microsoft.com/office/drawing/2014/main" id="{C57754CB-9360-6698-38A4-2224A8EA90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0" y="1582737"/>
            <a:ext cx="6667500" cy="5000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669652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D6159-2779-281C-F1E4-07DE15D0D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7BC95-76FD-1F0C-5944-5E2E38CE9063}"/>
              </a:ext>
            </a:extLst>
          </p:cNvPr>
          <p:cNvSpPr>
            <a:spLocks noGrp="1"/>
          </p:cNvSpPr>
          <p:nvPr>
            <p:ph type="title"/>
          </p:nvPr>
        </p:nvSpPr>
        <p:spPr/>
        <p:txBody>
          <a:bodyPr/>
          <a:lstStyle/>
          <a:p>
            <a:r>
              <a:rPr lang="en-US" dirty="0"/>
              <a:t>ESP32</a:t>
            </a:r>
          </a:p>
        </p:txBody>
      </p:sp>
      <p:sp>
        <p:nvSpPr>
          <p:cNvPr id="4" name="AutoShape 2" descr="ماژول sim800l (سیم کارت) اورجینال">
            <a:extLst>
              <a:ext uri="{FF2B5EF4-FFF2-40B4-BE49-F238E27FC236}">
                <a16:creationId xmlns:a16="http://schemas.microsoft.com/office/drawing/2014/main" id="{5CB17DA2-B658-3378-4D77-B0875E560902}"/>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362" name="Picture 2" descr="ESP32 WROOM 32U Wireless IOT Module 16M 128Mbit Wifi, Flash, Bluetooth -  OTRONIC">
            <a:extLst>
              <a:ext uri="{FF2B5EF4-FFF2-40B4-BE49-F238E27FC236}">
                <a16:creationId xmlns:a16="http://schemas.microsoft.com/office/drawing/2014/main" id="{7847F53C-E6D0-E6AF-09EF-47C072EF9F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4218" y="1714951"/>
            <a:ext cx="4955564" cy="4595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007257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9B445-FFE2-30E0-9C64-9EF15852BE68}"/>
              </a:ext>
            </a:extLst>
          </p:cNvPr>
          <p:cNvSpPr>
            <a:spLocks noGrp="1"/>
          </p:cNvSpPr>
          <p:nvPr>
            <p:ph type="title"/>
          </p:nvPr>
        </p:nvSpPr>
        <p:spPr/>
        <p:txBody>
          <a:bodyPr/>
          <a:lstStyle/>
          <a:p>
            <a:r>
              <a:rPr lang="en-US" dirty="0"/>
              <a:t>HLK-RM04</a:t>
            </a:r>
          </a:p>
        </p:txBody>
      </p:sp>
      <p:pic>
        <p:nvPicPr>
          <p:cNvPr id="1026" name="Picture 2">
            <a:extLst>
              <a:ext uri="{FF2B5EF4-FFF2-40B4-BE49-F238E27FC236}">
                <a16:creationId xmlns:a16="http://schemas.microsoft.com/office/drawing/2014/main" id="{D29E2FA0-934A-C7E1-3A98-4137DBD956C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620724"/>
            <a:ext cx="8229600" cy="44849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395859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7B819-0822-998D-B035-178A89894617}"/>
              </a:ext>
            </a:extLst>
          </p:cNvPr>
          <p:cNvSpPr>
            <a:spLocks noGrp="1"/>
          </p:cNvSpPr>
          <p:nvPr>
            <p:ph type="title"/>
          </p:nvPr>
        </p:nvSpPr>
        <p:spPr/>
        <p:txBody>
          <a:bodyPr/>
          <a:lstStyle/>
          <a:p>
            <a:r>
              <a:rPr lang="en-US" dirty="0"/>
              <a:t>LAN8720</a:t>
            </a:r>
          </a:p>
        </p:txBody>
      </p:sp>
      <p:pic>
        <p:nvPicPr>
          <p:cNvPr id="16386" name="Picture 2" descr="LAN8720 ETH Board - فروشگاه پاژ الکترونیک">
            <a:extLst>
              <a:ext uri="{FF2B5EF4-FFF2-40B4-BE49-F238E27FC236}">
                <a16:creationId xmlns:a16="http://schemas.microsoft.com/office/drawing/2014/main" id="{A80A8867-9499-7A1D-CEEA-00BC398364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0662" y="2842724"/>
            <a:ext cx="6162675" cy="2657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756371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8BC543C-BBB8-580E-1DBA-A1D0D679970F}"/>
              </a:ext>
            </a:extLst>
          </p:cNvPr>
          <p:cNvPicPr>
            <a:picLocks noChangeAspect="1"/>
          </p:cNvPicPr>
          <p:nvPr/>
        </p:nvPicPr>
        <p:blipFill>
          <a:blip r:embed="rId2"/>
          <a:stretch>
            <a:fillRect/>
          </a:stretch>
        </p:blipFill>
        <p:spPr>
          <a:xfrm>
            <a:off x="457199" y="1880699"/>
            <a:ext cx="8170985" cy="4534448"/>
          </a:xfrm>
          <a:prstGeom prst="rect">
            <a:avLst/>
          </a:prstGeom>
        </p:spPr>
      </p:pic>
    </p:spTree>
    <p:extLst>
      <p:ext uri="{BB962C8B-B14F-4D97-AF65-F5344CB8AC3E}">
        <p14:creationId xmlns:p14="http://schemas.microsoft.com/office/powerpoint/2010/main" val="280655749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6791551-2228-CFF7-89C9-3CBFBA144DEB}"/>
              </a:ext>
            </a:extLst>
          </p:cNvPr>
          <p:cNvPicPr>
            <a:picLocks noGrp="1" noChangeAspect="1"/>
          </p:cNvPicPr>
          <p:nvPr>
            <p:ph idx="1"/>
          </p:nvPr>
        </p:nvPicPr>
        <p:blipFill>
          <a:blip r:embed="rId2"/>
          <a:stretch>
            <a:fillRect/>
          </a:stretch>
        </p:blipFill>
        <p:spPr>
          <a:xfrm>
            <a:off x="559795" y="1600200"/>
            <a:ext cx="8024409" cy="4525963"/>
          </a:xfrm>
          <a:prstGeom prst="rect">
            <a:avLst/>
          </a:prstGeom>
        </p:spPr>
      </p:pic>
    </p:spTree>
    <p:extLst>
      <p:ext uri="{BB962C8B-B14F-4D97-AF65-F5344CB8AC3E}">
        <p14:creationId xmlns:p14="http://schemas.microsoft.com/office/powerpoint/2010/main" val="385048104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53C31-BD4D-80E3-62CF-DA98A07BAAC6}"/>
              </a:ext>
            </a:extLst>
          </p:cNvPr>
          <p:cNvSpPr>
            <a:spLocks noGrp="1"/>
          </p:cNvSpPr>
          <p:nvPr>
            <p:ph type="title"/>
          </p:nvPr>
        </p:nvSpPr>
        <p:spPr/>
        <p:txBody>
          <a:bodyPr/>
          <a:lstStyle/>
          <a:p>
            <a:r>
              <a:rPr lang="en-US" dirty="0"/>
              <a:t>RMII</a:t>
            </a:r>
          </a:p>
        </p:txBody>
      </p:sp>
      <p:sp>
        <p:nvSpPr>
          <p:cNvPr id="3" name="Content Placeholder 2">
            <a:extLst>
              <a:ext uri="{FF2B5EF4-FFF2-40B4-BE49-F238E27FC236}">
                <a16:creationId xmlns:a16="http://schemas.microsoft.com/office/drawing/2014/main" id="{76FAFC12-3550-07B7-69EF-F6C640A2BFA9}"/>
              </a:ext>
            </a:extLst>
          </p:cNvPr>
          <p:cNvSpPr>
            <a:spLocks noGrp="1"/>
          </p:cNvSpPr>
          <p:nvPr>
            <p:ph idx="1"/>
          </p:nvPr>
        </p:nvSpPr>
        <p:spPr>
          <a:xfrm>
            <a:off x="457200" y="3396883"/>
            <a:ext cx="8229600" cy="3461117"/>
          </a:xfrm>
        </p:spPr>
        <p:txBody>
          <a:bodyPr>
            <a:normAutofit fontScale="70000" lnSpcReduction="20000"/>
          </a:bodyPr>
          <a:lstStyle/>
          <a:p>
            <a:r>
              <a:rPr lang="en-US" dirty="0"/>
              <a:t>The RMII interface requires nine pins:</a:t>
            </a:r>
          </a:p>
          <a:p>
            <a:r>
              <a:rPr lang="en-US" dirty="0"/>
              <a:t>2 pins for </a:t>
            </a:r>
            <a:r>
              <a:rPr lang="en-US" dirty="0" err="1"/>
              <a:t>for</a:t>
            </a:r>
            <a:r>
              <a:rPr lang="en-US" dirty="0"/>
              <a:t> data transmission: </a:t>
            </a:r>
            <a:r>
              <a:rPr lang="en-US" b="1" dirty="0"/>
              <a:t>TXD0</a:t>
            </a:r>
            <a:r>
              <a:rPr lang="en-US" dirty="0"/>
              <a:t> and </a:t>
            </a:r>
            <a:r>
              <a:rPr lang="en-US" b="1" dirty="0"/>
              <a:t>TXD1</a:t>
            </a:r>
            <a:r>
              <a:rPr lang="en-US" dirty="0"/>
              <a:t>, MAC -&gt; PHY</a:t>
            </a:r>
          </a:p>
          <a:p>
            <a:r>
              <a:rPr lang="en-US" dirty="0"/>
              <a:t>2 pins for </a:t>
            </a:r>
            <a:r>
              <a:rPr lang="en-US" dirty="0" err="1"/>
              <a:t>for</a:t>
            </a:r>
            <a:r>
              <a:rPr lang="en-US" dirty="0"/>
              <a:t> data reception: </a:t>
            </a:r>
            <a:r>
              <a:rPr lang="en-US" b="1" dirty="0"/>
              <a:t>RXD0</a:t>
            </a:r>
            <a:r>
              <a:rPr lang="en-US" dirty="0"/>
              <a:t> and </a:t>
            </a:r>
            <a:r>
              <a:rPr lang="en-US" b="1" dirty="0"/>
              <a:t>RXD1</a:t>
            </a:r>
            <a:r>
              <a:rPr lang="en-US" dirty="0"/>
              <a:t>, PHY -&gt; MAC</a:t>
            </a:r>
          </a:p>
          <a:p>
            <a:r>
              <a:rPr lang="en-US" dirty="0"/>
              <a:t>1 pin for transmit enable, </a:t>
            </a:r>
            <a:r>
              <a:rPr lang="en-US" b="1" dirty="0"/>
              <a:t>TX_EN</a:t>
            </a:r>
            <a:r>
              <a:rPr lang="en-US" dirty="0"/>
              <a:t>, MAC -&gt; PHY</a:t>
            </a:r>
          </a:p>
          <a:p>
            <a:r>
              <a:rPr lang="en-US" dirty="0"/>
              <a:t>1 pin </a:t>
            </a:r>
            <a:r>
              <a:rPr lang="en-US" b="1" dirty="0"/>
              <a:t>CRS_DV</a:t>
            </a:r>
            <a:r>
              <a:rPr lang="en-US" dirty="0"/>
              <a:t> for carrier sense / receive data valid, PHY -&gt; MAC</a:t>
            </a:r>
          </a:p>
          <a:p>
            <a:r>
              <a:rPr lang="en-US" dirty="0"/>
              <a:t>1 pin for PHY management register access, </a:t>
            </a:r>
            <a:r>
              <a:rPr lang="en-US" b="1" dirty="0"/>
              <a:t>MDIO</a:t>
            </a:r>
            <a:r>
              <a:rPr lang="en-US" dirty="0"/>
              <a:t>, bidirectional</a:t>
            </a:r>
          </a:p>
          <a:p>
            <a:r>
              <a:rPr lang="en-US" dirty="0"/>
              <a:t>1 pin for PHY management clock, </a:t>
            </a:r>
            <a:r>
              <a:rPr lang="en-US" b="1" dirty="0"/>
              <a:t>MDC</a:t>
            </a:r>
            <a:endParaRPr lang="en-US" dirty="0"/>
          </a:p>
          <a:p>
            <a:r>
              <a:rPr lang="en-US" dirty="0"/>
              <a:t>1 pin for 50Mhz reference clock</a:t>
            </a:r>
          </a:p>
          <a:p>
            <a:endParaRPr lang="en-US" dirty="0"/>
          </a:p>
        </p:txBody>
      </p:sp>
      <p:pic>
        <p:nvPicPr>
          <p:cNvPr id="5" name="Content Placeholder 4">
            <a:extLst>
              <a:ext uri="{FF2B5EF4-FFF2-40B4-BE49-F238E27FC236}">
                <a16:creationId xmlns:a16="http://schemas.microsoft.com/office/drawing/2014/main" id="{0303BB02-86E0-A39C-A147-ABD90FB6D879}"/>
              </a:ext>
            </a:extLst>
          </p:cNvPr>
          <p:cNvPicPr>
            <a:picLocks noChangeAspect="1"/>
          </p:cNvPicPr>
          <p:nvPr/>
        </p:nvPicPr>
        <p:blipFill>
          <a:blip r:embed="rId2"/>
          <a:srcRect l="25594" r="28633" b="63080"/>
          <a:stretch>
            <a:fillRect/>
          </a:stretch>
        </p:blipFill>
        <p:spPr>
          <a:xfrm>
            <a:off x="2688492" y="1417638"/>
            <a:ext cx="3767015" cy="1595003"/>
          </a:xfrm>
          <a:prstGeom prst="rect">
            <a:avLst/>
          </a:prstGeom>
        </p:spPr>
      </p:pic>
    </p:spTree>
    <p:extLst>
      <p:ext uri="{BB962C8B-B14F-4D97-AF65-F5344CB8AC3E}">
        <p14:creationId xmlns:p14="http://schemas.microsoft.com/office/powerpoint/2010/main" val="155033174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6A298-6A9C-4778-A30D-C89CB00070C9}"/>
              </a:ext>
            </a:extLst>
          </p:cNvPr>
          <p:cNvSpPr>
            <a:spLocks noGrp="1"/>
          </p:cNvSpPr>
          <p:nvPr>
            <p:ph type="title"/>
          </p:nvPr>
        </p:nvSpPr>
        <p:spPr/>
        <p:txBody>
          <a:bodyPr/>
          <a:lstStyle/>
          <a:p>
            <a:pPr rtl="1"/>
            <a:r>
              <a:rPr lang="en-US" dirty="0"/>
              <a:t>RMII / MII</a:t>
            </a:r>
          </a:p>
        </p:txBody>
      </p:sp>
      <p:pic>
        <p:nvPicPr>
          <p:cNvPr id="5" name="Content Placeholder 4">
            <a:extLst>
              <a:ext uri="{FF2B5EF4-FFF2-40B4-BE49-F238E27FC236}">
                <a16:creationId xmlns:a16="http://schemas.microsoft.com/office/drawing/2014/main" id="{D97FB2F5-E3D0-DEA6-26C4-E940CB00D850}"/>
              </a:ext>
            </a:extLst>
          </p:cNvPr>
          <p:cNvPicPr>
            <a:picLocks noGrp="1" noChangeAspect="1"/>
          </p:cNvPicPr>
          <p:nvPr>
            <p:ph idx="1"/>
          </p:nvPr>
        </p:nvPicPr>
        <p:blipFill>
          <a:blip r:embed="rId2"/>
          <a:stretch>
            <a:fillRect/>
          </a:stretch>
        </p:blipFill>
        <p:spPr>
          <a:xfrm>
            <a:off x="457200" y="2081883"/>
            <a:ext cx="8229600" cy="3562597"/>
          </a:xfrm>
          <a:prstGeom prst="rect">
            <a:avLst/>
          </a:prstGeom>
        </p:spPr>
      </p:pic>
    </p:spTree>
    <p:extLst>
      <p:ext uri="{BB962C8B-B14F-4D97-AF65-F5344CB8AC3E}">
        <p14:creationId xmlns:p14="http://schemas.microsoft.com/office/powerpoint/2010/main" val="280903126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A8ADA-AF4F-1E6A-9648-C8F5070072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34B5657-72BB-66CB-9F3F-1C09F7CC32C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8AD8B88-CE86-210F-AE9F-00686A8446B1}"/>
              </a:ext>
            </a:extLst>
          </p:cNvPr>
          <p:cNvPicPr>
            <a:picLocks noChangeAspect="1"/>
          </p:cNvPicPr>
          <p:nvPr/>
        </p:nvPicPr>
        <p:blipFill>
          <a:blip r:embed="rId2"/>
          <a:stretch>
            <a:fillRect/>
          </a:stretch>
        </p:blipFill>
        <p:spPr>
          <a:xfrm>
            <a:off x="18414" y="442495"/>
            <a:ext cx="9107171" cy="5973009"/>
          </a:xfrm>
          <a:prstGeom prst="rect">
            <a:avLst/>
          </a:prstGeom>
        </p:spPr>
      </p:pic>
    </p:spTree>
    <p:extLst>
      <p:ext uri="{BB962C8B-B14F-4D97-AF65-F5344CB8AC3E}">
        <p14:creationId xmlns:p14="http://schemas.microsoft.com/office/powerpoint/2010/main" val="4283258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F23C8-8C64-E8A1-DD58-0C04BBCCA40E}"/>
              </a:ext>
            </a:extLst>
          </p:cNvPr>
          <p:cNvSpPr>
            <a:spLocks noGrp="1"/>
          </p:cNvSpPr>
          <p:nvPr>
            <p:ph type="title"/>
          </p:nvPr>
        </p:nvSpPr>
        <p:spPr/>
        <p:txBody>
          <a:bodyPr/>
          <a:lstStyle/>
          <a:p>
            <a:r>
              <a:rPr lang="en-US" dirty="0"/>
              <a:t>STM32CubeMX</a:t>
            </a:r>
          </a:p>
        </p:txBody>
      </p:sp>
      <p:pic>
        <p:nvPicPr>
          <p:cNvPr id="10" name="Content Placeholder 9">
            <a:extLst>
              <a:ext uri="{FF2B5EF4-FFF2-40B4-BE49-F238E27FC236}">
                <a16:creationId xmlns:a16="http://schemas.microsoft.com/office/drawing/2014/main" id="{BBE24085-6157-F80E-75A1-5D8E9E0FB379}"/>
              </a:ext>
            </a:extLst>
          </p:cNvPr>
          <p:cNvPicPr>
            <a:picLocks noGrp="1" noChangeAspect="1"/>
          </p:cNvPicPr>
          <p:nvPr>
            <p:ph idx="1"/>
          </p:nvPr>
        </p:nvPicPr>
        <p:blipFill>
          <a:blip r:embed="rId2"/>
          <a:stretch>
            <a:fillRect/>
          </a:stretch>
        </p:blipFill>
        <p:spPr bwMode="auto">
          <a:xfrm>
            <a:off x="556566" y="1600200"/>
            <a:ext cx="8030868"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606662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6CB064C-CCD9-F9F5-889F-2CC3E3C50F20}"/>
              </a:ext>
            </a:extLst>
          </p:cNvPr>
          <p:cNvPicPr>
            <a:picLocks noChangeAspect="1"/>
          </p:cNvPicPr>
          <p:nvPr/>
        </p:nvPicPr>
        <p:blipFill>
          <a:blip r:embed="rId2"/>
          <a:stretch>
            <a:fillRect/>
          </a:stretch>
        </p:blipFill>
        <p:spPr>
          <a:xfrm>
            <a:off x="417008" y="1727130"/>
            <a:ext cx="8610029" cy="2899578"/>
          </a:xfrm>
          <a:prstGeom prst="rect">
            <a:avLst/>
          </a:prstGeom>
        </p:spPr>
      </p:pic>
    </p:spTree>
    <p:extLst>
      <p:ext uri="{BB962C8B-B14F-4D97-AF65-F5344CB8AC3E}">
        <p14:creationId xmlns:p14="http://schemas.microsoft.com/office/powerpoint/2010/main" val="312660630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EAB4EF-A78C-F600-A305-AE1C0C9FEFF2}"/>
              </a:ext>
            </a:extLst>
          </p:cNvPr>
          <p:cNvSpPr>
            <a:spLocks noGrp="1"/>
          </p:cNvSpPr>
          <p:nvPr>
            <p:ph idx="1"/>
          </p:nvPr>
        </p:nvSpPr>
        <p:spPr>
          <a:xfrm>
            <a:off x="493059" y="3710755"/>
            <a:ext cx="8157882" cy="2822152"/>
          </a:xfrm>
        </p:spPr>
        <p:txBody>
          <a:bodyPr>
            <a:normAutofit fontScale="62500" lnSpcReduction="20000"/>
          </a:bodyPr>
          <a:lstStyle/>
          <a:p>
            <a:r>
              <a:rPr lang="en-US" b="1" dirty="0"/>
              <a:t>Driver layer</a:t>
            </a:r>
            <a:r>
              <a:rPr lang="en-US" dirty="0"/>
              <a:t> - Initializes the controller, transmits and receives frames by communicating with the MAC controller, and monitors link status.</a:t>
            </a:r>
          </a:p>
          <a:p>
            <a:r>
              <a:rPr lang="en-US" b="1" dirty="0"/>
              <a:t>TCP/IP stack</a:t>
            </a:r>
            <a:r>
              <a:rPr lang="en-US" dirty="0"/>
              <a:t> - Constructs outgoing frames and parses incoming frames, recognizing ARP, IP, ICMP, TCP, and UDP protocols.</a:t>
            </a:r>
          </a:p>
          <a:p>
            <a:r>
              <a:rPr lang="en-US" b="1" dirty="0"/>
              <a:t>TLS stack</a:t>
            </a:r>
            <a:r>
              <a:rPr lang="en-US" dirty="0"/>
              <a:t> - Optional; used only when secure communication is required.</a:t>
            </a:r>
          </a:p>
          <a:p>
            <a:r>
              <a:rPr lang="en-US" b="1" dirty="0"/>
              <a:t>Library layer</a:t>
            </a:r>
            <a:r>
              <a:rPr lang="en-US" dirty="0"/>
              <a:t> - Includes HTTP and MQTT libraries; parses incoming HTTP/MQTT data and constructs outgoing HTTP/MQTT data.</a:t>
            </a:r>
          </a:p>
          <a:p>
            <a:r>
              <a:rPr lang="en-US" b="1" dirty="0"/>
              <a:t>User application</a:t>
            </a:r>
            <a:r>
              <a:rPr lang="en-US" dirty="0"/>
              <a:t> - Uses the HTTP, MQTT, and other library APIs to implement web UIs, cloud connectivity, custom protocols, and more.</a:t>
            </a:r>
          </a:p>
          <a:p>
            <a:endParaRPr lang="en-US" dirty="0"/>
          </a:p>
        </p:txBody>
      </p:sp>
      <p:pic>
        <p:nvPicPr>
          <p:cNvPr id="6" name="Picture 5">
            <a:extLst>
              <a:ext uri="{FF2B5EF4-FFF2-40B4-BE49-F238E27FC236}">
                <a16:creationId xmlns:a16="http://schemas.microsoft.com/office/drawing/2014/main" id="{F6B60700-DB75-06FB-50EB-73DA5F0F07DE}"/>
              </a:ext>
            </a:extLst>
          </p:cNvPr>
          <p:cNvPicPr>
            <a:picLocks noChangeAspect="1"/>
          </p:cNvPicPr>
          <p:nvPr/>
        </p:nvPicPr>
        <p:blipFill>
          <a:blip r:embed="rId2"/>
          <a:stretch>
            <a:fillRect/>
          </a:stretch>
        </p:blipFill>
        <p:spPr>
          <a:xfrm>
            <a:off x="1176870" y="435251"/>
            <a:ext cx="6668431" cy="3029373"/>
          </a:xfrm>
          <a:prstGeom prst="rect">
            <a:avLst/>
          </a:prstGeom>
        </p:spPr>
      </p:pic>
    </p:spTree>
    <p:extLst>
      <p:ext uri="{BB962C8B-B14F-4D97-AF65-F5344CB8AC3E}">
        <p14:creationId xmlns:p14="http://schemas.microsoft.com/office/powerpoint/2010/main" val="63704342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B82DA315-A78D-0CA5-88E0-155C185E6F47}"/>
              </a:ext>
            </a:extLst>
          </p:cNvPr>
          <p:cNvGraphicFramePr>
            <a:graphicFrameLocks noGrp="1"/>
          </p:cNvGraphicFramePr>
          <p:nvPr>
            <p:ph idx="1"/>
            <p:extLst>
              <p:ext uri="{D42A27DB-BD31-4B8C-83A1-F6EECF244321}">
                <p14:modId xmlns:p14="http://schemas.microsoft.com/office/powerpoint/2010/main" val="1246652981"/>
              </p:ext>
            </p:extLst>
          </p:nvPr>
        </p:nvGraphicFramePr>
        <p:xfrm>
          <a:off x="457200" y="2125821"/>
          <a:ext cx="8229600" cy="3474720"/>
        </p:xfrm>
        <a:graphic>
          <a:graphicData uri="http://schemas.openxmlformats.org/drawingml/2006/table">
            <a:tbl>
              <a:tblPr>
                <a:tableStyleId>{35758FB7-9AC5-4552-8A53-C91805E547FA}</a:tableStyleId>
              </a:tblPr>
              <a:tblGrid>
                <a:gridCol w="1348154">
                  <a:extLst>
                    <a:ext uri="{9D8B030D-6E8A-4147-A177-3AD203B41FA5}">
                      <a16:colId xmlns:a16="http://schemas.microsoft.com/office/drawing/2014/main" val="481915165"/>
                    </a:ext>
                  </a:extLst>
                </a:gridCol>
                <a:gridCol w="1943686">
                  <a:extLst>
                    <a:ext uri="{9D8B030D-6E8A-4147-A177-3AD203B41FA5}">
                      <a16:colId xmlns:a16="http://schemas.microsoft.com/office/drawing/2014/main" val="1673229046"/>
                    </a:ext>
                  </a:extLst>
                </a:gridCol>
                <a:gridCol w="1645920">
                  <a:extLst>
                    <a:ext uri="{9D8B030D-6E8A-4147-A177-3AD203B41FA5}">
                      <a16:colId xmlns:a16="http://schemas.microsoft.com/office/drawing/2014/main" val="3465447675"/>
                    </a:ext>
                  </a:extLst>
                </a:gridCol>
                <a:gridCol w="1645920">
                  <a:extLst>
                    <a:ext uri="{9D8B030D-6E8A-4147-A177-3AD203B41FA5}">
                      <a16:colId xmlns:a16="http://schemas.microsoft.com/office/drawing/2014/main" val="4135010267"/>
                    </a:ext>
                  </a:extLst>
                </a:gridCol>
                <a:gridCol w="1645920">
                  <a:extLst>
                    <a:ext uri="{9D8B030D-6E8A-4147-A177-3AD203B41FA5}">
                      <a16:colId xmlns:a16="http://schemas.microsoft.com/office/drawing/2014/main" val="1527899067"/>
                    </a:ext>
                  </a:extLst>
                </a:gridCol>
              </a:tblGrid>
              <a:tr h="0">
                <a:tc>
                  <a:txBody>
                    <a:bodyPr/>
                    <a:lstStyle/>
                    <a:p>
                      <a:pPr algn="l">
                        <a:buNone/>
                      </a:pPr>
                      <a:endParaRPr lang="en-US">
                        <a:effectLst/>
                      </a:endParaRPr>
                    </a:p>
                  </a:txBody>
                  <a:tcPr anchor="ctr"/>
                </a:tc>
                <a:tc>
                  <a:txBody>
                    <a:bodyPr/>
                    <a:lstStyle/>
                    <a:p>
                      <a:pPr algn="l">
                        <a:buNone/>
                      </a:pPr>
                      <a:r>
                        <a:rPr lang="en-US">
                          <a:effectLst/>
                        </a:rPr>
                        <a:t>Cube</a:t>
                      </a:r>
                    </a:p>
                  </a:txBody>
                  <a:tcPr anchor="ctr"/>
                </a:tc>
                <a:tc>
                  <a:txBody>
                    <a:bodyPr/>
                    <a:lstStyle/>
                    <a:p>
                      <a:pPr algn="l">
                        <a:buNone/>
                      </a:pPr>
                      <a:r>
                        <a:rPr lang="en-US">
                          <a:effectLst/>
                        </a:rPr>
                        <a:t>ThreadX</a:t>
                      </a:r>
                    </a:p>
                  </a:txBody>
                  <a:tcPr anchor="ctr"/>
                </a:tc>
                <a:tc>
                  <a:txBody>
                    <a:bodyPr/>
                    <a:lstStyle/>
                    <a:p>
                      <a:pPr algn="l">
                        <a:buNone/>
                      </a:pPr>
                      <a:r>
                        <a:rPr lang="en-US">
                          <a:effectLst/>
                        </a:rPr>
                        <a:t>Zephyr</a:t>
                      </a:r>
                    </a:p>
                  </a:txBody>
                  <a:tcPr anchor="ctr"/>
                </a:tc>
                <a:tc>
                  <a:txBody>
                    <a:bodyPr/>
                    <a:lstStyle/>
                    <a:p>
                      <a:pPr algn="l">
                        <a:buNone/>
                      </a:pPr>
                      <a:r>
                        <a:rPr lang="en-US">
                          <a:effectLst/>
                        </a:rPr>
                        <a:t>Mongoose</a:t>
                      </a:r>
                    </a:p>
                  </a:txBody>
                  <a:tcPr anchor="ctr"/>
                </a:tc>
                <a:extLst>
                  <a:ext uri="{0D108BD9-81ED-4DB2-BD59-A6C34878D82A}">
                    <a16:rowId xmlns:a16="http://schemas.microsoft.com/office/drawing/2014/main" val="2595768470"/>
                  </a:ext>
                </a:extLst>
              </a:tr>
              <a:tr h="0">
                <a:tc>
                  <a:txBody>
                    <a:bodyPr/>
                    <a:lstStyle/>
                    <a:p>
                      <a:pPr>
                        <a:buNone/>
                      </a:pPr>
                      <a:r>
                        <a:rPr lang="en-US" dirty="0">
                          <a:effectLst/>
                        </a:rPr>
                        <a:t>Driver</a:t>
                      </a:r>
                    </a:p>
                  </a:txBody>
                  <a:tcPr anchor="ctr"/>
                </a:tc>
                <a:tc>
                  <a:txBody>
                    <a:bodyPr/>
                    <a:lstStyle/>
                    <a:p>
                      <a:pPr>
                        <a:buNone/>
                      </a:pPr>
                      <a:r>
                        <a:rPr lang="en-US" u="none" strike="noStrike" dirty="0">
                          <a:solidFill>
                            <a:srgbClr val="0D6EFD"/>
                          </a:solidFill>
                          <a:effectLst/>
                        </a:rPr>
                        <a:t>stm32h7xx_hal_eth.c</a:t>
                      </a:r>
                      <a:r>
                        <a:rPr lang="en-US" dirty="0">
                          <a:effectLst/>
                        </a:rPr>
                        <a:t> 3.3k LoC Cube HAL driver. Plugin API via weak functions</a:t>
                      </a:r>
                    </a:p>
                  </a:txBody>
                  <a:tcPr anchor="ctr"/>
                </a:tc>
                <a:tc>
                  <a:txBody>
                    <a:bodyPr/>
                    <a:lstStyle/>
                    <a:p>
                      <a:pPr>
                        <a:buNone/>
                      </a:pPr>
                      <a:r>
                        <a:rPr lang="en-US" u="none" strike="noStrike" dirty="0">
                          <a:solidFill>
                            <a:srgbClr val="0D6EFD"/>
                          </a:solidFill>
                          <a:effectLst/>
                        </a:rPr>
                        <a:t>nx_stm32_eth_driver.c</a:t>
                      </a:r>
                      <a:r>
                        <a:rPr lang="en-US" dirty="0">
                          <a:effectLst/>
                        </a:rPr>
                        <a:t> 2.8k LoC driver that sits on top of the Cube HAL driver.</a:t>
                      </a:r>
                    </a:p>
                  </a:txBody>
                  <a:tcPr anchor="ctr"/>
                </a:tc>
                <a:tc>
                  <a:txBody>
                    <a:bodyPr/>
                    <a:lstStyle/>
                    <a:p>
                      <a:pPr>
                        <a:buNone/>
                      </a:pPr>
                      <a:r>
                        <a:rPr lang="en-US" u="none" strike="noStrike" dirty="0">
                          <a:solidFill>
                            <a:srgbClr val="0D6EFD"/>
                          </a:solidFill>
                          <a:effectLst/>
                        </a:rPr>
                        <a:t>eth_stm32_hal_v2.c</a:t>
                      </a:r>
                      <a:r>
                        <a:rPr lang="en-US" dirty="0">
                          <a:effectLst/>
                        </a:rPr>
                        <a:t> ~700 LoC, sits on top of the Cube HAL driver</a:t>
                      </a:r>
                    </a:p>
                  </a:txBody>
                  <a:tcPr anchor="ctr"/>
                </a:tc>
                <a:tc>
                  <a:txBody>
                    <a:bodyPr/>
                    <a:lstStyle/>
                    <a:p>
                      <a:pPr>
                        <a:buNone/>
                      </a:pPr>
                      <a:r>
                        <a:rPr lang="en-US" u="none" strike="noStrike" dirty="0">
                          <a:solidFill>
                            <a:srgbClr val="0D6EFD"/>
                          </a:solidFill>
                          <a:effectLst/>
                        </a:rPr>
                        <a:t>stm32h.c</a:t>
                      </a:r>
                      <a:r>
                        <a:rPr lang="en-US" dirty="0">
                          <a:effectLst/>
                        </a:rPr>
                        <a:t> 250 LoC, completely independent</a:t>
                      </a:r>
                    </a:p>
                  </a:txBody>
                  <a:tcPr anchor="ctr"/>
                </a:tc>
                <a:extLst>
                  <a:ext uri="{0D108BD9-81ED-4DB2-BD59-A6C34878D82A}">
                    <a16:rowId xmlns:a16="http://schemas.microsoft.com/office/drawing/2014/main" val="347979148"/>
                  </a:ext>
                </a:extLst>
              </a:tr>
              <a:tr h="0">
                <a:tc>
                  <a:txBody>
                    <a:bodyPr/>
                    <a:lstStyle/>
                    <a:p>
                      <a:pPr>
                        <a:buNone/>
                      </a:pPr>
                      <a:r>
                        <a:rPr lang="en-US">
                          <a:effectLst/>
                        </a:rPr>
                        <a:t>TCP/IP stack</a:t>
                      </a:r>
                    </a:p>
                  </a:txBody>
                  <a:tcPr anchor="ctr"/>
                </a:tc>
                <a:tc>
                  <a:txBody>
                    <a:bodyPr/>
                    <a:lstStyle/>
                    <a:p>
                      <a:pPr>
                        <a:buNone/>
                      </a:pPr>
                      <a:r>
                        <a:rPr lang="en-US">
                          <a:effectLst/>
                        </a:rPr>
                        <a:t>LwIP</a:t>
                      </a:r>
                    </a:p>
                  </a:txBody>
                  <a:tcPr anchor="ctr"/>
                </a:tc>
                <a:tc>
                  <a:txBody>
                    <a:bodyPr/>
                    <a:lstStyle/>
                    <a:p>
                      <a:pPr>
                        <a:buNone/>
                      </a:pPr>
                      <a:r>
                        <a:rPr lang="en-US">
                          <a:effectLst/>
                        </a:rPr>
                        <a:t>built-in</a:t>
                      </a:r>
                    </a:p>
                  </a:txBody>
                  <a:tcPr anchor="ctr"/>
                </a:tc>
                <a:tc>
                  <a:txBody>
                    <a:bodyPr/>
                    <a:lstStyle/>
                    <a:p>
                      <a:pPr>
                        <a:buNone/>
                      </a:pPr>
                      <a:r>
                        <a:rPr lang="en-US">
                          <a:effectLst/>
                        </a:rPr>
                        <a:t>built-in</a:t>
                      </a:r>
                    </a:p>
                  </a:txBody>
                  <a:tcPr anchor="ctr"/>
                </a:tc>
                <a:tc>
                  <a:txBody>
                    <a:bodyPr/>
                    <a:lstStyle/>
                    <a:p>
                      <a:pPr>
                        <a:buNone/>
                      </a:pPr>
                      <a:r>
                        <a:rPr lang="en-US">
                          <a:effectLst/>
                        </a:rPr>
                        <a:t>built-in</a:t>
                      </a:r>
                    </a:p>
                  </a:txBody>
                  <a:tcPr anchor="ctr"/>
                </a:tc>
                <a:extLst>
                  <a:ext uri="{0D108BD9-81ED-4DB2-BD59-A6C34878D82A}">
                    <a16:rowId xmlns:a16="http://schemas.microsoft.com/office/drawing/2014/main" val="1595575561"/>
                  </a:ext>
                </a:extLst>
              </a:tr>
              <a:tr h="0">
                <a:tc>
                  <a:txBody>
                    <a:bodyPr/>
                    <a:lstStyle/>
                    <a:p>
                      <a:pPr>
                        <a:buNone/>
                      </a:pPr>
                      <a:r>
                        <a:rPr lang="en-US">
                          <a:effectLst/>
                        </a:rPr>
                        <a:t>TLS stack</a:t>
                      </a:r>
                    </a:p>
                  </a:txBody>
                  <a:tcPr anchor="ctr"/>
                </a:tc>
                <a:tc>
                  <a:txBody>
                    <a:bodyPr/>
                    <a:lstStyle/>
                    <a:p>
                      <a:pPr>
                        <a:buNone/>
                      </a:pPr>
                      <a:r>
                        <a:rPr lang="en-US">
                          <a:effectLst/>
                        </a:rPr>
                        <a:t>mbedTLS</a:t>
                      </a:r>
                    </a:p>
                  </a:txBody>
                  <a:tcPr anchor="ctr"/>
                </a:tc>
                <a:tc>
                  <a:txBody>
                    <a:bodyPr/>
                    <a:lstStyle/>
                    <a:p>
                      <a:pPr>
                        <a:buNone/>
                      </a:pPr>
                      <a:r>
                        <a:rPr lang="en-US">
                          <a:effectLst/>
                        </a:rPr>
                        <a:t>mbedTLS</a:t>
                      </a:r>
                    </a:p>
                  </a:txBody>
                  <a:tcPr anchor="ctr"/>
                </a:tc>
                <a:tc>
                  <a:txBody>
                    <a:bodyPr/>
                    <a:lstStyle/>
                    <a:p>
                      <a:pPr>
                        <a:buNone/>
                      </a:pPr>
                      <a:r>
                        <a:rPr lang="en-US">
                          <a:effectLst/>
                        </a:rPr>
                        <a:t>mbedTLS</a:t>
                      </a:r>
                    </a:p>
                  </a:txBody>
                  <a:tcPr anchor="ctr"/>
                </a:tc>
                <a:tc>
                  <a:txBody>
                    <a:bodyPr/>
                    <a:lstStyle/>
                    <a:p>
                      <a:pPr>
                        <a:buNone/>
                      </a:pPr>
                      <a:r>
                        <a:rPr lang="en-US">
                          <a:effectLst/>
                        </a:rPr>
                        <a:t>built-in</a:t>
                      </a:r>
                    </a:p>
                  </a:txBody>
                  <a:tcPr anchor="ctr"/>
                </a:tc>
                <a:extLst>
                  <a:ext uri="{0D108BD9-81ED-4DB2-BD59-A6C34878D82A}">
                    <a16:rowId xmlns:a16="http://schemas.microsoft.com/office/drawing/2014/main" val="4193340877"/>
                  </a:ext>
                </a:extLst>
              </a:tr>
              <a:tr h="0">
                <a:tc>
                  <a:txBody>
                    <a:bodyPr/>
                    <a:lstStyle/>
                    <a:p>
                      <a:pPr>
                        <a:buNone/>
                      </a:pPr>
                      <a:r>
                        <a:rPr lang="en-US">
                          <a:effectLst/>
                        </a:rPr>
                        <a:t>Library</a:t>
                      </a:r>
                    </a:p>
                  </a:txBody>
                  <a:tcPr anchor="ctr"/>
                </a:tc>
                <a:tc>
                  <a:txBody>
                    <a:bodyPr/>
                    <a:lstStyle/>
                    <a:p>
                      <a:pPr>
                        <a:buNone/>
                      </a:pPr>
                      <a:r>
                        <a:rPr lang="en-US">
                          <a:effectLst/>
                        </a:rPr>
                        <a:t>no. ad-hoc example</a:t>
                      </a:r>
                    </a:p>
                  </a:txBody>
                  <a:tcPr anchor="ctr"/>
                </a:tc>
                <a:tc>
                  <a:txBody>
                    <a:bodyPr/>
                    <a:lstStyle/>
                    <a:p>
                      <a:pPr>
                        <a:buNone/>
                      </a:pPr>
                      <a:r>
                        <a:rPr lang="en-US">
                          <a:effectLst/>
                        </a:rPr>
                        <a:t>built-in</a:t>
                      </a:r>
                    </a:p>
                  </a:txBody>
                  <a:tcPr anchor="ctr"/>
                </a:tc>
                <a:tc>
                  <a:txBody>
                    <a:bodyPr/>
                    <a:lstStyle/>
                    <a:p>
                      <a:pPr>
                        <a:buNone/>
                      </a:pPr>
                      <a:r>
                        <a:rPr lang="en-US">
                          <a:effectLst/>
                        </a:rPr>
                        <a:t>built-in</a:t>
                      </a:r>
                    </a:p>
                  </a:txBody>
                  <a:tcPr anchor="ctr"/>
                </a:tc>
                <a:tc>
                  <a:txBody>
                    <a:bodyPr/>
                    <a:lstStyle/>
                    <a:p>
                      <a:pPr>
                        <a:buNone/>
                      </a:pPr>
                      <a:r>
                        <a:rPr lang="en-US" dirty="0">
                          <a:effectLst/>
                        </a:rPr>
                        <a:t>built-in</a:t>
                      </a:r>
                    </a:p>
                  </a:txBody>
                  <a:tcPr anchor="ctr"/>
                </a:tc>
                <a:extLst>
                  <a:ext uri="{0D108BD9-81ED-4DB2-BD59-A6C34878D82A}">
                    <a16:rowId xmlns:a16="http://schemas.microsoft.com/office/drawing/2014/main" val="2768549113"/>
                  </a:ext>
                </a:extLst>
              </a:tr>
            </a:tbl>
          </a:graphicData>
        </a:graphic>
      </p:graphicFrame>
    </p:spTree>
    <p:extLst>
      <p:ext uri="{BB962C8B-B14F-4D97-AF65-F5344CB8AC3E}">
        <p14:creationId xmlns:p14="http://schemas.microsoft.com/office/powerpoint/2010/main" val="151773595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17BE0B68-CB8A-72D0-7F33-A7A13002FEED}"/>
              </a:ext>
            </a:extLst>
          </p:cNvPr>
          <p:cNvGraphicFramePr>
            <a:graphicFrameLocks noGrp="1"/>
          </p:cNvGraphicFramePr>
          <p:nvPr>
            <p:ph idx="1"/>
            <p:extLst>
              <p:ext uri="{D42A27DB-BD31-4B8C-83A1-F6EECF244321}">
                <p14:modId xmlns:p14="http://schemas.microsoft.com/office/powerpoint/2010/main" val="3526938682"/>
              </p:ext>
            </p:extLst>
          </p:nvPr>
        </p:nvGraphicFramePr>
        <p:xfrm>
          <a:off x="457200" y="3705310"/>
          <a:ext cx="8229600" cy="2926080"/>
        </p:xfrm>
        <a:graphic>
          <a:graphicData uri="http://schemas.openxmlformats.org/drawingml/2006/table">
            <a:tbl>
              <a:tblPr>
                <a:tableStyleId>{3C2FFA5D-87B4-456A-9821-1D502468CF0F}</a:tableStyleId>
              </a:tblPr>
              <a:tblGrid>
                <a:gridCol w="2057400">
                  <a:extLst>
                    <a:ext uri="{9D8B030D-6E8A-4147-A177-3AD203B41FA5}">
                      <a16:colId xmlns:a16="http://schemas.microsoft.com/office/drawing/2014/main" val="9345143"/>
                    </a:ext>
                  </a:extLst>
                </a:gridCol>
                <a:gridCol w="2057400">
                  <a:extLst>
                    <a:ext uri="{9D8B030D-6E8A-4147-A177-3AD203B41FA5}">
                      <a16:colId xmlns:a16="http://schemas.microsoft.com/office/drawing/2014/main" val="3501417473"/>
                    </a:ext>
                  </a:extLst>
                </a:gridCol>
                <a:gridCol w="2057400">
                  <a:extLst>
                    <a:ext uri="{9D8B030D-6E8A-4147-A177-3AD203B41FA5}">
                      <a16:colId xmlns:a16="http://schemas.microsoft.com/office/drawing/2014/main" val="200293465"/>
                    </a:ext>
                  </a:extLst>
                </a:gridCol>
                <a:gridCol w="2057400">
                  <a:extLst>
                    <a:ext uri="{9D8B030D-6E8A-4147-A177-3AD203B41FA5}">
                      <a16:colId xmlns:a16="http://schemas.microsoft.com/office/drawing/2014/main" val="4042782328"/>
                    </a:ext>
                  </a:extLst>
                </a:gridCol>
              </a:tblGrid>
              <a:tr h="0">
                <a:tc>
                  <a:txBody>
                    <a:bodyPr/>
                    <a:lstStyle/>
                    <a:p>
                      <a:pPr algn="l">
                        <a:buNone/>
                      </a:pPr>
                      <a:r>
                        <a:rPr lang="en-US" dirty="0">
                          <a:effectLst/>
                        </a:rPr>
                        <a:t>Family</a:t>
                      </a:r>
                    </a:p>
                  </a:txBody>
                  <a:tcPr anchor="ctr"/>
                </a:tc>
                <a:tc>
                  <a:txBody>
                    <a:bodyPr/>
                    <a:lstStyle/>
                    <a:p>
                      <a:pPr algn="l">
                        <a:buNone/>
                      </a:pPr>
                      <a:r>
                        <a:rPr lang="en-US">
                          <a:effectLst/>
                        </a:rPr>
                        <a:t>Interface</a:t>
                      </a:r>
                    </a:p>
                  </a:txBody>
                  <a:tcPr anchor="ctr"/>
                </a:tc>
                <a:tc>
                  <a:txBody>
                    <a:bodyPr/>
                    <a:lstStyle/>
                    <a:p>
                      <a:pPr algn="l">
                        <a:buNone/>
                      </a:pPr>
                      <a:r>
                        <a:rPr lang="en-US">
                          <a:effectLst/>
                        </a:rPr>
                        <a:t>Speed, Mbps</a:t>
                      </a:r>
                    </a:p>
                  </a:txBody>
                  <a:tcPr anchor="ctr"/>
                </a:tc>
                <a:tc>
                  <a:txBody>
                    <a:bodyPr/>
                    <a:lstStyle/>
                    <a:p>
                      <a:pPr algn="l">
                        <a:buNone/>
                      </a:pPr>
                      <a:r>
                        <a:rPr lang="en-US">
                          <a:effectLst/>
                        </a:rPr>
                        <a:t>Example MCU</a:t>
                      </a:r>
                    </a:p>
                  </a:txBody>
                  <a:tcPr anchor="ctr"/>
                </a:tc>
                <a:extLst>
                  <a:ext uri="{0D108BD9-81ED-4DB2-BD59-A6C34878D82A}">
                    <a16:rowId xmlns:a16="http://schemas.microsoft.com/office/drawing/2014/main" val="4292577046"/>
                  </a:ext>
                </a:extLst>
              </a:tr>
              <a:tr h="0">
                <a:tc>
                  <a:txBody>
                    <a:bodyPr/>
                    <a:lstStyle/>
                    <a:p>
                      <a:pPr>
                        <a:buNone/>
                      </a:pPr>
                      <a:r>
                        <a:rPr lang="en-US">
                          <a:effectLst/>
                        </a:rPr>
                        <a:t>STM32F107</a:t>
                      </a:r>
                    </a:p>
                  </a:txBody>
                  <a:tcPr anchor="ctr"/>
                </a:tc>
                <a:tc>
                  <a:txBody>
                    <a:bodyPr/>
                    <a:lstStyle/>
                    <a:p>
                      <a:pPr>
                        <a:buNone/>
                      </a:pPr>
                      <a:r>
                        <a:rPr lang="en-US">
                          <a:effectLst/>
                        </a:rPr>
                        <a:t>MII / RMII</a:t>
                      </a:r>
                    </a:p>
                  </a:txBody>
                  <a:tcPr anchor="ctr"/>
                </a:tc>
                <a:tc>
                  <a:txBody>
                    <a:bodyPr/>
                    <a:lstStyle/>
                    <a:p>
                      <a:pPr>
                        <a:buNone/>
                      </a:pPr>
                      <a:r>
                        <a:rPr lang="en-US">
                          <a:effectLst/>
                        </a:rPr>
                        <a:t>10/100</a:t>
                      </a:r>
                    </a:p>
                  </a:txBody>
                  <a:tcPr anchor="ctr"/>
                </a:tc>
                <a:tc>
                  <a:txBody>
                    <a:bodyPr/>
                    <a:lstStyle/>
                    <a:p>
                      <a:pPr>
                        <a:buNone/>
                      </a:pPr>
                      <a:r>
                        <a:rPr lang="en-US">
                          <a:effectLst/>
                        </a:rPr>
                        <a:t>F107VC</a:t>
                      </a:r>
                    </a:p>
                  </a:txBody>
                  <a:tcPr anchor="ctr"/>
                </a:tc>
                <a:extLst>
                  <a:ext uri="{0D108BD9-81ED-4DB2-BD59-A6C34878D82A}">
                    <a16:rowId xmlns:a16="http://schemas.microsoft.com/office/drawing/2014/main" val="422551033"/>
                  </a:ext>
                </a:extLst>
              </a:tr>
              <a:tr h="0">
                <a:tc>
                  <a:txBody>
                    <a:bodyPr/>
                    <a:lstStyle/>
                    <a:p>
                      <a:pPr>
                        <a:buNone/>
                      </a:pPr>
                      <a:r>
                        <a:rPr lang="en-US">
                          <a:effectLst/>
                        </a:rPr>
                        <a:t>STM32F2x7</a:t>
                      </a:r>
                    </a:p>
                  </a:txBody>
                  <a:tcPr anchor="ctr"/>
                </a:tc>
                <a:tc>
                  <a:txBody>
                    <a:bodyPr/>
                    <a:lstStyle/>
                    <a:p>
                      <a:pPr>
                        <a:buNone/>
                      </a:pPr>
                      <a:r>
                        <a:rPr lang="en-US">
                          <a:effectLst/>
                        </a:rPr>
                        <a:t>MII / RMII</a:t>
                      </a:r>
                    </a:p>
                  </a:txBody>
                  <a:tcPr anchor="ctr"/>
                </a:tc>
                <a:tc>
                  <a:txBody>
                    <a:bodyPr/>
                    <a:lstStyle/>
                    <a:p>
                      <a:pPr>
                        <a:buNone/>
                      </a:pPr>
                      <a:r>
                        <a:rPr lang="en-US">
                          <a:effectLst/>
                        </a:rPr>
                        <a:t>10/100</a:t>
                      </a:r>
                    </a:p>
                  </a:txBody>
                  <a:tcPr anchor="ctr"/>
                </a:tc>
                <a:tc>
                  <a:txBody>
                    <a:bodyPr/>
                    <a:lstStyle/>
                    <a:p>
                      <a:pPr>
                        <a:buNone/>
                      </a:pPr>
                      <a:r>
                        <a:rPr lang="en-US">
                          <a:effectLst/>
                        </a:rPr>
                        <a:t>F207ZG</a:t>
                      </a:r>
                    </a:p>
                  </a:txBody>
                  <a:tcPr anchor="ctr"/>
                </a:tc>
                <a:extLst>
                  <a:ext uri="{0D108BD9-81ED-4DB2-BD59-A6C34878D82A}">
                    <a16:rowId xmlns:a16="http://schemas.microsoft.com/office/drawing/2014/main" val="3092262850"/>
                  </a:ext>
                </a:extLst>
              </a:tr>
              <a:tr h="0">
                <a:tc>
                  <a:txBody>
                    <a:bodyPr/>
                    <a:lstStyle/>
                    <a:p>
                      <a:pPr>
                        <a:buNone/>
                      </a:pPr>
                      <a:r>
                        <a:rPr lang="en-US">
                          <a:effectLst/>
                        </a:rPr>
                        <a:t>STM32F4x7/9</a:t>
                      </a:r>
                    </a:p>
                  </a:txBody>
                  <a:tcPr anchor="ctr"/>
                </a:tc>
                <a:tc>
                  <a:txBody>
                    <a:bodyPr/>
                    <a:lstStyle/>
                    <a:p>
                      <a:pPr>
                        <a:buNone/>
                      </a:pPr>
                      <a:r>
                        <a:rPr lang="en-US">
                          <a:effectLst/>
                        </a:rPr>
                        <a:t>MII / RMII</a:t>
                      </a:r>
                    </a:p>
                  </a:txBody>
                  <a:tcPr anchor="ctr"/>
                </a:tc>
                <a:tc>
                  <a:txBody>
                    <a:bodyPr/>
                    <a:lstStyle/>
                    <a:p>
                      <a:pPr>
                        <a:buNone/>
                      </a:pPr>
                      <a:r>
                        <a:rPr lang="en-US">
                          <a:effectLst/>
                        </a:rPr>
                        <a:t>10/100</a:t>
                      </a:r>
                    </a:p>
                  </a:txBody>
                  <a:tcPr anchor="ctr"/>
                </a:tc>
                <a:tc>
                  <a:txBody>
                    <a:bodyPr/>
                    <a:lstStyle/>
                    <a:p>
                      <a:pPr>
                        <a:buNone/>
                      </a:pPr>
                      <a:r>
                        <a:rPr lang="en-US">
                          <a:effectLst/>
                        </a:rPr>
                        <a:t>F407VG, F429ZI</a:t>
                      </a:r>
                    </a:p>
                  </a:txBody>
                  <a:tcPr anchor="ctr"/>
                </a:tc>
                <a:extLst>
                  <a:ext uri="{0D108BD9-81ED-4DB2-BD59-A6C34878D82A}">
                    <a16:rowId xmlns:a16="http://schemas.microsoft.com/office/drawing/2014/main" val="64339495"/>
                  </a:ext>
                </a:extLst>
              </a:tr>
              <a:tr h="0">
                <a:tc>
                  <a:txBody>
                    <a:bodyPr/>
                    <a:lstStyle/>
                    <a:p>
                      <a:pPr>
                        <a:buNone/>
                      </a:pPr>
                      <a:r>
                        <a:rPr lang="en-US">
                          <a:effectLst/>
                        </a:rPr>
                        <a:t>STM32F7x6/9</a:t>
                      </a:r>
                    </a:p>
                  </a:txBody>
                  <a:tcPr anchor="ctr"/>
                </a:tc>
                <a:tc>
                  <a:txBody>
                    <a:bodyPr/>
                    <a:lstStyle/>
                    <a:p>
                      <a:pPr>
                        <a:buNone/>
                      </a:pPr>
                      <a:r>
                        <a:rPr lang="en-US">
                          <a:effectLst/>
                        </a:rPr>
                        <a:t>MII / RMII</a:t>
                      </a:r>
                    </a:p>
                  </a:txBody>
                  <a:tcPr anchor="ctr"/>
                </a:tc>
                <a:tc>
                  <a:txBody>
                    <a:bodyPr/>
                    <a:lstStyle/>
                    <a:p>
                      <a:pPr>
                        <a:buNone/>
                      </a:pPr>
                      <a:r>
                        <a:rPr lang="en-US">
                          <a:effectLst/>
                        </a:rPr>
                        <a:t>10/100</a:t>
                      </a:r>
                    </a:p>
                  </a:txBody>
                  <a:tcPr anchor="ctr"/>
                </a:tc>
                <a:tc>
                  <a:txBody>
                    <a:bodyPr/>
                    <a:lstStyle/>
                    <a:p>
                      <a:pPr>
                        <a:buNone/>
                      </a:pPr>
                      <a:r>
                        <a:rPr lang="en-US">
                          <a:effectLst/>
                        </a:rPr>
                        <a:t>F767ZI, F769NI</a:t>
                      </a:r>
                    </a:p>
                  </a:txBody>
                  <a:tcPr anchor="ctr"/>
                </a:tc>
                <a:extLst>
                  <a:ext uri="{0D108BD9-81ED-4DB2-BD59-A6C34878D82A}">
                    <a16:rowId xmlns:a16="http://schemas.microsoft.com/office/drawing/2014/main" val="3573750205"/>
                  </a:ext>
                </a:extLst>
              </a:tr>
              <a:tr h="0">
                <a:tc>
                  <a:txBody>
                    <a:bodyPr/>
                    <a:lstStyle/>
                    <a:p>
                      <a:pPr>
                        <a:buNone/>
                      </a:pPr>
                      <a:r>
                        <a:rPr lang="en-US">
                          <a:effectLst/>
                        </a:rPr>
                        <a:t>STM32H5x3</a:t>
                      </a:r>
                    </a:p>
                  </a:txBody>
                  <a:tcPr anchor="ctr"/>
                </a:tc>
                <a:tc>
                  <a:txBody>
                    <a:bodyPr/>
                    <a:lstStyle/>
                    <a:p>
                      <a:pPr>
                        <a:buNone/>
                      </a:pPr>
                      <a:r>
                        <a:rPr lang="en-US">
                          <a:effectLst/>
                        </a:rPr>
                        <a:t>MII / RMII</a:t>
                      </a:r>
                    </a:p>
                  </a:txBody>
                  <a:tcPr anchor="ctr"/>
                </a:tc>
                <a:tc>
                  <a:txBody>
                    <a:bodyPr/>
                    <a:lstStyle/>
                    <a:p>
                      <a:pPr>
                        <a:buNone/>
                      </a:pPr>
                      <a:r>
                        <a:rPr lang="en-US">
                          <a:effectLst/>
                        </a:rPr>
                        <a:t>10/100</a:t>
                      </a:r>
                    </a:p>
                  </a:txBody>
                  <a:tcPr anchor="ctr"/>
                </a:tc>
                <a:tc>
                  <a:txBody>
                    <a:bodyPr/>
                    <a:lstStyle/>
                    <a:p>
                      <a:pPr>
                        <a:buNone/>
                      </a:pPr>
                      <a:r>
                        <a:rPr lang="en-US">
                          <a:effectLst/>
                        </a:rPr>
                        <a:t>H563ZI, H573ZI</a:t>
                      </a:r>
                    </a:p>
                  </a:txBody>
                  <a:tcPr anchor="ctr"/>
                </a:tc>
                <a:extLst>
                  <a:ext uri="{0D108BD9-81ED-4DB2-BD59-A6C34878D82A}">
                    <a16:rowId xmlns:a16="http://schemas.microsoft.com/office/drawing/2014/main" val="2670523565"/>
                  </a:ext>
                </a:extLst>
              </a:tr>
              <a:tr h="0">
                <a:tc>
                  <a:txBody>
                    <a:bodyPr/>
                    <a:lstStyle/>
                    <a:p>
                      <a:pPr>
                        <a:buNone/>
                      </a:pPr>
                      <a:r>
                        <a:rPr lang="en-US">
                          <a:effectLst/>
                        </a:rPr>
                        <a:t>STM32H7x3</a:t>
                      </a:r>
                    </a:p>
                  </a:txBody>
                  <a:tcPr anchor="ctr"/>
                </a:tc>
                <a:tc>
                  <a:txBody>
                    <a:bodyPr/>
                    <a:lstStyle/>
                    <a:p>
                      <a:pPr>
                        <a:buNone/>
                      </a:pPr>
                      <a:r>
                        <a:rPr lang="en-US">
                          <a:effectLst/>
                        </a:rPr>
                        <a:t>MII / RMII / RGMII</a:t>
                      </a:r>
                    </a:p>
                  </a:txBody>
                  <a:tcPr anchor="ctr"/>
                </a:tc>
                <a:tc>
                  <a:txBody>
                    <a:bodyPr/>
                    <a:lstStyle/>
                    <a:p>
                      <a:pPr>
                        <a:buNone/>
                      </a:pPr>
                      <a:r>
                        <a:rPr lang="en-US">
                          <a:effectLst/>
                        </a:rPr>
                        <a:t>10/100/1000</a:t>
                      </a:r>
                    </a:p>
                  </a:txBody>
                  <a:tcPr anchor="ctr"/>
                </a:tc>
                <a:tc>
                  <a:txBody>
                    <a:bodyPr/>
                    <a:lstStyle/>
                    <a:p>
                      <a:pPr>
                        <a:buNone/>
                      </a:pPr>
                      <a:r>
                        <a:rPr lang="en-US">
                          <a:effectLst/>
                        </a:rPr>
                        <a:t>H753ZI</a:t>
                      </a:r>
                    </a:p>
                  </a:txBody>
                  <a:tcPr anchor="ctr"/>
                </a:tc>
                <a:extLst>
                  <a:ext uri="{0D108BD9-81ED-4DB2-BD59-A6C34878D82A}">
                    <a16:rowId xmlns:a16="http://schemas.microsoft.com/office/drawing/2014/main" val="3572931167"/>
                  </a:ext>
                </a:extLst>
              </a:tr>
              <a:tr h="0">
                <a:tc>
                  <a:txBody>
                    <a:bodyPr/>
                    <a:lstStyle/>
                    <a:p>
                      <a:pPr>
                        <a:buNone/>
                      </a:pPr>
                      <a:r>
                        <a:rPr lang="en-US">
                          <a:effectLst/>
                        </a:rPr>
                        <a:t>STM32MP1 (MPU)</a:t>
                      </a:r>
                    </a:p>
                  </a:txBody>
                  <a:tcPr anchor="ctr"/>
                </a:tc>
                <a:tc>
                  <a:txBody>
                    <a:bodyPr/>
                    <a:lstStyle/>
                    <a:p>
                      <a:pPr>
                        <a:buNone/>
                      </a:pPr>
                      <a:r>
                        <a:rPr lang="en-US">
                          <a:effectLst/>
                        </a:rPr>
                        <a:t>MII / RMII / RGMII</a:t>
                      </a:r>
                    </a:p>
                  </a:txBody>
                  <a:tcPr anchor="ctr"/>
                </a:tc>
                <a:tc>
                  <a:txBody>
                    <a:bodyPr/>
                    <a:lstStyle/>
                    <a:p>
                      <a:pPr>
                        <a:buNone/>
                      </a:pPr>
                      <a:r>
                        <a:rPr lang="en-US">
                          <a:effectLst/>
                        </a:rPr>
                        <a:t>10/100/1000</a:t>
                      </a:r>
                    </a:p>
                  </a:txBody>
                  <a:tcPr anchor="ctr"/>
                </a:tc>
                <a:tc>
                  <a:txBody>
                    <a:bodyPr/>
                    <a:lstStyle/>
                    <a:p>
                      <a:pPr>
                        <a:buNone/>
                      </a:pPr>
                      <a:r>
                        <a:rPr lang="en-US" dirty="0">
                          <a:effectLst/>
                        </a:rPr>
                        <a:t>MP157C</a:t>
                      </a:r>
                    </a:p>
                  </a:txBody>
                  <a:tcPr anchor="ctr"/>
                </a:tc>
                <a:extLst>
                  <a:ext uri="{0D108BD9-81ED-4DB2-BD59-A6C34878D82A}">
                    <a16:rowId xmlns:a16="http://schemas.microsoft.com/office/drawing/2014/main" val="466810308"/>
                  </a:ext>
                </a:extLst>
              </a:tr>
            </a:tbl>
          </a:graphicData>
        </a:graphic>
      </p:graphicFrame>
      <p:graphicFrame>
        <p:nvGraphicFramePr>
          <p:cNvPr id="3" name="Content Placeholder 3">
            <a:extLst>
              <a:ext uri="{FF2B5EF4-FFF2-40B4-BE49-F238E27FC236}">
                <a16:creationId xmlns:a16="http://schemas.microsoft.com/office/drawing/2014/main" id="{75CCBEA0-F5A7-6C64-E00B-308DBDFDC8EC}"/>
              </a:ext>
            </a:extLst>
          </p:cNvPr>
          <p:cNvGraphicFramePr>
            <a:graphicFrameLocks/>
          </p:cNvGraphicFramePr>
          <p:nvPr>
            <p:extLst>
              <p:ext uri="{D42A27DB-BD31-4B8C-83A1-F6EECF244321}">
                <p14:modId xmlns:p14="http://schemas.microsoft.com/office/powerpoint/2010/main" val="3450145450"/>
              </p:ext>
            </p:extLst>
          </p:nvPr>
        </p:nvGraphicFramePr>
        <p:xfrm>
          <a:off x="457200" y="502920"/>
          <a:ext cx="8229600" cy="2926080"/>
        </p:xfrm>
        <a:graphic>
          <a:graphicData uri="http://schemas.openxmlformats.org/drawingml/2006/table">
            <a:tbl>
              <a:tblPr>
                <a:tableStyleId>{284E427A-3D55-4303-BF80-6455036E1DE7}</a:tableStyleId>
              </a:tblPr>
              <a:tblGrid>
                <a:gridCol w="2057400">
                  <a:extLst>
                    <a:ext uri="{9D8B030D-6E8A-4147-A177-3AD203B41FA5}">
                      <a16:colId xmlns:a16="http://schemas.microsoft.com/office/drawing/2014/main" val="1883334011"/>
                    </a:ext>
                  </a:extLst>
                </a:gridCol>
                <a:gridCol w="2057400">
                  <a:extLst>
                    <a:ext uri="{9D8B030D-6E8A-4147-A177-3AD203B41FA5}">
                      <a16:colId xmlns:a16="http://schemas.microsoft.com/office/drawing/2014/main" val="615885722"/>
                    </a:ext>
                  </a:extLst>
                </a:gridCol>
                <a:gridCol w="2057400">
                  <a:extLst>
                    <a:ext uri="{9D8B030D-6E8A-4147-A177-3AD203B41FA5}">
                      <a16:colId xmlns:a16="http://schemas.microsoft.com/office/drawing/2014/main" val="395677652"/>
                    </a:ext>
                  </a:extLst>
                </a:gridCol>
                <a:gridCol w="2057400">
                  <a:extLst>
                    <a:ext uri="{9D8B030D-6E8A-4147-A177-3AD203B41FA5}">
                      <a16:colId xmlns:a16="http://schemas.microsoft.com/office/drawing/2014/main" val="899245588"/>
                    </a:ext>
                  </a:extLst>
                </a:gridCol>
              </a:tblGrid>
              <a:tr h="0">
                <a:tc>
                  <a:txBody>
                    <a:bodyPr/>
                    <a:lstStyle/>
                    <a:p>
                      <a:pPr algn="l">
                        <a:buNone/>
                      </a:pPr>
                      <a:r>
                        <a:rPr lang="en-US" dirty="0">
                          <a:effectLst/>
                        </a:rPr>
                        <a:t>Feature</a:t>
                      </a:r>
                    </a:p>
                  </a:txBody>
                  <a:tcPr anchor="ctr"/>
                </a:tc>
                <a:tc>
                  <a:txBody>
                    <a:bodyPr/>
                    <a:lstStyle/>
                    <a:p>
                      <a:pPr algn="l">
                        <a:buNone/>
                      </a:pPr>
                      <a:r>
                        <a:rPr lang="en-US">
                          <a:effectLst/>
                        </a:rPr>
                        <a:t>MII (Media Independent Interface)</a:t>
                      </a:r>
                    </a:p>
                  </a:txBody>
                  <a:tcPr anchor="ctr"/>
                </a:tc>
                <a:tc>
                  <a:txBody>
                    <a:bodyPr/>
                    <a:lstStyle/>
                    <a:p>
                      <a:pPr algn="l">
                        <a:buNone/>
                      </a:pPr>
                      <a:r>
                        <a:rPr lang="en-US">
                          <a:effectLst/>
                        </a:rPr>
                        <a:t>RMII (Reduced MII)</a:t>
                      </a:r>
                    </a:p>
                  </a:txBody>
                  <a:tcPr anchor="ctr"/>
                </a:tc>
                <a:tc>
                  <a:txBody>
                    <a:bodyPr/>
                    <a:lstStyle/>
                    <a:p>
                      <a:pPr algn="l">
                        <a:buNone/>
                      </a:pPr>
                      <a:r>
                        <a:rPr lang="en-US">
                          <a:effectLst/>
                        </a:rPr>
                        <a:t>RGMII (Reduced Gigabit MII)</a:t>
                      </a:r>
                    </a:p>
                  </a:txBody>
                  <a:tcPr anchor="ctr"/>
                </a:tc>
                <a:extLst>
                  <a:ext uri="{0D108BD9-81ED-4DB2-BD59-A6C34878D82A}">
                    <a16:rowId xmlns:a16="http://schemas.microsoft.com/office/drawing/2014/main" val="1586905357"/>
                  </a:ext>
                </a:extLst>
              </a:tr>
              <a:tr h="0">
                <a:tc>
                  <a:txBody>
                    <a:bodyPr/>
                    <a:lstStyle/>
                    <a:p>
                      <a:pPr>
                        <a:buNone/>
                      </a:pPr>
                      <a:r>
                        <a:rPr lang="en-US">
                          <a:effectLst/>
                        </a:rPr>
                        <a:t>Max Speed</a:t>
                      </a:r>
                    </a:p>
                  </a:txBody>
                  <a:tcPr anchor="ctr"/>
                </a:tc>
                <a:tc>
                  <a:txBody>
                    <a:bodyPr/>
                    <a:lstStyle/>
                    <a:p>
                      <a:pPr>
                        <a:buNone/>
                      </a:pPr>
                      <a:r>
                        <a:rPr lang="en-US">
                          <a:effectLst/>
                        </a:rPr>
                        <a:t>100 Mbps</a:t>
                      </a:r>
                    </a:p>
                  </a:txBody>
                  <a:tcPr anchor="ctr"/>
                </a:tc>
                <a:tc>
                  <a:txBody>
                    <a:bodyPr/>
                    <a:lstStyle/>
                    <a:p>
                      <a:pPr>
                        <a:buNone/>
                      </a:pPr>
                      <a:r>
                        <a:rPr lang="en-US">
                          <a:effectLst/>
                        </a:rPr>
                        <a:t>100 Mbps</a:t>
                      </a:r>
                    </a:p>
                  </a:txBody>
                  <a:tcPr anchor="ctr"/>
                </a:tc>
                <a:tc>
                  <a:txBody>
                    <a:bodyPr/>
                    <a:lstStyle/>
                    <a:p>
                      <a:pPr>
                        <a:buNone/>
                      </a:pPr>
                      <a:r>
                        <a:rPr lang="en-US">
                          <a:effectLst/>
                        </a:rPr>
                        <a:t>1 Gbps</a:t>
                      </a:r>
                    </a:p>
                  </a:txBody>
                  <a:tcPr anchor="ctr"/>
                </a:tc>
                <a:extLst>
                  <a:ext uri="{0D108BD9-81ED-4DB2-BD59-A6C34878D82A}">
                    <a16:rowId xmlns:a16="http://schemas.microsoft.com/office/drawing/2014/main" val="559508492"/>
                  </a:ext>
                </a:extLst>
              </a:tr>
              <a:tr h="0">
                <a:tc>
                  <a:txBody>
                    <a:bodyPr/>
                    <a:lstStyle/>
                    <a:p>
                      <a:pPr>
                        <a:buNone/>
                      </a:pPr>
                      <a:r>
                        <a:rPr lang="en-US">
                          <a:effectLst/>
                        </a:rPr>
                        <a:t>Clock Source</a:t>
                      </a:r>
                    </a:p>
                  </a:txBody>
                  <a:tcPr anchor="ctr"/>
                </a:tc>
                <a:tc>
                  <a:txBody>
                    <a:bodyPr/>
                    <a:lstStyle/>
                    <a:p>
                      <a:pPr>
                        <a:buNone/>
                      </a:pPr>
                      <a:r>
                        <a:rPr lang="en-US">
                          <a:effectLst/>
                        </a:rPr>
                        <a:t>Separate TX &amp; RX clocks (25 MHz for 100 M)</a:t>
                      </a:r>
                    </a:p>
                  </a:txBody>
                  <a:tcPr anchor="ctr"/>
                </a:tc>
                <a:tc>
                  <a:txBody>
                    <a:bodyPr/>
                    <a:lstStyle/>
                    <a:p>
                      <a:pPr>
                        <a:buNone/>
                      </a:pPr>
                      <a:r>
                        <a:rPr lang="en-US">
                          <a:effectLst/>
                        </a:rPr>
                        <a:t>Single 50 MHz reference clock</a:t>
                      </a:r>
                    </a:p>
                  </a:txBody>
                  <a:tcPr anchor="ctr"/>
                </a:tc>
                <a:tc>
                  <a:txBody>
                    <a:bodyPr/>
                    <a:lstStyle/>
                    <a:p>
                      <a:pPr>
                        <a:buNone/>
                      </a:pPr>
                      <a:r>
                        <a:rPr lang="en-US">
                          <a:effectLst/>
                        </a:rPr>
                        <a:t>Single 125 MHz clock (DDR)</a:t>
                      </a:r>
                    </a:p>
                  </a:txBody>
                  <a:tcPr anchor="ctr"/>
                </a:tc>
                <a:extLst>
                  <a:ext uri="{0D108BD9-81ED-4DB2-BD59-A6C34878D82A}">
                    <a16:rowId xmlns:a16="http://schemas.microsoft.com/office/drawing/2014/main" val="1770462422"/>
                  </a:ext>
                </a:extLst>
              </a:tr>
              <a:tr h="0">
                <a:tc>
                  <a:txBody>
                    <a:bodyPr/>
                    <a:lstStyle/>
                    <a:p>
                      <a:pPr>
                        <a:buNone/>
                      </a:pPr>
                      <a:r>
                        <a:rPr lang="en-US">
                          <a:effectLst/>
                        </a:rPr>
                        <a:t>Pin Count</a:t>
                      </a:r>
                    </a:p>
                  </a:txBody>
                  <a:tcPr anchor="ctr"/>
                </a:tc>
                <a:tc>
                  <a:txBody>
                    <a:bodyPr/>
                    <a:lstStyle/>
                    <a:p>
                      <a:pPr>
                        <a:buNone/>
                      </a:pPr>
                      <a:r>
                        <a:rPr lang="en-US">
                          <a:effectLst/>
                        </a:rPr>
                        <a:t>18</a:t>
                      </a:r>
                    </a:p>
                  </a:txBody>
                  <a:tcPr anchor="ctr"/>
                </a:tc>
                <a:tc>
                  <a:txBody>
                    <a:bodyPr/>
                    <a:lstStyle/>
                    <a:p>
                      <a:pPr>
                        <a:buNone/>
                      </a:pPr>
                      <a:r>
                        <a:rPr lang="en-US">
                          <a:effectLst/>
                        </a:rPr>
                        <a:t>9</a:t>
                      </a:r>
                    </a:p>
                  </a:txBody>
                  <a:tcPr anchor="ctr"/>
                </a:tc>
                <a:tc>
                  <a:txBody>
                    <a:bodyPr/>
                    <a:lstStyle/>
                    <a:p>
                      <a:pPr>
                        <a:buNone/>
                      </a:pPr>
                      <a:r>
                        <a:rPr lang="en-US">
                          <a:effectLst/>
                        </a:rPr>
                        <a:t>14</a:t>
                      </a:r>
                    </a:p>
                  </a:txBody>
                  <a:tcPr anchor="ctr"/>
                </a:tc>
                <a:extLst>
                  <a:ext uri="{0D108BD9-81ED-4DB2-BD59-A6C34878D82A}">
                    <a16:rowId xmlns:a16="http://schemas.microsoft.com/office/drawing/2014/main" val="4246268710"/>
                  </a:ext>
                </a:extLst>
              </a:tr>
              <a:tr h="0">
                <a:tc>
                  <a:txBody>
                    <a:bodyPr/>
                    <a:lstStyle/>
                    <a:p>
                      <a:pPr>
                        <a:buNone/>
                      </a:pPr>
                      <a:r>
                        <a:rPr lang="en-US">
                          <a:effectLst/>
                        </a:rPr>
                        <a:t>Complexity</a:t>
                      </a:r>
                    </a:p>
                  </a:txBody>
                  <a:tcPr anchor="ctr"/>
                </a:tc>
                <a:tc>
                  <a:txBody>
                    <a:bodyPr/>
                    <a:lstStyle/>
                    <a:p>
                      <a:pPr>
                        <a:buNone/>
                      </a:pPr>
                      <a:r>
                        <a:rPr lang="en-US">
                          <a:effectLst/>
                        </a:rPr>
                        <a:t>High</a:t>
                      </a:r>
                    </a:p>
                  </a:txBody>
                  <a:tcPr anchor="ctr"/>
                </a:tc>
                <a:tc>
                  <a:txBody>
                    <a:bodyPr/>
                    <a:lstStyle/>
                    <a:p>
                      <a:pPr>
                        <a:buNone/>
                      </a:pPr>
                      <a:r>
                        <a:rPr lang="en-US">
                          <a:effectLst/>
                        </a:rPr>
                        <a:t>Low</a:t>
                      </a:r>
                    </a:p>
                  </a:txBody>
                  <a:tcPr anchor="ctr"/>
                </a:tc>
                <a:tc>
                  <a:txBody>
                    <a:bodyPr/>
                    <a:lstStyle/>
                    <a:p>
                      <a:pPr>
                        <a:buNone/>
                      </a:pPr>
                      <a:r>
                        <a:rPr lang="en-US" dirty="0">
                          <a:effectLst/>
                        </a:rPr>
                        <a:t>Medium</a:t>
                      </a:r>
                    </a:p>
                  </a:txBody>
                  <a:tcPr anchor="ctr"/>
                </a:tc>
                <a:extLst>
                  <a:ext uri="{0D108BD9-81ED-4DB2-BD59-A6C34878D82A}">
                    <a16:rowId xmlns:a16="http://schemas.microsoft.com/office/drawing/2014/main" val="3575676720"/>
                  </a:ext>
                </a:extLst>
              </a:tr>
            </a:tbl>
          </a:graphicData>
        </a:graphic>
      </p:graphicFrame>
    </p:spTree>
    <p:extLst>
      <p:ext uri="{BB962C8B-B14F-4D97-AF65-F5344CB8AC3E}">
        <p14:creationId xmlns:p14="http://schemas.microsoft.com/office/powerpoint/2010/main" val="365250471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C8CC1-FAC9-15B2-AB7A-C762EBADE589}"/>
              </a:ext>
            </a:extLst>
          </p:cNvPr>
          <p:cNvSpPr>
            <a:spLocks noGrp="1"/>
          </p:cNvSpPr>
          <p:nvPr>
            <p:ph type="title"/>
          </p:nvPr>
        </p:nvSpPr>
        <p:spPr/>
        <p:txBody>
          <a:bodyPr/>
          <a:lstStyle/>
          <a:p>
            <a:pPr rtl="1"/>
            <a:r>
              <a:rPr lang="fa-IR" dirty="0">
                <a:latin typeface="IRANSansWeb" panose="020B0506030804020204" pitchFamily="34" charset="-78"/>
                <a:cs typeface="IRANSansWeb" panose="020B0506030804020204" pitchFamily="34" charset="-78"/>
              </a:rPr>
              <a:t>کابل شبکه</a:t>
            </a:r>
            <a:endParaRPr lang="en-US" dirty="0">
              <a:latin typeface="IRANSansWeb" panose="020B0506030804020204" pitchFamily="34" charset="-78"/>
              <a:cs typeface="IRANSansWeb" panose="020B0506030804020204" pitchFamily="34" charset="-78"/>
            </a:endParaRPr>
          </a:p>
        </p:txBody>
      </p:sp>
      <p:pic>
        <p:nvPicPr>
          <p:cNvPr id="12293" name="Picture 5" descr="Straight through Ethernet cables">
            <a:extLst>
              <a:ext uri="{FF2B5EF4-FFF2-40B4-BE49-F238E27FC236}">
                <a16:creationId xmlns:a16="http://schemas.microsoft.com/office/drawing/2014/main" id="{16C330D7-B352-F654-112D-E39D84C66C1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67000" y="1659544"/>
            <a:ext cx="3810000" cy="23812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C838251-9366-9B26-12C1-F91B0EFF6001}"/>
              </a:ext>
            </a:extLst>
          </p:cNvPr>
          <p:cNvSpPr txBox="1"/>
          <p:nvPr/>
        </p:nvSpPr>
        <p:spPr>
          <a:xfrm>
            <a:off x="2348753" y="4121567"/>
            <a:ext cx="4572000" cy="2308324"/>
          </a:xfrm>
          <a:prstGeom prst="rect">
            <a:avLst/>
          </a:prstGeom>
          <a:noFill/>
        </p:spPr>
        <p:txBody>
          <a:bodyPr wrap="square">
            <a:spAutoFit/>
          </a:bodyPr>
          <a:lstStyle/>
          <a:p>
            <a:r>
              <a:rPr lang="en-US" b="1" i="0" dirty="0">
                <a:solidFill>
                  <a:srgbClr val="323552"/>
                </a:solidFill>
                <a:effectLst/>
                <a:latin typeface="Lato" panose="020F0502020204030203" pitchFamily="34" charset="0"/>
              </a:rPr>
              <a:t>Straight through Ethernet cables</a:t>
            </a:r>
            <a:r>
              <a:rPr lang="en-US" b="0" i="0" dirty="0">
                <a:solidFill>
                  <a:srgbClr val="323552"/>
                </a:solidFill>
                <a:effectLst/>
                <a:latin typeface="Lato" panose="020F0502020204030203" pitchFamily="34" charset="0"/>
              </a:rPr>
              <a:t> are the standard cable used for almost all purposes, and are often called ‘patch cables’. It’s highly recommended you duplicate the </a:t>
            </a:r>
            <a:r>
              <a:rPr lang="en-US" b="0" i="0" dirty="0" err="1">
                <a:solidFill>
                  <a:srgbClr val="323552"/>
                </a:solidFill>
                <a:effectLst/>
                <a:latin typeface="Lato" panose="020F0502020204030203" pitchFamily="34" charset="0"/>
              </a:rPr>
              <a:t>colour</a:t>
            </a:r>
            <a:r>
              <a:rPr lang="en-US" b="0" i="0" dirty="0">
                <a:solidFill>
                  <a:srgbClr val="323552"/>
                </a:solidFill>
                <a:effectLst/>
                <a:latin typeface="Lato" panose="020F0502020204030203" pitchFamily="34" charset="0"/>
              </a:rPr>
              <a:t> order as shown on the left. Note how the green pair is not side-by-side, like the other pairs. This configuration allows for longer wire runs.</a:t>
            </a:r>
            <a:endParaRPr lang="en-US" dirty="0"/>
          </a:p>
        </p:txBody>
      </p:sp>
    </p:spTree>
    <p:extLst>
      <p:ext uri="{BB962C8B-B14F-4D97-AF65-F5344CB8AC3E}">
        <p14:creationId xmlns:p14="http://schemas.microsoft.com/office/powerpoint/2010/main" val="197317581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Crossover Ethernet cables">
            <a:extLst>
              <a:ext uri="{FF2B5EF4-FFF2-40B4-BE49-F238E27FC236}">
                <a16:creationId xmlns:a16="http://schemas.microsoft.com/office/drawing/2014/main" id="{4CD3E18D-D29B-0C64-3364-28D72464800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67000" y="1917526"/>
            <a:ext cx="3810000" cy="23812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DC82D24-574C-DF41-A159-472E88FBB6DF}"/>
              </a:ext>
            </a:extLst>
          </p:cNvPr>
          <p:cNvSpPr txBox="1"/>
          <p:nvPr/>
        </p:nvSpPr>
        <p:spPr>
          <a:xfrm>
            <a:off x="2438400" y="4880726"/>
            <a:ext cx="4572000" cy="923330"/>
          </a:xfrm>
          <a:prstGeom prst="rect">
            <a:avLst/>
          </a:prstGeom>
          <a:noFill/>
        </p:spPr>
        <p:txBody>
          <a:bodyPr wrap="square">
            <a:spAutoFit/>
          </a:bodyPr>
          <a:lstStyle/>
          <a:p>
            <a:r>
              <a:rPr lang="en-US" b="1" i="0" dirty="0">
                <a:solidFill>
                  <a:srgbClr val="323552"/>
                </a:solidFill>
                <a:effectLst/>
                <a:latin typeface="Lato" panose="020F0502020204030203" pitchFamily="34" charset="0"/>
              </a:rPr>
              <a:t>Crossover Ethernet cables</a:t>
            </a:r>
            <a:r>
              <a:rPr lang="en-US" b="0" i="0" dirty="0">
                <a:solidFill>
                  <a:srgbClr val="323552"/>
                </a:solidFill>
                <a:effectLst/>
                <a:latin typeface="Lato" panose="020F0502020204030203" pitchFamily="34" charset="0"/>
              </a:rPr>
              <a:t> directly connect one computer or device to another without going through a router, switch, or hub.</a:t>
            </a:r>
            <a:endParaRPr lang="en-US" dirty="0"/>
          </a:p>
        </p:txBody>
      </p:sp>
      <p:sp>
        <p:nvSpPr>
          <p:cNvPr id="3" name="Title 1">
            <a:extLst>
              <a:ext uri="{FF2B5EF4-FFF2-40B4-BE49-F238E27FC236}">
                <a16:creationId xmlns:a16="http://schemas.microsoft.com/office/drawing/2014/main" id="{F83DA150-5193-A871-0604-D0A63BE73747}"/>
              </a:ext>
            </a:extLst>
          </p:cNvPr>
          <p:cNvSpPr txBox="1">
            <a:spLocks/>
          </p:cNvSpPr>
          <p:nvPr/>
        </p:nvSpPr>
        <p:spPr>
          <a:xfrm>
            <a:off x="609600" y="427038"/>
            <a:ext cx="82296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rtl="1"/>
            <a:r>
              <a:rPr lang="fa-IR">
                <a:latin typeface="IRANSansWeb" panose="020B0506030804020204" pitchFamily="34" charset="-78"/>
                <a:cs typeface="IRANSansWeb" panose="020B0506030804020204" pitchFamily="34" charset="-78"/>
              </a:rPr>
              <a:t>کابل شبکه</a:t>
            </a:r>
            <a:endParaRPr lang="en-US" dirty="0">
              <a:latin typeface="IRANSansWeb" panose="020B0506030804020204" pitchFamily="34" charset="-78"/>
              <a:cs typeface="IRANSansWeb" panose="020B0506030804020204" pitchFamily="34" charset="-78"/>
            </a:endParaRPr>
          </a:p>
        </p:txBody>
      </p:sp>
    </p:spTree>
    <p:extLst>
      <p:ext uri="{BB962C8B-B14F-4D97-AF65-F5344CB8AC3E}">
        <p14:creationId xmlns:p14="http://schemas.microsoft.com/office/powerpoint/2010/main" val="350150437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BDEE0C4F-7826-DCE3-59B5-7E8AF5B1D697}"/>
              </a:ext>
            </a:extLst>
          </p:cNvPr>
          <p:cNvPicPr>
            <a:picLocks noGrp="1" noChangeAspect="1"/>
          </p:cNvPicPr>
          <p:nvPr>
            <p:ph idx="1"/>
          </p:nvPr>
        </p:nvPicPr>
        <p:blipFill>
          <a:blip r:embed="rId2"/>
          <a:stretch>
            <a:fillRect/>
          </a:stretch>
        </p:blipFill>
        <p:spPr>
          <a:xfrm>
            <a:off x="743886" y="1600200"/>
            <a:ext cx="7656228" cy="4525963"/>
          </a:xfrm>
          <a:prstGeom prst="rect">
            <a:avLst/>
          </a:prstGeom>
        </p:spPr>
      </p:pic>
    </p:spTree>
    <p:extLst>
      <p:ext uri="{BB962C8B-B14F-4D97-AF65-F5344CB8AC3E}">
        <p14:creationId xmlns:p14="http://schemas.microsoft.com/office/powerpoint/2010/main" val="208346963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7A729-0457-14C5-38E3-00AFE4AABB5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3C56AB1-200F-5916-0EA4-F0F316BE882F}"/>
              </a:ext>
            </a:extLst>
          </p:cNvPr>
          <p:cNvPicPr>
            <a:picLocks noGrp="1" noChangeAspect="1"/>
          </p:cNvPicPr>
          <p:nvPr>
            <p:ph idx="1"/>
          </p:nvPr>
        </p:nvPicPr>
        <p:blipFill>
          <a:blip r:embed="rId2"/>
          <a:stretch>
            <a:fillRect/>
          </a:stretch>
        </p:blipFill>
        <p:spPr>
          <a:xfrm>
            <a:off x="457200" y="1813341"/>
            <a:ext cx="8229600" cy="4099680"/>
          </a:xfrm>
          <a:prstGeom prst="rect">
            <a:avLst/>
          </a:prstGeom>
        </p:spPr>
      </p:pic>
    </p:spTree>
    <p:extLst>
      <p:ext uri="{BB962C8B-B14F-4D97-AF65-F5344CB8AC3E}">
        <p14:creationId xmlns:p14="http://schemas.microsoft.com/office/powerpoint/2010/main" val="362851298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11A56-82A4-64C8-E5A3-FEAF2EFE451A}"/>
              </a:ext>
            </a:extLst>
          </p:cNvPr>
          <p:cNvSpPr>
            <a:spLocks noGrp="1"/>
          </p:cNvSpPr>
          <p:nvPr>
            <p:ph type="title"/>
          </p:nvPr>
        </p:nvSpPr>
        <p:spPr/>
        <p:txBody>
          <a:bodyPr/>
          <a:lstStyle/>
          <a:p>
            <a:r>
              <a:rPr lang="en-US" dirty="0"/>
              <a:t>Application</a:t>
            </a:r>
          </a:p>
        </p:txBody>
      </p:sp>
      <p:sp>
        <p:nvSpPr>
          <p:cNvPr id="3" name="Content Placeholder 2">
            <a:extLst>
              <a:ext uri="{FF2B5EF4-FFF2-40B4-BE49-F238E27FC236}">
                <a16:creationId xmlns:a16="http://schemas.microsoft.com/office/drawing/2014/main" id="{9CEAD7FA-DCCB-3C95-3557-54010314664F}"/>
              </a:ext>
            </a:extLst>
          </p:cNvPr>
          <p:cNvSpPr>
            <a:spLocks noGrp="1"/>
          </p:cNvSpPr>
          <p:nvPr>
            <p:ph idx="1"/>
          </p:nvPr>
        </p:nvSpPr>
        <p:spPr/>
        <p:txBody>
          <a:bodyPr/>
          <a:lstStyle/>
          <a:p>
            <a:r>
              <a:rPr lang="en-US" dirty="0"/>
              <a:t>UDP Server</a:t>
            </a:r>
          </a:p>
          <a:p>
            <a:r>
              <a:rPr lang="en-US" dirty="0"/>
              <a:t>UDP Client</a:t>
            </a:r>
          </a:p>
          <a:p>
            <a:r>
              <a:rPr lang="en-US" dirty="0"/>
              <a:t>TCP Server</a:t>
            </a:r>
          </a:p>
          <a:p>
            <a:r>
              <a:rPr lang="en-US" dirty="0"/>
              <a:t>TCP Client</a:t>
            </a:r>
          </a:p>
          <a:p>
            <a:r>
              <a:rPr lang="en-US" dirty="0"/>
              <a:t>HTTP Server</a:t>
            </a:r>
          </a:p>
          <a:p>
            <a:r>
              <a:rPr lang="en-US" dirty="0"/>
              <a:t>HTTP Client</a:t>
            </a:r>
          </a:p>
          <a:p>
            <a:r>
              <a:rPr lang="en-US" dirty="0"/>
              <a:t>MQTT Client</a:t>
            </a:r>
          </a:p>
          <a:p>
            <a:endParaRPr lang="en-US" dirty="0"/>
          </a:p>
        </p:txBody>
      </p:sp>
    </p:spTree>
    <p:extLst>
      <p:ext uri="{BB962C8B-B14F-4D97-AF65-F5344CB8AC3E}">
        <p14:creationId xmlns:p14="http://schemas.microsoft.com/office/powerpoint/2010/main" val="212060030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18C17-2ABD-430F-5A3D-D5A34DC5EE1E}"/>
              </a:ext>
            </a:extLst>
          </p:cNvPr>
          <p:cNvSpPr>
            <a:spLocks noGrp="1"/>
          </p:cNvSpPr>
          <p:nvPr>
            <p:ph type="title"/>
          </p:nvPr>
        </p:nvSpPr>
        <p:spPr/>
        <p:txBody>
          <a:bodyPr/>
          <a:lstStyle/>
          <a:p>
            <a:r>
              <a:rPr lang="en-US" dirty="0"/>
              <a:t>UDP vs TCP</a:t>
            </a:r>
          </a:p>
        </p:txBody>
      </p:sp>
      <p:pic>
        <p:nvPicPr>
          <p:cNvPr id="22530" name="Picture 2">
            <a:extLst>
              <a:ext uri="{FF2B5EF4-FFF2-40B4-BE49-F238E27FC236}">
                <a16:creationId xmlns:a16="http://schemas.microsoft.com/office/drawing/2014/main" id="{A40F467F-66CC-733E-BFA3-72CE6C70774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8655" y="2319994"/>
            <a:ext cx="6886689" cy="3236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053593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70F0A-696B-E66D-12F7-64132DEE2AA2}"/>
              </a:ext>
            </a:extLst>
          </p:cNvPr>
          <p:cNvSpPr>
            <a:spLocks noGrp="1"/>
          </p:cNvSpPr>
          <p:nvPr>
            <p:ph type="title"/>
          </p:nvPr>
        </p:nvSpPr>
        <p:spPr/>
        <p:txBody>
          <a:bodyPr/>
          <a:lstStyle/>
          <a:p>
            <a:r>
              <a:rPr lang="en-US" dirty="0"/>
              <a:t>UDP vs TCP</a:t>
            </a:r>
          </a:p>
        </p:txBody>
      </p:sp>
      <p:pic>
        <p:nvPicPr>
          <p:cNvPr id="30722" name="Picture 2">
            <a:extLst>
              <a:ext uri="{FF2B5EF4-FFF2-40B4-BE49-F238E27FC236}">
                <a16:creationId xmlns:a16="http://schemas.microsoft.com/office/drawing/2014/main" id="{9A66F391-18BD-0C17-A1D2-498A11E28C1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45508" y="1600200"/>
            <a:ext cx="4652984"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565042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FEF91-2AF7-A9FD-3252-A4FA4E711FD2}"/>
              </a:ext>
            </a:extLst>
          </p:cNvPr>
          <p:cNvSpPr>
            <a:spLocks noGrp="1"/>
          </p:cNvSpPr>
          <p:nvPr>
            <p:ph type="title"/>
          </p:nvPr>
        </p:nvSpPr>
        <p:spPr/>
        <p:txBody>
          <a:bodyPr/>
          <a:lstStyle/>
          <a:p>
            <a:r>
              <a:rPr lang="en-US" dirty="0"/>
              <a:t>UDP vs TCP</a:t>
            </a:r>
          </a:p>
        </p:txBody>
      </p:sp>
      <p:pic>
        <p:nvPicPr>
          <p:cNvPr id="29698" name="Picture 2">
            <a:extLst>
              <a:ext uri="{FF2B5EF4-FFF2-40B4-BE49-F238E27FC236}">
                <a16:creationId xmlns:a16="http://schemas.microsoft.com/office/drawing/2014/main" id="{326B03DD-3043-98AD-2EB3-EE73532D9108}"/>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4203" b="7056"/>
          <a:stretch>
            <a:fillRect/>
          </a:stretch>
        </p:blipFill>
        <p:spPr bwMode="auto">
          <a:xfrm>
            <a:off x="1156678" y="1417638"/>
            <a:ext cx="6494584" cy="5093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413441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EE11A66-45FA-9774-23ED-BE7709E95331}"/>
              </a:ext>
            </a:extLst>
          </p:cNvPr>
          <p:cNvPicPr>
            <a:picLocks noGrp="1" noChangeAspect="1"/>
          </p:cNvPicPr>
          <p:nvPr>
            <p:ph idx="1"/>
          </p:nvPr>
        </p:nvPicPr>
        <p:blipFill>
          <a:blip r:embed="rId2"/>
          <a:stretch>
            <a:fillRect/>
          </a:stretch>
        </p:blipFill>
        <p:spPr>
          <a:xfrm>
            <a:off x="1766276" y="161427"/>
            <a:ext cx="5212478" cy="6535145"/>
          </a:xfrm>
          <a:prstGeom prst="rect">
            <a:avLst/>
          </a:prstGeom>
        </p:spPr>
      </p:pic>
    </p:spTree>
    <p:extLst>
      <p:ext uri="{BB962C8B-B14F-4D97-AF65-F5344CB8AC3E}">
        <p14:creationId xmlns:p14="http://schemas.microsoft.com/office/powerpoint/2010/main" val="55471327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C7A28-D5AA-C1FB-8F11-78DD11197F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1618C1-3F29-5A9B-8E44-0CF15224FC5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90902308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4DD81-AB29-42E9-C528-746FA475184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BB8D3B3-A64D-F4CE-36A8-683545A3C557}"/>
              </a:ext>
            </a:extLst>
          </p:cNvPr>
          <p:cNvSpPr>
            <a:spLocks noGrp="1"/>
          </p:cNvSpPr>
          <p:nvPr>
            <p:ph idx="1"/>
          </p:nvPr>
        </p:nvSpPr>
        <p:spPr/>
        <p:txBody>
          <a:bodyPr>
            <a:normAutofit fontScale="32500" lnSpcReduction="20000"/>
          </a:bodyPr>
          <a:lstStyle/>
          <a:p>
            <a:r>
              <a:rPr lang="en-US" dirty="0"/>
              <a:t>No link detected with PHY</a:t>
            </a:r>
          </a:p>
          <a:p>
            <a:r>
              <a:rPr lang="en-US" dirty="0"/>
              <a:t>If the PHY is not detected, the Ethernet link will stay down and the LED on the RJ45 connector may not light up. Common causes include:</a:t>
            </a:r>
          </a:p>
          <a:p>
            <a:r>
              <a:rPr lang="en-US" dirty="0"/>
              <a:t>Incorrect PHY address configured in </a:t>
            </a:r>
            <a:r>
              <a:rPr lang="en-US" dirty="0" err="1"/>
              <a:t>CubeMX</a:t>
            </a:r>
            <a:endParaRPr lang="en-US" dirty="0"/>
          </a:p>
          <a:p>
            <a:r>
              <a:rPr lang="en-US" dirty="0"/>
              <a:t>Wrong pin mapping for RMII/MII signals</a:t>
            </a:r>
          </a:p>
          <a:p>
            <a:r>
              <a:rPr lang="en-US" dirty="0"/>
              <a:t>Power or clock not supplied to the PHY chip</a:t>
            </a:r>
          </a:p>
          <a:p>
            <a:r>
              <a:rPr lang="en-US" b="1" dirty="0"/>
              <a:t>Fix:</a:t>
            </a:r>
            <a:r>
              <a:rPr lang="en-US" dirty="0"/>
              <a:t> Double-check the PHY address in </a:t>
            </a:r>
            <a:r>
              <a:rPr lang="en-US" dirty="0" err="1"/>
              <a:t>CubeMX</a:t>
            </a:r>
            <a:r>
              <a:rPr lang="en-US" dirty="0"/>
              <a:t> and confirm it matches the datasheet of your PHY. Also verify that the reference clock (25 MHz or 50 MHz) is stable, and ensure all Ethernet pins are correctly routed.</a:t>
            </a:r>
          </a:p>
          <a:p>
            <a:br>
              <a:rPr lang="en-US" dirty="0"/>
            </a:br>
            <a:endParaRPr lang="en-US" dirty="0"/>
          </a:p>
          <a:p>
            <a:r>
              <a:rPr lang="en-US" dirty="0"/>
              <a:t>Ping request timed out</a:t>
            </a:r>
          </a:p>
          <a:p>
            <a:r>
              <a:rPr lang="en-US" dirty="0"/>
              <a:t>If you can build and flash the project but the ping fails, it usually points to an IP configuration or LWIP setting problem.</a:t>
            </a:r>
          </a:p>
          <a:p>
            <a:r>
              <a:rPr lang="en-US" b="1" dirty="0"/>
              <a:t>Possible causes:</a:t>
            </a:r>
            <a:endParaRPr lang="en-US" dirty="0"/>
          </a:p>
          <a:p>
            <a:r>
              <a:rPr lang="en-US" dirty="0"/>
              <a:t>Wrong static IP address or subnet mask</a:t>
            </a:r>
          </a:p>
          <a:p>
            <a:r>
              <a:rPr lang="en-US" dirty="0"/>
              <a:t>PC and STM32 not on the same network range</a:t>
            </a:r>
          </a:p>
          <a:p>
            <a:r>
              <a:rPr lang="en-US" dirty="0"/>
              <a:t>Ping disabled in LWIP options</a:t>
            </a:r>
          </a:p>
          <a:p>
            <a:r>
              <a:rPr lang="en-US" b="1" dirty="0"/>
              <a:t>Fix:</a:t>
            </a:r>
            <a:r>
              <a:rPr lang="en-US" dirty="0"/>
              <a:t> Assign a static IP address within the same subnet as your PC. Check LWIP settings in </a:t>
            </a:r>
            <a:r>
              <a:rPr lang="en-US" dirty="0" err="1"/>
              <a:t>CubeMX</a:t>
            </a:r>
            <a:r>
              <a:rPr lang="en-US" dirty="0"/>
              <a:t> and enable LWIP_ICMP to allow ping replies.</a:t>
            </a:r>
          </a:p>
          <a:p>
            <a:br>
              <a:rPr lang="en-US" dirty="0"/>
            </a:br>
            <a:endParaRPr lang="en-US" dirty="0"/>
          </a:p>
          <a:p>
            <a:r>
              <a:rPr lang="en-US" dirty="0"/>
              <a:t>Memory allocation issues in LWIP</a:t>
            </a:r>
          </a:p>
          <a:p>
            <a:r>
              <a:rPr lang="en-US" dirty="0"/>
              <a:t>Sometimes the Ethernet build runs, but you see runtime errors, crashes, or unstable behavior. This often happens due to insufficient memory allocated to LWIP.</a:t>
            </a:r>
          </a:p>
          <a:p>
            <a:r>
              <a:rPr lang="en-US" b="1" dirty="0"/>
              <a:t>Possible causes:</a:t>
            </a:r>
            <a:endParaRPr lang="en-US" dirty="0"/>
          </a:p>
          <a:p>
            <a:r>
              <a:rPr lang="en-US" dirty="0"/>
              <a:t>Too small heap or pool size in LWIP settings</a:t>
            </a:r>
          </a:p>
          <a:p>
            <a:r>
              <a:rPr lang="en-US" dirty="0"/>
              <a:t>Large packet buffers not fitting into SRAM</a:t>
            </a:r>
          </a:p>
          <a:p>
            <a:r>
              <a:rPr lang="en-US" b="1" dirty="0"/>
              <a:t>Fix:</a:t>
            </a:r>
            <a:r>
              <a:rPr lang="en-US" dirty="0"/>
              <a:t> Increase the heap size and memory pools in the </a:t>
            </a:r>
            <a:r>
              <a:rPr lang="en-US" dirty="0" err="1"/>
              <a:t>CubeMX</a:t>
            </a:r>
            <a:r>
              <a:rPr lang="en-US" dirty="0"/>
              <a:t> LWIP configuration. On STM32F7/H7, you may also need to place the Ethernet buffers in DTCM or external SDRAM for reliable operation.</a:t>
            </a:r>
          </a:p>
          <a:p>
            <a:br>
              <a:rPr lang="en-US" dirty="0"/>
            </a:br>
            <a:endParaRPr lang="en-US" dirty="0"/>
          </a:p>
        </p:txBody>
      </p:sp>
    </p:spTree>
    <p:extLst>
      <p:ext uri="{BB962C8B-B14F-4D97-AF65-F5344CB8AC3E}">
        <p14:creationId xmlns:p14="http://schemas.microsoft.com/office/powerpoint/2010/main" val="15271615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4878C-4A77-0449-6E73-C7EDD47113BB}"/>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D6C5ED33-5D83-5CBC-4B12-73D866CCFA3E}"/>
              </a:ext>
            </a:extLst>
          </p:cNvPr>
          <p:cNvGraphicFramePr>
            <a:graphicFrameLocks noGrp="1"/>
          </p:cNvGraphicFramePr>
          <p:nvPr>
            <p:ph idx="1"/>
          </p:nvPr>
        </p:nvGraphicFramePr>
        <p:xfrm>
          <a:off x="457200" y="3680301"/>
          <a:ext cx="8229600" cy="365760"/>
        </p:xfrm>
        <a:graphic>
          <a:graphicData uri="http://schemas.openxmlformats.org/drawingml/2006/table">
            <a:tbl>
              <a:tblPr/>
              <a:tblGrid>
                <a:gridCol w="8229600">
                  <a:extLst>
                    <a:ext uri="{9D8B030D-6E8A-4147-A177-3AD203B41FA5}">
                      <a16:colId xmlns:a16="http://schemas.microsoft.com/office/drawing/2014/main" val="1257338758"/>
                    </a:ext>
                  </a:extLst>
                </a:gridCol>
              </a:tblGrid>
              <a:tr h="0">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386673799"/>
                  </a:ext>
                </a:extLst>
              </a:tr>
            </a:tbl>
          </a:graphicData>
        </a:graphic>
      </p:graphicFrame>
      <p:graphicFrame>
        <p:nvGraphicFramePr>
          <p:cNvPr id="5" name="Table 4">
            <a:extLst>
              <a:ext uri="{FF2B5EF4-FFF2-40B4-BE49-F238E27FC236}">
                <a16:creationId xmlns:a16="http://schemas.microsoft.com/office/drawing/2014/main" id="{D90267C8-86D8-54B8-883B-C59425B6E330}"/>
              </a:ext>
            </a:extLst>
          </p:cNvPr>
          <p:cNvGraphicFramePr>
            <a:graphicFrameLocks noGrp="1"/>
          </p:cNvGraphicFramePr>
          <p:nvPr/>
        </p:nvGraphicFramePr>
        <p:xfrm>
          <a:off x="672353" y="1996136"/>
          <a:ext cx="8229600" cy="914400"/>
        </p:xfrm>
        <a:graphic>
          <a:graphicData uri="http://schemas.openxmlformats.org/drawingml/2006/table">
            <a:tbl>
              <a:tblPr/>
              <a:tblGrid>
                <a:gridCol w="8229600">
                  <a:extLst>
                    <a:ext uri="{9D8B030D-6E8A-4147-A177-3AD203B41FA5}">
                      <a16:colId xmlns:a16="http://schemas.microsoft.com/office/drawing/2014/main" val="375857232"/>
                    </a:ext>
                  </a:extLst>
                </a:gridCol>
              </a:tblGrid>
              <a:tr h="0">
                <a:tc>
                  <a:txBody>
                    <a:bodyPr/>
                    <a:lstStyle/>
                    <a:p>
                      <a:pPr algn="r" rtl="1">
                        <a:buNone/>
                      </a:pPr>
                      <a:r>
                        <a:rPr lang="en-US" dirty="0"/>
                        <a:t>Mutex </a:t>
                      </a:r>
                      <a:r>
                        <a:rPr lang="fa-IR" dirty="0"/>
                        <a:t>و </a:t>
                      </a:r>
                      <a:r>
                        <a:rPr lang="en-US" dirty="0"/>
                        <a:t>Priority Inversion </a:t>
                      </a:r>
                      <a:r>
                        <a:rPr lang="fa-IR" dirty="0"/>
                        <a:t>در پروژه واقعی</a:t>
                      </a:r>
                      <a:endParaRPr lang="en-US" dirty="0"/>
                    </a:p>
                    <a:p>
                      <a:pPr marL="0" marR="0" lvl="0" indent="0" algn="r" defTabSz="457200" rtl="1" eaLnBrk="1" fontAlgn="auto" latinLnBrk="0" hangingPunct="1">
                        <a:lnSpc>
                          <a:spcPct val="100000"/>
                        </a:lnSpc>
                        <a:spcBef>
                          <a:spcPts val="0"/>
                        </a:spcBef>
                        <a:spcAft>
                          <a:spcPts val="0"/>
                        </a:spcAft>
                        <a:buClrTx/>
                        <a:buSzTx/>
                        <a:buFontTx/>
                        <a:buNone/>
                        <a:tabLst/>
                        <a:defRPr/>
                      </a:pPr>
                      <a:r>
                        <a:rPr lang="ar-SA" sz="1800" b="1" kern="1200" dirty="0">
                          <a:solidFill>
                            <a:schemeClr val="tx1"/>
                          </a:solidFill>
                          <a:effectLst/>
                          <a:latin typeface="+mn-lt"/>
                          <a:ea typeface="+mn-ea"/>
                          <a:cs typeface="+mn-cs"/>
                        </a:rPr>
                        <a:t>نکته آموزشی</a:t>
                      </a:r>
                      <a:r>
                        <a:rPr lang="en-US" sz="1800" b="1" kern="1200" dirty="0">
                          <a:solidFill>
                            <a:schemeClr val="tx1"/>
                          </a:solidFill>
                          <a:effectLst/>
                          <a:latin typeface="+mn-lt"/>
                          <a:ea typeface="+mn-ea"/>
                          <a:cs typeface="+mn-cs"/>
                        </a:rPr>
                        <a:t>:</a:t>
                      </a:r>
                      <a:r>
                        <a:rPr lang="en-US" sz="1800" kern="1200" dirty="0">
                          <a:solidFill>
                            <a:schemeClr val="tx1"/>
                          </a:solidFill>
                          <a:effectLst/>
                          <a:latin typeface="+mn-lt"/>
                          <a:ea typeface="+mn-ea"/>
                          <a:cs typeface="+mn-cs"/>
                        </a:rPr>
                        <a:t> </a:t>
                      </a:r>
                      <a:r>
                        <a:rPr lang="ar-SA" sz="1800" kern="1200" dirty="0">
                          <a:solidFill>
                            <a:schemeClr val="tx1"/>
                          </a:solidFill>
                          <a:effectLst/>
                          <a:latin typeface="+mn-lt"/>
                          <a:ea typeface="+mn-ea"/>
                          <a:cs typeface="+mn-cs"/>
                        </a:rPr>
                        <a:t>برای نمایش</a:t>
                      </a:r>
                      <a:r>
                        <a:rPr lang="en-US" sz="1800" kern="1200" dirty="0">
                          <a:solidFill>
                            <a:schemeClr val="tx1"/>
                          </a:solidFill>
                          <a:effectLst/>
                          <a:latin typeface="+mn-lt"/>
                          <a:ea typeface="+mn-ea"/>
                          <a:cs typeface="+mn-cs"/>
                        </a:rPr>
                        <a:t> Priority Inversion </a:t>
                      </a:r>
                      <a:r>
                        <a:rPr lang="ar-SA" sz="1800" kern="1200" dirty="0">
                          <a:solidFill>
                            <a:schemeClr val="tx1"/>
                          </a:solidFill>
                          <a:effectLst/>
                          <a:latin typeface="+mn-lt"/>
                          <a:ea typeface="+mn-ea"/>
                          <a:cs typeface="+mn-cs"/>
                        </a:rPr>
                        <a:t>از</a:t>
                      </a:r>
                      <a:r>
                        <a:rPr lang="en-US" sz="1800" kern="1200" dirty="0">
                          <a:solidFill>
                            <a:schemeClr val="tx1"/>
                          </a:solidFill>
                          <a:effectLst/>
                          <a:latin typeface="+mn-lt"/>
                          <a:ea typeface="+mn-ea"/>
                          <a:cs typeface="+mn-cs"/>
                        </a:rPr>
                        <a:t> LED </a:t>
                      </a:r>
                      <a:r>
                        <a:rPr lang="ar-SA" sz="1800" kern="1200" dirty="0">
                          <a:solidFill>
                            <a:schemeClr val="tx1"/>
                          </a:solidFill>
                          <a:effectLst/>
                          <a:latin typeface="+mn-lt"/>
                          <a:ea typeface="+mn-ea"/>
                          <a:cs typeface="+mn-cs"/>
                        </a:rPr>
                        <a:t>چشمک‌زن سریع/کند استفاده کن</a:t>
                      </a:r>
                      <a:r>
                        <a:rPr lang="en-US" sz="1800" kern="1200" dirty="0">
                          <a:solidFill>
                            <a:schemeClr val="tx1"/>
                          </a:solidFill>
                          <a:effectLst/>
                          <a:latin typeface="+mn-lt"/>
                          <a:ea typeface="+mn-ea"/>
                          <a:cs typeface="+mn-cs"/>
                        </a:rPr>
                        <a:t>.</a:t>
                      </a:r>
                    </a:p>
                    <a:p>
                      <a:pPr algn="r" rtl="1">
                        <a:buNone/>
                      </a:pPr>
                      <a:endParaRPr lang="fa-IR" dirty="0"/>
                    </a:p>
                  </a:txBody>
                  <a:tcPr anchor="ctr">
                    <a:lnL>
                      <a:noFill/>
                    </a:lnL>
                    <a:lnR>
                      <a:noFill/>
                    </a:lnR>
                    <a:lnT>
                      <a:noFill/>
                    </a:lnT>
                    <a:lnB>
                      <a:noFill/>
                    </a:lnB>
                    <a:noFill/>
                  </a:tcPr>
                </a:tc>
                <a:extLst>
                  <a:ext uri="{0D108BD9-81ED-4DB2-BD59-A6C34878D82A}">
                    <a16:rowId xmlns:a16="http://schemas.microsoft.com/office/drawing/2014/main" val="2314953703"/>
                  </a:ext>
                </a:extLst>
              </a:tr>
            </a:tbl>
          </a:graphicData>
        </a:graphic>
      </p:graphicFrame>
      <p:sp>
        <p:nvSpPr>
          <p:cNvPr id="7" name="TextBox 6">
            <a:extLst>
              <a:ext uri="{FF2B5EF4-FFF2-40B4-BE49-F238E27FC236}">
                <a16:creationId xmlns:a16="http://schemas.microsoft.com/office/drawing/2014/main" id="{C4CAC719-6206-D3AE-2274-AE0A11AD3C40}"/>
              </a:ext>
            </a:extLst>
          </p:cNvPr>
          <p:cNvSpPr txBox="1"/>
          <p:nvPr/>
        </p:nvSpPr>
        <p:spPr>
          <a:xfrm>
            <a:off x="4392706" y="2585777"/>
            <a:ext cx="4572000" cy="709233"/>
          </a:xfrm>
          <a:prstGeom prst="rect">
            <a:avLst/>
          </a:prstGeom>
          <a:noFill/>
        </p:spPr>
        <p:txBody>
          <a:bodyPr wrap="square">
            <a:spAutoFit/>
          </a:bodyPr>
          <a:lstStyle/>
          <a:p>
            <a:pPr marL="342900" lvl="0" indent="-342900" algn="r" rtl="1">
              <a:lnSpc>
                <a:spcPct val="115000"/>
              </a:lnSpc>
              <a:spcAft>
                <a:spcPts val="800"/>
              </a:spcAft>
              <a:buSzPts val="1000"/>
              <a:buFont typeface="Symbol" panose="05050102010706020507" pitchFamily="18" charset="2"/>
              <a:buChar char=""/>
              <a:tabLst>
                <a:tab pos="457200" algn="l"/>
              </a:tabLst>
            </a:pPr>
            <a:r>
              <a:rPr lang="en-US" sz="1800" kern="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kern="0" dirty="0" err="1">
                <a:effectLst/>
                <a:latin typeface="Calibri" panose="020F0502020204030204" pitchFamily="34" charset="0"/>
                <a:ea typeface="Times New Roman" panose="02020603050405020304" pitchFamily="18" charset="0"/>
                <a:cs typeface="Times New Roman" panose="02020603050405020304" pitchFamily="18" charset="0"/>
              </a:rPr>
              <a:t>mqtt</a:t>
            </a:r>
            <a:r>
              <a:rPr lang="ar-SA" sz="1800" kern="0" dirty="0">
                <a:effectLst/>
                <a:latin typeface="Calibri" panose="020F0502020204030204" pitchFamily="34" charset="0"/>
                <a:ea typeface="Times New Roman" panose="02020603050405020304" pitchFamily="18" charset="0"/>
                <a:cs typeface="Times New Roman" panose="02020603050405020304" pitchFamily="18" charset="0"/>
              </a:rPr>
              <a:t>طراحی داشبورد تحت وب ساده برای مانیتور و کنترل</a:t>
            </a:r>
            <a:r>
              <a:rPr lang="en-US" sz="1800" kern="0" dirty="0">
                <a:effectLst/>
                <a:latin typeface="Times New Roman" panose="02020603050405020304" pitchFamily="18" charset="0"/>
                <a:ea typeface="Times New Roman" panose="02020603050405020304" pitchFamily="18" charset="0"/>
                <a:cs typeface="Arial" panose="020B0604020202020204" pitchFamily="34" charset="0"/>
              </a:rPr>
              <a:t> (</a:t>
            </a:r>
            <a:r>
              <a:rPr lang="ar-SA" sz="1800" kern="0" dirty="0">
                <a:effectLst/>
                <a:latin typeface="Calibri" panose="020F0502020204030204" pitchFamily="34" charset="0"/>
                <a:ea typeface="Times New Roman" panose="02020603050405020304" pitchFamily="18" charset="0"/>
                <a:cs typeface="Times New Roman" panose="02020603050405020304" pitchFamily="18" charset="0"/>
              </a:rPr>
              <a:t>مثلاً با</a:t>
            </a:r>
            <a:r>
              <a:rPr lang="en-US" sz="1800" kern="0" dirty="0">
                <a:effectLst/>
                <a:latin typeface="Times New Roman" panose="02020603050405020304" pitchFamily="18" charset="0"/>
                <a:ea typeface="Times New Roman" panose="02020603050405020304" pitchFamily="18" charset="0"/>
                <a:cs typeface="Arial" panose="020B0604020202020204" pitchFamily="34" charset="0"/>
              </a:rPr>
              <a:t> Node-RED </a:t>
            </a:r>
            <a:r>
              <a:rPr lang="ar-SA" sz="1800" kern="0" dirty="0">
                <a:effectLst/>
                <a:latin typeface="Calibri" panose="020F0502020204030204" pitchFamily="34" charset="0"/>
                <a:ea typeface="Times New Roman" panose="02020603050405020304" pitchFamily="18" charset="0"/>
                <a:cs typeface="Times New Roman" panose="02020603050405020304" pitchFamily="18" charset="0"/>
              </a:rPr>
              <a:t>یا</a:t>
            </a:r>
            <a:r>
              <a:rPr lang="en-US" sz="1800" kern="0" dirty="0">
                <a:effectLst/>
                <a:latin typeface="Times New Roman" panose="02020603050405020304" pitchFamily="18" charset="0"/>
                <a:ea typeface="Times New Roman" panose="02020603050405020304" pitchFamily="18" charset="0"/>
                <a:cs typeface="Arial" panose="020B0604020202020204" pitchFamily="34" charset="0"/>
              </a:rPr>
              <a:t> Blynk)</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9" name="TextBox 8">
            <a:extLst>
              <a:ext uri="{FF2B5EF4-FFF2-40B4-BE49-F238E27FC236}">
                <a16:creationId xmlns:a16="http://schemas.microsoft.com/office/drawing/2014/main" id="{3353CBA8-1630-5DFF-9049-C6623BE679AE}"/>
              </a:ext>
            </a:extLst>
          </p:cNvPr>
          <p:cNvSpPr txBox="1"/>
          <p:nvPr/>
        </p:nvSpPr>
        <p:spPr>
          <a:xfrm>
            <a:off x="3460377" y="3562991"/>
            <a:ext cx="4572000" cy="646331"/>
          </a:xfrm>
          <a:prstGeom prst="rect">
            <a:avLst/>
          </a:prstGeom>
          <a:noFill/>
        </p:spPr>
        <p:txBody>
          <a:bodyPr wrap="square">
            <a:spAutoFit/>
          </a:bodyPr>
          <a:lstStyle/>
          <a:p>
            <a:r>
              <a:rPr lang="fa-IR" dirty="0"/>
              <a:t>معرفی و اتصال ماژول شبکه (</a:t>
            </a:r>
            <a:r>
              <a:rPr lang="en-US" dirty="0"/>
              <a:t>ESP8266 / W5500 / ENC28J60</a:t>
            </a:r>
          </a:p>
        </p:txBody>
      </p:sp>
      <p:sp>
        <p:nvSpPr>
          <p:cNvPr id="11" name="TextBox 10">
            <a:extLst>
              <a:ext uri="{FF2B5EF4-FFF2-40B4-BE49-F238E27FC236}">
                <a16:creationId xmlns:a16="http://schemas.microsoft.com/office/drawing/2014/main" id="{9CEECE08-2CB8-05CA-195C-0E068986D3A5}"/>
              </a:ext>
            </a:extLst>
          </p:cNvPr>
          <p:cNvSpPr txBox="1"/>
          <p:nvPr/>
        </p:nvSpPr>
        <p:spPr>
          <a:xfrm>
            <a:off x="3567953" y="4281961"/>
            <a:ext cx="4572000" cy="390684"/>
          </a:xfrm>
          <a:prstGeom prst="rect">
            <a:avLst/>
          </a:prstGeom>
          <a:noFill/>
        </p:spPr>
        <p:txBody>
          <a:bodyPr wrap="square">
            <a:spAutoFit/>
          </a:bodyPr>
          <a:lstStyle/>
          <a:p>
            <a:pPr marL="342900" lvl="0" indent="-342900" algn="r" rtl="1">
              <a:lnSpc>
                <a:spcPct val="115000"/>
              </a:lnSpc>
              <a:spcAft>
                <a:spcPts val="800"/>
              </a:spcAft>
              <a:buSzPts val="1000"/>
              <a:buFont typeface="Symbol" panose="05050102010706020507" pitchFamily="18" charset="2"/>
              <a:buChar char=""/>
              <a:tabLst>
                <a:tab pos="457200" algn="l"/>
              </a:tabLst>
            </a:pPr>
            <a:r>
              <a:rPr lang="ar-SA" sz="1800" kern="0" dirty="0">
                <a:effectLst/>
                <a:latin typeface="Calibri" panose="020F0502020204030204" pitchFamily="34" charset="0"/>
                <a:ea typeface="Times New Roman" panose="02020603050405020304" pitchFamily="18" charset="0"/>
                <a:cs typeface="Times New Roman" panose="02020603050405020304" pitchFamily="18" charset="0"/>
              </a:rPr>
              <a:t>مدیریت حافظه و</a:t>
            </a:r>
            <a:r>
              <a:rPr lang="en-US" sz="1800" kern="0" dirty="0">
                <a:effectLst/>
                <a:latin typeface="Times New Roman" panose="02020603050405020304" pitchFamily="18" charset="0"/>
                <a:ea typeface="Times New Roman" panose="02020603050405020304" pitchFamily="18" charset="0"/>
                <a:cs typeface="Arial" panose="020B0604020202020204" pitchFamily="34" charset="0"/>
              </a:rPr>
              <a:t> Heap</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12" name="Table 11">
            <a:extLst>
              <a:ext uri="{FF2B5EF4-FFF2-40B4-BE49-F238E27FC236}">
                <a16:creationId xmlns:a16="http://schemas.microsoft.com/office/drawing/2014/main" id="{8B675A94-D3AF-043A-D5D4-CF08DA41AF70}"/>
              </a:ext>
            </a:extLst>
          </p:cNvPr>
          <p:cNvGraphicFramePr>
            <a:graphicFrameLocks noGrp="1"/>
          </p:cNvGraphicFramePr>
          <p:nvPr/>
        </p:nvGraphicFramePr>
        <p:xfrm>
          <a:off x="349624" y="5175131"/>
          <a:ext cx="8229600" cy="215837"/>
        </p:xfrm>
        <a:graphic>
          <a:graphicData uri="http://schemas.openxmlformats.org/drawingml/2006/table">
            <a:tbl>
              <a:tblPr firstRow="1" firstCol="1" bandRow="1">
                <a:tableStyleId>{5C22544A-7EE6-4342-B048-85BDC9FD1C3A}</a:tableStyleId>
              </a:tblPr>
              <a:tblGrid>
                <a:gridCol w="8229600">
                  <a:extLst>
                    <a:ext uri="{9D8B030D-6E8A-4147-A177-3AD203B41FA5}">
                      <a16:colId xmlns:a16="http://schemas.microsoft.com/office/drawing/2014/main" val="25554938"/>
                    </a:ext>
                  </a:extLst>
                </a:gridCol>
              </a:tblGrid>
              <a:tr h="0">
                <a:tc>
                  <a:txBody>
                    <a:bodyPr/>
                    <a:lstStyle/>
                    <a:p>
                      <a:pPr algn="r" rtl="1">
                        <a:lnSpc>
                          <a:spcPct val="115000"/>
                        </a:lnSpc>
                        <a:spcAft>
                          <a:spcPts val="800"/>
                        </a:spcAft>
                        <a:buNone/>
                      </a:pPr>
                      <a:r>
                        <a:rPr lang="ar-SA" sz="1200" kern="0" dirty="0">
                          <a:effectLst/>
                        </a:rPr>
                        <a:t>معرفی</a:t>
                      </a:r>
                      <a:r>
                        <a:rPr lang="en-US" sz="1200" kern="0" dirty="0">
                          <a:effectLst/>
                        </a:rPr>
                        <a:t> </a:t>
                      </a:r>
                      <a:r>
                        <a:rPr lang="en-US" sz="1200" kern="0" dirty="0" err="1">
                          <a:effectLst/>
                        </a:rPr>
                        <a:t>LwIP</a:t>
                      </a:r>
                      <a:r>
                        <a:rPr lang="en-US" sz="1200" kern="0" dirty="0">
                          <a:effectLst/>
                        </a:rPr>
                        <a:t> Stack </a:t>
                      </a:r>
                      <a:r>
                        <a:rPr lang="ar-SA" sz="1200" kern="0" dirty="0">
                          <a:effectLst/>
                        </a:rPr>
                        <a:t>و پیکربندی</a:t>
                      </a:r>
                      <a:r>
                        <a:rPr lang="en-US" sz="1200" kern="0" dirty="0">
                          <a:effectLst/>
                        </a:rPr>
                        <a:t> TCP/IP </a:t>
                      </a:r>
                      <a:r>
                        <a:rPr lang="ar-SA" sz="1200" kern="0" dirty="0">
                          <a:effectLst/>
                        </a:rPr>
                        <a:t>در</a:t>
                      </a:r>
                      <a:r>
                        <a:rPr lang="en-US" sz="1200" kern="0" dirty="0">
                          <a:effectLst/>
                        </a:rPr>
                        <a:t> STM32CubeMX</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703118483"/>
                  </a:ext>
                </a:extLst>
              </a:tr>
            </a:tbl>
          </a:graphicData>
        </a:graphic>
      </p:graphicFrame>
      <p:sp>
        <p:nvSpPr>
          <p:cNvPr id="14" name="TextBox 13">
            <a:extLst>
              <a:ext uri="{FF2B5EF4-FFF2-40B4-BE49-F238E27FC236}">
                <a16:creationId xmlns:a16="http://schemas.microsoft.com/office/drawing/2014/main" id="{91BF8AC0-0653-9A1B-62F2-66B824D538A0}"/>
              </a:ext>
            </a:extLst>
          </p:cNvPr>
          <p:cNvSpPr txBox="1"/>
          <p:nvPr/>
        </p:nvSpPr>
        <p:spPr>
          <a:xfrm>
            <a:off x="3200400" y="1453798"/>
            <a:ext cx="4572000" cy="709233"/>
          </a:xfrm>
          <a:prstGeom prst="rect">
            <a:avLst/>
          </a:prstGeom>
          <a:noFill/>
        </p:spPr>
        <p:txBody>
          <a:bodyPr wrap="square">
            <a:spAutoFit/>
          </a:bodyPr>
          <a:lstStyle/>
          <a:p>
            <a:pPr marL="742950" lvl="1" indent="-285750" algn="r" rtl="1">
              <a:lnSpc>
                <a:spcPct val="115000"/>
              </a:lnSpc>
              <a:spcAft>
                <a:spcPts val="800"/>
              </a:spcAft>
              <a:buSzPts val="1000"/>
              <a:buFont typeface="Courier New" panose="02070309020205020404" pitchFamily="49" charset="0"/>
              <a:buChar char="o"/>
              <a:tabLst>
                <a:tab pos="914400" algn="l"/>
              </a:tabLst>
            </a:pPr>
            <a:r>
              <a:rPr lang="ar-SA" sz="1800" kern="0" dirty="0">
                <a:effectLst/>
                <a:latin typeface="Calibri" panose="020F0502020204030204" pitchFamily="34" charset="0"/>
                <a:ea typeface="Times New Roman" panose="02020603050405020304" pitchFamily="18" charset="0"/>
                <a:cs typeface="Times New Roman" panose="02020603050405020304" pitchFamily="18" charset="0"/>
              </a:rPr>
              <a:t>نمایش عملی با دو تسک با اولویت متفاوت که منبع مشترک دارند</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59C01701-22EF-1BD7-B915-2CE9E2A978F9}"/>
              </a:ext>
            </a:extLst>
          </p:cNvPr>
          <p:cNvSpPr txBox="1"/>
          <p:nvPr/>
        </p:nvSpPr>
        <p:spPr>
          <a:xfrm>
            <a:off x="2151530" y="5551192"/>
            <a:ext cx="4572000" cy="369332"/>
          </a:xfrm>
          <a:prstGeom prst="rect">
            <a:avLst/>
          </a:prstGeom>
          <a:noFill/>
        </p:spPr>
        <p:txBody>
          <a:bodyPr wrap="square">
            <a:spAutoFit/>
          </a:bodyPr>
          <a:lstStyle/>
          <a:p>
            <a:r>
              <a:rPr lang="en-US" sz="1800" b="1" kern="0" dirty="0">
                <a:effectLst/>
                <a:latin typeface="Times New Roman" panose="02020603050405020304" pitchFamily="18" charset="0"/>
                <a:ea typeface="Times New Roman" panose="02020603050405020304" pitchFamily="18" charset="0"/>
              </a:rPr>
              <a:t>)</a:t>
            </a:r>
            <a:r>
              <a:rPr lang="en-US" sz="1800" kern="0" dirty="0">
                <a:effectLst/>
                <a:latin typeface="Times New Roman" panose="02020603050405020304" pitchFamily="18" charset="0"/>
                <a:ea typeface="Times New Roman" panose="02020603050405020304" pitchFamily="18" charset="0"/>
              </a:rPr>
              <a:t> </a:t>
            </a:r>
            <a:r>
              <a:rPr lang="ar-SA" sz="1800" kern="0" dirty="0">
                <a:effectLst/>
                <a:latin typeface="Times New Roman" panose="02020603050405020304" pitchFamily="18" charset="0"/>
                <a:ea typeface="Times New Roman" panose="02020603050405020304" pitchFamily="18" charset="0"/>
              </a:rPr>
              <a:t>معرفی</a:t>
            </a:r>
            <a:r>
              <a:rPr lang="en-US" sz="1800" kern="0" dirty="0">
                <a:effectLst/>
                <a:latin typeface="Times New Roman" panose="02020603050405020304" pitchFamily="18" charset="0"/>
                <a:ea typeface="Times New Roman" panose="02020603050405020304" pitchFamily="18" charset="0"/>
              </a:rPr>
              <a:t> HTTP Post </a:t>
            </a:r>
            <a:r>
              <a:rPr lang="ar-SA" sz="1800" kern="0" dirty="0">
                <a:effectLst/>
                <a:latin typeface="Times New Roman" panose="02020603050405020304" pitchFamily="18" charset="0"/>
                <a:ea typeface="Times New Roman" panose="02020603050405020304" pitchFamily="18" charset="0"/>
              </a:rPr>
              <a:t>به</a:t>
            </a:r>
            <a:r>
              <a:rPr lang="en-US" sz="1800" kern="0" dirty="0">
                <a:effectLst/>
                <a:latin typeface="Times New Roman" panose="02020603050405020304" pitchFamily="18" charset="0"/>
                <a:ea typeface="Times New Roman" panose="02020603050405020304" pitchFamily="18" charset="0"/>
              </a:rPr>
              <a:t> REST API (</a:t>
            </a:r>
            <a:r>
              <a:rPr lang="ar-SA" sz="1800" kern="0" dirty="0">
                <a:effectLst/>
                <a:latin typeface="Times New Roman" panose="02020603050405020304" pitchFamily="18" charset="0"/>
                <a:ea typeface="Times New Roman" panose="02020603050405020304" pitchFamily="18" charset="0"/>
              </a:rPr>
              <a:t>اختیاری</a:t>
            </a:r>
            <a:endParaRPr lang="en-US" dirty="0"/>
          </a:p>
        </p:txBody>
      </p:sp>
      <p:sp>
        <p:nvSpPr>
          <p:cNvPr id="18" name="TextBox 17">
            <a:extLst>
              <a:ext uri="{FF2B5EF4-FFF2-40B4-BE49-F238E27FC236}">
                <a16:creationId xmlns:a16="http://schemas.microsoft.com/office/drawing/2014/main" id="{2CB39D4F-5B44-513C-6049-5387CA38A9B1}"/>
              </a:ext>
            </a:extLst>
          </p:cNvPr>
          <p:cNvSpPr txBox="1"/>
          <p:nvPr/>
        </p:nvSpPr>
        <p:spPr>
          <a:xfrm>
            <a:off x="2106706" y="5811316"/>
            <a:ext cx="4572000" cy="709233"/>
          </a:xfrm>
          <a:prstGeom prst="rect">
            <a:avLst/>
          </a:prstGeom>
          <a:noFill/>
        </p:spPr>
        <p:txBody>
          <a:bodyPr wrap="square">
            <a:spAutoFit/>
          </a:bodyPr>
          <a:lstStyle/>
          <a:p>
            <a:pPr algn="r" rtl="1">
              <a:lnSpc>
                <a:spcPct val="115000"/>
              </a:lnSpc>
              <a:spcAft>
                <a:spcPts val="800"/>
              </a:spcAft>
              <a:buNone/>
            </a:pPr>
            <a:r>
              <a:rPr lang="ar-SA" sz="1800" kern="0" dirty="0">
                <a:effectLst/>
                <a:latin typeface="Calibri" panose="020F0502020204030204" pitchFamily="34" charset="0"/>
                <a:ea typeface="Times New Roman" panose="02020603050405020304" pitchFamily="18" charset="0"/>
                <a:cs typeface="Times New Roman" panose="02020603050405020304" pitchFamily="18" charset="0"/>
              </a:rPr>
              <a:t>نشان بده تأخیر</a:t>
            </a:r>
            <a:r>
              <a:rPr lang="en-US" sz="1800" kern="0" dirty="0">
                <a:effectLst/>
                <a:latin typeface="Times New Roman" panose="02020603050405020304" pitchFamily="18" charset="0"/>
                <a:ea typeface="Times New Roman" panose="02020603050405020304" pitchFamily="18" charset="0"/>
                <a:cs typeface="Arial" panose="020B0604020202020204" pitchFamily="34" charset="0"/>
              </a:rPr>
              <a:t> </a:t>
            </a:r>
            <a:r>
              <a:rPr lang="en-US" sz="1800" kern="0" dirty="0" err="1">
                <a:effectLst/>
                <a:latin typeface="Times New Roman" panose="02020603050405020304" pitchFamily="18" charset="0"/>
                <a:ea typeface="Times New Roman" panose="02020603050405020304" pitchFamily="18" charset="0"/>
                <a:cs typeface="Arial" panose="020B0604020202020204" pitchFamily="34" charset="0"/>
              </a:rPr>
              <a:t>vTaskDelay</a:t>
            </a:r>
            <a:r>
              <a:rPr lang="en-US" sz="1800" kern="0" dirty="0">
                <a:effectLst/>
                <a:latin typeface="Times New Roman" panose="02020603050405020304" pitchFamily="18" charset="0"/>
                <a:ea typeface="Times New Roman" panose="02020603050405020304" pitchFamily="18" charset="0"/>
                <a:cs typeface="Arial" panose="020B0604020202020204" pitchFamily="34" charset="0"/>
              </a:rPr>
              <a:t> </a:t>
            </a:r>
            <a:r>
              <a:rPr lang="ar-SA" sz="1800" kern="0" dirty="0">
                <a:effectLst/>
                <a:latin typeface="Calibri" panose="020F0502020204030204" pitchFamily="34" charset="0"/>
                <a:ea typeface="Times New Roman" panose="02020603050405020304" pitchFamily="18" charset="0"/>
                <a:cs typeface="Times New Roman" panose="02020603050405020304" pitchFamily="18" charset="0"/>
              </a:rPr>
              <a:t>از</a:t>
            </a:r>
            <a:r>
              <a:rPr lang="en-US" sz="1800" kern="0" dirty="0">
                <a:effectLst/>
                <a:latin typeface="Times New Roman" panose="02020603050405020304" pitchFamily="18" charset="0"/>
                <a:ea typeface="Times New Roman" panose="02020603050405020304" pitchFamily="18" charset="0"/>
                <a:cs typeface="Arial" panose="020B0604020202020204" pitchFamily="34" charset="0"/>
              </a:rPr>
              <a:t> Tick Rate </a:t>
            </a:r>
            <a:r>
              <a:rPr lang="ar-SA" sz="1800" kern="0" dirty="0">
                <a:effectLst/>
                <a:latin typeface="Calibri" panose="020F0502020204030204" pitchFamily="34" charset="0"/>
                <a:ea typeface="Times New Roman" panose="02020603050405020304" pitchFamily="18" charset="0"/>
                <a:cs typeface="Times New Roman" panose="02020603050405020304" pitchFamily="18" charset="0"/>
              </a:rPr>
              <a:t>تبعیت می‌کند و چرا</a:t>
            </a:r>
            <a:r>
              <a:rPr lang="en-US" sz="1800" kern="0" dirty="0">
                <a:effectLst/>
                <a:latin typeface="Times New Roman" panose="02020603050405020304" pitchFamily="18" charset="0"/>
                <a:ea typeface="Times New Roman" panose="02020603050405020304" pitchFamily="18" charset="0"/>
                <a:cs typeface="Arial" panose="020B0604020202020204" pitchFamily="34" charset="0"/>
              </a:rPr>
              <a:t> </a:t>
            </a:r>
            <a:r>
              <a:rPr lang="en-US" sz="1800" kern="0" dirty="0" err="1">
                <a:effectLst/>
                <a:latin typeface="Times New Roman" panose="02020603050405020304" pitchFamily="18" charset="0"/>
                <a:ea typeface="Times New Roman" panose="02020603050405020304" pitchFamily="18" charset="0"/>
                <a:cs typeface="Arial" panose="020B0604020202020204" pitchFamily="34" charset="0"/>
              </a:rPr>
              <a:t>vTaskDelayUntil</a:t>
            </a:r>
            <a:r>
              <a:rPr lang="en-US" sz="1800" kern="0" dirty="0">
                <a:effectLst/>
                <a:latin typeface="Times New Roman" panose="02020603050405020304" pitchFamily="18" charset="0"/>
                <a:ea typeface="Times New Roman" panose="02020603050405020304" pitchFamily="18" charset="0"/>
                <a:cs typeface="Arial" panose="020B0604020202020204" pitchFamily="34" charset="0"/>
              </a:rPr>
              <a:t> </a:t>
            </a:r>
            <a:r>
              <a:rPr lang="ar-SA" sz="1800" kern="0" dirty="0">
                <a:effectLst/>
                <a:latin typeface="Calibri" panose="020F0502020204030204" pitchFamily="34" charset="0"/>
                <a:ea typeface="Times New Roman" panose="02020603050405020304" pitchFamily="18" charset="0"/>
                <a:cs typeface="Times New Roman" panose="02020603050405020304" pitchFamily="18" charset="0"/>
              </a:rPr>
              <a:t>دقت بیشتری دارد</a:t>
            </a:r>
            <a:r>
              <a:rPr lang="en-US" sz="1800" kern="0" dirty="0">
                <a:effectLst/>
                <a:latin typeface="Times New Roman" panose="02020603050405020304" pitchFamily="18" charset="0"/>
                <a:ea typeface="Times New Roman" panose="02020603050405020304" pitchFamily="18" charset="0"/>
                <a:cs typeface="Arial" panose="020B0604020202020204" pitchFamily="34" charset="0"/>
              </a:rPr>
              <a:t>.</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65942723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640AF-36BB-40BE-0D8C-78F3B966A8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B68E3D-BA87-E5AB-7F3C-AE594B260760}"/>
              </a:ext>
            </a:extLst>
          </p:cNvPr>
          <p:cNvSpPr>
            <a:spLocks noGrp="1"/>
          </p:cNvSpPr>
          <p:nvPr>
            <p:ph idx="1"/>
          </p:nvPr>
        </p:nvSpPr>
        <p:spPr/>
        <p:txBody>
          <a:bodyPr>
            <a:normAutofit/>
          </a:bodyPr>
          <a:lstStyle/>
          <a:p>
            <a:pPr algn="r" rtl="1"/>
            <a:r>
              <a:rPr lang="ar-SA" sz="2000" dirty="0"/>
              <a:t>پروژه بساز که تسک</a:t>
            </a:r>
            <a:r>
              <a:rPr lang="en-US" sz="2000" dirty="0"/>
              <a:t> Sensor </a:t>
            </a:r>
            <a:r>
              <a:rPr lang="ar-SA" sz="2000" dirty="0"/>
              <a:t>دما را بخواند و از طریق</a:t>
            </a:r>
            <a:r>
              <a:rPr lang="en-US" sz="2000" dirty="0"/>
              <a:t> Queue </a:t>
            </a:r>
            <a:r>
              <a:rPr lang="ar-SA" sz="2000" dirty="0"/>
              <a:t>به تسک</a:t>
            </a:r>
            <a:r>
              <a:rPr lang="en-US" sz="2000" dirty="0"/>
              <a:t> Display </a:t>
            </a:r>
            <a:r>
              <a:rPr lang="ar-SA" sz="2000" dirty="0"/>
              <a:t>ارسال کند</a:t>
            </a:r>
            <a:r>
              <a:rPr lang="en-US" sz="2000" dirty="0"/>
              <a:t>.</a:t>
            </a:r>
          </a:p>
          <a:p>
            <a:pPr algn="r" rtl="1"/>
            <a:r>
              <a:rPr lang="ar-SA" dirty="0"/>
              <a:t>مفهوم</a:t>
            </a:r>
            <a:r>
              <a:rPr lang="en-US" dirty="0"/>
              <a:t> QoS </a:t>
            </a:r>
            <a:r>
              <a:rPr lang="ar-SA" dirty="0"/>
              <a:t>در</a:t>
            </a:r>
            <a:r>
              <a:rPr lang="en-US" dirty="0"/>
              <a:t> MQTT </a:t>
            </a:r>
            <a:r>
              <a:rPr lang="ar-SA" dirty="0"/>
              <a:t>را با مثال توضیح بده</a:t>
            </a:r>
            <a:r>
              <a:rPr lang="en-US" dirty="0"/>
              <a:t> (QoS0, QoS1).</a:t>
            </a:r>
          </a:p>
          <a:p>
            <a:pPr algn="r" rtl="1"/>
            <a:r>
              <a:rPr lang="en-US" dirty="0"/>
              <a:t>Node-RED Dashboard → MQTT Broker → STM32</a:t>
            </a:r>
            <a:br>
              <a:rPr lang="en-US" dirty="0"/>
            </a:br>
            <a:r>
              <a:rPr lang="ar-SA" dirty="0"/>
              <a:t>کنترل</a:t>
            </a:r>
            <a:r>
              <a:rPr lang="en-US" dirty="0"/>
              <a:t> LED </a:t>
            </a:r>
            <a:r>
              <a:rPr lang="ar-SA" dirty="0"/>
              <a:t>از طریق پیام </a:t>
            </a:r>
            <a:r>
              <a:rPr lang="en-US" dirty="0"/>
              <a:t>"led/on" </a:t>
            </a:r>
            <a:r>
              <a:rPr lang="ar-SA" dirty="0"/>
              <a:t>و </a:t>
            </a:r>
            <a:r>
              <a:rPr lang="en-US" dirty="0"/>
              <a:t>"led/off"</a:t>
            </a:r>
          </a:p>
          <a:p>
            <a:pPr algn="r" rtl="1"/>
            <a:endParaRPr lang="en-US" sz="2000" dirty="0"/>
          </a:p>
        </p:txBody>
      </p:sp>
    </p:spTree>
    <p:extLst>
      <p:ext uri="{BB962C8B-B14F-4D97-AF65-F5344CB8AC3E}">
        <p14:creationId xmlns:p14="http://schemas.microsoft.com/office/powerpoint/2010/main" val="380371771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80856-FA42-3B00-8702-69171AC1A67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EC24F7-6ECA-CD5B-5746-8051F0EFD188}"/>
              </a:ext>
            </a:extLst>
          </p:cNvPr>
          <p:cNvSpPr>
            <a:spLocks noGrp="1"/>
          </p:cNvSpPr>
          <p:nvPr>
            <p:ph idx="1"/>
          </p:nvPr>
        </p:nvSpPr>
        <p:spPr/>
        <p:txBody>
          <a:bodyPr>
            <a:normAutofit/>
          </a:bodyPr>
          <a:lstStyle/>
          <a:p>
            <a:pPr lvl="1" algn="r"/>
            <a:r>
              <a:rPr lang="ar-SA" sz="1600" b="1" dirty="0"/>
              <a:t>سخت‌افزار:</a:t>
            </a:r>
            <a:r>
              <a:rPr lang="ar-SA" sz="1600" dirty="0"/>
              <a:t> اتصال کابل شبکه و بررسی ارتباط </a:t>
            </a:r>
            <a:r>
              <a:rPr lang="en-US" sz="1600" dirty="0"/>
              <a:t>PHY</a:t>
            </a:r>
            <a:r>
              <a:rPr lang="ar-SA" sz="1600" dirty="0"/>
              <a:t> با </a:t>
            </a:r>
            <a:r>
              <a:rPr lang="en-US" sz="1600" dirty="0"/>
              <a:t>MAC</a:t>
            </a:r>
            <a:r>
              <a:rPr lang="ar-SA" sz="1600" dirty="0"/>
              <a:t> در </a:t>
            </a:r>
            <a:r>
              <a:rPr lang="en-US" sz="1600" dirty="0" err="1"/>
              <a:t>CubeMX</a:t>
            </a:r>
            <a:r>
              <a:rPr lang="ar-SA" sz="1600" dirty="0"/>
              <a:t>. تنظیم </a:t>
            </a:r>
            <a:r>
              <a:rPr lang="en-US" sz="1600" dirty="0"/>
              <a:t>MII/RMII</a:t>
            </a:r>
            <a:r>
              <a:rPr lang="ar-SA" sz="1600" dirty="0"/>
              <a:t> و پین‌های مورد نیاز (برد </a:t>
            </a:r>
            <a:r>
              <a:rPr lang="en-US" sz="1600" dirty="0"/>
              <a:t>Discovery</a:t>
            </a:r>
            <a:r>
              <a:rPr lang="ar-SA" sz="1600" dirty="0"/>
              <a:t> دارای </a:t>
            </a:r>
            <a:r>
              <a:rPr lang="en-US" sz="1600" dirty="0"/>
              <a:t>PHY</a:t>
            </a:r>
            <a:r>
              <a:rPr lang="ar-SA" sz="1600" dirty="0"/>
              <a:t> داخلی است).</a:t>
            </a:r>
            <a:endParaRPr lang="en-US" sz="1600" dirty="0"/>
          </a:p>
          <a:p>
            <a:pPr lvl="1" algn="r"/>
            <a:r>
              <a:rPr lang="en-US" sz="1600" b="1" dirty="0" err="1"/>
              <a:t>LwIP</a:t>
            </a:r>
            <a:r>
              <a:rPr lang="ar-SA" sz="1600" b="1" dirty="0"/>
              <a:t>:</a:t>
            </a:r>
            <a:r>
              <a:rPr lang="ar-SA" sz="1600" dirty="0"/>
              <a:t> فعال‌سازی </a:t>
            </a:r>
            <a:r>
              <a:rPr lang="en-US" sz="1600" dirty="0" err="1"/>
              <a:t>LwIP</a:t>
            </a:r>
            <a:r>
              <a:rPr lang="ar-SA" sz="1600" dirty="0"/>
              <a:t> در </a:t>
            </a:r>
            <a:r>
              <a:rPr lang="en-US" sz="1600" dirty="0" err="1"/>
              <a:t>CubeMX</a:t>
            </a:r>
            <a:r>
              <a:rPr lang="ar-SA" sz="1600" dirty="0"/>
              <a:t> و انتخاب </a:t>
            </a:r>
            <a:r>
              <a:rPr lang="en-US" sz="1600" dirty="0" err="1"/>
              <a:t>FreeRTOS</a:t>
            </a:r>
            <a:r>
              <a:rPr lang="ar-SA" sz="1600" dirty="0"/>
              <a:t> به عنوان لایه زیرین.</a:t>
            </a:r>
            <a:endParaRPr lang="en-US" sz="1600" dirty="0"/>
          </a:p>
          <a:p>
            <a:pPr lvl="1" algn="r"/>
            <a:r>
              <a:rPr lang="ar-SA" sz="1600" b="1" dirty="0"/>
              <a:t>پروژه </a:t>
            </a:r>
            <a:r>
              <a:rPr lang="en-US" sz="1600" b="1" dirty="0"/>
              <a:t>Ping</a:t>
            </a:r>
            <a:r>
              <a:rPr lang="ar-SA" sz="1600" b="1" dirty="0"/>
              <a:t>:</a:t>
            </a:r>
            <a:r>
              <a:rPr lang="ar-SA" sz="1600" dirty="0"/>
              <a:t> نشان دادن این که </a:t>
            </a:r>
            <a:r>
              <a:rPr lang="en-US" sz="1600" dirty="0"/>
              <a:t>STM32</a:t>
            </a:r>
            <a:r>
              <a:rPr lang="ar-SA" sz="1600" dirty="0"/>
              <a:t> با موفقیت به شبکه متصل شده و پاسخ می‌دهد، اولین گام موفقیت در پروژه‌های شبکه است.</a:t>
            </a:r>
            <a:endParaRPr lang="en-US" sz="1600" dirty="0"/>
          </a:p>
          <a:p>
            <a:pPr lvl="0" algn="r"/>
            <a:r>
              <a:rPr lang="en-US" sz="1800" b="1" dirty="0"/>
              <a:t>TCP/UDP</a:t>
            </a:r>
            <a:r>
              <a:rPr lang="ar-SA" sz="1800" b="1" dirty="0"/>
              <a:t> (جلسه 5):</a:t>
            </a:r>
            <a:endParaRPr lang="en-US" sz="1800" dirty="0"/>
          </a:p>
          <a:p>
            <a:pPr lvl="1" algn="r"/>
            <a:r>
              <a:rPr lang="ar-SA" sz="1600" b="1" dirty="0"/>
              <a:t>عملی:</a:t>
            </a:r>
            <a:r>
              <a:rPr lang="ar-SA" sz="1600" dirty="0"/>
              <a:t> کدنویسی </a:t>
            </a:r>
            <a:r>
              <a:rPr lang="en-US" sz="1600" dirty="0"/>
              <a:t>Task</a:t>
            </a:r>
            <a:r>
              <a:rPr lang="ar-SA" sz="1600" dirty="0"/>
              <a:t>ها برای ایجاد ارتباطات </a:t>
            </a:r>
            <a:r>
              <a:rPr lang="en-US" sz="1600" dirty="0"/>
              <a:t>Server</a:t>
            </a:r>
            <a:r>
              <a:rPr lang="ar-SA" sz="1600" dirty="0"/>
              <a:t> و </a:t>
            </a:r>
            <a:r>
              <a:rPr lang="en-US" sz="1600" dirty="0"/>
              <a:t>Client</a:t>
            </a:r>
            <a:r>
              <a:rPr lang="ar-SA" sz="1600" dirty="0"/>
              <a:t>. تمرکز بر مدیریت </a:t>
            </a:r>
            <a:r>
              <a:rPr lang="en-US" sz="1600" b="1" dirty="0"/>
              <a:t>Connection</a:t>
            </a:r>
            <a:r>
              <a:rPr lang="ar-SA" sz="1600" dirty="0"/>
              <a:t> در </a:t>
            </a:r>
            <a:r>
              <a:rPr lang="en-US" sz="1600" dirty="0"/>
              <a:t>TCP</a:t>
            </a:r>
            <a:r>
              <a:rPr lang="ar-SA" sz="1600" dirty="0"/>
              <a:t> و تفاوت آن با </a:t>
            </a:r>
            <a:r>
              <a:rPr lang="en-US" sz="1600" dirty="0"/>
              <a:t>UDP</a:t>
            </a:r>
            <a:r>
              <a:rPr lang="ar-SA" sz="1600" dirty="0"/>
              <a:t>. از نرم‌افزارهایی مانند </a:t>
            </a:r>
            <a:r>
              <a:rPr lang="en-US" sz="1600" b="1" dirty="0"/>
              <a:t>Hercules</a:t>
            </a:r>
            <a:r>
              <a:rPr lang="ar-SA" sz="1600" b="1" dirty="0"/>
              <a:t> (برای ویندوز)</a:t>
            </a:r>
            <a:r>
              <a:rPr lang="ar-SA" sz="1600" dirty="0"/>
              <a:t> یا </a:t>
            </a:r>
            <a:r>
              <a:rPr lang="en-US" sz="1600" b="1" dirty="0" err="1"/>
              <a:t>Netcat</a:t>
            </a:r>
            <a:r>
              <a:rPr lang="ar-SA" sz="1600" b="1" dirty="0"/>
              <a:t> (برای لینوکس/مک)</a:t>
            </a:r>
            <a:r>
              <a:rPr lang="ar-SA" sz="1600" dirty="0"/>
              <a:t> برای تست ارتباطات </a:t>
            </a:r>
            <a:r>
              <a:rPr lang="en-US" sz="1600" dirty="0"/>
              <a:t>TCP/UDP</a:t>
            </a:r>
            <a:r>
              <a:rPr lang="ar-SA" sz="1600" dirty="0"/>
              <a:t> استفاده کنید.</a:t>
            </a:r>
            <a:endParaRPr lang="en-US" sz="1600" dirty="0"/>
          </a:p>
          <a:p>
            <a:pPr lvl="0" algn="r"/>
            <a:r>
              <a:rPr lang="en-US" sz="1800" b="1" dirty="0"/>
              <a:t>HTTP</a:t>
            </a:r>
            <a:r>
              <a:rPr lang="ar-SA" sz="1800" b="1" dirty="0"/>
              <a:t> (جلسه 6):</a:t>
            </a:r>
            <a:endParaRPr lang="en-US" sz="1800" dirty="0"/>
          </a:p>
          <a:p>
            <a:pPr lvl="1" algn="r"/>
            <a:r>
              <a:rPr lang="en-US" sz="1600" b="1" dirty="0"/>
              <a:t>Web Server</a:t>
            </a:r>
            <a:r>
              <a:rPr lang="ar-SA" sz="1600" b="1" dirty="0"/>
              <a:t>:</a:t>
            </a:r>
            <a:r>
              <a:rPr lang="ar-SA" sz="1600" dirty="0"/>
              <a:t> توضیح اینکه چطور </a:t>
            </a:r>
            <a:r>
              <a:rPr lang="en-US" sz="1600" dirty="0"/>
              <a:t>STM32</a:t>
            </a:r>
            <a:r>
              <a:rPr lang="ar-SA" sz="1600" dirty="0"/>
              <a:t> فقط </a:t>
            </a:r>
            <a:r>
              <a:rPr lang="en-US" sz="1600" dirty="0"/>
              <a:t>HTML</a:t>
            </a:r>
            <a:r>
              <a:rPr lang="ar-SA" sz="1600" dirty="0"/>
              <a:t> خام را ارسال می‌کند و مرورگر آن را رندر می‌کند. این یک پروژه بسیار جذاب و قابل لمس برای دانشجویان است.</a:t>
            </a:r>
            <a:endParaRPr lang="en-US" sz="1600" dirty="0"/>
          </a:p>
          <a:p>
            <a:pPr algn="l"/>
            <a:endParaRPr lang="en-US" sz="1800" dirty="0"/>
          </a:p>
        </p:txBody>
      </p:sp>
    </p:spTree>
    <p:extLst>
      <p:ext uri="{BB962C8B-B14F-4D97-AF65-F5344CB8AC3E}">
        <p14:creationId xmlns:p14="http://schemas.microsoft.com/office/powerpoint/2010/main" val="400331763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6D27A-1699-4241-AB4E-46242B755DE6}"/>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3FECF379-E797-D0DC-ED9C-F288592E0D1A}"/>
              </a:ext>
            </a:extLst>
          </p:cNvPr>
          <p:cNvGraphicFramePr>
            <a:graphicFrameLocks noGrp="1"/>
          </p:cNvGraphicFramePr>
          <p:nvPr>
            <p:ph idx="1"/>
          </p:nvPr>
        </p:nvGraphicFramePr>
        <p:xfrm>
          <a:off x="457200" y="2483897"/>
          <a:ext cx="8229600" cy="2758568"/>
        </p:xfrm>
        <a:graphic>
          <a:graphicData uri="http://schemas.openxmlformats.org/drawingml/2006/table">
            <a:tbl>
              <a:tblPr rtl="1" firstRow="1" firstCol="1" bandRow="1">
                <a:tableStyleId>{5C22544A-7EE6-4342-B048-85BDC9FD1C3A}</a:tableStyleId>
              </a:tblPr>
              <a:tblGrid>
                <a:gridCol w="2057400">
                  <a:extLst>
                    <a:ext uri="{9D8B030D-6E8A-4147-A177-3AD203B41FA5}">
                      <a16:colId xmlns:a16="http://schemas.microsoft.com/office/drawing/2014/main" val="4128449364"/>
                    </a:ext>
                  </a:extLst>
                </a:gridCol>
                <a:gridCol w="2057400">
                  <a:extLst>
                    <a:ext uri="{9D8B030D-6E8A-4147-A177-3AD203B41FA5}">
                      <a16:colId xmlns:a16="http://schemas.microsoft.com/office/drawing/2014/main" val="77389729"/>
                    </a:ext>
                  </a:extLst>
                </a:gridCol>
                <a:gridCol w="2057400">
                  <a:extLst>
                    <a:ext uri="{9D8B030D-6E8A-4147-A177-3AD203B41FA5}">
                      <a16:colId xmlns:a16="http://schemas.microsoft.com/office/drawing/2014/main" val="112426699"/>
                    </a:ext>
                  </a:extLst>
                </a:gridCol>
                <a:gridCol w="2057400">
                  <a:extLst>
                    <a:ext uri="{9D8B030D-6E8A-4147-A177-3AD203B41FA5}">
                      <a16:colId xmlns:a16="http://schemas.microsoft.com/office/drawing/2014/main" val="63902577"/>
                    </a:ext>
                  </a:extLst>
                </a:gridCol>
              </a:tblGrid>
              <a:tr h="0">
                <a:tc>
                  <a:txBody>
                    <a:bodyPr/>
                    <a:lstStyle/>
                    <a:p>
                      <a:pPr algn="r" rtl="1">
                        <a:lnSpc>
                          <a:spcPct val="115000"/>
                        </a:lnSpc>
                        <a:spcAft>
                          <a:spcPts val="800"/>
                        </a:spcAft>
                        <a:buNone/>
                      </a:pPr>
                      <a:r>
                        <a:rPr lang="ar-SA" sz="1200" kern="100">
                          <a:effectLst/>
                        </a:rPr>
                        <a:t>پروتکل</a:t>
                      </a:r>
                      <a:r>
                        <a:rPr lang="en-US" sz="1200" kern="100">
                          <a:effectLst/>
                        </a:rPr>
                        <a:t> UDP</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en-US" sz="1200" kern="100">
                          <a:effectLst/>
                        </a:rPr>
                        <a:t>3</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a:effectLst/>
                        </a:rPr>
                        <a:t>تعریف، ویژگی‌ها (بدون اتصال، سریع، غیرقابل اعتماد)، کاربردها</a:t>
                      </a:r>
                      <a:r>
                        <a:rPr lang="en-US" sz="1200" kern="100">
                          <a:effectLst/>
                        </a:rPr>
                        <a:t> (Streaming, Sensor Data).</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a:effectLst/>
                        </a:rPr>
                        <a:t>نماد یک فرستنده سریع با بسته‌هایی که ممکن است گم شوند</a:t>
                      </a:r>
                      <a:r>
                        <a:rPr lang="en-US" sz="1200" kern="100">
                          <a:effectLst/>
                        </a:rPr>
                        <a: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933699501"/>
                  </a:ext>
                </a:extLst>
              </a:tr>
              <a:tr h="0">
                <a:tc>
                  <a:txBody>
                    <a:bodyPr/>
                    <a:lstStyle/>
                    <a:p>
                      <a:pPr algn="r" rtl="1">
                        <a:lnSpc>
                          <a:spcPct val="115000"/>
                        </a:lnSpc>
                        <a:spcAft>
                          <a:spcPts val="800"/>
                        </a:spcAft>
                        <a:buNone/>
                      </a:pPr>
                      <a:r>
                        <a:rPr lang="ar-SA" sz="1200" kern="100">
                          <a:effectLst/>
                        </a:rPr>
                        <a:t>پروتکل</a:t>
                      </a:r>
                      <a:r>
                        <a:rPr lang="en-US" sz="1200" kern="100">
                          <a:effectLst/>
                        </a:rPr>
                        <a:t> TCP</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en-US" sz="1200" kern="100">
                          <a:effectLst/>
                        </a:rPr>
                        <a:t>4</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a:effectLst/>
                        </a:rPr>
                        <a:t>تعریف، ویژگی‌ها</a:t>
                      </a:r>
                      <a:r>
                        <a:rPr lang="en-US" sz="1200" kern="100">
                          <a:effectLst/>
                        </a:rPr>
                        <a:t> (</a:t>
                      </a:r>
                      <a:r>
                        <a:rPr lang="ar-SA" sz="1200" kern="100">
                          <a:effectLst/>
                        </a:rPr>
                        <a:t>اتصال‌گرا، قابل اعتماد، </a:t>
                      </a:r>
                      <a:r>
                        <a:rPr lang="en-US" sz="1200" kern="100">
                          <a:effectLst/>
                        </a:rPr>
                        <a:t>Handshake)</a:t>
                      </a:r>
                      <a:r>
                        <a:rPr lang="ar-SA" sz="1200" kern="100">
                          <a:effectLst/>
                        </a:rPr>
                        <a:t>، مدل</a:t>
                      </a:r>
                      <a:r>
                        <a:rPr lang="en-US" sz="1200" kern="100">
                          <a:effectLst/>
                        </a:rPr>
                        <a:t> Client/Server.</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a:effectLst/>
                        </a:rPr>
                        <a:t>نماد یک فرستنده با مکانیسم تأییدیه</a:t>
                      </a:r>
                      <a:r>
                        <a:rPr lang="en-US" sz="1200" kern="100">
                          <a:effectLst/>
                        </a:rPr>
                        <a:t> (Acknowledgement).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723438629"/>
                  </a:ext>
                </a:extLst>
              </a:tr>
              <a:tr h="0">
                <a:tc>
                  <a:txBody>
                    <a:bodyPr/>
                    <a:lstStyle/>
                    <a:p>
                      <a:pPr algn="r" rtl="1">
                        <a:lnSpc>
                          <a:spcPct val="115000"/>
                        </a:lnSpc>
                        <a:spcAft>
                          <a:spcPts val="800"/>
                        </a:spcAft>
                        <a:buNone/>
                      </a:pPr>
                      <a:r>
                        <a:rPr lang="ar-SA" sz="1200" kern="100">
                          <a:effectLst/>
                        </a:rPr>
                        <a:t>پیاده‌سازی</a:t>
                      </a:r>
                      <a:r>
                        <a:rPr lang="en-US" sz="1200" kern="100">
                          <a:effectLst/>
                        </a:rPr>
                        <a:t> Server</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en-US" sz="1200" kern="100">
                          <a:effectLst/>
                        </a:rPr>
                        <a:t>4</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a:effectLst/>
                        </a:rPr>
                        <a:t>توابع کلیدی</a:t>
                      </a:r>
                      <a:r>
                        <a:rPr lang="en-US" sz="1200" kern="100">
                          <a:effectLst/>
                        </a:rPr>
                        <a:t> TCP (Socket, Bind, Listen, Accept, Send, Receive). </a:t>
                      </a:r>
                      <a:r>
                        <a:rPr lang="ar-SA" sz="1200" kern="100">
                          <a:effectLst/>
                        </a:rPr>
                        <a:t>طراحی</a:t>
                      </a:r>
                      <a:r>
                        <a:rPr lang="en-US" sz="1200" kern="100">
                          <a:effectLst/>
                        </a:rPr>
                        <a:t> Task </a:t>
                      </a:r>
                      <a:r>
                        <a:rPr lang="ar-SA" sz="1200" kern="100">
                          <a:effectLst/>
                        </a:rPr>
                        <a:t>برای</a:t>
                      </a:r>
                      <a:r>
                        <a:rPr lang="en-US" sz="1200" kern="100">
                          <a:effectLst/>
                        </a:rPr>
                        <a:t> TCP Server.</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a:effectLst/>
                        </a:rPr>
                        <a:t>فلوچارت کامل فرآیند راه‌اندازی</a:t>
                      </a:r>
                      <a:r>
                        <a:rPr lang="en-US" sz="1200" kern="100">
                          <a:effectLst/>
                        </a:rPr>
                        <a:t> TCP Server.</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399515483"/>
                  </a:ext>
                </a:extLst>
              </a:tr>
              <a:tr h="0">
                <a:tc>
                  <a:txBody>
                    <a:bodyPr/>
                    <a:lstStyle/>
                    <a:p>
                      <a:pPr algn="r" rtl="1">
                        <a:lnSpc>
                          <a:spcPct val="115000"/>
                        </a:lnSpc>
                        <a:spcAft>
                          <a:spcPts val="800"/>
                        </a:spcAft>
                        <a:buNone/>
                      </a:pPr>
                      <a:r>
                        <a:rPr lang="ar-SA" sz="1200" kern="100">
                          <a:effectLst/>
                        </a:rPr>
                        <a:t>پروژه عملی 5</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en-US" sz="1200" kern="100">
                          <a:effectLst/>
                        </a:rPr>
                        <a:t>3</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a:effectLst/>
                        </a:rPr>
                        <a:t>پروژه اصلی 1</a:t>
                      </a:r>
                      <a:r>
                        <a:rPr lang="en-US" sz="1200" kern="100">
                          <a:effectLst/>
                        </a:rPr>
                        <a:t>: </a:t>
                      </a:r>
                      <a:r>
                        <a:rPr lang="ar-SA" sz="1200" kern="100">
                          <a:effectLst/>
                        </a:rPr>
                        <a:t>پیاده‌سازی یک</a:t>
                      </a:r>
                      <a:r>
                        <a:rPr lang="en-US" sz="1200" kern="100">
                          <a:effectLst/>
                        </a:rPr>
                        <a:t> TCP Server </a:t>
                      </a:r>
                      <a:r>
                        <a:rPr lang="ar-SA" sz="1200" kern="100">
                          <a:effectLst/>
                        </a:rPr>
                        <a:t>روی</a:t>
                      </a:r>
                      <a:r>
                        <a:rPr lang="en-US" sz="1200" kern="100">
                          <a:effectLst/>
                        </a:rPr>
                        <a:t> STM32 </a:t>
                      </a:r>
                      <a:r>
                        <a:rPr lang="ar-SA" sz="1200" kern="100">
                          <a:effectLst/>
                        </a:rPr>
                        <a:t>برای دریافت فرمان کنترل</a:t>
                      </a:r>
                      <a:r>
                        <a:rPr lang="en-US" sz="1200" kern="100">
                          <a:effectLst/>
                        </a:rPr>
                        <a:t> LED. </a:t>
                      </a:r>
                      <a:r>
                        <a:rPr lang="ar-SA" sz="1200" kern="100">
                          <a:effectLst/>
                        </a:rPr>
                        <a:t>تست با نرم‌افزارهای</a:t>
                      </a:r>
                      <a:r>
                        <a:rPr lang="en-US" sz="1200" kern="100">
                          <a:effectLst/>
                        </a:rPr>
                        <a:t> Client (</a:t>
                      </a:r>
                      <a:r>
                        <a:rPr lang="ar-SA" sz="1200" kern="100">
                          <a:effectLst/>
                        </a:rPr>
                        <a:t>مثل</a:t>
                      </a:r>
                      <a:r>
                        <a:rPr lang="en-US" sz="1200" kern="100">
                          <a:effectLst/>
                        </a:rPr>
                        <a:t> Hercules).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dirty="0">
                          <a:effectLst/>
                        </a:rPr>
                        <a:t>اسکرین‌شات از پنجره ترمینال در حال ارسال/دریافت فرمان</a:t>
                      </a:r>
                      <a:r>
                        <a:rPr lang="en-US" sz="1200" kern="100" dirty="0">
                          <a:effectLst/>
                        </a:rPr>
                        <a:t>.</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169960706"/>
                  </a:ext>
                </a:extLst>
              </a:tr>
            </a:tbl>
          </a:graphicData>
        </a:graphic>
      </p:graphicFrame>
    </p:spTree>
    <p:extLst>
      <p:ext uri="{BB962C8B-B14F-4D97-AF65-F5344CB8AC3E}">
        <p14:creationId xmlns:p14="http://schemas.microsoft.com/office/powerpoint/2010/main" val="163422018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8601-BE90-9452-E4FA-858A6DE1F39A}"/>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A4D325EA-3DD7-F68D-BAE8-D20D93415E32}"/>
              </a:ext>
            </a:extLst>
          </p:cNvPr>
          <p:cNvGraphicFramePr>
            <a:graphicFrameLocks noGrp="1"/>
          </p:cNvGraphicFramePr>
          <p:nvPr>
            <p:ph idx="1"/>
          </p:nvPr>
        </p:nvGraphicFramePr>
        <p:xfrm>
          <a:off x="457200" y="2166873"/>
          <a:ext cx="8229600" cy="3392617"/>
        </p:xfrm>
        <a:graphic>
          <a:graphicData uri="http://schemas.openxmlformats.org/drawingml/2006/table">
            <a:tbl>
              <a:tblPr rtl="1" firstRow="1" firstCol="1" bandRow="1">
                <a:tableStyleId>{5C22544A-7EE6-4342-B048-85BDC9FD1C3A}</a:tableStyleId>
              </a:tblPr>
              <a:tblGrid>
                <a:gridCol w="2057400">
                  <a:extLst>
                    <a:ext uri="{9D8B030D-6E8A-4147-A177-3AD203B41FA5}">
                      <a16:colId xmlns:a16="http://schemas.microsoft.com/office/drawing/2014/main" val="3268485936"/>
                    </a:ext>
                  </a:extLst>
                </a:gridCol>
                <a:gridCol w="2057400">
                  <a:extLst>
                    <a:ext uri="{9D8B030D-6E8A-4147-A177-3AD203B41FA5}">
                      <a16:colId xmlns:a16="http://schemas.microsoft.com/office/drawing/2014/main" val="3363055967"/>
                    </a:ext>
                  </a:extLst>
                </a:gridCol>
                <a:gridCol w="2057400">
                  <a:extLst>
                    <a:ext uri="{9D8B030D-6E8A-4147-A177-3AD203B41FA5}">
                      <a16:colId xmlns:a16="http://schemas.microsoft.com/office/drawing/2014/main" val="1811120772"/>
                    </a:ext>
                  </a:extLst>
                </a:gridCol>
                <a:gridCol w="2057400">
                  <a:extLst>
                    <a:ext uri="{9D8B030D-6E8A-4147-A177-3AD203B41FA5}">
                      <a16:colId xmlns:a16="http://schemas.microsoft.com/office/drawing/2014/main" val="267966027"/>
                    </a:ext>
                  </a:extLst>
                </a:gridCol>
              </a:tblGrid>
              <a:tr h="0">
                <a:tc>
                  <a:txBody>
                    <a:bodyPr/>
                    <a:lstStyle/>
                    <a:p>
                      <a:pPr algn="r" rtl="1">
                        <a:lnSpc>
                          <a:spcPct val="115000"/>
                        </a:lnSpc>
                        <a:spcAft>
                          <a:spcPts val="800"/>
                        </a:spcAft>
                        <a:buNone/>
                      </a:pPr>
                      <a:r>
                        <a:rPr lang="ar-SA" sz="1200" kern="100">
                          <a:effectLst/>
                        </a:rPr>
                        <a:t>مقدمه</a:t>
                      </a:r>
                      <a:r>
                        <a:rPr lang="en-US" sz="1200" kern="100">
                          <a:effectLst/>
                        </a:rPr>
                        <a:t> IoT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en-US" sz="1200" kern="100">
                          <a:effectLst/>
                        </a:rPr>
                        <a:t>2</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a:effectLst/>
                        </a:rPr>
                        <a:t>مفهوم اینترنت اشیاء، لایه‌های</a:t>
                      </a:r>
                      <a:r>
                        <a:rPr lang="en-US" sz="1200" kern="100">
                          <a:effectLst/>
                        </a:rPr>
                        <a:t> IoT (Edge, Fog, Cloud). </a:t>
                      </a:r>
                      <a:r>
                        <a:rPr lang="ar-SA" sz="1200" kern="100">
                          <a:effectLst/>
                        </a:rPr>
                        <a:t>جایگاه</a:t>
                      </a:r>
                      <a:r>
                        <a:rPr lang="en-US" sz="1200" kern="100">
                          <a:effectLst/>
                        </a:rPr>
                        <a:t> STM32 </a:t>
                      </a:r>
                      <a:r>
                        <a:rPr lang="ar-SA" sz="1200" kern="100">
                          <a:effectLst/>
                        </a:rPr>
                        <a:t>به عنوان</a:t>
                      </a:r>
                      <a:r>
                        <a:rPr lang="en-US" sz="1200" kern="100">
                          <a:effectLst/>
                        </a:rPr>
                        <a:t> Edge Device.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a:effectLst/>
                        </a:rPr>
                        <a:t>تصویر شماتیک معماری</a:t>
                      </a:r>
                      <a:r>
                        <a:rPr lang="en-US" sz="1200" kern="100">
                          <a:effectLst/>
                        </a:rPr>
                        <a:t> IoT.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442725777"/>
                  </a:ext>
                </a:extLst>
              </a:tr>
              <a:tr h="0">
                <a:tc>
                  <a:txBody>
                    <a:bodyPr/>
                    <a:lstStyle/>
                    <a:p>
                      <a:pPr algn="r" rtl="1">
                        <a:lnSpc>
                          <a:spcPct val="115000"/>
                        </a:lnSpc>
                        <a:spcAft>
                          <a:spcPts val="800"/>
                        </a:spcAft>
                        <a:buNone/>
                      </a:pPr>
                      <a:r>
                        <a:rPr lang="ar-SA" sz="1200" kern="100">
                          <a:effectLst/>
                        </a:rPr>
                        <a:t>پروتکل</a:t>
                      </a:r>
                      <a:r>
                        <a:rPr lang="en-US" sz="1200" kern="100">
                          <a:effectLst/>
                        </a:rPr>
                        <a:t> HTTP</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en-US" sz="1200" kern="100">
                          <a:effectLst/>
                        </a:rPr>
                        <a:t>4</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a:effectLst/>
                        </a:rPr>
                        <a:t>ساختار</a:t>
                      </a:r>
                      <a:r>
                        <a:rPr lang="en-US" sz="1200" kern="100">
                          <a:effectLst/>
                        </a:rPr>
                        <a:t> HTTP (Header, Body). </a:t>
                      </a:r>
                      <a:r>
                        <a:rPr lang="ar-SA" sz="1200" kern="100">
                          <a:effectLst/>
                        </a:rPr>
                        <a:t>متدها</a:t>
                      </a:r>
                      <a:r>
                        <a:rPr lang="en-US" sz="1200" kern="100">
                          <a:effectLst/>
                        </a:rPr>
                        <a:t> (GET, POST). </a:t>
                      </a:r>
                      <a:r>
                        <a:rPr lang="ar-SA" sz="1200" kern="100">
                          <a:effectLst/>
                        </a:rPr>
                        <a:t>کاربرد در</a:t>
                      </a:r>
                      <a:r>
                        <a:rPr lang="en-US" sz="1200" kern="100">
                          <a:effectLst/>
                        </a:rPr>
                        <a:t> IoT (</a:t>
                      </a:r>
                      <a:r>
                        <a:rPr lang="ar-SA" sz="1200" kern="100">
                          <a:effectLst/>
                        </a:rPr>
                        <a:t>ارسال داده به وب‌سرویس‌ها</a:t>
                      </a:r>
                      <a:r>
                        <a:rPr lang="en-US" sz="1200" kern="100">
                          <a:effectLst/>
                        </a:rPr>
                        <a: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a:effectLst/>
                        </a:rPr>
                        <a:t>ساختار یک پیام</a:t>
                      </a:r>
                      <a:r>
                        <a:rPr lang="en-US" sz="1200" kern="100">
                          <a:effectLst/>
                        </a:rPr>
                        <a:t> HTTP.</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065312694"/>
                  </a:ext>
                </a:extLst>
              </a:tr>
              <a:tr h="0">
                <a:tc>
                  <a:txBody>
                    <a:bodyPr/>
                    <a:lstStyle/>
                    <a:p>
                      <a:pPr algn="r" rtl="1">
                        <a:lnSpc>
                          <a:spcPct val="115000"/>
                        </a:lnSpc>
                        <a:spcAft>
                          <a:spcPts val="800"/>
                        </a:spcAft>
                        <a:buNone/>
                      </a:pPr>
                      <a:r>
                        <a:rPr lang="en-US" sz="1200" kern="100">
                          <a:effectLst/>
                        </a:rPr>
                        <a:t>HTTP Client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en-US" sz="1200" kern="100">
                          <a:effectLst/>
                        </a:rPr>
                        <a:t>3</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a:effectLst/>
                        </a:rPr>
                        <a:t>پیاده‌سازی</a:t>
                      </a:r>
                      <a:r>
                        <a:rPr lang="en-US" sz="1200" kern="100">
                          <a:effectLst/>
                        </a:rPr>
                        <a:t> Client </a:t>
                      </a:r>
                      <a:r>
                        <a:rPr lang="ar-SA" sz="1200" kern="100">
                          <a:effectLst/>
                        </a:rPr>
                        <a:t>برای ارسال داده</a:t>
                      </a:r>
                      <a:r>
                        <a:rPr lang="en-US" sz="1200" kern="100">
                          <a:effectLst/>
                        </a:rPr>
                        <a:t> (</a:t>
                      </a:r>
                      <a:r>
                        <a:rPr lang="ar-SA" sz="1200" kern="100">
                          <a:effectLst/>
                        </a:rPr>
                        <a:t>مثلاً به یک</a:t>
                      </a:r>
                      <a:r>
                        <a:rPr lang="en-US" sz="1200" kern="100">
                          <a:effectLst/>
                        </a:rPr>
                        <a:t> API). </a:t>
                      </a:r>
                      <a:r>
                        <a:rPr lang="ar-SA" sz="1200" kern="100">
                          <a:effectLst/>
                        </a:rPr>
                        <a:t>استفاده از</a:t>
                      </a:r>
                      <a:r>
                        <a:rPr lang="en-US" sz="1200" kern="100">
                          <a:effectLst/>
                        </a:rPr>
                        <a:t> JSON/XML </a:t>
                      </a:r>
                      <a:r>
                        <a:rPr lang="ar-SA" sz="1200" kern="100">
                          <a:effectLst/>
                        </a:rPr>
                        <a:t>برای داده</a:t>
                      </a:r>
                      <a:r>
                        <a:rPr lang="en-US" sz="1200" kern="100">
                          <a:effectLst/>
                        </a:rPr>
                        <a: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a:effectLst/>
                        </a:rPr>
                        <a:t>کد اسنیپت ارسال درخواست</a:t>
                      </a:r>
                      <a:r>
                        <a:rPr lang="en-US" sz="1200" kern="100">
                          <a:effectLst/>
                        </a:rPr>
                        <a:t> GET.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4113623719"/>
                  </a:ext>
                </a:extLst>
              </a:tr>
              <a:tr h="0">
                <a:tc>
                  <a:txBody>
                    <a:bodyPr/>
                    <a:lstStyle/>
                    <a:p>
                      <a:pPr algn="r" rtl="1">
                        <a:lnSpc>
                          <a:spcPct val="115000"/>
                        </a:lnSpc>
                        <a:spcAft>
                          <a:spcPts val="800"/>
                        </a:spcAft>
                        <a:buNone/>
                      </a:pPr>
                      <a:r>
                        <a:rPr lang="en-US" sz="1200" kern="100">
                          <a:effectLst/>
                        </a:rPr>
                        <a:t>Web Server</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en-US" sz="1200" kern="100">
                          <a:effectLst/>
                        </a:rPr>
                        <a:t>4</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a:effectLst/>
                        </a:rPr>
                        <a:t>پیاده‌سازی یک</a:t>
                      </a:r>
                      <a:r>
                        <a:rPr lang="en-US" sz="1200" kern="100">
                          <a:effectLst/>
                        </a:rPr>
                        <a:t> Web Server </a:t>
                      </a:r>
                      <a:r>
                        <a:rPr lang="ar-SA" sz="1200" kern="100">
                          <a:effectLst/>
                        </a:rPr>
                        <a:t>ساده با</a:t>
                      </a:r>
                      <a:r>
                        <a:rPr lang="en-US" sz="1200" kern="100">
                          <a:effectLst/>
                        </a:rPr>
                        <a:t> LwIP. </a:t>
                      </a:r>
                      <a:r>
                        <a:rPr lang="ar-SA" sz="1200" kern="100">
                          <a:effectLst/>
                        </a:rPr>
                        <a:t>ارسال پاسخ‌های</a:t>
                      </a:r>
                      <a:r>
                        <a:rPr lang="en-US" sz="1200" kern="100">
                          <a:effectLst/>
                        </a:rPr>
                        <a:t> HTML </a:t>
                      </a:r>
                      <a:r>
                        <a:rPr lang="ar-SA" sz="1200" kern="100">
                          <a:effectLst/>
                        </a:rPr>
                        <a:t>برای ساخت یک رابط کاربری محلی</a:t>
                      </a:r>
                      <a:r>
                        <a:rPr lang="en-US" sz="1200" kern="100">
                          <a:effectLst/>
                        </a:rPr>
                        <a: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a:effectLst/>
                        </a:rPr>
                        <a:t>یک صفحه وب ساده طراحی شده در اسلاید</a:t>
                      </a:r>
                      <a:r>
                        <a:rPr lang="en-US" sz="1200" kern="100">
                          <a:effectLst/>
                        </a:rPr>
                        <a:t> (</a:t>
                      </a:r>
                      <a:r>
                        <a:rPr lang="ar-SA" sz="1200" kern="100">
                          <a:effectLst/>
                        </a:rPr>
                        <a:t>مثلاً دکمه</a:t>
                      </a:r>
                      <a:r>
                        <a:rPr lang="en-US" sz="1200" kern="100">
                          <a:effectLst/>
                        </a:rPr>
                        <a:t> ON/OFF).</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602445220"/>
                  </a:ext>
                </a:extLst>
              </a:tr>
              <a:tr h="0">
                <a:tc>
                  <a:txBody>
                    <a:bodyPr/>
                    <a:lstStyle/>
                    <a:p>
                      <a:pPr algn="r" rtl="1">
                        <a:lnSpc>
                          <a:spcPct val="115000"/>
                        </a:lnSpc>
                        <a:spcAft>
                          <a:spcPts val="800"/>
                        </a:spcAft>
                        <a:buNone/>
                      </a:pPr>
                      <a:r>
                        <a:rPr lang="ar-SA" sz="1200" kern="100">
                          <a:effectLst/>
                        </a:rPr>
                        <a:t>پروژه عملی 6</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en-US" sz="1200" kern="100">
                          <a:effectLst/>
                        </a:rPr>
                        <a:t>3</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a:effectLst/>
                        </a:rPr>
                        <a:t>طراحی یک</a:t>
                      </a:r>
                      <a:r>
                        <a:rPr lang="en-US" sz="1200" kern="100">
                          <a:effectLst/>
                        </a:rPr>
                        <a:t> Web Server </a:t>
                      </a:r>
                      <a:r>
                        <a:rPr lang="ar-SA" sz="1200" kern="100">
                          <a:effectLst/>
                        </a:rPr>
                        <a:t>روی</a:t>
                      </a:r>
                      <a:r>
                        <a:rPr lang="en-US" sz="1200" kern="100">
                          <a:effectLst/>
                        </a:rPr>
                        <a:t> STM32 </a:t>
                      </a:r>
                      <a:r>
                        <a:rPr lang="ar-SA" sz="1200" kern="100">
                          <a:effectLst/>
                        </a:rPr>
                        <a:t>برای نمایش وضعیت سنسور فرضی و کنترل</a:t>
                      </a:r>
                      <a:r>
                        <a:rPr lang="en-US" sz="1200" kern="100">
                          <a:effectLst/>
                        </a:rPr>
                        <a:t> LED</a:t>
                      </a:r>
                      <a:r>
                        <a:rPr lang="ar-SA" sz="1200" kern="100">
                          <a:effectLst/>
                        </a:rPr>
                        <a:t>ها از طریق مرورگر</a:t>
                      </a:r>
                      <a:r>
                        <a:rPr lang="en-US" sz="1200" kern="100">
                          <a:effectLst/>
                        </a:rPr>
                        <a: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dirty="0">
                          <a:effectLst/>
                        </a:rPr>
                        <a:t>تصویر مرورگر در حال نمایش</a:t>
                      </a:r>
                      <a:r>
                        <a:rPr lang="en-US" sz="1200" kern="100" dirty="0">
                          <a:effectLst/>
                        </a:rPr>
                        <a:t> IP </a:t>
                      </a:r>
                      <a:r>
                        <a:rPr lang="ar-SA" sz="1200" kern="100" dirty="0">
                          <a:effectLst/>
                        </a:rPr>
                        <a:t>و رابط کاربری</a:t>
                      </a:r>
                      <a:r>
                        <a:rPr lang="en-US" sz="1200" kern="100" dirty="0">
                          <a:effectLst/>
                        </a:rPr>
                        <a:t> STM32.</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432724603"/>
                  </a:ext>
                </a:extLst>
              </a:tr>
            </a:tbl>
          </a:graphicData>
        </a:graphic>
      </p:graphicFrame>
    </p:spTree>
    <p:extLst>
      <p:ext uri="{BB962C8B-B14F-4D97-AF65-F5344CB8AC3E}">
        <p14:creationId xmlns:p14="http://schemas.microsoft.com/office/powerpoint/2010/main" val="128010225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9CA70-48CB-A4D6-238A-F9CCEA2EB5A3}"/>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C2346ED7-C071-4257-82C5-75E98E14C157}"/>
              </a:ext>
            </a:extLst>
          </p:cNvPr>
          <p:cNvGraphicFramePr>
            <a:graphicFrameLocks noGrp="1"/>
          </p:cNvGraphicFramePr>
          <p:nvPr>
            <p:ph idx="1"/>
          </p:nvPr>
        </p:nvGraphicFramePr>
        <p:xfrm>
          <a:off x="457200" y="2802128"/>
          <a:ext cx="8229600" cy="2122107"/>
        </p:xfrm>
        <a:graphic>
          <a:graphicData uri="http://schemas.openxmlformats.org/drawingml/2006/table">
            <a:tbl>
              <a:tblPr rtl="1" firstRow="1" firstCol="1" bandRow="1">
                <a:tableStyleId>{5C22544A-7EE6-4342-B048-85BDC9FD1C3A}</a:tableStyleId>
              </a:tblPr>
              <a:tblGrid>
                <a:gridCol w="2057400">
                  <a:extLst>
                    <a:ext uri="{9D8B030D-6E8A-4147-A177-3AD203B41FA5}">
                      <a16:colId xmlns:a16="http://schemas.microsoft.com/office/drawing/2014/main" val="4148134926"/>
                    </a:ext>
                  </a:extLst>
                </a:gridCol>
                <a:gridCol w="2057400">
                  <a:extLst>
                    <a:ext uri="{9D8B030D-6E8A-4147-A177-3AD203B41FA5}">
                      <a16:colId xmlns:a16="http://schemas.microsoft.com/office/drawing/2014/main" val="204079747"/>
                    </a:ext>
                  </a:extLst>
                </a:gridCol>
                <a:gridCol w="2057400">
                  <a:extLst>
                    <a:ext uri="{9D8B030D-6E8A-4147-A177-3AD203B41FA5}">
                      <a16:colId xmlns:a16="http://schemas.microsoft.com/office/drawing/2014/main" val="4027080804"/>
                    </a:ext>
                  </a:extLst>
                </a:gridCol>
                <a:gridCol w="2057400">
                  <a:extLst>
                    <a:ext uri="{9D8B030D-6E8A-4147-A177-3AD203B41FA5}">
                      <a16:colId xmlns:a16="http://schemas.microsoft.com/office/drawing/2014/main" val="1301544805"/>
                    </a:ext>
                  </a:extLst>
                </a:gridCol>
              </a:tblGrid>
              <a:tr h="0">
                <a:tc>
                  <a:txBody>
                    <a:bodyPr/>
                    <a:lstStyle/>
                    <a:p>
                      <a:pPr algn="r" rtl="1">
                        <a:lnSpc>
                          <a:spcPct val="115000"/>
                        </a:lnSpc>
                        <a:spcAft>
                          <a:spcPts val="800"/>
                        </a:spcAft>
                        <a:buNone/>
                      </a:pPr>
                      <a:r>
                        <a:rPr lang="ar-SA" sz="1200" kern="100">
                          <a:effectLst/>
                        </a:rPr>
                        <a:t>مقدمه</a:t>
                      </a:r>
                      <a:r>
                        <a:rPr lang="en-US" sz="1200" kern="100">
                          <a:effectLst/>
                        </a:rPr>
                        <a:t> MQTT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en-US" sz="1200" kern="100">
                          <a:effectLst/>
                        </a:rPr>
                        <a:t>4</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a:effectLst/>
                        </a:rPr>
                        <a:t>تعریف</a:t>
                      </a:r>
                      <a:r>
                        <a:rPr lang="en-US" sz="1200" kern="100">
                          <a:effectLst/>
                        </a:rPr>
                        <a:t> MQTT</a:t>
                      </a:r>
                      <a:r>
                        <a:rPr lang="ar-SA" sz="1200" kern="100">
                          <a:effectLst/>
                        </a:rPr>
                        <a:t>، مدل </a:t>
                      </a:r>
                      <a:r>
                        <a:rPr lang="en-US" sz="1200" kern="100">
                          <a:effectLst/>
                        </a:rPr>
                        <a:t>Publish/Subscribe </a:t>
                      </a:r>
                      <a:r>
                        <a:rPr lang="ar-SA" sz="1200" kern="100">
                          <a:effectLst/>
                        </a:rPr>
                        <a:t>(ناشر/مشترک) و تفاوت با</a:t>
                      </a:r>
                      <a:r>
                        <a:rPr lang="en-US" sz="1200" kern="100">
                          <a:effectLst/>
                        </a:rPr>
                        <a:t> Client/Server. </a:t>
                      </a:r>
                      <a:r>
                        <a:rPr lang="ar-SA" sz="1200" kern="100">
                          <a:effectLst/>
                        </a:rPr>
                        <a:t>مفاهیم</a:t>
                      </a:r>
                      <a:r>
                        <a:rPr lang="en-US" sz="1200" kern="100">
                          <a:effectLst/>
                        </a:rPr>
                        <a:t> Broker </a:t>
                      </a:r>
                      <a:r>
                        <a:rPr lang="ar-SA" sz="1200" kern="100">
                          <a:effectLst/>
                        </a:rPr>
                        <a:t>و</a:t>
                      </a:r>
                      <a:r>
                        <a:rPr lang="en-US" sz="1200" kern="100">
                          <a:effectLst/>
                        </a:rPr>
                        <a:t> Topic.</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a:effectLst/>
                        </a:rPr>
                        <a:t>دیاگرام مدل</a:t>
                      </a:r>
                      <a:r>
                        <a:rPr lang="en-US" sz="1200" kern="100">
                          <a:effectLst/>
                        </a:rPr>
                        <a:t> Pub/Sub </a:t>
                      </a:r>
                      <a:r>
                        <a:rPr lang="ar-SA" sz="1200" kern="100">
                          <a:effectLst/>
                        </a:rPr>
                        <a:t>با</a:t>
                      </a:r>
                      <a:r>
                        <a:rPr lang="en-US" sz="1200" kern="100">
                          <a:effectLst/>
                        </a:rPr>
                        <a:t> Broker </a:t>
                      </a:r>
                      <a:r>
                        <a:rPr lang="ar-SA" sz="1200" kern="100">
                          <a:effectLst/>
                        </a:rPr>
                        <a:t>در مرکز</a:t>
                      </a:r>
                      <a:r>
                        <a:rPr lang="en-US" sz="1200" kern="100">
                          <a:effectLst/>
                        </a:rPr>
                        <a: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293340378"/>
                  </a:ext>
                </a:extLst>
              </a:tr>
              <a:tr h="0">
                <a:tc>
                  <a:txBody>
                    <a:bodyPr/>
                    <a:lstStyle/>
                    <a:p>
                      <a:pPr algn="r" rtl="1">
                        <a:lnSpc>
                          <a:spcPct val="115000"/>
                        </a:lnSpc>
                        <a:spcAft>
                          <a:spcPts val="800"/>
                        </a:spcAft>
                        <a:buNone/>
                      </a:pPr>
                      <a:r>
                        <a:rPr lang="ar-SA" sz="1200" kern="100">
                          <a:effectLst/>
                        </a:rPr>
                        <a:t>ویژگی‌های</a:t>
                      </a:r>
                      <a:r>
                        <a:rPr lang="en-US" sz="1200" kern="100">
                          <a:effectLst/>
                        </a:rPr>
                        <a:t> MQTT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en-US" sz="1200" kern="100">
                          <a:effectLst/>
                        </a:rPr>
                        <a:t>3</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a:effectLst/>
                        </a:rPr>
                        <a:t>کیفیت سرویس</a:t>
                      </a:r>
                      <a:r>
                        <a:rPr lang="en-US" sz="1200" kern="100">
                          <a:effectLst/>
                        </a:rPr>
                        <a:t> (QoS: 0, 1, 2). </a:t>
                      </a:r>
                      <a:r>
                        <a:rPr lang="ar-SA" sz="1200" kern="100">
                          <a:effectLst/>
                        </a:rPr>
                        <a:t>پیام‌های</a:t>
                      </a:r>
                      <a:r>
                        <a:rPr lang="en-US" sz="1200" kern="100">
                          <a:effectLst/>
                        </a:rPr>
                        <a:t> LWT (Last Will and Testament) </a:t>
                      </a:r>
                      <a:r>
                        <a:rPr lang="ar-SA" sz="1200" kern="100">
                          <a:effectLst/>
                        </a:rPr>
                        <a:t>و</a:t>
                      </a:r>
                      <a:r>
                        <a:rPr lang="en-US" sz="1200" kern="100">
                          <a:effectLst/>
                        </a:rPr>
                        <a:t> Retain.</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a:effectLst/>
                        </a:rPr>
                        <a:t>توضیح تصویری سطوح</a:t>
                      </a:r>
                      <a:r>
                        <a:rPr lang="en-US" sz="1200" kern="100">
                          <a:effectLst/>
                        </a:rPr>
                        <a:t> QoS.</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520048788"/>
                  </a:ext>
                </a:extLst>
              </a:tr>
              <a:tr h="0">
                <a:tc>
                  <a:txBody>
                    <a:bodyPr/>
                    <a:lstStyle/>
                    <a:p>
                      <a:pPr algn="r" rtl="1">
                        <a:lnSpc>
                          <a:spcPct val="115000"/>
                        </a:lnSpc>
                        <a:spcAft>
                          <a:spcPts val="800"/>
                        </a:spcAft>
                        <a:buNone/>
                      </a:pPr>
                      <a:r>
                        <a:rPr lang="ar-SA" sz="1200" kern="100">
                          <a:effectLst/>
                        </a:rPr>
                        <a:t>پیاده‌سازی</a:t>
                      </a:r>
                      <a:r>
                        <a:rPr lang="en-US" sz="1200" kern="100">
                          <a:effectLst/>
                        </a:rPr>
                        <a:t> Client</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en-US" sz="1200" kern="100">
                          <a:effectLst/>
                        </a:rPr>
                        <a:t>4</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a:effectLst/>
                        </a:rPr>
                        <a:t>استفاده از یک کتابخانه</a:t>
                      </a:r>
                      <a:r>
                        <a:rPr lang="en-US" sz="1200" kern="100">
                          <a:effectLst/>
                        </a:rPr>
                        <a:t> Client (</a:t>
                      </a:r>
                      <a:r>
                        <a:rPr lang="ar-SA" sz="1200" kern="100">
                          <a:effectLst/>
                        </a:rPr>
                        <a:t>مثلاً </a:t>
                      </a:r>
                      <a:r>
                        <a:rPr lang="en-US" sz="1200" kern="100">
                          <a:effectLst/>
                        </a:rPr>
                        <a:t>Paho </a:t>
                      </a:r>
                      <a:r>
                        <a:rPr lang="ar-SA" sz="1200" kern="100">
                          <a:effectLst/>
                        </a:rPr>
                        <a:t>یا نمونه‌های</a:t>
                      </a:r>
                      <a:r>
                        <a:rPr lang="en-US" sz="1200" kern="100">
                          <a:effectLst/>
                        </a:rPr>
                        <a:t> LwIP). </a:t>
                      </a:r>
                      <a:r>
                        <a:rPr lang="ar-SA" sz="1200" kern="100">
                          <a:effectLst/>
                        </a:rPr>
                        <a:t>توابع کلیدی</a:t>
                      </a:r>
                      <a:r>
                        <a:rPr lang="en-US" sz="1200" kern="100">
                          <a:effectLst/>
                        </a:rPr>
                        <a:t>: Connect, Publish, Subscribe.</a:t>
                      </a:r>
                      <a:endParaRPr lang="en-US" sz="1200" kern="1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r" rtl="1">
                        <a:lnSpc>
                          <a:spcPct val="115000"/>
                        </a:lnSpc>
                        <a:spcAft>
                          <a:spcPts val="800"/>
                        </a:spcAft>
                        <a:buNone/>
                      </a:pPr>
                      <a:r>
                        <a:rPr lang="ar-SA" sz="1200" kern="100" dirty="0">
                          <a:effectLst/>
                        </a:rPr>
                        <a:t>فلوچارت</a:t>
                      </a:r>
                      <a:r>
                        <a:rPr lang="en-US" sz="1200" kern="100" dirty="0">
                          <a:effectLst/>
                        </a:rPr>
                        <a:t> Task </a:t>
                      </a:r>
                      <a:r>
                        <a:rPr lang="ar-SA" sz="1200" kern="100" dirty="0">
                          <a:effectLst/>
                        </a:rPr>
                        <a:t>مربوط به</a:t>
                      </a:r>
                      <a:r>
                        <a:rPr lang="en-US" sz="1200" kern="100" dirty="0">
                          <a:effectLst/>
                        </a:rPr>
                        <a:t> MQTT (</a:t>
                      </a:r>
                      <a:r>
                        <a:rPr lang="ar-SA" sz="1200" kern="100" dirty="0">
                          <a:effectLst/>
                        </a:rPr>
                        <a:t>شامل اتصال مجدد</a:t>
                      </a:r>
                      <a:r>
                        <a:rPr lang="en-US" sz="1200" kern="100" dirty="0">
                          <a:effectLst/>
                        </a:rPr>
                        <a:t>).</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767431214"/>
                  </a:ext>
                </a:extLst>
              </a:tr>
            </a:tbl>
          </a:graphicData>
        </a:graphic>
      </p:graphicFrame>
    </p:spTree>
    <p:extLst>
      <p:ext uri="{BB962C8B-B14F-4D97-AF65-F5344CB8AC3E}">
        <p14:creationId xmlns:p14="http://schemas.microsoft.com/office/powerpoint/2010/main" val="386908170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23D8A-9B44-E1AD-CB03-5B8734CEEB7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6005DCF-8DD6-D110-5E41-2FC24FCBAF7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0806885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3C710-5324-03A5-058F-AE05D07488CB}"/>
              </a:ext>
            </a:extLst>
          </p:cNvPr>
          <p:cNvSpPr>
            <a:spLocks noGrp="1"/>
          </p:cNvSpPr>
          <p:nvPr>
            <p:ph type="title"/>
          </p:nvPr>
        </p:nvSpPr>
        <p:spPr/>
        <p:txBody>
          <a:bodyPr/>
          <a:lstStyle/>
          <a:p>
            <a:r>
              <a:rPr lang="en-US" dirty="0"/>
              <a:t>Free RTOS</a:t>
            </a:r>
          </a:p>
        </p:txBody>
      </p:sp>
    </p:spTree>
    <p:extLst>
      <p:ext uri="{BB962C8B-B14F-4D97-AF65-F5344CB8AC3E}">
        <p14:creationId xmlns:p14="http://schemas.microsoft.com/office/powerpoint/2010/main" val="46914288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78A41-71D6-7B88-EC8A-09FA002BA30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59A1622-DB08-DEE9-1638-E5480756CA96}"/>
              </a:ext>
            </a:extLst>
          </p:cNvPr>
          <p:cNvSpPr>
            <a:spLocks noGrp="1"/>
          </p:cNvSpPr>
          <p:nvPr>
            <p:ph idx="1"/>
          </p:nvPr>
        </p:nvSpPr>
        <p:spPr/>
        <p:txBody>
          <a:bodyPr>
            <a:normAutofit fontScale="25000" lnSpcReduction="20000"/>
          </a:bodyPr>
          <a:lstStyle/>
          <a:p>
            <a:pPr lvl="0" algn="r"/>
            <a:r>
              <a:rPr lang="ar-SA" dirty="0"/>
              <a:t>آموزش نحوه مشاهده </a:t>
            </a:r>
            <a:r>
              <a:rPr lang="en-US" b="1" dirty="0"/>
              <a:t>Stack Watermark</a:t>
            </a:r>
            <a:r>
              <a:rPr lang="ar-SA" dirty="0"/>
              <a:t> برای جلوگیری از </a:t>
            </a:r>
            <a:r>
              <a:rPr lang="en-US" dirty="0"/>
              <a:t>Stack Overflow</a:t>
            </a:r>
            <a:r>
              <a:rPr lang="ar-SA" dirty="0"/>
              <a:t> و تنظیم بهینه اندازه </a:t>
            </a:r>
            <a:r>
              <a:rPr lang="en-US" dirty="0"/>
              <a:t>Stack</a:t>
            </a:r>
            <a:r>
              <a:rPr lang="ar-SA" dirty="0"/>
              <a:t> هر </a:t>
            </a:r>
            <a:r>
              <a:rPr lang="en-US" dirty="0"/>
              <a:t>Task</a:t>
            </a:r>
            <a:r>
              <a:rPr lang="ar-SA" dirty="0"/>
              <a:t>.</a:t>
            </a:r>
            <a:endParaRPr lang="en-US" dirty="0"/>
          </a:p>
          <a:p>
            <a:pPr algn="r"/>
            <a:r>
              <a:rPr lang="fa-IR" dirty="0"/>
              <a:t>۱. </a:t>
            </a:r>
            <a:r>
              <a:rPr lang="ar-SA" dirty="0"/>
              <a:t>فعال کردن بررسی سرریز پشته</a:t>
            </a:r>
            <a:endParaRPr lang="en-US" dirty="0"/>
          </a:p>
          <a:p>
            <a:pPr algn="r"/>
            <a:r>
              <a:rPr lang="ar-SA" dirty="0"/>
              <a:t>برای اینکه </a:t>
            </a:r>
            <a:r>
              <a:rPr lang="en-US" dirty="0" err="1"/>
              <a:t>FreeRTOS</a:t>
            </a:r>
            <a:r>
              <a:rPr lang="ar-SA" dirty="0"/>
              <a:t> بتواند سرریز پشته را تشخیص دهد، ابتدا باید در فایل پیکربندی </a:t>
            </a:r>
            <a:r>
              <a:rPr lang="en-US" dirty="0" err="1"/>
              <a:t>FreeRTOS</a:t>
            </a:r>
            <a:r>
              <a:rPr lang="en-US" dirty="0"/>
              <a:t> (</a:t>
            </a:r>
            <a:r>
              <a:rPr lang="en-US" dirty="0" err="1"/>
              <a:t>FreeRTOSConfig.h</a:t>
            </a:r>
            <a:r>
              <a:rPr lang="en-US" dirty="0"/>
              <a:t>)</a:t>
            </a:r>
            <a:r>
              <a:rPr lang="ar-SA" dirty="0"/>
              <a:t>، تنظیمات را فعال کنید:</a:t>
            </a:r>
            <a:endParaRPr lang="en-US" dirty="0"/>
          </a:p>
          <a:p>
            <a:pPr algn="r"/>
            <a:r>
              <a:rPr lang="en-US" dirty="0"/>
              <a:t>c</a:t>
            </a:r>
          </a:p>
          <a:p>
            <a:pPr algn="r"/>
            <a:r>
              <a:rPr lang="ar-SA" dirty="0"/>
              <a:t>#</a:t>
            </a:r>
            <a:r>
              <a:rPr lang="en-US" dirty="0"/>
              <a:t>define </a:t>
            </a:r>
            <a:r>
              <a:rPr lang="en-US" dirty="0" err="1"/>
              <a:t>configCHECK_FOR_STACK_OVERFLOW</a:t>
            </a:r>
            <a:r>
              <a:rPr lang="en-US" dirty="0"/>
              <a:t> 1</a:t>
            </a:r>
          </a:p>
          <a:p>
            <a:pPr algn="r"/>
            <a:r>
              <a:rPr lang="en-US" dirty="0" err="1"/>
              <a:t>FreeRTOS</a:t>
            </a:r>
            <a:r>
              <a:rPr lang="en-US" dirty="0"/>
              <a:t> website (</a:t>
            </a:r>
            <a:r>
              <a:rPr lang="en-US" dirty="0" err="1"/>
              <a:t>configCHECK_FOR_STACK_OVERFLOW</a:t>
            </a:r>
            <a:r>
              <a:rPr lang="en-US" dirty="0"/>
              <a:t>)</a:t>
            </a:r>
          </a:p>
          <a:p>
            <a:pPr algn="r"/>
            <a:r>
              <a:rPr lang="fa-IR" dirty="0"/>
              <a:t>۲. </a:t>
            </a:r>
            <a:r>
              <a:rPr lang="ar-SA" dirty="0"/>
              <a:t>مشاهده نشانگر بالای پشته (</a:t>
            </a:r>
            <a:r>
              <a:rPr lang="en-US" dirty="0"/>
              <a:t>High Water Mark</a:t>
            </a:r>
            <a:r>
              <a:rPr lang="ar-SA" dirty="0"/>
              <a:t>)</a:t>
            </a:r>
            <a:endParaRPr lang="en-US" dirty="0"/>
          </a:p>
          <a:p>
            <a:pPr algn="r"/>
            <a:r>
              <a:rPr lang="ar-SA" dirty="0"/>
              <a:t>تابع: </a:t>
            </a:r>
            <a:r>
              <a:rPr lang="en-US" dirty="0" err="1"/>
              <a:t>UBaseType_t</a:t>
            </a:r>
            <a:r>
              <a:rPr lang="en-US" dirty="0"/>
              <a:t> </a:t>
            </a:r>
            <a:r>
              <a:rPr lang="en-US" dirty="0" err="1"/>
              <a:t>uxTaskGetStackHighWaterMark</a:t>
            </a:r>
            <a:r>
              <a:rPr lang="en-US" dirty="0"/>
              <a:t>(</a:t>
            </a:r>
            <a:r>
              <a:rPr lang="en-US" dirty="0" err="1"/>
              <a:t>TaskHandle_t</a:t>
            </a:r>
            <a:r>
              <a:rPr lang="en-US" dirty="0"/>
              <a:t> </a:t>
            </a:r>
            <a:r>
              <a:rPr lang="en-US" dirty="0" err="1"/>
              <a:t>xTask</a:t>
            </a:r>
            <a:r>
              <a:rPr lang="en-US" dirty="0"/>
              <a:t>)</a:t>
            </a:r>
            <a:r>
              <a:rPr lang="ar-SA" dirty="0"/>
              <a:t>.</a:t>
            </a:r>
            <a:endParaRPr lang="en-US" dirty="0"/>
          </a:p>
          <a:p>
            <a:pPr algn="r"/>
            <a:r>
              <a:rPr lang="ar-SA" dirty="0"/>
              <a:t>کاربرد: این تابع به شما می‌گوید که در طول عمر تسک، عمیق‌ترین نقطه استفاده از پشته چقدر بوده است. مقدار بازگشتی بر حسب کلمه (</a:t>
            </a:r>
            <a:r>
              <a:rPr lang="en-US" dirty="0"/>
              <a:t>word</a:t>
            </a:r>
            <a:r>
              <a:rPr lang="ar-SA" dirty="0"/>
              <a:t>) است (مثلاً در معماری </a:t>
            </a:r>
            <a:r>
              <a:rPr lang="fa-IR" dirty="0"/>
              <a:t>۳۲</a:t>
            </a:r>
            <a:r>
              <a:rPr lang="ar-SA" dirty="0"/>
              <a:t> بیتی، </a:t>
            </a:r>
            <a:r>
              <a:rPr lang="fa-IR" dirty="0"/>
              <a:t>۱</a:t>
            </a:r>
            <a:r>
              <a:rPr lang="ar-SA" dirty="0"/>
              <a:t> به معنی </a:t>
            </a:r>
            <a:r>
              <a:rPr lang="fa-IR" dirty="0"/>
              <a:t>۴</a:t>
            </a:r>
            <a:r>
              <a:rPr lang="ar-SA" dirty="0"/>
              <a:t> بایت است).</a:t>
            </a:r>
            <a:endParaRPr lang="en-US" dirty="0"/>
          </a:p>
          <a:p>
            <a:pPr algn="r"/>
            <a:r>
              <a:rPr lang="ar-SA" dirty="0"/>
              <a:t>تفسیر:</a:t>
            </a:r>
            <a:endParaRPr lang="en-US" dirty="0"/>
          </a:p>
          <a:p>
            <a:pPr algn="r"/>
            <a:r>
              <a:rPr lang="ar-SA" dirty="0"/>
              <a:t>اگر مقدار نزدیک به صفر باشد، تسک به سرریز پشته نزدیک شده است.</a:t>
            </a:r>
            <a:endParaRPr lang="en-US" dirty="0"/>
          </a:p>
          <a:p>
            <a:pPr algn="r"/>
            <a:r>
              <a:rPr lang="ar-SA" dirty="0"/>
              <a:t>اگر صفر برگرداند، ممکن است پشته سرریز شده باشد.</a:t>
            </a:r>
            <a:endParaRPr lang="en-US" dirty="0"/>
          </a:p>
          <a:p>
            <a:pPr algn="r"/>
            <a:r>
              <a:rPr lang="ar-SA" dirty="0"/>
              <a:t>مثال کد:</a:t>
            </a:r>
            <a:endParaRPr lang="en-US" dirty="0"/>
          </a:p>
          <a:p>
            <a:pPr algn="r"/>
            <a:r>
              <a:rPr lang="en-US" dirty="0"/>
              <a:t>c</a:t>
            </a:r>
          </a:p>
          <a:p>
            <a:pPr algn="r"/>
            <a:r>
              <a:rPr lang="en-US" dirty="0" err="1"/>
              <a:t>TaskHandle_t</a:t>
            </a:r>
            <a:r>
              <a:rPr lang="en-US" dirty="0"/>
              <a:t> </a:t>
            </a:r>
            <a:r>
              <a:rPr lang="en-US" dirty="0" err="1"/>
              <a:t>xHandle</a:t>
            </a:r>
            <a:r>
              <a:rPr lang="en-US" dirty="0"/>
              <a:t> = NULL</a:t>
            </a:r>
            <a:r>
              <a:rPr lang="ar-SA" dirty="0"/>
              <a:t>;</a:t>
            </a:r>
            <a:endParaRPr lang="en-US" dirty="0"/>
          </a:p>
          <a:p>
            <a:pPr algn="r"/>
            <a:r>
              <a:rPr lang="en-US" dirty="0" err="1"/>
              <a:t>UBaseType_t</a:t>
            </a:r>
            <a:r>
              <a:rPr lang="en-US" dirty="0"/>
              <a:t> </a:t>
            </a:r>
            <a:r>
              <a:rPr lang="en-US" dirty="0" err="1"/>
              <a:t>uxHighWaterMark</a:t>
            </a:r>
            <a:r>
              <a:rPr lang="ar-SA" dirty="0"/>
              <a:t>;</a:t>
            </a:r>
            <a:endParaRPr lang="en-US" dirty="0"/>
          </a:p>
          <a:p>
            <a:pPr algn="r"/>
            <a:r>
              <a:rPr lang="en-US" dirty="0"/>
              <a:t> </a:t>
            </a:r>
          </a:p>
          <a:p>
            <a:pPr algn="r"/>
            <a:r>
              <a:rPr lang="ar-SA" dirty="0"/>
              <a:t>// فرض کنید تسکی با نام </a:t>
            </a:r>
            <a:r>
              <a:rPr lang="en-US" dirty="0" err="1"/>
              <a:t>MyTask</a:t>
            </a:r>
            <a:r>
              <a:rPr lang="ar-SA" dirty="0"/>
              <a:t> ایجاد کرده‌اید</a:t>
            </a:r>
            <a:endParaRPr lang="en-US" dirty="0"/>
          </a:p>
          <a:p>
            <a:pPr algn="r"/>
            <a:r>
              <a:rPr lang="en-US" dirty="0" err="1"/>
              <a:t>xTaskCreate</a:t>
            </a:r>
            <a:r>
              <a:rPr lang="en-US" dirty="0"/>
              <a:t>(</a:t>
            </a:r>
            <a:r>
              <a:rPr lang="en-US" dirty="0" err="1"/>
              <a:t>MyTask</a:t>
            </a:r>
            <a:r>
              <a:rPr lang="en-US" dirty="0"/>
              <a:t>, "</a:t>
            </a:r>
            <a:r>
              <a:rPr lang="en-US" dirty="0" err="1"/>
              <a:t>MyTask</a:t>
            </a:r>
            <a:r>
              <a:rPr lang="en-US" dirty="0"/>
              <a:t>", STACK_SIZE, NULL, </a:t>
            </a:r>
            <a:r>
              <a:rPr lang="en-US" dirty="0" err="1"/>
              <a:t>tskIDLE_PRIORITY</a:t>
            </a:r>
            <a:r>
              <a:rPr lang="en-US" dirty="0"/>
              <a:t>, &amp;</a:t>
            </a:r>
            <a:r>
              <a:rPr lang="en-US" dirty="0" err="1"/>
              <a:t>xHandle</a:t>
            </a:r>
            <a:r>
              <a:rPr lang="en-US" dirty="0"/>
              <a:t>)</a:t>
            </a:r>
            <a:r>
              <a:rPr lang="ar-SA" dirty="0"/>
              <a:t>;</a:t>
            </a:r>
            <a:endParaRPr lang="en-US" dirty="0"/>
          </a:p>
          <a:p>
            <a:pPr algn="r"/>
            <a:r>
              <a:rPr lang="en-US" dirty="0"/>
              <a:t> </a:t>
            </a:r>
          </a:p>
          <a:p>
            <a:pPr algn="r"/>
            <a:r>
              <a:rPr lang="ar-SA" dirty="0"/>
              <a:t>// در نقطه‌ای از برنامه (مثلاً در تسک اصلی یا در یک تسک دیگر)</a:t>
            </a:r>
            <a:endParaRPr lang="en-US" dirty="0"/>
          </a:p>
          <a:p>
            <a:pPr algn="r"/>
            <a:r>
              <a:rPr lang="en-US" dirty="0" err="1"/>
              <a:t>uxHighWaterMark</a:t>
            </a:r>
            <a:r>
              <a:rPr lang="en-US" dirty="0"/>
              <a:t> = </a:t>
            </a:r>
            <a:r>
              <a:rPr lang="en-US" dirty="0" err="1"/>
              <a:t>uxTaskGetStackHighWaterMark</a:t>
            </a:r>
            <a:r>
              <a:rPr lang="en-US" dirty="0"/>
              <a:t>(</a:t>
            </a:r>
            <a:r>
              <a:rPr lang="en-US" dirty="0" err="1"/>
              <a:t>xHandle</a:t>
            </a:r>
            <a:r>
              <a:rPr lang="en-US" dirty="0"/>
              <a:t>)</a:t>
            </a:r>
            <a:r>
              <a:rPr lang="ar-SA" dirty="0"/>
              <a:t>;</a:t>
            </a:r>
            <a:endParaRPr lang="en-US" dirty="0"/>
          </a:p>
          <a:p>
            <a:pPr algn="r"/>
            <a:r>
              <a:rPr lang="en-US" dirty="0"/>
              <a:t> </a:t>
            </a:r>
          </a:p>
          <a:p>
            <a:pPr algn="r"/>
            <a:r>
              <a:rPr lang="en-US" dirty="0"/>
              <a:t>if (</a:t>
            </a:r>
            <a:r>
              <a:rPr lang="en-US" dirty="0" err="1"/>
              <a:t>uxHighWaterMark</a:t>
            </a:r>
            <a:r>
              <a:rPr lang="en-US" dirty="0"/>
              <a:t> &lt; 50)</a:t>
            </a:r>
            <a:r>
              <a:rPr lang="ar-SA" dirty="0"/>
              <a:t> { // فرض کنید </a:t>
            </a:r>
            <a:r>
              <a:rPr lang="fa-IR" dirty="0"/>
              <a:t>۵۰</a:t>
            </a:r>
            <a:r>
              <a:rPr lang="ar-SA" dirty="0"/>
              <a:t> کلمه آستانه است</a:t>
            </a:r>
            <a:endParaRPr lang="en-US" dirty="0"/>
          </a:p>
          <a:p>
            <a:pPr algn="r"/>
            <a:r>
              <a:rPr lang="ar-SA" dirty="0"/>
              <a:t>    // هشدار: پشته نزدیک به سرریز است!</a:t>
            </a:r>
            <a:endParaRPr lang="en-US" dirty="0"/>
          </a:p>
          <a:p>
            <a:pPr algn="r"/>
            <a:r>
              <a:rPr lang="ar-SA" dirty="0"/>
              <a:t>}</a:t>
            </a:r>
            <a:endParaRPr lang="en-US" dirty="0"/>
          </a:p>
          <a:p>
            <a:pPr algn="r"/>
            <a:r>
              <a:rPr lang="en-US" dirty="0"/>
              <a:t> </a:t>
            </a:r>
          </a:p>
          <a:p>
            <a:pPr algn="r"/>
            <a:r>
              <a:rPr lang="fa-IR" dirty="0"/>
              <a:t>۳. </a:t>
            </a:r>
            <a:r>
              <a:rPr lang="ar-SA" dirty="0"/>
              <a:t>تنظیم بهینه اندازه پشته هر </a:t>
            </a:r>
            <a:r>
              <a:rPr lang="en-US" dirty="0"/>
              <a:t>Task</a:t>
            </a:r>
          </a:p>
          <a:p>
            <a:pPr algn="r"/>
            <a:r>
              <a:rPr lang="ar-SA" dirty="0"/>
              <a:t>تعیین اندازه اولیه: اندازه پشته را کمی بیشتر از میزانی که با </a:t>
            </a:r>
            <a:r>
              <a:rPr lang="en-US" dirty="0" err="1"/>
              <a:t>uxTaskGetStackHighWaterMark</a:t>
            </a:r>
            <a:r>
              <a:rPr lang="ar-SA" dirty="0"/>
              <a:t>() مشاهده کرده‌اید، در نظر بگیرید.</a:t>
            </a:r>
            <a:endParaRPr lang="en-US" dirty="0"/>
          </a:p>
          <a:p>
            <a:pPr algn="r"/>
            <a:r>
              <a:rPr lang="ar-SA" dirty="0"/>
              <a:t>کاهش اندازه: اگر مقدار </a:t>
            </a:r>
            <a:r>
              <a:rPr lang="en-US" dirty="0" err="1"/>
              <a:t>uxHighWaterMark</a:t>
            </a:r>
            <a:r>
              <a:rPr lang="ar-SA" dirty="0"/>
              <a:t> به طور مداوم کم است (مثلاً کمتر از </a:t>
            </a:r>
            <a:r>
              <a:rPr lang="fa-IR" dirty="0"/>
              <a:t>۲۰%</a:t>
            </a:r>
            <a:r>
              <a:rPr lang="ar-SA" dirty="0"/>
              <a:t> فضای اختصاص داده شده)، می‌توانید اندازه پشته را کاهش دهید تا حافظه آزاد شود.</a:t>
            </a:r>
            <a:endParaRPr lang="en-US" dirty="0"/>
          </a:p>
          <a:p>
            <a:pPr algn="r"/>
            <a:r>
              <a:rPr lang="ar-SA" dirty="0"/>
              <a:t>آگاه بودن از زمان: عمیق‌ترین استفاده از پشته اغلب زمانی رخ می‌دهد که هسته </a:t>
            </a:r>
            <a:r>
              <a:rPr lang="en-US" dirty="0"/>
              <a:t>RTOS</a:t>
            </a:r>
            <a:r>
              <a:rPr lang="ar-SA" dirty="0"/>
              <a:t> تسک را خارج می‌کند تا تسک دیگری را اجرا کند و زمینه پردازنده ذخیره شود. </a:t>
            </a:r>
            <a:endParaRPr lang="en-US" dirty="0"/>
          </a:p>
          <a:p>
            <a:pPr algn="r"/>
            <a:r>
              <a:rPr lang="fa-IR" dirty="0"/>
              <a:t>۴. </a:t>
            </a:r>
            <a:r>
              <a:rPr lang="ar-SA" dirty="0"/>
              <a:t>استفاده از تابع </a:t>
            </a:r>
            <a:r>
              <a:rPr lang="en-US" dirty="0"/>
              <a:t>Hook</a:t>
            </a:r>
            <a:r>
              <a:rPr lang="ar-SA" dirty="0"/>
              <a:t> برای تشخیص خودکار</a:t>
            </a:r>
            <a:endParaRPr lang="en-US" dirty="0"/>
          </a:p>
          <a:p>
            <a:pPr algn="r"/>
            <a:r>
              <a:rPr lang="ar-SA" dirty="0"/>
              <a:t>اگر </a:t>
            </a:r>
            <a:r>
              <a:rPr lang="en-US" dirty="0" err="1"/>
              <a:t>configCHECK_FOR_STACK_OVERFLOW</a:t>
            </a:r>
            <a:r>
              <a:rPr lang="ar-SA" dirty="0"/>
              <a:t> فعال باشد، </a:t>
            </a:r>
            <a:r>
              <a:rPr lang="en-US" dirty="0" err="1"/>
              <a:t>FreeRTOS</a:t>
            </a:r>
            <a:r>
              <a:rPr lang="ar-SA" dirty="0"/>
              <a:t> هنگام سرریز پشته تابع هوک (</a:t>
            </a:r>
            <a:r>
              <a:rPr lang="en-US" dirty="0"/>
              <a:t>Hook</a:t>
            </a:r>
            <a:r>
              <a:rPr lang="ar-SA" dirty="0"/>
              <a:t>) شما را فراخوانی می‌کند:</a:t>
            </a:r>
            <a:endParaRPr lang="en-US" dirty="0"/>
          </a:p>
          <a:p>
            <a:pPr algn="r"/>
            <a:r>
              <a:rPr lang="en-US" dirty="0" err="1"/>
              <a:t>vApplicationStackOverflowHook</a:t>
            </a:r>
            <a:r>
              <a:rPr lang="ar-SA" dirty="0"/>
              <a:t>()`: این تابع را پیاده‌سازی کنید تا در زمان سرریز پشته اجرا شود و بتوانید اقدامات لازم (مانند لاگ کردن، ریست کردن سیستم، یا توقف تسک) را انجام دهید.</a:t>
            </a:r>
            <a:endParaRPr lang="en-US" dirty="0"/>
          </a:p>
          <a:p>
            <a:pPr algn="r"/>
            <a:r>
              <a:rPr lang="ar-SA" dirty="0"/>
              <a:t>با این روش‌ها، می‌توانید پشته تسک‌های خود را پایش کرده و به طور موثر از سرریز پشته و مشکلات ناشی از آن جلوگیری کنید.</a:t>
            </a:r>
            <a:endParaRPr lang="en-US" dirty="0"/>
          </a:p>
          <a:p>
            <a:pPr algn="r"/>
            <a:r>
              <a:rPr lang="en-US" dirty="0"/>
              <a:t> </a:t>
            </a:r>
          </a:p>
          <a:p>
            <a:endParaRPr lang="en-US" dirty="0"/>
          </a:p>
        </p:txBody>
      </p:sp>
    </p:spTree>
    <p:extLst>
      <p:ext uri="{BB962C8B-B14F-4D97-AF65-F5344CB8AC3E}">
        <p14:creationId xmlns:p14="http://schemas.microsoft.com/office/powerpoint/2010/main" val="414183098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EB808-7EA4-E6A3-1274-06B03FBDA0F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B4FCB5F-BB68-4F2A-E1AB-BFC08FFDF6F3}"/>
              </a:ext>
            </a:extLst>
          </p:cNvPr>
          <p:cNvSpPr>
            <a:spLocks noGrp="1"/>
          </p:cNvSpPr>
          <p:nvPr>
            <p:ph idx="1"/>
          </p:nvPr>
        </p:nvSpPr>
        <p:spPr/>
        <p:txBody>
          <a:bodyPr>
            <a:normAutofit/>
          </a:bodyPr>
          <a:lstStyle/>
          <a:p>
            <a:pPr latinLnBrk="1"/>
            <a:r>
              <a:rPr lang="en-US" sz="1400" dirty="0"/>
              <a:t>if(</a:t>
            </a:r>
            <a:r>
              <a:rPr lang="en-US" sz="1400" dirty="0" err="1"/>
              <a:t>xSemaphoreTake</a:t>
            </a:r>
            <a:r>
              <a:rPr lang="en-US" sz="1400" dirty="0"/>
              <a:t>(</a:t>
            </a:r>
            <a:r>
              <a:rPr lang="en-US" sz="1400" dirty="0" err="1"/>
              <a:t>uartMutex</a:t>
            </a:r>
            <a:r>
              <a:rPr lang="en-US" sz="1400" dirty="0"/>
              <a:t>, </a:t>
            </a:r>
            <a:r>
              <a:rPr lang="en-US" sz="1400" dirty="0" err="1"/>
              <a:t>portMAX_DELAY</a:t>
            </a:r>
            <a:r>
              <a:rPr lang="en-US" sz="1400" dirty="0"/>
              <a:t>) == </a:t>
            </a:r>
            <a:r>
              <a:rPr lang="en-US" sz="1400" dirty="0" err="1"/>
              <a:t>pdTRUE</a:t>
            </a:r>
            <a:r>
              <a:rPr lang="en-US" sz="1400" dirty="0"/>
              <a:t>) {</a:t>
            </a:r>
          </a:p>
          <a:p>
            <a:pPr latinLnBrk="1"/>
            <a:r>
              <a:rPr lang="en-US" sz="1400" dirty="0"/>
              <a:t>    </a:t>
            </a:r>
            <a:r>
              <a:rPr lang="en-US" sz="1400" dirty="0" err="1"/>
              <a:t>HAL_UART_Transmit</a:t>
            </a:r>
            <a:r>
              <a:rPr lang="en-US" sz="1400" dirty="0"/>
              <a:t>(&amp;huart1, data, size, timeout);</a:t>
            </a:r>
          </a:p>
          <a:p>
            <a:pPr latinLnBrk="1"/>
            <a:r>
              <a:rPr lang="en-US" sz="1400" dirty="0"/>
              <a:t>    </a:t>
            </a:r>
            <a:r>
              <a:rPr lang="en-US" sz="1400" dirty="0" err="1"/>
              <a:t>xSemaphoreGive</a:t>
            </a:r>
            <a:r>
              <a:rPr lang="en-US" sz="1400" dirty="0"/>
              <a:t>(</a:t>
            </a:r>
            <a:r>
              <a:rPr lang="en-US" sz="1400" dirty="0" err="1"/>
              <a:t>uartMutex</a:t>
            </a:r>
            <a:r>
              <a:rPr lang="en-US" sz="1400" dirty="0"/>
              <a:t>);</a:t>
            </a:r>
          </a:p>
          <a:p>
            <a:pPr latinLnBrk="1"/>
            <a:r>
              <a:rPr lang="en-US" sz="1400" dirty="0"/>
              <a:t>}</a:t>
            </a:r>
          </a:p>
          <a:p>
            <a:pPr latinLnBrk="1"/>
            <a:endParaRPr lang="en-US" sz="1400" i="1" dirty="0"/>
          </a:p>
          <a:p>
            <a:pPr latinLnBrk="1"/>
            <a:endParaRPr lang="en-US" sz="1400" i="1" dirty="0"/>
          </a:p>
          <a:p>
            <a:pPr latinLnBrk="1"/>
            <a:r>
              <a:rPr lang="fa-IR" sz="1400" i="1" dirty="0"/>
              <a:t>// با </a:t>
            </a:r>
            <a:r>
              <a:rPr lang="en-US" sz="1400" i="1" dirty="0"/>
              <a:t>timeout </a:t>
            </a:r>
            <a:r>
              <a:rPr lang="fa-IR" sz="1400" i="1" dirty="0"/>
              <a:t>مناسب</a:t>
            </a:r>
            <a:endParaRPr lang="fa-IR" sz="1400" dirty="0"/>
          </a:p>
          <a:p>
            <a:pPr latinLnBrk="1"/>
            <a:r>
              <a:rPr lang="en-US" sz="1400" dirty="0"/>
              <a:t>if(</a:t>
            </a:r>
            <a:r>
              <a:rPr lang="en-US" sz="1400" dirty="0" err="1"/>
              <a:t>xSemaphoreTake</a:t>
            </a:r>
            <a:r>
              <a:rPr lang="en-US" sz="1400" dirty="0"/>
              <a:t>(</a:t>
            </a:r>
            <a:r>
              <a:rPr lang="en-US" sz="1400" dirty="0" err="1"/>
              <a:t>uartMutex</a:t>
            </a:r>
            <a:r>
              <a:rPr lang="en-US" sz="1400" dirty="0"/>
              <a:t>, </a:t>
            </a:r>
            <a:r>
              <a:rPr lang="en-US" sz="1400" dirty="0" err="1"/>
              <a:t>pdMS_TO_TICKS</a:t>
            </a:r>
            <a:r>
              <a:rPr lang="en-US" sz="1400" dirty="0"/>
              <a:t>(100)) == </a:t>
            </a:r>
            <a:r>
              <a:rPr lang="en-US" sz="1400" dirty="0" err="1"/>
              <a:t>pdTRUE</a:t>
            </a:r>
            <a:r>
              <a:rPr lang="en-US" sz="1400" dirty="0"/>
              <a:t>) {</a:t>
            </a:r>
          </a:p>
          <a:p>
            <a:pPr latinLnBrk="1"/>
            <a:r>
              <a:rPr lang="en-US" sz="1400" dirty="0"/>
              <a:t>    </a:t>
            </a:r>
            <a:r>
              <a:rPr lang="en-US" sz="1400" dirty="0" err="1"/>
              <a:t>HAL_UART_Transmit</a:t>
            </a:r>
            <a:r>
              <a:rPr lang="en-US" sz="1400" dirty="0"/>
              <a:t>(&amp;huart1, data, size, 100);</a:t>
            </a:r>
          </a:p>
          <a:p>
            <a:pPr latinLnBrk="1"/>
            <a:r>
              <a:rPr lang="en-US" sz="1400" dirty="0"/>
              <a:t>    </a:t>
            </a:r>
            <a:r>
              <a:rPr lang="en-US" sz="1400" dirty="0" err="1"/>
              <a:t>xSemaphoreGive</a:t>
            </a:r>
            <a:r>
              <a:rPr lang="en-US" sz="1400" dirty="0"/>
              <a:t>(</a:t>
            </a:r>
            <a:r>
              <a:rPr lang="en-US" sz="1400" dirty="0" err="1"/>
              <a:t>uartMutex</a:t>
            </a:r>
            <a:r>
              <a:rPr lang="en-US" sz="1400" dirty="0"/>
              <a:t>);</a:t>
            </a:r>
          </a:p>
          <a:p>
            <a:pPr latinLnBrk="1"/>
            <a:r>
              <a:rPr lang="en-US" sz="1400" dirty="0"/>
              <a:t>} else {</a:t>
            </a:r>
          </a:p>
          <a:p>
            <a:pPr latinLnBrk="1"/>
            <a:r>
              <a:rPr lang="en-US" sz="1400" dirty="0"/>
              <a:t>    </a:t>
            </a:r>
            <a:r>
              <a:rPr lang="en-US" sz="1400" i="1" dirty="0"/>
              <a:t>// Handle timeout - log error, retry, etc.</a:t>
            </a:r>
            <a:endParaRPr lang="en-US" sz="1400" dirty="0"/>
          </a:p>
          <a:p>
            <a:pPr latinLnBrk="1"/>
            <a:r>
              <a:rPr lang="en-US" sz="1400" dirty="0"/>
              <a:t>}</a:t>
            </a:r>
          </a:p>
          <a:p>
            <a:endParaRPr lang="en-US" sz="1400" dirty="0"/>
          </a:p>
        </p:txBody>
      </p:sp>
    </p:spTree>
    <p:extLst>
      <p:ext uri="{BB962C8B-B14F-4D97-AF65-F5344CB8AC3E}">
        <p14:creationId xmlns:p14="http://schemas.microsoft.com/office/powerpoint/2010/main" val="121302327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F1900-4D87-FCA1-6716-A5004075392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41697D-46DF-2F65-691D-20215BA5B680}"/>
              </a:ext>
            </a:extLst>
          </p:cNvPr>
          <p:cNvSpPr>
            <a:spLocks noGrp="1"/>
          </p:cNvSpPr>
          <p:nvPr>
            <p:ph idx="1"/>
          </p:nvPr>
        </p:nvSpPr>
        <p:spPr/>
        <p:txBody>
          <a:bodyPr>
            <a:normAutofit fontScale="55000" lnSpcReduction="20000"/>
          </a:bodyPr>
          <a:lstStyle/>
          <a:p>
            <a:pPr latinLnBrk="1"/>
            <a:r>
              <a:rPr lang="en-US" dirty="0" err="1"/>
              <a:t>QueueHandle_t</a:t>
            </a:r>
            <a:r>
              <a:rPr lang="en-US" dirty="0"/>
              <a:t> </a:t>
            </a:r>
            <a:r>
              <a:rPr lang="en-US" dirty="0" err="1"/>
              <a:t>uartQueue</a:t>
            </a:r>
            <a:r>
              <a:rPr lang="en-US" dirty="0"/>
              <a:t>;</a:t>
            </a:r>
          </a:p>
          <a:p>
            <a:pPr latinLnBrk="1"/>
            <a:endParaRPr lang="en-US" dirty="0"/>
          </a:p>
          <a:p>
            <a:pPr latinLnBrk="1"/>
            <a:r>
              <a:rPr lang="en-US" i="1" dirty="0"/>
              <a:t>// </a:t>
            </a:r>
            <a:r>
              <a:rPr lang="fa-IR" i="1" dirty="0"/>
              <a:t>تسک مدیریت </a:t>
            </a:r>
            <a:r>
              <a:rPr lang="en-US" i="1" dirty="0"/>
              <a:t>UART</a:t>
            </a:r>
            <a:endParaRPr lang="en-US" dirty="0"/>
          </a:p>
          <a:p>
            <a:pPr latinLnBrk="1"/>
            <a:r>
              <a:rPr lang="en-US" dirty="0"/>
              <a:t>void </a:t>
            </a:r>
            <a:r>
              <a:rPr lang="en-US" dirty="0" err="1"/>
              <a:t>UART_Task</a:t>
            </a:r>
            <a:r>
              <a:rPr lang="en-US" dirty="0"/>
              <a:t>(void *</a:t>
            </a:r>
            <a:r>
              <a:rPr lang="en-US" dirty="0" err="1"/>
              <a:t>pvParameters</a:t>
            </a:r>
            <a:r>
              <a:rPr lang="en-US" dirty="0"/>
              <a:t>) {</a:t>
            </a:r>
          </a:p>
          <a:p>
            <a:pPr latinLnBrk="1"/>
            <a:r>
              <a:rPr lang="en-US" dirty="0"/>
              <a:t>    </a:t>
            </a:r>
            <a:r>
              <a:rPr lang="en-US" dirty="0" err="1"/>
              <a:t>UART_Message_t</a:t>
            </a:r>
            <a:r>
              <a:rPr lang="en-US" dirty="0"/>
              <a:t> msg;</a:t>
            </a:r>
          </a:p>
          <a:p>
            <a:pPr latinLnBrk="1"/>
            <a:r>
              <a:rPr lang="en-US" dirty="0"/>
              <a:t>    while(1) {</a:t>
            </a:r>
          </a:p>
          <a:p>
            <a:pPr latinLnBrk="1"/>
            <a:r>
              <a:rPr lang="en-US" dirty="0"/>
              <a:t>        if(</a:t>
            </a:r>
            <a:r>
              <a:rPr lang="en-US" dirty="0" err="1"/>
              <a:t>xQueueReceive</a:t>
            </a:r>
            <a:r>
              <a:rPr lang="en-US" dirty="0"/>
              <a:t>(</a:t>
            </a:r>
            <a:r>
              <a:rPr lang="en-US" dirty="0" err="1"/>
              <a:t>uartQueue</a:t>
            </a:r>
            <a:r>
              <a:rPr lang="en-US" dirty="0"/>
              <a:t>, &amp;msg, </a:t>
            </a:r>
            <a:r>
              <a:rPr lang="en-US" dirty="0" err="1"/>
              <a:t>portMAX_DELAY</a:t>
            </a:r>
            <a:r>
              <a:rPr lang="en-US" dirty="0"/>
              <a:t>) == </a:t>
            </a:r>
            <a:r>
              <a:rPr lang="en-US" dirty="0" err="1"/>
              <a:t>pdTRUE</a:t>
            </a:r>
            <a:r>
              <a:rPr lang="en-US" dirty="0"/>
              <a:t>) {</a:t>
            </a:r>
          </a:p>
          <a:p>
            <a:pPr latinLnBrk="1"/>
            <a:r>
              <a:rPr lang="en-US" dirty="0"/>
              <a:t>            </a:t>
            </a:r>
            <a:r>
              <a:rPr lang="en-US" dirty="0" err="1"/>
              <a:t>HAL_UART_Transmit</a:t>
            </a:r>
            <a:r>
              <a:rPr lang="en-US" dirty="0"/>
              <a:t>(&amp;huart1, </a:t>
            </a:r>
            <a:r>
              <a:rPr lang="en-US" dirty="0" err="1"/>
              <a:t>msg.data</a:t>
            </a:r>
            <a:r>
              <a:rPr lang="en-US" dirty="0"/>
              <a:t>, </a:t>
            </a:r>
            <a:r>
              <a:rPr lang="en-US" dirty="0" err="1"/>
              <a:t>msg.size</a:t>
            </a:r>
            <a:r>
              <a:rPr lang="en-US" dirty="0"/>
              <a:t>, </a:t>
            </a:r>
            <a:r>
              <a:rPr lang="en-US" dirty="0" err="1"/>
              <a:t>msg.timeout</a:t>
            </a:r>
            <a:r>
              <a:rPr lang="en-US" dirty="0"/>
              <a:t>);</a:t>
            </a:r>
          </a:p>
          <a:p>
            <a:pPr latinLnBrk="1"/>
            <a:r>
              <a:rPr lang="en-US" dirty="0"/>
              <a:t>        }</a:t>
            </a:r>
          </a:p>
          <a:p>
            <a:pPr latinLnBrk="1"/>
            <a:r>
              <a:rPr lang="en-US" dirty="0"/>
              <a:t>    }</a:t>
            </a:r>
          </a:p>
          <a:p>
            <a:pPr latinLnBrk="1"/>
            <a:r>
              <a:rPr lang="en-US" dirty="0"/>
              <a:t>}</a:t>
            </a:r>
          </a:p>
          <a:p>
            <a:pPr latinLnBrk="1"/>
            <a:endParaRPr lang="en-US" dirty="0"/>
          </a:p>
          <a:p>
            <a:pPr latinLnBrk="1"/>
            <a:r>
              <a:rPr lang="en-US" i="1" dirty="0"/>
              <a:t>// </a:t>
            </a:r>
            <a:r>
              <a:rPr lang="fa-IR" i="1" dirty="0"/>
              <a:t>سایر تسک‌ها</a:t>
            </a:r>
            <a:endParaRPr lang="fa-IR" dirty="0"/>
          </a:p>
          <a:p>
            <a:pPr latinLnBrk="1"/>
            <a:r>
              <a:rPr lang="en-US" dirty="0" err="1"/>
              <a:t>UART_Message_t</a:t>
            </a:r>
            <a:r>
              <a:rPr lang="en-US" dirty="0"/>
              <a:t> msg = {data, size, timeout};</a:t>
            </a:r>
          </a:p>
          <a:p>
            <a:pPr latinLnBrk="1"/>
            <a:r>
              <a:rPr lang="en-US" dirty="0" err="1"/>
              <a:t>xQueueSend</a:t>
            </a:r>
            <a:r>
              <a:rPr lang="en-US" dirty="0"/>
              <a:t>(</a:t>
            </a:r>
            <a:r>
              <a:rPr lang="en-US" dirty="0" err="1"/>
              <a:t>uartQueue</a:t>
            </a:r>
            <a:r>
              <a:rPr lang="en-US" dirty="0"/>
              <a:t>, &amp;msg, </a:t>
            </a:r>
            <a:r>
              <a:rPr lang="en-US" dirty="0" err="1"/>
              <a:t>portMAX_DELAY</a:t>
            </a:r>
            <a:r>
              <a:rPr lang="en-US" dirty="0"/>
              <a:t>);</a:t>
            </a:r>
          </a:p>
          <a:p>
            <a:endParaRPr lang="en-US" sz="2000" dirty="0"/>
          </a:p>
        </p:txBody>
      </p:sp>
    </p:spTree>
    <p:extLst>
      <p:ext uri="{BB962C8B-B14F-4D97-AF65-F5344CB8AC3E}">
        <p14:creationId xmlns:p14="http://schemas.microsoft.com/office/powerpoint/2010/main" val="71812161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3459579" y="2468694"/>
            <a:ext cx="2054362" cy="1920612"/>
          </a:xfrm>
          <a:prstGeom prst="rect">
            <a:avLst/>
          </a:prstGeom>
          <a:noFill/>
          <a:ln>
            <a:noFill/>
          </a:ln>
        </p:spPr>
      </p:pic>
      <p:pic>
        <p:nvPicPr>
          <p:cNvPr id="55" name="Google Shape;55;p13"/>
          <p:cNvPicPr preferRelativeResize="0"/>
          <p:nvPr/>
        </p:nvPicPr>
        <p:blipFill>
          <a:blip r:embed="rId4">
            <a:alphaModFix/>
          </a:blip>
          <a:stretch>
            <a:fillRect/>
          </a:stretch>
        </p:blipFill>
        <p:spPr>
          <a:xfrm>
            <a:off x="1263293" y="1943500"/>
            <a:ext cx="706188" cy="706188"/>
          </a:xfrm>
          <a:prstGeom prst="rect">
            <a:avLst/>
          </a:prstGeom>
          <a:noFill/>
          <a:ln>
            <a:noFill/>
          </a:ln>
        </p:spPr>
      </p:pic>
      <p:sp>
        <p:nvSpPr>
          <p:cNvPr id="56" name="Google Shape;56;p13"/>
          <p:cNvSpPr/>
          <p:nvPr/>
        </p:nvSpPr>
        <p:spPr>
          <a:xfrm>
            <a:off x="1132338" y="2741750"/>
            <a:ext cx="815700" cy="815700"/>
          </a:xfrm>
          <a:prstGeom prst="rect">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57" name="Google Shape;57;p13"/>
          <p:cNvSpPr/>
          <p:nvPr/>
        </p:nvSpPr>
        <p:spPr>
          <a:xfrm>
            <a:off x="1208538" y="2817950"/>
            <a:ext cx="815700" cy="815700"/>
          </a:xfrm>
          <a:prstGeom prst="rect">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58" name="Google Shape;58;p13"/>
          <p:cNvSpPr/>
          <p:nvPr/>
        </p:nvSpPr>
        <p:spPr>
          <a:xfrm>
            <a:off x="1284738" y="2894150"/>
            <a:ext cx="815700" cy="815700"/>
          </a:xfrm>
          <a:prstGeom prst="rect">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1</a:t>
            </a:r>
            <a:endParaRPr sz="1500"/>
          </a:p>
        </p:txBody>
      </p:sp>
      <p:sp>
        <p:nvSpPr>
          <p:cNvPr id="59" name="Google Shape;59;p13"/>
          <p:cNvSpPr txBox="1"/>
          <p:nvPr/>
        </p:nvSpPr>
        <p:spPr>
          <a:xfrm>
            <a:off x="812763" y="1567600"/>
            <a:ext cx="1607250" cy="375900"/>
          </a:xfrm>
          <a:prstGeom prst="rect">
            <a:avLst/>
          </a:prstGeom>
          <a:noFill/>
          <a:ln>
            <a:noFill/>
          </a:ln>
        </p:spPr>
        <p:txBody>
          <a:bodyPr spcFirstLastPara="1" wrap="square" lIns="45713" tIns="45713" rIns="45713" bIns="45713" anchor="ctr" anchorCtr="0">
            <a:noAutofit/>
          </a:bodyPr>
          <a:lstStyle/>
          <a:p>
            <a:pPr algn="ctr"/>
            <a:r>
              <a:rPr lang="en" sz="1500"/>
              <a:t>Task scheduling</a:t>
            </a:r>
            <a:endParaRPr sz="1500"/>
          </a:p>
        </p:txBody>
      </p:sp>
      <p:sp>
        <p:nvSpPr>
          <p:cNvPr id="60" name="Google Shape;60;p13"/>
          <p:cNvSpPr/>
          <p:nvPr/>
        </p:nvSpPr>
        <p:spPr>
          <a:xfrm>
            <a:off x="1604313" y="4522150"/>
            <a:ext cx="815700" cy="1022700"/>
          </a:xfrm>
          <a:prstGeom prst="foldedCorner">
            <a:avLst>
              <a:gd name="adj" fmla="val 16667"/>
            </a:avLst>
          </a:prstGeom>
          <a:solidFill>
            <a:srgbClr val="CFE2F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1" name="Google Shape;61;p13"/>
          <p:cNvSpPr/>
          <p:nvPr/>
        </p:nvSpPr>
        <p:spPr>
          <a:xfrm>
            <a:off x="1680513" y="4598350"/>
            <a:ext cx="815700" cy="1022700"/>
          </a:xfrm>
          <a:prstGeom prst="foldedCorner">
            <a:avLst>
              <a:gd name="adj" fmla="val 16667"/>
            </a:avLst>
          </a:prstGeom>
          <a:solidFill>
            <a:srgbClr val="CFE2F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2" name="Google Shape;62;p13"/>
          <p:cNvSpPr/>
          <p:nvPr/>
        </p:nvSpPr>
        <p:spPr>
          <a:xfrm>
            <a:off x="1756713" y="4674550"/>
            <a:ext cx="815700" cy="1022700"/>
          </a:xfrm>
          <a:prstGeom prst="foldedCorner">
            <a:avLst>
              <a:gd name="adj" fmla="val 16667"/>
            </a:avLst>
          </a:prstGeom>
          <a:solidFill>
            <a:srgbClr val="CFE2F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File 1</a:t>
            </a:r>
            <a:endParaRPr sz="1500"/>
          </a:p>
        </p:txBody>
      </p:sp>
      <p:sp>
        <p:nvSpPr>
          <p:cNvPr id="63" name="Google Shape;63;p13"/>
          <p:cNvSpPr txBox="1"/>
          <p:nvPr/>
        </p:nvSpPr>
        <p:spPr>
          <a:xfrm>
            <a:off x="6733338" y="2213450"/>
            <a:ext cx="1607250" cy="375900"/>
          </a:xfrm>
          <a:prstGeom prst="rect">
            <a:avLst/>
          </a:prstGeom>
          <a:noFill/>
          <a:ln>
            <a:noFill/>
          </a:ln>
        </p:spPr>
        <p:txBody>
          <a:bodyPr spcFirstLastPara="1" wrap="square" lIns="45713" tIns="45713" rIns="45713" bIns="45713" anchor="ctr" anchorCtr="0">
            <a:noAutofit/>
          </a:bodyPr>
          <a:lstStyle/>
          <a:p>
            <a:pPr algn="ctr"/>
            <a:r>
              <a:rPr lang="en" sz="1500"/>
              <a:t>Device drivers</a:t>
            </a:r>
            <a:endParaRPr sz="1500"/>
          </a:p>
        </p:txBody>
      </p:sp>
      <p:cxnSp>
        <p:nvCxnSpPr>
          <p:cNvPr id="64" name="Google Shape;64;p13"/>
          <p:cNvCxnSpPr/>
          <p:nvPr/>
        </p:nvCxnSpPr>
        <p:spPr>
          <a:xfrm>
            <a:off x="1129200" y="5109700"/>
            <a:ext cx="551250" cy="0"/>
          </a:xfrm>
          <a:prstGeom prst="straightConnector1">
            <a:avLst/>
          </a:prstGeom>
          <a:noFill/>
          <a:ln w="38100" cap="flat" cmpd="sng">
            <a:solidFill>
              <a:schemeClr val="dk2"/>
            </a:solidFill>
            <a:prstDash val="solid"/>
            <a:round/>
            <a:headEnd type="triangle" w="med" len="med"/>
            <a:tailEnd type="triangle" w="med" len="med"/>
          </a:ln>
        </p:spPr>
      </p:cxnSp>
      <p:sp>
        <p:nvSpPr>
          <p:cNvPr id="65" name="Google Shape;65;p13"/>
          <p:cNvSpPr txBox="1"/>
          <p:nvPr/>
        </p:nvSpPr>
        <p:spPr>
          <a:xfrm>
            <a:off x="581088" y="4721950"/>
            <a:ext cx="551250" cy="775500"/>
          </a:xfrm>
          <a:prstGeom prst="rect">
            <a:avLst/>
          </a:prstGeom>
          <a:noFill/>
          <a:ln>
            <a:noFill/>
          </a:ln>
        </p:spPr>
        <p:txBody>
          <a:bodyPr spcFirstLastPara="1" wrap="square" lIns="45713" tIns="45713" rIns="45713" bIns="45713" anchor="ctr" anchorCtr="0">
            <a:noAutofit/>
          </a:bodyPr>
          <a:lstStyle/>
          <a:p>
            <a:pPr algn="ctr"/>
            <a:r>
              <a:rPr lang="en" sz="1200"/>
              <a:t>Read/Write</a:t>
            </a:r>
            <a:endParaRPr sz="1200"/>
          </a:p>
        </p:txBody>
      </p:sp>
      <p:sp>
        <p:nvSpPr>
          <p:cNvPr id="66" name="Google Shape;66;p13"/>
          <p:cNvSpPr txBox="1"/>
          <p:nvPr/>
        </p:nvSpPr>
        <p:spPr>
          <a:xfrm>
            <a:off x="511407" y="4069425"/>
            <a:ext cx="2209950" cy="375900"/>
          </a:xfrm>
          <a:prstGeom prst="rect">
            <a:avLst/>
          </a:prstGeom>
          <a:noFill/>
          <a:ln>
            <a:noFill/>
          </a:ln>
        </p:spPr>
        <p:txBody>
          <a:bodyPr spcFirstLastPara="1" wrap="square" lIns="45713" tIns="45713" rIns="45713" bIns="45713" anchor="ctr" anchorCtr="0">
            <a:noAutofit/>
          </a:bodyPr>
          <a:lstStyle/>
          <a:p>
            <a:pPr algn="ctr"/>
            <a:r>
              <a:rPr lang="en" sz="1500"/>
              <a:t>Resource management</a:t>
            </a:r>
            <a:endParaRPr sz="1500"/>
          </a:p>
        </p:txBody>
      </p:sp>
      <p:pic>
        <p:nvPicPr>
          <p:cNvPr id="67" name="Google Shape;67;p13"/>
          <p:cNvPicPr preferRelativeResize="0"/>
          <p:nvPr/>
        </p:nvPicPr>
        <p:blipFill>
          <a:blip r:embed="rId5">
            <a:alphaModFix/>
          </a:blip>
          <a:stretch>
            <a:fillRect/>
          </a:stretch>
        </p:blipFill>
        <p:spPr>
          <a:xfrm>
            <a:off x="6448621" y="2665551"/>
            <a:ext cx="612350" cy="1144812"/>
          </a:xfrm>
          <a:prstGeom prst="rect">
            <a:avLst/>
          </a:prstGeom>
          <a:noFill/>
          <a:ln>
            <a:noFill/>
          </a:ln>
        </p:spPr>
      </p:pic>
      <p:pic>
        <p:nvPicPr>
          <p:cNvPr id="68" name="Google Shape;68;p13"/>
          <p:cNvPicPr preferRelativeResize="0"/>
          <p:nvPr/>
        </p:nvPicPr>
        <p:blipFill>
          <a:blip r:embed="rId6">
            <a:alphaModFix/>
          </a:blip>
          <a:stretch>
            <a:fillRect/>
          </a:stretch>
        </p:blipFill>
        <p:spPr>
          <a:xfrm>
            <a:off x="6694149" y="3886562"/>
            <a:ext cx="1685628" cy="1144813"/>
          </a:xfrm>
          <a:prstGeom prst="rect">
            <a:avLst/>
          </a:prstGeom>
          <a:noFill/>
          <a:ln>
            <a:noFill/>
          </a:ln>
        </p:spPr>
      </p:pic>
      <p:pic>
        <p:nvPicPr>
          <p:cNvPr id="69" name="Google Shape;69;p13"/>
          <p:cNvPicPr preferRelativeResize="0"/>
          <p:nvPr/>
        </p:nvPicPr>
        <p:blipFill>
          <a:blip r:embed="rId7">
            <a:alphaModFix/>
          </a:blip>
          <a:stretch>
            <a:fillRect/>
          </a:stretch>
        </p:blipFill>
        <p:spPr>
          <a:xfrm>
            <a:off x="7379982" y="2665551"/>
            <a:ext cx="1245331" cy="1144812"/>
          </a:xfrm>
          <a:prstGeom prst="rect">
            <a:avLst/>
          </a:prstGeom>
          <a:noFill/>
          <a:ln>
            <a:noFill/>
          </a:ln>
        </p:spPr>
      </p:pic>
      <p:cxnSp>
        <p:nvCxnSpPr>
          <p:cNvPr id="70" name="Google Shape;70;p13"/>
          <p:cNvCxnSpPr/>
          <p:nvPr/>
        </p:nvCxnSpPr>
        <p:spPr>
          <a:xfrm rot="10800000">
            <a:off x="2362150" y="2622663"/>
            <a:ext cx="1156650" cy="389700"/>
          </a:xfrm>
          <a:prstGeom prst="straightConnector1">
            <a:avLst/>
          </a:prstGeom>
          <a:noFill/>
          <a:ln w="76200" cap="flat" cmpd="sng">
            <a:solidFill>
              <a:schemeClr val="dk2"/>
            </a:solidFill>
            <a:prstDash val="solid"/>
            <a:round/>
            <a:headEnd type="none" w="med" len="med"/>
            <a:tailEnd type="none" w="med" len="med"/>
          </a:ln>
        </p:spPr>
      </p:cxnSp>
      <p:cxnSp>
        <p:nvCxnSpPr>
          <p:cNvPr id="71" name="Google Shape;71;p13"/>
          <p:cNvCxnSpPr/>
          <p:nvPr/>
        </p:nvCxnSpPr>
        <p:spPr>
          <a:xfrm flipH="1">
            <a:off x="2836963" y="3974250"/>
            <a:ext cx="925350" cy="499200"/>
          </a:xfrm>
          <a:prstGeom prst="straightConnector1">
            <a:avLst/>
          </a:prstGeom>
          <a:noFill/>
          <a:ln w="76200" cap="flat" cmpd="sng">
            <a:solidFill>
              <a:schemeClr val="dk2"/>
            </a:solidFill>
            <a:prstDash val="solid"/>
            <a:round/>
            <a:headEnd type="none" w="med" len="med"/>
            <a:tailEnd type="none" w="med" len="med"/>
          </a:ln>
        </p:spPr>
      </p:cxnSp>
      <p:cxnSp>
        <p:nvCxnSpPr>
          <p:cNvPr id="72" name="Google Shape;72;p13"/>
          <p:cNvCxnSpPr/>
          <p:nvPr/>
        </p:nvCxnSpPr>
        <p:spPr>
          <a:xfrm>
            <a:off x="5734788" y="3548100"/>
            <a:ext cx="511350" cy="0"/>
          </a:xfrm>
          <a:prstGeom prst="straightConnector1">
            <a:avLst/>
          </a:prstGeom>
          <a:noFill/>
          <a:ln w="76200" cap="flat" cmpd="sng">
            <a:solidFill>
              <a:schemeClr val="dk2"/>
            </a:solidFill>
            <a:prstDash val="solid"/>
            <a:round/>
            <a:headEnd type="none" w="med" len="med"/>
            <a:tailEnd type="none" w="med" len="med"/>
          </a:ln>
        </p:spPr>
      </p:cxnSp>
      <p:sp>
        <p:nvSpPr>
          <p:cNvPr id="73" name="Google Shape;73;p13"/>
          <p:cNvSpPr txBox="1"/>
          <p:nvPr/>
        </p:nvSpPr>
        <p:spPr>
          <a:xfrm>
            <a:off x="0" y="857250"/>
            <a:ext cx="9144000" cy="706200"/>
          </a:xfrm>
          <a:prstGeom prst="rect">
            <a:avLst/>
          </a:prstGeom>
          <a:noFill/>
          <a:ln>
            <a:noFill/>
          </a:ln>
        </p:spPr>
        <p:txBody>
          <a:bodyPr spcFirstLastPara="1" wrap="square" lIns="45713" tIns="45713" rIns="45713" bIns="45713" anchor="ctr" anchorCtr="0">
            <a:noAutofit/>
          </a:bodyPr>
          <a:lstStyle/>
          <a:p>
            <a:pPr algn="ctr"/>
            <a:r>
              <a:rPr lang="en" sz="2400"/>
              <a:t>General Purpose Operating System (GPOS)</a:t>
            </a:r>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1000"/>
                                        <p:tgtEl>
                                          <p:spTgt spid="55"/>
                                        </p:tgtEl>
                                      </p:cBhvr>
                                    </p:animEffect>
                                  </p:childTnLst>
                                </p:cTn>
                              </p:par>
                              <p:par>
                                <p:cTn id="8" presetID="10" presetClass="entr" presetSubtype="0" fill="hold" nodeType="withEffect">
                                  <p:stCondLst>
                                    <p:cond delay="0"/>
                                  </p:stCondLst>
                                  <p:childTnLst>
                                    <p:set>
                                      <p:cBhvr>
                                        <p:cTn id="9" dur="1" fill="hold">
                                          <p:stCondLst>
                                            <p:cond delay="0"/>
                                          </p:stCondLst>
                                        </p:cTn>
                                        <p:tgtEl>
                                          <p:spTgt spid="56"/>
                                        </p:tgtEl>
                                        <p:attrNameLst>
                                          <p:attrName>style.visibility</p:attrName>
                                        </p:attrNameLst>
                                      </p:cBhvr>
                                      <p:to>
                                        <p:strVal val="visible"/>
                                      </p:to>
                                    </p:set>
                                    <p:animEffect transition="in" filter="fade">
                                      <p:cBhvr>
                                        <p:cTn id="10" dur="1000"/>
                                        <p:tgtEl>
                                          <p:spTgt spid="56"/>
                                        </p:tgtEl>
                                      </p:cBhvr>
                                    </p:animEffect>
                                  </p:childTnLst>
                                </p:cTn>
                              </p:par>
                              <p:par>
                                <p:cTn id="11" presetID="10" presetClass="entr" presetSubtype="0" fill="hold" nodeType="withEffect">
                                  <p:stCondLst>
                                    <p:cond delay="0"/>
                                  </p:stCondLst>
                                  <p:childTnLst>
                                    <p:set>
                                      <p:cBhvr>
                                        <p:cTn id="12" dur="1" fill="hold">
                                          <p:stCondLst>
                                            <p:cond delay="0"/>
                                          </p:stCondLst>
                                        </p:cTn>
                                        <p:tgtEl>
                                          <p:spTgt spid="57"/>
                                        </p:tgtEl>
                                        <p:attrNameLst>
                                          <p:attrName>style.visibility</p:attrName>
                                        </p:attrNameLst>
                                      </p:cBhvr>
                                      <p:to>
                                        <p:strVal val="visible"/>
                                      </p:to>
                                    </p:set>
                                    <p:animEffect transition="in" filter="fade">
                                      <p:cBhvr>
                                        <p:cTn id="13" dur="1000"/>
                                        <p:tgtEl>
                                          <p:spTgt spid="57"/>
                                        </p:tgtEl>
                                      </p:cBhvr>
                                    </p:animEffect>
                                  </p:childTnLst>
                                </p:cTn>
                              </p:par>
                              <p:par>
                                <p:cTn id="14" presetID="10" presetClass="entr" presetSubtype="0" fill="hold" nodeType="withEffect">
                                  <p:stCondLst>
                                    <p:cond delay="0"/>
                                  </p:stCondLst>
                                  <p:childTnLst>
                                    <p:set>
                                      <p:cBhvr>
                                        <p:cTn id="15" dur="1" fill="hold">
                                          <p:stCondLst>
                                            <p:cond delay="0"/>
                                          </p:stCondLst>
                                        </p:cTn>
                                        <p:tgtEl>
                                          <p:spTgt spid="58"/>
                                        </p:tgtEl>
                                        <p:attrNameLst>
                                          <p:attrName>style.visibility</p:attrName>
                                        </p:attrNameLst>
                                      </p:cBhvr>
                                      <p:to>
                                        <p:strVal val="visible"/>
                                      </p:to>
                                    </p:set>
                                    <p:animEffect transition="in" filter="fade">
                                      <p:cBhvr>
                                        <p:cTn id="16" dur="1000"/>
                                        <p:tgtEl>
                                          <p:spTgt spid="58"/>
                                        </p:tgtEl>
                                      </p:cBhvr>
                                    </p:animEffect>
                                  </p:childTnLst>
                                </p:cTn>
                              </p:par>
                              <p:par>
                                <p:cTn id="17" presetID="10" presetClass="entr" presetSubtype="0" fill="hold" nodeType="withEffect">
                                  <p:stCondLst>
                                    <p:cond delay="0"/>
                                  </p:stCondLst>
                                  <p:childTnLst>
                                    <p:set>
                                      <p:cBhvr>
                                        <p:cTn id="18" dur="1" fill="hold">
                                          <p:stCondLst>
                                            <p:cond delay="0"/>
                                          </p:stCondLst>
                                        </p:cTn>
                                        <p:tgtEl>
                                          <p:spTgt spid="59"/>
                                        </p:tgtEl>
                                        <p:attrNameLst>
                                          <p:attrName>style.visibility</p:attrName>
                                        </p:attrNameLst>
                                      </p:cBhvr>
                                      <p:to>
                                        <p:strVal val="visible"/>
                                      </p:to>
                                    </p:set>
                                    <p:animEffect transition="in" filter="fade">
                                      <p:cBhvr>
                                        <p:cTn id="19" dur="1000"/>
                                        <p:tgtEl>
                                          <p:spTgt spid="59"/>
                                        </p:tgtEl>
                                      </p:cBhvr>
                                    </p:animEffect>
                                  </p:childTnLst>
                                </p:cTn>
                              </p:par>
                              <p:par>
                                <p:cTn id="20" presetID="10" presetClass="entr" presetSubtype="0" fill="hold" nodeType="with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fade">
                                      <p:cBhvr>
                                        <p:cTn id="22" dur="1000"/>
                                        <p:tgtEl>
                                          <p:spTgt spid="7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fade">
                                      <p:cBhvr>
                                        <p:cTn id="27" dur="1000"/>
                                        <p:tgtEl>
                                          <p:spTgt spid="60"/>
                                        </p:tgtEl>
                                      </p:cBhvr>
                                    </p:animEffect>
                                  </p:childTnLst>
                                </p:cTn>
                              </p:par>
                              <p:par>
                                <p:cTn id="28" presetID="10" presetClass="entr" presetSubtype="0" fill="hold" nodeType="withEffect">
                                  <p:stCondLst>
                                    <p:cond delay="0"/>
                                  </p:stCondLst>
                                  <p:childTnLst>
                                    <p:set>
                                      <p:cBhvr>
                                        <p:cTn id="29" dur="1" fill="hold">
                                          <p:stCondLst>
                                            <p:cond delay="0"/>
                                          </p:stCondLst>
                                        </p:cTn>
                                        <p:tgtEl>
                                          <p:spTgt spid="61"/>
                                        </p:tgtEl>
                                        <p:attrNameLst>
                                          <p:attrName>style.visibility</p:attrName>
                                        </p:attrNameLst>
                                      </p:cBhvr>
                                      <p:to>
                                        <p:strVal val="visible"/>
                                      </p:to>
                                    </p:set>
                                    <p:animEffect transition="in" filter="fade">
                                      <p:cBhvr>
                                        <p:cTn id="30" dur="1000"/>
                                        <p:tgtEl>
                                          <p:spTgt spid="61"/>
                                        </p:tgtEl>
                                      </p:cBhvr>
                                    </p:animEffect>
                                  </p:childTnLst>
                                </p:cTn>
                              </p:par>
                              <p:par>
                                <p:cTn id="31" presetID="10" presetClass="entr" presetSubtype="0" fill="hold" nodeType="withEffect">
                                  <p:stCondLst>
                                    <p:cond delay="0"/>
                                  </p:stCondLst>
                                  <p:childTnLst>
                                    <p:set>
                                      <p:cBhvr>
                                        <p:cTn id="32" dur="1" fill="hold">
                                          <p:stCondLst>
                                            <p:cond delay="0"/>
                                          </p:stCondLst>
                                        </p:cTn>
                                        <p:tgtEl>
                                          <p:spTgt spid="62"/>
                                        </p:tgtEl>
                                        <p:attrNameLst>
                                          <p:attrName>style.visibility</p:attrName>
                                        </p:attrNameLst>
                                      </p:cBhvr>
                                      <p:to>
                                        <p:strVal val="visible"/>
                                      </p:to>
                                    </p:set>
                                    <p:animEffect transition="in" filter="fade">
                                      <p:cBhvr>
                                        <p:cTn id="33" dur="1000"/>
                                        <p:tgtEl>
                                          <p:spTgt spid="62"/>
                                        </p:tgtEl>
                                      </p:cBhvr>
                                    </p:animEffect>
                                  </p:childTnLst>
                                </p:cTn>
                              </p:par>
                              <p:par>
                                <p:cTn id="34" presetID="10" presetClass="entr" presetSubtype="0" fill="hold" nodeType="withEffect">
                                  <p:stCondLst>
                                    <p:cond delay="0"/>
                                  </p:stCondLst>
                                  <p:childTnLst>
                                    <p:set>
                                      <p:cBhvr>
                                        <p:cTn id="35" dur="1" fill="hold">
                                          <p:stCondLst>
                                            <p:cond delay="0"/>
                                          </p:stCondLst>
                                        </p:cTn>
                                        <p:tgtEl>
                                          <p:spTgt spid="64"/>
                                        </p:tgtEl>
                                        <p:attrNameLst>
                                          <p:attrName>style.visibility</p:attrName>
                                        </p:attrNameLst>
                                      </p:cBhvr>
                                      <p:to>
                                        <p:strVal val="visible"/>
                                      </p:to>
                                    </p:set>
                                    <p:animEffect transition="in" filter="fade">
                                      <p:cBhvr>
                                        <p:cTn id="36" dur="1000"/>
                                        <p:tgtEl>
                                          <p:spTgt spid="64"/>
                                        </p:tgtEl>
                                      </p:cBhvr>
                                    </p:animEffect>
                                  </p:childTnLst>
                                </p:cTn>
                              </p:par>
                              <p:par>
                                <p:cTn id="37" presetID="10" presetClass="entr" presetSubtype="0" fill="hold" nodeType="withEffect">
                                  <p:stCondLst>
                                    <p:cond delay="0"/>
                                  </p:stCondLst>
                                  <p:childTnLst>
                                    <p:set>
                                      <p:cBhvr>
                                        <p:cTn id="38" dur="1" fill="hold">
                                          <p:stCondLst>
                                            <p:cond delay="0"/>
                                          </p:stCondLst>
                                        </p:cTn>
                                        <p:tgtEl>
                                          <p:spTgt spid="65"/>
                                        </p:tgtEl>
                                        <p:attrNameLst>
                                          <p:attrName>style.visibility</p:attrName>
                                        </p:attrNameLst>
                                      </p:cBhvr>
                                      <p:to>
                                        <p:strVal val="visible"/>
                                      </p:to>
                                    </p:set>
                                    <p:animEffect transition="in" filter="fade">
                                      <p:cBhvr>
                                        <p:cTn id="39" dur="1000"/>
                                        <p:tgtEl>
                                          <p:spTgt spid="65"/>
                                        </p:tgtEl>
                                      </p:cBhvr>
                                    </p:animEffect>
                                  </p:childTnLst>
                                </p:cTn>
                              </p:par>
                              <p:par>
                                <p:cTn id="40" presetID="10" presetClass="entr" presetSubtype="0" fill="hold" nodeType="withEffect">
                                  <p:stCondLst>
                                    <p:cond delay="0"/>
                                  </p:stCondLst>
                                  <p:childTnLst>
                                    <p:set>
                                      <p:cBhvr>
                                        <p:cTn id="41" dur="1" fill="hold">
                                          <p:stCondLst>
                                            <p:cond delay="0"/>
                                          </p:stCondLst>
                                        </p:cTn>
                                        <p:tgtEl>
                                          <p:spTgt spid="66"/>
                                        </p:tgtEl>
                                        <p:attrNameLst>
                                          <p:attrName>style.visibility</p:attrName>
                                        </p:attrNameLst>
                                      </p:cBhvr>
                                      <p:to>
                                        <p:strVal val="visible"/>
                                      </p:to>
                                    </p:set>
                                    <p:animEffect transition="in" filter="fade">
                                      <p:cBhvr>
                                        <p:cTn id="42" dur="1000"/>
                                        <p:tgtEl>
                                          <p:spTgt spid="66"/>
                                        </p:tgtEl>
                                      </p:cBhvr>
                                    </p:animEffect>
                                  </p:childTnLst>
                                </p:cTn>
                              </p:par>
                              <p:par>
                                <p:cTn id="43" presetID="10" presetClass="entr" presetSubtype="0" fill="hold" nodeType="withEffect">
                                  <p:stCondLst>
                                    <p:cond delay="0"/>
                                  </p:stCondLst>
                                  <p:childTnLst>
                                    <p:set>
                                      <p:cBhvr>
                                        <p:cTn id="44" dur="1" fill="hold">
                                          <p:stCondLst>
                                            <p:cond delay="0"/>
                                          </p:stCondLst>
                                        </p:cTn>
                                        <p:tgtEl>
                                          <p:spTgt spid="71"/>
                                        </p:tgtEl>
                                        <p:attrNameLst>
                                          <p:attrName>style.visibility</p:attrName>
                                        </p:attrNameLst>
                                      </p:cBhvr>
                                      <p:to>
                                        <p:strVal val="visible"/>
                                      </p:to>
                                    </p:set>
                                    <p:animEffect transition="in" filter="fade">
                                      <p:cBhvr>
                                        <p:cTn id="45" dur="1000"/>
                                        <p:tgtEl>
                                          <p:spTgt spid="71"/>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63"/>
                                        </p:tgtEl>
                                        <p:attrNameLst>
                                          <p:attrName>style.visibility</p:attrName>
                                        </p:attrNameLst>
                                      </p:cBhvr>
                                      <p:to>
                                        <p:strVal val="visible"/>
                                      </p:to>
                                    </p:set>
                                    <p:animEffect transition="in" filter="fade">
                                      <p:cBhvr>
                                        <p:cTn id="50" dur="1000"/>
                                        <p:tgtEl>
                                          <p:spTgt spid="63"/>
                                        </p:tgtEl>
                                      </p:cBhvr>
                                    </p:animEffect>
                                  </p:childTnLst>
                                </p:cTn>
                              </p:par>
                              <p:par>
                                <p:cTn id="51" presetID="10" presetClass="entr" presetSubtype="0" fill="hold" nodeType="withEffect">
                                  <p:stCondLst>
                                    <p:cond delay="0"/>
                                  </p:stCondLst>
                                  <p:childTnLst>
                                    <p:set>
                                      <p:cBhvr>
                                        <p:cTn id="52" dur="1" fill="hold">
                                          <p:stCondLst>
                                            <p:cond delay="0"/>
                                          </p:stCondLst>
                                        </p:cTn>
                                        <p:tgtEl>
                                          <p:spTgt spid="67"/>
                                        </p:tgtEl>
                                        <p:attrNameLst>
                                          <p:attrName>style.visibility</p:attrName>
                                        </p:attrNameLst>
                                      </p:cBhvr>
                                      <p:to>
                                        <p:strVal val="visible"/>
                                      </p:to>
                                    </p:set>
                                    <p:animEffect transition="in" filter="fade">
                                      <p:cBhvr>
                                        <p:cTn id="53" dur="1000"/>
                                        <p:tgtEl>
                                          <p:spTgt spid="67"/>
                                        </p:tgtEl>
                                      </p:cBhvr>
                                    </p:animEffect>
                                  </p:childTnLst>
                                </p:cTn>
                              </p:par>
                              <p:par>
                                <p:cTn id="54" presetID="10" presetClass="entr" presetSubtype="0" fill="hold" nodeType="withEffect">
                                  <p:stCondLst>
                                    <p:cond delay="0"/>
                                  </p:stCondLst>
                                  <p:childTnLst>
                                    <p:set>
                                      <p:cBhvr>
                                        <p:cTn id="55" dur="1" fill="hold">
                                          <p:stCondLst>
                                            <p:cond delay="0"/>
                                          </p:stCondLst>
                                        </p:cTn>
                                        <p:tgtEl>
                                          <p:spTgt spid="68"/>
                                        </p:tgtEl>
                                        <p:attrNameLst>
                                          <p:attrName>style.visibility</p:attrName>
                                        </p:attrNameLst>
                                      </p:cBhvr>
                                      <p:to>
                                        <p:strVal val="visible"/>
                                      </p:to>
                                    </p:set>
                                    <p:animEffect transition="in" filter="fade">
                                      <p:cBhvr>
                                        <p:cTn id="56" dur="1000"/>
                                        <p:tgtEl>
                                          <p:spTgt spid="68"/>
                                        </p:tgtEl>
                                      </p:cBhvr>
                                    </p:animEffect>
                                  </p:childTnLst>
                                </p:cTn>
                              </p:par>
                              <p:par>
                                <p:cTn id="57" presetID="10" presetClass="entr" presetSubtype="0" fill="hold" nodeType="withEffect">
                                  <p:stCondLst>
                                    <p:cond delay="0"/>
                                  </p:stCondLst>
                                  <p:childTnLst>
                                    <p:set>
                                      <p:cBhvr>
                                        <p:cTn id="58" dur="1" fill="hold">
                                          <p:stCondLst>
                                            <p:cond delay="0"/>
                                          </p:stCondLst>
                                        </p:cTn>
                                        <p:tgtEl>
                                          <p:spTgt spid="69"/>
                                        </p:tgtEl>
                                        <p:attrNameLst>
                                          <p:attrName>style.visibility</p:attrName>
                                        </p:attrNameLst>
                                      </p:cBhvr>
                                      <p:to>
                                        <p:strVal val="visible"/>
                                      </p:to>
                                    </p:set>
                                    <p:animEffect transition="in" filter="fade">
                                      <p:cBhvr>
                                        <p:cTn id="59" dur="1000"/>
                                        <p:tgtEl>
                                          <p:spTgt spid="69"/>
                                        </p:tgtEl>
                                      </p:cBhvr>
                                    </p:animEffect>
                                  </p:childTnLst>
                                </p:cTn>
                              </p:par>
                              <p:par>
                                <p:cTn id="60" presetID="10" presetClass="entr" presetSubtype="0" fill="hold" nodeType="withEffect">
                                  <p:stCondLst>
                                    <p:cond delay="0"/>
                                  </p:stCondLst>
                                  <p:childTnLst>
                                    <p:set>
                                      <p:cBhvr>
                                        <p:cTn id="61" dur="1" fill="hold">
                                          <p:stCondLst>
                                            <p:cond delay="0"/>
                                          </p:stCondLst>
                                        </p:cTn>
                                        <p:tgtEl>
                                          <p:spTgt spid="72"/>
                                        </p:tgtEl>
                                        <p:attrNameLst>
                                          <p:attrName>style.visibility</p:attrName>
                                        </p:attrNameLst>
                                      </p:cBhvr>
                                      <p:to>
                                        <p:strVal val="visible"/>
                                      </p:to>
                                    </p:set>
                                    <p:animEffect transition="in" filter="fade">
                                      <p:cBhvr>
                                        <p:cTn id="62" dur="10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p14"/>
          <p:cNvPicPr preferRelativeResize="0"/>
          <p:nvPr/>
        </p:nvPicPr>
        <p:blipFill>
          <a:blip r:embed="rId3">
            <a:alphaModFix/>
          </a:blip>
          <a:stretch>
            <a:fillRect/>
          </a:stretch>
        </p:blipFill>
        <p:spPr>
          <a:xfrm>
            <a:off x="1263293" y="1943500"/>
            <a:ext cx="706188" cy="706188"/>
          </a:xfrm>
          <a:prstGeom prst="rect">
            <a:avLst/>
          </a:prstGeom>
          <a:noFill/>
          <a:ln>
            <a:noFill/>
          </a:ln>
        </p:spPr>
      </p:pic>
      <p:sp>
        <p:nvSpPr>
          <p:cNvPr id="79" name="Google Shape;79;p14"/>
          <p:cNvSpPr/>
          <p:nvPr/>
        </p:nvSpPr>
        <p:spPr>
          <a:xfrm>
            <a:off x="1132338" y="2741750"/>
            <a:ext cx="815700" cy="815700"/>
          </a:xfrm>
          <a:prstGeom prst="rect">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0" name="Google Shape;80;p14"/>
          <p:cNvSpPr/>
          <p:nvPr/>
        </p:nvSpPr>
        <p:spPr>
          <a:xfrm>
            <a:off x="1208538" y="2817950"/>
            <a:ext cx="815700" cy="815700"/>
          </a:xfrm>
          <a:prstGeom prst="rect">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1" name="Google Shape;81;p14"/>
          <p:cNvSpPr/>
          <p:nvPr/>
        </p:nvSpPr>
        <p:spPr>
          <a:xfrm>
            <a:off x="1284738" y="2894150"/>
            <a:ext cx="815700" cy="815700"/>
          </a:xfrm>
          <a:prstGeom prst="rect">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1</a:t>
            </a:r>
            <a:endParaRPr sz="1500"/>
          </a:p>
        </p:txBody>
      </p:sp>
      <p:sp>
        <p:nvSpPr>
          <p:cNvPr id="82" name="Google Shape;82;p14"/>
          <p:cNvSpPr txBox="1"/>
          <p:nvPr/>
        </p:nvSpPr>
        <p:spPr>
          <a:xfrm>
            <a:off x="812763" y="1567600"/>
            <a:ext cx="1607250" cy="375900"/>
          </a:xfrm>
          <a:prstGeom prst="rect">
            <a:avLst/>
          </a:prstGeom>
          <a:noFill/>
          <a:ln>
            <a:noFill/>
          </a:ln>
        </p:spPr>
        <p:txBody>
          <a:bodyPr spcFirstLastPara="1" wrap="square" lIns="45713" tIns="45713" rIns="45713" bIns="45713" anchor="ctr" anchorCtr="0">
            <a:noAutofit/>
          </a:bodyPr>
          <a:lstStyle/>
          <a:p>
            <a:pPr algn="ctr"/>
            <a:r>
              <a:rPr lang="en" sz="1500"/>
              <a:t>Task scheduling</a:t>
            </a:r>
            <a:endParaRPr sz="1500"/>
          </a:p>
        </p:txBody>
      </p:sp>
      <p:sp>
        <p:nvSpPr>
          <p:cNvPr id="83" name="Google Shape;83;p14"/>
          <p:cNvSpPr/>
          <p:nvPr/>
        </p:nvSpPr>
        <p:spPr>
          <a:xfrm>
            <a:off x="1604313" y="4522150"/>
            <a:ext cx="815700" cy="1022700"/>
          </a:xfrm>
          <a:prstGeom prst="foldedCorner">
            <a:avLst>
              <a:gd name="adj" fmla="val 16667"/>
            </a:avLst>
          </a:prstGeom>
          <a:solidFill>
            <a:srgbClr val="CFE2F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4" name="Google Shape;84;p14"/>
          <p:cNvSpPr/>
          <p:nvPr/>
        </p:nvSpPr>
        <p:spPr>
          <a:xfrm>
            <a:off x="1680513" y="4598350"/>
            <a:ext cx="815700" cy="1022700"/>
          </a:xfrm>
          <a:prstGeom prst="foldedCorner">
            <a:avLst>
              <a:gd name="adj" fmla="val 16667"/>
            </a:avLst>
          </a:prstGeom>
          <a:solidFill>
            <a:srgbClr val="CFE2F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5" name="Google Shape;85;p14"/>
          <p:cNvSpPr/>
          <p:nvPr/>
        </p:nvSpPr>
        <p:spPr>
          <a:xfrm>
            <a:off x="1756713" y="4674550"/>
            <a:ext cx="815700" cy="1022700"/>
          </a:xfrm>
          <a:prstGeom prst="foldedCorner">
            <a:avLst>
              <a:gd name="adj" fmla="val 16667"/>
            </a:avLst>
          </a:prstGeom>
          <a:solidFill>
            <a:srgbClr val="CFE2F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File 1</a:t>
            </a:r>
            <a:endParaRPr sz="1500"/>
          </a:p>
        </p:txBody>
      </p:sp>
      <p:sp>
        <p:nvSpPr>
          <p:cNvPr id="86" name="Google Shape;86;p14"/>
          <p:cNvSpPr txBox="1"/>
          <p:nvPr/>
        </p:nvSpPr>
        <p:spPr>
          <a:xfrm>
            <a:off x="6733338" y="2213450"/>
            <a:ext cx="1607250" cy="375900"/>
          </a:xfrm>
          <a:prstGeom prst="rect">
            <a:avLst/>
          </a:prstGeom>
          <a:noFill/>
          <a:ln>
            <a:noFill/>
          </a:ln>
        </p:spPr>
        <p:txBody>
          <a:bodyPr spcFirstLastPara="1" wrap="square" lIns="45713" tIns="45713" rIns="45713" bIns="45713" anchor="ctr" anchorCtr="0">
            <a:noAutofit/>
          </a:bodyPr>
          <a:lstStyle/>
          <a:p>
            <a:pPr algn="ctr"/>
            <a:r>
              <a:rPr lang="en" sz="1500" dirty="0"/>
              <a:t>Device drivers</a:t>
            </a:r>
            <a:endParaRPr sz="1500" dirty="0"/>
          </a:p>
        </p:txBody>
      </p:sp>
      <p:cxnSp>
        <p:nvCxnSpPr>
          <p:cNvPr id="87" name="Google Shape;87;p14"/>
          <p:cNvCxnSpPr/>
          <p:nvPr/>
        </p:nvCxnSpPr>
        <p:spPr>
          <a:xfrm>
            <a:off x="1129200" y="5109700"/>
            <a:ext cx="551250" cy="0"/>
          </a:xfrm>
          <a:prstGeom prst="straightConnector1">
            <a:avLst/>
          </a:prstGeom>
          <a:noFill/>
          <a:ln w="38100" cap="flat" cmpd="sng">
            <a:solidFill>
              <a:schemeClr val="dk2"/>
            </a:solidFill>
            <a:prstDash val="solid"/>
            <a:round/>
            <a:headEnd type="triangle" w="med" len="med"/>
            <a:tailEnd type="triangle" w="med" len="med"/>
          </a:ln>
        </p:spPr>
      </p:cxnSp>
      <p:sp>
        <p:nvSpPr>
          <p:cNvPr id="88" name="Google Shape;88;p14"/>
          <p:cNvSpPr txBox="1"/>
          <p:nvPr/>
        </p:nvSpPr>
        <p:spPr>
          <a:xfrm>
            <a:off x="581088" y="4721950"/>
            <a:ext cx="551250" cy="775500"/>
          </a:xfrm>
          <a:prstGeom prst="rect">
            <a:avLst/>
          </a:prstGeom>
          <a:noFill/>
          <a:ln>
            <a:noFill/>
          </a:ln>
        </p:spPr>
        <p:txBody>
          <a:bodyPr spcFirstLastPara="1" wrap="square" lIns="45713" tIns="45713" rIns="45713" bIns="45713" anchor="ctr" anchorCtr="0">
            <a:noAutofit/>
          </a:bodyPr>
          <a:lstStyle/>
          <a:p>
            <a:pPr algn="ctr"/>
            <a:r>
              <a:rPr lang="en" sz="1200"/>
              <a:t>Read/Write</a:t>
            </a:r>
            <a:endParaRPr sz="1200"/>
          </a:p>
        </p:txBody>
      </p:sp>
      <p:sp>
        <p:nvSpPr>
          <p:cNvPr id="89" name="Google Shape;89;p14"/>
          <p:cNvSpPr txBox="1"/>
          <p:nvPr/>
        </p:nvSpPr>
        <p:spPr>
          <a:xfrm>
            <a:off x="511407" y="4069425"/>
            <a:ext cx="2209950" cy="375900"/>
          </a:xfrm>
          <a:prstGeom prst="rect">
            <a:avLst/>
          </a:prstGeom>
          <a:noFill/>
          <a:ln>
            <a:noFill/>
          </a:ln>
        </p:spPr>
        <p:txBody>
          <a:bodyPr spcFirstLastPara="1" wrap="square" lIns="45713" tIns="45713" rIns="45713" bIns="45713" anchor="ctr" anchorCtr="0">
            <a:noAutofit/>
          </a:bodyPr>
          <a:lstStyle/>
          <a:p>
            <a:pPr algn="ctr"/>
            <a:r>
              <a:rPr lang="en" sz="1500"/>
              <a:t>Resource management</a:t>
            </a:r>
            <a:endParaRPr sz="1500"/>
          </a:p>
        </p:txBody>
      </p:sp>
      <p:cxnSp>
        <p:nvCxnSpPr>
          <p:cNvPr id="90" name="Google Shape;90;p14"/>
          <p:cNvCxnSpPr/>
          <p:nvPr/>
        </p:nvCxnSpPr>
        <p:spPr>
          <a:xfrm rot="10800000">
            <a:off x="2362150" y="2622663"/>
            <a:ext cx="1156650" cy="389700"/>
          </a:xfrm>
          <a:prstGeom prst="straightConnector1">
            <a:avLst/>
          </a:prstGeom>
          <a:noFill/>
          <a:ln w="76200" cap="flat" cmpd="sng">
            <a:solidFill>
              <a:schemeClr val="dk2"/>
            </a:solidFill>
            <a:prstDash val="solid"/>
            <a:round/>
            <a:headEnd type="none" w="med" len="med"/>
            <a:tailEnd type="none" w="med" len="med"/>
          </a:ln>
        </p:spPr>
      </p:cxnSp>
      <p:cxnSp>
        <p:nvCxnSpPr>
          <p:cNvPr id="91" name="Google Shape;91;p14"/>
          <p:cNvCxnSpPr/>
          <p:nvPr/>
        </p:nvCxnSpPr>
        <p:spPr>
          <a:xfrm flipH="1">
            <a:off x="2836963" y="3974250"/>
            <a:ext cx="925350" cy="499200"/>
          </a:xfrm>
          <a:prstGeom prst="straightConnector1">
            <a:avLst/>
          </a:prstGeom>
          <a:noFill/>
          <a:ln w="76200" cap="flat" cmpd="sng">
            <a:solidFill>
              <a:schemeClr val="dk2"/>
            </a:solidFill>
            <a:prstDash val="solid"/>
            <a:round/>
            <a:headEnd type="none" w="med" len="med"/>
            <a:tailEnd type="none" w="med" len="med"/>
          </a:ln>
        </p:spPr>
      </p:cxnSp>
      <p:cxnSp>
        <p:nvCxnSpPr>
          <p:cNvPr id="92" name="Google Shape;92;p14"/>
          <p:cNvCxnSpPr/>
          <p:nvPr/>
        </p:nvCxnSpPr>
        <p:spPr>
          <a:xfrm>
            <a:off x="5454738" y="3548100"/>
            <a:ext cx="791400" cy="0"/>
          </a:xfrm>
          <a:prstGeom prst="straightConnector1">
            <a:avLst/>
          </a:prstGeom>
          <a:noFill/>
          <a:ln w="76200" cap="flat" cmpd="sng">
            <a:solidFill>
              <a:schemeClr val="dk2"/>
            </a:solidFill>
            <a:prstDash val="solid"/>
            <a:round/>
            <a:headEnd type="none" w="med" len="med"/>
            <a:tailEnd type="none" w="med" len="med"/>
          </a:ln>
        </p:spPr>
      </p:cxnSp>
      <p:sp>
        <p:nvSpPr>
          <p:cNvPr id="93" name="Google Shape;93;p14"/>
          <p:cNvSpPr txBox="1"/>
          <p:nvPr/>
        </p:nvSpPr>
        <p:spPr>
          <a:xfrm>
            <a:off x="0" y="857250"/>
            <a:ext cx="9144000" cy="706200"/>
          </a:xfrm>
          <a:prstGeom prst="rect">
            <a:avLst/>
          </a:prstGeom>
          <a:noFill/>
          <a:ln>
            <a:noFill/>
          </a:ln>
        </p:spPr>
        <p:txBody>
          <a:bodyPr spcFirstLastPara="1" wrap="square" lIns="45713" tIns="45713" rIns="45713" bIns="45713" anchor="ctr" anchorCtr="0">
            <a:noAutofit/>
          </a:bodyPr>
          <a:lstStyle/>
          <a:p>
            <a:pPr algn="ctr"/>
            <a:r>
              <a:rPr lang="en" sz="2400"/>
              <a:t>Real-Time Operating System (RTOS)</a:t>
            </a:r>
            <a:endParaRPr sz="2400"/>
          </a:p>
        </p:txBody>
      </p:sp>
      <p:pic>
        <p:nvPicPr>
          <p:cNvPr id="94" name="Google Shape;94;p14"/>
          <p:cNvPicPr preferRelativeResize="0"/>
          <p:nvPr/>
        </p:nvPicPr>
        <p:blipFill>
          <a:blip r:embed="rId4">
            <a:alphaModFix/>
          </a:blip>
          <a:stretch>
            <a:fillRect/>
          </a:stretch>
        </p:blipFill>
        <p:spPr>
          <a:xfrm>
            <a:off x="3615711" y="2727843"/>
            <a:ext cx="1912577" cy="1402313"/>
          </a:xfrm>
          <a:prstGeom prst="rect">
            <a:avLst/>
          </a:prstGeom>
          <a:noFill/>
          <a:ln>
            <a:noFill/>
          </a:ln>
        </p:spPr>
      </p:pic>
      <p:pic>
        <p:nvPicPr>
          <p:cNvPr id="95" name="Google Shape;95;p14"/>
          <p:cNvPicPr preferRelativeResize="0"/>
          <p:nvPr/>
        </p:nvPicPr>
        <p:blipFill>
          <a:blip r:embed="rId5">
            <a:alphaModFix/>
          </a:blip>
          <a:stretch>
            <a:fillRect/>
          </a:stretch>
        </p:blipFill>
        <p:spPr>
          <a:xfrm>
            <a:off x="6575357" y="2663207"/>
            <a:ext cx="925351" cy="667986"/>
          </a:xfrm>
          <a:prstGeom prst="rect">
            <a:avLst/>
          </a:prstGeom>
          <a:noFill/>
          <a:ln>
            <a:noFill/>
          </a:ln>
        </p:spPr>
      </p:pic>
      <p:pic>
        <p:nvPicPr>
          <p:cNvPr id="96" name="Google Shape;96;p14"/>
          <p:cNvPicPr preferRelativeResize="0"/>
          <p:nvPr/>
        </p:nvPicPr>
        <p:blipFill>
          <a:blip r:embed="rId6">
            <a:alphaModFix/>
          </a:blip>
          <a:stretch>
            <a:fillRect/>
          </a:stretch>
        </p:blipFill>
        <p:spPr>
          <a:xfrm>
            <a:off x="6781146" y="3600908"/>
            <a:ext cx="513770" cy="775493"/>
          </a:xfrm>
          <a:prstGeom prst="rect">
            <a:avLst/>
          </a:prstGeom>
          <a:noFill/>
          <a:ln>
            <a:noFill/>
          </a:ln>
        </p:spPr>
      </p:pic>
      <p:pic>
        <p:nvPicPr>
          <p:cNvPr id="97" name="Google Shape;97;p14"/>
          <p:cNvPicPr preferRelativeResize="0"/>
          <p:nvPr/>
        </p:nvPicPr>
        <p:blipFill>
          <a:blip r:embed="rId7">
            <a:alphaModFix/>
          </a:blip>
          <a:stretch>
            <a:fillRect/>
          </a:stretch>
        </p:blipFill>
        <p:spPr>
          <a:xfrm>
            <a:off x="7280082" y="3600904"/>
            <a:ext cx="513770" cy="775498"/>
          </a:xfrm>
          <a:prstGeom prst="rect">
            <a:avLst/>
          </a:prstGeom>
          <a:noFill/>
          <a:ln>
            <a:noFill/>
          </a:ln>
        </p:spPr>
      </p:pic>
      <p:pic>
        <p:nvPicPr>
          <p:cNvPr id="98" name="Google Shape;98;p14"/>
          <p:cNvPicPr preferRelativeResize="0"/>
          <p:nvPr/>
        </p:nvPicPr>
        <p:blipFill>
          <a:blip r:embed="rId8">
            <a:alphaModFix/>
          </a:blip>
          <a:stretch>
            <a:fillRect/>
          </a:stretch>
        </p:blipFill>
        <p:spPr>
          <a:xfrm>
            <a:off x="7779018" y="3600901"/>
            <a:ext cx="513770" cy="775499"/>
          </a:xfrm>
          <a:prstGeom prst="rect">
            <a:avLst/>
          </a:prstGeom>
          <a:noFill/>
          <a:ln>
            <a:noFill/>
          </a:ln>
        </p:spPr>
      </p:pic>
      <p:pic>
        <p:nvPicPr>
          <p:cNvPr id="99" name="Google Shape;99;p14"/>
          <p:cNvPicPr preferRelativeResize="0"/>
          <p:nvPr/>
        </p:nvPicPr>
        <p:blipFill>
          <a:blip r:embed="rId9">
            <a:alphaModFix/>
          </a:blip>
          <a:stretch>
            <a:fillRect/>
          </a:stretch>
        </p:blipFill>
        <p:spPr>
          <a:xfrm>
            <a:off x="7779019" y="2605294"/>
            <a:ext cx="513763" cy="78380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
                                        </p:tgtEl>
                                        <p:attrNameLst>
                                          <p:attrName>style.visibility</p:attrName>
                                        </p:attrNameLst>
                                      </p:cBhvr>
                                      <p:to>
                                        <p:strVal val="visible"/>
                                      </p:to>
                                    </p:set>
                                    <p:animEffect transition="in" filter="fade">
                                      <p:cBhvr>
                                        <p:cTn id="7" dur="1000"/>
                                        <p:tgtEl>
                                          <p:spTgt spid="95"/>
                                        </p:tgtEl>
                                      </p:cBhvr>
                                    </p:animEffect>
                                  </p:childTnLst>
                                </p:cTn>
                              </p:par>
                              <p:par>
                                <p:cTn id="8" presetID="10" presetClass="entr" presetSubtype="0" fill="hold" nodeType="withEffect">
                                  <p:stCondLst>
                                    <p:cond delay="0"/>
                                  </p:stCondLst>
                                  <p:childTnLst>
                                    <p:set>
                                      <p:cBhvr>
                                        <p:cTn id="9" dur="1" fill="hold">
                                          <p:stCondLst>
                                            <p:cond delay="0"/>
                                          </p:stCondLst>
                                        </p:cTn>
                                        <p:tgtEl>
                                          <p:spTgt spid="96"/>
                                        </p:tgtEl>
                                        <p:attrNameLst>
                                          <p:attrName>style.visibility</p:attrName>
                                        </p:attrNameLst>
                                      </p:cBhvr>
                                      <p:to>
                                        <p:strVal val="visible"/>
                                      </p:to>
                                    </p:set>
                                    <p:animEffect transition="in" filter="fade">
                                      <p:cBhvr>
                                        <p:cTn id="10" dur="1000"/>
                                        <p:tgtEl>
                                          <p:spTgt spid="96"/>
                                        </p:tgtEl>
                                      </p:cBhvr>
                                    </p:animEffect>
                                  </p:childTnLst>
                                </p:cTn>
                              </p:par>
                              <p:par>
                                <p:cTn id="11" presetID="10" presetClass="entr" presetSubtype="0" fill="hold" nodeType="withEffect">
                                  <p:stCondLst>
                                    <p:cond delay="0"/>
                                  </p:stCondLst>
                                  <p:childTnLst>
                                    <p:set>
                                      <p:cBhvr>
                                        <p:cTn id="12" dur="1" fill="hold">
                                          <p:stCondLst>
                                            <p:cond delay="0"/>
                                          </p:stCondLst>
                                        </p:cTn>
                                        <p:tgtEl>
                                          <p:spTgt spid="97"/>
                                        </p:tgtEl>
                                        <p:attrNameLst>
                                          <p:attrName>style.visibility</p:attrName>
                                        </p:attrNameLst>
                                      </p:cBhvr>
                                      <p:to>
                                        <p:strVal val="visible"/>
                                      </p:to>
                                    </p:set>
                                    <p:animEffect transition="in" filter="fade">
                                      <p:cBhvr>
                                        <p:cTn id="13" dur="1000"/>
                                        <p:tgtEl>
                                          <p:spTgt spid="97"/>
                                        </p:tgtEl>
                                      </p:cBhvr>
                                    </p:animEffect>
                                  </p:childTnLst>
                                </p:cTn>
                              </p:par>
                              <p:par>
                                <p:cTn id="14" presetID="10" presetClass="entr" presetSubtype="0" fill="hold" nodeType="withEffect">
                                  <p:stCondLst>
                                    <p:cond delay="0"/>
                                  </p:stCondLst>
                                  <p:childTnLst>
                                    <p:set>
                                      <p:cBhvr>
                                        <p:cTn id="15" dur="1" fill="hold">
                                          <p:stCondLst>
                                            <p:cond delay="0"/>
                                          </p:stCondLst>
                                        </p:cTn>
                                        <p:tgtEl>
                                          <p:spTgt spid="98"/>
                                        </p:tgtEl>
                                        <p:attrNameLst>
                                          <p:attrName>style.visibility</p:attrName>
                                        </p:attrNameLst>
                                      </p:cBhvr>
                                      <p:to>
                                        <p:strVal val="visible"/>
                                      </p:to>
                                    </p:set>
                                    <p:animEffect transition="in" filter="fade">
                                      <p:cBhvr>
                                        <p:cTn id="16" dur="1000"/>
                                        <p:tgtEl>
                                          <p:spTgt spid="98"/>
                                        </p:tgtEl>
                                      </p:cBhvr>
                                    </p:animEffect>
                                  </p:childTnLst>
                                </p:cTn>
                              </p:par>
                              <p:par>
                                <p:cTn id="17" presetID="10" presetClass="entr" presetSubtype="0" fill="hold" nodeType="withEffect">
                                  <p:stCondLst>
                                    <p:cond delay="0"/>
                                  </p:stCondLst>
                                  <p:childTnLst>
                                    <p:set>
                                      <p:cBhvr>
                                        <p:cTn id="18" dur="1" fill="hold">
                                          <p:stCondLst>
                                            <p:cond delay="0"/>
                                          </p:stCondLst>
                                        </p:cTn>
                                        <p:tgtEl>
                                          <p:spTgt spid="99"/>
                                        </p:tgtEl>
                                        <p:attrNameLst>
                                          <p:attrName>style.visibility</p:attrName>
                                        </p:attrNameLst>
                                      </p:cBhvr>
                                      <p:to>
                                        <p:strVal val="visible"/>
                                      </p:to>
                                    </p:set>
                                    <p:animEffect transition="in" filter="fade">
                                      <p:cBhvr>
                                        <p:cTn id="19" dur="1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5"/>
          <p:cNvSpPr txBox="1"/>
          <p:nvPr/>
        </p:nvSpPr>
        <p:spPr>
          <a:xfrm>
            <a:off x="0" y="857250"/>
            <a:ext cx="9144000" cy="706200"/>
          </a:xfrm>
          <a:prstGeom prst="rect">
            <a:avLst/>
          </a:prstGeom>
          <a:noFill/>
          <a:ln>
            <a:noFill/>
          </a:ln>
        </p:spPr>
        <p:txBody>
          <a:bodyPr spcFirstLastPara="1" wrap="square" lIns="45713" tIns="45713" rIns="45713" bIns="45713" anchor="ctr" anchorCtr="0">
            <a:noAutofit/>
          </a:bodyPr>
          <a:lstStyle/>
          <a:p>
            <a:pPr algn="ctr"/>
            <a:r>
              <a:rPr lang="en" sz="2400"/>
              <a:t>Super Loop</a:t>
            </a:r>
            <a:endParaRPr sz="2400"/>
          </a:p>
        </p:txBody>
      </p:sp>
      <p:sp>
        <p:nvSpPr>
          <p:cNvPr id="108" name="Google Shape;108;p15"/>
          <p:cNvSpPr/>
          <p:nvPr/>
        </p:nvSpPr>
        <p:spPr>
          <a:xfrm>
            <a:off x="3963225" y="2561863"/>
            <a:ext cx="1217550" cy="365250"/>
          </a:xfrm>
          <a:prstGeom prst="rect">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Setup</a:t>
            </a:r>
            <a:endParaRPr sz="1500"/>
          </a:p>
        </p:txBody>
      </p:sp>
      <p:sp>
        <p:nvSpPr>
          <p:cNvPr id="109" name="Google Shape;109;p15"/>
          <p:cNvSpPr txBox="1"/>
          <p:nvPr/>
        </p:nvSpPr>
        <p:spPr>
          <a:xfrm>
            <a:off x="3501750" y="1928725"/>
            <a:ext cx="2140500" cy="281850"/>
          </a:xfrm>
          <a:prstGeom prst="rect">
            <a:avLst/>
          </a:prstGeom>
          <a:noFill/>
          <a:ln>
            <a:noFill/>
          </a:ln>
        </p:spPr>
        <p:txBody>
          <a:bodyPr spcFirstLastPara="1" wrap="square" lIns="45713" tIns="45713" rIns="45713" bIns="45713" anchor="ctr" anchorCtr="0">
            <a:noAutofit/>
          </a:bodyPr>
          <a:lstStyle/>
          <a:p>
            <a:pPr algn="ctr"/>
            <a:r>
              <a:rPr lang="en" sz="1500"/>
              <a:t>Entry Point (main())</a:t>
            </a:r>
            <a:endParaRPr sz="1500"/>
          </a:p>
        </p:txBody>
      </p:sp>
      <p:sp>
        <p:nvSpPr>
          <p:cNvPr id="110" name="Google Shape;110;p15"/>
          <p:cNvSpPr/>
          <p:nvPr/>
        </p:nvSpPr>
        <p:spPr>
          <a:xfrm>
            <a:off x="3963225" y="3560275"/>
            <a:ext cx="1217550" cy="365250"/>
          </a:xfrm>
          <a:prstGeom prst="rect">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1</a:t>
            </a:r>
            <a:endParaRPr sz="1500"/>
          </a:p>
        </p:txBody>
      </p:sp>
      <p:sp>
        <p:nvSpPr>
          <p:cNvPr id="111" name="Google Shape;111;p15"/>
          <p:cNvSpPr/>
          <p:nvPr/>
        </p:nvSpPr>
        <p:spPr>
          <a:xfrm>
            <a:off x="3963225" y="3925525"/>
            <a:ext cx="1217550" cy="365250"/>
          </a:xfrm>
          <a:prstGeom prst="rect">
            <a:avLst/>
          </a:prstGeom>
          <a:solidFill>
            <a:srgbClr val="D9D2E9"/>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2</a:t>
            </a:r>
            <a:endParaRPr sz="1500"/>
          </a:p>
        </p:txBody>
      </p:sp>
      <p:sp>
        <p:nvSpPr>
          <p:cNvPr id="112" name="Google Shape;112;p15"/>
          <p:cNvSpPr/>
          <p:nvPr/>
        </p:nvSpPr>
        <p:spPr>
          <a:xfrm>
            <a:off x="3963225" y="4290775"/>
            <a:ext cx="1217550" cy="365250"/>
          </a:xfrm>
          <a:prstGeom prst="rect">
            <a:avLst/>
          </a:prstGeom>
          <a:solidFill>
            <a:srgbClr val="FCE5CD"/>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3</a:t>
            </a:r>
            <a:endParaRPr sz="1500"/>
          </a:p>
        </p:txBody>
      </p:sp>
      <p:cxnSp>
        <p:nvCxnSpPr>
          <p:cNvPr id="113" name="Google Shape;113;p15"/>
          <p:cNvCxnSpPr>
            <a:stCxn id="108" idx="2"/>
            <a:endCxn id="110" idx="0"/>
          </p:cNvCxnSpPr>
          <p:nvPr/>
        </p:nvCxnSpPr>
        <p:spPr>
          <a:xfrm>
            <a:off x="4572000" y="2927113"/>
            <a:ext cx="0" cy="633150"/>
          </a:xfrm>
          <a:prstGeom prst="straightConnector1">
            <a:avLst/>
          </a:prstGeom>
          <a:noFill/>
          <a:ln w="38100" cap="flat" cmpd="sng">
            <a:solidFill>
              <a:schemeClr val="dk2"/>
            </a:solidFill>
            <a:prstDash val="solid"/>
            <a:round/>
            <a:headEnd type="none" w="med" len="med"/>
            <a:tailEnd type="triangle" w="med" len="med"/>
          </a:ln>
        </p:spPr>
      </p:cxnSp>
      <p:cxnSp>
        <p:nvCxnSpPr>
          <p:cNvPr id="114" name="Google Shape;114;p15"/>
          <p:cNvCxnSpPr>
            <a:stCxn id="109" idx="2"/>
            <a:endCxn id="108" idx="0"/>
          </p:cNvCxnSpPr>
          <p:nvPr/>
        </p:nvCxnSpPr>
        <p:spPr>
          <a:xfrm>
            <a:off x="4572000" y="2210575"/>
            <a:ext cx="0" cy="351300"/>
          </a:xfrm>
          <a:prstGeom prst="straightConnector1">
            <a:avLst/>
          </a:prstGeom>
          <a:noFill/>
          <a:ln w="38100" cap="flat" cmpd="sng">
            <a:solidFill>
              <a:schemeClr val="dk2"/>
            </a:solidFill>
            <a:prstDash val="solid"/>
            <a:round/>
            <a:headEnd type="none" w="med" len="med"/>
            <a:tailEnd type="triangle" w="med" len="med"/>
          </a:ln>
        </p:spPr>
      </p:cxnSp>
      <p:sp>
        <p:nvSpPr>
          <p:cNvPr id="115" name="Google Shape;115;p15"/>
          <p:cNvSpPr/>
          <p:nvPr/>
        </p:nvSpPr>
        <p:spPr>
          <a:xfrm>
            <a:off x="3180756" y="3153976"/>
            <a:ext cx="1032063" cy="1799263"/>
          </a:xfrm>
          <a:custGeom>
            <a:avLst/>
            <a:gdLst/>
            <a:ahLst/>
            <a:cxnLst/>
            <a:rect l="l" t="t" r="r" b="b"/>
            <a:pathLst>
              <a:path w="82565" h="143941" extrusionOk="0">
                <a:moveTo>
                  <a:pt x="82565" y="121435"/>
                </a:moveTo>
                <a:cubicBezTo>
                  <a:pt x="80861" y="124763"/>
                  <a:pt x="84108" y="138401"/>
                  <a:pt x="72338" y="141404"/>
                </a:cubicBezTo>
                <a:cubicBezTo>
                  <a:pt x="60568" y="144408"/>
                  <a:pt x="23635" y="145706"/>
                  <a:pt x="11946" y="139456"/>
                </a:cubicBezTo>
                <a:cubicBezTo>
                  <a:pt x="257" y="133206"/>
                  <a:pt x="3260" y="124844"/>
                  <a:pt x="2205" y="103902"/>
                </a:cubicBezTo>
                <a:cubicBezTo>
                  <a:pt x="1150" y="82960"/>
                  <a:pt x="-3640" y="30767"/>
                  <a:pt x="5614" y="13802"/>
                </a:cubicBezTo>
                <a:cubicBezTo>
                  <a:pt x="14868" y="-3163"/>
                  <a:pt x="46119" y="-890"/>
                  <a:pt x="57727" y="2113"/>
                </a:cubicBezTo>
                <a:cubicBezTo>
                  <a:pt x="69335" y="5116"/>
                  <a:pt x="72338" y="26871"/>
                  <a:pt x="75260" y="31822"/>
                </a:cubicBezTo>
              </a:path>
            </a:pathLst>
          </a:custGeom>
          <a:noFill/>
          <a:ln w="38100" cap="flat" cmpd="sng">
            <a:solidFill>
              <a:schemeClr val="dk2"/>
            </a:solidFill>
            <a:prstDash val="solid"/>
            <a:round/>
            <a:headEnd type="none" w="med" len="med"/>
            <a:tailEnd type="triangle" w="med" len="med"/>
          </a:ln>
        </p:spPr>
      </p:sp>
      <p:sp>
        <p:nvSpPr>
          <p:cNvPr id="116" name="Google Shape;116;p15"/>
          <p:cNvSpPr txBox="1"/>
          <p:nvPr/>
        </p:nvSpPr>
        <p:spPr>
          <a:xfrm>
            <a:off x="3202275" y="3903625"/>
            <a:ext cx="760950" cy="409050"/>
          </a:xfrm>
          <a:prstGeom prst="rect">
            <a:avLst/>
          </a:prstGeom>
          <a:noFill/>
          <a:ln>
            <a:noFill/>
          </a:ln>
        </p:spPr>
        <p:txBody>
          <a:bodyPr spcFirstLastPara="1" wrap="square" lIns="45713" tIns="45713" rIns="45713" bIns="45713" anchor="ctr" anchorCtr="0">
            <a:noAutofit/>
          </a:bodyPr>
          <a:lstStyle/>
          <a:p>
            <a:pPr algn="ctr"/>
            <a:r>
              <a:rPr lang="en" sz="1500"/>
              <a:t>Loop</a:t>
            </a:r>
            <a:endParaRPr sz="1500"/>
          </a:p>
        </p:txBody>
      </p:sp>
      <p:sp>
        <p:nvSpPr>
          <p:cNvPr id="117" name="Google Shape;117;p15"/>
          <p:cNvSpPr/>
          <p:nvPr/>
        </p:nvSpPr>
        <p:spPr>
          <a:xfrm>
            <a:off x="6389350" y="3755050"/>
            <a:ext cx="1561500" cy="706200"/>
          </a:xfrm>
          <a:prstGeom prst="rect">
            <a:avLst/>
          </a:prstGeom>
          <a:solidFill>
            <a:srgbClr val="F4CC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Interrupt Service Routine (ISR)</a:t>
            </a:r>
            <a:endParaRPr sz="1500"/>
          </a:p>
        </p:txBody>
      </p:sp>
      <p:cxnSp>
        <p:nvCxnSpPr>
          <p:cNvPr id="118" name="Google Shape;118;p15"/>
          <p:cNvCxnSpPr/>
          <p:nvPr/>
        </p:nvCxnSpPr>
        <p:spPr>
          <a:xfrm rot="10800000" flipH="1">
            <a:off x="5272113" y="3767263"/>
            <a:ext cx="1120200" cy="73050"/>
          </a:xfrm>
          <a:prstGeom prst="straightConnector1">
            <a:avLst/>
          </a:prstGeom>
          <a:noFill/>
          <a:ln w="38100" cap="flat" cmpd="sng">
            <a:solidFill>
              <a:schemeClr val="dk2"/>
            </a:solidFill>
            <a:prstDash val="solid"/>
            <a:round/>
            <a:headEnd type="none" w="med" len="med"/>
            <a:tailEnd type="triangle" w="med" len="med"/>
          </a:ln>
        </p:spPr>
      </p:cxnSp>
      <p:cxnSp>
        <p:nvCxnSpPr>
          <p:cNvPr id="119" name="Google Shape;119;p15"/>
          <p:cNvCxnSpPr/>
          <p:nvPr/>
        </p:nvCxnSpPr>
        <p:spPr>
          <a:xfrm rot="10800000">
            <a:off x="5272125" y="3913475"/>
            <a:ext cx="1123200" cy="547800"/>
          </a:xfrm>
          <a:prstGeom prst="straightConnector1">
            <a:avLst/>
          </a:prstGeom>
          <a:noFill/>
          <a:ln w="38100" cap="flat" cmpd="sng">
            <a:solidFill>
              <a:schemeClr val="dk2"/>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1000"/>
                                        <p:tgtEl>
                                          <p:spTgt spid="117"/>
                                        </p:tgtEl>
                                      </p:cBhvr>
                                    </p:animEffect>
                                  </p:childTnLst>
                                </p:cTn>
                              </p:par>
                              <p:par>
                                <p:cTn id="8" presetID="10" presetClass="entr" presetSubtype="0" fill="hold" nodeType="withEffect">
                                  <p:stCondLst>
                                    <p:cond delay="0"/>
                                  </p:stCondLst>
                                  <p:childTnLst>
                                    <p:set>
                                      <p:cBhvr>
                                        <p:cTn id="9" dur="1" fill="hold">
                                          <p:stCondLst>
                                            <p:cond delay="0"/>
                                          </p:stCondLst>
                                        </p:cTn>
                                        <p:tgtEl>
                                          <p:spTgt spid="118"/>
                                        </p:tgtEl>
                                        <p:attrNameLst>
                                          <p:attrName>style.visibility</p:attrName>
                                        </p:attrNameLst>
                                      </p:cBhvr>
                                      <p:to>
                                        <p:strVal val="visible"/>
                                      </p:to>
                                    </p:set>
                                    <p:animEffect transition="in" filter="fade">
                                      <p:cBhvr>
                                        <p:cTn id="10" dur="1000"/>
                                        <p:tgtEl>
                                          <p:spTgt spid="118"/>
                                        </p:tgtEl>
                                      </p:cBhvr>
                                    </p:animEffect>
                                  </p:childTnLst>
                                </p:cTn>
                              </p:par>
                              <p:par>
                                <p:cTn id="11" presetID="10" presetClass="entr" presetSubtype="0" fill="hold" nodeType="withEffect">
                                  <p:stCondLst>
                                    <p:cond delay="0"/>
                                  </p:stCondLst>
                                  <p:childTnLst>
                                    <p:set>
                                      <p:cBhvr>
                                        <p:cTn id="12" dur="1" fill="hold">
                                          <p:stCondLst>
                                            <p:cond delay="0"/>
                                          </p:stCondLst>
                                        </p:cTn>
                                        <p:tgtEl>
                                          <p:spTgt spid="119"/>
                                        </p:tgtEl>
                                        <p:attrNameLst>
                                          <p:attrName>style.visibility</p:attrName>
                                        </p:attrNameLst>
                                      </p:cBhvr>
                                      <p:to>
                                        <p:strVal val="visible"/>
                                      </p:to>
                                    </p:set>
                                    <p:animEffect transition="in" filter="fade">
                                      <p:cBhvr>
                                        <p:cTn id="13" dur="10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6"/>
          <p:cNvSpPr txBox="1"/>
          <p:nvPr/>
        </p:nvSpPr>
        <p:spPr>
          <a:xfrm>
            <a:off x="0" y="857250"/>
            <a:ext cx="9144000" cy="706200"/>
          </a:xfrm>
          <a:prstGeom prst="rect">
            <a:avLst/>
          </a:prstGeom>
          <a:noFill/>
          <a:ln>
            <a:noFill/>
          </a:ln>
        </p:spPr>
        <p:txBody>
          <a:bodyPr spcFirstLastPara="1" wrap="square" lIns="45713" tIns="45713" rIns="45713" bIns="45713" anchor="ctr" anchorCtr="0">
            <a:noAutofit/>
          </a:bodyPr>
          <a:lstStyle/>
          <a:p>
            <a:pPr algn="ctr"/>
            <a:r>
              <a:rPr lang="en" sz="2400"/>
              <a:t>RTOS</a:t>
            </a:r>
            <a:endParaRPr sz="2400"/>
          </a:p>
        </p:txBody>
      </p:sp>
      <p:sp>
        <p:nvSpPr>
          <p:cNvPr id="125" name="Google Shape;125;p16"/>
          <p:cNvSpPr/>
          <p:nvPr/>
        </p:nvSpPr>
        <p:spPr>
          <a:xfrm>
            <a:off x="3963225" y="2561863"/>
            <a:ext cx="1217550" cy="365250"/>
          </a:xfrm>
          <a:prstGeom prst="rect">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Setup</a:t>
            </a:r>
            <a:endParaRPr sz="1500"/>
          </a:p>
        </p:txBody>
      </p:sp>
      <p:sp>
        <p:nvSpPr>
          <p:cNvPr id="126" name="Google Shape;126;p16"/>
          <p:cNvSpPr txBox="1"/>
          <p:nvPr/>
        </p:nvSpPr>
        <p:spPr>
          <a:xfrm>
            <a:off x="3501750" y="1928725"/>
            <a:ext cx="2140500" cy="281850"/>
          </a:xfrm>
          <a:prstGeom prst="rect">
            <a:avLst/>
          </a:prstGeom>
          <a:noFill/>
          <a:ln>
            <a:noFill/>
          </a:ln>
        </p:spPr>
        <p:txBody>
          <a:bodyPr spcFirstLastPara="1" wrap="square" lIns="45713" tIns="45713" rIns="45713" bIns="45713" anchor="ctr" anchorCtr="0">
            <a:noAutofit/>
          </a:bodyPr>
          <a:lstStyle/>
          <a:p>
            <a:pPr algn="ctr"/>
            <a:r>
              <a:rPr lang="en" sz="1500"/>
              <a:t>Entry Point (main())</a:t>
            </a:r>
            <a:endParaRPr sz="1500"/>
          </a:p>
        </p:txBody>
      </p:sp>
      <p:sp>
        <p:nvSpPr>
          <p:cNvPr id="127" name="Google Shape;127;p16"/>
          <p:cNvSpPr/>
          <p:nvPr/>
        </p:nvSpPr>
        <p:spPr>
          <a:xfrm>
            <a:off x="3963225" y="4412563"/>
            <a:ext cx="1217550" cy="365250"/>
          </a:xfrm>
          <a:prstGeom prst="rect">
            <a:avLst/>
          </a:prstGeom>
          <a:solidFill>
            <a:srgbClr val="D9D2E9"/>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2</a:t>
            </a:r>
            <a:endParaRPr sz="1500"/>
          </a:p>
        </p:txBody>
      </p:sp>
      <p:cxnSp>
        <p:nvCxnSpPr>
          <p:cNvPr id="128" name="Google Shape;128;p16"/>
          <p:cNvCxnSpPr>
            <a:stCxn id="126" idx="2"/>
            <a:endCxn id="125" idx="0"/>
          </p:cNvCxnSpPr>
          <p:nvPr/>
        </p:nvCxnSpPr>
        <p:spPr>
          <a:xfrm>
            <a:off x="4572000" y="2210575"/>
            <a:ext cx="0" cy="351300"/>
          </a:xfrm>
          <a:prstGeom prst="straightConnector1">
            <a:avLst/>
          </a:prstGeom>
          <a:noFill/>
          <a:ln w="38100" cap="flat" cmpd="sng">
            <a:solidFill>
              <a:schemeClr val="dk2"/>
            </a:solidFill>
            <a:prstDash val="solid"/>
            <a:round/>
            <a:headEnd type="none" w="med" len="med"/>
            <a:tailEnd type="triangle" w="med" len="med"/>
          </a:ln>
        </p:spPr>
      </p:cxnSp>
      <p:sp>
        <p:nvSpPr>
          <p:cNvPr id="129" name="Google Shape;129;p16"/>
          <p:cNvSpPr/>
          <p:nvPr/>
        </p:nvSpPr>
        <p:spPr>
          <a:xfrm>
            <a:off x="6767650" y="2838325"/>
            <a:ext cx="1561500" cy="706200"/>
          </a:xfrm>
          <a:prstGeom prst="rect">
            <a:avLst/>
          </a:prstGeom>
          <a:solidFill>
            <a:srgbClr val="F4CC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Interrupt Service Routine (ISR)</a:t>
            </a:r>
            <a:endParaRPr sz="1500"/>
          </a:p>
        </p:txBody>
      </p:sp>
      <p:cxnSp>
        <p:nvCxnSpPr>
          <p:cNvPr id="130" name="Google Shape;130;p16"/>
          <p:cNvCxnSpPr>
            <a:stCxn id="125" idx="2"/>
            <a:endCxn id="127" idx="0"/>
          </p:cNvCxnSpPr>
          <p:nvPr/>
        </p:nvCxnSpPr>
        <p:spPr>
          <a:xfrm>
            <a:off x="4572000" y="2927113"/>
            <a:ext cx="0" cy="1485450"/>
          </a:xfrm>
          <a:prstGeom prst="straightConnector1">
            <a:avLst/>
          </a:prstGeom>
          <a:noFill/>
          <a:ln w="38100" cap="flat" cmpd="sng">
            <a:solidFill>
              <a:schemeClr val="dk2"/>
            </a:solidFill>
            <a:prstDash val="solid"/>
            <a:round/>
            <a:headEnd type="none" w="med" len="med"/>
            <a:tailEnd type="triangle" w="med" len="med"/>
          </a:ln>
        </p:spPr>
      </p:cxnSp>
      <p:sp>
        <p:nvSpPr>
          <p:cNvPr id="131" name="Google Shape;131;p16"/>
          <p:cNvSpPr/>
          <p:nvPr/>
        </p:nvSpPr>
        <p:spPr>
          <a:xfrm>
            <a:off x="3654104" y="4091236"/>
            <a:ext cx="538013" cy="980275"/>
          </a:xfrm>
          <a:custGeom>
            <a:avLst/>
            <a:gdLst/>
            <a:ahLst/>
            <a:cxnLst/>
            <a:rect l="l" t="t" r="r" b="b"/>
            <a:pathLst>
              <a:path w="43041" h="78422" extrusionOk="0">
                <a:moveTo>
                  <a:pt x="42067" y="54831"/>
                </a:moveTo>
                <a:cubicBezTo>
                  <a:pt x="40768" y="58403"/>
                  <a:pt x="40119" y="73014"/>
                  <a:pt x="34275" y="76261"/>
                </a:cubicBezTo>
                <a:cubicBezTo>
                  <a:pt x="28431" y="79508"/>
                  <a:pt x="12602" y="79021"/>
                  <a:pt x="7001" y="74313"/>
                </a:cubicBezTo>
                <a:cubicBezTo>
                  <a:pt x="1400" y="69605"/>
                  <a:pt x="1319" y="59215"/>
                  <a:pt x="670" y="48013"/>
                </a:cubicBezTo>
                <a:cubicBezTo>
                  <a:pt x="21" y="36811"/>
                  <a:pt x="-710" y="15057"/>
                  <a:pt x="3105" y="7102"/>
                </a:cubicBezTo>
                <a:cubicBezTo>
                  <a:pt x="6920" y="-853"/>
                  <a:pt x="17553" y="771"/>
                  <a:pt x="23560" y="284"/>
                </a:cubicBezTo>
                <a:cubicBezTo>
                  <a:pt x="29567" y="-203"/>
                  <a:pt x="35898" y="122"/>
                  <a:pt x="39145" y="4180"/>
                </a:cubicBezTo>
                <a:cubicBezTo>
                  <a:pt x="42392" y="8239"/>
                  <a:pt x="42392" y="21226"/>
                  <a:pt x="43041" y="24635"/>
                </a:cubicBezTo>
              </a:path>
            </a:pathLst>
          </a:custGeom>
          <a:noFill/>
          <a:ln w="38100" cap="flat" cmpd="sng">
            <a:solidFill>
              <a:schemeClr val="dk2"/>
            </a:solidFill>
            <a:prstDash val="solid"/>
            <a:round/>
            <a:headEnd type="none" w="med" len="med"/>
            <a:tailEnd type="triangle" w="med" len="med"/>
          </a:ln>
        </p:spPr>
      </p:sp>
      <p:sp>
        <p:nvSpPr>
          <p:cNvPr id="132" name="Google Shape;132;p16"/>
          <p:cNvSpPr/>
          <p:nvPr/>
        </p:nvSpPr>
        <p:spPr>
          <a:xfrm>
            <a:off x="2096325" y="4412563"/>
            <a:ext cx="1217550" cy="365250"/>
          </a:xfrm>
          <a:prstGeom prst="rect">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1</a:t>
            </a:r>
            <a:endParaRPr sz="1500"/>
          </a:p>
        </p:txBody>
      </p:sp>
      <p:cxnSp>
        <p:nvCxnSpPr>
          <p:cNvPr id="133" name="Google Shape;133;p16"/>
          <p:cNvCxnSpPr>
            <a:stCxn id="125" idx="2"/>
            <a:endCxn id="132" idx="0"/>
          </p:cNvCxnSpPr>
          <p:nvPr/>
        </p:nvCxnSpPr>
        <p:spPr>
          <a:xfrm flipH="1">
            <a:off x="2705100" y="2927113"/>
            <a:ext cx="1866900" cy="1485450"/>
          </a:xfrm>
          <a:prstGeom prst="straightConnector1">
            <a:avLst/>
          </a:prstGeom>
          <a:noFill/>
          <a:ln w="38100" cap="flat" cmpd="sng">
            <a:solidFill>
              <a:schemeClr val="dk2"/>
            </a:solidFill>
            <a:prstDash val="solid"/>
            <a:round/>
            <a:headEnd type="none" w="med" len="med"/>
            <a:tailEnd type="triangle" w="med" len="med"/>
          </a:ln>
        </p:spPr>
      </p:cxnSp>
      <p:sp>
        <p:nvSpPr>
          <p:cNvPr id="134" name="Google Shape;134;p16"/>
          <p:cNvSpPr/>
          <p:nvPr/>
        </p:nvSpPr>
        <p:spPr>
          <a:xfrm>
            <a:off x="1787204" y="4091236"/>
            <a:ext cx="538013" cy="980275"/>
          </a:xfrm>
          <a:custGeom>
            <a:avLst/>
            <a:gdLst/>
            <a:ahLst/>
            <a:cxnLst/>
            <a:rect l="l" t="t" r="r" b="b"/>
            <a:pathLst>
              <a:path w="43041" h="78422" extrusionOk="0">
                <a:moveTo>
                  <a:pt x="42067" y="54831"/>
                </a:moveTo>
                <a:cubicBezTo>
                  <a:pt x="40768" y="58403"/>
                  <a:pt x="40119" y="73014"/>
                  <a:pt x="34275" y="76261"/>
                </a:cubicBezTo>
                <a:cubicBezTo>
                  <a:pt x="28431" y="79508"/>
                  <a:pt x="12602" y="79021"/>
                  <a:pt x="7001" y="74313"/>
                </a:cubicBezTo>
                <a:cubicBezTo>
                  <a:pt x="1400" y="69605"/>
                  <a:pt x="1319" y="59215"/>
                  <a:pt x="670" y="48013"/>
                </a:cubicBezTo>
                <a:cubicBezTo>
                  <a:pt x="21" y="36811"/>
                  <a:pt x="-710" y="15057"/>
                  <a:pt x="3105" y="7102"/>
                </a:cubicBezTo>
                <a:cubicBezTo>
                  <a:pt x="6920" y="-853"/>
                  <a:pt x="17553" y="771"/>
                  <a:pt x="23560" y="284"/>
                </a:cubicBezTo>
                <a:cubicBezTo>
                  <a:pt x="29567" y="-203"/>
                  <a:pt x="35898" y="122"/>
                  <a:pt x="39145" y="4180"/>
                </a:cubicBezTo>
                <a:cubicBezTo>
                  <a:pt x="42392" y="8239"/>
                  <a:pt x="42392" y="21226"/>
                  <a:pt x="43041" y="24635"/>
                </a:cubicBezTo>
              </a:path>
            </a:pathLst>
          </a:custGeom>
          <a:noFill/>
          <a:ln w="38100" cap="flat" cmpd="sng">
            <a:solidFill>
              <a:schemeClr val="dk2"/>
            </a:solidFill>
            <a:prstDash val="solid"/>
            <a:round/>
            <a:headEnd type="none" w="med" len="med"/>
            <a:tailEnd type="triangle" w="med" len="med"/>
          </a:ln>
        </p:spPr>
      </p:sp>
      <p:sp>
        <p:nvSpPr>
          <p:cNvPr id="135" name="Google Shape;135;p16"/>
          <p:cNvSpPr/>
          <p:nvPr/>
        </p:nvSpPr>
        <p:spPr>
          <a:xfrm>
            <a:off x="5830125" y="4412563"/>
            <a:ext cx="1217550" cy="365250"/>
          </a:xfrm>
          <a:prstGeom prst="rect">
            <a:avLst/>
          </a:prstGeom>
          <a:solidFill>
            <a:srgbClr val="FCE5CD"/>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3</a:t>
            </a:r>
            <a:endParaRPr sz="1500"/>
          </a:p>
        </p:txBody>
      </p:sp>
      <p:cxnSp>
        <p:nvCxnSpPr>
          <p:cNvPr id="136" name="Google Shape;136;p16"/>
          <p:cNvCxnSpPr>
            <a:stCxn id="125" idx="2"/>
            <a:endCxn id="135" idx="0"/>
          </p:cNvCxnSpPr>
          <p:nvPr/>
        </p:nvCxnSpPr>
        <p:spPr>
          <a:xfrm>
            <a:off x="4572000" y="2927113"/>
            <a:ext cx="1866900" cy="1485450"/>
          </a:xfrm>
          <a:prstGeom prst="straightConnector1">
            <a:avLst/>
          </a:prstGeom>
          <a:noFill/>
          <a:ln w="38100" cap="flat" cmpd="sng">
            <a:solidFill>
              <a:schemeClr val="dk2"/>
            </a:solidFill>
            <a:prstDash val="solid"/>
            <a:round/>
            <a:headEnd type="none" w="med" len="med"/>
            <a:tailEnd type="triangle" w="med" len="med"/>
          </a:ln>
        </p:spPr>
      </p:cxnSp>
      <p:sp>
        <p:nvSpPr>
          <p:cNvPr id="137" name="Google Shape;137;p16"/>
          <p:cNvSpPr/>
          <p:nvPr/>
        </p:nvSpPr>
        <p:spPr>
          <a:xfrm>
            <a:off x="5521004" y="4091236"/>
            <a:ext cx="538013" cy="980275"/>
          </a:xfrm>
          <a:custGeom>
            <a:avLst/>
            <a:gdLst/>
            <a:ahLst/>
            <a:cxnLst/>
            <a:rect l="l" t="t" r="r" b="b"/>
            <a:pathLst>
              <a:path w="43041" h="78422" extrusionOk="0">
                <a:moveTo>
                  <a:pt x="42067" y="54831"/>
                </a:moveTo>
                <a:cubicBezTo>
                  <a:pt x="40768" y="58403"/>
                  <a:pt x="40119" y="73014"/>
                  <a:pt x="34275" y="76261"/>
                </a:cubicBezTo>
                <a:cubicBezTo>
                  <a:pt x="28431" y="79508"/>
                  <a:pt x="12602" y="79021"/>
                  <a:pt x="7001" y="74313"/>
                </a:cubicBezTo>
                <a:cubicBezTo>
                  <a:pt x="1400" y="69605"/>
                  <a:pt x="1319" y="59215"/>
                  <a:pt x="670" y="48013"/>
                </a:cubicBezTo>
                <a:cubicBezTo>
                  <a:pt x="21" y="36811"/>
                  <a:pt x="-710" y="15057"/>
                  <a:pt x="3105" y="7102"/>
                </a:cubicBezTo>
                <a:cubicBezTo>
                  <a:pt x="6920" y="-853"/>
                  <a:pt x="17553" y="771"/>
                  <a:pt x="23560" y="284"/>
                </a:cubicBezTo>
                <a:cubicBezTo>
                  <a:pt x="29567" y="-203"/>
                  <a:pt x="35898" y="122"/>
                  <a:pt x="39145" y="4180"/>
                </a:cubicBezTo>
                <a:cubicBezTo>
                  <a:pt x="42392" y="8239"/>
                  <a:pt x="42392" y="21226"/>
                  <a:pt x="43041" y="24635"/>
                </a:cubicBezTo>
              </a:path>
            </a:pathLst>
          </a:custGeom>
          <a:noFill/>
          <a:ln w="38100" cap="flat" cmpd="sng">
            <a:solidFill>
              <a:schemeClr val="dk2"/>
            </a:solidFill>
            <a:prstDash val="solid"/>
            <a:round/>
            <a:headEnd type="none" w="med" len="med"/>
            <a:tailEnd type="triangle" w="med" len="med"/>
          </a:ln>
        </p:spPr>
      </p:sp>
      <p:sp>
        <p:nvSpPr>
          <p:cNvPr id="138" name="Google Shape;138;p16"/>
          <p:cNvSpPr txBox="1"/>
          <p:nvPr/>
        </p:nvSpPr>
        <p:spPr>
          <a:xfrm>
            <a:off x="191413" y="1818100"/>
            <a:ext cx="3262650" cy="1136250"/>
          </a:xfrm>
          <a:prstGeom prst="rect">
            <a:avLst/>
          </a:prstGeom>
          <a:noFill/>
          <a:ln>
            <a:noFill/>
          </a:ln>
        </p:spPr>
        <p:txBody>
          <a:bodyPr spcFirstLastPara="1" wrap="square" lIns="45713" tIns="45713" rIns="45713" bIns="45713" anchor="t" anchorCtr="0">
            <a:noAutofit/>
          </a:bodyPr>
          <a:lstStyle/>
          <a:p>
            <a:pPr marL="228600" indent="-190500">
              <a:buSzPts val="2400"/>
              <a:buChar char="●"/>
            </a:pPr>
            <a:r>
              <a:rPr lang="en" sz="1200" b="1"/>
              <a:t>Task</a:t>
            </a:r>
            <a:r>
              <a:rPr lang="en" sz="1200"/>
              <a:t>: set of program instructions loaded in memory</a:t>
            </a:r>
            <a:endParaRPr sz="1200"/>
          </a:p>
          <a:p>
            <a:pPr marL="228600" indent="-190500">
              <a:buSzPts val="2400"/>
              <a:buChar char="●"/>
            </a:pPr>
            <a:r>
              <a:rPr lang="en" sz="1200" b="1"/>
              <a:t>Thread</a:t>
            </a:r>
            <a:r>
              <a:rPr lang="en" sz="1200"/>
              <a:t>: unit of CPU utilization with its own program counter and stack</a:t>
            </a:r>
            <a:endParaRPr sz="1200"/>
          </a:p>
          <a:p>
            <a:pPr marL="228600" indent="-190500">
              <a:buSzPts val="2400"/>
              <a:buChar char="●"/>
            </a:pPr>
            <a:r>
              <a:rPr lang="en" sz="1200" b="1"/>
              <a:t>Process</a:t>
            </a:r>
            <a:r>
              <a:rPr lang="en" sz="1200"/>
              <a:t>: instance of a computer program</a:t>
            </a:r>
            <a:endParaRPr sz="1200"/>
          </a:p>
        </p:txBody>
      </p:sp>
      <p:sp>
        <p:nvSpPr>
          <p:cNvPr id="139" name="Google Shape;139;p16"/>
          <p:cNvSpPr txBox="1"/>
          <p:nvPr/>
        </p:nvSpPr>
        <p:spPr>
          <a:xfrm>
            <a:off x="641713" y="3008800"/>
            <a:ext cx="2362050" cy="365250"/>
          </a:xfrm>
          <a:prstGeom prst="rect">
            <a:avLst/>
          </a:prstGeom>
          <a:noFill/>
          <a:ln>
            <a:noFill/>
          </a:ln>
        </p:spPr>
        <p:txBody>
          <a:bodyPr spcFirstLastPara="1" wrap="square" lIns="45713" tIns="45713" rIns="45713" bIns="45713" anchor="ctr" anchorCtr="0">
            <a:noAutofit/>
          </a:bodyPr>
          <a:lstStyle/>
          <a:p>
            <a:pPr algn="ctr"/>
            <a:r>
              <a:rPr lang="en" sz="1500"/>
              <a:t>FreeRTOS: Task = Thread</a:t>
            </a:r>
            <a:endParaRPr sz="15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8"/>
                                        </p:tgtEl>
                                        <p:attrNameLst>
                                          <p:attrName>style.visibility</p:attrName>
                                        </p:attrNameLst>
                                      </p:cBhvr>
                                      <p:to>
                                        <p:strVal val="visible"/>
                                      </p:to>
                                    </p:set>
                                    <p:animEffect transition="in" filter="fade">
                                      <p:cBhvr>
                                        <p:cTn id="7" dur="1000"/>
                                        <p:tgtEl>
                                          <p:spTgt spid="1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9"/>
                                        </p:tgtEl>
                                        <p:attrNameLst>
                                          <p:attrName>style.visibility</p:attrName>
                                        </p:attrNameLst>
                                      </p:cBhvr>
                                      <p:to>
                                        <p:strVal val="visible"/>
                                      </p:to>
                                    </p:set>
                                    <p:animEffect transition="in" filter="fade">
                                      <p:cBhvr>
                                        <p:cTn id="12" dur="1000"/>
                                        <p:tgtEl>
                                          <p:spTgt spid="13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9"/>
                                        </p:tgtEl>
                                        <p:attrNameLst>
                                          <p:attrName>style.visibility</p:attrName>
                                        </p:attrNameLst>
                                      </p:cBhvr>
                                      <p:to>
                                        <p:strVal val="visible"/>
                                      </p:to>
                                    </p:set>
                                    <p:animEffect transition="in" filter="fade">
                                      <p:cBhvr>
                                        <p:cTn id="17" dur="10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7"/>
          <p:cNvSpPr txBox="1"/>
          <p:nvPr/>
        </p:nvSpPr>
        <p:spPr>
          <a:xfrm>
            <a:off x="129900" y="4947425"/>
            <a:ext cx="2788200" cy="706200"/>
          </a:xfrm>
          <a:prstGeom prst="rect">
            <a:avLst/>
          </a:prstGeom>
          <a:noFill/>
          <a:ln>
            <a:noFill/>
          </a:ln>
        </p:spPr>
        <p:txBody>
          <a:bodyPr spcFirstLastPara="1" wrap="square" lIns="45713" tIns="45713" rIns="45713" bIns="45713" anchor="ctr" anchorCtr="0">
            <a:noAutofit/>
          </a:bodyPr>
          <a:lstStyle/>
          <a:p>
            <a:pPr algn="ctr"/>
            <a:r>
              <a:rPr lang="en" sz="2400"/>
              <a:t>Super Loop</a:t>
            </a:r>
            <a:endParaRPr sz="2400"/>
          </a:p>
        </p:txBody>
      </p:sp>
      <p:pic>
        <p:nvPicPr>
          <p:cNvPr id="145" name="Google Shape;145;p17"/>
          <p:cNvPicPr preferRelativeResize="0"/>
          <p:nvPr/>
        </p:nvPicPr>
        <p:blipFill>
          <a:blip r:embed="rId3">
            <a:alphaModFix/>
          </a:blip>
          <a:stretch>
            <a:fillRect/>
          </a:stretch>
        </p:blipFill>
        <p:spPr>
          <a:xfrm>
            <a:off x="3048000" y="1010593"/>
            <a:ext cx="3048000" cy="3048015"/>
          </a:xfrm>
          <a:prstGeom prst="rect">
            <a:avLst/>
          </a:prstGeom>
          <a:noFill/>
          <a:ln>
            <a:noFill/>
          </a:ln>
        </p:spPr>
      </p:pic>
      <p:pic>
        <p:nvPicPr>
          <p:cNvPr id="146" name="Google Shape;146;p17"/>
          <p:cNvPicPr preferRelativeResize="0"/>
          <p:nvPr/>
        </p:nvPicPr>
        <p:blipFill>
          <a:blip r:embed="rId4">
            <a:alphaModFix/>
          </a:blip>
          <a:stretch>
            <a:fillRect/>
          </a:stretch>
        </p:blipFill>
        <p:spPr>
          <a:xfrm>
            <a:off x="0" y="1010594"/>
            <a:ext cx="3048000" cy="3048000"/>
          </a:xfrm>
          <a:prstGeom prst="rect">
            <a:avLst/>
          </a:prstGeom>
          <a:noFill/>
          <a:ln>
            <a:noFill/>
          </a:ln>
        </p:spPr>
      </p:pic>
      <p:pic>
        <p:nvPicPr>
          <p:cNvPr id="147" name="Google Shape;147;p17"/>
          <p:cNvPicPr preferRelativeResize="0"/>
          <p:nvPr/>
        </p:nvPicPr>
        <p:blipFill>
          <a:blip r:embed="rId5">
            <a:alphaModFix/>
          </a:blip>
          <a:stretch>
            <a:fillRect/>
          </a:stretch>
        </p:blipFill>
        <p:spPr>
          <a:xfrm>
            <a:off x="6096000" y="1010600"/>
            <a:ext cx="3048000" cy="3048000"/>
          </a:xfrm>
          <a:prstGeom prst="rect">
            <a:avLst/>
          </a:prstGeom>
          <a:noFill/>
          <a:ln>
            <a:noFill/>
          </a:ln>
        </p:spPr>
      </p:pic>
      <p:sp>
        <p:nvSpPr>
          <p:cNvPr id="148" name="Google Shape;148;p17"/>
          <p:cNvSpPr txBox="1"/>
          <p:nvPr/>
        </p:nvSpPr>
        <p:spPr>
          <a:xfrm>
            <a:off x="655500" y="4058613"/>
            <a:ext cx="1737000" cy="888000"/>
          </a:xfrm>
          <a:prstGeom prst="rect">
            <a:avLst/>
          </a:prstGeom>
          <a:noFill/>
          <a:ln>
            <a:noFill/>
          </a:ln>
        </p:spPr>
        <p:txBody>
          <a:bodyPr spcFirstLastPara="1" wrap="square" lIns="45713" tIns="45713" rIns="45713" bIns="45713" anchor="t" anchorCtr="0">
            <a:noAutofit/>
          </a:bodyPr>
          <a:lstStyle/>
          <a:p>
            <a:r>
              <a:rPr lang="en" sz="1200"/>
              <a:t>ATmega 328p</a:t>
            </a:r>
            <a:endParaRPr sz="1200"/>
          </a:p>
          <a:p>
            <a:pPr marL="228600" indent="-190500">
              <a:buSzPts val="2400"/>
              <a:buChar char="●"/>
            </a:pPr>
            <a:r>
              <a:rPr lang="en" sz="1200"/>
              <a:t>16 MHz</a:t>
            </a:r>
            <a:endParaRPr sz="1200"/>
          </a:p>
          <a:p>
            <a:pPr marL="228600" indent="-190500">
              <a:buSzPts val="2400"/>
              <a:buChar char="●"/>
            </a:pPr>
            <a:r>
              <a:rPr lang="en" sz="1200"/>
              <a:t>32 kB flash</a:t>
            </a:r>
            <a:endParaRPr sz="1200"/>
          </a:p>
          <a:p>
            <a:pPr marL="228600" indent="-190500">
              <a:buSzPts val="2400"/>
              <a:buChar char="●"/>
            </a:pPr>
            <a:r>
              <a:rPr lang="en" sz="1200"/>
              <a:t>2 kB RAM</a:t>
            </a:r>
            <a:endParaRPr sz="1200"/>
          </a:p>
        </p:txBody>
      </p:sp>
      <p:sp>
        <p:nvSpPr>
          <p:cNvPr id="149" name="Google Shape;149;p17"/>
          <p:cNvSpPr txBox="1"/>
          <p:nvPr/>
        </p:nvSpPr>
        <p:spPr>
          <a:xfrm>
            <a:off x="3703500" y="4058613"/>
            <a:ext cx="1737000" cy="888000"/>
          </a:xfrm>
          <a:prstGeom prst="rect">
            <a:avLst/>
          </a:prstGeom>
          <a:noFill/>
          <a:ln>
            <a:noFill/>
          </a:ln>
        </p:spPr>
        <p:txBody>
          <a:bodyPr spcFirstLastPara="1" wrap="square" lIns="45713" tIns="45713" rIns="45713" bIns="45713" anchor="t" anchorCtr="0">
            <a:noAutofit/>
          </a:bodyPr>
          <a:lstStyle/>
          <a:p>
            <a:r>
              <a:rPr lang="en" sz="1200"/>
              <a:t>STM32L476RG</a:t>
            </a:r>
            <a:endParaRPr sz="1200"/>
          </a:p>
          <a:p>
            <a:pPr marL="228600" indent="-190500">
              <a:buSzPts val="2400"/>
              <a:buChar char="●"/>
            </a:pPr>
            <a:r>
              <a:rPr lang="en" sz="1200"/>
              <a:t>80 MHz</a:t>
            </a:r>
            <a:endParaRPr sz="1200"/>
          </a:p>
          <a:p>
            <a:pPr marL="228600" indent="-190500">
              <a:buSzPts val="2400"/>
              <a:buChar char="●"/>
            </a:pPr>
            <a:r>
              <a:rPr lang="en" sz="1200"/>
              <a:t>1 MB flash</a:t>
            </a:r>
            <a:endParaRPr sz="1200"/>
          </a:p>
          <a:p>
            <a:pPr marL="228600" indent="-190500">
              <a:buSzPts val="2400"/>
              <a:buChar char="●"/>
            </a:pPr>
            <a:r>
              <a:rPr lang="en" sz="1200"/>
              <a:t>128 kB RAM</a:t>
            </a:r>
            <a:endParaRPr sz="1200"/>
          </a:p>
        </p:txBody>
      </p:sp>
      <p:sp>
        <p:nvSpPr>
          <p:cNvPr id="150" name="Google Shape;150;p17"/>
          <p:cNvSpPr txBox="1"/>
          <p:nvPr/>
        </p:nvSpPr>
        <p:spPr>
          <a:xfrm>
            <a:off x="6751500" y="4058613"/>
            <a:ext cx="1737000" cy="888000"/>
          </a:xfrm>
          <a:prstGeom prst="rect">
            <a:avLst/>
          </a:prstGeom>
          <a:noFill/>
          <a:ln>
            <a:noFill/>
          </a:ln>
        </p:spPr>
        <p:txBody>
          <a:bodyPr spcFirstLastPara="1" wrap="square" lIns="45713" tIns="45713" rIns="45713" bIns="45713" anchor="t" anchorCtr="0">
            <a:noAutofit/>
          </a:bodyPr>
          <a:lstStyle/>
          <a:p>
            <a:r>
              <a:rPr lang="en" sz="1200"/>
              <a:t>ESP-WROOM-32</a:t>
            </a:r>
            <a:endParaRPr sz="1200"/>
          </a:p>
          <a:p>
            <a:pPr marL="228600" indent="-190500">
              <a:buSzPts val="2400"/>
              <a:buChar char="●"/>
            </a:pPr>
            <a:r>
              <a:rPr lang="en" sz="1200"/>
              <a:t>240 MHz (dual core) </a:t>
            </a:r>
            <a:endParaRPr sz="1200"/>
          </a:p>
          <a:p>
            <a:pPr marL="228600" indent="-190500">
              <a:buSzPts val="2400"/>
              <a:buChar char="●"/>
            </a:pPr>
            <a:r>
              <a:rPr lang="en" sz="1200"/>
              <a:t>4 MB flash</a:t>
            </a:r>
            <a:endParaRPr sz="1200"/>
          </a:p>
          <a:p>
            <a:pPr marL="228600" indent="-190500">
              <a:buSzPts val="2400"/>
              <a:buChar char="●"/>
            </a:pPr>
            <a:r>
              <a:rPr lang="en" sz="1200"/>
              <a:t>520 kB RAM</a:t>
            </a:r>
            <a:endParaRPr sz="1200"/>
          </a:p>
        </p:txBody>
      </p:sp>
      <p:sp>
        <p:nvSpPr>
          <p:cNvPr id="151" name="Google Shape;151;p17"/>
          <p:cNvSpPr txBox="1"/>
          <p:nvPr/>
        </p:nvSpPr>
        <p:spPr>
          <a:xfrm>
            <a:off x="6225900" y="4947425"/>
            <a:ext cx="2788200" cy="706200"/>
          </a:xfrm>
          <a:prstGeom prst="rect">
            <a:avLst/>
          </a:prstGeom>
          <a:noFill/>
          <a:ln>
            <a:noFill/>
          </a:ln>
        </p:spPr>
        <p:txBody>
          <a:bodyPr spcFirstLastPara="1" wrap="square" lIns="45713" tIns="45713" rIns="45713" bIns="45713" anchor="ctr" anchorCtr="0">
            <a:noAutofit/>
          </a:bodyPr>
          <a:lstStyle/>
          <a:p>
            <a:pPr algn="ctr"/>
            <a:r>
              <a:rPr lang="en" sz="2400"/>
              <a:t>RTOS</a:t>
            </a:r>
            <a:endParaRPr sz="2400"/>
          </a:p>
        </p:txBody>
      </p:sp>
      <p:sp>
        <p:nvSpPr>
          <p:cNvPr id="152" name="Google Shape;152;p17"/>
          <p:cNvSpPr/>
          <p:nvPr/>
        </p:nvSpPr>
        <p:spPr>
          <a:xfrm>
            <a:off x="2666475" y="5204000"/>
            <a:ext cx="4084950" cy="280050"/>
          </a:xfrm>
          <a:prstGeom prst="rightArrow">
            <a:avLst>
              <a:gd name="adj1" fmla="val 50000"/>
              <a:gd name="adj2" fmla="val 50000"/>
            </a:avLst>
          </a:prstGeom>
          <a:gradFill>
            <a:gsLst>
              <a:gs pos="0">
                <a:srgbClr val="C9DAF8"/>
              </a:gs>
              <a:gs pos="100000">
                <a:srgbClr val="F4CCCC"/>
              </a:gs>
              <a:gs pos="100000">
                <a:srgbClr val="737373"/>
              </a:gs>
            </a:gsLst>
            <a:lin ang="0" scaled="0"/>
          </a:gra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pic>
        <p:nvPicPr>
          <p:cNvPr id="157" name="Google Shape;157;p18"/>
          <p:cNvPicPr preferRelativeResize="0"/>
          <p:nvPr/>
        </p:nvPicPr>
        <p:blipFill>
          <a:blip r:embed="rId3">
            <a:alphaModFix/>
          </a:blip>
          <a:stretch>
            <a:fillRect/>
          </a:stretch>
        </p:blipFill>
        <p:spPr>
          <a:xfrm>
            <a:off x="5893515" y="1348213"/>
            <a:ext cx="1314526" cy="948925"/>
          </a:xfrm>
          <a:prstGeom prst="rect">
            <a:avLst/>
          </a:prstGeom>
          <a:noFill/>
          <a:ln>
            <a:noFill/>
          </a:ln>
        </p:spPr>
      </p:pic>
      <p:pic>
        <p:nvPicPr>
          <p:cNvPr id="158" name="Google Shape;158;p18"/>
          <p:cNvPicPr preferRelativeResize="0"/>
          <p:nvPr/>
        </p:nvPicPr>
        <p:blipFill>
          <a:blip r:embed="rId4">
            <a:alphaModFix/>
          </a:blip>
          <a:stretch>
            <a:fillRect/>
          </a:stretch>
        </p:blipFill>
        <p:spPr>
          <a:xfrm>
            <a:off x="7572038" y="1290300"/>
            <a:ext cx="691638" cy="1055175"/>
          </a:xfrm>
          <a:prstGeom prst="rect">
            <a:avLst/>
          </a:prstGeom>
          <a:noFill/>
          <a:ln>
            <a:noFill/>
          </a:ln>
        </p:spPr>
      </p:pic>
      <p:pic>
        <p:nvPicPr>
          <p:cNvPr id="159" name="Google Shape;159;p18"/>
          <p:cNvPicPr preferRelativeResize="0"/>
          <p:nvPr/>
        </p:nvPicPr>
        <p:blipFill>
          <a:blip r:embed="rId5">
            <a:alphaModFix/>
          </a:blip>
          <a:stretch>
            <a:fillRect/>
          </a:stretch>
        </p:blipFill>
        <p:spPr>
          <a:xfrm>
            <a:off x="559333" y="1190108"/>
            <a:ext cx="513770" cy="775493"/>
          </a:xfrm>
          <a:prstGeom prst="rect">
            <a:avLst/>
          </a:prstGeom>
          <a:noFill/>
          <a:ln>
            <a:noFill/>
          </a:ln>
        </p:spPr>
      </p:pic>
      <p:pic>
        <p:nvPicPr>
          <p:cNvPr id="160" name="Google Shape;160;p18"/>
          <p:cNvPicPr preferRelativeResize="0"/>
          <p:nvPr/>
        </p:nvPicPr>
        <p:blipFill>
          <a:blip r:embed="rId6">
            <a:alphaModFix/>
          </a:blip>
          <a:stretch>
            <a:fillRect/>
          </a:stretch>
        </p:blipFill>
        <p:spPr>
          <a:xfrm>
            <a:off x="1058269" y="1190104"/>
            <a:ext cx="513770" cy="775498"/>
          </a:xfrm>
          <a:prstGeom prst="rect">
            <a:avLst/>
          </a:prstGeom>
          <a:noFill/>
          <a:ln>
            <a:noFill/>
          </a:ln>
        </p:spPr>
      </p:pic>
      <p:pic>
        <p:nvPicPr>
          <p:cNvPr id="161" name="Google Shape;161;p18"/>
          <p:cNvPicPr preferRelativeResize="0"/>
          <p:nvPr/>
        </p:nvPicPr>
        <p:blipFill>
          <a:blip r:embed="rId7">
            <a:alphaModFix/>
          </a:blip>
          <a:stretch>
            <a:fillRect/>
          </a:stretch>
        </p:blipFill>
        <p:spPr>
          <a:xfrm>
            <a:off x="1557205" y="1190101"/>
            <a:ext cx="513770" cy="775499"/>
          </a:xfrm>
          <a:prstGeom prst="rect">
            <a:avLst/>
          </a:prstGeom>
          <a:noFill/>
          <a:ln>
            <a:noFill/>
          </a:ln>
        </p:spPr>
      </p:pic>
      <p:pic>
        <p:nvPicPr>
          <p:cNvPr id="162" name="Google Shape;162;p18"/>
          <p:cNvPicPr preferRelativeResize="0"/>
          <p:nvPr/>
        </p:nvPicPr>
        <p:blipFill>
          <a:blip r:embed="rId8">
            <a:alphaModFix/>
          </a:blip>
          <a:stretch>
            <a:fillRect/>
          </a:stretch>
        </p:blipFill>
        <p:spPr>
          <a:xfrm>
            <a:off x="836584" y="3984600"/>
            <a:ext cx="1165952" cy="1548149"/>
          </a:xfrm>
          <a:prstGeom prst="rect">
            <a:avLst/>
          </a:prstGeom>
          <a:noFill/>
          <a:ln>
            <a:noFill/>
          </a:ln>
        </p:spPr>
      </p:pic>
      <p:pic>
        <p:nvPicPr>
          <p:cNvPr id="163" name="Google Shape;163;p18"/>
          <p:cNvPicPr preferRelativeResize="0"/>
          <p:nvPr/>
        </p:nvPicPr>
        <p:blipFill>
          <a:blip r:embed="rId9">
            <a:alphaModFix/>
          </a:blip>
          <a:stretch>
            <a:fillRect/>
          </a:stretch>
        </p:blipFill>
        <p:spPr>
          <a:xfrm>
            <a:off x="309800" y="2159688"/>
            <a:ext cx="1055175" cy="1055175"/>
          </a:xfrm>
          <a:prstGeom prst="rect">
            <a:avLst/>
          </a:prstGeom>
          <a:noFill/>
          <a:ln>
            <a:noFill/>
          </a:ln>
        </p:spPr>
      </p:pic>
      <p:pic>
        <p:nvPicPr>
          <p:cNvPr id="164" name="Google Shape;164;p18"/>
          <p:cNvPicPr preferRelativeResize="0"/>
          <p:nvPr/>
        </p:nvPicPr>
        <p:blipFill>
          <a:blip r:embed="rId10">
            <a:alphaModFix/>
          </a:blip>
          <a:stretch>
            <a:fillRect/>
          </a:stretch>
        </p:blipFill>
        <p:spPr>
          <a:xfrm>
            <a:off x="3331832" y="2519699"/>
            <a:ext cx="2480338" cy="1818600"/>
          </a:xfrm>
          <a:prstGeom prst="rect">
            <a:avLst/>
          </a:prstGeom>
          <a:noFill/>
          <a:ln>
            <a:noFill/>
          </a:ln>
        </p:spPr>
      </p:pic>
      <p:pic>
        <p:nvPicPr>
          <p:cNvPr id="165" name="Google Shape;165;p18"/>
          <p:cNvPicPr preferRelativeResize="0"/>
          <p:nvPr/>
        </p:nvPicPr>
        <p:blipFill>
          <a:blip r:embed="rId11">
            <a:alphaModFix/>
          </a:blip>
          <a:stretch>
            <a:fillRect/>
          </a:stretch>
        </p:blipFill>
        <p:spPr>
          <a:xfrm>
            <a:off x="6367927" y="3590650"/>
            <a:ext cx="2212563" cy="2212550"/>
          </a:xfrm>
          <a:prstGeom prst="rect">
            <a:avLst/>
          </a:prstGeom>
          <a:noFill/>
          <a:ln>
            <a:noFill/>
          </a:ln>
        </p:spPr>
      </p:pic>
      <p:pic>
        <p:nvPicPr>
          <p:cNvPr id="166" name="Google Shape;166;p18"/>
          <p:cNvPicPr preferRelativeResize="0"/>
          <p:nvPr/>
        </p:nvPicPr>
        <p:blipFill>
          <a:blip r:embed="rId9">
            <a:alphaModFix/>
          </a:blip>
          <a:stretch>
            <a:fillRect/>
          </a:stretch>
        </p:blipFill>
        <p:spPr>
          <a:xfrm>
            <a:off x="1503076" y="2159688"/>
            <a:ext cx="1055175" cy="1055175"/>
          </a:xfrm>
          <a:prstGeom prst="rect">
            <a:avLst/>
          </a:prstGeom>
          <a:noFill/>
          <a:ln>
            <a:noFill/>
          </a:ln>
        </p:spPr>
      </p:pic>
      <p:cxnSp>
        <p:nvCxnSpPr>
          <p:cNvPr id="167" name="Google Shape;167;p18"/>
          <p:cNvCxnSpPr/>
          <p:nvPr/>
        </p:nvCxnSpPr>
        <p:spPr>
          <a:xfrm rot="10800000">
            <a:off x="2556850" y="2427963"/>
            <a:ext cx="961950" cy="584400"/>
          </a:xfrm>
          <a:prstGeom prst="straightConnector1">
            <a:avLst/>
          </a:prstGeom>
          <a:noFill/>
          <a:ln w="76200" cap="flat" cmpd="sng">
            <a:solidFill>
              <a:schemeClr val="dk2"/>
            </a:solidFill>
            <a:prstDash val="solid"/>
            <a:round/>
            <a:headEnd type="none" w="med" len="med"/>
            <a:tailEnd type="none" w="med" len="med"/>
          </a:ln>
        </p:spPr>
      </p:cxnSp>
      <p:cxnSp>
        <p:nvCxnSpPr>
          <p:cNvPr id="168" name="Google Shape;168;p18"/>
          <p:cNvCxnSpPr/>
          <p:nvPr/>
        </p:nvCxnSpPr>
        <p:spPr>
          <a:xfrm flipH="1">
            <a:off x="2216000" y="3998600"/>
            <a:ext cx="1351500" cy="694050"/>
          </a:xfrm>
          <a:prstGeom prst="straightConnector1">
            <a:avLst/>
          </a:prstGeom>
          <a:noFill/>
          <a:ln w="76200" cap="flat" cmpd="sng">
            <a:solidFill>
              <a:schemeClr val="dk2"/>
            </a:solidFill>
            <a:prstDash val="solid"/>
            <a:round/>
            <a:headEnd type="none" w="med" len="med"/>
            <a:tailEnd type="none" w="med" len="med"/>
          </a:ln>
        </p:spPr>
      </p:cxnSp>
      <p:cxnSp>
        <p:nvCxnSpPr>
          <p:cNvPr id="169" name="Google Shape;169;p18"/>
          <p:cNvCxnSpPr/>
          <p:nvPr/>
        </p:nvCxnSpPr>
        <p:spPr>
          <a:xfrm rot="10800000" flipH="1">
            <a:off x="5746963" y="2427900"/>
            <a:ext cx="560100" cy="340950"/>
          </a:xfrm>
          <a:prstGeom prst="straightConnector1">
            <a:avLst/>
          </a:prstGeom>
          <a:noFill/>
          <a:ln w="76200" cap="flat" cmpd="sng">
            <a:solidFill>
              <a:schemeClr val="dk2"/>
            </a:solidFill>
            <a:prstDash val="solid"/>
            <a:round/>
            <a:headEnd type="none" w="med" len="med"/>
            <a:tailEnd type="none" w="med" len="med"/>
          </a:ln>
        </p:spPr>
      </p:cxnSp>
      <p:cxnSp>
        <p:nvCxnSpPr>
          <p:cNvPr id="170" name="Google Shape;170;p18"/>
          <p:cNvCxnSpPr/>
          <p:nvPr/>
        </p:nvCxnSpPr>
        <p:spPr>
          <a:xfrm>
            <a:off x="5527800" y="3901188"/>
            <a:ext cx="1156650" cy="328800"/>
          </a:xfrm>
          <a:prstGeom prst="straightConnector1">
            <a:avLst/>
          </a:prstGeom>
          <a:noFill/>
          <a:ln w="76200"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9"/>
                                        </p:tgtEl>
                                        <p:attrNameLst>
                                          <p:attrName>style.visibility</p:attrName>
                                        </p:attrNameLst>
                                      </p:cBhvr>
                                      <p:to>
                                        <p:strVal val="visible"/>
                                      </p:to>
                                    </p:set>
                                    <p:animEffect transition="in" filter="fade">
                                      <p:cBhvr>
                                        <p:cTn id="7" dur="1000"/>
                                        <p:tgtEl>
                                          <p:spTgt spid="159"/>
                                        </p:tgtEl>
                                      </p:cBhvr>
                                    </p:animEffect>
                                  </p:childTnLst>
                                </p:cTn>
                              </p:par>
                              <p:par>
                                <p:cTn id="8" presetID="10" presetClass="entr" presetSubtype="0" fill="hold" nodeType="withEffect">
                                  <p:stCondLst>
                                    <p:cond delay="0"/>
                                  </p:stCondLst>
                                  <p:childTnLst>
                                    <p:set>
                                      <p:cBhvr>
                                        <p:cTn id="9" dur="1" fill="hold">
                                          <p:stCondLst>
                                            <p:cond delay="0"/>
                                          </p:stCondLst>
                                        </p:cTn>
                                        <p:tgtEl>
                                          <p:spTgt spid="160"/>
                                        </p:tgtEl>
                                        <p:attrNameLst>
                                          <p:attrName>style.visibility</p:attrName>
                                        </p:attrNameLst>
                                      </p:cBhvr>
                                      <p:to>
                                        <p:strVal val="visible"/>
                                      </p:to>
                                    </p:set>
                                    <p:animEffect transition="in" filter="fade">
                                      <p:cBhvr>
                                        <p:cTn id="10" dur="1000"/>
                                        <p:tgtEl>
                                          <p:spTgt spid="160"/>
                                        </p:tgtEl>
                                      </p:cBhvr>
                                    </p:animEffect>
                                  </p:childTnLst>
                                </p:cTn>
                              </p:par>
                              <p:par>
                                <p:cTn id="11" presetID="10" presetClass="entr" presetSubtype="0" fill="hold" nodeType="withEffect">
                                  <p:stCondLst>
                                    <p:cond delay="0"/>
                                  </p:stCondLst>
                                  <p:childTnLst>
                                    <p:set>
                                      <p:cBhvr>
                                        <p:cTn id="12" dur="1" fill="hold">
                                          <p:stCondLst>
                                            <p:cond delay="0"/>
                                          </p:stCondLst>
                                        </p:cTn>
                                        <p:tgtEl>
                                          <p:spTgt spid="161"/>
                                        </p:tgtEl>
                                        <p:attrNameLst>
                                          <p:attrName>style.visibility</p:attrName>
                                        </p:attrNameLst>
                                      </p:cBhvr>
                                      <p:to>
                                        <p:strVal val="visible"/>
                                      </p:to>
                                    </p:set>
                                    <p:animEffect transition="in" filter="fade">
                                      <p:cBhvr>
                                        <p:cTn id="13" dur="1000"/>
                                        <p:tgtEl>
                                          <p:spTgt spid="161"/>
                                        </p:tgtEl>
                                      </p:cBhvr>
                                    </p:animEffect>
                                  </p:childTnLst>
                                </p:cTn>
                              </p:par>
                              <p:par>
                                <p:cTn id="14" presetID="10" presetClass="entr" presetSubtype="0" fill="hold" nodeType="withEffect">
                                  <p:stCondLst>
                                    <p:cond delay="0"/>
                                  </p:stCondLst>
                                  <p:childTnLst>
                                    <p:set>
                                      <p:cBhvr>
                                        <p:cTn id="15" dur="1" fill="hold">
                                          <p:stCondLst>
                                            <p:cond delay="0"/>
                                          </p:stCondLst>
                                        </p:cTn>
                                        <p:tgtEl>
                                          <p:spTgt spid="163"/>
                                        </p:tgtEl>
                                        <p:attrNameLst>
                                          <p:attrName>style.visibility</p:attrName>
                                        </p:attrNameLst>
                                      </p:cBhvr>
                                      <p:to>
                                        <p:strVal val="visible"/>
                                      </p:to>
                                    </p:set>
                                    <p:animEffect transition="in" filter="fade">
                                      <p:cBhvr>
                                        <p:cTn id="16" dur="1000"/>
                                        <p:tgtEl>
                                          <p:spTgt spid="163"/>
                                        </p:tgtEl>
                                      </p:cBhvr>
                                    </p:animEffect>
                                  </p:childTnLst>
                                </p:cTn>
                              </p:par>
                              <p:par>
                                <p:cTn id="17" presetID="10" presetClass="entr" presetSubtype="0" fill="hold" nodeType="withEffect">
                                  <p:stCondLst>
                                    <p:cond delay="0"/>
                                  </p:stCondLst>
                                  <p:childTnLst>
                                    <p:set>
                                      <p:cBhvr>
                                        <p:cTn id="18" dur="1" fill="hold">
                                          <p:stCondLst>
                                            <p:cond delay="0"/>
                                          </p:stCondLst>
                                        </p:cTn>
                                        <p:tgtEl>
                                          <p:spTgt spid="166"/>
                                        </p:tgtEl>
                                        <p:attrNameLst>
                                          <p:attrName>style.visibility</p:attrName>
                                        </p:attrNameLst>
                                      </p:cBhvr>
                                      <p:to>
                                        <p:strVal val="visible"/>
                                      </p:to>
                                    </p:set>
                                    <p:animEffect transition="in" filter="fade">
                                      <p:cBhvr>
                                        <p:cTn id="19" dur="1000"/>
                                        <p:tgtEl>
                                          <p:spTgt spid="166"/>
                                        </p:tgtEl>
                                      </p:cBhvr>
                                    </p:animEffect>
                                  </p:childTnLst>
                                </p:cTn>
                              </p:par>
                              <p:par>
                                <p:cTn id="20" presetID="10" presetClass="entr" presetSubtype="0" fill="hold" nodeType="withEffect">
                                  <p:stCondLst>
                                    <p:cond delay="0"/>
                                  </p:stCondLst>
                                  <p:childTnLst>
                                    <p:set>
                                      <p:cBhvr>
                                        <p:cTn id="21" dur="1" fill="hold">
                                          <p:stCondLst>
                                            <p:cond delay="0"/>
                                          </p:stCondLst>
                                        </p:cTn>
                                        <p:tgtEl>
                                          <p:spTgt spid="167"/>
                                        </p:tgtEl>
                                        <p:attrNameLst>
                                          <p:attrName>style.visibility</p:attrName>
                                        </p:attrNameLst>
                                      </p:cBhvr>
                                      <p:to>
                                        <p:strVal val="visible"/>
                                      </p:to>
                                    </p:set>
                                    <p:animEffect transition="in" filter="fade">
                                      <p:cBhvr>
                                        <p:cTn id="22" dur="1000"/>
                                        <p:tgtEl>
                                          <p:spTgt spid="16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2"/>
                                        </p:tgtEl>
                                        <p:attrNameLst>
                                          <p:attrName>style.visibility</p:attrName>
                                        </p:attrNameLst>
                                      </p:cBhvr>
                                      <p:to>
                                        <p:strVal val="visible"/>
                                      </p:to>
                                    </p:set>
                                    <p:animEffect transition="in" filter="fade">
                                      <p:cBhvr>
                                        <p:cTn id="27" dur="1000"/>
                                        <p:tgtEl>
                                          <p:spTgt spid="162"/>
                                        </p:tgtEl>
                                      </p:cBhvr>
                                    </p:animEffect>
                                  </p:childTnLst>
                                </p:cTn>
                              </p:par>
                              <p:par>
                                <p:cTn id="28" presetID="10" presetClass="entr" presetSubtype="0" fill="hold" nodeType="withEffect">
                                  <p:stCondLst>
                                    <p:cond delay="0"/>
                                  </p:stCondLst>
                                  <p:childTnLst>
                                    <p:set>
                                      <p:cBhvr>
                                        <p:cTn id="29" dur="1" fill="hold">
                                          <p:stCondLst>
                                            <p:cond delay="0"/>
                                          </p:stCondLst>
                                        </p:cTn>
                                        <p:tgtEl>
                                          <p:spTgt spid="168"/>
                                        </p:tgtEl>
                                        <p:attrNameLst>
                                          <p:attrName>style.visibility</p:attrName>
                                        </p:attrNameLst>
                                      </p:cBhvr>
                                      <p:to>
                                        <p:strVal val="visible"/>
                                      </p:to>
                                    </p:set>
                                    <p:animEffect transition="in" filter="fade">
                                      <p:cBhvr>
                                        <p:cTn id="30" dur="1000"/>
                                        <p:tgtEl>
                                          <p:spTgt spid="16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5"/>
                                        </p:tgtEl>
                                        <p:attrNameLst>
                                          <p:attrName>style.visibility</p:attrName>
                                        </p:attrNameLst>
                                      </p:cBhvr>
                                      <p:to>
                                        <p:strVal val="visible"/>
                                      </p:to>
                                    </p:set>
                                    <p:animEffect transition="in" filter="fade">
                                      <p:cBhvr>
                                        <p:cTn id="35" dur="1000"/>
                                        <p:tgtEl>
                                          <p:spTgt spid="165"/>
                                        </p:tgtEl>
                                      </p:cBhvr>
                                    </p:animEffect>
                                  </p:childTnLst>
                                </p:cTn>
                              </p:par>
                              <p:par>
                                <p:cTn id="36" presetID="10" presetClass="entr" presetSubtype="0" fill="hold" nodeType="withEffect">
                                  <p:stCondLst>
                                    <p:cond delay="0"/>
                                  </p:stCondLst>
                                  <p:childTnLst>
                                    <p:set>
                                      <p:cBhvr>
                                        <p:cTn id="37" dur="1" fill="hold">
                                          <p:stCondLst>
                                            <p:cond delay="0"/>
                                          </p:stCondLst>
                                        </p:cTn>
                                        <p:tgtEl>
                                          <p:spTgt spid="170"/>
                                        </p:tgtEl>
                                        <p:attrNameLst>
                                          <p:attrName>style.visibility</p:attrName>
                                        </p:attrNameLst>
                                      </p:cBhvr>
                                      <p:to>
                                        <p:strVal val="visible"/>
                                      </p:to>
                                    </p:set>
                                    <p:animEffect transition="in" filter="fade">
                                      <p:cBhvr>
                                        <p:cTn id="38" dur="1000"/>
                                        <p:tgtEl>
                                          <p:spTgt spid="17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57"/>
                                        </p:tgtEl>
                                        <p:attrNameLst>
                                          <p:attrName>style.visibility</p:attrName>
                                        </p:attrNameLst>
                                      </p:cBhvr>
                                      <p:to>
                                        <p:strVal val="visible"/>
                                      </p:to>
                                    </p:set>
                                    <p:animEffect transition="in" filter="fade">
                                      <p:cBhvr>
                                        <p:cTn id="43" dur="1000"/>
                                        <p:tgtEl>
                                          <p:spTgt spid="157"/>
                                        </p:tgtEl>
                                      </p:cBhvr>
                                    </p:animEffect>
                                  </p:childTnLst>
                                </p:cTn>
                              </p:par>
                              <p:par>
                                <p:cTn id="44" presetID="10" presetClass="entr" presetSubtype="0" fill="hold" nodeType="withEffect">
                                  <p:stCondLst>
                                    <p:cond delay="0"/>
                                  </p:stCondLst>
                                  <p:childTnLst>
                                    <p:set>
                                      <p:cBhvr>
                                        <p:cTn id="45" dur="1" fill="hold">
                                          <p:stCondLst>
                                            <p:cond delay="0"/>
                                          </p:stCondLst>
                                        </p:cTn>
                                        <p:tgtEl>
                                          <p:spTgt spid="158"/>
                                        </p:tgtEl>
                                        <p:attrNameLst>
                                          <p:attrName>style.visibility</p:attrName>
                                        </p:attrNameLst>
                                      </p:cBhvr>
                                      <p:to>
                                        <p:strVal val="visible"/>
                                      </p:to>
                                    </p:set>
                                    <p:animEffect transition="in" filter="fade">
                                      <p:cBhvr>
                                        <p:cTn id="46" dur="1000"/>
                                        <p:tgtEl>
                                          <p:spTgt spid="158"/>
                                        </p:tgtEl>
                                      </p:cBhvr>
                                    </p:animEffect>
                                  </p:childTnLst>
                                </p:cTn>
                              </p:par>
                              <p:par>
                                <p:cTn id="47" presetID="10" presetClass="entr" presetSubtype="0" fill="hold" nodeType="withEffect">
                                  <p:stCondLst>
                                    <p:cond delay="0"/>
                                  </p:stCondLst>
                                  <p:childTnLst>
                                    <p:set>
                                      <p:cBhvr>
                                        <p:cTn id="48" dur="1" fill="hold">
                                          <p:stCondLst>
                                            <p:cond delay="0"/>
                                          </p:stCondLst>
                                        </p:cTn>
                                        <p:tgtEl>
                                          <p:spTgt spid="169"/>
                                        </p:tgtEl>
                                        <p:attrNameLst>
                                          <p:attrName>style.visibility</p:attrName>
                                        </p:attrNameLst>
                                      </p:cBhvr>
                                      <p:to>
                                        <p:strVal val="visible"/>
                                      </p:to>
                                    </p:set>
                                    <p:animEffect transition="in" filter="fade">
                                      <p:cBhvr>
                                        <p:cTn id="49" dur="10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pic>
        <p:nvPicPr>
          <p:cNvPr id="175" name="Google Shape;175;p19"/>
          <p:cNvPicPr preferRelativeResize="0"/>
          <p:nvPr/>
        </p:nvPicPr>
        <p:blipFill>
          <a:blip r:embed="rId3">
            <a:alphaModFix/>
          </a:blip>
          <a:stretch>
            <a:fillRect/>
          </a:stretch>
        </p:blipFill>
        <p:spPr>
          <a:xfrm>
            <a:off x="1090737" y="1199863"/>
            <a:ext cx="816500" cy="850613"/>
          </a:xfrm>
          <a:prstGeom prst="rect">
            <a:avLst/>
          </a:prstGeom>
          <a:noFill/>
          <a:ln>
            <a:noFill/>
          </a:ln>
        </p:spPr>
      </p:pic>
      <p:pic>
        <p:nvPicPr>
          <p:cNvPr id="176" name="Google Shape;176;p19"/>
          <p:cNvPicPr preferRelativeResize="0"/>
          <p:nvPr/>
        </p:nvPicPr>
        <p:blipFill>
          <a:blip r:embed="rId3">
            <a:alphaModFix/>
          </a:blip>
          <a:stretch>
            <a:fillRect/>
          </a:stretch>
        </p:blipFill>
        <p:spPr>
          <a:xfrm>
            <a:off x="3139412" y="1199863"/>
            <a:ext cx="816500" cy="850613"/>
          </a:xfrm>
          <a:prstGeom prst="rect">
            <a:avLst/>
          </a:prstGeom>
          <a:noFill/>
          <a:ln>
            <a:noFill/>
          </a:ln>
        </p:spPr>
      </p:pic>
      <p:pic>
        <p:nvPicPr>
          <p:cNvPr id="177" name="Google Shape;177;p19"/>
          <p:cNvPicPr preferRelativeResize="0"/>
          <p:nvPr/>
        </p:nvPicPr>
        <p:blipFill>
          <a:blip r:embed="rId3">
            <a:alphaModFix/>
          </a:blip>
          <a:stretch>
            <a:fillRect/>
          </a:stretch>
        </p:blipFill>
        <p:spPr>
          <a:xfrm>
            <a:off x="5188087" y="1199863"/>
            <a:ext cx="816500" cy="850613"/>
          </a:xfrm>
          <a:prstGeom prst="rect">
            <a:avLst/>
          </a:prstGeom>
          <a:noFill/>
          <a:ln>
            <a:noFill/>
          </a:ln>
        </p:spPr>
      </p:pic>
      <p:pic>
        <p:nvPicPr>
          <p:cNvPr id="178" name="Google Shape;178;p19"/>
          <p:cNvPicPr preferRelativeResize="0"/>
          <p:nvPr/>
        </p:nvPicPr>
        <p:blipFill>
          <a:blip r:embed="rId3">
            <a:alphaModFix/>
          </a:blip>
          <a:stretch>
            <a:fillRect/>
          </a:stretch>
        </p:blipFill>
        <p:spPr>
          <a:xfrm>
            <a:off x="7236762" y="1199863"/>
            <a:ext cx="816500" cy="850613"/>
          </a:xfrm>
          <a:prstGeom prst="rect">
            <a:avLst/>
          </a:prstGeom>
          <a:noFill/>
          <a:ln>
            <a:noFill/>
          </a:ln>
        </p:spPr>
      </p:pic>
      <p:pic>
        <p:nvPicPr>
          <p:cNvPr id="179" name="Google Shape;179;p19"/>
          <p:cNvPicPr preferRelativeResize="0"/>
          <p:nvPr/>
        </p:nvPicPr>
        <p:blipFill>
          <a:blip r:embed="rId4">
            <a:alphaModFix/>
          </a:blip>
          <a:stretch>
            <a:fillRect/>
          </a:stretch>
        </p:blipFill>
        <p:spPr>
          <a:xfrm>
            <a:off x="934163" y="2365598"/>
            <a:ext cx="383939" cy="579525"/>
          </a:xfrm>
          <a:prstGeom prst="rect">
            <a:avLst/>
          </a:prstGeom>
          <a:noFill/>
          <a:ln>
            <a:noFill/>
          </a:ln>
        </p:spPr>
      </p:pic>
      <p:pic>
        <p:nvPicPr>
          <p:cNvPr id="180" name="Google Shape;180;p19"/>
          <p:cNvPicPr preferRelativeResize="0"/>
          <p:nvPr/>
        </p:nvPicPr>
        <p:blipFill>
          <a:blip r:embed="rId5">
            <a:alphaModFix/>
          </a:blip>
          <a:stretch>
            <a:fillRect/>
          </a:stretch>
        </p:blipFill>
        <p:spPr>
          <a:xfrm>
            <a:off x="1307017" y="2365595"/>
            <a:ext cx="383939" cy="579528"/>
          </a:xfrm>
          <a:prstGeom prst="rect">
            <a:avLst/>
          </a:prstGeom>
          <a:noFill/>
          <a:ln>
            <a:noFill/>
          </a:ln>
        </p:spPr>
      </p:pic>
      <p:pic>
        <p:nvPicPr>
          <p:cNvPr id="181" name="Google Shape;181;p19"/>
          <p:cNvPicPr preferRelativeResize="0"/>
          <p:nvPr/>
        </p:nvPicPr>
        <p:blipFill>
          <a:blip r:embed="rId6">
            <a:alphaModFix/>
          </a:blip>
          <a:stretch>
            <a:fillRect/>
          </a:stretch>
        </p:blipFill>
        <p:spPr>
          <a:xfrm>
            <a:off x="1679871" y="2365592"/>
            <a:ext cx="383939" cy="579530"/>
          </a:xfrm>
          <a:prstGeom prst="rect">
            <a:avLst/>
          </a:prstGeom>
          <a:noFill/>
          <a:ln>
            <a:noFill/>
          </a:ln>
        </p:spPr>
      </p:pic>
      <p:pic>
        <p:nvPicPr>
          <p:cNvPr id="182" name="Google Shape;182;p19"/>
          <p:cNvPicPr preferRelativeResize="0"/>
          <p:nvPr/>
        </p:nvPicPr>
        <p:blipFill>
          <a:blip r:embed="rId7">
            <a:alphaModFix/>
          </a:blip>
          <a:stretch>
            <a:fillRect/>
          </a:stretch>
        </p:blipFill>
        <p:spPr>
          <a:xfrm>
            <a:off x="658850" y="3090163"/>
            <a:ext cx="788531" cy="788531"/>
          </a:xfrm>
          <a:prstGeom prst="rect">
            <a:avLst/>
          </a:prstGeom>
          <a:noFill/>
          <a:ln>
            <a:noFill/>
          </a:ln>
        </p:spPr>
      </p:pic>
      <p:pic>
        <p:nvPicPr>
          <p:cNvPr id="183" name="Google Shape;183;p19"/>
          <p:cNvPicPr preferRelativeResize="0"/>
          <p:nvPr/>
        </p:nvPicPr>
        <p:blipFill>
          <a:blip r:embed="rId7">
            <a:alphaModFix/>
          </a:blip>
          <a:stretch>
            <a:fillRect/>
          </a:stretch>
        </p:blipFill>
        <p:spPr>
          <a:xfrm>
            <a:off x="1550583" y="3090163"/>
            <a:ext cx="788531" cy="788531"/>
          </a:xfrm>
          <a:prstGeom prst="rect">
            <a:avLst/>
          </a:prstGeom>
          <a:noFill/>
          <a:ln>
            <a:noFill/>
          </a:ln>
        </p:spPr>
      </p:pic>
      <p:pic>
        <p:nvPicPr>
          <p:cNvPr id="184" name="Google Shape;184;p19"/>
          <p:cNvPicPr preferRelativeResize="0"/>
          <p:nvPr/>
        </p:nvPicPr>
        <p:blipFill>
          <a:blip r:embed="rId8">
            <a:alphaModFix/>
          </a:blip>
          <a:stretch>
            <a:fillRect/>
          </a:stretch>
        </p:blipFill>
        <p:spPr>
          <a:xfrm>
            <a:off x="3139412" y="2365600"/>
            <a:ext cx="816500" cy="1084150"/>
          </a:xfrm>
          <a:prstGeom prst="rect">
            <a:avLst/>
          </a:prstGeom>
          <a:noFill/>
          <a:ln>
            <a:noFill/>
          </a:ln>
        </p:spPr>
      </p:pic>
      <p:pic>
        <p:nvPicPr>
          <p:cNvPr id="185" name="Google Shape;185;p19"/>
          <p:cNvPicPr preferRelativeResize="0"/>
          <p:nvPr/>
        </p:nvPicPr>
        <p:blipFill>
          <a:blip r:embed="rId9">
            <a:alphaModFix/>
          </a:blip>
          <a:stretch>
            <a:fillRect/>
          </a:stretch>
        </p:blipFill>
        <p:spPr>
          <a:xfrm>
            <a:off x="658862" y="4041413"/>
            <a:ext cx="1680263" cy="1680263"/>
          </a:xfrm>
          <a:prstGeom prst="rect">
            <a:avLst/>
          </a:prstGeom>
          <a:noFill/>
          <a:ln>
            <a:noFill/>
          </a:ln>
        </p:spPr>
      </p:pic>
      <p:pic>
        <p:nvPicPr>
          <p:cNvPr id="186" name="Google Shape;186;p19"/>
          <p:cNvPicPr preferRelativeResize="0"/>
          <p:nvPr/>
        </p:nvPicPr>
        <p:blipFill>
          <a:blip r:embed="rId10">
            <a:alphaModFix/>
          </a:blip>
          <a:stretch>
            <a:fillRect/>
          </a:stretch>
        </p:blipFill>
        <p:spPr>
          <a:xfrm>
            <a:off x="5072763" y="2529719"/>
            <a:ext cx="1047149" cy="755913"/>
          </a:xfrm>
          <a:prstGeom prst="rect">
            <a:avLst/>
          </a:prstGeom>
          <a:noFill/>
          <a:ln>
            <a:noFill/>
          </a:ln>
        </p:spPr>
      </p:pic>
      <p:pic>
        <p:nvPicPr>
          <p:cNvPr id="187" name="Google Shape;187;p19"/>
          <p:cNvPicPr preferRelativeResize="0"/>
          <p:nvPr/>
        </p:nvPicPr>
        <p:blipFill>
          <a:blip r:embed="rId11">
            <a:alphaModFix/>
          </a:blip>
          <a:stretch>
            <a:fillRect/>
          </a:stretch>
        </p:blipFill>
        <p:spPr>
          <a:xfrm>
            <a:off x="7324000" y="2417926"/>
            <a:ext cx="642025" cy="979501"/>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2" name="Google Shape;192;p20"/>
          <p:cNvPicPr preferRelativeResize="0"/>
          <p:nvPr/>
        </p:nvPicPr>
        <p:blipFill>
          <a:blip r:embed="rId3">
            <a:alphaModFix/>
          </a:blip>
          <a:stretch>
            <a:fillRect/>
          </a:stretch>
        </p:blipFill>
        <p:spPr>
          <a:xfrm>
            <a:off x="153800" y="933450"/>
            <a:ext cx="8836400" cy="4991101"/>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3" name="TextBox 2">
            <a:extLst>
              <a:ext uri="{FF2B5EF4-FFF2-40B4-BE49-F238E27FC236}">
                <a16:creationId xmlns:a16="http://schemas.microsoft.com/office/drawing/2014/main" id="{3F7BC452-E471-B7A1-51BA-A6D2FA08BE6F}"/>
              </a:ext>
            </a:extLst>
          </p:cNvPr>
          <p:cNvSpPr txBox="1"/>
          <p:nvPr/>
        </p:nvSpPr>
        <p:spPr>
          <a:xfrm>
            <a:off x="628135" y="1153738"/>
            <a:ext cx="4158049" cy="3477875"/>
          </a:xfrm>
          <a:prstGeom prst="rect">
            <a:avLst/>
          </a:prstGeom>
          <a:noFill/>
        </p:spPr>
        <p:txBody>
          <a:bodyPr wrap="square">
            <a:spAutoFit/>
          </a:bodyPr>
          <a:lstStyle/>
          <a:p>
            <a:r>
              <a:rPr lang="en-US" sz="1000" dirty="0"/>
              <a:t>void setup() </a:t>
            </a:r>
          </a:p>
          <a:p>
            <a:r>
              <a:rPr lang="en-US" sz="1000" dirty="0"/>
              <a:t>{</a:t>
            </a:r>
          </a:p>
          <a:p>
            <a:endParaRPr lang="en-US" sz="1000" dirty="0"/>
          </a:p>
          <a:p>
            <a:r>
              <a:rPr lang="en-US" sz="1000" dirty="0"/>
              <a:t>  // Task to run forever</a:t>
            </a:r>
          </a:p>
          <a:p>
            <a:r>
              <a:rPr lang="en-US" sz="1000" dirty="0"/>
              <a:t>  </a:t>
            </a:r>
            <a:r>
              <a:rPr lang="en-US" sz="1000" dirty="0" err="1"/>
              <a:t>xTaskCreate</a:t>
            </a:r>
            <a:r>
              <a:rPr lang="en-US" sz="1000" dirty="0"/>
              <a:t>(</a:t>
            </a:r>
          </a:p>
          <a:p>
            <a:r>
              <a:rPr lang="en-US" sz="1000" dirty="0"/>
              <a:t>              toggleLED_1,  // Function to be called</a:t>
            </a:r>
          </a:p>
          <a:p>
            <a:r>
              <a:rPr lang="en-US" sz="1000" dirty="0"/>
              <a:t>              "Toggle 1",   // Name of task</a:t>
            </a:r>
          </a:p>
          <a:p>
            <a:r>
              <a:rPr lang="en-US" sz="1000" dirty="0"/>
              <a:t>              1024,         // Stack size (words)</a:t>
            </a:r>
          </a:p>
          <a:p>
            <a:r>
              <a:rPr lang="en-US" sz="1000" dirty="0"/>
              <a:t>              NULL,         // Parameter to pass to function</a:t>
            </a:r>
          </a:p>
          <a:p>
            <a:r>
              <a:rPr lang="en-US" sz="1000" dirty="0"/>
              <a:t>              1,            // Task priority (0 to </a:t>
            </a:r>
            <a:r>
              <a:rPr lang="en-US" sz="1000" dirty="0" err="1"/>
              <a:t>configMAX_PRIORITIES</a:t>
            </a:r>
            <a:r>
              <a:rPr lang="en-US" sz="1000" dirty="0"/>
              <a:t> - 1)</a:t>
            </a:r>
          </a:p>
          <a:p>
            <a:r>
              <a:rPr lang="en-US" sz="1000" dirty="0"/>
              <a:t>              NULL );         // Task handle</a:t>
            </a:r>
          </a:p>
          <a:p>
            <a:endParaRPr lang="en-US" sz="1000" dirty="0"/>
          </a:p>
          <a:p>
            <a:r>
              <a:rPr lang="en-US" sz="1000" dirty="0"/>
              <a:t>  // Task to run forever</a:t>
            </a:r>
          </a:p>
          <a:p>
            <a:r>
              <a:rPr lang="en-US" sz="1000" dirty="0"/>
              <a:t>  </a:t>
            </a:r>
            <a:r>
              <a:rPr lang="en-US" sz="1000" dirty="0" err="1"/>
              <a:t>xTaskCreate</a:t>
            </a:r>
            <a:r>
              <a:rPr lang="en-US" sz="1000" dirty="0"/>
              <a:t>(</a:t>
            </a:r>
          </a:p>
          <a:p>
            <a:r>
              <a:rPr lang="en-US" sz="1000" dirty="0"/>
              <a:t>              toggleLED_2,  // Function to be called</a:t>
            </a:r>
          </a:p>
          <a:p>
            <a:r>
              <a:rPr lang="en-US" sz="1000" dirty="0"/>
              <a:t>              "Toggle 2",   // Name of task</a:t>
            </a:r>
          </a:p>
          <a:p>
            <a:r>
              <a:rPr lang="en-US" sz="1000" dirty="0"/>
              <a:t>              1024,         // Stack size (words)</a:t>
            </a:r>
          </a:p>
          <a:p>
            <a:r>
              <a:rPr lang="en-US" sz="1000" dirty="0"/>
              <a:t>              NULL,         // Parameter to pass to function</a:t>
            </a:r>
          </a:p>
          <a:p>
            <a:r>
              <a:rPr lang="en-US" sz="1000" dirty="0"/>
              <a:t>              1,            // Task priority (0 to </a:t>
            </a:r>
            <a:r>
              <a:rPr lang="en-US" sz="1000" dirty="0" err="1"/>
              <a:t>configMAX_PRIORITIES</a:t>
            </a:r>
            <a:r>
              <a:rPr lang="en-US" sz="1000" dirty="0"/>
              <a:t> - 1)</a:t>
            </a:r>
          </a:p>
          <a:p>
            <a:r>
              <a:rPr lang="en-US" sz="1000" dirty="0"/>
              <a:t>              NULL );         // Task handle</a:t>
            </a:r>
          </a:p>
          <a:p>
            <a:endParaRPr lang="en-US" sz="1000" dirty="0"/>
          </a:p>
          <a:p>
            <a:r>
              <a:rPr lang="en-US" sz="1000" dirty="0"/>
              <a:t>}</a:t>
            </a:r>
          </a:p>
        </p:txBody>
      </p:sp>
      <p:sp>
        <p:nvSpPr>
          <p:cNvPr id="5" name="TextBox 4">
            <a:extLst>
              <a:ext uri="{FF2B5EF4-FFF2-40B4-BE49-F238E27FC236}">
                <a16:creationId xmlns:a16="http://schemas.microsoft.com/office/drawing/2014/main" id="{AACEDB38-87E9-19ED-2462-1F3C1442F353}"/>
              </a:ext>
            </a:extLst>
          </p:cNvPr>
          <p:cNvSpPr txBox="1"/>
          <p:nvPr/>
        </p:nvSpPr>
        <p:spPr>
          <a:xfrm>
            <a:off x="5177481" y="1487011"/>
            <a:ext cx="3472249" cy="3000821"/>
          </a:xfrm>
          <a:prstGeom prst="rect">
            <a:avLst/>
          </a:prstGeom>
          <a:noFill/>
        </p:spPr>
        <p:txBody>
          <a:bodyPr wrap="square">
            <a:spAutoFit/>
          </a:bodyPr>
          <a:lstStyle/>
          <a:p>
            <a:r>
              <a:rPr lang="en-US" sz="900" dirty="0"/>
              <a:t>// Our task: blink an LED at one rate</a:t>
            </a:r>
          </a:p>
          <a:p>
            <a:r>
              <a:rPr lang="en-US" sz="900" dirty="0"/>
              <a:t>void toggleLED_1(void *parameter)</a:t>
            </a:r>
          </a:p>
          <a:p>
            <a:r>
              <a:rPr lang="en-US" sz="900" dirty="0"/>
              <a:t>{</a:t>
            </a:r>
          </a:p>
          <a:p>
            <a:r>
              <a:rPr lang="en-US" sz="900" dirty="0"/>
              <a:t>  while(1) {</a:t>
            </a:r>
          </a:p>
          <a:p>
            <a:r>
              <a:rPr lang="en-US" sz="900" dirty="0"/>
              <a:t>    </a:t>
            </a:r>
            <a:r>
              <a:rPr lang="en-US" sz="900" dirty="0" err="1"/>
              <a:t>digitalWrite</a:t>
            </a:r>
            <a:r>
              <a:rPr lang="en-US" sz="900" dirty="0"/>
              <a:t>(led_pin1, HIGH);</a:t>
            </a:r>
          </a:p>
          <a:p>
            <a:r>
              <a:rPr lang="en-US" sz="900" dirty="0"/>
              <a:t>    </a:t>
            </a:r>
            <a:r>
              <a:rPr lang="en-US" sz="900" dirty="0" err="1"/>
              <a:t>vTaskDelay</a:t>
            </a:r>
            <a:r>
              <a:rPr lang="en-US" sz="900" dirty="0"/>
              <a:t>(rate_1 / </a:t>
            </a:r>
            <a:r>
              <a:rPr lang="en-US" sz="900" dirty="0" err="1"/>
              <a:t>portTICK_PERIOD_MS</a:t>
            </a:r>
            <a:r>
              <a:rPr lang="en-US" sz="900" dirty="0"/>
              <a:t>);</a:t>
            </a:r>
          </a:p>
          <a:p>
            <a:r>
              <a:rPr lang="en-US" sz="900" dirty="0"/>
              <a:t>    </a:t>
            </a:r>
            <a:r>
              <a:rPr lang="en-US" sz="900" dirty="0" err="1"/>
              <a:t>digitalWrite</a:t>
            </a:r>
            <a:r>
              <a:rPr lang="en-US" sz="900" dirty="0"/>
              <a:t>(led_pin1, LOW);</a:t>
            </a:r>
          </a:p>
          <a:p>
            <a:r>
              <a:rPr lang="en-US" sz="900" dirty="0"/>
              <a:t>    </a:t>
            </a:r>
            <a:r>
              <a:rPr lang="en-US" sz="900" dirty="0" err="1"/>
              <a:t>vTaskDelay</a:t>
            </a:r>
            <a:r>
              <a:rPr lang="en-US" sz="900" dirty="0"/>
              <a:t>(rate_1 / </a:t>
            </a:r>
            <a:r>
              <a:rPr lang="en-US" sz="900" dirty="0" err="1"/>
              <a:t>portTICK_PERIOD_MS</a:t>
            </a:r>
            <a:r>
              <a:rPr lang="en-US" sz="900" dirty="0"/>
              <a:t>);</a:t>
            </a:r>
          </a:p>
          <a:p>
            <a:r>
              <a:rPr lang="en-US" sz="900" dirty="0"/>
              <a:t>  }</a:t>
            </a:r>
          </a:p>
          <a:p>
            <a:r>
              <a:rPr lang="en-US" sz="900" dirty="0"/>
              <a:t>}</a:t>
            </a:r>
          </a:p>
          <a:p>
            <a:endParaRPr lang="en-US" sz="900" dirty="0"/>
          </a:p>
          <a:p>
            <a:r>
              <a:rPr lang="en-US" sz="900" dirty="0"/>
              <a:t>// Our task: blink an LED at another rate</a:t>
            </a:r>
          </a:p>
          <a:p>
            <a:r>
              <a:rPr lang="en-US" sz="900" dirty="0"/>
              <a:t>void toggleLED_2(void *parameter) </a:t>
            </a:r>
          </a:p>
          <a:p>
            <a:r>
              <a:rPr lang="en-US" sz="900" dirty="0"/>
              <a:t>{</a:t>
            </a:r>
          </a:p>
          <a:p>
            <a:r>
              <a:rPr lang="en-US" sz="900" dirty="0"/>
              <a:t>  while(1) {</a:t>
            </a:r>
          </a:p>
          <a:p>
            <a:r>
              <a:rPr lang="en-US" sz="900" dirty="0"/>
              <a:t>    </a:t>
            </a:r>
            <a:r>
              <a:rPr lang="en-US" sz="900" dirty="0" err="1"/>
              <a:t>digitalWrite</a:t>
            </a:r>
            <a:r>
              <a:rPr lang="en-US" sz="900" dirty="0"/>
              <a:t>(led_pin2, HIGH);</a:t>
            </a:r>
          </a:p>
          <a:p>
            <a:r>
              <a:rPr lang="en-US" sz="900" dirty="0"/>
              <a:t>    </a:t>
            </a:r>
            <a:r>
              <a:rPr lang="en-US" sz="900" dirty="0" err="1"/>
              <a:t>vTaskDelay</a:t>
            </a:r>
            <a:r>
              <a:rPr lang="en-US" sz="900" dirty="0"/>
              <a:t>(rate_2 / </a:t>
            </a:r>
            <a:r>
              <a:rPr lang="en-US" sz="900" dirty="0" err="1"/>
              <a:t>portTICK_PERIOD_MS</a:t>
            </a:r>
            <a:r>
              <a:rPr lang="en-US" sz="900" dirty="0"/>
              <a:t>);</a:t>
            </a:r>
          </a:p>
          <a:p>
            <a:r>
              <a:rPr lang="en-US" sz="900" dirty="0"/>
              <a:t>    </a:t>
            </a:r>
            <a:r>
              <a:rPr lang="en-US" sz="900" dirty="0" err="1"/>
              <a:t>digitalWrite</a:t>
            </a:r>
            <a:r>
              <a:rPr lang="en-US" sz="900" dirty="0"/>
              <a:t>(led_pin2, LOW);</a:t>
            </a:r>
          </a:p>
          <a:p>
            <a:r>
              <a:rPr lang="en-US" sz="900" dirty="0"/>
              <a:t>    </a:t>
            </a:r>
            <a:r>
              <a:rPr lang="en-US" sz="900" dirty="0" err="1"/>
              <a:t>vTaskDelay</a:t>
            </a:r>
            <a:r>
              <a:rPr lang="en-US" sz="900" dirty="0"/>
              <a:t>(rate_2 / </a:t>
            </a:r>
            <a:r>
              <a:rPr lang="en-US" sz="900" dirty="0" err="1"/>
              <a:t>portTICK_PERIOD_MS</a:t>
            </a:r>
            <a:r>
              <a:rPr lang="en-US" sz="900" dirty="0"/>
              <a:t>);</a:t>
            </a:r>
          </a:p>
          <a:p>
            <a:r>
              <a:rPr lang="en-US" sz="900" dirty="0"/>
              <a:t>  }</a:t>
            </a:r>
          </a:p>
          <a:p>
            <a:r>
              <a:rPr lang="en-US" sz="900" dirty="0"/>
              <a:t>}</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0" y="857250"/>
            <a:ext cx="9144000" cy="706200"/>
          </a:xfrm>
          <a:prstGeom prst="rect">
            <a:avLst/>
          </a:prstGeom>
          <a:noFill/>
          <a:ln>
            <a:noFill/>
          </a:ln>
        </p:spPr>
        <p:txBody>
          <a:bodyPr spcFirstLastPara="1" wrap="square" lIns="45713" tIns="45713" rIns="45713" bIns="45713" anchor="ctr" anchorCtr="0">
            <a:noAutofit/>
          </a:bodyPr>
          <a:lstStyle/>
          <a:p>
            <a:pPr algn="ctr"/>
            <a:r>
              <a:rPr lang="en" sz="2400"/>
              <a:t>What our code looks like</a:t>
            </a:r>
            <a:endParaRPr sz="2400"/>
          </a:p>
        </p:txBody>
      </p:sp>
      <p:sp>
        <p:nvSpPr>
          <p:cNvPr id="55" name="Google Shape;55;p13"/>
          <p:cNvSpPr/>
          <p:nvPr/>
        </p:nvSpPr>
        <p:spPr>
          <a:xfrm>
            <a:off x="3963225" y="2561863"/>
            <a:ext cx="1217550" cy="365250"/>
          </a:xfrm>
          <a:prstGeom prst="rect">
            <a:avLst/>
          </a:prstGeom>
          <a:solidFill>
            <a:srgbClr val="D9EAD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Setup</a:t>
            </a:r>
            <a:endParaRPr sz="1500"/>
          </a:p>
        </p:txBody>
      </p:sp>
      <p:sp>
        <p:nvSpPr>
          <p:cNvPr id="56" name="Google Shape;56;p13"/>
          <p:cNvSpPr txBox="1"/>
          <p:nvPr/>
        </p:nvSpPr>
        <p:spPr>
          <a:xfrm>
            <a:off x="3501750" y="1928725"/>
            <a:ext cx="2140500" cy="281850"/>
          </a:xfrm>
          <a:prstGeom prst="rect">
            <a:avLst/>
          </a:prstGeom>
          <a:noFill/>
          <a:ln>
            <a:noFill/>
          </a:ln>
        </p:spPr>
        <p:txBody>
          <a:bodyPr spcFirstLastPara="1" wrap="square" lIns="45713" tIns="45713" rIns="45713" bIns="45713" anchor="ctr" anchorCtr="0">
            <a:noAutofit/>
          </a:bodyPr>
          <a:lstStyle/>
          <a:p>
            <a:pPr algn="ctr"/>
            <a:r>
              <a:rPr lang="en" sz="1500"/>
              <a:t>Entry Point (main())</a:t>
            </a:r>
            <a:endParaRPr sz="1500"/>
          </a:p>
        </p:txBody>
      </p:sp>
      <p:sp>
        <p:nvSpPr>
          <p:cNvPr id="57" name="Google Shape;57;p13"/>
          <p:cNvSpPr/>
          <p:nvPr/>
        </p:nvSpPr>
        <p:spPr>
          <a:xfrm>
            <a:off x="3963225" y="4412563"/>
            <a:ext cx="1217550" cy="36525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B</a:t>
            </a:r>
            <a:endParaRPr sz="1500"/>
          </a:p>
        </p:txBody>
      </p:sp>
      <p:cxnSp>
        <p:nvCxnSpPr>
          <p:cNvPr id="58" name="Google Shape;58;p13"/>
          <p:cNvCxnSpPr>
            <a:stCxn id="56" idx="2"/>
            <a:endCxn id="55" idx="0"/>
          </p:cNvCxnSpPr>
          <p:nvPr/>
        </p:nvCxnSpPr>
        <p:spPr>
          <a:xfrm>
            <a:off x="4572000" y="2210575"/>
            <a:ext cx="0" cy="351300"/>
          </a:xfrm>
          <a:prstGeom prst="straightConnector1">
            <a:avLst/>
          </a:prstGeom>
          <a:noFill/>
          <a:ln w="38100" cap="flat" cmpd="sng">
            <a:solidFill>
              <a:srgbClr val="595959"/>
            </a:solidFill>
            <a:prstDash val="solid"/>
            <a:round/>
            <a:headEnd type="none" w="med" len="med"/>
            <a:tailEnd type="triangle" w="med" len="med"/>
          </a:ln>
        </p:spPr>
      </p:cxnSp>
      <p:sp>
        <p:nvSpPr>
          <p:cNvPr id="59" name="Google Shape;59;p13"/>
          <p:cNvSpPr/>
          <p:nvPr/>
        </p:nvSpPr>
        <p:spPr>
          <a:xfrm>
            <a:off x="6767650" y="2838325"/>
            <a:ext cx="1561500" cy="706200"/>
          </a:xfrm>
          <a:prstGeom prst="rect">
            <a:avLst/>
          </a:prstGeom>
          <a:solidFill>
            <a:srgbClr val="F4CC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Interrupt Service Routine (ISR)</a:t>
            </a:r>
            <a:endParaRPr sz="1500"/>
          </a:p>
        </p:txBody>
      </p:sp>
      <p:cxnSp>
        <p:nvCxnSpPr>
          <p:cNvPr id="60" name="Google Shape;60;p13"/>
          <p:cNvCxnSpPr>
            <a:stCxn id="55" idx="2"/>
            <a:endCxn id="57" idx="0"/>
          </p:cNvCxnSpPr>
          <p:nvPr/>
        </p:nvCxnSpPr>
        <p:spPr>
          <a:xfrm>
            <a:off x="4572000" y="2927113"/>
            <a:ext cx="0" cy="1485450"/>
          </a:xfrm>
          <a:prstGeom prst="straightConnector1">
            <a:avLst/>
          </a:prstGeom>
          <a:noFill/>
          <a:ln w="38100" cap="flat" cmpd="sng">
            <a:solidFill>
              <a:srgbClr val="595959"/>
            </a:solidFill>
            <a:prstDash val="solid"/>
            <a:round/>
            <a:headEnd type="none" w="med" len="med"/>
            <a:tailEnd type="triangle" w="med" len="med"/>
          </a:ln>
        </p:spPr>
      </p:cxnSp>
      <p:sp>
        <p:nvSpPr>
          <p:cNvPr id="61" name="Google Shape;61;p13"/>
          <p:cNvSpPr/>
          <p:nvPr/>
        </p:nvSpPr>
        <p:spPr>
          <a:xfrm>
            <a:off x="3654104" y="4091236"/>
            <a:ext cx="538013" cy="980275"/>
          </a:xfrm>
          <a:custGeom>
            <a:avLst/>
            <a:gdLst/>
            <a:ahLst/>
            <a:cxnLst/>
            <a:rect l="l" t="t" r="r" b="b"/>
            <a:pathLst>
              <a:path w="43041" h="78422" extrusionOk="0">
                <a:moveTo>
                  <a:pt x="42067" y="54831"/>
                </a:moveTo>
                <a:cubicBezTo>
                  <a:pt x="40768" y="58403"/>
                  <a:pt x="40119" y="73014"/>
                  <a:pt x="34275" y="76261"/>
                </a:cubicBezTo>
                <a:cubicBezTo>
                  <a:pt x="28431" y="79508"/>
                  <a:pt x="12602" y="79021"/>
                  <a:pt x="7001" y="74313"/>
                </a:cubicBezTo>
                <a:cubicBezTo>
                  <a:pt x="1400" y="69605"/>
                  <a:pt x="1319" y="59215"/>
                  <a:pt x="670" y="48013"/>
                </a:cubicBezTo>
                <a:cubicBezTo>
                  <a:pt x="21" y="36811"/>
                  <a:pt x="-710" y="15057"/>
                  <a:pt x="3105" y="7102"/>
                </a:cubicBezTo>
                <a:cubicBezTo>
                  <a:pt x="6920" y="-853"/>
                  <a:pt x="17553" y="771"/>
                  <a:pt x="23560" y="284"/>
                </a:cubicBezTo>
                <a:cubicBezTo>
                  <a:pt x="29567" y="-203"/>
                  <a:pt x="35898" y="122"/>
                  <a:pt x="39145" y="4180"/>
                </a:cubicBezTo>
                <a:cubicBezTo>
                  <a:pt x="42392" y="8239"/>
                  <a:pt x="42392" y="21226"/>
                  <a:pt x="43041" y="24635"/>
                </a:cubicBezTo>
              </a:path>
            </a:pathLst>
          </a:custGeom>
          <a:noFill/>
          <a:ln w="38100" cap="flat" cmpd="sng">
            <a:solidFill>
              <a:srgbClr val="595959"/>
            </a:solidFill>
            <a:prstDash val="solid"/>
            <a:round/>
            <a:headEnd type="none" w="med" len="med"/>
            <a:tailEnd type="triangle" w="med" len="med"/>
          </a:ln>
        </p:spPr>
      </p:sp>
      <p:sp>
        <p:nvSpPr>
          <p:cNvPr id="62" name="Google Shape;62;p13"/>
          <p:cNvSpPr/>
          <p:nvPr/>
        </p:nvSpPr>
        <p:spPr>
          <a:xfrm>
            <a:off x="2096325" y="4412563"/>
            <a:ext cx="1217550" cy="365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A</a:t>
            </a:r>
            <a:endParaRPr sz="1500"/>
          </a:p>
        </p:txBody>
      </p:sp>
      <p:cxnSp>
        <p:nvCxnSpPr>
          <p:cNvPr id="63" name="Google Shape;63;p13"/>
          <p:cNvCxnSpPr>
            <a:stCxn id="55" idx="2"/>
            <a:endCxn id="62" idx="0"/>
          </p:cNvCxnSpPr>
          <p:nvPr/>
        </p:nvCxnSpPr>
        <p:spPr>
          <a:xfrm flipH="1">
            <a:off x="2705100" y="2927113"/>
            <a:ext cx="1866900" cy="1485450"/>
          </a:xfrm>
          <a:prstGeom prst="straightConnector1">
            <a:avLst/>
          </a:prstGeom>
          <a:noFill/>
          <a:ln w="38100" cap="flat" cmpd="sng">
            <a:solidFill>
              <a:srgbClr val="595959"/>
            </a:solidFill>
            <a:prstDash val="solid"/>
            <a:round/>
            <a:headEnd type="none" w="med" len="med"/>
            <a:tailEnd type="triangle" w="med" len="med"/>
          </a:ln>
        </p:spPr>
      </p:cxnSp>
      <p:sp>
        <p:nvSpPr>
          <p:cNvPr id="64" name="Google Shape;64;p13"/>
          <p:cNvSpPr/>
          <p:nvPr/>
        </p:nvSpPr>
        <p:spPr>
          <a:xfrm>
            <a:off x="1787204" y="4091236"/>
            <a:ext cx="538013" cy="980275"/>
          </a:xfrm>
          <a:custGeom>
            <a:avLst/>
            <a:gdLst/>
            <a:ahLst/>
            <a:cxnLst/>
            <a:rect l="l" t="t" r="r" b="b"/>
            <a:pathLst>
              <a:path w="43041" h="78422" extrusionOk="0">
                <a:moveTo>
                  <a:pt x="42067" y="54831"/>
                </a:moveTo>
                <a:cubicBezTo>
                  <a:pt x="40768" y="58403"/>
                  <a:pt x="40119" y="73014"/>
                  <a:pt x="34275" y="76261"/>
                </a:cubicBezTo>
                <a:cubicBezTo>
                  <a:pt x="28431" y="79508"/>
                  <a:pt x="12602" y="79021"/>
                  <a:pt x="7001" y="74313"/>
                </a:cubicBezTo>
                <a:cubicBezTo>
                  <a:pt x="1400" y="69605"/>
                  <a:pt x="1319" y="59215"/>
                  <a:pt x="670" y="48013"/>
                </a:cubicBezTo>
                <a:cubicBezTo>
                  <a:pt x="21" y="36811"/>
                  <a:pt x="-710" y="15057"/>
                  <a:pt x="3105" y="7102"/>
                </a:cubicBezTo>
                <a:cubicBezTo>
                  <a:pt x="6920" y="-853"/>
                  <a:pt x="17553" y="771"/>
                  <a:pt x="23560" y="284"/>
                </a:cubicBezTo>
                <a:cubicBezTo>
                  <a:pt x="29567" y="-203"/>
                  <a:pt x="35898" y="122"/>
                  <a:pt x="39145" y="4180"/>
                </a:cubicBezTo>
                <a:cubicBezTo>
                  <a:pt x="42392" y="8239"/>
                  <a:pt x="42392" y="21226"/>
                  <a:pt x="43041" y="24635"/>
                </a:cubicBezTo>
              </a:path>
            </a:pathLst>
          </a:custGeom>
          <a:noFill/>
          <a:ln w="38100" cap="flat" cmpd="sng">
            <a:solidFill>
              <a:srgbClr val="595959"/>
            </a:solidFill>
            <a:prstDash val="solid"/>
            <a:round/>
            <a:headEnd type="none" w="med" len="med"/>
            <a:tailEnd type="triangle" w="med" len="med"/>
          </a:ln>
        </p:spPr>
      </p:sp>
      <p:sp>
        <p:nvSpPr>
          <p:cNvPr id="65" name="Google Shape;65;p13"/>
          <p:cNvSpPr/>
          <p:nvPr/>
        </p:nvSpPr>
        <p:spPr>
          <a:xfrm>
            <a:off x="5830125" y="4412563"/>
            <a:ext cx="1217550" cy="36525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C</a:t>
            </a:r>
            <a:endParaRPr sz="1500"/>
          </a:p>
        </p:txBody>
      </p:sp>
      <p:cxnSp>
        <p:nvCxnSpPr>
          <p:cNvPr id="66" name="Google Shape;66;p13"/>
          <p:cNvCxnSpPr>
            <a:stCxn id="55" idx="2"/>
            <a:endCxn id="65" idx="0"/>
          </p:cNvCxnSpPr>
          <p:nvPr/>
        </p:nvCxnSpPr>
        <p:spPr>
          <a:xfrm>
            <a:off x="4572000" y="2927113"/>
            <a:ext cx="1866900" cy="1485450"/>
          </a:xfrm>
          <a:prstGeom prst="straightConnector1">
            <a:avLst/>
          </a:prstGeom>
          <a:noFill/>
          <a:ln w="38100" cap="flat" cmpd="sng">
            <a:solidFill>
              <a:srgbClr val="595959"/>
            </a:solidFill>
            <a:prstDash val="solid"/>
            <a:round/>
            <a:headEnd type="none" w="med" len="med"/>
            <a:tailEnd type="triangle" w="med" len="med"/>
          </a:ln>
        </p:spPr>
      </p:cxnSp>
      <p:sp>
        <p:nvSpPr>
          <p:cNvPr id="67" name="Google Shape;67;p13"/>
          <p:cNvSpPr/>
          <p:nvPr/>
        </p:nvSpPr>
        <p:spPr>
          <a:xfrm>
            <a:off x="5521004" y="4091236"/>
            <a:ext cx="538013" cy="980275"/>
          </a:xfrm>
          <a:custGeom>
            <a:avLst/>
            <a:gdLst/>
            <a:ahLst/>
            <a:cxnLst/>
            <a:rect l="l" t="t" r="r" b="b"/>
            <a:pathLst>
              <a:path w="43041" h="78422" extrusionOk="0">
                <a:moveTo>
                  <a:pt x="42067" y="54831"/>
                </a:moveTo>
                <a:cubicBezTo>
                  <a:pt x="40768" y="58403"/>
                  <a:pt x="40119" y="73014"/>
                  <a:pt x="34275" y="76261"/>
                </a:cubicBezTo>
                <a:cubicBezTo>
                  <a:pt x="28431" y="79508"/>
                  <a:pt x="12602" y="79021"/>
                  <a:pt x="7001" y="74313"/>
                </a:cubicBezTo>
                <a:cubicBezTo>
                  <a:pt x="1400" y="69605"/>
                  <a:pt x="1319" y="59215"/>
                  <a:pt x="670" y="48013"/>
                </a:cubicBezTo>
                <a:cubicBezTo>
                  <a:pt x="21" y="36811"/>
                  <a:pt x="-710" y="15057"/>
                  <a:pt x="3105" y="7102"/>
                </a:cubicBezTo>
                <a:cubicBezTo>
                  <a:pt x="6920" y="-853"/>
                  <a:pt x="17553" y="771"/>
                  <a:pt x="23560" y="284"/>
                </a:cubicBezTo>
                <a:cubicBezTo>
                  <a:pt x="29567" y="-203"/>
                  <a:pt x="35898" y="122"/>
                  <a:pt x="39145" y="4180"/>
                </a:cubicBezTo>
                <a:cubicBezTo>
                  <a:pt x="42392" y="8239"/>
                  <a:pt x="42392" y="21226"/>
                  <a:pt x="43041" y="24635"/>
                </a:cubicBezTo>
              </a:path>
            </a:pathLst>
          </a:custGeom>
          <a:noFill/>
          <a:ln w="38100" cap="flat" cmpd="sng">
            <a:solidFill>
              <a:srgbClr val="595959"/>
            </a:solidFill>
            <a:prstDash val="solid"/>
            <a:roun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10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cxnSp>
        <p:nvCxnSpPr>
          <p:cNvPr id="72" name="Google Shape;72;p14"/>
          <p:cNvCxnSpPr/>
          <p:nvPr/>
        </p:nvCxnSpPr>
        <p:spPr>
          <a:xfrm>
            <a:off x="1104900" y="5108550"/>
            <a:ext cx="7543800" cy="0"/>
          </a:xfrm>
          <a:prstGeom prst="straightConnector1">
            <a:avLst/>
          </a:prstGeom>
          <a:noFill/>
          <a:ln w="38100" cap="flat" cmpd="sng">
            <a:solidFill>
              <a:schemeClr val="dk2"/>
            </a:solidFill>
            <a:prstDash val="solid"/>
            <a:round/>
            <a:headEnd type="none" w="med" len="med"/>
            <a:tailEnd type="triangle" w="med" len="med"/>
          </a:ln>
        </p:spPr>
      </p:cxnSp>
      <p:cxnSp>
        <p:nvCxnSpPr>
          <p:cNvPr id="73" name="Google Shape;73;p14"/>
          <p:cNvCxnSpPr/>
          <p:nvPr/>
        </p:nvCxnSpPr>
        <p:spPr>
          <a:xfrm>
            <a:off x="1866900" y="1885950"/>
            <a:ext cx="0" cy="3527400"/>
          </a:xfrm>
          <a:prstGeom prst="straightConnector1">
            <a:avLst/>
          </a:prstGeom>
          <a:noFill/>
          <a:ln w="38100" cap="flat" cmpd="sng">
            <a:solidFill>
              <a:schemeClr val="dk2"/>
            </a:solidFill>
            <a:prstDash val="dash"/>
            <a:round/>
            <a:headEnd type="none" w="med" len="med"/>
            <a:tailEnd type="none" w="med" len="med"/>
          </a:ln>
        </p:spPr>
      </p:cxnSp>
      <p:cxnSp>
        <p:nvCxnSpPr>
          <p:cNvPr id="74" name="Google Shape;74;p14"/>
          <p:cNvCxnSpPr/>
          <p:nvPr/>
        </p:nvCxnSpPr>
        <p:spPr>
          <a:xfrm>
            <a:off x="2628900" y="1885950"/>
            <a:ext cx="0" cy="3527400"/>
          </a:xfrm>
          <a:prstGeom prst="straightConnector1">
            <a:avLst/>
          </a:prstGeom>
          <a:noFill/>
          <a:ln w="38100" cap="flat" cmpd="sng">
            <a:solidFill>
              <a:schemeClr val="dk2"/>
            </a:solidFill>
            <a:prstDash val="dash"/>
            <a:round/>
            <a:headEnd type="none" w="med" len="med"/>
            <a:tailEnd type="none" w="med" len="med"/>
          </a:ln>
        </p:spPr>
      </p:cxnSp>
      <p:cxnSp>
        <p:nvCxnSpPr>
          <p:cNvPr id="75" name="Google Shape;75;p14"/>
          <p:cNvCxnSpPr/>
          <p:nvPr/>
        </p:nvCxnSpPr>
        <p:spPr>
          <a:xfrm>
            <a:off x="3390900" y="1885950"/>
            <a:ext cx="0" cy="3527400"/>
          </a:xfrm>
          <a:prstGeom prst="straightConnector1">
            <a:avLst/>
          </a:prstGeom>
          <a:noFill/>
          <a:ln w="38100" cap="flat" cmpd="sng">
            <a:solidFill>
              <a:schemeClr val="dk2"/>
            </a:solidFill>
            <a:prstDash val="dash"/>
            <a:round/>
            <a:headEnd type="none" w="med" len="med"/>
            <a:tailEnd type="none" w="med" len="med"/>
          </a:ln>
        </p:spPr>
      </p:cxnSp>
      <p:cxnSp>
        <p:nvCxnSpPr>
          <p:cNvPr id="76" name="Google Shape;76;p14"/>
          <p:cNvCxnSpPr/>
          <p:nvPr/>
        </p:nvCxnSpPr>
        <p:spPr>
          <a:xfrm>
            <a:off x="4152900" y="1885950"/>
            <a:ext cx="0" cy="3527400"/>
          </a:xfrm>
          <a:prstGeom prst="straightConnector1">
            <a:avLst/>
          </a:prstGeom>
          <a:noFill/>
          <a:ln w="38100" cap="flat" cmpd="sng">
            <a:solidFill>
              <a:schemeClr val="dk2"/>
            </a:solidFill>
            <a:prstDash val="dash"/>
            <a:round/>
            <a:headEnd type="none" w="med" len="med"/>
            <a:tailEnd type="none" w="med" len="med"/>
          </a:ln>
        </p:spPr>
      </p:cxnSp>
      <p:cxnSp>
        <p:nvCxnSpPr>
          <p:cNvPr id="77" name="Google Shape;77;p14"/>
          <p:cNvCxnSpPr/>
          <p:nvPr/>
        </p:nvCxnSpPr>
        <p:spPr>
          <a:xfrm>
            <a:off x="4914900" y="1885950"/>
            <a:ext cx="0" cy="3527400"/>
          </a:xfrm>
          <a:prstGeom prst="straightConnector1">
            <a:avLst/>
          </a:prstGeom>
          <a:noFill/>
          <a:ln w="38100" cap="flat" cmpd="sng">
            <a:solidFill>
              <a:schemeClr val="dk2"/>
            </a:solidFill>
            <a:prstDash val="dash"/>
            <a:round/>
            <a:headEnd type="none" w="med" len="med"/>
            <a:tailEnd type="none" w="med" len="med"/>
          </a:ln>
        </p:spPr>
      </p:cxnSp>
      <p:cxnSp>
        <p:nvCxnSpPr>
          <p:cNvPr id="78" name="Google Shape;78;p14"/>
          <p:cNvCxnSpPr/>
          <p:nvPr/>
        </p:nvCxnSpPr>
        <p:spPr>
          <a:xfrm>
            <a:off x="5676900" y="1885950"/>
            <a:ext cx="0" cy="3527400"/>
          </a:xfrm>
          <a:prstGeom prst="straightConnector1">
            <a:avLst/>
          </a:prstGeom>
          <a:noFill/>
          <a:ln w="38100" cap="flat" cmpd="sng">
            <a:solidFill>
              <a:schemeClr val="dk2"/>
            </a:solidFill>
            <a:prstDash val="dash"/>
            <a:round/>
            <a:headEnd type="none" w="med" len="med"/>
            <a:tailEnd type="none" w="med" len="med"/>
          </a:ln>
        </p:spPr>
      </p:cxnSp>
      <p:cxnSp>
        <p:nvCxnSpPr>
          <p:cNvPr id="79" name="Google Shape;79;p14"/>
          <p:cNvCxnSpPr/>
          <p:nvPr/>
        </p:nvCxnSpPr>
        <p:spPr>
          <a:xfrm>
            <a:off x="6438900" y="1885950"/>
            <a:ext cx="0" cy="3527400"/>
          </a:xfrm>
          <a:prstGeom prst="straightConnector1">
            <a:avLst/>
          </a:prstGeom>
          <a:noFill/>
          <a:ln w="38100" cap="flat" cmpd="sng">
            <a:solidFill>
              <a:schemeClr val="dk2"/>
            </a:solidFill>
            <a:prstDash val="dash"/>
            <a:round/>
            <a:headEnd type="none" w="med" len="med"/>
            <a:tailEnd type="none" w="med" len="med"/>
          </a:ln>
        </p:spPr>
      </p:cxnSp>
      <p:cxnSp>
        <p:nvCxnSpPr>
          <p:cNvPr id="80" name="Google Shape;80;p14"/>
          <p:cNvCxnSpPr/>
          <p:nvPr/>
        </p:nvCxnSpPr>
        <p:spPr>
          <a:xfrm>
            <a:off x="7200900" y="1885950"/>
            <a:ext cx="0" cy="3527400"/>
          </a:xfrm>
          <a:prstGeom prst="straightConnector1">
            <a:avLst/>
          </a:prstGeom>
          <a:noFill/>
          <a:ln w="38100" cap="flat" cmpd="sng">
            <a:solidFill>
              <a:schemeClr val="dk2"/>
            </a:solidFill>
            <a:prstDash val="dash"/>
            <a:round/>
            <a:headEnd type="none" w="med" len="med"/>
            <a:tailEnd type="none" w="med" len="med"/>
          </a:ln>
        </p:spPr>
      </p:cxnSp>
      <p:cxnSp>
        <p:nvCxnSpPr>
          <p:cNvPr id="81" name="Google Shape;81;p14"/>
          <p:cNvCxnSpPr/>
          <p:nvPr/>
        </p:nvCxnSpPr>
        <p:spPr>
          <a:xfrm>
            <a:off x="7962900" y="1885950"/>
            <a:ext cx="0" cy="3527400"/>
          </a:xfrm>
          <a:prstGeom prst="straightConnector1">
            <a:avLst/>
          </a:prstGeom>
          <a:noFill/>
          <a:ln w="38100" cap="flat" cmpd="sng">
            <a:solidFill>
              <a:schemeClr val="dk2"/>
            </a:solidFill>
            <a:prstDash val="dash"/>
            <a:round/>
            <a:headEnd type="none" w="med" len="med"/>
            <a:tailEnd type="none" w="med" len="med"/>
          </a:ln>
        </p:spPr>
      </p:cxnSp>
      <p:cxnSp>
        <p:nvCxnSpPr>
          <p:cNvPr id="82" name="Google Shape;82;p14"/>
          <p:cNvCxnSpPr/>
          <p:nvPr/>
        </p:nvCxnSpPr>
        <p:spPr>
          <a:xfrm>
            <a:off x="2628900" y="5375250"/>
            <a:ext cx="762000" cy="0"/>
          </a:xfrm>
          <a:prstGeom prst="straightConnector1">
            <a:avLst/>
          </a:prstGeom>
          <a:noFill/>
          <a:ln w="38100" cap="flat" cmpd="sng">
            <a:solidFill>
              <a:schemeClr val="dk2"/>
            </a:solidFill>
            <a:prstDash val="solid"/>
            <a:round/>
            <a:headEnd type="triangle" w="med" len="med"/>
            <a:tailEnd type="triangle" w="med" len="med"/>
          </a:ln>
        </p:spPr>
      </p:cxnSp>
      <p:sp>
        <p:nvSpPr>
          <p:cNvPr id="83" name="Google Shape;83;p14"/>
          <p:cNvSpPr txBox="1"/>
          <p:nvPr/>
        </p:nvSpPr>
        <p:spPr>
          <a:xfrm>
            <a:off x="2628900" y="5375250"/>
            <a:ext cx="762000" cy="266700"/>
          </a:xfrm>
          <a:prstGeom prst="rect">
            <a:avLst/>
          </a:prstGeom>
          <a:noFill/>
          <a:ln>
            <a:noFill/>
          </a:ln>
        </p:spPr>
        <p:txBody>
          <a:bodyPr spcFirstLastPara="1" wrap="square" lIns="45713" tIns="45713" rIns="45713" bIns="45713" anchor="ctr" anchorCtr="0">
            <a:noAutofit/>
          </a:bodyPr>
          <a:lstStyle/>
          <a:p>
            <a:pPr algn="ctr"/>
            <a:r>
              <a:rPr lang="en" sz="1200"/>
              <a:t>1 ms</a:t>
            </a:r>
            <a:endParaRPr sz="1200"/>
          </a:p>
        </p:txBody>
      </p:sp>
      <p:sp>
        <p:nvSpPr>
          <p:cNvPr id="84" name="Google Shape;84;p14"/>
          <p:cNvSpPr txBox="1"/>
          <p:nvPr/>
        </p:nvSpPr>
        <p:spPr>
          <a:xfrm>
            <a:off x="457200" y="4460850"/>
            <a:ext cx="495300" cy="419100"/>
          </a:xfrm>
          <a:prstGeom prst="rect">
            <a:avLst/>
          </a:prstGeom>
          <a:noFill/>
          <a:ln>
            <a:noFill/>
          </a:ln>
        </p:spPr>
        <p:txBody>
          <a:bodyPr spcFirstLastPara="1" wrap="square" lIns="45713" tIns="45713" rIns="45713" bIns="45713" anchor="ctr" anchorCtr="0">
            <a:noAutofit/>
          </a:bodyPr>
          <a:lstStyle/>
          <a:p>
            <a:pPr algn="r"/>
            <a:r>
              <a:rPr lang="en" sz="1200"/>
              <a:t>OS</a:t>
            </a:r>
            <a:endParaRPr sz="1200"/>
          </a:p>
        </p:txBody>
      </p:sp>
      <p:sp>
        <p:nvSpPr>
          <p:cNvPr id="85" name="Google Shape;85;p14"/>
          <p:cNvSpPr/>
          <p:nvPr/>
        </p:nvSpPr>
        <p:spPr>
          <a:xfrm>
            <a:off x="1943100" y="3813150"/>
            <a:ext cx="586800" cy="342900"/>
          </a:xfrm>
          <a:prstGeom prst="rect">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buClr>
                <a:schemeClr val="dk1"/>
              </a:buClr>
              <a:buSzPts val="1100"/>
            </a:pPr>
            <a:r>
              <a:rPr lang="en" sz="1200">
                <a:solidFill>
                  <a:schemeClr val="dk1"/>
                </a:solidFill>
              </a:rPr>
              <a:t>Task A</a:t>
            </a:r>
            <a:endParaRPr sz="1200">
              <a:solidFill>
                <a:schemeClr val="dk1"/>
              </a:solidFill>
            </a:endParaRPr>
          </a:p>
        </p:txBody>
      </p:sp>
      <p:sp>
        <p:nvSpPr>
          <p:cNvPr id="86" name="Google Shape;86;p14"/>
          <p:cNvSpPr/>
          <p:nvPr/>
        </p:nvSpPr>
        <p:spPr>
          <a:xfrm>
            <a:off x="1181100" y="3813150"/>
            <a:ext cx="685800" cy="342900"/>
          </a:xfrm>
          <a:prstGeom prst="rect">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200"/>
              <a:t>Task A</a:t>
            </a:r>
            <a:endParaRPr sz="1200"/>
          </a:p>
        </p:txBody>
      </p:sp>
      <p:sp>
        <p:nvSpPr>
          <p:cNvPr id="87" name="Google Shape;87;p14"/>
          <p:cNvSpPr txBox="1"/>
          <p:nvPr/>
        </p:nvSpPr>
        <p:spPr>
          <a:xfrm>
            <a:off x="8077200" y="5146650"/>
            <a:ext cx="762000" cy="266700"/>
          </a:xfrm>
          <a:prstGeom prst="rect">
            <a:avLst/>
          </a:prstGeom>
          <a:noFill/>
          <a:ln>
            <a:noFill/>
          </a:ln>
        </p:spPr>
        <p:txBody>
          <a:bodyPr spcFirstLastPara="1" wrap="square" lIns="45713" tIns="45713" rIns="45713" bIns="45713" anchor="ctr" anchorCtr="0">
            <a:noAutofit/>
          </a:bodyPr>
          <a:lstStyle/>
          <a:p>
            <a:pPr algn="ctr"/>
            <a:r>
              <a:rPr lang="en" sz="1200"/>
              <a:t>time</a:t>
            </a:r>
            <a:endParaRPr sz="1200"/>
          </a:p>
        </p:txBody>
      </p:sp>
      <p:sp>
        <p:nvSpPr>
          <p:cNvPr id="88" name="Google Shape;88;p14"/>
          <p:cNvSpPr txBox="1"/>
          <p:nvPr/>
        </p:nvSpPr>
        <p:spPr>
          <a:xfrm>
            <a:off x="457200" y="3775050"/>
            <a:ext cx="495300" cy="419100"/>
          </a:xfrm>
          <a:prstGeom prst="rect">
            <a:avLst/>
          </a:prstGeom>
          <a:noFill/>
          <a:ln>
            <a:noFill/>
          </a:ln>
        </p:spPr>
        <p:txBody>
          <a:bodyPr spcFirstLastPara="1" wrap="square" lIns="45713" tIns="45713" rIns="45713" bIns="45713" anchor="ctr" anchorCtr="0">
            <a:noAutofit/>
          </a:bodyPr>
          <a:lstStyle/>
          <a:p>
            <a:pPr algn="r"/>
            <a:r>
              <a:rPr lang="en" sz="1200"/>
              <a:t>0</a:t>
            </a:r>
            <a:endParaRPr sz="1200"/>
          </a:p>
        </p:txBody>
      </p:sp>
      <p:sp>
        <p:nvSpPr>
          <p:cNvPr id="89" name="Google Shape;89;p14"/>
          <p:cNvSpPr/>
          <p:nvPr/>
        </p:nvSpPr>
        <p:spPr>
          <a:xfrm>
            <a:off x="1866900" y="4498950"/>
            <a:ext cx="76200" cy="342900"/>
          </a:xfrm>
          <a:prstGeom prst="rect">
            <a:avLst/>
          </a:prstGeom>
          <a:solidFill>
            <a:srgbClr val="CFE2F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90" name="Google Shape;90;p14"/>
          <p:cNvSpPr/>
          <p:nvPr/>
        </p:nvSpPr>
        <p:spPr>
          <a:xfrm>
            <a:off x="1104900" y="4498950"/>
            <a:ext cx="76200" cy="342900"/>
          </a:xfrm>
          <a:prstGeom prst="rect">
            <a:avLst/>
          </a:prstGeom>
          <a:solidFill>
            <a:srgbClr val="CFE2F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91" name="Google Shape;91;p14"/>
          <p:cNvSpPr txBox="1"/>
          <p:nvPr/>
        </p:nvSpPr>
        <p:spPr>
          <a:xfrm>
            <a:off x="457200" y="3089250"/>
            <a:ext cx="495300" cy="419100"/>
          </a:xfrm>
          <a:prstGeom prst="rect">
            <a:avLst/>
          </a:prstGeom>
          <a:noFill/>
          <a:ln>
            <a:noFill/>
          </a:ln>
        </p:spPr>
        <p:txBody>
          <a:bodyPr spcFirstLastPara="1" wrap="square" lIns="45713" tIns="45713" rIns="45713" bIns="45713" anchor="ctr" anchorCtr="0">
            <a:noAutofit/>
          </a:bodyPr>
          <a:lstStyle/>
          <a:p>
            <a:pPr algn="r"/>
            <a:r>
              <a:rPr lang="en" sz="1200"/>
              <a:t>1</a:t>
            </a:r>
            <a:endParaRPr sz="1200"/>
          </a:p>
        </p:txBody>
      </p:sp>
      <p:sp>
        <p:nvSpPr>
          <p:cNvPr id="92" name="Google Shape;92;p14"/>
          <p:cNvSpPr txBox="1"/>
          <p:nvPr/>
        </p:nvSpPr>
        <p:spPr>
          <a:xfrm rot="-5400000">
            <a:off x="600075" y="2790825"/>
            <a:ext cx="438150" cy="419100"/>
          </a:xfrm>
          <a:prstGeom prst="rect">
            <a:avLst/>
          </a:prstGeom>
          <a:noFill/>
          <a:ln>
            <a:noFill/>
          </a:ln>
        </p:spPr>
        <p:txBody>
          <a:bodyPr spcFirstLastPara="1" wrap="square" lIns="45713" tIns="45713" rIns="45713" bIns="45713" anchor="ctr" anchorCtr="0">
            <a:noAutofit/>
          </a:bodyPr>
          <a:lstStyle/>
          <a:p>
            <a:pPr algn="ctr"/>
            <a:r>
              <a:rPr lang="en" sz="1200"/>
              <a:t>...</a:t>
            </a:r>
            <a:endParaRPr sz="1200"/>
          </a:p>
        </p:txBody>
      </p:sp>
      <p:sp>
        <p:nvSpPr>
          <p:cNvPr id="93" name="Google Shape;93;p14"/>
          <p:cNvSpPr/>
          <p:nvPr/>
        </p:nvSpPr>
        <p:spPr>
          <a:xfrm>
            <a:off x="2529900" y="4498950"/>
            <a:ext cx="937200" cy="342900"/>
          </a:xfrm>
          <a:prstGeom prst="rect">
            <a:avLst/>
          </a:prstGeom>
          <a:solidFill>
            <a:srgbClr val="CFE2F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200"/>
              <a:t>Idle</a:t>
            </a:r>
            <a:endParaRPr sz="1200"/>
          </a:p>
        </p:txBody>
      </p:sp>
      <p:sp>
        <p:nvSpPr>
          <p:cNvPr id="94" name="Google Shape;94;p14"/>
          <p:cNvSpPr/>
          <p:nvPr/>
        </p:nvSpPr>
        <p:spPr>
          <a:xfrm>
            <a:off x="3467100" y="3813150"/>
            <a:ext cx="685800" cy="342900"/>
          </a:xfrm>
          <a:prstGeom prst="rect">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chemeClr val="dk1"/>
                </a:solidFill>
              </a:rPr>
              <a:t>Task A</a:t>
            </a:r>
            <a:endParaRPr sz="1200">
              <a:solidFill>
                <a:schemeClr val="dk1"/>
              </a:solidFill>
            </a:endParaRPr>
          </a:p>
        </p:txBody>
      </p:sp>
      <p:sp>
        <p:nvSpPr>
          <p:cNvPr id="95" name="Google Shape;95;p14"/>
          <p:cNvSpPr/>
          <p:nvPr/>
        </p:nvSpPr>
        <p:spPr>
          <a:xfrm>
            <a:off x="4229100" y="3127350"/>
            <a:ext cx="685800" cy="342900"/>
          </a:xfrm>
          <a:prstGeom prst="rect">
            <a:avLst/>
          </a:prstGeom>
          <a:solidFill>
            <a:srgbClr val="D9D2E9"/>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chemeClr val="dk1"/>
                </a:solidFill>
              </a:rPr>
              <a:t>Task B</a:t>
            </a:r>
            <a:endParaRPr sz="1200">
              <a:solidFill>
                <a:schemeClr val="dk1"/>
              </a:solidFill>
            </a:endParaRPr>
          </a:p>
        </p:txBody>
      </p:sp>
      <p:sp>
        <p:nvSpPr>
          <p:cNvPr id="96" name="Google Shape;96;p14"/>
          <p:cNvSpPr/>
          <p:nvPr/>
        </p:nvSpPr>
        <p:spPr>
          <a:xfrm>
            <a:off x="4152900" y="4498950"/>
            <a:ext cx="76200" cy="342900"/>
          </a:xfrm>
          <a:prstGeom prst="rect">
            <a:avLst/>
          </a:prstGeom>
          <a:solidFill>
            <a:srgbClr val="CFE2F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97" name="Google Shape;97;p14"/>
          <p:cNvSpPr/>
          <p:nvPr/>
        </p:nvSpPr>
        <p:spPr>
          <a:xfrm>
            <a:off x="4991100" y="3127350"/>
            <a:ext cx="685800" cy="342900"/>
          </a:xfrm>
          <a:prstGeom prst="rect">
            <a:avLst/>
          </a:prstGeom>
          <a:solidFill>
            <a:srgbClr val="FCE5CD"/>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chemeClr val="dk1"/>
                </a:solidFill>
              </a:rPr>
              <a:t>Task C</a:t>
            </a:r>
            <a:endParaRPr sz="1200">
              <a:solidFill>
                <a:schemeClr val="dk1"/>
              </a:solidFill>
            </a:endParaRPr>
          </a:p>
        </p:txBody>
      </p:sp>
      <p:sp>
        <p:nvSpPr>
          <p:cNvPr id="98" name="Google Shape;98;p14"/>
          <p:cNvSpPr/>
          <p:nvPr/>
        </p:nvSpPr>
        <p:spPr>
          <a:xfrm>
            <a:off x="4914900" y="4498950"/>
            <a:ext cx="76200" cy="342900"/>
          </a:xfrm>
          <a:prstGeom prst="rect">
            <a:avLst/>
          </a:prstGeom>
          <a:solidFill>
            <a:srgbClr val="CFE2F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99" name="Google Shape;99;p14"/>
          <p:cNvSpPr/>
          <p:nvPr/>
        </p:nvSpPr>
        <p:spPr>
          <a:xfrm>
            <a:off x="5753100" y="3127350"/>
            <a:ext cx="228600" cy="342900"/>
          </a:xfrm>
          <a:prstGeom prst="rect">
            <a:avLst/>
          </a:prstGeom>
          <a:solidFill>
            <a:srgbClr val="D9D2E9"/>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endParaRPr sz="1200">
              <a:solidFill>
                <a:schemeClr val="dk1"/>
              </a:solidFill>
            </a:endParaRPr>
          </a:p>
        </p:txBody>
      </p:sp>
      <p:sp>
        <p:nvSpPr>
          <p:cNvPr id="100" name="Google Shape;100;p14"/>
          <p:cNvSpPr/>
          <p:nvPr/>
        </p:nvSpPr>
        <p:spPr>
          <a:xfrm>
            <a:off x="5676900" y="4498950"/>
            <a:ext cx="76200" cy="342900"/>
          </a:xfrm>
          <a:prstGeom prst="rect">
            <a:avLst/>
          </a:prstGeom>
          <a:solidFill>
            <a:srgbClr val="CFE2F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101" name="Google Shape;101;p14"/>
          <p:cNvSpPr/>
          <p:nvPr/>
        </p:nvSpPr>
        <p:spPr>
          <a:xfrm>
            <a:off x="6515100" y="3127350"/>
            <a:ext cx="685800" cy="342900"/>
          </a:xfrm>
          <a:prstGeom prst="rect">
            <a:avLst/>
          </a:prstGeom>
          <a:solidFill>
            <a:srgbClr val="FCE5CD"/>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chemeClr val="dk1"/>
                </a:solidFill>
              </a:rPr>
              <a:t>Task C</a:t>
            </a:r>
            <a:endParaRPr sz="1200">
              <a:solidFill>
                <a:schemeClr val="dk1"/>
              </a:solidFill>
            </a:endParaRPr>
          </a:p>
        </p:txBody>
      </p:sp>
      <p:sp>
        <p:nvSpPr>
          <p:cNvPr id="102" name="Google Shape;102;p14"/>
          <p:cNvSpPr/>
          <p:nvPr/>
        </p:nvSpPr>
        <p:spPr>
          <a:xfrm>
            <a:off x="6438900" y="4498950"/>
            <a:ext cx="76200" cy="342900"/>
          </a:xfrm>
          <a:prstGeom prst="rect">
            <a:avLst/>
          </a:prstGeom>
          <a:solidFill>
            <a:srgbClr val="CFE2F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103" name="Google Shape;103;p14"/>
          <p:cNvSpPr/>
          <p:nvPr/>
        </p:nvSpPr>
        <p:spPr>
          <a:xfrm>
            <a:off x="7200900" y="4498950"/>
            <a:ext cx="76200" cy="342900"/>
          </a:xfrm>
          <a:prstGeom prst="rect">
            <a:avLst/>
          </a:prstGeom>
          <a:solidFill>
            <a:srgbClr val="CFE2F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104" name="Google Shape;104;p14"/>
          <p:cNvSpPr/>
          <p:nvPr/>
        </p:nvSpPr>
        <p:spPr>
          <a:xfrm>
            <a:off x="7277100" y="3813150"/>
            <a:ext cx="685800" cy="342900"/>
          </a:xfrm>
          <a:prstGeom prst="rect">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chemeClr val="dk1"/>
                </a:solidFill>
              </a:rPr>
              <a:t>Task A</a:t>
            </a:r>
            <a:endParaRPr sz="1200">
              <a:solidFill>
                <a:schemeClr val="dk1"/>
              </a:solidFill>
            </a:endParaRPr>
          </a:p>
        </p:txBody>
      </p:sp>
      <p:sp>
        <p:nvSpPr>
          <p:cNvPr id="105" name="Google Shape;105;p14"/>
          <p:cNvSpPr txBox="1"/>
          <p:nvPr/>
        </p:nvSpPr>
        <p:spPr>
          <a:xfrm>
            <a:off x="228600" y="2380625"/>
            <a:ext cx="723900" cy="495900"/>
          </a:xfrm>
          <a:prstGeom prst="rect">
            <a:avLst/>
          </a:prstGeom>
          <a:noFill/>
          <a:ln>
            <a:noFill/>
          </a:ln>
        </p:spPr>
        <p:txBody>
          <a:bodyPr spcFirstLastPara="1" wrap="square" lIns="45713" tIns="45713" rIns="45713" bIns="45713" anchor="ctr" anchorCtr="0">
            <a:noAutofit/>
          </a:bodyPr>
          <a:lstStyle/>
          <a:p>
            <a:pPr algn="r"/>
            <a:r>
              <a:rPr lang="en" sz="1500"/>
              <a:t>Priority (S/W)</a:t>
            </a:r>
            <a:endParaRPr sz="1500"/>
          </a:p>
        </p:txBody>
      </p:sp>
      <p:sp>
        <p:nvSpPr>
          <p:cNvPr id="106" name="Google Shape;106;p14"/>
          <p:cNvSpPr txBox="1"/>
          <p:nvPr/>
        </p:nvSpPr>
        <p:spPr>
          <a:xfrm>
            <a:off x="0" y="857250"/>
            <a:ext cx="9144000" cy="706200"/>
          </a:xfrm>
          <a:prstGeom prst="rect">
            <a:avLst/>
          </a:prstGeom>
          <a:noFill/>
          <a:ln>
            <a:noFill/>
          </a:ln>
        </p:spPr>
        <p:txBody>
          <a:bodyPr spcFirstLastPara="1" wrap="square" lIns="45713" tIns="45713" rIns="45713" bIns="45713" anchor="ctr" anchorCtr="0">
            <a:noAutofit/>
          </a:bodyPr>
          <a:lstStyle/>
          <a:p>
            <a:pPr algn="ctr"/>
            <a:r>
              <a:rPr lang="en" sz="2400"/>
              <a:t>What actually happens*</a:t>
            </a:r>
            <a:endParaRPr sz="2400"/>
          </a:p>
        </p:txBody>
      </p:sp>
      <p:sp>
        <p:nvSpPr>
          <p:cNvPr id="107" name="Google Shape;107;p14"/>
          <p:cNvSpPr/>
          <p:nvPr/>
        </p:nvSpPr>
        <p:spPr>
          <a:xfrm>
            <a:off x="5981700" y="1924050"/>
            <a:ext cx="76200" cy="342900"/>
          </a:xfrm>
          <a:prstGeom prst="rect">
            <a:avLst/>
          </a:prstGeom>
          <a:solidFill>
            <a:srgbClr val="F4CC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endParaRPr sz="1200">
              <a:solidFill>
                <a:schemeClr val="dk1"/>
              </a:solidFill>
            </a:endParaRPr>
          </a:p>
        </p:txBody>
      </p:sp>
      <p:sp>
        <p:nvSpPr>
          <p:cNvPr id="108" name="Google Shape;108;p14"/>
          <p:cNvSpPr/>
          <p:nvPr/>
        </p:nvSpPr>
        <p:spPr>
          <a:xfrm>
            <a:off x="6057900" y="3127350"/>
            <a:ext cx="381000" cy="342900"/>
          </a:xfrm>
          <a:prstGeom prst="rect">
            <a:avLst/>
          </a:prstGeom>
          <a:solidFill>
            <a:srgbClr val="D9D2E9"/>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endParaRPr sz="1200">
              <a:solidFill>
                <a:schemeClr val="dk1"/>
              </a:solidFill>
            </a:endParaRPr>
          </a:p>
        </p:txBody>
      </p:sp>
      <p:sp>
        <p:nvSpPr>
          <p:cNvPr id="109" name="Google Shape;109;p14"/>
          <p:cNvSpPr txBox="1"/>
          <p:nvPr/>
        </p:nvSpPr>
        <p:spPr>
          <a:xfrm>
            <a:off x="228600" y="1809750"/>
            <a:ext cx="723900" cy="533400"/>
          </a:xfrm>
          <a:prstGeom prst="rect">
            <a:avLst/>
          </a:prstGeom>
          <a:noFill/>
          <a:ln>
            <a:noFill/>
          </a:ln>
        </p:spPr>
        <p:txBody>
          <a:bodyPr spcFirstLastPara="1" wrap="square" lIns="45713" tIns="45713" rIns="45713" bIns="45713" anchor="ctr" anchorCtr="0">
            <a:noAutofit/>
          </a:bodyPr>
          <a:lstStyle/>
          <a:p>
            <a:pPr algn="r"/>
            <a:r>
              <a:rPr lang="en" sz="1500"/>
              <a:t>ISR</a:t>
            </a:r>
            <a:endParaRPr sz="1500"/>
          </a:p>
          <a:p>
            <a:pPr algn="r"/>
            <a:r>
              <a:rPr lang="en" sz="1500"/>
              <a:t>(H/W)</a:t>
            </a:r>
            <a:endParaRPr sz="1500"/>
          </a:p>
        </p:txBody>
      </p:sp>
      <p:sp>
        <p:nvSpPr>
          <p:cNvPr id="110" name="Google Shape;110;p14"/>
          <p:cNvSpPr txBox="1"/>
          <p:nvPr/>
        </p:nvSpPr>
        <p:spPr>
          <a:xfrm>
            <a:off x="7101900" y="1296750"/>
            <a:ext cx="2042100" cy="266700"/>
          </a:xfrm>
          <a:prstGeom prst="rect">
            <a:avLst/>
          </a:prstGeom>
          <a:noFill/>
          <a:ln>
            <a:noFill/>
          </a:ln>
        </p:spPr>
        <p:txBody>
          <a:bodyPr spcFirstLastPara="1" wrap="square" lIns="45713" tIns="45713" rIns="45713" bIns="45713" anchor="ctr" anchorCtr="0">
            <a:noAutofit/>
          </a:bodyPr>
          <a:lstStyle/>
          <a:p>
            <a:pPr algn="ctr"/>
            <a:r>
              <a:rPr lang="en" sz="900"/>
              <a:t>*assuming single-core processor</a:t>
            </a:r>
            <a:endParaRPr sz="900"/>
          </a:p>
        </p:txBody>
      </p:sp>
      <p:sp>
        <p:nvSpPr>
          <p:cNvPr id="111" name="Google Shape;111;p14"/>
          <p:cNvSpPr txBox="1"/>
          <p:nvPr/>
        </p:nvSpPr>
        <p:spPr>
          <a:xfrm>
            <a:off x="2700675" y="5146650"/>
            <a:ext cx="618450" cy="228600"/>
          </a:xfrm>
          <a:prstGeom prst="rect">
            <a:avLst/>
          </a:prstGeom>
          <a:noFill/>
          <a:ln>
            <a:noFill/>
          </a:ln>
        </p:spPr>
        <p:txBody>
          <a:bodyPr spcFirstLastPara="1" wrap="square" lIns="45713" tIns="45713" rIns="45713" bIns="45713" anchor="ctr" anchorCtr="0">
            <a:noAutofit/>
          </a:bodyPr>
          <a:lstStyle/>
          <a:p>
            <a:pPr algn="ctr"/>
            <a:r>
              <a:rPr lang="en" sz="1200"/>
              <a:t>“tick”</a:t>
            </a:r>
            <a:endParaRPr sz="1200"/>
          </a:p>
        </p:txBody>
      </p:sp>
      <p:sp>
        <p:nvSpPr>
          <p:cNvPr id="112" name="Google Shape;112;p14"/>
          <p:cNvSpPr txBox="1"/>
          <p:nvPr/>
        </p:nvSpPr>
        <p:spPr>
          <a:xfrm>
            <a:off x="3390900" y="1610400"/>
            <a:ext cx="2214300" cy="228600"/>
          </a:xfrm>
          <a:prstGeom prst="rect">
            <a:avLst/>
          </a:prstGeom>
          <a:noFill/>
          <a:ln>
            <a:noFill/>
          </a:ln>
        </p:spPr>
        <p:txBody>
          <a:bodyPr spcFirstLastPara="1" wrap="square" lIns="45713" tIns="45713" rIns="45713" bIns="45713" anchor="ctr" anchorCtr="0">
            <a:noAutofit/>
          </a:bodyPr>
          <a:lstStyle/>
          <a:p>
            <a:pPr algn="ctr"/>
            <a:r>
              <a:rPr lang="en" sz="1200"/>
              <a:t>“preemptive scheduling”</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fade">
                                      <p:cBhvr>
                                        <p:cTn id="7" dur="1000"/>
                                        <p:tgtEl>
                                          <p:spTgt spid="73"/>
                                        </p:tgtEl>
                                      </p:cBhvr>
                                    </p:animEffect>
                                  </p:childTnLst>
                                </p:cTn>
                              </p:par>
                              <p:par>
                                <p:cTn id="8" presetID="10" presetClass="entr" presetSubtype="0" fill="hold" nodeType="withEffect">
                                  <p:stCondLst>
                                    <p:cond delay="0"/>
                                  </p:stCondLst>
                                  <p:childTnLst>
                                    <p:set>
                                      <p:cBhvr>
                                        <p:cTn id="9" dur="1" fill="hold">
                                          <p:stCondLst>
                                            <p:cond delay="0"/>
                                          </p:stCondLst>
                                        </p:cTn>
                                        <p:tgtEl>
                                          <p:spTgt spid="74"/>
                                        </p:tgtEl>
                                        <p:attrNameLst>
                                          <p:attrName>style.visibility</p:attrName>
                                        </p:attrNameLst>
                                      </p:cBhvr>
                                      <p:to>
                                        <p:strVal val="visible"/>
                                      </p:to>
                                    </p:set>
                                    <p:animEffect transition="in" filter="fade">
                                      <p:cBhvr>
                                        <p:cTn id="10" dur="1000"/>
                                        <p:tgtEl>
                                          <p:spTgt spid="74"/>
                                        </p:tgtEl>
                                      </p:cBhvr>
                                    </p:animEffect>
                                  </p:childTnLst>
                                </p:cTn>
                              </p:par>
                              <p:par>
                                <p:cTn id="11" presetID="10" presetClass="entr" presetSubtype="0" fill="hold" nodeType="withEffect">
                                  <p:stCondLst>
                                    <p:cond delay="0"/>
                                  </p:stCondLst>
                                  <p:childTnLst>
                                    <p:set>
                                      <p:cBhvr>
                                        <p:cTn id="12" dur="1" fill="hold">
                                          <p:stCondLst>
                                            <p:cond delay="0"/>
                                          </p:stCondLst>
                                        </p:cTn>
                                        <p:tgtEl>
                                          <p:spTgt spid="75"/>
                                        </p:tgtEl>
                                        <p:attrNameLst>
                                          <p:attrName>style.visibility</p:attrName>
                                        </p:attrNameLst>
                                      </p:cBhvr>
                                      <p:to>
                                        <p:strVal val="visible"/>
                                      </p:to>
                                    </p:set>
                                    <p:animEffect transition="in" filter="fade">
                                      <p:cBhvr>
                                        <p:cTn id="13" dur="1000"/>
                                        <p:tgtEl>
                                          <p:spTgt spid="75"/>
                                        </p:tgtEl>
                                      </p:cBhvr>
                                    </p:animEffect>
                                  </p:childTnLst>
                                </p:cTn>
                              </p:par>
                              <p:par>
                                <p:cTn id="14" presetID="10" presetClass="entr" presetSubtype="0" fill="hold" nodeType="withEffect">
                                  <p:stCondLst>
                                    <p:cond delay="0"/>
                                  </p:stCondLst>
                                  <p:childTnLst>
                                    <p:set>
                                      <p:cBhvr>
                                        <p:cTn id="15" dur="1" fill="hold">
                                          <p:stCondLst>
                                            <p:cond delay="0"/>
                                          </p:stCondLst>
                                        </p:cTn>
                                        <p:tgtEl>
                                          <p:spTgt spid="76"/>
                                        </p:tgtEl>
                                        <p:attrNameLst>
                                          <p:attrName>style.visibility</p:attrName>
                                        </p:attrNameLst>
                                      </p:cBhvr>
                                      <p:to>
                                        <p:strVal val="visible"/>
                                      </p:to>
                                    </p:set>
                                    <p:animEffect transition="in" filter="fade">
                                      <p:cBhvr>
                                        <p:cTn id="16" dur="1000"/>
                                        <p:tgtEl>
                                          <p:spTgt spid="76"/>
                                        </p:tgtEl>
                                      </p:cBhvr>
                                    </p:animEffect>
                                  </p:childTnLst>
                                </p:cTn>
                              </p:par>
                              <p:par>
                                <p:cTn id="17" presetID="10" presetClass="entr" presetSubtype="0" fill="hold" nodeType="withEffect">
                                  <p:stCondLst>
                                    <p:cond delay="0"/>
                                  </p:stCondLst>
                                  <p:childTnLst>
                                    <p:set>
                                      <p:cBhvr>
                                        <p:cTn id="18" dur="1" fill="hold">
                                          <p:stCondLst>
                                            <p:cond delay="0"/>
                                          </p:stCondLst>
                                        </p:cTn>
                                        <p:tgtEl>
                                          <p:spTgt spid="77"/>
                                        </p:tgtEl>
                                        <p:attrNameLst>
                                          <p:attrName>style.visibility</p:attrName>
                                        </p:attrNameLst>
                                      </p:cBhvr>
                                      <p:to>
                                        <p:strVal val="visible"/>
                                      </p:to>
                                    </p:set>
                                    <p:animEffect transition="in" filter="fade">
                                      <p:cBhvr>
                                        <p:cTn id="19" dur="1000"/>
                                        <p:tgtEl>
                                          <p:spTgt spid="77"/>
                                        </p:tgtEl>
                                      </p:cBhvr>
                                    </p:animEffect>
                                  </p:childTnLst>
                                </p:cTn>
                              </p:par>
                              <p:par>
                                <p:cTn id="20" presetID="10" presetClass="entr" presetSubtype="0" fill="hold" nodeType="withEffect">
                                  <p:stCondLst>
                                    <p:cond delay="0"/>
                                  </p:stCondLst>
                                  <p:childTnLst>
                                    <p:set>
                                      <p:cBhvr>
                                        <p:cTn id="21" dur="1" fill="hold">
                                          <p:stCondLst>
                                            <p:cond delay="0"/>
                                          </p:stCondLst>
                                        </p:cTn>
                                        <p:tgtEl>
                                          <p:spTgt spid="78"/>
                                        </p:tgtEl>
                                        <p:attrNameLst>
                                          <p:attrName>style.visibility</p:attrName>
                                        </p:attrNameLst>
                                      </p:cBhvr>
                                      <p:to>
                                        <p:strVal val="visible"/>
                                      </p:to>
                                    </p:set>
                                    <p:animEffect transition="in" filter="fade">
                                      <p:cBhvr>
                                        <p:cTn id="22" dur="1000"/>
                                        <p:tgtEl>
                                          <p:spTgt spid="78"/>
                                        </p:tgtEl>
                                      </p:cBhvr>
                                    </p:animEffect>
                                  </p:childTnLst>
                                </p:cTn>
                              </p:par>
                              <p:par>
                                <p:cTn id="23" presetID="10" presetClass="entr" presetSubtype="0" fill="hold" nodeType="withEffect">
                                  <p:stCondLst>
                                    <p:cond delay="0"/>
                                  </p:stCondLst>
                                  <p:childTnLst>
                                    <p:set>
                                      <p:cBhvr>
                                        <p:cTn id="24" dur="1" fill="hold">
                                          <p:stCondLst>
                                            <p:cond delay="0"/>
                                          </p:stCondLst>
                                        </p:cTn>
                                        <p:tgtEl>
                                          <p:spTgt spid="79"/>
                                        </p:tgtEl>
                                        <p:attrNameLst>
                                          <p:attrName>style.visibility</p:attrName>
                                        </p:attrNameLst>
                                      </p:cBhvr>
                                      <p:to>
                                        <p:strVal val="visible"/>
                                      </p:to>
                                    </p:set>
                                    <p:animEffect transition="in" filter="fade">
                                      <p:cBhvr>
                                        <p:cTn id="25" dur="1000"/>
                                        <p:tgtEl>
                                          <p:spTgt spid="79"/>
                                        </p:tgtEl>
                                      </p:cBhvr>
                                    </p:animEffect>
                                  </p:childTnLst>
                                </p:cTn>
                              </p:par>
                              <p:par>
                                <p:cTn id="26" presetID="10" presetClass="entr" presetSubtype="0" fill="hold" nodeType="withEffect">
                                  <p:stCondLst>
                                    <p:cond delay="0"/>
                                  </p:stCondLst>
                                  <p:childTnLst>
                                    <p:set>
                                      <p:cBhvr>
                                        <p:cTn id="27" dur="1" fill="hold">
                                          <p:stCondLst>
                                            <p:cond delay="0"/>
                                          </p:stCondLst>
                                        </p:cTn>
                                        <p:tgtEl>
                                          <p:spTgt spid="80"/>
                                        </p:tgtEl>
                                        <p:attrNameLst>
                                          <p:attrName>style.visibility</p:attrName>
                                        </p:attrNameLst>
                                      </p:cBhvr>
                                      <p:to>
                                        <p:strVal val="visible"/>
                                      </p:to>
                                    </p:set>
                                    <p:animEffect transition="in" filter="fade">
                                      <p:cBhvr>
                                        <p:cTn id="28" dur="1000"/>
                                        <p:tgtEl>
                                          <p:spTgt spid="80"/>
                                        </p:tgtEl>
                                      </p:cBhvr>
                                    </p:animEffect>
                                  </p:childTnLst>
                                </p:cTn>
                              </p:par>
                              <p:par>
                                <p:cTn id="29" presetID="10" presetClass="entr" presetSubtype="0" fill="hold" nodeType="withEffect">
                                  <p:stCondLst>
                                    <p:cond delay="0"/>
                                  </p:stCondLst>
                                  <p:childTnLst>
                                    <p:set>
                                      <p:cBhvr>
                                        <p:cTn id="30" dur="1" fill="hold">
                                          <p:stCondLst>
                                            <p:cond delay="0"/>
                                          </p:stCondLst>
                                        </p:cTn>
                                        <p:tgtEl>
                                          <p:spTgt spid="81"/>
                                        </p:tgtEl>
                                        <p:attrNameLst>
                                          <p:attrName>style.visibility</p:attrName>
                                        </p:attrNameLst>
                                      </p:cBhvr>
                                      <p:to>
                                        <p:strVal val="visible"/>
                                      </p:to>
                                    </p:set>
                                    <p:animEffect transition="in" filter="fade">
                                      <p:cBhvr>
                                        <p:cTn id="31" dur="1000"/>
                                        <p:tgtEl>
                                          <p:spTgt spid="8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82"/>
                                        </p:tgtEl>
                                        <p:attrNameLst>
                                          <p:attrName>style.visibility</p:attrName>
                                        </p:attrNameLst>
                                      </p:cBhvr>
                                      <p:to>
                                        <p:strVal val="visible"/>
                                      </p:to>
                                    </p:set>
                                    <p:animEffect transition="in" filter="fade">
                                      <p:cBhvr>
                                        <p:cTn id="36" dur="1000"/>
                                        <p:tgtEl>
                                          <p:spTgt spid="82"/>
                                        </p:tgtEl>
                                      </p:cBhvr>
                                    </p:animEffect>
                                  </p:childTnLst>
                                </p:cTn>
                              </p:par>
                              <p:par>
                                <p:cTn id="37" presetID="10" presetClass="entr" presetSubtype="0" fill="hold" nodeType="withEffect">
                                  <p:stCondLst>
                                    <p:cond delay="0"/>
                                  </p:stCondLst>
                                  <p:childTnLst>
                                    <p:set>
                                      <p:cBhvr>
                                        <p:cTn id="38" dur="1" fill="hold">
                                          <p:stCondLst>
                                            <p:cond delay="0"/>
                                          </p:stCondLst>
                                        </p:cTn>
                                        <p:tgtEl>
                                          <p:spTgt spid="83"/>
                                        </p:tgtEl>
                                        <p:attrNameLst>
                                          <p:attrName>style.visibility</p:attrName>
                                        </p:attrNameLst>
                                      </p:cBhvr>
                                      <p:to>
                                        <p:strVal val="visible"/>
                                      </p:to>
                                    </p:set>
                                    <p:animEffect transition="in" filter="fade">
                                      <p:cBhvr>
                                        <p:cTn id="39" dur="1000"/>
                                        <p:tgtEl>
                                          <p:spTgt spid="83"/>
                                        </p:tgtEl>
                                      </p:cBhvr>
                                    </p:animEffect>
                                  </p:childTnLst>
                                </p:cTn>
                              </p:par>
                              <p:par>
                                <p:cTn id="40" presetID="10" presetClass="entr" presetSubtype="0" fill="hold" nodeType="withEffect">
                                  <p:stCondLst>
                                    <p:cond delay="0"/>
                                  </p:stCondLst>
                                  <p:childTnLst>
                                    <p:set>
                                      <p:cBhvr>
                                        <p:cTn id="41" dur="1" fill="hold">
                                          <p:stCondLst>
                                            <p:cond delay="0"/>
                                          </p:stCondLst>
                                        </p:cTn>
                                        <p:tgtEl>
                                          <p:spTgt spid="111"/>
                                        </p:tgtEl>
                                        <p:attrNameLst>
                                          <p:attrName>style.visibility</p:attrName>
                                        </p:attrNameLst>
                                      </p:cBhvr>
                                      <p:to>
                                        <p:strVal val="visible"/>
                                      </p:to>
                                    </p:set>
                                    <p:animEffect transition="in" filter="fade">
                                      <p:cBhvr>
                                        <p:cTn id="42" dur="1000"/>
                                        <p:tgtEl>
                                          <p:spTgt spid="1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4"/>
                                        </p:tgtEl>
                                        <p:attrNameLst>
                                          <p:attrName>style.visibility</p:attrName>
                                        </p:attrNameLst>
                                      </p:cBhvr>
                                      <p:to>
                                        <p:strVal val="visible"/>
                                      </p:to>
                                    </p:set>
                                    <p:animEffect transition="in" filter="fade">
                                      <p:cBhvr>
                                        <p:cTn id="47" dur="1000"/>
                                        <p:tgtEl>
                                          <p:spTgt spid="84"/>
                                        </p:tgtEl>
                                      </p:cBhvr>
                                    </p:animEffect>
                                  </p:childTnLst>
                                </p:cTn>
                              </p:par>
                              <p:par>
                                <p:cTn id="48" presetID="10" presetClass="entr" presetSubtype="0" fill="hold" nodeType="withEffect">
                                  <p:stCondLst>
                                    <p:cond delay="0"/>
                                  </p:stCondLst>
                                  <p:childTnLst>
                                    <p:set>
                                      <p:cBhvr>
                                        <p:cTn id="49" dur="1" fill="hold">
                                          <p:stCondLst>
                                            <p:cond delay="0"/>
                                          </p:stCondLst>
                                        </p:cTn>
                                        <p:tgtEl>
                                          <p:spTgt spid="88"/>
                                        </p:tgtEl>
                                        <p:attrNameLst>
                                          <p:attrName>style.visibility</p:attrName>
                                        </p:attrNameLst>
                                      </p:cBhvr>
                                      <p:to>
                                        <p:strVal val="visible"/>
                                      </p:to>
                                    </p:set>
                                    <p:animEffect transition="in" filter="fade">
                                      <p:cBhvr>
                                        <p:cTn id="50" dur="1000"/>
                                        <p:tgtEl>
                                          <p:spTgt spid="88"/>
                                        </p:tgtEl>
                                      </p:cBhvr>
                                    </p:animEffect>
                                  </p:childTnLst>
                                </p:cTn>
                              </p:par>
                              <p:par>
                                <p:cTn id="51" presetID="10" presetClass="entr" presetSubtype="0" fill="hold" nodeType="withEffect">
                                  <p:stCondLst>
                                    <p:cond delay="0"/>
                                  </p:stCondLst>
                                  <p:childTnLst>
                                    <p:set>
                                      <p:cBhvr>
                                        <p:cTn id="52" dur="1" fill="hold">
                                          <p:stCondLst>
                                            <p:cond delay="0"/>
                                          </p:stCondLst>
                                        </p:cTn>
                                        <p:tgtEl>
                                          <p:spTgt spid="91"/>
                                        </p:tgtEl>
                                        <p:attrNameLst>
                                          <p:attrName>style.visibility</p:attrName>
                                        </p:attrNameLst>
                                      </p:cBhvr>
                                      <p:to>
                                        <p:strVal val="visible"/>
                                      </p:to>
                                    </p:set>
                                    <p:animEffect transition="in" filter="fade">
                                      <p:cBhvr>
                                        <p:cTn id="53" dur="1000"/>
                                        <p:tgtEl>
                                          <p:spTgt spid="91"/>
                                        </p:tgtEl>
                                      </p:cBhvr>
                                    </p:animEffect>
                                  </p:childTnLst>
                                </p:cTn>
                              </p:par>
                              <p:par>
                                <p:cTn id="54" presetID="10" presetClass="entr" presetSubtype="0" fill="hold" nodeType="withEffect">
                                  <p:stCondLst>
                                    <p:cond delay="0"/>
                                  </p:stCondLst>
                                  <p:childTnLst>
                                    <p:set>
                                      <p:cBhvr>
                                        <p:cTn id="55" dur="1" fill="hold">
                                          <p:stCondLst>
                                            <p:cond delay="0"/>
                                          </p:stCondLst>
                                        </p:cTn>
                                        <p:tgtEl>
                                          <p:spTgt spid="92"/>
                                        </p:tgtEl>
                                        <p:attrNameLst>
                                          <p:attrName>style.visibility</p:attrName>
                                        </p:attrNameLst>
                                      </p:cBhvr>
                                      <p:to>
                                        <p:strVal val="visible"/>
                                      </p:to>
                                    </p:set>
                                    <p:animEffect transition="in" filter="fade">
                                      <p:cBhvr>
                                        <p:cTn id="56" dur="1000"/>
                                        <p:tgtEl>
                                          <p:spTgt spid="92"/>
                                        </p:tgtEl>
                                      </p:cBhvr>
                                    </p:animEffect>
                                  </p:childTnLst>
                                </p:cTn>
                              </p:par>
                              <p:par>
                                <p:cTn id="57" presetID="10" presetClass="entr" presetSubtype="0" fill="hold" nodeType="withEffect">
                                  <p:stCondLst>
                                    <p:cond delay="0"/>
                                  </p:stCondLst>
                                  <p:childTnLst>
                                    <p:set>
                                      <p:cBhvr>
                                        <p:cTn id="58" dur="1" fill="hold">
                                          <p:stCondLst>
                                            <p:cond delay="0"/>
                                          </p:stCondLst>
                                        </p:cTn>
                                        <p:tgtEl>
                                          <p:spTgt spid="105"/>
                                        </p:tgtEl>
                                        <p:attrNameLst>
                                          <p:attrName>style.visibility</p:attrName>
                                        </p:attrNameLst>
                                      </p:cBhvr>
                                      <p:to>
                                        <p:strVal val="visible"/>
                                      </p:to>
                                    </p:set>
                                    <p:animEffect transition="in" filter="fade">
                                      <p:cBhvr>
                                        <p:cTn id="59" dur="1000"/>
                                        <p:tgtEl>
                                          <p:spTgt spid="105"/>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90"/>
                                        </p:tgtEl>
                                        <p:attrNameLst>
                                          <p:attrName>style.visibility</p:attrName>
                                        </p:attrNameLst>
                                      </p:cBhvr>
                                      <p:to>
                                        <p:strVal val="visible"/>
                                      </p:to>
                                    </p:set>
                                    <p:animEffect transition="in" filter="fade">
                                      <p:cBhvr>
                                        <p:cTn id="64" dur="1000"/>
                                        <p:tgtEl>
                                          <p:spTgt spid="90"/>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86"/>
                                        </p:tgtEl>
                                        <p:attrNameLst>
                                          <p:attrName>style.visibility</p:attrName>
                                        </p:attrNameLst>
                                      </p:cBhvr>
                                      <p:to>
                                        <p:strVal val="visible"/>
                                      </p:to>
                                    </p:set>
                                    <p:animEffect transition="in" filter="fade">
                                      <p:cBhvr>
                                        <p:cTn id="69" dur="1000"/>
                                        <p:tgtEl>
                                          <p:spTgt spid="86"/>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89"/>
                                        </p:tgtEl>
                                        <p:attrNameLst>
                                          <p:attrName>style.visibility</p:attrName>
                                        </p:attrNameLst>
                                      </p:cBhvr>
                                      <p:to>
                                        <p:strVal val="visible"/>
                                      </p:to>
                                    </p:set>
                                    <p:animEffect transition="in" filter="fade">
                                      <p:cBhvr>
                                        <p:cTn id="74" dur="1000"/>
                                        <p:tgtEl>
                                          <p:spTgt spid="89"/>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85"/>
                                        </p:tgtEl>
                                        <p:attrNameLst>
                                          <p:attrName>style.visibility</p:attrName>
                                        </p:attrNameLst>
                                      </p:cBhvr>
                                      <p:to>
                                        <p:strVal val="visible"/>
                                      </p:to>
                                    </p:set>
                                    <p:animEffect transition="in" filter="fade">
                                      <p:cBhvr>
                                        <p:cTn id="79" dur="1000"/>
                                        <p:tgtEl>
                                          <p:spTgt spid="8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93"/>
                                        </p:tgtEl>
                                        <p:attrNameLst>
                                          <p:attrName>style.visibility</p:attrName>
                                        </p:attrNameLst>
                                      </p:cBhvr>
                                      <p:to>
                                        <p:strVal val="visible"/>
                                      </p:to>
                                    </p:set>
                                    <p:animEffect transition="in" filter="fade">
                                      <p:cBhvr>
                                        <p:cTn id="84" dur="1000"/>
                                        <p:tgtEl>
                                          <p:spTgt spid="93"/>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94"/>
                                        </p:tgtEl>
                                        <p:attrNameLst>
                                          <p:attrName>style.visibility</p:attrName>
                                        </p:attrNameLst>
                                      </p:cBhvr>
                                      <p:to>
                                        <p:strVal val="visible"/>
                                      </p:to>
                                    </p:set>
                                    <p:animEffect transition="in" filter="fade">
                                      <p:cBhvr>
                                        <p:cTn id="89" dur="1000"/>
                                        <p:tgtEl>
                                          <p:spTgt spid="94"/>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95"/>
                                        </p:tgtEl>
                                        <p:attrNameLst>
                                          <p:attrName>style.visibility</p:attrName>
                                        </p:attrNameLst>
                                      </p:cBhvr>
                                      <p:to>
                                        <p:strVal val="visible"/>
                                      </p:to>
                                    </p:set>
                                    <p:animEffect transition="in" filter="fade">
                                      <p:cBhvr>
                                        <p:cTn id="94" dur="1000"/>
                                        <p:tgtEl>
                                          <p:spTgt spid="95"/>
                                        </p:tgtEl>
                                      </p:cBhvr>
                                    </p:animEffect>
                                  </p:childTnLst>
                                </p:cTn>
                              </p:par>
                              <p:par>
                                <p:cTn id="95" presetID="10" presetClass="entr" presetSubtype="0" fill="hold" nodeType="withEffect">
                                  <p:stCondLst>
                                    <p:cond delay="0"/>
                                  </p:stCondLst>
                                  <p:childTnLst>
                                    <p:set>
                                      <p:cBhvr>
                                        <p:cTn id="96" dur="1" fill="hold">
                                          <p:stCondLst>
                                            <p:cond delay="0"/>
                                          </p:stCondLst>
                                        </p:cTn>
                                        <p:tgtEl>
                                          <p:spTgt spid="96"/>
                                        </p:tgtEl>
                                        <p:attrNameLst>
                                          <p:attrName>style.visibility</p:attrName>
                                        </p:attrNameLst>
                                      </p:cBhvr>
                                      <p:to>
                                        <p:strVal val="visible"/>
                                      </p:to>
                                    </p:set>
                                    <p:animEffect transition="in" filter="fade">
                                      <p:cBhvr>
                                        <p:cTn id="97" dur="1000"/>
                                        <p:tgtEl>
                                          <p:spTgt spid="96"/>
                                        </p:tgtEl>
                                      </p:cBhvr>
                                    </p:animEffect>
                                  </p:childTnLst>
                                </p:cTn>
                              </p:par>
                              <p:par>
                                <p:cTn id="98" presetID="10" presetClass="entr" presetSubtype="0" fill="hold" nodeType="withEffect">
                                  <p:stCondLst>
                                    <p:cond delay="0"/>
                                  </p:stCondLst>
                                  <p:childTnLst>
                                    <p:set>
                                      <p:cBhvr>
                                        <p:cTn id="99" dur="1" fill="hold">
                                          <p:stCondLst>
                                            <p:cond delay="0"/>
                                          </p:stCondLst>
                                        </p:cTn>
                                        <p:tgtEl>
                                          <p:spTgt spid="98"/>
                                        </p:tgtEl>
                                        <p:attrNameLst>
                                          <p:attrName>style.visibility</p:attrName>
                                        </p:attrNameLst>
                                      </p:cBhvr>
                                      <p:to>
                                        <p:strVal val="visible"/>
                                      </p:to>
                                    </p:set>
                                    <p:animEffect transition="in" filter="fade">
                                      <p:cBhvr>
                                        <p:cTn id="100" dur="1000"/>
                                        <p:tgtEl>
                                          <p:spTgt spid="98"/>
                                        </p:tgtEl>
                                      </p:cBhvr>
                                    </p:animEffect>
                                  </p:childTnLst>
                                </p:cTn>
                              </p:par>
                              <p:par>
                                <p:cTn id="101" presetID="10" presetClass="entr" presetSubtype="0" fill="hold" nodeType="withEffect">
                                  <p:stCondLst>
                                    <p:cond delay="0"/>
                                  </p:stCondLst>
                                  <p:childTnLst>
                                    <p:set>
                                      <p:cBhvr>
                                        <p:cTn id="102" dur="1" fill="hold">
                                          <p:stCondLst>
                                            <p:cond delay="0"/>
                                          </p:stCondLst>
                                        </p:cTn>
                                        <p:tgtEl>
                                          <p:spTgt spid="97"/>
                                        </p:tgtEl>
                                        <p:attrNameLst>
                                          <p:attrName>style.visibility</p:attrName>
                                        </p:attrNameLst>
                                      </p:cBhvr>
                                      <p:to>
                                        <p:strVal val="visible"/>
                                      </p:to>
                                    </p:set>
                                    <p:animEffect transition="in" filter="fade">
                                      <p:cBhvr>
                                        <p:cTn id="103" dur="1000"/>
                                        <p:tgtEl>
                                          <p:spTgt spid="97"/>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nodeType="clickEffect">
                                  <p:stCondLst>
                                    <p:cond delay="0"/>
                                  </p:stCondLst>
                                  <p:childTnLst>
                                    <p:set>
                                      <p:cBhvr>
                                        <p:cTn id="107" dur="1" fill="hold">
                                          <p:stCondLst>
                                            <p:cond delay="0"/>
                                          </p:stCondLst>
                                        </p:cTn>
                                        <p:tgtEl>
                                          <p:spTgt spid="112"/>
                                        </p:tgtEl>
                                        <p:attrNameLst>
                                          <p:attrName>style.visibility</p:attrName>
                                        </p:attrNameLst>
                                      </p:cBhvr>
                                      <p:to>
                                        <p:strVal val="visible"/>
                                      </p:to>
                                    </p:set>
                                    <p:animEffect transition="in" filter="fade">
                                      <p:cBhvr>
                                        <p:cTn id="108" dur="1000"/>
                                        <p:tgtEl>
                                          <p:spTgt spid="112"/>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nodeType="clickEffect">
                                  <p:stCondLst>
                                    <p:cond delay="0"/>
                                  </p:stCondLst>
                                  <p:childTnLst>
                                    <p:set>
                                      <p:cBhvr>
                                        <p:cTn id="112" dur="1" fill="hold">
                                          <p:stCondLst>
                                            <p:cond delay="0"/>
                                          </p:stCondLst>
                                        </p:cTn>
                                        <p:tgtEl>
                                          <p:spTgt spid="109"/>
                                        </p:tgtEl>
                                        <p:attrNameLst>
                                          <p:attrName>style.visibility</p:attrName>
                                        </p:attrNameLst>
                                      </p:cBhvr>
                                      <p:to>
                                        <p:strVal val="visible"/>
                                      </p:to>
                                    </p:set>
                                    <p:animEffect transition="in" filter="fade">
                                      <p:cBhvr>
                                        <p:cTn id="113" dur="1000"/>
                                        <p:tgtEl>
                                          <p:spTgt spid="109"/>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nodeType="clickEffect">
                                  <p:stCondLst>
                                    <p:cond delay="0"/>
                                  </p:stCondLst>
                                  <p:childTnLst>
                                    <p:set>
                                      <p:cBhvr>
                                        <p:cTn id="117" dur="1" fill="hold">
                                          <p:stCondLst>
                                            <p:cond delay="0"/>
                                          </p:stCondLst>
                                        </p:cTn>
                                        <p:tgtEl>
                                          <p:spTgt spid="99"/>
                                        </p:tgtEl>
                                        <p:attrNameLst>
                                          <p:attrName>style.visibility</p:attrName>
                                        </p:attrNameLst>
                                      </p:cBhvr>
                                      <p:to>
                                        <p:strVal val="visible"/>
                                      </p:to>
                                    </p:set>
                                    <p:animEffect transition="in" filter="fade">
                                      <p:cBhvr>
                                        <p:cTn id="118" dur="1000"/>
                                        <p:tgtEl>
                                          <p:spTgt spid="99"/>
                                        </p:tgtEl>
                                      </p:cBhvr>
                                    </p:animEffect>
                                  </p:childTnLst>
                                </p:cTn>
                              </p:par>
                              <p:par>
                                <p:cTn id="119" presetID="10" presetClass="entr" presetSubtype="0" fill="hold" nodeType="withEffect">
                                  <p:stCondLst>
                                    <p:cond delay="0"/>
                                  </p:stCondLst>
                                  <p:childTnLst>
                                    <p:set>
                                      <p:cBhvr>
                                        <p:cTn id="120" dur="1" fill="hold">
                                          <p:stCondLst>
                                            <p:cond delay="0"/>
                                          </p:stCondLst>
                                        </p:cTn>
                                        <p:tgtEl>
                                          <p:spTgt spid="100"/>
                                        </p:tgtEl>
                                        <p:attrNameLst>
                                          <p:attrName>style.visibility</p:attrName>
                                        </p:attrNameLst>
                                      </p:cBhvr>
                                      <p:to>
                                        <p:strVal val="visible"/>
                                      </p:to>
                                    </p:set>
                                    <p:animEffect transition="in" filter="fade">
                                      <p:cBhvr>
                                        <p:cTn id="121" dur="1000"/>
                                        <p:tgtEl>
                                          <p:spTgt spid="100"/>
                                        </p:tgtEl>
                                      </p:cBhvr>
                                    </p:animEffect>
                                  </p:childTnLst>
                                </p:cTn>
                              </p:par>
                              <p:par>
                                <p:cTn id="122" presetID="10" presetClass="entr" presetSubtype="0" fill="hold" nodeType="withEffect">
                                  <p:stCondLst>
                                    <p:cond delay="0"/>
                                  </p:stCondLst>
                                  <p:childTnLst>
                                    <p:set>
                                      <p:cBhvr>
                                        <p:cTn id="123" dur="1" fill="hold">
                                          <p:stCondLst>
                                            <p:cond delay="0"/>
                                          </p:stCondLst>
                                        </p:cTn>
                                        <p:tgtEl>
                                          <p:spTgt spid="107"/>
                                        </p:tgtEl>
                                        <p:attrNameLst>
                                          <p:attrName>style.visibility</p:attrName>
                                        </p:attrNameLst>
                                      </p:cBhvr>
                                      <p:to>
                                        <p:strVal val="visible"/>
                                      </p:to>
                                    </p:set>
                                    <p:animEffect transition="in" filter="fade">
                                      <p:cBhvr>
                                        <p:cTn id="124" dur="1000"/>
                                        <p:tgtEl>
                                          <p:spTgt spid="107"/>
                                        </p:tgtEl>
                                      </p:cBhvr>
                                    </p:animEffect>
                                  </p:childTnLst>
                                </p:cTn>
                              </p:par>
                              <p:par>
                                <p:cTn id="125" presetID="10" presetClass="entr" presetSubtype="0" fill="hold" nodeType="withEffect">
                                  <p:stCondLst>
                                    <p:cond delay="0"/>
                                  </p:stCondLst>
                                  <p:childTnLst>
                                    <p:set>
                                      <p:cBhvr>
                                        <p:cTn id="126" dur="1" fill="hold">
                                          <p:stCondLst>
                                            <p:cond delay="0"/>
                                          </p:stCondLst>
                                        </p:cTn>
                                        <p:tgtEl>
                                          <p:spTgt spid="108"/>
                                        </p:tgtEl>
                                        <p:attrNameLst>
                                          <p:attrName>style.visibility</p:attrName>
                                        </p:attrNameLst>
                                      </p:cBhvr>
                                      <p:to>
                                        <p:strVal val="visible"/>
                                      </p:to>
                                    </p:set>
                                    <p:animEffect transition="in" filter="fade">
                                      <p:cBhvr>
                                        <p:cTn id="127" dur="1000"/>
                                        <p:tgtEl>
                                          <p:spTgt spid="108"/>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102"/>
                                        </p:tgtEl>
                                        <p:attrNameLst>
                                          <p:attrName>style.visibility</p:attrName>
                                        </p:attrNameLst>
                                      </p:cBhvr>
                                      <p:to>
                                        <p:strVal val="visible"/>
                                      </p:to>
                                    </p:set>
                                    <p:animEffect transition="in" filter="fade">
                                      <p:cBhvr>
                                        <p:cTn id="132" dur="1000"/>
                                        <p:tgtEl>
                                          <p:spTgt spid="102"/>
                                        </p:tgtEl>
                                      </p:cBhvr>
                                    </p:animEffect>
                                  </p:childTnLst>
                                </p:cTn>
                              </p:par>
                              <p:par>
                                <p:cTn id="133" presetID="10" presetClass="entr" presetSubtype="0" fill="hold" nodeType="withEffect">
                                  <p:stCondLst>
                                    <p:cond delay="0"/>
                                  </p:stCondLst>
                                  <p:childTnLst>
                                    <p:set>
                                      <p:cBhvr>
                                        <p:cTn id="134" dur="1" fill="hold">
                                          <p:stCondLst>
                                            <p:cond delay="0"/>
                                          </p:stCondLst>
                                        </p:cTn>
                                        <p:tgtEl>
                                          <p:spTgt spid="101"/>
                                        </p:tgtEl>
                                        <p:attrNameLst>
                                          <p:attrName>style.visibility</p:attrName>
                                        </p:attrNameLst>
                                      </p:cBhvr>
                                      <p:to>
                                        <p:strVal val="visible"/>
                                      </p:to>
                                    </p:set>
                                    <p:animEffect transition="in" filter="fade">
                                      <p:cBhvr>
                                        <p:cTn id="135" dur="1000"/>
                                        <p:tgtEl>
                                          <p:spTgt spid="101"/>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nodeType="clickEffect">
                                  <p:stCondLst>
                                    <p:cond delay="0"/>
                                  </p:stCondLst>
                                  <p:childTnLst>
                                    <p:set>
                                      <p:cBhvr>
                                        <p:cTn id="139" dur="1" fill="hold">
                                          <p:stCondLst>
                                            <p:cond delay="0"/>
                                          </p:stCondLst>
                                        </p:cTn>
                                        <p:tgtEl>
                                          <p:spTgt spid="103"/>
                                        </p:tgtEl>
                                        <p:attrNameLst>
                                          <p:attrName>style.visibility</p:attrName>
                                        </p:attrNameLst>
                                      </p:cBhvr>
                                      <p:to>
                                        <p:strVal val="visible"/>
                                      </p:to>
                                    </p:set>
                                    <p:animEffect transition="in" filter="fade">
                                      <p:cBhvr>
                                        <p:cTn id="140" dur="1000"/>
                                        <p:tgtEl>
                                          <p:spTgt spid="103"/>
                                        </p:tgtEl>
                                      </p:cBhvr>
                                    </p:animEffect>
                                  </p:childTnLst>
                                </p:cTn>
                              </p:par>
                              <p:par>
                                <p:cTn id="141" presetID="10" presetClass="entr" presetSubtype="0" fill="hold" nodeType="withEffect">
                                  <p:stCondLst>
                                    <p:cond delay="0"/>
                                  </p:stCondLst>
                                  <p:childTnLst>
                                    <p:set>
                                      <p:cBhvr>
                                        <p:cTn id="142" dur="1" fill="hold">
                                          <p:stCondLst>
                                            <p:cond delay="0"/>
                                          </p:stCondLst>
                                        </p:cTn>
                                        <p:tgtEl>
                                          <p:spTgt spid="104"/>
                                        </p:tgtEl>
                                        <p:attrNameLst>
                                          <p:attrName>style.visibility</p:attrName>
                                        </p:attrNameLst>
                                      </p:cBhvr>
                                      <p:to>
                                        <p:strVal val="visible"/>
                                      </p:to>
                                    </p:set>
                                    <p:animEffect transition="in" filter="fade">
                                      <p:cBhvr>
                                        <p:cTn id="143" dur="10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5"/>
          <p:cNvSpPr txBox="1"/>
          <p:nvPr/>
        </p:nvSpPr>
        <p:spPr>
          <a:xfrm>
            <a:off x="0" y="857250"/>
            <a:ext cx="9144000" cy="706200"/>
          </a:xfrm>
          <a:prstGeom prst="rect">
            <a:avLst/>
          </a:prstGeom>
          <a:noFill/>
          <a:ln>
            <a:noFill/>
          </a:ln>
        </p:spPr>
        <p:txBody>
          <a:bodyPr spcFirstLastPara="1" wrap="square" lIns="45713" tIns="45713" rIns="45713" bIns="45713" anchor="ctr" anchorCtr="0">
            <a:noAutofit/>
          </a:bodyPr>
          <a:lstStyle/>
          <a:p>
            <a:pPr algn="ctr"/>
            <a:r>
              <a:rPr lang="en" sz="2400"/>
              <a:t>Task States</a:t>
            </a:r>
            <a:endParaRPr sz="2400"/>
          </a:p>
        </p:txBody>
      </p:sp>
      <p:sp>
        <p:nvSpPr>
          <p:cNvPr id="118" name="Google Shape;118;p15"/>
          <p:cNvSpPr/>
          <p:nvPr/>
        </p:nvSpPr>
        <p:spPr>
          <a:xfrm>
            <a:off x="3924069" y="1692913"/>
            <a:ext cx="1295850" cy="706200"/>
          </a:xfrm>
          <a:prstGeom prst="roundRect">
            <a:avLst>
              <a:gd name="adj" fmla="val 16667"/>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Suspended</a:t>
            </a:r>
            <a:endParaRPr sz="1500"/>
          </a:p>
        </p:txBody>
      </p:sp>
      <p:sp>
        <p:nvSpPr>
          <p:cNvPr id="119" name="Google Shape;119;p15"/>
          <p:cNvSpPr/>
          <p:nvPr/>
        </p:nvSpPr>
        <p:spPr>
          <a:xfrm>
            <a:off x="3924069" y="3258800"/>
            <a:ext cx="1295850" cy="706200"/>
          </a:xfrm>
          <a:prstGeom prst="roundRect">
            <a:avLst>
              <a:gd name="adj" fmla="val 16667"/>
            </a:avLst>
          </a:prstGeom>
          <a:solidFill>
            <a:srgbClr val="CFE2F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Ready</a:t>
            </a:r>
            <a:endParaRPr sz="1500"/>
          </a:p>
        </p:txBody>
      </p:sp>
      <p:sp>
        <p:nvSpPr>
          <p:cNvPr id="120" name="Google Shape;120;p15"/>
          <p:cNvSpPr/>
          <p:nvPr/>
        </p:nvSpPr>
        <p:spPr>
          <a:xfrm>
            <a:off x="3924069" y="4824688"/>
            <a:ext cx="1295850" cy="706200"/>
          </a:xfrm>
          <a:prstGeom prst="roundRect">
            <a:avLst>
              <a:gd name="adj" fmla="val 16667"/>
            </a:avLst>
          </a:prstGeom>
          <a:solidFill>
            <a:srgbClr val="FCE5CD"/>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Blocked</a:t>
            </a:r>
            <a:endParaRPr sz="1500"/>
          </a:p>
        </p:txBody>
      </p:sp>
      <p:sp>
        <p:nvSpPr>
          <p:cNvPr id="121" name="Google Shape;121;p15"/>
          <p:cNvSpPr/>
          <p:nvPr/>
        </p:nvSpPr>
        <p:spPr>
          <a:xfrm>
            <a:off x="6280682" y="3258800"/>
            <a:ext cx="1295850" cy="706200"/>
          </a:xfrm>
          <a:prstGeom prst="roundRect">
            <a:avLst>
              <a:gd name="adj" fmla="val 16667"/>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Running</a:t>
            </a:r>
            <a:endParaRPr sz="1500"/>
          </a:p>
        </p:txBody>
      </p:sp>
      <p:sp>
        <p:nvSpPr>
          <p:cNvPr id="122" name="Google Shape;122;p15"/>
          <p:cNvSpPr txBox="1"/>
          <p:nvPr/>
        </p:nvSpPr>
        <p:spPr>
          <a:xfrm>
            <a:off x="2551519" y="3335750"/>
            <a:ext cx="823500" cy="552300"/>
          </a:xfrm>
          <a:prstGeom prst="rect">
            <a:avLst/>
          </a:prstGeom>
          <a:noFill/>
          <a:ln>
            <a:noFill/>
          </a:ln>
        </p:spPr>
        <p:txBody>
          <a:bodyPr spcFirstLastPara="1" wrap="square" lIns="45713" tIns="45713" rIns="45713" bIns="45713" anchor="t" anchorCtr="0">
            <a:noAutofit/>
          </a:bodyPr>
          <a:lstStyle/>
          <a:p>
            <a:pPr algn="r"/>
            <a:r>
              <a:rPr lang="en" sz="1500"/>
              <a:t>Task</a:t>
            </a:r>
            <a:endParaRPr sz="1500"/>
          </a:p>
          <a:p>
            <a:pPr algn="r"/>
            <a:r>
              <a:rPr lang="en" sz="1500"/>
              <a:t>Creation</a:t>
            </a:r>
            <a:endParaRPr sz="1500"/>
          </a:p>
        </p:txBody>
      </p:sp>
      <p:cxnSp>
        <p:nvCxnSpPr>
          <p:cNvPr id="123" name="Google Shape;123;p15"/>
          <p:cNvCxnSpPr>
            <a:stCxn id="122" idx="3"/>
            <a:endCxn id="119" idx="1"/>
          </p:cNvCxnSpPr>
          <p:nvPr/>
        </p:nvCxnSpPr>
        <p:spPr>
          <a:xfrm>
            <a:off x="3375019" y="3611900"/>
            <a:ext cx="549000" cy="0"/>
          </a:xfrm>
          <a:prstGeom prst="straightConnector1">
            <a:avLst/>
          </a:prstGeom>
          <a:noFill/>
          <a:ln w="38100" cap="flat" cmpd="sng">
            <a:solidFill>
              <a:schemeClr val="dk2"/>
            </a:solidFill>
            <a:prstDash val="solid"/>
            <a:round/>
            <a:headEnd type="none" w="med" len="med"/>
            <a:tailEnd type="triangle" w="med" len="med"/>
          </a:ln>
        </p:spPr>
      </p:cxnSp>
      <p:cxnSp>
        <p:nvCxnSpPr>
          <p:cNvPr id="124" name="Google Shape;124;p15"/>
          <p:cNvCxnSpPr/>
          <p:nvPr/>
        </p:nvCxnSpPr>
        <p:spPr>
          <a:xfrm rot="10800000">
            <a:off x="4343394" y="2399038"/>
            <a:ext cx="0" cy="868350"/>
          </a:xfrm>
          <a:prstGeom prst="straightConnector1">
            <a:avLst/>
          </a:prstGeom>
          <a:noFill/>
          <a:ln w="38100" cap="flat" cmpd="sng">
            <a:solidFill>
              <a:schemeClr val="dk2"/>
            </a:solidFill>
            <a:prstDash val="solid"/>
            <a:round/>
            <a:headEnd type="none" w="med" len="med"/>
            <a:tailEnd type="triangle" w="med" len="med"/>
          </a:ln>
        </p:spPr>
      </p:cxnSp>
      <p:cxnSp>
        <p:nvCxnSpPr>
          <p:cNvPr id="125" name="Google Shape;125;p15"/>
          <p:cNvCxnSpPr/>
          <p:nvPr/>
        </p:nvCxnSpPr>
        <p:spPr>
          <a:xfrm rot="10800000">
            <a:off x="4800594" y="2399038"/>
            <a:ext cx="0" cy="868350"/>
          </a:xfrm>
          <a:prstGeom prst="straightConnector1">
            <a:avLst/>
          </a:prstGeom>
          <a:noFill/>
          <a:ln w="38100" cap="flat" cmpd="sng">
            <a:solidFill>
              <a:schemeClr val="dk2"/>
            </a:solidFill>
            <a:prstDash val="solid"/>
            <a:round/>
            <a:headEnd type="triangle" w="med" len="med"/>
            <a:tailEnd type="none" w="med" len="med"/>
          </a:ln>
        </p:spPr>
      </p:cxnSp>
      <p:cxnSp>
        <p:nvCxnSpPr>
          <p:cNvPr id="126" name="Google Shape;126;p15"/>
          <p:cNvCxnSpPr/>
          <p:nvPr/>
        </p:nvCxnSpPr>
        <p:spPr>
          <a:xfrm>
            <a:off x="5219919" y="3764300"/>
            <a:ext cx="1071900" cy="0"/>
          </a:xfrm>
          <a:prstGeom prst="straightConnector1">
            <a:avLst/>
          </a:prstGeom>
          <a:noFill/>
          <a:ln w="38100" cap="flat" cmpd="sng">
            <a:solidFill>
              <a:schemeClr val="dk2"/>
            </a:solidFill>
            <a:prstDash val="solid"/>
            <a:round/>
            <a:headEnd type="triangle" w="med" len="med"/>
            <a:tailEnd type="none" w="med" len="med"/>
          </a:ln>
        </p:spPr>
      </p:cxnSp>
      <p:cxnSp>
        <p:nvCxnSpPr>
          <p:cNvPr id="127" name="Google Shape;127;p15"/>
          <p:cNvCxnSpPr/>
          <p:nvPr/>
        </p:nvCxnSpPr>
        <p:spPr>
          <a:xfrm>
            <a:off x="5219919" y="3459500"/>
            <a:ext cx="1071900" cy="0"/>
          </a:xfrm>
          <a:prstGeom prst="straightConnector1">
            <a:avLst/>
          </a:prstGeom>
          <a:noFill/>
          <a:ln w="38100" cap="flat" cmpd="sng">
            <a:solidFill>
              <a:schemeClr val="dk2"/>
            </a:solidFill>
            <a:prstDash val="solid"/>
            <a:round/>
            <a:headEnd type="none" w="med" len="med"/>
            <a:tailEnd type="triangle" w="med" len="med"/>
          </a:ln>
        </p:spPr>
      </p:cxnSp>
      <p:cxnSp>
        <p:nvCxnSpPr>
          <p:cNvPr id="128" name="Google Shape;128;p15"/>
          <p:cNvCxnSpPr>
            <a:stCxn id="120" idx="0"/>
            <a:endCxn id="119" idx="2"/>
          </p:cNvCxnSpPr>
          <p:nvPr/>
        </p:nvCxnSpPr>
        <p:spPr>
          <a:xfrm rot="10800000">
            <a:off x="4571994" y="3965038"/>
            <a:ext cx="0" cy="859650"/>
          </a:xfrm>
          <a:prstGeom prst="straightConnector1">
            <a:avLst/>
          </a:prstGeom>
          <a:noFill/>
          <a:ln w="38100" cap="flat" cmpd="sng">
            <a:solidFill>
              <a:schemeClr val="dk2"/>
            </a:solidFill>
            <a:prstDash val="solid"/>
            <a:round/>
            <a:headEnd type="none" w="med" len="med"/>
            <a:tailEnd type="triangle" w="med" len="med"/>
          </a:ln>
        </p:spPr>
      </p:cxnSp>
      <p:cxnSp>
        <p:nvCxnSpPr>
          <p:cNvPr id="129" name="Google Shape;129;p15"/>
          <p:cNvCxnSpPr>
            <a:stCxn id="121" idx="2"/>
            <a:endCxn id="120" idx="3"/>
          </p:cNvCxnSpPr>
          <p:nvPr/>
        </p:nvCxnSpPr>
        <p:spPr>
          <a:xfrm rot="5400000">
            <a:off x="5467907" y="3717050"/>
            <a:ext cx="1212750" cy="1708650"/>
          </a:xfrm>
          <a:prstGeom prst="curvedConnector2">
            <a:avLst/>
          </a:prstGeom>
          <a:noFill/>
          <a:ln w="38100" cap="flat" cmpd="sng">
            <a:solidFill>
              <a:schemeClr val="dk2"/>
            </a:solidFill>
            <a:prstDash val="solid"/>
            <a:round/>
            <a:headEnd type="none" w="med" len="med"/>
            <a:tailEnd type="triangle" w="med" len="med"/>
          </a:ln>
        </p:spPr>
      </p:cxnSp>
      <p:cxnSp>
        <p:nvCxnSpPr>
          <p:cNvPr id="130" name="Google Shape;130;p15"/>
          <p:cNvCxnSpPr>
            <a:stCxn id="121" idx="0"/>
            <a:endCxn id="118" idx="3"/>
          </p:cNvCxnSpPr>
          <p:nvPr/>
        </p:nvCxnSpPr>
        <p:spPr>
          <a:xfrm rot="5400000" flipH="1">
            <a:off x="5467907" y="1798100"/>
            <a:ext cx="1212750" cy="1708650"/>
          </a:xfrm>
          <a:prstGeom prst="curvedConnector2">
            <a:avLst/>
          </a:prstGeom>
          <a:noFill/>
          <a:ln w="38100" cap="flat" cmpd="sng">
            <a:solidFill>
              <a:schemeClr val="dk2"/>
            </a:solidFill>
            <a:prstDash val="solid"/>
            <a:round/>
            <a:headEnd type="none" w="med" len="med"/>
            <a:tailEnd type="triangle" w="med" len="med"/>
          </a:ln>
        </p:spPr>
      </p:cxnSp>
      <p:cxnSp>
        <p:nvCxnSpPr>
          <p:cNvPr id="131" name="Google Shape;131;p15"/>
          <p:cNvCxnSpPr>
            <a:stCxn id="120" idx="1"/>
            <a:endCxn id="118" idx="1"/>
          </p:cNvCxnSpPr>
          <p:nvPr/>
        </p:nvCxnSpPr>
        <p:spPr>
          <a:xfrm rot="10800000" flipH="1">
            <a:off x="3924069" y="2046088"/>
            <a:ext cx="300" cy="3131700"/>
          </a:xfrm>
          <a:prstGeom prst="curvedConnector3">
            <a:avLst>
              <a:gd name="adj1" fmla="val -689756250"/>
            </a:avLst>
          </a:prstGeom>
          <a:noFill/>
          <a:ln w="38100" cap="flat" cmpd="sng">
            <a:solidFill>
              <a:schemeClr val="dk2"/>
            </a:solidFill>
            <a:prstDash val="solid"/>
            <a:round/>
            <a:headEnd type="none" w="med" len="med"/>
            <a:tailEnd type="triangle" w="med" len="med"/>
          </a:ln>
        </p:spPr>
      </p:cxnSp>
      <p:sp>
        <p:nvSpPr>
          <p:cNvPr id="132" name="Google Shape;132;p15"/>
          <p:cNvSpPr txBox="1"/>
          <p:nvPr/>
        </p:nvSpPr>
        <p:spPr>
          <a:xfrm>
            <a:off x="3149250" y="2689232"/>
            <a:ext cx="1194150" cy="279450"/>
          </a:xfrm>
          <a:prstGeom prst="rect">
            <a:avLst/>
          </a:prstGeom>
          <a:noFill/>
          <a:ln>
            <a:noFill/>
          </a:ln>
        </p:spPr>
        <p:txBody>
          <a:bodyPr spcFirstLastPara="1" wrap="square" lIns="45713" tIns="45713" rIns="45713" bIns="45713" anchor="ctr" anchorCtr="0">
            <a:noAutofit/>
          </a:bodyPr>
          <a:lstStyle/>
          <a:p>
            <a:pPr algn="ctr"/>
            <a:r>
              <a:rPr lang="en" sz="1200"/>
              <a:t>vTaskSuspend()</a:t>
            </a:r>
            <a:endParaRPr sz="1200"/>
          </a:p>
        </p:txBody>
      </p:sp>
      <p:sp>
        <p:nvSpPr>
          <p:cNvPr id="133" name="Google Shape;133;p15"/>
          <p:cNvSpPr txBox="1"/>
          <p:nvPr/>
        </p:nvSpPr>
        <p:spPr>
          <a:xfrm>
            <a:off x="4787550" y="2689232"/>
            <a:ext cx="1194150" cy="279450"/>
          </a:xfrm>
          <a:prstGeom prst="rect">
            <a:avLst/>
          </a:prstGeom>
          <a:noFill/>
          <a:ln>
            <a:noFill/>
          </a:ln>
        </p:spPr>
        <p:txBody>
          <a:bodyPr spcFirstLastPara="1" wrap="square" lIns="45713" tIns="45713" rIns="45713" bIns="45713" anchor="ctr" anchorCtr="0">
            <a:noAutofit/>
          </a:bodyPr>
          <a:lstStyle/>
          <a:p>
            <a:pPr algn="ctr"/>
            <a:r>
              <a:rPr lang="en" sz="1200"/>
              <a:t>vTaskResume()</a:t>
            </a:r>
            <a:endParaRPr sz="1200"/>
          </a:p>
        </p:txBody>
      </p:sp>
      <p:sp>
        <p:nvSpPr>
          <p:cNvPr id="134" name="Google Shape;134;p15"/>
          <p:cNvSpPr txBox="1"/>
          <p:nvPr/>
        </p:nvSpPr>
        <p:spPr>
          <a:xfrm>
            <a:off x="6280688" y="2046089"/>
            <a:ext cx="1194150" cy="352950"/>
          </a:xfrm>
          <a:prstGeom prst="rect">
            <a:avLst/>
          </a:prstGeom>
          <a:noFill/>
          <a:ln>
            <a:noFill/>
          </a:ln>
        </p:spPr>
        <p:txBody>
          <a:bodyPr spcFirstLastPara="1" wrap="square" lIns="45713" tIns="45713" rIns="45713" bIns="45713" anchor="ctr" anchorCtr="0">
            <a:noAutofit/>
          </a:bodyPr>
          <a:lstStyle/>
          <a:p>
            <a:pPr algn="ctr"/>
            <a:r>
              <a:rPr lang="en" sz="1200"/>
              <a:t>vTaskSuspend()</a:t>
            </a:r>
            <a:endParaRPr sz="1200"/>
          </a:p>
        </p:txBody>
      </p:sp>
      <p:sp>
        <p:nvSpPr>
          <p:cNvPr id="135" name="Google Shape;135;p15"/>
          <p:cNvSpPr txBox="1"/>
          <p:nvPr/>
        </p:nvSpPr>
        <p:spPr>
          <a:xfrm>
            <a:off x="6280688" y="4862790"/>
            <a:ext cx="1194150" cy="388800"/>
          </a:xfrm>
          <a:prstGeom prst="rect">
            <a:avLst/>
          </a:prstGeom>
          <a:noFill/>
          <a:ln>
            <a:noFill/>
          </a:ln>
        </p:spPr>
        <p:txBody>
          <a:bodyPr spcFirstLastPara="1" wrap="square" lIns="45713" tIns="45713" rIns="45713" bIns="45713" anchor="ctr" anchorCtr="0">
            <a:noAutofit/>
          </a:bodyPr>
          <a:lstStyle/>
          <a:p>
            <a:pPr algn="ctr"/>
            <a:r>
              <a:rPr lang="en" sz="1200"/>
              <a:t>Blocking API function called</a:t>
            </a:r>
            <a:endParaRPr sz="1200"/>
          </a:p>
        </p:txBody>
      </p:sp>
      <p:sp>
        <p:nvSpPr>
          <p:cNvPr id="136" name="Google Shape;136;p15"/>
          <p:cNvSpPr txBox="1"/>
          <p:nvPr/>
        </p:nvSpPr>
        <p:spPr>
          <a:xfrm>
            <a:off x="4572000" y="4255113"/>
            <a:ext cx="549000" cy="352950"/>
          </a:xfrm>
          <a:prstGeom prst="rect">
            <a:avLst/>
          </a:prstGeom>
          <a:noFill/>
          <a:ln>
            <a:noFill/>
          </a:ln>
        </p:spPr>
        <p:txBody>
          <a:bodyPr spcFirstLastPara="1" wrap="square" lIns="45713" tIns="45713" rIns="45713" bIns="45713" anchor="ctr" anchorCtr="0">
            <a:noAutofit/>
          </a:bodyPr>
          <a:lstStyle/>
          <a:p>
            <a:pPr algn="ctr"/>
            <a:r>
              <a:rPr lang="en" sz="1200"/>
              <a:t>Event</a:t>
            </a:r>
            <a:endParaRPr sz="1200"/>
          </a:p>
        </p:txBody>
      </p:sp>
      <p:sp>
        <p:nvSpPr>
          <p:cNvPr id="137" name="Google Shape;137;p15"/>
          <p:cNvSpPr txBox="1"/>
          <p:nvPr/>
        </p:nvSpPr>
        <p:spPr>
          <a:xfrm>
            <a:off x="1717338" y="4917457"/>
            <a:ext cx="1194150" cy="279450"/>
          </a:xfrm>
          <a:prstGeom prst="rect">
            <a:avLst/>
          </a:prstGeom>
          <a:noFill/>
          <a:ln>
            <a:noFill/>
          </a:ln>
        </p:spPr>
        <p:txBody>
          <a:bodyPr spcFirstLastPara="1" wrap="square" lIns="45713" tIns="45713" rIns="45713" bIns="45713" anchor="ctr" anchorCtr="0">
            <a:noAutofit/>
          </a:bodyPr>
          <a:lstStyle/>
          <a:p>
            <a:pPr algn="ctr"/>
            <a:r>
              <a:rPr lang="en" sz="1200"/>
              <a:t>vTaskSuspend()</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fade">
                                      <p:cBhvr>
                                        <p:cTn id="7" dur="1000"/>
                                        <p:tgtEl>
                                          <p:spTgt spid="121"/>
                                        </p:tgtEl>
                                      </p:cBhvr>
                                    </p:animEffect>
                                  </p:childTnLst>
                                </p:cTn>
                              </p:par>
                              <p:par>
                                <p:cTn id="8" presetID="10" presetClass="entr" presetSubtype="0" fill="hold" nodeType="withEffect">
                                  <p:stCondLst>
                                    <p:cond delay="0"/>
                                  </p:stCondLst>
                                  <p:childTnLst>
                                    <p:set>
                                      <p:cBhvr>
                                        <p:cTn id="9" dur="1" fill="hold">
                                          <p:stCondLst>
                                            <p:cond delay="0"/>
                                          </p:stCondLst>
                                        </p:cTn>
                                        <p:tgtEl>
                                          <p:spTgt spid="127"/>
                                        </p:tgtEl>
                                        <p:attrNameLst>
                                          <p:attrName>style.visibility</p:attrName>
                                        </p:attrNameLst>
                                      </p:cBhvr>
                                      <p:to>
                                        <p:strVal val="visible"/>
                                      </p:to>
                                    </p:set>
                                    <p:animEffect transition="in" filter="fade">
                                      <p:cBhvr>
                                        <p:cTn id="10" dur="1000"/>
                                        <p:tgtEl>
                                          <p:spTgt spid="127"/>
                                        </p:tgtEl>
                                      </p:cBhvr>
                                    </p:animEffect>
                                  </p:childTnLst>
                                </p:cTn>
                              </p:par>
                              <p:par>
                                <p:cTn id="11" presetID="10" presetClass="entr" presetSubtype="0" fill="hold" nodeType="withEffect">
                                  <p:stCondLst>
                                    <p:cond delay="0"/>
                                  </p:stCondLst>
                                  <p:childTnLst>
                                    <p:set>
                                      <p:cBhvr>
                                        <p:cTn id="12" dur="1" fill="hold">
                                          <p:stCondLst>
                                            <p:cond delay="0"/>
                                          </p:stCondLst>
                                        </p:cTn>
                                        <p:tgtEl>
                                          <p:spTgt spid="126"/>
                                        </p:tgtEl>
                                        <p:attrNameLst>
                                          <p:attrName>style.visibility</p:attrName>
                                        </p:attrNameLst>
                                      </p:cBhvr>
                                      <p:to>
                                        <p:strVal val="visible"/>
                                      </p:to>
                                    </p:set>
                                    <p:animEffect transition="in" filter="fade">
                                      <p:cBhvr>
                                        <p:cTn id="13" dur="1000"/>
                                        <p:tgtEl>
                                          <p:spTgt spid="12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0"/>
                                        </p:tgtEl>
                                        <p:attrNameLst>
                                          <p:attrName>style.visibility</p:attrName>
                                        </p:attrNameLst>
                                      </p:cBhvr>
                                      <p:to>
                                        <p:strVal val="visible"/>
                                      </p:to>
                                    </p:set>
                                    <p:animEffect transition="in" filter="fade">
                                      <p:cBhvr>
                                        <p:cTn id="18" dur="1000"/>
                                        <p:tgtEl>
                                          <p:spTgt spid="120"/>
                                        </p:tgtEl>
                                      </p:cBhvr>
                                    </p:animEffect>
                                  </p:childTnLst>
                                </p:cTn>
                              </p:par>
                              <p:par>
                                <p:cTn id="19" presetID="10" presetClass="entr" presetSubtype="0" fill="hold" nodeType="withEffect">
                                  <p:stCondLst>
                                    <p:cond delay="0"/>
                                  </p:stCondLst>
                                  <p:childTnLst>
                                    <p:set>
                                      <p:cBhvr>
                                        <p:cTn id="20" dur="1" fill="hold">
                                          <p:stCondLst>
                                            <p:cond delay="0"/>
                                          </p:stCondLst>
                                        </p:cTn>
                                        <p:tgtEl>
                                          <p:spTgt spid="129"/>
                                        </p:tgtEl>
                                        <p:attrNameLst>
                                          <p:attrName>style.visibility</p:attrName>
                                        </p:attrNameLst>
                                      </p:cBhvr>
                                      <p:to>
                                        <p:strVal val="visible"/>
                                      </p:to>
                                    </p:set>
                                    <p:animEffect transition="in" filter="fade">
                                      <p:cBhvr>
                                        <p:cTn id="21" dur="1000"/>
                                        <p:tgtEl>
                                          <p:spTgt spid="129"/>
                                        </p:tgtEl>
                                      </p:cBhvr>
                                    </p:animEffect>
                                  </p:childTnLst>
                                </p:cTn>
                              </p:par>
                              <p:par>
                                <p:cTn id="22" presetID="10" presetClass="entr" presetSubtype="0" fill="hold" nodeType="withEffect">
                                  <p:stCondLst>
                                    <p:cond delay="0"/>
                                  </p:stCondLst>
                                  <p:childTnLst>
                                    <p:set>
                                      <p:cBhvr>
                                        <p:cTn id="23" dur="1" fill="hold">
                                          <p:stCondLst>
                                            <p:cond delay="0"/>
                                          </p:stCondLst>
                                        </p:cTn>
                                        <p:tgtEl>
                                          <p:spTgt spid="135"/>
                                        </p:tgtEl>
                                        <p:attrNameLst>
                                          <p:attrName>style.visibility</p:attrName>
                                        </p:attrNameLst>
                                      </p:cBhvr>
                                      <p:to>
                                        <p:strVal val="visible"/>
                                      </p:to>
                                    </p:set>
                                    <p:animEffect transition="in" filter="fade">
                                      <p:cBhvr>
                                        <p:cTn id="24" dur="1000"/>
                                        <p:tgtEl>
                                          <p:spTgt spid="135"/>
                                        </p:tgtEl>
                                      </p:cBhvr>
                                    </p:animEffect>
                                  </p:childTnLst>
                                </p:cTn>
                              </p:par>
                              <p:par>
                                <p:cTn id="25" presetID="10" presetClass="entr" presetSubtype="0" fill="hold" nodeType="withEffect">
                                  <p:stCondLst>
                                    <p:cond delay="0"/>
                                  </p:stCondLst>
                                  <p:childTnLst>
                                    <p:set>
                                      <p:cBhvr>
                                        <p:cTn id="26" dur="1" fill="hold">
                                          <p:stCondLst>
                                            <p:cond delay="0"/>
                                          </p:stCondLst>
                                        </p:cTn>
                                        <p:tgtEl>
                                          <p:spTgt spid="136"/>
                                        </p:tgtEl>
                                        <p:attrNameLst>
                                          <p:attrName>style.visibility</p:attrName>
                                        </p:attrNameLst>
                                      </p:cBhvr>
                                      <p:to>
                                        <p:strVal val="visible"/>
                                      </p:to>
                                    </p:set>
                                    <p:animEffect transition="in" filter="fade">
                                      <p:cBhvr>
                                        <p:cTn id="27" dur="1000"/>
                                        <p:tgtEl>
                                          <p:spTgt spid="136"/>
                                        </p:tgtEl>
                                      </p:cBhvr>
                                    </p:animEffect>
                                  </p:childTnLst>
                                </p:cTn>
                              </p:par>
                              <p:par>
                                <p:cTn id="28" presetID="10" presetClass="entr" presetSubtype="0" fill="hold" nodeType="withEffect">
                                  <p:stCondLst>
                                    <p:cond delay="0"/>
                                  </p:stCondLst>
                                  <p:childTnLst>
                                    <p:set>
                                      <p:cBhvr>
                                        <p:cTn id="29" dur="1" fill="hold">
                                          <p:stCondLst>
                                            <p:cond delay="0"/>
                                          </p:stCondLst>
                                        </p:cTn>
                                        <p:tgtEl>
                                          <p:spTgt spid="128"/>
                                        </p:tgtEl>
                                        <p:attrNameLst>
                                          <p:attrName>style.visibility</p:attrName>
                                        </p:attrNameLst>
                                      </p:cBhvr>
                                      <p:to>
                                        <p:strVal val="visible"/>
                                      </p:to>
                                    </p:set>
                                    <p:animEffect transition="in" filter="fade">
                                      <p:cBhvr>
                                        <p:cTn id="30" dur="1000"/>
                                        <p:tgtEl>
                                          <p:spTgt spid="12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24"/>
                                        </p:tgtEl>
                                        <p:attrNameLst>
                                          <p:attrName>style.visibility</p:attrName>
                                        </p:attrNameLst>
                                      </p:cBhvr>
                                      <p:to>
                                        <p:strVal val="visible"/>
                                      </p:to>
                                    </p:set>
                                    <p:animEffect transition="in" filter="fade">
                                      <p:cBhvr>
                                        <p:cTn id="35" dur="1000"/>
                                        <p:tgtEl>
                                          <p:spTgt spid="124"/>
                                        </p:tgtEl>
                                      </p:cBhvr>
                                    </p:animEffect>
                                  </p:childTnLst>
                                </p:cTn>
                              </p:par>
                              <p:par>
                                <p:cTn id="36" presetID="10" presetClass="entr" presetSubtype="0" fill="hold" nodeType="withEffect">
                                  <p:stCondLst>
                                    <p:cond delay="0"/>
                                  </p:stCondLst>
                                  <p:childTnLst>
                                    <p:set>
                                      <p:cBhvr>
                                        <p:cTn id="37" dur="1" fill="hold">
                                          <p:stCondLst>
                                            <p:cond delay="0"/>
                                          </p:stCondLst>
                                        </p:cTn>
                                        <p:tgtEl>
                                          <p:spTgt spid="125"/>
                                        </p:tgtEl>
                                        <p:attrNameLst>
                                          <p:attrName>style.visibility</p:attrName>
                                        </p:attrNameLst>
                                      </p:cBhvr>
                                      <p:to>
                                        <p:strVal val="visible"/>
                                      </p:to>
                                    </p:set>
                                    <p:animEffect transition="in" filter="fade">
                                      <p:cBhvr>
                                        <p:cTn id="38" dur="1000"/>
                                        <p:tgtEl>
                                          <p:spTgt spid="125"/>
                                        </p:tgtEl>
                                      </p:cBhvr>
                                    </p:animEffect>
                                  </p:childTnLst>
                                </p:cTn>
                              </p:par>
                              <p:par>
                                <p:cTn id="39" presetID="10" presetClass="entr" presetSubtype="0" fill="hold" nodeType="withEffect">
                                  <p:stCondLst>
                                    <p:cond delay="0"/>
                                  </p:stCondLst>
                                  <p:childTnLst>
                                    <p:set>
                                      <p:cBhvr>
                                        <p:cTn id="40" dur="1" fill="hold">
                                          <p:stCondLst>
                                            <p:cond delay="0"/>
                                          </p:stCondLst>
                                        </p:cTn>
                                        <p:tgtEl>
                                          <p:spTgt spid="130"/>
                                        </p:tgtEl>
                                        <p:attrNameLst>
                                          <p:attrName>style.visibility</p:attrName>
                                        </p:attrNameLst>
                                      </p:cBhvr>
                                      <p:to>
                                        <p:strVal val="visible"/>
                                      </p:to>
                                    </p:set>
                                    <p:animEffect transition="in" filter="fade">
                                      <p:cBhvr>
                                        <p:cTn id="41" dur="1000"/>
                                        <p:tgtEl>
                                          <p:spTgt spid="130"/>
                                        </p:tgtEl>
                                      </p:cBhvr>
                                    </p:animEffect>
                                  </p:childTnLst>
                                </p:cTn>
                              </p:par>
                              <p:par>
                                <p:cTn id="42" presetID="10" presetClass="entr" presetSubtype="0" fill="hold" nodeType="withEffect">
                                  <p:stCondLst>
                                    <p:cond delay="0"/>
                                  </p:stCondLst>
                                  <p:childTnLst>
                                    <p:set>
                                      <p:cBhvr>
                                        <p:cTn id="43" dur="1" fill="hold">
                                          <p:stCondLst>
                                            <p:cond delay="0"/>
                                          </p:stCondLst>
                                        </p:cTn>
                                        <p:tgtEl>
                                          <p:spTgt spid="131"/>
                                        </p:tgtEl>
                                        <p:attrNameLst>
                                          <p:attrName>style.visibility</p:attrName>
                                        </p:attrNameLst>
                                      </p:cBhvr>
                                      <p:to>
                                        <p:strVal val="visible"/>
                                      </p:to>
                                    </p:set>
                                    <p:animEffect transition="in" filter="fade">
                                      <p:cBhvr>
                                        <p:cTn id="44" dur="1000"/>
                                        <p:tgtEl>
                                          <p:spTgt spid="131"/>
                                        </p:tgtEl>
                                      </p:cBhvr>
                                    </p:animEffect>
                                  </p:childTnLst>
                                </p:cTn>
                              </p:par>
                              <p:par>
                                <p:cTn id="45" presetID="10" presetClass="entr" presetSubtype="0" fill="hold" nodeType="withEffect">
                                  <p:stCondLst>
                                    <p:cond delay="0"/>
                                  </p:stCondLst>
                                  <p:childTnLst>
                                    <p:set>
                                      <p:cBhvr>
                                        <p:cTn id="46" dur="1" fill="hold">
                                          <p:stCondLst>
                                            <p:cond delay="0"/>
                                          </p:stCondLst>
                                        </p:cTn>
                                        <p:tgtEl>
                                          <p:spTgt spid="132"/>
                                        </p:tgtEl>
                                        <p:attrNameLst>
                                          <p:attrName>style.visibility</p:attrName>
                                        </p:attrNameLst>
                                      </p:cBhvr>
                                      <p:to>
                                        <p:strVal val="visible"/>
                                      </p:to>
                                    </p:set>
                                    <p:animEffect transition="in" filter="fade">
                                      <p:cBhvr>
                                        <p:cTn id="47" dur="1000"/>
                                        <p:tgtEl>
                                          <p:spTgt spid="132"/>
                                        </p:tgtEl>
                                      </p:cBhvr>
                                    </p:animEffect>
                                  </p:childTnLst>
                                </p:cTn>
                              </p:par>
                              <p:par>
                                <p:cTn id="48" presetID="10" presetClass="entr" presetSubtype="0" fill="hold" nodeType="withEffect">
                                  <p:stCondLst>
                                    <p:cond delay="0"/>
                                  </p:stCondLst>
                                  <p:childTnLst>
                                    <p:set>
                                      <p:cBhvr>
                                        <p:cTn id="49" dur="1" fill="hold">
                                          <p:stCondLst>
                                            <p:cond delay="0"/>
                                          </p:stCondLst>
                                        </p:cTn>
                                        <p:tgtEl>
                                          <p:spTgt spid="133"/>
                                        </p:tgtEl>
                                        <p:attrNameLst>
                                          <p:attrName>style.visibility</p:attrName>
                                        </p:attrNameLst>
                                      </p:cBhvr>
                                      <p:to>
                                        <p:strVal val="visible"/>
                                      </p:to>
                                    </p:set>
                                    <p:animEffect transition="in" filter="fade">
                                      <p:cBhvr>
                                        <p:cTn id="50" dur="1000"/>
                                        <p:tgtEl>
                                          <p:spTgt spid="133"/>
                                        </p:tgtEl>
                                      </p:cBhvr>
                                    </p:animEffect>
                                  </p:childTnLst>
                                </p:cTn>
                              </p:par>
                              <p:par>
                                <p:cTn id="51" presetID="10" presetClass="entr" presetSubtype="0" fill="hold" nodeType="withEffect">
                                  <p:stCondLst>
                                    <p:cond delay="0"/>
                                  </p:stCondLst>
                                  <p:childTnLst>
                                    <p:set>
                                      <p:cBhvr>
                                        <p:cTn id="52" dur="1" fill="hold">
                                          <p:stCondLst>
                                            <p:cond delay="0"/>
                                          </p:stCondLst>
                                        </p:cTn>
                                        <p:tgtEl>
                                          <p:spTgt spid="134"/>
                                        </p:tgtEl>
                                        <p:attrNameLst>
                                          <p:attrName>style.visibility</p:attrName>
                                        </p:attrNameLst>
                                      </p:cBhvr>
                                      <p:to>
                                        <p:strVal val="visible"/>
                                      </p:to>
                                    </p:set>
                                    <p:animEffect transition="in" filter="fade">
                                      <p:cBhvr>
                                        <p:cTn id="53" dur="1000"/>
                                        <p:tgtEl>
                                          <p:spTgt spid="134"/>
                                        </p:tgtEl>
                                      </p:cBhvr>
                                    </p:animEffect>
                                  </p:childTnLst>
                                </p:cTn>
                              </p:par>
                              <p:par>
                                <p:cTn id="54" presetID="10" presetClass="entr" presetSubtype="0" fill="hold" nodeType="withEffect">
                                  <p:stCondLst>
                                    <p:cond delay="0"/>
                                  </p:stCondLst>
                                  <p:childTnLst>
                                    <p:set>
                                      <p:cBhvr>
                                        <p:cTn id="55" dur="1" fill="hold">
                                          <p:stCondLst>
                                            <p:cond delay="0"/>
                                          </p:stCondLst>
                                        </p:cTn>
                                        <p:tgtEl>
                                          <p:spTgt spid="137"/>
                                        </p:tgtEl>
                                        <p:attrNameLst>
                                          <p:attrName>style.visibility</p:attrName>
                                        </p:attrNameLst>
                                      </p:cBhvr>
                                      <p:to>
                                        <p:strVal val="visible"/>
                                      </p:to>
                                    </p:set>
                                    <p:animEffect transition="in" filter="fade">
                                      <p:cBhvr>
                                        <p:cTn id="56" dur="1000"/>
                                        <p:tgtEl>
                                          <p:spTgt spid="137"/>
                                        </p:tgtEl>
                                      </p:cBhvr>
                                    </p:animEffect>
                                  </p:childTnLst>
                                </p:cTn>
                              </p:par>
                              <p:par>
                                <p:cTn id="57" presetID="10" presetClass="entr" presetSubtype="0" fill="hold" nodeType="withEffect">
                                  <p:stCondLst>
                                    <p:cond delay="0"/>
                                  </p:stCondLst>
                                  <p:childTnLst>
                                    <p:set>
                                      <p:cBhvr>
                                        <p:cTn id="58" dur="1" fill="hold">
                                          <p:stCondLst>
                                            <p:cond delay="0"/>
                                          </p:stCondLst>
                                        </p:cTn>
                                        <p:tgtEl>
                                          <p:spTgt spid="118"/>
                                        </p:tgtEl>
                                        <p:attrNameLst>
                                          <p:attrName>style.visibility</p:attrName>
                                        </p:attrNameLst>
                                      </p:cBhvr>
                                      <p:to>
                                        <p:strVal val="visible"/>
                                      </p:to>
                                    </p:set>
                                    <p:animEffect transition="in" filter="fade">
                                      <p:cBhvr>
                                        <p:cTn id="59" dur="10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B594214-49DE-2D4C-6CD7-B6C072FFF83E}"/>
              </a:ext>
            </a:extLst>
          </p:cNvPr>
          <p:cNvSpPr txBox="1"/>
          <p:nvPr/>
        </p:nvSpPr>
        <p:spPr>
          <a:xfrm>
            <a:off x="5309287" y="994869"/>
            <a:ext cx="3735859" cy="4154984"/>
          </a:xfrm>
          <a:prstGeom prst="rect">
            <a:avLst/>
          </a:prstGeom>
          <a:noFill/>
        </p:spPr>
        <p:txBody>
          <a:bodyPr wrap="square">
            <a:spAutoFit/>
          </a:bodyPr>
          <a:lstStyle/>
          <a:p>
            <a:r>
              <a:rPr lang="en-US" sz="1100" dirty="0"/>
              <a:t>// Task: print to Serial Terminal with lower priority</a:t>
            </a:r>
          </a:p>
          <a:p>
            <a:r>
              <a:rPr lang="en-US" sz="1100" dirty="0"/>
              <a:t>void startTask1(void *parameter) {</a:t>
            </a:r>
          </a:p>
          <a:p>
            <a:endParaRPr lang="en-US" sz="1100" dirty="0"/>
          </a:p>
          <a:p>
            <a:r>
              <a:rPr lang="en-US" sz="1100" dirty="0"/>
              <a:t>  // Count number of characters in string</a:t>
            </a:r>
          </a:p>
          <a:p>
            <a:r>
              <a:rPr lang="en-US" sz="1100" dirty="0"/>
              <a:t>  int </a:t>
            </a:r>
            <a:r>
              <a:rPr lang="en-US" sz="1100" dirty="0" err="1"/>
              <a:t>msg_len</a:t>
            </a:r>
            <a:r>
              <a:rPr lang="en-US" sz="1100" dirty="0"/>
              <a:t> = </a:t>
            </a:r>
            <a:r>
              <a:rPr lang="en-US" sz="1100" dirty="0" err="1"/>
              <a:t>strlen</a:t>
            </a:r>
            <a:r>
              <a:rPr lang="en-US" sz="1100" dirty="0"/>
              <a:t>(msg);</a:t>
            </a:r>
          </a:p>
          <a:p>
            <a:endParaRPr lang="en-US" sz="1100" dirty="0"/>
          </a:p>
          <a:p>
            <a:r>
              <a:rPr lang="en-US" sz="1100" dirty="0"/>
              <a:t>  // Print string to Terminal</a:t>
            </a:r>
          </a:p>
          <a:p>
            <a:r>
              <a:rPr lang="en-US" sz="1100" dirty="0"/>
              <a:t>  while (1) {</a:t>
            </a:r>
          </a:p>
          <a:p>
            <a:r>
              <a:rPr lang="en-US" sz="1100" dirty="0"/>
              <a:t>    </a:t>
            </a:r>
            <a:r>
              <a:rPr lang="en-US" sz="1100" dirty="0" err="1"/>
              <a:t>Serial.println</a:t>
            </a:r>
            <a:r>
              <a:rPr lang="en-US" sz="1100" dirty="0"/>
              <a:t>();</a:t>
            </a:r>
          </a:p>
          <a:p>
            <a:r>
              <a:rPr lang="en-US" sz="1100" dirty="0"/>
              <a:t>    for (int </a:t>
            </a:r>
            <a:r>
              <a:rPr lang="en-US" sz="1100" dirty="0" err="1"/>
              <a:t>i</a:t>
            </a:r>
            <a:r>
              <a:rPr lang="en-US" sz="1100" dirty="0"/>
              <a:t> = 0; </a:t>
            </a:r>
            <a:r>
              <a:rPr lang="en-US" sz="1100" dirty="0" err="1"/>
              <a:t>i</a:t>
            </a:r>
            <a:r>
              <a:rPr lang="en-US" sz="1100" dirty="0"/>
              <a:t> &lt; </a:t>
            </a:r>
            <a:r>
              <a:rPr lang="en-US" sz="1100" dirty="0" err="1"/>
              <a:t>msg_len</a:t>
            </a:r>
            <a:r>
              <a:rPr lang="en-US" sz="1100" dirty="0"/>
              <a:t>; </a:t>
            </a:r>
            <a:r>
              <a:rPr lang="en-US" sz="1100" dirty="0" err="1"/>
              <a:t>i</a:t>
            </a:r>
            <a:r>
              <a:rPr lang="en-US" sz="1100" dirty="0"/>
              <a:t>++) {</a:t>
            </a:r>
          </a:p>
          <a:p>
            <a:r>
              <a:rPr lang="en-US" sz="1100" dirty="0"/>
              <a:t>      </a:t>
            </a:r>
            <a:r>
              <a:rPr lang="en-US" sz="1100" dirty="0" err="1"/>
              <a:t>Serial.print</a:t>
            </a:r>
            <a:r>
              <a:rPr lang="en-US" sz="1100" dirty="0"/>
              <a:t>(msg[</a:t>
            </a:r>
            <a:r>
              <a:rPr lang="en-US" sz="1100" dirty="0" err="1"/>
              <a:t>i</a:t>
            </a:r>
            <a:r>
              <a:rPr lang="en-US" sz="1100" dirty="0"/>
              <a:t>]);</a:t>
            </a:r>
          </a:p>
          <a:p>
            <a:r>
              <a:rPr lang="en-US" sz="1100" dirty="0"/>
              <a:t>    }</a:t>
            </a:r>
          </a:p>
          <a:p>
            <a:r>
              <a:rPr lang="en-US" sz="1100" dirty="0"/>
              <a:t>    </a:t>
            </a:r>
            <a:r>
              <a:rPr lang="en-US" sz="1100" dirty="0" err="1"/>
              <a:t>Serial.println</a:t>
            </a:r>
            <a:r>
              <a:rPr lang="en-US" sz="1100" dirty="0"/>
              <a:t>();</a:t>
            </a:r>
          </a:p>
          <a:p>
            <a:r>
              <a:rPr lang="en-US" sz="1100" dirty="0"/>
              <a:t>    </a:t>
            </a:r>
            <a:r>
              <a:rPr lang="en-US" sz="1100" dirty="0" err="1"/>
              <a:t>vTaskDelay</a:t>
            </a:r>
            <a:r>
              <a:rPr lang="en-US" sz="1100" dirty="0"/>
              <a:t>(1000 / </a:t>
            </a:r>
            <a:r>
              <a:rPr lang="en-US" sz="1100" dirty="0" err="1"/>
              <a:t>portTICK_PERIOD_MS</a:t>
            </a:r>
            <a:r>
              <a:rPr lang="en-US" sz="1100" dirty="0"/>
              <a:t>);</a:t>
            </a:r>
          </a:p>
          <a:p>
            <a:r>
              <a:rPr lang="en-US" sz="1100" dirty="0"/>
              <a:t>  }</a:t>
            </a:r>
          </a:p>
          <a:p>
            <a:r>
              <a:rPr lang="en-US" sz="1100" dirty="0"/>
              <a:t>}</a:t>
            </a:r>
          </a:p>
          <a:p>
            <a:endParaRPr lang="en-US" sz="1100" dirty="0"/>
          </a:p>
          <a:p>
            <a:r>
              <a:rPr lang="en-US" sz="1100" dirty="0"/>
              <a:t>// Task: print to Serial Terminal with higher priority</a:t>
            </a:r>
          </a:p>
          <a:p>
            <a:r>
              <a:rPr lang="en-US" sz="1100" dirty="0"/>
              <a:t>void startTask2(void *parameter) {</a:t>
            </a:r>
          </a:p>
          <a:p>
            <a:r>
              <a:rPr lang="en-US" sz="1100" dirty="0"/>
              <a:t>  while (1) {</a:t>
            </a:r>
          </a:p>
          <a:p>
            <a:r>
              <a:rPr lang="en-US" sz="1100" dirty="0"/>
              <a:t>    </a:t>
            </a:r>
            <a:r>
              <a:rPr lang="en-US" sz="1100" dirty="0" err="1"/>
              <a:t>Serial.print</a:t>
            </a:r>
            <a:r>
              <a:rPr lang="en-US" sz="1100" dirty="0"/>
              <a:t>('*');</a:t>
            </a:r>
          </a:p>
          <a:p>
            <a:r>
              <a:rPr lang="en-US" sz="1100" dirty="0"/>
              <a:t>    </a:t>
            </a:r>
            <a:r>
              <a:rPr lang="en-US" sz="1100" dirty="0" err="1"/>
              <a:t>vTaskDelay</a:t>
            </a:r>
            <a:r>
              <a:rPr lang="en-US" sz="1100" dirty="0"/>
              <a:t>(100 / </a:t>
            </a:r>
            <a:r>
              <a:rPr lang="en-US" sz="1100" dirty="0" err="1"/>
              <a:t>portTICK_PERIOD_MS</a:t>
            </a:r>
            <a:r>
              <a:rPr lang="en-US" sz="1100" dirty="0"/>
              <a:t>);</a:t>
            </a:r>
          </a:p>
          <a:p>
            <a:r>
              <a:rPr lang="en-US" sz="1100" dirty="0"/>
              <a:t>  }</a:t>
            </a:r>
          </a:p>
          <a:p>
            <a:r>
              <a:rPr lang="en-US" sz="1100" dirty="0"/>
              <a:t>}</a:t>
            </a:r>
          </a:p>
        </p:txBody>
      </p:sp>
      <p:sp>
        <p:nvSpPr>
          <p:cNvPr id="9" name="TextBox 8">
            <a:extLst>
              <a:ext uri="{FF2B5EF4-FFF2-40B4-BE49-F238E27FC236}">
                <a16:creationId xmlns:a16="http://schemas.microsoft.com/office/drawing/2014/main" id="{FD5969D6-3F70-86C2-2225-54B0E257DF7A}"/>
              </a:ext>
            </a:extLst>
          </p:cNvPr>
          <p:cNvSpPr txBox="1"/>
          <p:nvPr/>
        </p:nvSpPr>
        <p:spPr>
          <a:xfrm>
            <a:off x="358346" y="140777"/>
            <a:ext cx="4572000" cy="6717223"/>
          </a:xfrm>
          <a:prstGeom prst="rect">
            <a:avLst/>
          </a:prstGeom>
          <a:noFill/>
        </p:spPr>
        <p:txBody>
          <a:bodyPr wrap="square">
            <a:spAutoFit/>
          </a:bodyPr>
          <a:lstStyle/>
          <a:p>
            <a:r>
              <a:rPr lang="en-US" sz="1050" dirty="0"/>
              <a:t>void setup() </a:t>
            </a:r>
          </a:p>
          <a:p>
            <a:r>
              <a:rPr lang="en-US" sz="1050" dirty="0"/>
              <a:t>{</a:t>
            </a:r>
          </a:p>
          <a:p>
            <a:r>
              <a:rPr lang="en-US" sz="1050" dirty="0"/>
              <a:t>  </a:t>
            </a:r>
            <a:r>
              <a:rPr lang="en-US" sz="1050" dirty="0" err="1"/>
              <a:t>Serial.print</a:t>
            </a:r>
            <a:r>
              <a:rPr lang="en-US" sz="1050" dirty="0"/>
              <a:t>("task priority ");</a:t>
            </a:r>
          </a:p>
          <a:p>
            <a:r>
              <a:rPr lang="en-US" sz="1050" dirty="0"/>
              <a:t>  </a:t>
            </a:r>
            <a:r>
              <a:rPr lang="en-US" sz="1050" dirty="0" err="1"/>
              <a:t>Serial.println</a:t>
            </a:r>
            <a:r>
              <a:rPr lang="en-US" sz="1050" dirty="0"/>
              <a:t>(</a:t>
            </a:r>
            <a:r>
              <a:rPr lang="en-US" sz="1050" dirty="0" err="1"/>
              <a:t>uxTaskPriorityGet</a:t>
            </a:r>
            <a:r>
              <a:rPr lang="en-US" sz="1050" dirty="0"/>
              <a:t>(NULL));</a:t>
            </a:r>
          </a:p>
          <a:p>
            <a:endParaRPr lang="en-US" sz="1050" dirty="0"/>
          </a:p>
          <a:p>
            <a:r>
              <a:rPr lang="en-US" sz="1050" dirty="0"/>
              <a:t> // Task to run forever</a:t>
            </a:r>
          </a:p>
          <a:p>
            <a:r>
              <a:rPr lang="en-US" sz="1050" dirty="0"/>
              <a:t>  </a:t>
            </a:r>
            <a:r>
              <a:rPr lang="en-US" sz="1050" dirty="0" err="1"/>
              <a:t>xTaskCreatePinnedToCore</a:t>
            </a:r>
            <a:r>
              <a:rPr lang="en-US" sz="1050" dirty="0"/>
              <a:t>(startTask1,</a:t>
            </a:r>
          </a:p>
          <a:p>
            <a:r>
              <a:rPr lang="en-US" sz="1050" dirty="0"/>
              <a:t>                          "Task 1",</a:t>
            </a:r>
          </a:p>
          <a:p>
            <a:r>
              <a:rPr lang="en-US" sz="1050" dirty="0"/>
              <a:t>                          1024,</a:t>
            </a:r>
          </a:p>
          <a:p>
            <a:r>
              <a:rPr lang="en-US" sz="1050" dirty="0"/>
              <a:t>                          NULL,</a:t>
            </a:r>
          </a:p>
          <a:p>
            <a:r>
              <a:rPr lang="en-US" sz="1050" dirty="0"/>
              <a:t>                          1,</a:t>
            </a:r>
          </a:p>
          <a:p>
            <a:r>
              <a:rPr lang="en-US" sz="1050" dirty="0"/>
              <a:t>                          &amp;task_1,</a:t>
            </a:r>
          </a:p>
          <a:p>
            <a:r>
              <a:rPr lang="en-US" sz="1050" dirty="0"/>
              <a:t>                          </a:t>
            </a:r>
            <a:r>
              <a:rPr lang="en-US" sz="1050" dirty="0" err="1"/>
              <a:t>app_cpu</a:t>
            </a:r>
            <a:r>
              <a:rPr lang="en-US" sz="1050" dirty="0"/>
              <a:t>);</a:t>
            </a:r>
          </a:p>
          <a:p>
            <a:endParaRPr lang="en-US" sz="1050" dirty="0"/>
          </a:p>
          <a:p>
            <a:r>
              <a:rPr lang="en-US" sz="1050" dirty="0"/>
              <a:t>  // Task to run once with higher priority</a:t>
            </a:r>
          </a:p>
          <a:p>
            <a:r>
              <a:rPr lang="en-US" sz="1050" dirty="0"/>
              <a:t>  </a:t>
            </a:r>
            <a:r>
              <a:rPr lang="en-US" sz="1050" dirty="0" err="1"/>
              <a:t>xTaskCreatePinnedToCore</a:t>
            </a:r>
            <a:r>
              <a:rPr lang="en-US" sz="1050" dirty="0"/>
              <a:t>(startTask2,</a:t>
            </a:r>
          </a:p>
          <a:p>
            <a:r>
              <a:rPr lang="en-US" sz="1050" dirty="0"/>
              <a:t>                          "Task 2",</a:t>
            </a:r>
          </a:p>
          <a:p>
            <a:r>
              <a:rPr lang="en-US" sz="1050" dirty="0"/>
              <a:t>                          1024,</a:t>
            </a:r>
          </a:p>
          <a:p>
            <a:r>
              <a:rPr lang="en-US" sz="1050" dirty="0"/>
              <a:t>                          NULL,</a:t>
            </a:r>
          </a:p>
          <a:p>
            <a:r>
              <a:rPr lang="en-US" sz="1050" dirty="0"/>
              <a:t>                          2,</a:t>
            </a:r>
          </a:p>
          <a:p>
            <a:r>
              <a:rPr lang="en-US" sz="1050" dirty="0"/>
              <a:t>                          &amp;task_2,</a:t>
            </a:r>
          </a:p>
          <a:p>
            <a:r>
              <a:rPr lang="en-US" sz="1050" dirty="0"/>
              <a:t>                          </a:t>
            </a:r>
            <a:r>
              <a:rPr lang="en-US" sz="1050" dirty="0" err="1"/>
              <a:t>app_cpu</a:t>
            </a:r>
            <a:r>
              <a:rPr lang="en-US" sz="1050" dirty="0"/>
              <a:t>);</a:t>
            </a:r>
          </a:p>
          <a:p>
            <a:r>
              <a:rPr lang="en-US" sz="1050" dirty="0"/>
              <a:t>						  </a:t>
            </a:r>
          </a:p>
          <a:p>
            <a:r>
              <a:rPr lang="en-US" sz="1050" dirty="0"/>
              <a:t>						  </a:t>
            </a:r>
          </a:p>
          <a:p>
            <a:r>
              <a:rPr lang="en-US" sz="1050" dirty="0"/>
              <a:t>	while(1)</a:t>
            </a:r>
          </a:p>
          <a:p>
            <a:r>
              <a:rPr lang="en-US" sz="1050" dirty="0"/>
              <a:t>	{							 </a:t>
            </a:r>
          </a:p>
          <a:p>
            <a:r>
              <a:rPr lang="en-US" sz="1050" dirty="0"/>
              <a:t>	  // Suspend the higher priority task for some intervals</a:t>
            </a:r>
          </a:p>
          <a:p>
            <a:r>
              <a:rPr lang="en-US" sz="1050" dirty="0"/>
              <a:t>	  for (int </a:t>
            </a:r>
            <a:r>
              <a:rPr lang="en-US" sz="1050" dirty="0" err="1"/>
              <a:t>i</a:t>
            </a:r>
            <a:r>
              <a:rPr lang="en-US" sz="1050" dirty="0"/>
              <a:t> = 0; </a:t>
            </a:r>
            <a:r>
              <a:rPr lang="en-US" sz="1050" dirty="0" err="1"/>
              <a:t>i</a:t>
            </a:r>
            <a:r>
              <a:rPr lang="en-US" sz="1050" dirty="0"/>
              <a:t> &lt; 3; </a:t>
            </a:r>
            <a:r>
              <a:rPr lang="en-US" sz="1050" dirty="0" err="1"/>
              <a:t>i</a:t>
            </a:r>
            <a:r>
              <a:rPr lang="en-US" sz="1050" dirty="0"/>
              <a:t>++) {</a:t>
            </a:r>
          </a:p>
          <a:p>
            <a:r>
              <a:rPr lang="en-US" sz="1050" dirty="0"/>
              <a:t>		</a:t>
            </a:r>
            <a:r>
              <a:rPr lang="en-US" sz="1050" dirty="0" err="1"/>
              <a:t>vTaskSuspend</a:t>
            </a:r>
            <a:r>
              <a:rPr lang="en-US" sz="1050" dirty="0"/>
              <a:t>(task_2);</a:t>
            </a:r>
          </a:p>
          <a:p>
            <a:r>
              <a:rPr lang="en-US" sz="1050" dirty="0"/>
              <a:t>		</a:t>
            </a:r>
            <a:r>
              <a:rPr lang="en-US" sz="1050" dirty="0" err="1"/>
              <a:t>vTaskDelay</a:t>
            </a:r>
            <a:r>
              <a:rPr lang="en-US" sz="1050" dirty="0"/>
              <a:t>(2000 / </a:t>
            </a:r>
            <a:r>
              <a:rPr lang="en-US" sz="1050" dirty="0" err="1"/>
              <a:t>portTICK_PERIOD_MS</a:t>
            </a:r>
            <a:r>
              <a:rPr lang="en-US" sz="1050" dirty="0"/>
              <a:t>);</a:t>
            </a:r>
          </a:p>
          <a:p>
            <a:r>
              <a:rPr lang="en-US" sz="1050" dirty="0"/>
              <a:t>		</a:t>
            </a:r>
            <a:r>
              <a:rPr lang="en-US" sz="1050" dirty="0" err="1"/>
              <a:t>vTaskResume</a:t>
            </a:r>
            <a:r>
              <a:rPr lang="en-US" sz="1050" dirty="0"/>
              <a:t>(task_2);</a:t>
            </a:r>
          </a:p>
          <a:p>
            <a:r>
              <a:rPr lang="en-US" sz="1050" dirty="0"/>
              <a:t>		</a:t>
            </a:r>
            <a:r>
              <a:rPr lang="en-US" sz="1050" dirty="0" err="1"/>
              <a:t>vTaskDelay</a:t>
            </a:r>
            <a:r>
              <a:rPr lang="en-US" sz="1050" dirty="0"/>
              <a:t>(2000 / </a:t>
            </a:r>
            <a:r>
              <a:rPr lang="en-US" sz="1050" dirty="0" err="1"/>
              <a:t>portTICK_PERIOD_MS</a:t>
            </a:r>
            <a:r>
              <a:rPr lang="en-US" sz="1050" dirty="0"/>
              <a:t>);</a:t>
            </a:r>
          </a:p>
          <a:p>
            <a:r>
              <a:rPr lang="en-US" sz="1050" dirty="0"/>
              <a:t>	  }</a:t>
            </a:r>
          </a:p>
          <a:p>
            <a:endParaRPr lang="en-US" sz="1050" dirty="0"/>
          </a:p>
          <a:p>
            <a:r>
              <a:rPr lang="en-US" sz="1050" dirty="0"/>
              <a:t>	  // Delete the lower priority task</a:t>
            </a:r>
          </a:p>
          <a:p>
            <a:r>
              <a:rPr lang="en-US" sz="1050" dirty="0"/>
              <a:t>	  if (task_1 != NULL) {</a:t>
            </a:r>
          </a:p>
          <a:p>
            <a:r>
              <a:rPr lang="en-US" sz="1050" dirty="0"/>
              <a:t>		</a:t>
            </a:r>
            <a:r>
              <a:rPr lang="en-US" sz="1050" dirty="0" err="1"/>
              <a:t>vTaskDelete</a:t>
            </a:r>
            <a:r>
              <a:rPr lang="en-US" sz="1050" dirty="0"/>
              <a:t>(task_1);</a:t>
            </a:r>
          </a:p>
          <a:p>
            <a:r>
              <a:rPr lang="en-US" sz="1050" dirty="0"/>
              <a:t>		task_1 = NULL;</a:t>
            </a:r>
          </a:p>
          <a:p>
            <a:r>
              <a:rPr lang="en-US" sz="1050" dirty="0"/>
              <a:t>	  }</a:t>
            </a:r>
          </a:p>
          <a:p>
            <a:r>
              <a:rPr lang="en-US" sz="1050" dirty="0"/>
              <a:t>	}</a:t>
            </a:r>
          </a:p>
          <a:p>
            <a:r>
              <a:rPr lang="en-US" sz="1050" dirty="0"/>
              <a:t>}</a:t>
            </a:r>
          </a:p>
        </p:txBody>
      </p:sp>
    </p:spTree>
    <p:extLst>
      <p:ext uri="{BB962C8B-B14F-4D97-AF65-F5344CB8AC3E}">
        <p14:creationId xmlns:p14="http://schemas.microsoft.com/office/powerpoint/2010/main" val="202473071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3B9BE-5842-F438-E78A-4AF5AB78EB94}"/>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396EC01-3D1D-2BBE-2B64-097F0271F22E}"/>
              </a:ext>
            </a:extLst>
          </p:cNvPr>
          <p:cNvSpPr txBox="1"/>
          <p:nvPr/>
        </p:nvSpPr>
        <p:spPr>
          <a:xfrm>
            <a:off x="358346" y="140777"/>
            <a:ext cx="4572000" cy="9479518"/>
          </a:xfrm>
          <a:prstGeom prst="rect">
            <a:avLst/>
          </a:prstGeom>
          <a:noFill/>
        </p:spPr>
        <p:txBody>
          <a:bodyPr wrap="square">
            <a:spAutoFit/>
          </a:bodyPr>
          <a:lstStyle/>
          <a:p>
            <a:r>
              <a:rPr lang="en-US" sz="500" dirty="0"/>
              <a:t>/**</a:t>
            </a:r>
          </a:p>
          <a:p>
            <a:r>
              <a:rPr lang="en-US" sz="500" dirty="0"/>
              <a:t> * Solution to 03 - LED Challenge</a:t>
            </a:r>
          </a:p>
          <a:p>
            <a:r>
              <a:rPr lang="en-US" sz="500" dirty="0"/>
              <a:t> * </a:t>
            </a:r>
          </a:p>
          <a:p>
            <a:r>
              <a:rPr lang="en-US" sz="500" dirty="0"/>
              <a:t> * One task flashes an LED at a rate specified by a value set in another task.</a:t>
            </a:r>
          </a:p>
          <a:p>
            <a:r>
              <a:rPr lang="en-US" sz="500" dirty="0"/>
              <a:t> * </a:t>
            </a:r>
          </a:p>
          <a:p>
            <a:r>
              <a:rPr lang="en-US" sz="500" dirty="0"/>
              <a:t> * Date: December 4, 2020</a:t>
            </a:r>
          </a:p>
          <a:p>
            <a:r>
              <a:rPr lang="en-US" sz="500" dirty="0"/>
              <a:t> * Author: Shawn Hymel</a:t>
            </a:r>
          </a:p>
          <a:p>
            <a:r>
              <a:rPr lang="en-US" sz="500" dirty="0"/>
              <a:t> * License: 0BSD</a:t>
            </a:r>
          </a:p>
          <a:p>
            <a:r>
              <a:rPr lang="en-US" sz="500" dirty="0"/>
              <a:t> */</a:t>
            </a:r>
          </a:p>
          <a:p>
            <a:endParaRPr lang="en-US" sz="500" dirty="0"/>
          </a:p>
          <a:p>
            <a:r>
              <a:rPr lang="en-US" sz="500" dirty="0"/>
              <a:t>// Needed for </a:t>
            </a:r>
            <a:r>
              <a:rPr lang="en-US" sz="500" dirty="0" err="1"/>
              <a:t>atoi</a:t>
            </a:r>
            <a:r>
              <a:rPr lang="en-US" sz="500" dirty="0"/>
              <a:t>()</a:t>
            </a:r>
          </a:p>
          <a:p>
            <a:r>
              <a:rPr lang="en-US" sz="500" dirty="0"/>
              <a:t>#include &lt;</a:t>
            </a:r>
            <a:r>
              <a:rPr lang="en-US" sz="500" dirty="0" err="1"/>
              <a:t>stdlib.h</a:t>
            </a:r>
            <a:r>
              <a:rPr lang="en-US" sz="500" dirty="0"/>
              <a:t>&gt;</a:t>
            </a:r>
          </a:p>
          <a:p>
            <a:endParaRPr lang="en-US" sz="500" dirty="0"/>
          </a:p>
          <a:p>
            <a:r>
              <a:rPr lang="en-US" sz="500" dirty="0"/>
              <a:t>// Use only core 1 for demo purposes</a:t>
            </a:r>
          </a:p>
          <a:p>
            <a:r>
              <a:rPr lang="en-US" sz="500" dirty="0"/>
              <a:t>#if CONFIG_FREERTOS_UNICORE</a:t>
            </a:r>
          </a:p>
          <a:p>
            <a:r>
              <a:rPr lang="en-US" sz="500" dirty="0"/>
              <a:t>  static const </a:t>
            </a:r>
            <a:r>
              <a:rPr lang="en-US" sz="500" dirty="0" err="1"/>
              <a:t>BaseType_t</a:t>
            </a:r>
            <a:r>
              <a:rPr lang="en-US" sz="500" dirty="0"/>
              <a:t> </a:t>
            </a:r>
            <a:r>
              <a:rPr lang="en-US" sz="500" dirty="0" err="1"/>
              <a:t>app_cpu</a:t>
            </a:r>
            <a:r>
              <a:rPr lang="en-US" sz="500" dirty="0"/>
              <a:t> = 0;</a:t>
            </a:r>
          </a:p>
          <a:p>
            <a:r>
              <a:rPr lang="en-US" sz="500" dirty="0"/>
              <a:t>#else</a:t>
            </a:r>
          </a:p>
          <a:p>
            <a:r>
              <a:rPr lang="en-US" sz="500" dirty="0"/>
              <a:t>  static const </a:t>
            </a:r>
            <a:r>
              <a:rPr lang="en-US" sz="500" dirty="0" err="1"/>
              <a:t>BaseType_t</a:t>
            </a:r>
            <a:r>
              <a:rPr lang="en-US" sz="500" dirty="0"/>
              <a:t> </a:t>
            </a:r>
            <a:r>
              <a:rPr lang="en-US" sz="500" dirty="0" err="1"/>
              <a:t>app_cpu</a:t>
            </a:r>
            <a:r>
              <a:rPr lang="en-US" sz="500" dirty="0"/>
              <a:t> = 1;</a:t>
            </a:r>
          </a:p>
          <a:p>
            <a:r>
              <a:rPr lang="en-US" sz="500" dirty="0"/>
              <a:t>#endif</a:t>
            </a:r>
          </a:p>
          <a:p>
            <a:endParaRPr lang="en-US" sz="500" dirty="0"/>
          </a:p>
          <a:p>
            <a:r>
              <a:rPr lang="en-US" sz="500" dirty="0"/>
              <a:t>// Settings</a:t>
            </a:r>
          </a:p>
          <a:p>
            <a:r>
              <a:rPr lang="en-US" sz="500" dirty="0"/>
              <a:t>static const uint8_t </a:t>
            </a:r>
            <a:r>
              <a:rPr lang="en-US" sz="500" dirty="0" err="1"/>
              <a:t>buf_len</a:t>
            </a:r>
            <a:r>
              <a:rPr lang="en-US" sz="500" dirty="0"/>
              <a:t> = 20;</a:t>
            </a:r>
          </a:p>
          <a:p>
            <a:endParaRPr lang="en-US" sz="500" dirty="0"/>
          </a:p>
          <a:p>
            <a:r>
              <a:rPr lang="en-US" sz="500" dirty="0"/>
              <a:t>// Pins</a:t>
            </a:r>
          </a:p>
          <a:p>
            <a:r>
              <a:rPr lang="en-US" sz="500" dirty="0"/>
              <a:t>static const int </a:t>
            </a:r>
            <a:r>
              <a:rPr lang="en-US" sz="500" dirty="0" err="1"/>
              <a:t>led_pin</a:t>
            </a:r>
            <a:r>
              <a:rPr lang="en-US" sz="500" dirty="0"/>
              <a:t> = LED_BUILTIN;</a:t>
            </a:r>
          </a:p>
          <a:p>
            <a:endParaRPr lang="en-US" sz="500" dirty="0"/>
          </a:p>
          <a:p>
            <a:r>
              <a:rPr lang="en-US" sz="500" dirty="0"/>
              <a:t>// </a:t>
            </a:r>
            <a:r>
              <a:rPr lang="en-US" sz="500" dirty="0" err="1"/>
              <a:t>Globals</a:t>
            </a:r>
            <a:endParaRPr lang="en-US" sz="500" dirty="0"/>
          </a:p>
          <a:p>
            <a:r>
              <a:rPr lang="en-US" sz="500" dirty="0"/>
              <a:t>static int </a:t>
            </a:r>
            <a:r>
              <a:rPr lang="en-US" sz="500" dirty="0" err="1"/>
              <a:t>led_delay</a:t>
            </a:r>
            <a:r>
              <a:rPr lang="en-US" sz="500" dirty="0"/>
              <a:t> = 500;   // </a:t>
            </a:r>
            <a:r>
              <a:rPr lang="en-US" sz="500" dirty="0" err="1"/>
              <a:t>ms</a:t>
            </a:r>
            <a:endParaRPr lang="en-US" sz="500" dirty="0"/>
          </a:p>
          <a:p>
            <a:endParaRPr lang="en-US" sz="500" dirty="0"/>
          </a:p>
          <a:p>
            <a:r>
              <a:rPr lang="en-US" sz="500" dirty="0"/>
              <a:t>//*****************************************************************************</a:t>
            </a:r>
          </a:p>
          <a:p>
            <a:r>
              <a:rPr lang="en-US" sz="500" dirty="0"/>
              <a:t>// Tasks</a:t>
            </a:r>
          </a:p>
          <a:p>
            <a:endParaRPr lang="en-US" sz="500" dirty="0"/>
          </a:p>
          <a:p>
            <a:r>
              <a:rPr lang="en-US" sz="500" dirty="0"/>
              <a:t>// Task: Blink LED at rate set by global variable</a:t>
            </a:r>
          </a:p>
          <a:p>
            <a:r>
              <a:rPr lang="en-US" sz="500" dirty="0"/>
              <a:t>void </a:t>
            </a:r>
            <a:r>
              <a:rPr lang="en-US" sz="500" dirty="0" err="1"/>
              <a:t>toggleLED</a:t>
            </a:r>
            <a:r>
              <a:rPr lang="en-US" sz="500" dirty="0"/>
              <a:t>(void *parameter) {</a:t>
            </a:r>
          </a:p>
          <a:p>
            <a:r>
              <a:rPr lang="en-US" sz="500" dirty="0"/>
              <a:t>  while (1) {</a:t>
            </a:r>
          </a:p>
          <a:p>
            <a:r>
              <a:rPr lang="en-US" sz="500" dirty="0"/>
              <a:t>    </a:t>
            </a:r>
            <a:r>
              <a:rPr lang="en-US" sz="500" dirty="0" err="1"/>
              <a:t>digitalWrite</a:t>
            </a:r>
            <a:r>
              <a:rPr lang="en-US" sz="500" dirty="0"/>
              <a:t>(</a:t>
            </a:r>
            <a:r>
              <a:rPr lang="en-US" sz="500" dirty="0" err="1"/>
              <a:t>led_pin</a:t>
            </a:r>
            <a:r>
              <a:rPr lang="en-US" sz="500" dirty="0"/>
              <a:t>, HIGH);</a:t>
            </a:r>
          </a:p>
          <a:p>
            <a:r>
              <a:rPr lang="en-US" sz="500" dirty="0"/>
              <a:t>    </a:t>
            </a:r>
            <a:r>
              <a:rPr lang="en-US" sz="500" dirty="0" err="1"/>
              <a:t>vTaskDelay</a:t>
            </a:r>
            <a:r>
              <a:rPr lang="en-US" sz="500" dirty="0"/>
              <a:t>(</a:t>
            </a:r>
            <a:r>
              <a:rPr lang="en-US" sz="500" dirty="0" err="1"/>
              <a:t>led_delay</a:t>
            </a:r>
            <a:r>
              <a:rPr lang="en-US" sz="500" dirty="0"/>
              <a:t> / </a:t>
            </a:r>
            <a:r>
              <a:rPr lang="en-US" sz="500" dirty="0" err="1"/>
              <a:t>portTICK_PERIOD_MS</a:t>
            </a:r>
            <a:r>
              <a:rPr lang="en-US" sz="500" dirty="0"/>
              <a:t>);</a:t>
            </a:r>
          </a:p>
          <a:p>
            <a:r>
              <a:rPr lang="en-US" sz="500" dirty="0"/>
              <a:t>    </a:t>
            </a:r>
            <a:r>
              <a:rPr lang="en-US" sz="500" dirty="0" err="1"/>
              <a:t>digitalWrite</a:t>
            </a:r>
            <a:r>
              <a:rPr lang="en-US" sz="500" dirty="0"/>
              <a:t>(</a:t>
            </a:r>
            <a:r>
              <a:rPr lang="en-US" sz="500" dirty="0" err="1"/>
              <a:t>led_pin</a:t>
            </a:r>
            <a:r>
              <a:rPr lang="en-US" sz="500" dirty="0"/>
              <a:t>, LOW);</a:t>
            </a:r>
          </a:p>
          <a:p>
            <a:r>
              <a:rPr lang="en-US" sz="500" dirty="0"/>
              <a:t>    </a:t>
            </a:r>
            <a:r>
              <a:rPr lang="en-US" sz="500" dirty="0" err="1"/>
              <a:t>vTaskDelay</a:t>
            </a:r>
            <a:r>
              <a:rPr lang="en-US" sz="500" dirty="0"/>
              <a:t>(</a:t>
            </a:r>
            <a:r>
              <a:rPr lang="en-US" sz="500" dirty="0" err="1"/>
              <a:t>led_delay</a:t>
            </a:r>
            <a:r>
              <a:rPr lang="en-US" sz="500" dirty="0"/>
              <a:t> / </a:t>
            </a:r>
            <a:r>
              <a:rPr lang="en-US" sz="500" dirty="0" err="1"/>
              <a:t>portTICK_PERIOD_MS</a:t>
            </a:r>
            <a:r>
              <a:rPr lang="en-US" sz="500" dirty="0"/>
              <a:t>);</a:t>
            </a:r>
          </a:p>
          <a:p>
            <a:r>
              <a:rPr lang="en-US" sz="500" dirty="0"/>
              <a:t>  }</a:t>
            </a:r>
          </a:p>
          <a:p>
            <a:r>
              <a:rPr lang="en-US" sz="500" dirty="0"/>
              <a:t>}</a:t>
            </a:r>
          </a:p>
          <a:p>
            <a:endParaRPr lang="en-US" sz="500" dirty="0"/>
          </a:p>
          <a:p>
            <a:r>
              <a:rPr lang="en-US" sz="500" dirty="0"/>
              <a:t>// Task: Read from serial terminal</a:t>
            </a:r>
          </a:p>
          <a:p>
            <a:r>
              <a:rPr lang="en-US" sz="500" dirty="0"/>
              <a:t>// Feel free to use </a:t>
            </a:r>
            <a:r>
              <a:rPr lang="en-US" sz="500" dirty="0" err="1"/>
              <a:t>Serial.readString</a:t>
            </a:r>
            <a:r>
              <a:rPr lang="en-US" sz="500" dirty="0"/>
              <a:t>() or </a:t>
            </a:r>
            <a:r>
              <a:rPr lang="en-US" sz="500" dirty="0" err="1"/>
              <a:t>Serial.parseInt</a:t>
            </a:r>
            <a:r>
              <a:rPr lang="en-US" sz="500" dirty="0"/>
              <a:t>(). I'm going to show</a:t>
            </a:r>
          </a:p>
          <a:p>
            <a:r>
              <a:rPr lang="en-US" sz="500" dirty="0"/>
              <a:t>// it with </a:t>
            </a:r>
            <a:r>
              <a:rPr lang="en-US" sz="500" dirty="0" err="1"/>
              <a:t>atoi</a:t>
            </a:r>
            <a:r>
              <a:rPr lang="en-US" sz="500" dirty="0"/>
              <a:t>() in case you're doing this in a non-Arduino environment. You'd</a:t>
            </a:r>
          </a:p>
          <a:p>
            <a:r>
              <a:rPr lang="en-US" sz="500" dirty="0"/>
              <a:t>// also need to replace Serial with your own UART code for non-Arduino.</a:t>
            </a:r>
          </a:p>
          <a:p>
            <a:r>
              <a:rPr lang="en-US" sz="500" dirty="0"/>
              <a:t>void </a:t>
            </a:r>
            <a:r>
              <a:rPr lang="en-US" sz="500" dirty="0" err="1"/>
              <a:t>readSerial</a:t>
            </a:r>
            <a:r>
              <a:rPr lang="en-US" sz="500" dirty="0"/>
              <a:t>(void *parameters) {</a:t>
            </a:r>
          </a:p>
          <a:p>
            <a:endParaRPr lang="en-US" sz="500" dirty="0"/>
          </a:p>
          <a:p>
            <a:r>
              <a:rPr lang="en-US" sz="500" dirty="0"/>
              <a:t>  char c;</a:t>
            </a:r>
          </a:p>
          <a:p>
            <a:r>
              <a:rPr lang="en-US" sz="500" dirty="0"/>
              <a:t>  char </a:t>
            </a:r>
            <a:r>
              <a:rPr lang="en-US" sz="500" dirty="0" err="1"/>
              <a:t>buf</a:t>
            </a:r>
            <a:r>
              <a:rPr lang="en-US" sz="500" dirty="0"/>
              <a:t>[</a:t>
            </a:r>
            <a:r>
              <a:rPr lang="en-US" sz="500" dirty="0" err="1"/>
              <a:t>buf_len</a:t>
            </a:r>
            <a:r>
              <a:rPr lang="en-US" sz="500" dirty="0"/>
              <a:t>];</a:t>
            </a:r>
          </a:p>
          <a:p>
            <a:r>
              <a:rPr lang="en-US" sz="500" dirty="0"/>
              <a:t>  uint8_t </a:t>
            </a:r>
            <a:r>
              <a:rPr lang="en-US" sz="500" dirty="0" err="1"/>
              <a:t>idx</a:t>
            </a:r>
            <a:r>
              <a:rPr lang="en-US" sz="500" dirty="0"/>
              <a:t> = 0;</a:t>
            </a:r>
          </a:p>
          <a:p>
            <a:endParaRPr lang="en-US" sz="500" dirty="0"/>
          </a:p>
          <a:p>
            <a:r>
              <a:rPr lang="en-US" sz="500" dirty="0"/>
              <a:t>  // Clear whole buffer</a:t>
            </a:r>
          </a:p>
          <a:p>
            <a:r>
              <a:rPr lang="en-US" sz="500" dirty="0"/>
              <a:t>  </a:t>
            </a:r>
            <a:r>
              <a:rPr lang="en-US" sz="500" dirty="0" err="1"/>
              <a:t>memset</a:t>
            </a:r>
            <a:r>
              <a:rPr lang="en-US" sz="500" dirty="0"/>
              <a:t>(</a:t>
            </a:r>
            <a:r>
              <a:rPr lang="en-US" sz="500" dirty="0" err="1"/>
              <a:t>buf</a:t>
            </a:r>
            <a:r>
              <a:rPr lang="en-US" sz="500" dirty="0"/>
              <a:t>, 0, </a:t>
            </a:r>
            <a:r>
              <a:rPr lang="en-US" sz="500" dirty="0" err="1"/>
              <a:t>buf_len</a:t>
            </a:r>
            <a:r>
              <a:rPr lang="en-US" sz="500" dirty="0"/>
              <a:t>);</a:t>
            </a:r>
          </a:p>
          <a:p>
            <a:endParaRPr lang="en-US" sz="500" dirty="0"/>
          </a:p>
          <a:p>
            <a:r>
              <a:rPr lang="en-US" sz="500" dirty="0"/>
              <a:t>  // Loop forever</a:t>
            </a:r>
          </a:p>
          <a:p>
            <a:r>
              <a:rPr lang="en-US" sz="500" dirty="0"/>
              <a:t>  while (1) {</a:t>
            </a:r>
          </a:p>
          <a:p>
            <a:endParaRPr lang="en-US" sz="500" dirty="0"/>
          </a:p>
          <a:p>
            <a:r>
              <a:rPr lang="en-US" sz="500" dirty="0"/>
              <a:t>    // Read characters from serial</a:t>
            </a:r>
          </a:p>
          <a:p>
            <a:r>
              <a:rPr lang="en-US" sz="500" dirty="0"/>
              <a:t>    if (</a:t>
            </a:r>
            <a:r>
              <a:rPr lang="en-US" sz="500" dirty="0" err="1"/>
              <a:t>Serial.available</a:t>
            </a:r>
            <a:r>
              <a:rPr lang="en-US" sz="500" dirty="0"/>
              <a:t>() &gt; 0) {</a:t>
            </a:r>
          </a:p>
          <a:p>
            <a:r>
              <a:rPr lang="en-US" sz="500" dirty="0"/>
              <a:t>      c = </a:t>
            </a:r>
            <a:r>
              <a:rPr lang="en-US" sz="500" dirty="0" err="1"/>
              <a:t>Serial.read</a:t>
            </a:r>
            <a:r>
              <a:rPr lang="en-US" sz="500" dirty="0"/>
              <a:t>();</a:t>
            </a:r>
          </a:p>
          <a:p>
            <a:endParaRPr lang="en-US" sz="500" dirty="0"/>
          </a:p>
          <a:p>
            <a:r>
              <a:rPr lang="en-US" sz="500" dirty="0"/>
              <a:t>      // Update delay variable and reset buffer if we get a newline character</a:t>
            </a:r>
          </a:p>
          <a:p>
            <a:r>
              <a:rPr lang="en-US" sz="500" dirty="0"/>
              <a:t>      if (c == '\n') {</a:t>
            </a:r>
          </a:p>
          <a:p>
            <a:r>
              <a:rPr lang="en-US" sz="500" dirty="0"/>
              <a:t>        </a:t>
            </a:r>
            <a:r>
              <a:rPr lang="en-US" sz="500" dirty="0" err="1"/>
              <a:t>led_delay</a:t>
            </a:r>
            <a:r>
              <a:rPr lang="en-US" sz="500" dirty="0"/>
              <a:t> = </a:t>
            </a:r>
            <a:r>
              <a:rPr lang="en-US" sz="500" dirty="0" err="1"/>
              <a:t>atoi</a:t>
            </a:r>
            <a:r>
              <a:rPr lang="en-US" sz="500" dirty="0"/>
              <a:t>(</a:t>
            </a:r>
            <a:r>
              <a:rPr lang="en-US" sz="500" dirty="0" err="1"/>
              <a:t>buf</a:t>
            </a:r>
            <a:r>
              <a:rPr lang="en-US" sz="500" dirty="0"/>
              <a:t>);</a:t>
            </a:r>
          </a:p>
          <a:p>
            <a:r>
              <a:rPr lang="en-US" sz="500" dirty="0"/>
              <a:t>        </a:t>
            </a:r>
            <a:r>
              <a:rPr lang="en-US" sz="500" dirty="0" err="1"/>
              <a:t>Serial.print</a:t>
            </a:r>
            <a:r>
              <a:rPr lang="en-US" sz="500" dirty="0"/>
              <a:t>("Updated LED delay to: ");</a:t>
            </a:r>
          </a:p>
          <a:p>
            <a:r>
              <a:rPr lang="en-US" sz="500" dirty="0"/>
              <a:t>        </a:t>
            </a:r>
            <a:r>
              <a:rPr lang="en-US" sz="500" dirty="0" err="1"/>
              <a:t>Serial.println</a:t>
            </a:r>
            <a:r>
              <a:rPr lang="en-US" sz="500" dirty="0"/>
              <a:t>(</a:t>
            </a:r>
            <a:r>
              <a:rPr lang="en-US" sz="500" dirty="0" err="1"/>
              <a:t>led_delay</a:t>
            </a:r>
            <a:r>
              <a:rPr lang="en-US" sz="500" dirty="0"/>
              <a:t>);</a:t>
            </a:r>
          </a:p>
          <a:p>
            <a:r>
              <a:rPr lang="en-US" sz="500" dirty="0"/>
              <a:t>        </a:t>
            </a:r>
            <a:r>
              <a:rPr lang="en-US" sz="500" dirty="0" err="1"/>
              <a:t>memset</a:t>
            </a:r>
            <a:r>
              <a:rPr lang="en-US" sz="500" dirty="0"/>
              <a:t>(</a:t>
            </a:r>
            <a:r>
              <a:rPr lang="en-US" sz="500" dirty="0" err="1"/>
              <a:t>buf</a:t>
            </a:r>
            <a:r>
              <a:rPr lang="en-US" sz="500" dirty="0"/>
              <a:t>, 0, </a:t>
            </a:r>
            <a:r>
              <a:rPr lang="en-US" sz="500" dirty="0" err="1"/>
              <a:t>buf_len</a:t>
            </a:r>
            <a:r>
              <a:rPr lang="en-US" sz="500" dirty="0"/>
              <a:t>);</a:t>
            </a:r>
          </a:p>
          <a:p>
            <a:r>
              <a:rPr lang="en-US" sz="500" dirty="0"/>
              <a:t>        </a:t>
            </a:r>
            <a:r>
              <a:rPr lang="en-US" sz="500" dirty="0" err="1"/>
              <a:t>idx</a:t>
            </a:r>
            <a:r>
              <a:rPr lang="en-US" sz="500" dirty="0"/>
              <a:t> = 0;</a:t>
            </a:r>
          </a:p>
          <a:p>
            <a:r>
              <a:rPr lang="en-US" sz="500" dirty="0"/>
              <a:t>      } else {</a:t>
            </a:r>
          </a:p>
          <a:p>
            <a:r>
              <a:rPr lang="en-US" sz="500" dirty="0"/>
              <a:t>        </a:t>
            </a:r>
          </a:p>
          <a:p>
            <a:r>
              <a:rPr lang="en-US" sz="500" dirty="0"/>
              <a:t>        // Only append if index is not over message limit</a:t>
            </a:r>
          </a:p>
          <a:p>
            <a:r>
              <a:rPr lang="en-US" sz="500" dirty="0"/>
              <a:t>        if (</a:t>
            </a:r>
            <a:r>
              <a:rPr lang="en-US" sz="500" dirty="0" err="1"/>
              <a:t>idx</a:t>
            </a:r>
            <a:r>
              <a:rPr lang="en-US" sz="500" dirty="0"/>
              <a:t> &lt; </a:t>
            </a:r>
            <a:r>
              <a:rPr lang="en-US" sz="500" dirty="0" err="1"/>
              <a:t>buf_len</a:t>
            </a:r>
            <a:r>
              <a:rPr lang="en-US" sz="500" dirty="0"/>
              <a:t> - 1) {</a:t>
            </a:r>
          </a:p>
          <a:p>
            <a:r>
              <a:rPr lang="en-US" sz="500" dirty="0"/>
              <a:t>          </a:t>
            </a:r>
            <a:r>
              <a:rPr lang="en-US" sz="500" dirty="0" err="1"/>
              <a:t>buf</a:t>
            </a:r>
            <a:r>
              <a:rPr lang="en-US" sz="500" dirty="0"/>
              <a:t>[</a:t>
            </a:r>
            <a:r>
              <a:rPr lang="en-US" sz="500" dirty="0" err="1"/>
              <a:t>idx</a:t>
            </a:r>
            <a:r>
              <a:rPr lang="en-US" sz="500" dirty="0"/>
              <a:t>] = c;</a:t>
            </a:r>
          </a:p>
          <a:p>
            <a:r>
              <a:rPr lang="en-US" sz="500" dirty="0"/>
              <a:t>          </a:t>
            </a:r>
            <a:r>
              <a:rPr lang="en-US" sz="500" dirty="0" err="1"/>
              <a:t>idx</a:t>
            </a:r>
            <a:r>
              <a:rPr lang="en-US" sz="500" dirty="0"/>
              <a:t>++;</a:t>
            </a:r>
          </a:p>
          <a:p>
            <a:r>
              <a:rPr lang="en-US" sz="500" dirty="0"/>
              <a:t>        }</a:t>
            </a:r>
          </a:p>
          <a:p>
            <a:r>
              <a:rPr lang="en-US" sz="500" dirty="0"/>
              <a:t>      }</a:t>
            </a:r>
          </a:p>
          <a:p>
            <a:r>
              <a:rPr lang="en-US" sz="500" dirty="0"/>
              <a:t>    }</a:t>
            </a:r>
          </a:p>
          <a:p>
            <a:r>
              <a:rPr lang="en-US" sz="500" dirty="0"/>
              <a:t>  }</a:t>
            </a:r>
          </a:p>
          <a:p>
            <a:r>
              <a:rPr lang="en-US" sz="500" dirty="0"/>
              <a:t>}</a:t>
            </a:r>
          </a:p>
          <a:p>
            <a:endParaRPr lang="en-US" sz="500" dirty="0"/>
          </a:p>
          <a:p>
            <a:r>
              <a:rPr lang="en-US" sz="500" dirty="0"/>
              <a:t>//*****************************************************************************</a:t>
            </a:r>
          </a:p>
          <a:p>
            <a:r>
              <a:rPr lang="en-US" sz="500" dirty="0"/>
              <a:t>// Main</a:t>
            </a:r>
          </a:p>
          <a:p>
            <a:endParaRPr lang="en-US" sz="500" dirty="0"/>
          </a:p>
          <a:p>
            <a:r>
              <a:rPr lang="en-US" sz="500" dirty="0"/>
              <a:t>void setup() {</a:t>
            </a:r>
          </a:p>
          <a:p>
            <a:endParaRPr lang="en-US" sz="500" dirty="0"/>
          </a:p>
          <a:p>
            <a:r>
              <a:rPr lang="en-US" sz="500" dirty="0"/>
              <a:t>  // Configure pin</a:t>
            </a:r>
          </a:p>
          <a:p>
            <a:r>
              <a:rPr lang="en-US" sz="500" dirty="0"/>
              <a:t>  </a:t>
            </a:r>
            <a:r>
              <a:rPr lang="en-US" sz="500" dirty="0" err="1"/>
              <a:t>pinMode</a:t>
            </a:r>
            <a:r>
              <a:rPr lang="en-US" sz="500" dirty="0"/>
              <a:t>(</a:t>
            </a:r>
            <a:r>
              <a:rPr lang="en-US" sz="500" dirty="0" err="1"/>
              <a:t>led_pin</a:t>
            </a:r>
            <a:r>
              <a:rPr lang="en-US" sz="500" dirty="0"/>
              <a:t>, OUTPUT);</a:t>
            </a:r>
          </a:p>
          <a:p>
            <a:endParaRPr lang="en-US" sz="500" dirty="0"/>
          </a:p>
          <a:p>
            <a:r>
              <a:rPr lang="en-US" sz="500" dirty="0"/>
              <a:t>  // Configure serial and wait a second</a:t>
            </a:r>
          </a:p>
          <a:p>
            <a:r>
              <a:rPr lang="en-US" sz="500" dirty="0"/>
              <a:t>  </a:t>
            </a:r>
            <a:r>
              <a:rPr lang="en-US" sz="500" dirty="0" err="1"/>
              <a:t>Serial.begin</a:t>
            </a:r>
            <a:r>
              <a:rPr lang="en-US" sz="500" dirty="0"/>
              <a:t>(115200);</a:t>
            </a:r>
          </a:p>
          <a:p>
            <a:r>
              <a:rPr lang="en-US" sz="500" dirty="0"/>
              <a:t>  </a:t>
            </a:r>
            <a:r>
              <a:rPr lang="en-US" sz="500" dirty="0" err="1"/>
              <a:t>vTaskDelay</a:t>
            </a:r>
            <a:r>
              <a:rPr lang="en-US" sz="500" dirty="0"/>
              <a:t>(1000 / </a:t>
            </a:r>
            <a:r>
              <a:rPr lang="en-US" sz="500" dirty="0" err="1"/>
              <a:t>portTICK_PERIOD_MS</a:t>
            </a:r>
            <a:r>
              <a:rPr lang="en-US" sz="500" dirty="0"/>
              <a:t>);</a:t>
            </a:r>
          </a:p>
          <a:p>
            <a:r>
              <a:rPr lang="en-US" sz="500" dirty="0"/>
              <a:t>  </a:t>
            </a:r>
            <a:r>
              <a:rPr lang="en-US" sz="500" dirty="0" err="1"/>
              <a:t>Serial.println</a:t>
            </a:r>
            <a:r>
              <a:rPr lang="en-US" sz="500" dirty="0"/>
              <a:t>("Multi-task LED Demo");</a:t>
            </a:r>
          </a:p>
          <a:p>
            <a:r>
              <a:rPr lang="en-US" sz="500" dirty="0"/>
              <a:t>  </a:t>
            </a:r>
            <a:r>
              <a:rPr lang="en-US" sz="500" dirty="0" err="1"/>
              <a:t>Serial.println</a:t>
            </a:r>
            <a:r>
              <a:rPr lang="en-US" sz="500" dirty="0"/>
              <a:t>("Enter a number in milliseconds to change the LED delay.");</a:t>
            </a:r>
          </a:p>
          <a:p>
            <a:endParaRPr lang="en-US" sz="500" dirty="0"/>
          </a:p>
          <a:p>
            <a:r>
              <a:rPr lang="en-US" sz="500" dirty="0"/>
              <a:t>  // Start blink task</a:t>
            </a:r>
          </a:p>
          <a:p>
            <a:r>
              <a:rPr lang="en-US" sz="500" dirty="0"/>
              <a:t>  </a:t>
            </a:r>
            <a:r>
              <a:rPr lang="en-US" sz="500" dirty="0" err="1"/>
              <a:t>xTaskCreatePinnedToCore</a:t>
            </a:r>
            <a:r>
              <a:rPr lang="en-US" sz="500" dirty="0"/>
              <a:t>(  // Use </a:t>
            </a:r>
            <a:r>
              <a:rPr lang="en-US" sz="500" dirty="0" err="1"/>
              <a:t>xTaskCreate</a:t>
            </a:r>
            <a:r>
              <a:rPr lang="en-US" sz="500" dirty="0"/>
              <a:t>() in vanilla </a:t>
            </a:r>
            <a:r>
              <a:rPr lang="en-US" sz="500" dirty="0" err="1"/>
              <a:t>FreeRTOS</a:t>
            </a:r>
            <a:endParaRPr lang="en-US" sz="500" dirty="0"/>
          </a:p>
          <a:p>
            <a:r>
              <a:rPr lang="en-US" sz="500" dirty="0"/>
              <a:t>            </a:t>
            </a:r>
            <a:r>
              <a:rPr lang="en-US" sz="500" dirty="0" err="1"/>
              <a:t>toggleLED</a:t>
            </a:r>
            <a:r>
              <a:rPr lang="en-US" sz="500" dirty="0"/>
              <a:t>,      // Function to be called</a:t>
            </a:r>
          </a:p>
          <a:p>
            <a:r>
              <a:rPr lang="en-US" sz="500" dirty="0"/>
              <a:t>            "Toggle LED",   // Name of task</a:t>
            </a:r>
          </a:p>
          <a:p>
            <a:r>
              <a:rPr lang="en-US" sz="500" dirty="0"/>
              <a:t>            1024,           // Stack size (bytes in ESP32, words in </a:t>
            </a:r>
            <a:r>
              <a:rPr lang="en-US" sz="500" dirty="0" err="1"/>
              <a:t>FreeRTOS</a:t>
            </a:r>
            <a:r>
              <a:rPr lang="en-US" sz="500" dirty="0"/>
              <a:t>)</a:t>
            </a:r>
          </a:p>
          <a:p>
            <a:r>
              <a:rPr lang="en-US" sz="500" dirty="0"/>
              <a:t>            NULL,           // Parameter to pass</a:t>
            </a:r>
          </a:p>
          <a:p>
            <a:r>
              <a:rPr lang="en-US" sz="500" dirty="0"/>
              <a:t>            1,              // Task priority</a:t>
            </a:r>
          </a:p>
          <a:p>
            <a:r>
              <a:rPr lang="en-US" sz="500" dirty="0"/>
              <a:t>            NULL,           // Task handle</a:t>
            </a:r>
          </a:p>
          <a:p>
            <a:r>
              <a:rPr lang="en-US" sz="500" dirty="0"/>
              <a:t>            </a:t>
            </a:r>
            <a:r>
              <a:rPr lang="en-US" sz="500" dirty="0" err="1"/>
              <a:t>app_cpu</a:t>
            </a:r>
            <a:r>
              <a:rPr lang="en-US" sz="500" dirty="0"/>
              <a:t>);       // Run on one core for demo purposes (ESP32 only)</a:t>
            </a:r>
          </a:p>
          <a:p>
            <a:r>
              <a:rPr lang="en-US" sz="500" dirty="0"/>
              <a:t>            </a:t>
            </a:r>
          </a:p>
          <a:p>
            <a:r>
              <a:rPr lang="en-US" sz="500" dirty="0"/>
              <a:t>  // Start serial read task</a:t>
            </a:r>
          </a:p>
          <a:p>
            <a:r>
              <a:rPr lang="en-US" sz="500" dirty="0"/>
              <a:t>  </a:t>
            </a:r>
            <a:r>
              <a:rPr lang="en-US" sz="500" dirty="0" err="1"/>
              <a:t>xTaskCreatePinnedToCore</a:t>
            </a:r>
            <a:r>
              <a:rPr lang="en-US" sz="500" dirty="0"/>
              <a:t>(  // Use </a:t>
            </a:r>
            <a:r>
              <a:rPr lang="en-US" sz="500" dirty="0" err="1"/>
              <a:t>xTaskCreate</a:t>
            </a:r>
            <a:r>
              <a:rPr lang="en-US" sz="500" dirty="0"/>
              <a:t>() in vanilla </a:t>
            </a:r>
            <a:r>
              <a:rPr lang="en-US" sz="500" dirty="0" err="1"/>
              <a:t>FreeRTOS</a:t>
            </a:r>
            <a:endParaRPr lang="en-US" sz="500" dirty="0"/>
          </a:p>
          <a:p>
            <a:r>
              <a:rPr lang="en-US" sz="500" dirty="0"/>
              <a:t>            </a:t>
            </a:r>
            <a:r>
              <a:rPr lang="en-US" sz="500" dirty="0" err="1"/>
              <a:t>readSerial</a:t>
            </a:r>
            <a:r>
              <a:rPr lang="en-US" sz="500" dirty="0"/>
              <a:t>,     // Function to be called</a:t>
            </a:r>
          </a:p>
          <a:p>
            <a:r>
              <a:rPr lang="en-US" sz="500" dirty="0"/>
              <a:t>            "Read Serial",  // Name of task</a:t>
            </a:r>
          </a:p>
          <a:p>
            <a:r>
              <a:rPr lang="en-US" sz="500" dirty="0"/>
              <a:t>            1024,           // Stack size (bytes in ESP32, words in </a:t>
            </a:r>
            <a:r>
              <a:rPr lang="en-US" sz="500" dirty="0" err="1"/>
              <a:t>FreeRTOS</a:t>
            </a:r>
            <a:r>
              <a:rPr lang="en-US" sz="500" dirty="0"/>
              <a:t>)</a:t>
            </a:r>
          </a:p>
          <a:p>
            <a:r>
              <a:rPr lang="en-US" sz="500" dirty="0"/>
              <a:t>            NULL,           // Parameter to pass</a:t>
            </a:r>
          </a:p>
          <a:p>
            <a:r>
              <a:rPr lang="en-US" sz="500" dirty="0"/>
              <a:t>            1,              // Task priority (must be same to prevent lockup)</a:t>
            </a:r>
          </a:p>
          <a:p>
            <a:r>
              <a:rPr lang="en-US" sz="500" dirty="0"/>
              <a:t>            NULL,           // Task handle</a:t>
            </a:r>
          </a:p>
          <a:p>
            <a:r>
              <a:rPr lang="en-US" sz="500" dirty="0"/>
              <a:t>            </a:t>
            </a:r>
            <a:r>
              <a:rPr lang="en-US" sz="500" dirty="0" err="1"/>
              <a:t>app_cpu</a:t>
            </a:r>
            <a:r>
              <a:rPr lang="en-US" sz="500" dirty="0"/>
              <a:t>);       // Run on one core for demo purposes (ESP32 only)</a:t>
            </a:r>
          </a:p>
          <a:p>
            <a:endParaRPr lang="en-US" sz="500" dirty="0"/>
          </a:p>
          <a:p>
            <a:r>
              <a:rPr lang="en-US" sz="500" dirty="0"/>
              <a:t>  // Delete "setup and loop" task</a:t>
            </a:r>
          </a:p>
          <a:p>
            <a:r>
              <a:rPr lang="en-US" sz="500" dirty="0"/>
              <a:t>  </a:t>
            </a:r>
            <a:r>
              <a:rPr lang="en-US" sz="500" dirty="0" err="1"/>
              <a:t>vTaskDelete</a:t>
            </a:r>
            <a:r>
              <a:rPr lang="en-US" sz="500" dirty="0"/>
              <a:t>(NULL);</a:t>
            </a:r>
          </a:p>
          <a:p>
            <a:r>
              <a:rPr lang="en-US" sz="500" dirty="0"/>
              <a:t>}</a:t>
            </a:r>
          </a:p>
          <a:p>
            <a:endParaRPr lang="en-US" sz="500" dirty="0"/>
          </a:p>
          <a:p>
            <a:r>
              <a:rPr lang="en-US" sz="500" dirty="0"/>
              <a:t>void loop() {</a:t>
            </a:r>
          </a:p>
          <a:p>
            <a:r>
              <a:rPr lang="en-US" sz="500" dirty="0"/>
              <a:t>  // Execution should never get here</a:t>
            </a:r>
          </a:p>
          <a:p>
            <a:r>
              <a:rPr lang="en-US" sz="500" dirty="0"/>
              <a:t>}</a:t>
            </a:r>
          </a:p>
        </p:txBody>
      </p:sp>
    </p:spTree>
    <p:extLst>
      <p:ext uri="{BB962C8B-B14F-4D97-AF65-F5344CB8AC3E}">
        <p14:creationId xmlns:p14="http://schemas.microsoft.com/office/powerpoint/2010/main" val="236063812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p16"/>
          <p:cNvPicPr preferRelativeResize="0"/>
          <p:nvPr/>
        </p:nvPicPr>
        <p:blipFill>
          <a:blip r:embed="rId3">
            <a:alphaModFix/>
          </a:blip>
          <a:stretch>
            <a:fillRect/>
          </a:stretch>
        </p:blipFill>
        <p:spPr>
          <a:xfrm>
            <a:off x="4138100" y="2040763"/>
            <a:ext cx="4594177" cy="2740088"/>
          </a:xfrm>
          <a:prstGeom prst="rect">
            <a:avLst/>
          </a:prstGeom>
          <a:noFill/>
          <a:ln>
            <a:noFill/>
          </a:ln>
        </p:spPr>
      </p:pic>
      <p:sp>
        <p:nvSpPr>
          <p:cNvPr id="143" name="Google Shape;143;p16"/>
          <p:cNvSpPr txBox="1"/>
          <p:nvPr/>
        </p:nvSpPr>
        <p:spPr>
          <a:xfrm>
            <a:off x="0" y="857250"/>
            <a:ext cx="9144000" cy="706200"/>
          </a:xfrm>
          <a:prstGeom prst="rect">
            <a:avLst/>
          </a:prstGeom>
          <a:noFill/>
          <a:ln>
            <a:noFill/>
          </a:ln>
        </p:spPr>
        <p:txBody>
          <a:bodyPr spcFirstLastPara="1" wrap="square" lIns="45713" tIns="45713" rIns="45713" bIns="45713" anchor="ctr" anchorCtr="0">
            <a:noAutofit/>
          </a:bodyPr>
          <a:lstStyle/>
          <a:p>
            <a:pPr algn="ctr"/>
            <a:r>
              <a:rPr lang="en" sz="2400"/>
              <a:t>Memory Allocation</a:t>
            </a:r>
            <a:endParaRPr sz="2400"/>
          </a:p>
        </p:txBody>
      </p:sp>
      <p:sp>
        <p:nvSpPr>
          <p:cNvPr id="144" name="Google Shape;144;p16"/>
          <p:cNvSpPr/>
          <p:nvPr/>
        </p:nvSpPr>
        <p:spPr>
          <a:xfrm>
            <a:off x="411719" y="1840375"/>
            <a:ext cx="1539900" cy="361935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145" name="Google Shape;145;p16"/>
          <p:cNvSpPr txBox="1"/>
          <p:nvPr/>
        </p:nvSpPr>
        <p:spPr>
          <a:xfrm>
            <a:off x="411719" y="1605475"/>
            <a:ext cx="1539900" cy="234900"/>
          </a:xfrm>
          <a:prstGeom prst="rect">
            <a:avLst/>
          </a:prstGeom>
          <a:noFill/>
          <a:ln>
            <a:noFill/>
          </a:ln>
        </p:spPr>
        <p:txBody>
          <a:bodyPr spcFirstLastPara="1" wrap="square" lIns="45713" tIns="45713" rIns="45713" bIns="45713" anchor="ctr" anchorCtr="0">
            <a:noAutofit/>
          </a:bodyPr>
          <a:lstStyle/>
          <a:p>
            <a:pPr algn="ctr"/>
            <a:r>
              <a:rPr lang="en" sz="1200"/>
              <a:t>RAM</a:t>
            </a:r>
            <a:endParaRPr sz="1200"/>
          </a:p>
        </p:txBody>
      </p:sp>
      <p:sp>
        <p:nvSpPr>
          <p:cNvPr id="146" name="Google Shape;146;p16"/>
          <p:cNvSpPr/>
          <p:nvPr/>
        </p:nvSpPr>
        <p:spPr>
          <a:xfrm>
            <a:off x="411719" y="4876787"/>
            <a:ext cx="1539900" cy="582900"/>
          </a:xfrm>
          <a:prstGeom prst="roundRect">
            <a:avLst>
              <a:gd name="adj" fmla="val 0"/>
            </a:avLst>
          </a:prstGeom>
          <a:solidFill>
            <a:srgbClr val="FFE599"/>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Static</a:t>
            </a:r>
            <a:endParaRPr sz="1500"/>
          </a:p>
        </p:txBody>
      </p:sp>
      <p:grpSp>
        <p:nvGrpSpPr>
          <p:cNvPr id="147" name="Google Shape;147;p16"/>
          <p:cNvGrpSpPr/>
          <p:nvPr/>
        </p:nvGrpSpPr>
        <p:grpSpPr>
          <a:xfrm>
            <a:off x="411719" y="1840375"/>
            <a:ext cx="1539900" cy="1433850"/>
            <a:chOff x="823438" y="1966250"/>
            <a:chExt cx="3079800" cy="2867700"/>
          </a:xfrm>
        </p:grpSpPr>
        <p:sp>
          <p:nvSpPr>
            <p:cNvPr id="148" name="Google Shape;148;p16"/>
            <p:cNvSpPr/>
            <p:nvPr/>
          </p:nvSpPr>
          <p:spPr>
            <a:xfrm>
              <a:off x="823438" y="1966250"/>
              <a:ext cx="3079800" cy="1936800"/>
            </a:xfrm>
            <a:prstGeom prst="roundRect">
              <a:avLst>
                <a:gd name="adj" fmla="val 0"/>
              </a:avLst>
            </a:prstGeom>
            <a:solidFill>
              <a:srgbClr val="F9CB9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Stack</a:t>
              </a:r>
              <a:endParaRPr sz="1500"/>
            </a:p>
          </p:txBody>
        </p:sp>
        <p:sp>
          <p:nvSpPr>
            <p:cNvPr id="149" name="Google Shape;149;p16"/>
            <p:cNvSpPr/>
            <p:nvPr/>
          </p:nvSpPr>
          <p:spPr>
            <a:xfrm>
              <a:off x="1571663" y="3668150"/>
              <a:ext cx="1426800" cy="1165800"/>
            </a:xfrm>
            <a:prstGeom prst="downArrow">
              <a:avLst>
                <a:gd name="adj1" fmla="val 50000"/>
                <a:gd name="adj2" fmla="val 50000"/>
              </a:avLst>
            </a:prstGeom>
            <a:solidFill>
              <a:srgbClr val="F9CB9C"/>
            </a:solidFill>
            <a:ln>
              <a:noFill/>
            </a:ln>
          </p:spPr>
          <p:txBody>
            <a:bodyPr spcFirstLastPara="1" wrap="square" lIns="45713" tIns="45713" rIns="45713" bIns="45713" anchor="ctr" anchorCtr="0">
              <a:noAutofit/>
            </a:bodyPr>
            <a:lstStyle/>
            <a:p>
              <a:endParaRPr sz="900"/>
            </a:p>
          </p:txBody>
        </p:sp>
      </p:grpSp>
      <p:grpSp>
        <p:nvGrpSpPr>
          <p:cNvPr id="150" name="Google Shape;150;p16"/>
          <p:cNvGrpSpPr/>
          <p:nvPr/>
        </p:nvGrpSpPr>
        <p:grpSpPr>
          <a:xfrm>
            <a:off x="411719" y="3454300"/>
            <a:ext cx="1539900" cy="1433850"/>
            <a:chOff x="823438" y="5194100"/>
            <a:chExt cx="3079800" cy="2867700"/>
          </a:xfrm>
        </p:grpSpPr>
        <p:sp>
          <p:nvSpPr>
            <p:cNvPr id="151" name="Google Shape;151;p16"/>
            <p:cNvSpPr/>
            <p:nvPr/>
          </p:nvSpPr>
          <p:spPr>
            <a:xfrm>
              <a:off x="823438" y="6125000"/>
              <a:ext cx="3079800" cy="1936800"/>
            </a:xfrm>
            <a:prstGeom prst="roundRect">
              <a:avLst>
                <a:gd name="adj" fmla="val 0"/>
              </a:avLst>
            </a:prstGeom>
            <a:solidFill>
              <a:srgbClr val="9FC5E8"/>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Heap</a:t>
              </a:r>
              <a:endParaRPr sz="1500"/>
            </a:p>
          </p:txBody>
        </p:sp>
        <p:sp>
          <p:nvSpPr>
            <p:cNvPr id="152" name="Google Shape;152;p16"/>
            <p:cNvSpPr/>
            <p:nvPr/>
          </p:nvSpPr>
          <p:spPr>
            <a:xfrm rot="10800000">
              <a:off x="1649938" y="5194100"/>
              <a:ext cx="1426800" cy="1174500"/>
            </a:xfrm>
            <a:prstGeom prst="downArrow">
              <a:avLst>
                <a:gd name="adj1" fmla="val 50000"/>
                <a:gd name="adj2" fmla="val 50000"/>
              </a:avLst>
            </a:prstGeom>
            <a:solidFill>
              <a:srgbClr val="9FC5E8"/>
            </a:solidFill>
            <a:ln>
              <a:noFill/>
            </a:ln>
          </p:spPr>
          <p:txBody>
            <a:bodyPr spcFirstLastPara="1" wrap="square" lIns="45713" tIns="45713" rIns="45713" bIns="45713" anchor="ctr" anchorCtr="0">
              <a:noAutofit/>
            </a:bodyPr>
            <a:lstStyle/>
            <a:p>
              <a:endParaRPr sz="900"/>
            </a:p>
          </p:txBody>
        </p:sp>
      </p:grpSp>
      <p:cxnSp>
        <p:nvCxnSpPr>
          <p:cNvPr id="153" name="Google Shape;153;p16"/>
          <p:cNvCxnSpPr>
            <a:endCxn id="146" idx="3"/>
          </p:cNvCxnSpPr>
          <p:nvPr/>
        </p:nvCxnSpPr>
        <p:spPr>
          <a:xfrm flipH="1">
            <a:off x="1951619" y="2147837"/>
            <a:ext cx="2608350" cy="3020400"/>
          </a:xfrm>
          <a:prstGeom prst="straightConnector1">
            <a:avLst/>
          </a:prstGeom>
          <a:noFill/>
          <a:ln w="76200" cap="flat" cmpd="sng">
            <a:solidFill>
              <a:srgbClr val="F1C232"/>
            </a:solidFill>
            <a:prstDash val="solid"/>
            <a:round/>
            <a:headEnd type="none" w="med" len="med"/>
            <a:tailEnd type="triangle" w="med" len="med"/>
          </a:ln>
        </p:spPr>
      </p:cxnSp>
      <p:cxnSp>
        <p:nvCxnSpPr>
          <p:cNvPr id="154" name="Google Shape;154;p16"/>
          <p:cNvCxnSpPr>
            <a:endCxn id="146" idx="3"/>
          </p:cNvCxnSpPr>
          <p:nvPr/>
        </p:nvCxnSpPr>
        <p:spPr>
          <a:xfrm flipH="1">
            <a:off x="1951619" y="2354837"/>
            <a:ext cx="2596200" cy="2813400"/>
          </a:xfrm>
          <a:prstGeom prst="straightConnector1">
            <a:avLst/>
          </a:prstGeom>
          <a:noFill/>
          <a:ln w="76200" cap="flat" cmpd="sng">
            <a:solidFill>
              <a:srgbClr val="F1C232"/>
            </a:solidFill>
            <a:prstDash val="solid"/>
            <a:round/>
            <a:headEnd type="none" w="med" len="med"/>
            <a:tailEnd type="triangle" w="med" len="med"/>
          </a:ln>
        </p:spPr>
      </p:cxnSp>
      <p:cxnSp>
        <p:nvCxnSpPr>
          <p:cNvPr id="155" name="Google Shape;155;p16"/>
          <p:cNvCxnSpPr>
            <a:endCxn id="146" idx="3"/>
          </p:cNvCxnSpPr>
          <p:nvPr/>
        </p:nvCxnSpPr>
        <p:spPr>
          <a:xfrm flipH="1">
            <a:off x="1951619" y="3073187"/>
            <a:ext cx="2900550" cy="2095050"/>
          </a:xfrm>
          <a:prstGeom prst="straightConnector1">
            <a:avLst/>
          </a:prstGeom>
          <a:noFill/>
          <a:ln w="76200" cap="flat" cmpd="sng">
            <a:solidFill>
              <a:srgbClr val="F1C232"/>
            </a:solidFill>
            <a:prstDash val="solid"/>
            <a:round/>
            <a:headEnd type="none" w="med" len="med"/>
            <a:tailEnd type="triangle" w="med" len="med"/>
          </a:ln>
        </p:spPr>
      </p:cxnSp>
      <p:sp>
        <p:nvSpPr>
          <p:cNvPr id="156" name="Google Shape;156;p16"/>
          <p:cNvSpPr txBox="1"/>
          <p:nvPr/>
        </p:nvSpPr>
        <p:spPr>
          <a:xfrm>
            <a:off x="2253569" y="3148644"/>
            <a:ext cx="1139850" cy="582900"/>
          </a:xfrm>
          <a:prstGeom prst="rect">
            <a:avLst/>
          </a:prstGeom>
          <a:noFill/>
          <a:ln>
            <a:noFill/>
          </a:ln>
        </p:spPr>
        <p:txBody>
          <a:bodyPr spcFirstLastPara="1" wrap="square" lIns="45713" tIns="45713" rIns="45713" bIns="45713" anchor="ctr" anchorCtr="0">
            <a:noAutofit/>
          </a:bodyPr>
          <a:lstStyle/>
          <a:p>
            <a:pPr algn="ctr"/>
            <a:r>
              <a:rPr lang="en" sz="1500"/>
              <a:t>Static allocation</a:t>
            </a:r>
            <a:endParaRPr sz="1500"/>
          </a:p>
        </p:txBody>
      </p:sp>
      <p:cxnSp>
        <p:nvCxnSpPr>
          <p:cNvPr id="157" name="Google Shape;157;p16"/>
          <p:cNvCxnSpPr>
            <a:endCxn id="148" idx="3"/>
          </p:cNvCxnSpPr>
          <p:nvPr/>
        </p:nvCxnSpPr>
        <p:spPr>
          <a:xfrm rot="10800000">
            <a:off x="1951619" y="2324575"/>
            <a:ext cx="2924850" cy="931350"/>
          </a:xfrm>
          <a:prstGeom prst="straightConnector1">
            <a:avLst/>
          </a:prstGeom>
          <a:noFill/>
          <a:ln w="76200" cap="flat" cmpd="sng">
            <a:solidFill>
              <a:srgbClr val="E69138"/>
            </a:solidFill>
            <a:prstDash val="solid"/>
            <a:round/>
            <a:headEnd type="none" w="med" len="med"/>
            <a:tailEnd type="triangle" w="med" len="med"/>
          </a:ln>
        </p:spPr>
      </p:cxnSp>
      <p:cxnSp>
        <p:nvCxnSpPr>
          <p:cNvPr id="158" name="Google Shape;158;p16"/>
          <p:cNvCxnSpPr>
            <a:endCxn id="148" idx="3"/>
          </p:cNvCxnSpPr>
          <p:nvPr/>
        </p:nvCxnSpPr>
        <p:spPr>
          <a:xfrm rot="10800000">
            <a:off x="1951619" y="2324575"/>
            <a:ext cx="2937000" cy="1089600"/>
          </a:xfrm>
          <a:prstGeom prst="straightConnector1">
            <a:avLst/>
          </a:prstGeom>
          <a:noFill/>
          <a:ln w="76200" cap="flat" cmpd="sng">
            <a:solidFill>
              <a:srgbClr val="E69138"/>
            </a:solidFill>
            <a:prstDash val="solid"/>
            <a:round/>
            <a:headEnd type="none" w="med" len="med"/>
            <a:tailEnd type="triangle" w="med" len="med"/>
          </a:ln>
        </p:spPr>
      </p:cxnSp>
      <p:sp>
        <p:nvSpPr>
          <p:cNvPr id="159" name="Google Shape;159;p16"/>
          <p:cNvSpPr txBox="1"/>
          <p:nvPr/>
        </p:nvSpPr>
        <p:spPr>
          <a:xfrm>
            <a:off x="2209544" y="1815900"/>
            <a:ext cx="1139850" cy="582900"/>
          </a:xfrm>
          <a:prstGeom prst="rect">
            <a:avLst/>
          </a:prstGeom>
          <a:noFill/>
          <a:ln>
            <a:noFill/>
          </a:ln>
        </p:spPr>
        <p:txBody>
          <a:bodyPr spcFirstLastPara="1" wrap="square" lIns="45713" tIns="45713" rIns="45713" bIns="45713" anchor="ctr" anchorCtr="0">
            <a:noAutofit/>
          </a:bodyPr>
          <a:lstStyle/>
          <a:p>
            <a:pPr algn="ctr"/>
            <a:r>
              <a:rPr lang="en" sz="1500"/>
              <a:t>Automatic allocation</a:t>
            </a:r>
            <a:endParaRPr sz="1500"/>
          </a:p>
        </p:txBody>
      </p:sp>
      <p:cxnSp>
        <p:nvCxnSpPr>
          <p:cNvPr id="160" name="Google Shape;160;p16"/>
          <p:cNvCxnSpPr/>
          <p:nvPr/>
        </p:nvCxnSpPr>
        <p:spPr>
          <a:xfrm rot="10800000">
            <a:off x="1951631" y="2324537"/>
            <a:ext cx="4118100" cy="298200"/>
          </a:xfrm>
          <a:prstGeom prst="straightConnector1">
            <a:avLst/>
          </a:prstGeom>
          <a:noFill/>
          <a:ln w="76200" cap="flat" cmpd="sng">
            <a:solidFill>
              <a:srgbClr val="E69138"/>
            </a:solidFill>
            <a:prstDash val="solid"/>
            <a:round/>
            <a:headEnd type="none" w="med" len="med"/>
            <a:tailEnd type="triangle" w="med" len="med"/>
          </a:ln>
        </p:spPr>
      </p:cxnSp>
      <p:cxnSp>
        <p:nvCxnSpPr>
          <p:cNvPr id="161" name="Google Shape;161;p16"/>
          <p:cNvCxnSpPr>
            <a:endCxn id="151" idx="3"/>
          </p:cNvCxnSpPr>
          <p:nvPr/>
        </p:nvCxnSpPr>
        <p:spPr>
          <a:xfrm flipH="1">
            <a:off x="1951619" y="3876700"/>
            <a:ext cx="4653750" cy="527250"/>
          </a:xfrm>
          <a:prstGeom prst="straightConnector1">
            <a:avLst/>
          </a:prstGeom>
          <a:noFill/>
          <a:ln w="76200" cap="flat" cmpd="sng">
            <a:solidFill>
              <a:srgbClr val="6FA8DC"/>
            </a:solidFill>
            <a:prstDash val="solid"/>
            <a:round/>
            <a:headEnd type="none" w="med" len="med"/>
            <a:tailEnd type="triangle" w="med" len="med"/>
          </a:ln>
        </p:spPr>
      </p:cxnSp>
      <p:sp>
        <p:nvSpPr>
          <p:cNvPr id="162" name="Google Shape;162;p16"/>
          <p:cNvSpPr txBox="1"/>
          <p:nvPr/>
        </p:nvSpPr>
        <p:spPr>
          <a:xfrm>
            <a:off x="3123194" y="4233100"/>
            <a:ext cx="1014900" cy="517200"/>
          </a:xfrm>
          <a:prstGeom prst="rect">
            <a:avLst/>
          </a:prstGeom>
          <a:noFill/>
          <a:ln>
            <a:noFill/>
          </a:ln>
        </p:spPr>
        <p:txBody>
          <a:bodyPr spcFirstLastPara="1" wrap="square" lIns="45713" tIns="45713" rIns="45713" bIns="45713" anchor="ctr" anchorCtr="0">
            <a:noAutofit/>
          </a:bodyPr>
          <a:lstStyle/>
          <a:p>
            <a:pPr algn="ctr"/>
            <a:r>
              <a:rPr lang="en" sz="1500"/>
              <a:t>Dynamic allocation</a:t>
            </a:r>
            <a:endParaRPr sz="15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6"/>
                                        </p:tgtEl>
                                        <p:attrNameLst>
                                          <p:attrName>style.visibility</p:attrName>
                                        </p:attrNameLst>
                                      </p:cBhvr>
                                      <p:to>
                                        <p:strVal val="visible"/>
                                      </p:to>
                                    </p:set>
                                    <p:animEffect transition="in" filter="fade">
                                      <p:cBhvr>
                                        <p:cTn id="7" dur="1000"/>
                                        <p:tgtEl>
                                          <p:spTgt spid="1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3"/>
                                        </p:tgtEl>
                                        <p:attrNameLst>
                                          <p:attrName>style.visibility</p:attrName>
                                        </p:attrNameLst>
                                      </p:cBhvr>
                                      <p:to>
                                        <p:strVal val="visible"/>
                                      </p:to>
                                    </p:set>
                                    <p:animEffect transition="in" filter="fade">
                                      <p:cBhvr>
                                        <p:cTn id="12" dur="1000"/>
                                        <p:tgtEl>
                                          <p:spTgt spid="153"/>
                                        </p:tgtEl>
                                      </p:cBhvr>
                                    </p:animEffect>
                                  </p:childTnLst>
                                </p:cTn>
                              </p:par>
                              <p:par>
                                <p:cTn id="13" presetID="10" presetClass="entr" presetSubtype="0" fill="hold" nodeType="withEffect">
                                  <p:stCondLst>
                                    <p:cond delay="0"/>
                                  </p:stCondLst>
                                  <p:childTnLst>
                                    <p:set>
                                      <p:cBhvr>
                                        <p:cTn id="14" dur="1" fill="hold">
                                          <p:stCondLst>
                                            <p:cond delay="0"/>
                                          </p:stCondLst>
                                        </p:cTn>
                                        <p:tgtEl>
                                          <p:spTgt spid="154"/>
                                        </p:tgtEl>
                                        <p:attrNameLst>
                                          <p:attrName>style.visibility</p:attrName>
                                        </p:attrNameLst>
                                      </p:cBhvr>
                                      <p:to>
                                        <p:strVal val="visible"/>
                                      </p:to>
                                    </p:set>
                                    <p:animEffect transition="in" filter="fade">
                                      <p:cBhvr>
                                        <p:cTn id="15" dur="1000"/>
                                        <p:tgtEl>
                                          <p:spTgt spid="154"/>
                                        </p:tgtEl>
                                      </p:cBhvr>
                                    </p:animEffect>
                                  </p:childTnLst>
                                </p:cTn>
                              </p:par>
                              <p:par>
                                <p:cTn id="16" presetID="10" presetClass="entr" presetSubtype="0" fill="hold" nodeType="withEffect">
                                  <p:stCondLst>
                                    <p:cond delay="0"/>
                                  </p:stCondLst>
                                  <p:childTnLst>
                                    <p:set>
                                      <p:cBhvr>
                                        <p:cTn id="17" dur="1" fill="hold">
                                          <p:stCondLst>
                                            <p:cond delay="0"/>
                                          </p:stCondLst>
                                        </p:cTn>
                                        <p:tgtEl>
                                          <p:spTgt spid="155"/>
                                        </p:tgtEl>
                                        <p:attrNameLst>
                                          <p:attrName>style.visibility</p:attrName>
                                        </p:attrNameLst>
                                      </p:cBhvr>
                                      <p:to>
                                        <p:strVal val="visible"/>
                                      </p:to>
                                    </p:set>
                                    <p:animEffect transition="in" filter="fade">
                                      <p:cBhvr>
                                        <p:cTn id="18" dur="1000"/>
                                        <p:tgtEl>
                                          <p:spTgt spid="155"/>
                                        </p:tgtEl>
                                      </p:cBhvr>
                                    </p:animEffect>
                                  </p:childTnLst>
                                </p:cTn>
                              </p:par>
                              <p:par>
                                <p:cTn id="19" presetID="10" presetClass="entr" presetSubtype="0" fill="hold" nodeType="withEffect">
                                  <p:stCondLst>
                                    <p:cond delay="0"/>
                                  </p:stCondLst>
                                  <p:childTnLst>
                                    <p:set>
                                      <p:cBhvr>
                                        <p:cTn id="20" dur="1" fill="hold">
                                          <p:stCondLst>
                                            <p:cond delay="0"/>
                                          </p:stCondLst>
                                        </p:cTn>
                                        <p:tgtEl>
                                          <p:spTgt spid="156"/>
                                        </p:tgtEl>
                                        <p:attrNameLst>
                                          <p:attrName>style.visibility</p:attrName>
                                        </p:attrNameLst>
                                      </p:cBhvr>
                                      <p:to>
                                        <p:strVal val="visible"/>
                                      </p:to>
                                    </p:set>
                                    <p:animEffect transition="in" filter="fade">
                                      <p:cBhvr>
                                        <p:cTn id="21" dur="1000"/>
                                        <p:tgtEl>
                                          <p:spTgt spid="15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7"/>
                                        </p:tgtEl>
                                        <p:attrNameLst>
                                          <p:attrName>style.visibility</p:attrName>
                                        </p:attrNameLst>
                                      </p:cBhvr>
                                      <p:to>
                                        <p:strVal val="visible"/>
                                      </p:to>
                                    </p:set>
                                    <p:animEffect transition="in" filter="fade">
                                      <p:cBhvr>
                                        <p:cTn id="26" dur="1000"/>
                                        <p:tgtEl>
                                          <p:spTgt spid="14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57"/>
                                        </p:tgtEl>
                                        <p:attrNameLst>
                                          <p:attrName>style.visibility</p:attrName>
                                        </p:attrNameLst>
                                      </p:cBhvr>
                                      <p:to>
                                        <p:strVal val="visible"/>
                                      </p:to>
                                    </p:set>
                                    <p:animEffect transition="in" filter="fade">
                                      <p:cBhvr>
                                        <p:cTn id="31" dur="1000"/>
                                        <p:tgtEl>
                                          <p:spTgt spid="157"/>
                                        </p:tgtEl>
                                      </p:cBhvr>
                                    </p:animEffect>
                                  </p:childTnLst>
                                </p:cTn>
                              </p:par>
                              <p:par>
                                <p:cTn id="32" presetID="10" presetClass="entr" presetSubtype="0" fill="hold" nodeType="withEffect">
                                  <p:stCondLst>
                                    <p:cond delay="0"/>
                                  </p:stCondLst>
                                  <p:childTnLst>
                                    <p:set>
                                      <p:cBhvr>
                                        <p:cTn id="33" dur="1" fill="hold">
                                          <p:stCondLst>
                                            <p:cond delay="0"/>
                                          </p:stCondLst>
                                        </p:cTn>
                                        <p:tgtEl>
                                          <p:spTgt spid="159"/>
                                        </p:tgtEl>
                                        <p:attrNameLst>
                                          <p:attrName>style.visibility</p:attrName>
                                        </p:attrNameLst>
                                      </p:cBhvr>
                                      <p:to>
                                        <p:strVal val="visible"/>
                                      </p:to>
                                    </p:set>
                                    <p:animEffect transition="in" filter="fade">
                                      <p:cBhvr>
                                        <p:cTn id="34" dur="1000"/>
                                        <p:tgtEl>
                                          <p:spTgt spid="159"/>
                                        </p:tgtEl>
                                      </p:cBhvr>
                                    </p:animEffect>
                                  </p:childTnLst>
                                </p:cTn>
                              </p:par>
                              <p:par>
                                <p:cTn id="35" presetID="10" presetClass="entr" presetSubtype="0" fill="hold" nodeType="withEffect">
                                  <p:stCondLst>
                                    <p:cond delay="0"/>
                                  </p:stCondLst>
                                  <p:childTnLst>
                                    <p:set>
                                      <p:cBhvr>
                                        <p:cTn id="36" dur="1" fill="hold">
                                          <p:stCondLst>
                                            <p:cond delay="0"/>
                                          </p:stCondLst>
                                        </p:cTn>
                                        <p:tgtEl>
                                          <p:spTgt spid="160"/>
                                        </p:tgtEl>
                                        <p:attrNameLst>
                                          <p:attrName>style.visibility</p:attrName>
                                        </p:attrNameLst>
                                      </p:cBhvr>
                                      <p:to>
                                        <p:strVal val="visible"/>
                                      </p:to>
                                    </p:set>
                                    <p:animEffect transition="in" filter="fade">
                                      <p:cBhvr>
                                        <p:cTn id="37" dur="1000"/>
                                        <p:tgtEl>
                                          <p:spTgt spid="160"/>
                                        </p:tgtEl>
                                      </p:cBhvr>
                                    </p:animEffect>
                                  </p:childTnLst>
                                </p:cTn>
                              </p:par>
                              <p:par>
                                <p:cTn id="38" presetID="10" presetClass="entr" presetSubtype="0" fill="hold" nodeType="withEffect">
                                  <p:stCondLst>
                                    <p:cond delay="0"/>
                                  </p:stCondLst>
                                  <p:childTnLst>
                                    <p:set>
                                      <p:cBhvr>
                                        <p:cTn id="39" dur="1" fill="hold">
                                          <p:stCondLst>
                                            <p:cond delay="0"/>
                                          </p:stCondLst>
                                        </p:cTn>
                                        <p:tgtEl>
                                          <p:spTgt spid="158"/>
                                        </p:tgtEl>
                                        <p:attrNameLst>
                                          <p:attrName>style.visibility</p:attrName>
                                        </p:attrNameLst>
                                      </p:cBhvr>
                                      <p:to>
                                        <p:strVal val="visible"/>
                                      </p:to>
                                    </p:set>
                                    <p:animEffect transition="in" filter="fade">
                                      <p:cBhvr>
                                        <p:cTn id="40" dur="1000"/>
                                        <p:tgtEl>
                                          <p:spTgt spid="15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50"/>
                                        </p:tgtEl>
                                        <p:attrNameLst>
                                          <p:attrName>style.visibility</p:attrName>
                                        </p:attrNameLst>
                                      </p:cBhvr>
                                      <p:to>
                                        <p:strVal val="visible"/>
                                      </p:to>
                                    </p:set>
                                    <p:animEffect transition="in" filter="fade">
                                      <p:cBhvr>
                                        <p:cTn id="45" dur="1000"/>
                                        <p:tgtEl>
                                          <p:spTgt spid="15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62"/>
                                        </p:tgtEl>
                                        <p:attrNameLst>
                                          <p:attrName>style.visibility</p:attrName>
                                        </p:attrNameLst>
                                      </p:cBhvr>
                                      <p:to>
                                        <p:strVal val="visible"/>
                                      </p:to>
                                    </p:set>
                                    <p:animEffect transition="in" filter="fade">
                                      <p:cBhvr>
                                        <p:cTn id="50" dur="1000"/>
                                        <p:tgtEl>
                                          <p:spTgt spid="162"/>
                                        </p:tgtEl>
                                      </p:cBhvr>
                                    </p:animEffect>
                                  </p:childTnLst>
                                </p:cTn>
                              </p:par>
                              <p:par>
                                <p:cTn id="51" presetID="10" presetClass="entr" presetSubtype="0" fill="hold" nodeType="withEffect">
                                  <p:stCondLst>
                                    <p:cond delay="0"/>
                                  </p:stCondLst>
                                  <p:childTnLst>
                                    <p:set>
                                      <p:cBhvr>
                                        <p:cTn id="52" dur="1" fill="hold">
                                          <p:stCondLst>
                                            <p:cond delay="0"/>
                                          </p:stCondLst>
                                        </p:cTn>
                                        <p:tgtEl>
                                          <p:spTgt spid="161"/>
                                        </p:tgtEl>
                                        <p:attrNameLst>
                                          <p:attrName>style.visibility</p:attrName>
                                        </p:attrNameLst>
                                      </p:cBhvr>
                                      <p:to>
                                        <p:strVal val="visible"/>
                                      </p:to>
                                    </p:set>
                                    <p:animEffect transition="in" filter="fade">
                                      <p:cBhvr>
                                        <p:cTn id="53" dur="1000"/>
                                        <p:tgtEl>
                                          <p:spTgt spid="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7"/>
          <p:cNvSpPr/>
          <p:nvPr/>
        </p:nvSpPr>
        <p:spPr>
          <a:xfrm>
            <a:off x="1283407" y="1840375"/>
            <a:ext cx="1597200" cy="361935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168" name="Google Shape;168;p17"/>
          <p:cNvSpPr txBox="1"/>
          <p:nvPr/>
        </p:nvSpPr>
        <p:spPr>
          <a:xfrm>
            <a:off x="1312044" y="1605475"/>
            <a:ext cx="1539900" cy="234900"/>
          </a:xfrm>
          <a:prstGeom prst="rect">
            <a:avLst/>
          </a:prstGeom>
          <a:noFill/>
          <a:ln>
            <a:noFill/>
          </a:ln>
        </p:spPr>
        <p:txBody>
          <a:bodyPr spcFirstLastPara="1" wrap="square" lIns="45713" tIns="45713" rIns="45713" bIns="45713" anchor="ctr" anchorCtr="0">
            <a:noAutofit/>
          </a:bodyPr>
          <a:lstStyle/>
          <a:p>
            <a:pPr algn="ctr"/>
            <a:r>
              <a:rPr lang="en" sz="1200"/>
              <a:t>RAM</a:t>
            </a:r>
            <a:endParaRPr sz="1200"/>
          </a:p>
        </p:txBody>
      </p:sp>
      <p:sp>
        <p:nvSpPr>
          <p:cNvPr id="169" name="Google Shape;169;p17"/>
          <p:cNvSpPr/>
          <p:nvPr/>
        </p:nvSpPr>
        <p:spPr>
          <a:xfrm>
            <a:off x="1283400" y="3328925"/>
            <a:ext cx="1597200" cy="1729650"/>
          </a:xfrm>
          <a:prstGeom prst="roundRect">
            <a:avLst>
              <a:gd name="adj" fmla="val 0"/>
            </a:avLst>
          </a:prstGeom>
          <a:solidFill>
            <a:srgbClr val="9FC5E8"/>
          </a:solidFill>
          <a:ln w="38100" cap="flat" cmpd="sng">
            <a:solidFill>
              <a:schemeClr val="dk2"/>
            </a:solidFill>
            <a:prstDash val="solid"/>
            <a:round/>
            <a:headEnd type="none" w="sm" len="sm"/>
            <a:tailEnd type="none" w="sm" len="sm"/>
          </a:ln>
        </p:spPr>
        <p:txBody>
          <a:bodyPr spcFirstLastPara="1" wrap="square" lIns="45713" tIns="45713" rIns="45713" bIns="45713" anchor="t" anchorCtr="0">
            <a:noAutofit/>
          </a:bodyPr>
          <a:lstStyle/>
          <a:p>
            <a:pPr algn="ctr"/>
            <a:r>
              <a:rPr lang="en" sz="1500"/>
              <a:t>Heap</a:t>
            </a:r>
            <a:endParaRPr sz="1500"/>
          </a:p>
        </p:txBody>
      </p:sp>
      <p:sp>
        <p:nvSpPr>
          <p:cNvPr id="170" name="Google Shape;170;p17"/>
          <p:cNvSpPr/>
          <p:nvPr/>
        </p:nvSpPr>
        <p:spPr>
          <a:xfrm rot="10800000">
            <a:off x="1725300" y="2800963"/>
            <a:ext cx="713400" cy="587250"/>
          </a:xfrm>
          <a:prstGeom prst="downArrow">
            <a:avLst>
              <a:gd name="adj1" fmla="val 50000"/>
              <a:gd name="adj2" fmla="val 50000"/>
            </a:avLst>
          </a:prstGeom>
          <a:solidFill>
            <a:srgbClr val="9FC5E8"/>
          </a:solidFill>
          <a:ln>
            <a:noFill/>
          </a:ln>
        </p:spPr>
        <p:txBody>
          <a:bodyPr spcFirstLastPara="1" wrap="square" lIns="45713" tIns="45713" rIns="45713" bIns="45713" anchor="ctr" anchorCtr="0">
            <a:noAutofit/>
          </a:bodyPr>
          <a:lstStyle/>
          <a:p>
            <a:endParaRPr sz="900"/>
          </a:p>
        </p:txBody>
      </p:sp>
      <p:sp>
        <p:nvSpPr>
          <p:cNvPr id="171" name="Google Shape;171;p17"/>
          <p:cNvSpPr/>
          <p:nvPr/>
        </p:nvSpPr>
        <p:spPr>
          <a:xfrm>
            <a:off x="1283400" y="5058575"/>
            <a:ext cx="1597200" cy="401100"/>
          </a:xfrm>
          <a:prstGeom prst="roundRect">
            <a:avLst>
              <a:gd name="adj" fmla="val 0"/>
            </a:avLst>
          </a:prstGeom>
          <a:solidFill>
            <a:srgbClr val="FFE599"/>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Static</a:t>
            </a:r>
            <a:endParaRPr sz="1500"/>
          </a:p>
        </p:txBody>
      </p:sp>
      <p:sp>
        <p:nvSpPr>
          <p:cNvPr id="172" name="Google Shape;172;p17"/>
          <p:cNvSpPr/>
          <p:nvPr/>
        </p:nvSpPr>
        <p:spPr>
          <a:xfrm>
            <a:off x="1283400" y="1840375"/>
            <a:ext cx="1597200" cy="307500"/>
          </a:xfrm>
          <a:prstGeom prst="roundRect">
            <a:avLst>
              <a:gd name="adj" fmla="val 0"/>
            </a:avLst>
          </a:prstGeom>
          <a:solidFill>
            <a:srgbClr val="F9CB9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Stack</a:t>
            </a:r>
            <a:endParaRPr sz="1500"/>
          </a:p>
        </p:txBody>
      </p:sp>
      <p:sp>
        <p:nvSpPr>
          <p:cNvPr id="173" name="Google Shape;173;p17"/>
          <p:cNvSpPr/>
          <p:nvPr/>
        </p:nvSpPr>
        <p:spPr>
          <a:xfrm>
            <a:off x="1725313" y="2082538"/>
            <a:ext cx="713400" cy="582900"/>
          </a:xfrm>
          <a:prstGeom prst="downArrow">
            <a:avLst>
              <a:gd name="adj1" fmla="val 50000"/>
              <a:gd name="adj2" fmla="val 50000"/>
            </a:avLst>
          </a:prstGeom>
          <a:solidFill>
            <a:srgbClr val="F9CB9C"/>
          </a:solidFill>
          <a:ln>
            <a:noFill/>
          </a:ln>
        </p:spPr>
        <p:txBody>
          <a:bodyPr spcFirstLastPara="1" wrap="square" lIns="45713" tIns="45713" rIns="45713" bIns="45713" anchor="ctr" anchorCtr="0">
            <a:noAutofit/>
          </a:bodyPr>
          <a:lstStyle/>
          <a:p>
            <a:endParaRPr sz="900"/>
          </a:p>
        </p:txBody>
      </p:sp>
      <p:sp>
        <p:nvSpPr>
          <p:cNvPr id="174" name="Google Shape;174;p17"/>
          <p:cNvSpPr txBox="1"/>
          <p:nvPr/>
        </p:nvSpPr>
        <p:spPr>
          <a:xfrm>
            <a:off x="0" y="857250"/>
            <a:ext cx="9144000" cy="706200"/>
          </a:xfrm>
          <a:prstGeom prst="rect">
            <a:avLst/>
          </a:prstGeom>
          <a:noFill/>
          <a:ln>
            <a:noFill/>
          </a:ln>
        </p:spPr>
        <p:txBody>
          <a:bodyPr spcFirstLastPara="1" wrap="square" lIns="45713" tIns="45713" rIns="45713" bIns="45713" anchor="ctr" anchorCtr="0">
            <a:noAutofit/>
          </a:bodyPr>
          <a:lstStyle/>
          <a:p>
            <a:pPr algn="ctr"/>
            <a:r>
              <a:rPr lang="en" sz="2400"/>
              <a:t>RTOS Memory Allocation</a:t>
            </a:r>
            <a:endParaRPr sz="2400"/>
          </a:p>
        </p:txBody>
      </p:sp>
      <p:sp>
        <p:nvSpPr>
          <p:cNvPr id="175" name="Google Shape;175;p17"/>
          <p:cNvSpPr/>
          <p:nvPr/>
        </p:nvSpPr>
        <p:spPr>
          <a:xfrm>
            <a:off x="1283400" y="4657412"/>
            <a:ext cx="1597200" cy="401100"/>
          </a:xfrm>
          <a:prstGeom prst="rect">
            <a:avLst/>
          </a:prstGeom>
          <a:solidFill>
            <a:srgbClr val="9FC5E8"/>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1</a:t>
            </a:r>
            <a:endParaRPr sz="1500"/>
          </a:p>
        </p:txBody>
      </p:sp>
      <p:sp>
        <p:nvSpPr>
          <p:cNvPr id="176" name="Google Shape;176;p17"/>
          <p:cNvSpPr/>
          <p:nvPr/>
        </p:nvSpPr>
        <p:spPr>
          <a:xfrm>
            <a:off x="3989525" y="3691063"/>
            <a:ext cx="2020350" cy="1278450"/>
          </a:xfrm>
          <a:prstGeom prst="rect">
            <a:avLst/>
          </a:prstGeom>
          <a:solidFill>
            <a:srgbClr val="9FC5E8"/>
          </a:solidFill>
          <a:ln w="38100" cap="flat" cmpd="sng">
            <a:solidFill>
              <a:schemeClr val="dk2"/>
            </a:solidFill>
            <a:prstDash val="solid"/>
            <a:round/>
            <a:headEnd type="none" w="sm" len="sm"/>
            <a:tailEnd type="none" w="sm" len="sm"/>
          </a:ln>
        </p:spPr>
        <p:txBody>
          <a:bodyPr spcFirstLastPara="1" wrap="square" lIns="45713" tIns="45713" rIns="45713" bIns="45713" anchor="t" anchorCtr="0">
            <a:noAutofit/>
          </a:bodyPr>
          <a:lstStyle/>
          <a:p>
            <a:endParaRPr sz="900"/>
          </a:p>
        </p:txBody>
      </p:sp>
      <p:sp>
        <p:nvSpPr>
          <p:cNvPr id="177" name="Google Shape;177;p17"/>
          <p:cNvSpPr/>
          <p:nvPr/>
        </p:nvSpPr>
        <p:spPr>
          <a:xfrm>
            <a:off x="1283400" y="4256250"/>
            <a:ext cx="1597200" cy="401100"/>
          </a:xfrm>
          <a:prstGeom prst="rect">
            <a:avLst/>
          </a:prstGeom>
          <a:solidFill>
            <a:srgbClr val="9FC5E8"/>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2</a:t>
            </a:r>
            <a:endParaRPr sz="1500"/>
          </a:p>
        </p:txBody>
      </p:sp>
      <p:sp>
        <p:nvSpPr>
          <p:cNvPr id="178" name="Google Shape;178;p17"/>
          <p:cNvSpPr/>
          <p:nvPr/>
        </p:nvSpPr>
        <p:spPr>
          <a:xfrm>
            <a:off x="4068713" y="4589012"/>
            <a:ext cx="1861950" cy="307500"/>
          </a:xfrm>
          <a:prstGeom prst="rect">
            <a:avLst/>
          </a:prstGeom>
          <a:solidFill>
            <a:srgbClr val="C9DAF8"/>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TCB 1</a:t>
            </a:r>
            <a:endParaRPr sz="1500"/>
          </a:p>
        </p:txBody>
      </p:sp>
      <p:sp>
        <p:nvSpPr>
          <p:cNvPr id="179" name="Google Shape;179;p17"/>
          <p:cNvSpPr/>
          <p:nvPr/>
        </p:nvSpPr>
        <p:spPr>
          <a:xfrm>
            <a:off x="4068725" y="3764113"/>
            <a:ext cx="1861950" cy="758100"/>
          </a:xfrm>
          <a:prstGeom prst="rect">
            <a:avLst/>
          </a:prstGeom>
          <a:solidFill>
            <a:srgbClr val="D9D2E9"/>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Stack 1</a:t>
            </a:r>
            <a:endParaRPr sz="1500"/>
          </a:p>
        </p:txBody>
      </p:sp>
      <p:sp>
        <p:nvSpPr>
          <p:cNvPr id="180" name="Google Shape;180;p17"/>
          <p:cNvSpPr/>
          <p:nvPr/>
        </p:nvSpPr>
        <p:spPr>
          <a:xfrm>
            <a:off x="3989525" y="1864700"/>
            <a:ext cx="2020350" cy="1278450"/>
          </a:xfrm>
          <a:prstGeom prst="rect">
            <a:avLst/>
          </a:prstGeom>
          <a:solidFill>
            <a:srgbClr val="9FC5E8"/>
          </a:solidFill>
          <a:ln w="38100" cap="flat" cmpd="sng">
            <a:solidFill>
              <a:schemeClr val="dk2"/>
            </a:solidFill>
            <a:prstDash val="solid"/>
            <a:round/>
            <a:headEnd type="none" w="sm" len="sm"/>
            <a:tailEnd type="none" w="sm" len="sm"/>
          </a:ln>
        </p:spPr>
        <p:txBody>
          <a:bodyPr spcFirstLastPara="1" wrap="square" lIns="45713" tIns="45713" rIns="45713" bIns="45713" anchor="t" anchorCtr="0">
            <a:noAutofit/>
          </a:bodyPr>
          <a:lstStyle/>
          <a:p>
            <a:endParaRPr sz="900"/>
          </a:p>
        </p:txBody>
      </p:sp>
      <p:sp>
        <p:nvSpPr>
          <p:cNvPr id="181" name="Google Shape;181;p17"/>
          <p:cNvSpPr/>
          <p:nvPr/>
        </p:nvSpPr>
        <p:spPr>
          <a:xfrm>
            <a:off x="4068713" y="2762650"/>
            <a:ext cx="1861950" cy="307500"/>
          </a:xfrm>
          <a:prstGeom prst="rect">
            <a:avLst/>
          </a:prstGeom>
          <a:solidFill>
            <a:srgbClr val="C9DAF8"/>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TCB 2</a:t>
            </a:r>
            <a:endParaRPr sz="1500"/>
          </a:p>
        </p:txBody>
      </p:sp>
      <p:sp>
        <p:nvSpPr>
          <p:cNvPr id="182" name="Google Shape;182;p17"/>
          <p:cNvSpPr/>
          <p:nvPr/>
        </p:nvSpPr>
        <p:spPr>
          <a:xfrm>
            <a:off x="4068725" y="1937750"/>
            <a:ext cx="1861950" cy="758100"/>
          </a:xfrm>
          <a:prstGeom prst="rect">
            <a:avLst/>
          </a:prstGeom>
          <a:solidFill>
            <a:srgbClr val="D9D2E9"/>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Stack 2</a:t>
            </a:r>
            <a:endParaRPr sz="1500"/>
          </a:p>
        </p:txBody>
      </p:sp>
      <p:sp>
        <p:nvSpPr>
          <p:cNvPr id="183" name="Google Shape;183;p17"/>
          <p:cNvSpPr txBox="1"/>
          <p:nvPr/>
        </p:nvSpPr>
        <p:spPr>
          <a:xfrm>
            <a:off x="4449350" y="1563450"/>
            <a:ext cx="1100700" cy="307500"/>
          </a:xfrm>
          <a:prstGeom prst="rect">
            <a:avLst/>
          </a:prstGeom>
          <a:noFill/>
          <a:ln>
            <a:noFill/>
          </a:ln>
        </p:spPr>
        <p:txBody>
          <a:bodyPr spcFirstLastPara="1" wrap="square" lIns="45713" tIns="45713" rIns="45713" bIns="45713" anchor="ctr" anchorCtr="0">
            <a:noAutofit/>
          </a:bodyPr>
          <a:lstStyle/>
          <a:p>
            <a:pPr algn="ctr"/>
            <a:r>
              <a:rPr lang="en" sz="1200"/>
              <a:t>Task 2</a:t>
            </a:r>
            <a:endParaRPr sz="1200"/>
          </a:p>
        </p:txBody>
      </p:sp>
      <p:sp>
        <p:nvSpPr>
          <p:cNvPr id="184" name="Google Shape;184;p17"/>
          <p:cNvSpPr txBox="1"/>
          <p:nvPr/>
        </p:nvSpPr>
        <p:spPr>
          <a:xfrm>
            <a:off x="4449350" y="3389863"/>
            <a:ext cx="1100700" cy="307500"/>
          </a:xfrm>
          <a:prstGeom prst="rect">
            <a:avLst/>
          </a:prstGeom>
          <a:noFill/>
          <a:ln>
            <a:noFill/>
          </a:ln>
        </p:spPr>
        <p:txBody>
          <a:bodyPr spcFirstLastPara="1" wrap="square" lIns="45713" tIns="45713" rIns="45713" bIns="45713" anchor="ctr" anchorCtr="0">
            <a:noAutofit/>
          </a:bodyPr>
          <a:lstStyle/>
          <a:p>
            <a:pPr algn="ctr"/>
            <a:r>
              <a:rPr lang="en" sz="1200"/>
              <a:t>Task 1</a:t>
            </a:r>
            <a:endParaRPr sz="1200"/>
          </a:p>
        </p:txBody>
      </p:sp>
      <p:cxnSp>
        <p:nvCxnSpPr>
          <p:cNvPr id="185" name="Google Shape;185;p17"/>
          <p:cNvCxnSpPr>
            <a:stCxn id="175" idx="3"/>
            <a:endCxn id="176" idx="1"/>
          </p:cNvCxnSpPr>
          <p:nvPr/>
        </p:nvCxnSpPr>
        <p:spPr>
          <a:xfrm rot="10800000" flipH="1">
            <a:off x="2880600" y="4330262"/>
            <a:ext cx="1108950" cy="527700"/>
          </a:xfrm>
          <a:prstGeom prst="straightConnector1">
            <a:avLst/>
          </a:prstGeom>
          <a:noFill/>
          <a:ln w="76200" cap="flat" cmpd="sng">
            <a:solidFill>
              <a:schemeClr val="dk2"/>
            </a:solidFill>
            <a:prstDash val="solid"/>
            <a:round/>
            <a:headEnd type="none" w="med" len="med"/>
            <a:tailEnd type="triangle" w="med" len="med"/>
          </a:ln>
        </p:spPr>
      </p:cxnSp>
      <p:cxnSp>
        <p:nvCxnSpPr>
          <p:cNvPr id="186" name="Google Shape;186;p17"/>
          <p:cNvCxnSpPr>
            <a:stCxn id="177" idx="3"/>
            <a:endCxn id="180" idx="1"/>
          </p:cNvCxnSpPr>
          <p:nvPr/>
        </p:nvCxnSpPr>
        <p:spPr>
          <a:xfrm rot="10800000" flipH="1">
            <a:off x="2880600" y="2503950"/>
            <a:ext cx="1108950" cy="1952850"/>
          </a:xfrm>
          <a:prstGeom prst="straightConnector1">
            <a:avLst/>
          </a:prstGeom>
          <a:noFill/>
          <a:ln w="76200" cap="flat" cmpd="sng">
            <a:solidFill>
              <a:schemeClr val="dk2"/>
            </a:solidFill>
            <a:prstDash val="solid"/>
            <a:round/>
            <a:headEnd type="none" w="med" len="med"/>
            <a:tailEnd type="triangle" w="med" len="med"/>
          </a:ln>
        </p:spPr>
      </p:cxnSp>
      <p:sp>
        <p:nvSpPr>
          <p:cNvPr id="187" name="Google Shape;187;p17"/>
          <p:cNvSpPr/>
          <p:nvPr/>
        </p:nvSpPr>
        <p:spPr>
          <a:xfrm>
            <a:off x="1283413" y="3855144"/>
            <a:ext cx="1597200" cy="401100"/>
          </a:xfrm>
          <a:prstGeom prst="rect">
            <a:avLst/>
          </a:prstGeom>
          <a:solidFill>
            <a:srgbClr val="9FC5E8"/>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Kernel Object 1</a:t>
            </a:r>
            <a:endParaRPr sz="1500"/>
          </a:p>
        </p:txBody>
      </p:sp>
      <p:sp>
        <p:nvSpPr>
          <p:cNvPr id="188" name="Google Shape;188;p17"/>
          <p:cNvSpPr txBox="1"/>
          <p:nvPr/>
        </p:nvSpPr>
        <p:spPr>
          <a:xfrm>
            <a:off x="6107250" y="4129738"/>
            <a:ext cx="1368600" cy="401100"/>
          </a:xfrm>
          <a:prstGeom prst="rect">
            <a:avLst/>
          </a:prstGeom>
          <a:noFill/>
          <a:ln>
            <a:noFill/>
          </a:ln>
        </p:spPr>
        <p:txBody>
          <a:bodyPr spcFirstLastPara="1" wrap="square" lIns="45713" tIns="45713" rIns="45713" bIns="45713" anchor="ctr" anchorCtr="0">
            <a:noAutofit/>
          </a:bodyPr>
          <a:lstStyle/>
          <a:p>
            <a:r>
              <a:rPr lang="en" sz="1200"/>
              <a:t>xTaskCreate()</a:t>
            </a:r>
            <a:endParaRPr sz="1200"/>
          </a:p>
        </p:txBody>
      </p:sp>
      <p:sp>
        <p:nvSpPr>
          <p:cNvPr id="189" name="Google Shape;189;p17"/>
          <p:cNvSpPr txBox="1"/>
          <p:nvPr/>
        </p:nvSpPr>
        <p:spPr>
          <a:xfrm>
            <a:off x="6107250" y="2303375"/>
            <a:ext cx="1368600" cy="401100"/>
          </a:xfrm>
          <a:prstGeom prst="rect">
            <a:avLst/>
          </a:prstGeom>
          <a:noFill/>
          <a:ln>
            <a:noFill/>
          </a:ln>
        </p:spPr>
        <p:txBody>
          <a:bodyPr spcFirstLastPara="1" wrap="square" lIns="45713" tIns="45713" rIns="45713" bIns="45713" anchor="ctr" anchorCtr="0">
            <a:noAutofit/>
          </a:bodyPr>
          <a:lstStyle/>
          <a:p>
            <a:r>
              <a:rPr lang="en" sz="1200"/>
              <a:t>xTaskCreate()</a:t>
            </a:r>
            <a:endParaRPr sz="1200"/>
          </a:p>
        </p:txBody>
      </p:sp>
      <p:sp>
        <p:nvSpPr>
          <p:cNvPr id="190" name="Google Shape;190;p17"/>
          <p:cNvSpPr txBox="1"/>
          <p:nvPr/>
        </p:nvSpPr>
        <p:spPr>
          <a:xfrm>
            <a:off x="3989550" y="5058575"/>
            <a:ext cx="1718700" cy="401100"/>
          </a:xfrm>
          <a:prstGeom prst="rect">
            <a:avLst/>
          </a:prstGeom>
          <a:noFill/>
          <a:ln>
            <a:noFill/>
          </a:ln>
        </p:spPr>
        <p:txBody>
          <a:bodyPr spcFirstLastPara="1" wrap="square" lIns="45713" tIns="45713" rIns="45713" bIns="45713" anchor="ctr" anchorCtr="0">
            <a:noAutofit/>
          </a:bodyPr>
          <a:lstStyle/>
          <a:p>
            <a:r>
              <a:rPr lang="en" sz="1200"/>
              <a:t>xTaskCreateStatic()</a:t>
            </a:r>
            <a:endParaRPr sz="1200"/>
          </a:p>
        </p:txBody>
      </p:sp>
      <p:cxnSp>
        <p:nvCxnSpPr>
          <p:cNvPr id="191" name="Google Shape;191;p17"/>
          <p:cNvCxnSpPr>
            <a:endCxn id="171" idx="3"/>
          </p:cNvCxnSpPr>
          <p:nvPr/>
        </p:nvCxnSpPr>
        <p:spPr>
          <a:xfrm rot="10800000">
            <a:off x="2880600" y="5259125"/>
            <a:ext cx="1108950" cy="0"/>
          </a:xfrm>
          <a:prstGeom prst="straightConnector1">
            <a:avLst/>
          </a:prstGeom>
          <a:noFill/>
          <a:ln w="38100" cap="flat" cmpd="sng">
            <a:solidFill>
              <a:schemeClr val="dk2"/>
            </a:solidFill>
            <a:prstDash val="solid"/>
            <a:round/>
            <a:headEnd type="none" w="med" len="med"/>
            <a:tailEnd type="triangle" w="med" len="med"/>
          </a:ln>
        </p:spPr>
      </p:cxnSp>
      <p:sp>
        <p:nvSpPr>
          <p:cNvPr id="192" name="Google Shape;192;p17"/>
          <p:cNvSpPr txBox="1"/>
          <p:nvPr/>
        </p:nvSpPr>
        <p:spPr>
          <a:xfrm>
            <a:off x="3056162" y="5362487"/>
            <a:ext cx="5625150" cy="234900"/>
          </a:xfrm>
          <a:prstGeom prst="rect">
            <a:avLst/>
          </a:prstGeom>
          <a:noFill/>
          <a:ln>
            <a:noFill/>
          </a:ln>
        </p:spPr>
        <p:txBody>
          <a:bodyPr spcFirstLastPara="1" wrap="square" lIns="45713" tIns="45713" rIns="45713" bIns="45713" anchor="t" anchorCtr="0">
            <a:noAutofit/>
          </a:bodyPr>
          <a:lstStyle/>
          <a:p>
            <a:r>
              <a:rPr lang="en" sz="1200"/>
              <a:t>#define </a:t>
            </a:r>
            <a:r>
              <a:rPr lang="en" sz="1200">
                <a:uFill>
                  <a:noFill/>
                </a:uFill>
                <a:hlinkClick r:id="rId3"/>
              </a:rPr>
              <a:t>configSUPPORT_STATIC_ALLOCATION</a:t>
            </a:r>
            <a:r>
              <a:rPr lang="en" sz="1200"/>
              <a:t> 1</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6"/>
                                        </p:tgtEl>
                                        <p:attrNameLst>
                                          <p:attrName>style.visibility</p:attrName>
                                        </p:attrNameLst>
                                      </p:cBhvr>
                                      <p:to>
                                        <p:strVal val="visible"/>
                                      </p:to>
                                    </p:set>
                                    <p:animEffect transition="in" filter="fade">
                                      <p:cBhvr>
                                        <p:cTn id="7" dur="1000"/>
                                        <p:tgtEl>
                                          <p:spTgt spid="176"/>
                                        </p:tgtEl>
                                      </p:cBhvr>
                                    </p:animEffect>
                                  </p:childTnLst>
                                </p:cTn>
                              </p:par>
                              <p:par>
                                <p:cTn id="8" presetID="10" presetClass="entr" presetSubtype="0" fill="hold" nodeType="withEffect">
                                  <p:stCondLst>
                                    <p:cond delay="0"/>
                                  </p:stCondLst>
                                  <p:childTnLst>
                                    <p:set>
                                      <p:cBhvr>
                                        <p:cTn id="9" dur="1" fill="hold">
                                          <p:stCondLst>
                                            <p:cond delay="0"/>
                                          </p:stCondLst>
                                        </p:cTn>
                                        <p:tgtEl>
                                          <p:spTgt spid="178"/>
                                        </p:tgtEl>
                                        <p:attrNameLst>
                                          <p:attrName>style.visibility</p:attrName>
                                        </p:attrNameLst>
                                      </p:cBhvr>
                                      <p:to>
                                        <p:strVal val="visible"/>
                                      </p:to>
                                    </p:set>
                                    <p:animEffect transition="in" filter="fade">
                                      <p:cBhvr>
                                        <p:cTn id="10" dur="1000"/>
                                        <p:tgtEl>
                                          <p:spTgt spid="178"/>
                                        </p:tgtEl>
                                      </p:cBhvr>
                                    </p:animEffect>
                                  </p:childTnLst>
                                </p:cTn>
                              </p:par>
                              <p:par>
                                <p:cTn id="11" presetID="10" presetClass="entr" presetSubtype="0" fill="hold" nodeType="withEffect">
                                  <p:stCondLst>
                                    <p:cond delay="0"/>
                                  </p:stCondLst>
                                  <p:childTnLst>
                                    <p:set>
                                      <p:cBhvr>
                                        <p:cTn id="12" dur="1" fill="hold">
                                          <p:stCondLst>
                                            <p:cond delay="0"/>
                                          </p:stCondLst>
                                        </p:cTn>
                                        <p:tgtEl>
                                          <p:spTgt spid="179"/>
                                        </p:tgtEl>
                                        <p:attrNameLst>
                                          <p:attrName>style.visibility</p:attrName>
                                        </p:attrNameLst>
                                      </p:cBhvr>
                                      <p:to>
                                        <p:strVal val="visible"/>
                                      </p:to>
                                    </p:set>
                                    <p:animEffect transition="in" filter="fade">
                                      <p:cBhvr>
                                        <p:cTn id="13" dur="1000"/>
                                        <p:tgtEl>
                                          <p:spTgt spid="179"/>
                                        </p:tgtEl>
                                      </p:cBhvr>
                                    </p:animEffect>
                                  </p:childTnLst>
                                </p:cTn>
                              </p:par>
                              <p:par>
                                <p:cTn id="14" presetID="10" presetClass="entr" presetSubtype="0" fill="hold" nodeType="withEffect">
                                  <p:stCondLst>
                                    <p:cond delay="0"/>
                                  </p:stCondLst>
                                  <p:childTnLst>
                                    <p:set>
                                      <p:cBhvr>
                                        <p:cTn id="15" dur="1" fill="hold">
                                          <p:stCondLst>
                                            <p:cond delay="0"/>
                                          </p:stCondLst>
                                        </p:cTn>
                                        <p:tgtEl>
                                          <p:spTgt spid="184"/>
                                        </p:tgtEl>
                                        <p:attrNameLst>
                                          <p:attrName>style.visibility</p:attrName>
                                        </p:attrNameLst>
                                      </p:cBhvr>
                                      <p:to>
                                        <p:strVal val="visible"/>
                                      </p:to>
                                    </p:set>
                                    <p:animEffect transition="in" filter="fade">
                                      <p:cBhvr>
                                        <p:cTn id="16" dur="1000"/>
                                        <p:tgtEl>
                                          <p:spTgt spid="184"/>
                                        </p:tgtEl>
                                      </p:cBhvr>
                                    </p:animEffect>
                                  </p:childTnLst>
                                </p:cTn>
                              </p:par>
                              <p:par>
                                <p:cTn id="17" presetID="10" presetClass="entr" presetSubtype="0" fill="hold" nodeType="withEffect">
                                  <p:stCondLst>
                                    <p:cond delay="0"/>
                                  </p:stCondLst>
                                  <p:childTnLst>
                                    <p:set>
                                      <p:cBhvr>
                                        <p:cTn id="18" dur="1" fill="hold">
                                          <p:stCondLst>
                                            <p:cond delay="0"/>
                                          </p:stCondLst>
                                        </p:cTn>
                                        <p:tgtEl>
                                          <p:spTgt spid="185"/>
                                        </p:tgtEl>
                                        <p:attrNameLst>
                                          <p:attrName>style.visibility</p:attrName>
                                        </p:attrNameLst>
                                      </p:cBhvr>
                                      <p:to>
                                        <p:strVal val="visible"/>
                                      </p:to>
                                    </p:set>
                                    <p:animEffect transition="in" filter="fade">
                                      <p:cBhvr>
                                        <p:cTn id="19" dur="1000"/>
                                        <p:tgtEl>
                                          <p:spTgt spid="185"/>
                                        </p:tgtEl>
                                      </p:cBhvr>
                                    </p:animEffect>
                                  </p:childTnLst>
                                </p:cTn>
                              </p:par>
                              <p:par>
                                <p:cTn id="20" presetID="10" presetClass="entr" presetSubtype="0" fill="hold" nodeType="withEffect">
                                  <p:stCondLst>
                                    <p:cond delay="0"/>
                                  </p:stCondLst>
                                  <p:childTnLst>
                                    <p:set>
                                      <p:cBhvr>
                                        <p:cTn id="21" dur="1" fill="hold">
                                          <p:stCondLst>
                                            <p:cond delay="0"/>
                                          </p:stCondLst>
                                        </p:cTn>
                                        <p:tgtEl>
                                          <p:spTgt spid="175"/>
                                        </p:tgtEl>
                                        <p:attrNameLst>
                                          <p:attrName>style.visibility</p:attrName>
                                        </p:attrNameLst>
                                      </p:cBhvr>
                                      <p:to>
                                        <p:strVal val="visible"/>
                                      </p:to>
                                    </p:set>
                                    <p:animEffect transition="in" filter="fade">
                                      <p:cBhvr>
                                        <p:cTn id="22" dur="1000"/>
                                        <p:tgtEl>
                                          <p:spTgt spid="175"/>
                                        </p:tgtEl>
                                      </p:cBhvr>
                                    </p:animEffect>
                                  </p:childTnLst>
                                </p:cTn>
                              </p:par>
                              <p:par>
                                <p:cTn id="23" presetID="10" presetClass="entr" presetSubtype="0" fill="hold" nodeType="withEffect">
                                  <p:stCondLst>
                                    <p:cond delay="0"/>
                                  </p:stCondLst>
                                  <p:childTnLst>
                                    <p:set>
                                      <p:cBhvr>
                                        <p:cTn id="24" dur="1" fill="hold">
                                          <p:stCondLst>
                                            <p:cond delay="0"/>
                                          </p:stCondLst>
                                        </p:cTn>
                                        <p:tgtEl>
                                          <p:spTgt spid="188"/>
                                        </p:tgtEl>
                                        <p:attrNameLst>
                                          <p:attrName>style.visibility</p:attrName>
                                        </p:attrNameLst>
                                      </p:cBhvr>
                                      <p:to>
                                        <p:strVal val="visible"/>
                                      </p:to>
                                    </p:set>
                                    <p:animEffect transition="in" filter="fade">
                                      <p:cBhvr>
                                        <p:cTn id="25" dur="1000"/>
                                        <p:tgtEl>
                                          <p:spTgt spid="18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80"/>
                                        </p:tgtEl>
                                        <p:attrNameLst>
                                          <p:attrName>style.visibility</p:attrName>
                                        </p:attrNameLst>
                                      </p:cBhvr>
                                      <p:to>
                                        <p:strVal val="visible"/>
                                      </p:to>
                                    </p:set>
                                    <p:animEffect transition="in" filter="fade">
                                      <p:cBhvr>
                                        <p:cTn id="30" dur="1000"/>
                                        <p:tgtEl>
                                          <p:spTgt spid="180"/>
                                        </p:tgtEl>
                                      </p:cBhvr>
                                    </p:animEffect>
                                  </p:childTnLst>
                                </p:cTn>
                              </p:par>
                              <p:par>
                                <p:cTn id="31" presetID="10" presetClass="entr" presetSubtype="0" fill="hold" nodeType="withEffect">
                                  <p:stCondLst>
                                    <p:cond delay="0"/>
                                  </p:stCondLst>
                                  <p:childTnLst>
                                    <p:set>
                                      <p:cBhvr>
                                        <p:cTn id="32" dur="1" fill="hold">
                                          <p:stCondLst>
                                            <p:cond delay="0"/>
                                          </p:stCondLst>
                                        </p:cTn>
                                        <p:tgtEl>
                                          <p:spTgt spid="181"/>
                                        </p:tgtEl>
                                        <p:attrNameLst>
                                          <p:attrName>style.visibility</p:attrName>
                                        </p:attrNameLst>
                                      </p:cBhvr>
                                      <p:to>
                                        <p:strVal val="visible"/>
                                      </p:to>
                                    </p:set>
                                    <p:animEffect transition="in" filter="fade">
                                      <p:cBhvr>
                                        <p:cTn id="33" dur="1000"/>
                                        <p:tgtEl>
                                          <p:spTgt spid="181"/>
                                        </p:tgtEl>
                                      </p:cBhvr>
                                    </p:animEffect>
                                  </p:childTnLst>
                                </p:cTn>
                              </p:par>
                              <p:par>
                                <p:cTn id="34" presetID="10" presetClass="entr" presetSubtype="0" fill="hold" nodeType="withEffect">
                                  <p:stCondLst>
                                    <p:cond delay="0"/>
                                  </p:stCondLst>
                                  <p:childTnLst>
                                    <p:set>
                                      <p:cBhvr>
                                        <p:cTn id="35" dur="1" fill="hold">
                                          <p:stCondLst>
                                            <p:cond delay="0"/>
                                          </p:stCondLst>
                                        </p:cTn>
                                        <p:tgtEl>
                                          <p:spTgt spid="182"/>
                                        </p:tgtEl>
                                        <p:attrNameLst>
                                          <p:attrName>style.visibility</p:attrName>
                                        </p:attrNameLst>
                                      </p:cBhvr>
                                      <p:to>
                                        <p:strVal val="visible"/>
                                      </p:to>
                                    </p:set>
                                    <p:animEffect transition="in" filter="fade">
                                      <p:cBhvr>
                                        <p:cTn id="36" dur="1000"/>
                                        <p:tgtEl>
                                          <p:spTgt spid="182"/>
                                        </p:tgtEl>
                                      </p:cBhvr>
                                    </p:animEffect>
                                  </p:childTnLst>
                                </p:cTn>
                              </p:par>
                              <p:par>
                                <p:cTn id="37" presetID="10" presetClass="entr" presetSubtype="0" fill="hold" nodeType="withEffect">
                                  <p:stCondLst>
                                    <p:cond delay="0"/>
                                  </p:stCondLst>
                                  <p:childTnLst>
                                    <p:set>
                                      <p:cBhvr>
                                        <p:cTn id="38" dur="1" fill="hold">
                                          <p:stCondLst>
                                            <p:cond delay="0"/>
                                          </p:stCondLst>
                                        </p:cTn>
                                        <p:tgtEl>
                                          <p:spTgt spid="183"/>
                                        </p:tgtEl>
                                        <p:attrNameLst>
                                          <p:attrName>style.visibility</p:attrName>
                                        </p:attrNameLst>
                                      </p:cBhvr>
                                      <p:to>
                                        <p:strVal val="visible"/>
                                      </p:to>
                                    </p:set>
                                    <p:animEffect transition="in" filter="fade">
                                      <p:cBhvr>
                                        <p:cTn id="39" dur="1000"/>
                                        <p:tgtEl>
                                          <p:spTgt spid="183"/>
                                        </p:tgtEl>
                                      </p:cBhvr>
                                    </p:animEffect>
                                  </p:childTnLst>
                                </p:cTn>
                              </p:par>
                              <p:par>
                                <p:cTn id="40" presetID="10" presetClass="entr" presetSubtype="0" fill="hold" nodeType="withEffect">
                                  <p:stCondLst>
                                    <p:cond delay="0"/>
                                  </p:stCondLst>
                                  <p:childTnLst>
                                    <p:set>
                                      <p:cBhvr>
                                        <p:cTn id="41" dur="1" fill="hold">
                                          <p:stCondLst>
                                            <p:cond delay="0"/>
                                          </p:stCondLst>
                                        </p:cTn>
                                        <p:tgtEl>
                                          <p:spTgt spid="186"/>
                                        </p:tgtEl>
                                        <p:attrNameLst>
                                          <p:attrName>style.visibility</p:attrName>
                                        </p:attrNameLst>
                                      </p:cBhvr>
                                      <p:to>
                                        <p:strVal val="visible"/>
                                      </p:to>
                                    </p:set>
                                    <p:animEffect transition="in" filter="fade">
                                      <p:cBhvr>
                                        <p:cTn id="42" dur="1000"/>
                                        <p:tgtEl>
                                          <p:spTgt spid="186"/>
                                        </p:tgtEl>
                                      </p:cBhvr>
                                    </p:animEffect>
                                  </p:childTnLst>
                                </p:cTn>
                              </p:par>
                              <p:par>
                                <p:cTn id="43" presetID="10" presetClass="entr" presetSubtype="0" fill="hold" nodeType="withEffect">
                                  <p:stCondLst>
                                    <p:cond delay="0"/>
                                  </p:stCondLst>
                                  <p:childTnLst>
                                    <p:set>
                                      <p:cBhvr>
                                        <p:cTn id="44" dur="1" fill="hold">
                                          <p:stCondLst>
                                            <p:cond delay="0"/>
                                          </p:stCondLst>
                                        </p:cTn>
                                        <p:tgtEl>
                                          <p:spTgt spid="177"/>
                                        </p:tgtEl>
                                        <p:attrNameLst>
                                          <p:attrName>style.visibility</p:attrName>
                                        </p:attrNameLst>
                                      </p:cBhvr>
                                      <p:to>
                                        <p:strVal val="visible"/>
                                      </p:to>
                                    </p:set>
                                    <p:animEffect transition="in" filter="fade">
                                      <p:cBhvr>
                                        <p:cTn id="45" dur="1000"/>
                                        <p:tgtEl>
                                          <p:spTgt spid="177"/>
                                        </p:tgtEl>
                                      </p:cBhvr>
                                    </p:animEffect>
                                  </p:childTnLst>
                                </p:cTn>
                              </p:par>
                              <p:par>
                                <p:cTn id="46" presetID="10" presetClass="entr" presetSubtype="0" fill="hold" nodeType="withEffect">
                                  <p:stCondLst>
                                    <p:cond delay="0"/>
                                  </p:stCondLst>
                                  <p:childTnLst>
                                    <p:set>
                                      <p:cBhvr>
                                        <p:cTn id="47" dur="1" fill="hold">
                                          <p:stCondLst>
                                            <p:cond delay="0"/>
                                          </p:stCondLst>
                                        </p:cTn>
                                        <p:tgtEl>
                                          <p:spTgt spid="189"/>
                                        </p:tgtEl>
                                        <p:attrNameLst>
                                          <p:attrName>style.visibility</p:attrName>
                                        </p:attrNameLst>
                                      </p:cBhvr>
                                      <p:to>
                                        <p:strVal val="visible"/>
                                      </p:to>
                                    </p:set>
                                    <p:animEffect transition="in" filter="fade">
                                      <p:cBhvr>
                                        <p:cTn id="48" dur="1000"/>
                                        <p:tgtEl>
                                          <p:spTgt spid="189"/>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87"/>
                                        </p:tgtEl>
                                        <p:attrNameLst>
                                          <p:attrName>style.visibility</p:attrName>
                                        </p:attrNameLst>
                                      </p:cBhvr>
                                      <p:to>
                                        <p:strVal val="visible"/>
                                      </p:to>
                                    </p:set>
                                    <p:animEffect transition="in" filter="fade">
                                      <p:cBhvr>
                                        <p:cTn id="53" dur="1000"/>
                                        <p:tgtEl>
                                          <p:spTgt spid="18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90"/>
                                        </p:tgtEl>
                                        <p:attrNameLst>
                                          <p:attrName>style.visibility</p:attrName>
                                        </p:attrNameLst>
                                      </p:cBhvr>
                                      <p:to>
                                        <p:strVal val="visible"/>
                                      </p:to>
                                    </p:set>
                                    <p:animEffect transition="in" filter="fade">
                                      <p:cBhvr>
                                        <p:cTn id="58" dur="1000"/>
                                        <p:tgtEl>
                                          <p:spTgt spid="190"/>
                                        </p:tgtEl>
                                      </p:cBhvr>
                                    </p:animEffect>
                                  </p:childTnLst>
                                </p:cTn>
                              </p:par>
                              <p:par>
                                <p:cTn id="59" presetID="10" presetClass="entr" presetSubtype="0" fill="hold" nodeType="withEffect">
                                  <p:stCondLst>
                                    <p:cond delay="0"/>
                                  </p:stCondLst>
                                  <p:childTnLst>
                                    <p:set>
                                      <p:cBhvr>
                                        <p:cTn id="60" dur="1" fill="hold">
                                          <p:stCondLst>
                                            <p:cond delay="0"/>
                                          </p:stCondLst>
                                        </p:cTn>
                                        <p:tgtEl>
                                          <p:spTgt spid="191"/>
                                        </p:tgtEl>
                                        <p:attrNameLst>
                                          <p:attrName>style.visibility</p:attrName>
                                        </p:attrNameLst>
                                      </p:cBhvr>
                                      <p:to>
                                        <p:strVal val="visible"/>
                                      </p:to>
                                    </p:set>
                                    <p:animEffect transition="in" filter="fade">
                                      <p:cBhvr>
                                        <p:cTn id="61" dur="1000"/>
                                        <p:tgtEl>
                                          <p:spTgt spid="191"/>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92"/>
                                        </p:tgtEl>
                                        <p:attrNameLst>
                                          <p:attrName>style.visibility</p:attrName>
                                        </p:attrNameLst>
                                      </p:cBhvr>
                                      <p:to>
                                        <p:strVal val="visible"/>
                                      </p:to>
                                    </p:set>
                                    <p:animEffect transition="in" filter="fade">
                                      <p:cBhvr>
                                        <p:cTn id="66" dur="1000"/>
                                        <p:tgtEl>
                                          <p:spTgt spid="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8"/>
          <p:cNvSpPr txBox="1"/>
          <p:nvPr/>
        </p:nvSpPr>
        <p:spPr>
          <a:xfrm>
            <a:off x="0" y="857250"/>
            <a:ext cx="9144000" cy="706200"/>
          </a:xfrm>
          <a:prstGeom prst="rect">
            <a:avLst/>
          </a:prstGeom>
          <a:noFill/>
          <a:ln>
            <a:noFill/>
          </a:ln>
        </p:spPr>
        <p:txBody>
          <a:bodyPr spcFirstLastPara="1" wrap="square" lIns="45713" tIns="45713" rIns="45713" bIns="45713" anchor="ctr" anchorCtr="0">
            <a:noAutofit/>
          </a:bodyPr>
          <a:lstStyle/>
          <a:p>
            <a:pPr algn="ctr"/>
            <a:r>
              <a:rPr lang="en" sz="2400"/>
              <a:t>Challenge: Pass a Message</a:t>
            </a:r>
            <a:endParaRPr sz="2400"/>
          </a:p>
        </p:txBody>
      </p:sp>
      <p:sp>
        <p:nvSpPr>
          <p:cNvPr id="198" name="Google Shape;198;p18"/>
          <p:cNvSpPr/>
          <p:nvPr/>
        </p:nvSpPr>
        <p:spPr>
          <a:xfrm>
            <a:off x="1805269" y="2456775"/>
            <a:ext cx="2064150" cy="1944450"/>
          </a:xfrm>
          <a:prstGeom prst="rect">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t" anchorCtr="0">
            <a:noAutofit/>
          </a:bodyPr>
          <a:lstStyle/>
          <a:p>
            <a:pPr algn="ctr"/>
            <a:r>
              <a:rPr lang="en" sz="1200" b="1"/>
              <a:t>Task A</a:t>
            </a:r>
            <a:endParaRPr sz="1200" b="1"/>
          </a:p>
          <a:p>
            <a:pPr algn="ctr"/>
            <a:endParaRPr sz="1200" b="1"/>
          </a:p>
          <a:p>
            <a:pPr marL="228611" indent="-190510">
              <a:buSzPts val="2400"/>
              <a:buChar char="●"/>
            </a:pPr>
            <a:r>
              <a:rPr lang="en" sz="1200"/>
              <a:t>Listens for input from Serial Monitor</a:t>
            </a:r>
            <a:endParaRPr sz="1200"/>
          </a:p>
          <a:p>
            <a:pPr marL="228611" indent="-190510">
              <a:buSzPts val="2400"/>
              <a:buChar char="●"/>
            </a:pPr>
            <a:r>
              <a:rPr lang="en" sz="1200"/>
              <a:t>On newline char (‘\n’), stores all chars up to that point in heap memory</a:t>
            </a:r>
            <a:endParaRPr sz="1200"/>
          </a:p>
          <a:p>
            <a:pPr marL="228611" indent="-190510">
              <a:buSzPts val="2400"/>
              <a:buChar char="●"/>
            </a:pPr>
            <a:r>
              <a:rPr lang="en" sz="1200"/>
              <a:t>Notifies Task B of new message</a:t>
            </a:r>
            <a:endParaRPr sz="1200"/>
          </a:p>
        </p:txBody>
      </p:sp>
      <p:sp>
        <p:nvSpPr>
          <p:cNvPr id="199" name="Google Shape;199;p18"/>
          <p:cNvSpPr/>
          <p:nvPr/>
        </p:nvSpPr>
        <p:spPr>
          <a:xfrm>
            <a:off x="5274581" y="2456775"/>
            <a:ext cx="2064150" cy="1944450"/>
          </a:xfrm>
          <a:prstGeom prst="rect">
            <a:avLst/>
          </a:prstGeom>
          <a:solidFill>
            <a:srgbClr val="D9D2E9"/>
          </a:solidFill>
          <a:ln w="38100" cap="flat" cmpd="sng">
            <a:solidFill>
              <a:schemeClr val="dk2"/>
            </a:solidFill>
            <a:prstDash val="solid"/>
            <a:round/>
            <a:headEnd type="none" w="sm" len="sm"/>
            <a:tailEnd type="none" w="sm" len="sm"/>
          </a:ln>
        </p:spPr>
        <p:txBody>
          <a:bodyPr spcFirstLastPara="1" wrap="square" lIns="45713" tIns="45713" rIns="45713" bIns="45713" anchor="t" anchorCtr="0">
            <a:noAutofit/>
          </a:bodyPr>
          <a:lstStyle/>
          <a:p>
            <a:pPr algn="ctr"/>
            <a:r>
              <a:rPr lang="en" sz="1200" b="1"/>
              <a:t>Task B</a:t>
            </a:r>
            <a:endParaRPr sz="1200" b="1"/>
          </a:p>
          <a:p>
            <a:pPr algn="ctr"/>
            <a:endParaRPr sz="1200" b="1"/>
          </a:p>
          <a:p>
            <a:pPr marL="228611" indent="-190510">
              <a:buSzPts val="2400"/>
              <a:buChar char="●"/>
            </a:pPr>
            <a:r>
              <a:rPr lang="en" sz="1200"/>
              <a:t>Waits for notification from Task A</a:t>
            </a:r>
            <a:endParaRPr sz="1200"/>
          </a:p>
          <a:p>
            <a:pPr marL="228611" indent="-190510">
              <a:buSzPts val="2400"/>
              <a:buChar char="●"/>
            </a:pPr>
            <a:r>
              <a:rPr lang="en" sz="1200"/>
              <a:t>Prints message found in heap memory to Serial Monitor</a:t>
            </a:r>
            <a:endParaRPr sz="1200"/>
          </a:p>
          <a:p>
            <a:pPr marL="228611" indent="-190510">
              <a:buSzPts val="2400"/>
              <a:buChar char="●"/>
            </a:pPr>
            <a:r>
              <a:rPr lang="en" sz="1200"/>
              <a:t>Frees heap memory</a:t>
            </a:r>
            <a:endParaRPr sz="120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B479FCF-3328-69A3-2CC4-32D4EDF94EC6}"/>
              </a:ext>
            </a:extLst>
          </p:cNvPr>
          <p:cNvSpPr txBox="1"/>
          <p:nvPr/>
        </p:nvSpPr>
        <p:spPr>
          <a:xfrm>
            <a:off x="564292" y="-7354238"/>
            <a:ext cx="4572000" cy="14311610"/>
          </a:xfrm>
          <a:prstGeom prst="rect">
            <a:avLst/>
          </a:prstGeom>
          <a:noFill/>
        </p:spPr>
        <p:txBody>
          <a:bodyPr wrap="square">
            <a:spAutoFit/>
          </a:bodyPr>
          <a:lstStyle/>
          <a:p>
            <a:r>
              <a:rPr lang="en-US" sz="1050" dirty="0"/>
              <a:t>/**</a:t>
            </a:r>
          </a:p>
          <a:p>
            <a:r>
              <a:rPr lang="en-US" sz="1050" dirty="0"/>
              <a:t> * </a:t>
            </a:r>
            <a:r>
              <a:rPr lang="en-US" sz="1050" dirty="0" err="1"/>
              <a:t>FreeRTOS</a:t>
            </a:r>
            <a:r>
              <a:rPr lang="en-US" sz="1050" dirty="0"/>
              <a:t> Stack Overflow Demo</a:t>
            </a:r>
          </a:p>
          <a:p>
            <a:r>
              <a:rPr lang="en-US" sz="1050" dirty="0"/>
              <a:t> * </a:t>
            </a:r>
          </a:p>
          <a:p>
            <a:r>
              <a:rPr lang="en-US" sz="1050" dirty="0"/>
              <a:t> * Generate a stack overflow on purpose.</a:t>
            </a:r>
          </a:p>
          <a:p>
            <a:r>
              <a:rPr lang="en-US" sz="1050" dirty="0"/>
              <a:t> * </a:t>
            </a:r>
          </a:p>
          <a:p>
            <a:r>
              <a:rPr lang="en-US" sz="1050" dirty="0"/>
              <a:t> * Date: December 5, 2020</a:t>
            </a:r>
          </a:p>
          <a:p>
            <a:r>
              <a:rPr lang="en-US" sz="1050" dirty="0"/>
              <a:t> * Author: Shawn Hymel</a:t>
            </a:r>
          </a:p>
          <a:p>
            <a:r>
              <a:rPr lang="en-US" sz="1050" dirty="0"/>
              <a:t> * License: 0BSD</a:t>
            </a:r>
          </a:p>
          <a:p>
            <a:r>
              <a:rPr lang="en-US" sz="1050" dirty="0"/>
              <a:t> */</a:t>
            </a:r>
          </a:p>
          <a:p>
            <a:endParaRPr lang="en-US" sz="1050" dirty="0"/>
          </a:p>
          <a:p>
            <a:r>
              <a:rPr lang="en-US" sz="1050" dirty="0"/>
              <a:t>// Use only core 1 for demo purposes</a:t>
            </a:r>
          </a:p>
          <a:p>
            <a:r>
              <a:rPr lang="en-US" sz="1050" dirty="0"/>
              <a:t>#if CONFIG_FREERTOS_UNICORE</a:t>
            </a:r>
          </a:p>
          <a:p>
            <a:r>
              <a:rPr lang="en-US" sz="1050" dirty="0"/>
              <a:t>  static const </a:t>
            </a:r>
            <a:r>
              <a:rPr lang="en-US" sz="1050" dirty="0" err="1"/>
              <a:t>BaseType_t</a:t>
            </a:r>
            <a:r>
              <a:rPr lang="en-US" sz="1050" dirty="0"/>
              <a:t> </a:t>
            </a:r>
            <a:r>
              <a:rPr lang="en-US" sz="1050" dirty="0" err="1"/>
              <a:t>app_cpu</a:t>
            </a:r>
            <a:r>
              <a:rPr lang="en-US" sz="1050" dirty="0"/>
              <a:t> = 0;</a:t>
            </a:r>
          </a:p>
          <a:p>
            <a:r>
              <a:rPr lang="en-US" sz="1050" dirty="0"/>
              <a:t>#else</a:t>
            </a:r>
          </a:p>
          <a:p>
            <a:r>
              <a:rPr lang="en-US" sz="1050" dirty="0"/>
              <a:t>  static const </a:t>
            </a:r>
            <a:r>
              <a:rPr lang="en-US" sz="1050" dirty="0" err="1"/>
              <a:t>BaseType_t</a:t>
            </a:r>
            <a:r>
              <a:rPr lang="en-US" sz="1050" dirty="0"/>
              <a:t> </a:t>
            </a:r>
            <a:r>
              <a:rPr lang="en-US" sz="1050" dirty="0" err="1"/>
              <a:t>app_cpu</a:t>
            </a:r>
            <a:r>
              <a:rPr lang="en-US" sz="1050" dirty="0"/>
              <a:t> = 1;</a:t>
            </a:r>
          </a:p>
          <a:p>
            <a:r>
              <a:rPr lang="en-US" sz="1050" dirty="0"/>
              <a:t>#endif</a:t>
            </a:r>
          </a:p>
          <a:p>
            <a:endParaRPr lang="en-US" sz="1050" dirty="0"/>
          </a:p>
          <a:p>
            <a:r>
              <a:rPr lang="en-US" sz="1050" dirty="0"/>
              <a:t>// Task: Perform some mundane task</a:t>
            </a:r>
          </a:p>
          <a:p>
            <a:r>
              <a:rPr lang="en-US" sz="1050" dirty="0"/>
              <a:t>void </a:t>
            </a:r>
            <a:r>
              <a:rPr lang="en-US" sz="1050" dirty="0" err="1"/>
              <a:t>testTask</a:t>
            </a:r>
            <a:r>
              <a:rPr lang="en-US" sz="1050" dirty="0"/>
              <a:t>(void *parameter) {</a:t>
            </a:r>
          </a:p>
          <a:p>
            <a:r>
              <a:rPr lang="en-US" sz="1050" dirty="0"/>
              <a:t>  while (1) {</a:t>
            </a:r>
          </a:p>
          <a:p>
            <a:r>
              <a:rPr lang="en-US" sz="1050" dirty="0"/>
              <a:t>    int a = 1;</a:t>
            </a:r>
          </a:p>
          <a:p>
            <a:r>
              <a:rPr lang="en-US" sz="1050" dirty="0"/>
              <a:t>    int b[100];</a:t>
            </a:r>
          </a:p>
          <a:p>
            <a:endParaRPr lang="en-US" sz="1050" dirty="0"/>
          </a:p>
          <a:p>
            <a:r>
              <a:rPr lang="en-US" sz="1050" dirty="0"/>
              <a:t>    // Do something with array so it's not optimized out by the compiler</a:t>
            </a:r>
          </a:p>
          <a:p>
            <a:r>
              <a:rPr lang="en-US" sz="1050" dirty="0"/>
              <a:t>    for (int </a:t>
            </a:r>
            <a:r>
              <a:rPr lang="en-US" sz="1050" dirty="0" err="1"/>
              <a:t>i</a:t>
            </a:r>
            <a:r>
              <a:rPr lang="en-US" sz="1050" dirty="0"/>
              <a:t> = 0; </a:t>
            </a:r>
            <a:r>
              <a:rPr lang="en-US" sz="1050" dirty="0" err="1"/>
              <a:t>i</a:t>
            </a:r>
            <a:r>
              <a:rPr lang="en-US" sz="1050" dirty="0"/>
              <a:t> &lt; 100; </a:t>
            </a:r>
            <a:r>
              <a:rPr lang="en-US" sz="1050" dirty="0" err="1"/>
              <a:t>i</a:t>
            </a:r>
            <a:r>
              <a:rPr lang="en-US" sz="1050" dirty="0"/>
              <a:t>++) {</a:t>
            </a:r>
          </a:p>
          <a:p>
            <a:r>
              <a:rPr lang="en-US" sz="1050" dirty="0"/>
              <a:t>      b[</a:t>
            </a:r>
            <a:r>
              <a:rPr lang="en-US" sz="1050" dirty="0" err="1"/>
              <a:t>i</a:t>
            </a:r>
            <a:r>
              <a:rPr lang="en-US" sz="1050" dirty="0"/>
              <a:t>] = a + 1;</a:t>
            </a:r>
          </a:p>
          <a:p>
            <a:r>
              <a:rPr lang="en-US" sz="1050" dirty="0"/>
              <a:t>    }</a:t>
            </a:r>
          </a:p>
          <a:p>
            <a:r>
              <a:rPr lang="en-US" sz="1050" dirty="0"/>
              <a:t>    //</a:t>
            </a:r>
            <a:r>
              <a:rPr lang="en-US" sz="1050" dirty="0" err="1"/>
              <a:t>Serial.println</a:t>
            </a:r>
            <a:r>
              <a:rPr lang="en-US" sz="1050" dirty="0"/>
              <a:t>(b[0]);</a:t>
            </a:r>
          </a:p>
          <a:p>
            <a:endParaRPr lang="en-US" sz="1050" dirty="0"/>
          </a:p>
          <a:p>
            <a:r>
              <a:rPr lang="en-US" sz="1050" dirty="0"/>
              <a:t>    // Print out remaining stack memory (words)</a:t>
            </a:r>
          </a:p>
          <a:p>
            <a:r>
              <a:rPr lang="en-US" sz="1050" dirty="0"/>
              <a:t>    </a:t>
            </a:r>
            <a:r>
              <a:rPr lang="en-US" sz="1050" dirty="0" err="1"/>
              <a:t>Serial.print</a:t>
            </a:r>
            <a:r>
              <a:rPr lang="en-US" sz="1050" dirty="0"/>
              <a:t>("High water mark (words): ");</a:t>
            </a:r>
          </a:p>
          <a:p>
            <a:r>
              <a:rPr lang="en-US" sz="1050" dirty="0"/>
              <a:t>    </a:t>
            </a:r>
            <a:r>
              <a:rPr lang="en-US" sz="1050" dirty="0" err="1"/>
              <a:t>Serial.println</a:t>
            </a:r>
            <a:r>
              <a:rPr lang="en-US" sz="1050" dirty="0"/>
              <a:t>(</a:t>
            </a:r>
            <a:r>
              <a:rPr lang="en-US" sz="1050" dirty="0" err="1"/>
              <a:t>uxTaskGetStackHighWaterMark</a:t>
            </a:r>
            <a:r>
              <a:rPr lang="en-US" sz="1050" dirty="0"/>
              <a:t>(NULL));</a:t>
            </a:r>
          </a:p>
          <a:p>
            <a:endParaRPr lang="en-US" sz="1050" dirty="0"/>
          </a:p>
          <a:p>
            <a:r>
              <a:rPr lang="en-US" sz="1050" dirty="0"/>
              <a:t>    // Print out number of free heap memory bytes before malloc</a:t>
            </a:r>
          </a:p>
          <a:p>
            <a:r>
              <a:rPr lang="en-US" sz="1050" dirty="0"/>
              <a:t>    </a:t>
            </a:r>
            <a:r>
              <a:rPr lang="en-US" sz="1050" dirty="0" err="1"/>
              <a:t>Serial.print</a:t>
            </a:r>
            <a:r>
              <a:rPr lang="en-US" sz="1050" dirty="0"/>
              <a:t>("Heap before malloc (bytes): ");</a:t>
            </a:r>
          </a:p>
          <a:p>
            <a:r>
              <a:rPr lang="en-US" sz="1050" dirty="0"/>
              <a:t>    </a:t>
            </a:r>
            <a:r>
              <a:rPr lang="en-US" sz="1050" dirty="0" err="1"/>
              <a:t>Serial.println</a:t>
            </a:r>
            <a:r>
              <a:rPr lang="en-US" sz="1050" dirty="0"/>
              <a:t>(</a:t>
            </a:r>
            <a:r>
              <a:rPr lang="en-US" sz="1050" dirty="0" err="1"/>
              <a:t>xPortGetFreeHeapSize</a:t>
            </a:r>
            <a:r>
              <a:rPr lang="en-US" sz="1050" dirty="0"/>
              <a:t>());</a:t>
            </a:r>
          </a:p>
          <a:p>
            <a:r>
              <a:rPr lang="en-US" sz="1050" dirty="0"/>
              <a:t>    int *</a:t>
            </a:r>
            <a:r>
              <a:rPr lang="en-US" sz="1050" dirty="0" err="1"/>
              <a:t>ptr</a:t>
            </a:r>
            <a:r>
              <a:rPr lang="en-US" sz="1050" dirty="0"/>
              <a:t> = (int*)</a:t>
            </a:r>
            <a:r>
              <a:rPr lang="en-US" sz="1050" dirty="0" err="1"/>
              <a:t>pvPortMalloc</a:t>
            </a:r>
            <a:r>
              <a:rPr lang="en-US" sz="1050" dirty="0"/>
              <a:t>(1024 * </a:t>
            </a:r>
            <a:r>
              <a:rPr lang="en-US" sz="1050" dirty="0" err="1"/>
              <a:t>sizeof</a:t>
            </a:r>
            <a:r>
              <a:rPr lang="en-US" sz="1050" dirty="0"/>
              <a:t>(int));</a:t>
            </a:r>
          </a:p>
          <a:p>
            <a:endParaRPr lang="en-US" sz="1050" dirty="0"/>
          </a:p>
          <a:p>
            <a:r>
              <a:rPr lang="en-US" sz="1050" dirty="0"/>
              <a:t>    // One way to prevent heap overflow is to check the malloc output</a:t>
            </a:r>
          </a:p>
          <a:p>
            <a:r>
              <a:rPr lang="en-US" sz="1050" dirty="0"/>
              <a:t>    if (</a:t>
            </a:r>
            <a:r>
              <a:rPr lang="en-US" sz="1050" dirty="0" err="1"/>
              <a:t>ptr</a:t>
            </a:r>
            <a:r>
              <a:rPr lang="en-US" sz="1050" dirty="0"/>
              <a:t> == NULL) {</a:t>
            </a:r>
          </a:p>
          <a:p>
            <a:r>
              <a:rPr lang="en-US" sz="1050" dirty="0"/>
              <a:t>      </a:t>
            </a:r>
            <a:r>
              <a:rPr lang="en-US" sz="1050" dirty="0" err="1"/>
              <a:t>Serial.println</a:t>
            </a:r>
            <a:r>
              <a:rPr lang="en-US" sz="1050" dirty="0"/>
              <a:t>("Not enough heap.");</a:t>
            </a:r>
          </a:p>
          <a:p>
            <a:r>
              <a:rPr lang="en-US" sz="1050" dirty="0"/>
              <a:t>      </a:t>
            </a:r>
            <a:r>
              <a:rPr lang="en-US" sz="1050" dirty="0" err="1"/>
              <a:t>vPortFree</a:t>
            </a:r>
            <a:r>
              <a:rPr lang="en-US" sz="1050" dirty="0"/>
              <a:t>(NULL);</a:t>
            </a:r>
          </a:p>
          <a:p>
            <a:r>
              <a:rPr lang="en-US" sz="1050" dirty="0"/>
              <a:t>    } else {</a:t>
            </a:r>
          </a:p>
          <a:p>
            <a:r>
              <a:rPr lang="en-US" sz="1050" dirty="0"/>
              <a:t>      </a:t>
            </a:r>
          </a:p>
          <a:p>
            <a:r>
              <a:rPr lang="en-US" sz="1050" dirty="0"/>
              <a:t>      // Do something with the memory so it's not optimized out by the compiler</a:t>
            </a:r>
          </a:p>
          <a:p>
            <a:r>
              <a:rPr lang="en-US" sz="1050" dirty="0"/>
              <a:t>      for (int </a:t>
            </a:r>
            <a:r>
              <a:rPr lang="en-US" sz="1050" dirty="0" err="1"/>
              <a:t>i</a:t>
            </a:r>
            <a:r>
              <a:rPr lang="en-US" sz="1050" dirty="0"/>
              <a:t> = 0; </a:t>
            </a:r>
            <a:r>
              <a:rPr lang="en-US" sz="1050" dirty="0" err="1"/>
              <a:t>i</a:t>
            </a:r>
            <a:r>
              <a:rPr lang="en-US" sz="1050" dirty="0"/>
              <a:t> &lt; 1024; </a:t>
            </a:r>
            <a:r>
              <a:rPr lang="en-US" sz="1050" dirty="0" err="1"/>
              <a:t>i</a:t>
            </a:r>
            <a:r>
              <a:rPr lang="en-US" sz="1050" dirty="0"/>
              <a:t>++) {</a:t>
            </a:r>
          </a:p>
          <a:p>
            <a:r>
              <a:rPr lang="en-US" sz="1050" dirty="0"/>
              <a:t>        </a:t>
            </a:r>
            <a:r>
              <a:rPr lang="en-US" sz="1050" dirty="0" err="1"/>
              <a:t>ptr</a:t>
            </a:r>
            <a:r>
              <a:rPr lang="en-US" sz="1050" dirty="0"/>
              <a:t>[</a:t>
            </a:r>
            <a:r>
              <a:rPr lang="en-US" sz="1050" dirty="0" err="1"/>
              <a:t>i</a:t>
            </a:r>
            <a:r>
              <a:rPr lang="en-US" sz="1050" dirty="0"/>
              <a:t>] = 3;</a:t>
            </a:r>
          </a:p>
          <a:p>
            <a:r>
              <a:rPr lang="en-US" sz="1050" dirty="0"/>
              <a:t>      }</a:t>
            </a:r>
          </a:p>
          <a:p>
            <a:r>
              <a:rPr lang="en-US" sz="1050" dirty="0"/>
              <a:t>    }</a:t>
            </a:r>
          </a:p>
          <a:p>
            <a:endParaRPr lang="en-US" sz="1050" dirty="0"/>
          </a:p>
          <a:p>
            <a:r>
              <a:rPr lang="en-US" sz="1050" dirty="0"/>
              <a:t>    // Print out number of free heap memory bytes after malloc</a:t>
            </a:r>
          </a:p>
          <a:p>
            <a:r>
              <a:rPr lang="en-US" sz="1050" dirty="0"/>
              <a:t>    </a:t>
            </a:r>
            <a:r>
              <a:rPr lang="en-US" sz="1050" dirty="0" err="1"/>
              <a:t>Serial.print</a:t>
            </a:r>
            <a:r>
              <a:rPr lang="en-US" sz="1050" dirty="0"/>
              <a:t>("Heap after malloc (bytes): "); </a:t>
            </a:r>
          </a:p>
          <a:p>
            <a:r>
              <a:rPr lang="en-US" sz="1050" dirty="0"/>
              <a:t>    </a:t>
            </a:r>
            <a:r>
              <a:rPr lang="en-US" sz="1050" dirty="0" err="1"/>
              <a:t>Serial.println</a:t>
            </a:r>
            <a:r>
              <a:rPr lang="en-US" sz="1050" dirty="0"/>
              <a:t>(</a:t>
            </a:r>
            <a:r>
              <a:rPr lang="en-US" sz="1050" dirty="0" err="1"/>
              <a:t>xPortGetFreeHeapSize</a:t>
            </a:r>
            <a:r>
              <a:rPr lang="en-US" sz="1050" dirty="0"/>
              <a:t>());</a:t>
            </a:r>
          </a:p>
          <a:p>
            <a:endParaRPr lang="en-US" sz="1050" dirty="0"/>
          </a:p>
          <a:p>
            <a:r>
              <a:rPr lang="en-US" sz="1050" dirty="0"/>
              <a:t>    // Free up our allocated memory</a:t>
            </a:r>
          </a:p>
          <a:p>
            <a:r>
              <a:rPr lang="en-US" sz="1050" dirty="0"/>
              <a:t>    //</a:t>
            </a:r>
            <a:r>
              <a:rPr lang="en-US" sz="1050" dirty="0" err="1"/>
              <a:t>vPortFree</a:t>
            </a:r>
            <a:r>
              <a:rPr lang="en-US" sz="1050" dirty="0"/>
              <a:t>(</a:t>
            </a:r>
            <a:r>
              <a:rPr lang="en-US" sz="1050" dirty="0" err="1"/>
              <a:t>ptr</a:t>
            </a:r>
            <a:r>
              <a:rPr lang="en-US" sz="1050" dirty="0"/>
              <a:t>);</a:t>
            </a:r>
          </a:p>
          <a:p>
            <a:endParaRPr lang="en-US" sz="1050" dirty="0"/>
          </a:p>
          <a:p>
            <a:r>
              <a:rPr lang="en-US" sz="1050" dirty="0"/>
              <a:t>    // Wait for a while</a:t>
            </a:r>
          </a:p>
          <a:p>
            <a:r>
              <a:rPr lang="en-US" sz="1050" dirty="0"/>
              <a:t>    </a:t>
            </a:r>
            <a:r>
              <a:rPr lang="en-US" sz="1050" dirty="0" err="1"/>
              <a:t>vTaskDelay</a:t>
            </a:r>
            <a:r>
              <a:rPr lang="en-US" sz="1050" dirty="0"/>
              <a:t>(100 / </a:t>
            </a:r>
            <a:r>
              <a:rPr lang="en-US" sz="1050" dirty="0" err="1"/>
              <a:t>portTICK_PERIOD_MS</a:t>
            </a:r>
            <a:r>
              <a:rPr lang="en-US" sz="1050" dirty="0"/>
              <a:t>);</a:t>
            </a:r>
          </a:p>
          <a:p>
            <a:r>
              <a:rPr lang="en-US" sz="1050" dirty="0"/>
              <a:t>  }</a:t>
            </a:r>
          </a:p>
          <a:p>
            <a:r>
              <a:rPr lang="en-US" sz="1050" dirty="0"/>
              <a:t>}</a:t>
            </a:r>
          </a:p>
          <a:p>
            <a:endParaRPr lang="en-US" sz="1050" dirty="0"/>
          </a:p>
          <a:p>
            <a:r>
              <a:rPr lang="en-US" sz="1050" dirty="0"/>
              <a:t>void setup() {</a:t>
            </a:r>
          </a:p>
          <a:p>
            <a:endParaRPr lang="en-US" sz="1050" dirty="0"/>
          </a:p>
          <a:p>
            <a:r>
              <a:rPr lang="en-US" sz="1050" dirty="0"/>
              <a:t>  // Configure Serial</a:t>
            </a:r>
          </a:p>
          <a:p>
            <a:r>
              <a:rPr lang="en-US" sz="1050" dirty="0"/>
              <a:t>  </a:t>
            </a:r>
            <a:r>
              <a:rPr lang="en-US" sz="1050" dirty="0" err="1"/>
              <a:t>Serial.begin</a:t>
            </a:r>
            <a:r>
              <a:rPr lang="en-US" sz="1050" dirty="0"/>
              <a:t>(115200);</a:t>
            </a:r>
          </a:p>
          <a:p>
            <a:endParaRPr lang="en-US" sz="1050" dirty="0"/>
          </a:p>
          <a:p>
            <a:r>
              <a:rPr lang="en-US" sz="1050" dirty="0"/>
              <a:t>  // Wait a moment to start (so we don't miss Serial output)</a:t>
            </a:r>
          </a:p>
          <a:p>
            <a:r>
              <a:rPr lang="en-US" sz="1050" dirty="0"/>
              <a:t>  </a:t>
            </a:r>
            <a:r>
              <a:rPr lang="en-US" sz="1050" dirty="0" err="1"/>
              <a:t>vTaskDelay</a:t>
            </a:r>
            <a:r>
              <a:rPr lang="en-US" sz="1050" dirty="0"/>
              <a:t>(1000 / </a:t>
            </a:r>
            <a:r>
              <a:rPr lang="en-US" sz="1050" dirty="0" err="1"/>
              <a:t>portTICK_PERIOD_MS</a:t>
            </a:r>
            <a:r>
              <a:rPr lang="en-US" sz="1050" dirty="0"/>
              <a:t>);</a:t>
            </a:r>
          </a:p>
          <a:p>
            <a:r>
              <a:rPr lang="en-US" sz="1050" dirty="0"/>
              <a:t>  </a:t>
            </a:r>
            <a:r>
              <a:rPr lang="en-US" sz="1050" dirty="0" err="1"/>
              <a:t>Serial.println</a:t>
            </a:r>
            <a:r>
              <a:rPr lang="en-US" sz="1050" dirty="0"/>
              <a:t>();</a:t>
            </a:r>
          </a:p>
          <a:p>
            <a:r>
              <a:rPr lang="en-US" sz="1050" dirty="0"/>
              <a:t>  </a:t>
            </a:r>
            <a:r>
              <a:rPr lang="en-US" sz="1050" dirty="0" err="1"/>
              <a:t>Serial.println</a:t>
            </a:r>
            <a:r>
              <a:rPr lang="en-US" sz="1050" dirty="0"/>
              <a:t>("---</a:t>
            </a:r>
            <a:r>
              <a:rPr lang="en-US" sz="1050" dirty="0" err="1"/>
              <a:t>FreeRTOS</a:t>
            </a:r>
            <a:r>
              <a:rPr lang="en-US" sz="1050" dirty="0"/>
              <a:t> Memory Demo---");</a:t>
            </a:r>
          </a:p>
          <a:p>
            <a:endParaRPr lang="en-US" sz="1050" dirty="0"/>
          </a:p>
          <a:p>
            <a:r>
              <a:rPr lang="en-US" sz="1050" dirty="0"/>
              <a:t>  // Start the only other task</a:t>
            </a:r>
          </a:p>
          <a:p>
            <a:r>
              <a:rPr lang="en-US" sz="1050" dirty="0"/>
              <a:t>  </a:t>
            </a:r>
            <a:r>
              <a:rPr lang="en-US" sz="1050" dirty="0" err="1"/>
              <a:t>xTaskCreatePinnedToCore</a:t>
            </a:r>
            <a:r>
              <a:rPr lang="en-US" sz="1050" dirty="0"/>
              <a:t>(</a:t>
            </a:r>
            <a:r>
              <a:rPr lang="en-US" sz="1050" dirty="0" err="1"/>
              <a:t>testTask</a:t>
            </a:r>
            <a:r>
              <a:rPr lang="en-US" sz="1050" dirty="0"/>
              <a:t>,</a:t>
            </a:r>
          </a:p>
          <a:p>
            <a:r>
              <a:rPr lang="en-US" sz="1050" dirty="0"/>
              <a:t>                          "Test Task",</a:t>
            </a:r>
          </a:p>
          <a:p>
            <a:r>
              <a:rPr lang="en-US" sz="1050" dirty="0"/>
              <a:t>                          1500,</a:t>
            </a:r>
          </a:p>
          <a:p>
            <a:r>
              <a:rPr lang="en-US" sz="1050" dirty="0"/>
              <a:t>                          NULL,</a:t>
            </a:r>
          </a:p>
          <a:p>
            <a:r>
              <a:rPr lang="en-US" sz="1050" dirty="0"/>
              <a:t>                          1,</a:t>
            </a:r>
          </a:p>
          <a:p>
            <a:r>
              <a:rPr lang="en-US" sz="1050" dirty="0"/>
              <a:t>                          NULL,</a:t>
            </a:r>
          </a:p>
          <a:p>
            <a:r>
              <a:rPr lang="en-US" sz="1050" dirty="0"/>
              <a:t>                          </a:t>
            </a:r>
            <a:r>
              <a:rPr lang="en-US" sz="1050" dirty="0" err="1"/>
              <a:t>app_cpu</a:t>
            </a:r>
            <a:r>
              <a:rPr lang="en-US" sz="1050" dirty="0"/>
              <a:t>);</a:t>
            </a:r>
          </a:p>
          <a:p>
            <a:r>
              <a:rPr lang="en-US" sz="1050" dirty="0"/>
              <a:t>  </a:t>
            </a:r>
          </a:p>
          <a:p>
            <a:r>
              <a:rPr lang="en-US" sz="1050" dirty="0"/>
              <a:t>  // Delete "setup and loop" task</a:t>
            </a:r>
          </a:p>
          <a:p>
            <a:r>
              <a:rPr lang="en-US" sz="1050" dirty="0"/>
              <a:t>  </a:t>
            </a:r>
            <a:r>
              <a:rPr lang="en-US" sz="1050" dirty="0" err="1"/>
              <a:t>vTaskDelete</a:t>
            </a:r>
            <a:r>
              <a:rPr lang="en-US" sz="1050" dirty="0"/>
              <a:t>(NULL);</a:t>
            </a:r>
          </a:p>
          <a:p>
            <a:r>
              <a:rPr lang="en-US" sz="1050" dirty="0"/>
              <a:t>}</a:t>
            </a:r>
          </a:p>
          <a:p>
            <a:endParaRPr lang="en-US" sz="1050" dirty="0"/>
          </a:p>
          <a:p>
            <a:r>
              <a:rPr lang="en-US" sz="1050" dirty="0"/>
              <a:t>void loop() {</a:t>
            </a:r>
          </a:p>
          <a:p>
            <a:r>
              <a:rPr lang="en-US" sz="1050" dirty="0"/>
              <a:t>  // Execution should never get here</a:t>
            </a:r>
          </a:p>
          <a:p>
            <a:r>
              <a:rPr lang="en-US" sz="1050" dirty="0"/>
              <a:t>}</a:t>
            </a:r>
          </a:p>
        </p:txBody>
      </p:sp>
    </p:spTree>
    <p:extLst>
      <p:ext uri="{BB962C8B-B14F-4D97-AF65-F5344CB8AC3E}">
        <p14:creationId xmlns:p14="http://schemas.microsoft.com/office/powerpoint/2010/main" val="195416087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FEE9C-C41C-EC44-21F9-72AF7099D1A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3FBEE80-F436-A104-09DF-CF7217E1EA6C}"/>
              </a:ext>
            </a:extLst>
          </p:cNvPr>
          <p:cNvSpPr txBox="1"/>
          <p:nvPr/>
        </p:nvSpPr>
        <p:spPr>
          <a:xfrm>
            <a:off x="564292" y="-7354238"/>
            <a:ext cx="4572000" cy="23521824"/>
          </a:xfrm>
          <a:prstGeom prst="rect">
            <a:avLst/>
          </a:prstGeom>
          <a:noFill/>
        </p:spPr>
        <p:txBody>
          <a:bodyPr wrap="square">
            <a:spAutoFit/>
          </a:bodyPr>
          <a:lstStyle/>
          <a:p>
            <a:r>
              <a:rPr lang="en-US" sz="1050" dirty="0"/>
              <a:t>/**</a:t>
            </a:r>
          </a:p>
          <a:p>
            <a:r>
              <a:rPr lang="en-US" sz="1050" dirty="0"/>
              <a:t> * Solution to 04 - Heap Challenge</a:t>
            </a:r>
          </a:p>
          <a:p>
            <a:r>
              <a:rPr lang="en-US" sz="1050" dirty="0"/>
              <a:t> * </a:t>
            </a:r>
          </a:p>
          <a:p>
            <a:r>
              <a:rPr lang="en-US" sz="1050" dirty="0"/>
              <a:t> * One task reads from Serial, constructs a message buffer, and the second</a:t>
            </a:r>
          </a:p>
          <a:p>
            <a:r>
              <a:rPr lang="en-US" sz="1050" dirty="0"/>
              <a:t> * prints the message to the console.</a:t>
            </a:r>
          </a:p>
          <a:p>
            <a:r>
              <a:rPr lang="en-US" sz="1050" dirty="0"/>
              <a:t> * </a:t>
            </a:r>
          </a:p>
          <a:p>
            <a:r>
              <a:rPr lang="en-US" sz="1050" dirty="0"/>
              <a:t> * Date: December 5, 2020</a:t>
            </a:r>
          </a:p>
          <a:p>
            <a:r>
              <a:rPr lang="en-US" sz="1050" dirty="0"/>
              <a:t> * Author: Shawn Hymel</a:t>
            </a:r>
          </a:p>
          <a:p>
            <a:r>
              <a:rPr lang="en-US" sz="1050" dirty="0"/>
              <a:t> * License: 0BSD</a:t>
            </a:r>
          </a:p>
          <a:p>
            <a:r>
              <a:rPr lang="en-US" sz="1050" dirty="0"/>
              <a:t> */</a:t>
            </a:r>
          </a:p>
          <a:p>
            <a:endParaRPr lang="en-US" sz="1050" dirty="0"/>
          </a:p>
          <a:p>
            <a:r>
              <a:rPr lang="en-US" sz="1050" dirty="0"/>
              <a:t>// If your Arduino board does not have LED_BUILTIN, set it here to LED pin</a:t>
            </a:r>
          </a:p>
          <a:p>
            <a:r>
              <a:rPr lang="en-US" sz="1050" dirty="0"/>
              <a:t>//#define LED_BUILTIN 13</a:t>
            </a:r>
          </a:p>
          <a:p>
            <a:endParaRPr lang="en-US" sz="1050" dirty="0"/>
          </a:p>
          <a:p>
            <a:r>
              <a:rPr lang="en-US" sz="1050" dirty="0"/>
              <a:t>// Use only core 1 for demo purposes</a:t>
            </a:r>
          </a:p>
          <a:p>
            <a:r>
              <a:rPr lang="en-US" sz="1050" dirty="0"/>
              <a:t>#if CONFIG_FREERTOS_UNICORE</a:t>
            </a:r>
          </a:p>
          <a:p>
            <a:r>
              <a:rPr lang="en-US" sz="1050" dirty="0"/>
              <a:t>  static const </a:t>
            </a:r>
            <a:r>
              <a:rPr lang="en-US" sz="1050" dirty="0" err="1"/>
              <a:t>BaseType_t</a:t>
            </a:r>
            <a:r>
              <a:rPr lang="en-US" sz="1050" dirty="0"/>
              <a:t> </a:t>
            </a:r>
            <a:r>
              <a:rPr lang="en-US" sz="1050" dirty="0" err="1"/>
              <a:t>app_cpu</a:t>
            </a:r>
            <a:r>
              <a:rPr lang="en-US" sz="1050" dirty="0"/>
              <a:t> = 0;</a:t>
            </a:r>
          </a:p>
          <a:p>
            <a:r>
              <a:rPr lang="en-US" sz="1050" dirty="0"/>
              <a:t>#else</a:t>
            </a:r>
          </a:p>
          <a:p>
            <a:r>
              <a:rPr lang="en-US" sz="1050" dirty="0"/>
              <a:t>  static const </a:t>
            </a:r>
            <a:r>
              <a:rPr lang="en-US" sz="1050" dirty="0" err="1"/>
              <a:t>BaseType_t</a:t>
            </a:r>
            <a:r>
              <a:rPr lang="en-US" sz="1050" dirty="0"/>
              <a:t> </a:t>
            </a:r>
            <a:r>
              <a:rPr lang="en-US" sz="1050" dirty="0" err="1"/>
              <a:t>app_cpu</a:t>
            </a:r>
            <a:r>
              <a:rPr lang="en-US" sz="1050" dirty="0"/>
              <a:t> = 1;</a:t>
            </a:r>
          </a:p>
          <a:p>
            <a:r>
              <a:rPr lang="en-US" sz="1050" dirty="0"/>
              <a:t>#endif</a:t>
            </a:r>
          </a:p>
          <a:p>
            <a:endParaRPr lang="en-US" sz="1050" dirty="0"/>
          </a:p>
          <a:p>
            <a:r>
              <a:rPr lang="en-US" sz="1050" dirty="0"/>
              <a:t>// Settings</a:t>
            </a:r>
          </a:p>
          <a:p>
            <a:r>
              <a:rPr lang="en-US" sz="1050" dirty="0"/>
              <a:t>static const uint8_t </a:t>
            </a:r>
            <a:r>
              <a:rPr lang="en-US" sz="1050" dirty="0" err="1"/>
              <a:t>buf_len</a:t>
            </a:r>
            <a:r>
              <a:rPr lang="en-US" sz="1050" dirty="0"/>
              <a:t> = 255;</a:t>
            </a:r>
          </a:p>
          <a:p>
            <a:endParaRPr lang="en-US" sz="1050" dirty="0"/>
          </a:p>
          <a:p>
            <a:r>
              <a:rPr lang="en-US" sz="1050" dirty="0"/>
              <a:t>// </a:t>
            </a:r>
            <a:r>
              <a:rPr lang="en-US" sz="1050" dirty="0" err="1"/>
              <a:t>Globals</a:t>
            </a:r>
            <a:endParaRPr lang="en-US" sz="1050" dirty="0"/>
          </a:p>
          <a:p>
            <a:r>
              <a:rPr lang="en-US" sz="1050" dirty="0"/>
              <a:t>static char *</a:t>
            </a:r>
            <a:r>
              <a:rPr lang="en-US" sz="1050" dirty="0" err="1"/>
              <a:t>msg_ptr</a:t>
            </a:r>
            <a:r>
              <a:rPr lang="en-US" sz="1050" dirty="0"/>
              <a:t> = NULL;</a:t>
            </a:r>
          </a:p>
          <a:p>
            <a:r>
              <a:rPr lang="en-US" sz="1050" dirty="0"/>
              <a:t>static volatile uint8_t </a:t>
            </a:r>
            <a:r>
              <a:rPr lang="en-US" sz="1050" dirty="0" err="1"/>
              <a:t>msg_flag</a:t>
            </a:r>
            <a:r>
              <a:rPr lang="en-US" sz="1050" dirty="0"/>
              <a:t> = 0;</a:t>
            </a:r>
          </a:p>
          <a:p>
            <a:endParaRPr lang="en-US" sz="1050" dirty="0"/>
          </a:p>
          <a:p>
            <a:r>
              <a:rPr lang="en-US" sz="1050" dirty="0"/>
              <a:t>//*****************************************************************************</a:t>
            </a:r>
          </a:p>
          <a:p>
            <a:r>
              <a:rPr lang="en-US" sz="1050" dirty="0"/>
              <a:t>// Tasks</a:t>
            </a:r>
          </a:p>
          <a:p>
            <a:endParaRPr lang="en-US" sz="1050" dirty="0"/>
          </a:p>
          <a:p>
            <a:r>
              <a:rPr lang="en-US" sz="1050" dirty="0"/>
              <a:t>// Task: read message from Serial buffer</a:t>
            </a:r>
          </a:p>
          <a:p>
            <a:r>
              <a:rPr lang="en-US" sz="1050" dirty="0"/>
              <a:t>void </a:t>
            </a:r>
            <a:r>
              <a:rPr lang="en-US" sz="1050" dirty="0" err="1"/>
              <a:t>readSerial</a:t>
            </a:r>
            <a:r>
              <a:rPr lang="en-US" sz="1050" dirty="0"/>
              <a:t>(void *parameters) {</a:t>
            </a:r>
          </a:p>
          <a:p>
            <a:endParaRPr lang="en-US" sz="1050" dirty="0"/>
          </a:p>
          <a:p>
            <a:r>
              <a:rPr lang="en-US" sz="1050" dirty="0"/>
              <a:t>  char c;</a:t>
            </a:r>
          </a:p>
          <a:p>
            <a:r>
              <a:rPr lang="en-US" sz="1050" dirty="0"/>
              <a:t>  char </a:t>
            </a:r>
            <a:r>
              <a:rPr lang="en-US" sz="1050" dirty="0" err="1"/>
              <a:t>buf</a:t>
            </a:r>
            <a:r>
              <a:rPr lang="en-US" sz="1050" dirty="0"/>
              <a:t>[</a:t>
            </a:r>
            <a:r>
              <a:rPr lang="en-US" sz="1050" dirty="0" err="1"/>
              <a:t>buf_len</a:t>
            </a:r>
            <a:r>
              <a:rPr lang="en-US" sz="1050" dirty="0"/>
              <a:t>];</a:t>
            </a:r>
          </a:p>
          <a:p>
            <a:r>
              <a:rPr lang="en-US" sz="1050" dirty="0"/>
              <a:t>  uint8_t </a:t>
            </a:r>
            <a:r>
              <a:rPr lang="en-US" sz="1050" dirty="0" err="1"/>
              <a:t>idx</a:t>
            </a:r>
            <a:r>
              <a:rPr lang="en-US" sz="1050" dirty="0"/>
              <a:t> = 0;</a:t>
            </a:r>
          </a:p>
          <a:p>
            <a:endParaRPr lang="en-US" sz="1050" dirty="0"/>
          </a:p>
          <a:p>
            <a:r>
              <a:rPr lang="en-US" sz="1050" dirty="0"/>
              <a:t>  // Clear whole buffer</a:t>
            </a:r>
          </a:p>
          <a:p>
            <a:r>
              <a:rPr lang="en-US" sz="1050" dirty="0"/>
              <a:t>  </a:t>
            </a:r>
            <a:r>
              <a:rPr lang="en-US" sz="1050" dirty="0" err="1"/>
              <a:t>memset</a:t>
            </a:r>
            <a:r>
              <a:rPr lang="en-US" sz="1050" dirty="0"/>
              <a:t>(</a:t>
            </a:r>
            <a:r>
              <a:rPr lang="en-US" sz="1050" dirty="0" err="1"/>
              <a:t>buf</a:t>
            </a:r>
            <a:r>
              <a:rPr lang="en-US" sz="1050" dirty="0"/>
              <a:t>, 0, </a:t>
            </a:r>
            <a:r>
              <a:rPr lang="en-US" sz="1050" dirty="0" err="1"/>
              <a:t>buf_len</a:t>
            </a:r>
            <a:r>
              <a:rPr lang="en-US" sz="1050" dirty="0"/>
              <a:t>);</a:t>
            </a:r>
          </a:p>
          <a:p>
            <a:r>
              <a:rPr lang="en-US" sz="1050" dirty="0"/>
              <a:t>  </a:t>
            </a:r>
          </a:p>
          <a:p>
            <a:r>
              <a:rPr lang="en-US" sz="1050" dirty="0"/>
              <a:t>  // Loop forever</a:t>
            </a:r>
          </a:p>
          <a:p>
            <a:r>
              <a:rPr lang="en-US" sz="1050" dirty="0"/>
              <a:t>  while (1) {</a:t>
            </a:r>
          </a:p>
          <a:p>
            <a:endParaRPr lang="en-US" sz="1050" dirty="0"/>
          </a:p>
          <a:p>
            <a:r>
              <a:rPr lang="en-US" sz="1050" dirty="0"/>
              <a:t>    // Read characters from serial</a:t>
            </a:r>
          </a:p>
          <a:p>
            <a:r>
              <a:rPr lang="en-US" sz="1050" dirty="0"/>
              <a:t>    if (</a:t>
            </a:r>
            <a:r>
              <a:rPr lang="en-US" sz="1050" dirty="0" err="1"/>
              <a:t>Serial.available</a:t>
            </a:r>
            <a:r>
              <a:rPr lang="en-US" sz="1050" dirty="0"/>
              <a:t>() &gt; 0) {</a:t>
            </a:r>
          </a:p>
          <a:p>
            <a:r>
              <a:rPr lang="en-US" sz="1050" dirty="0"/>
              <a:t>      c = </a:t>
            </a:r>
            <a:r>
              <a:rPr lang="en-US" sz="1050" dirty="0" err="1"/>
              <a:t>Serial.read</a:t>
            </a:r>
            <a:r>
              <a:rPr lang="en-US" sz="1050" dirty="0"/>
              <a:t>();</a:t>
            </a:r>
          </a:p>
          <a:p>
            <a:endParaRPr lang="en-US" sz="1050" dirty="0"/>
          </a:p>
          <a:p>
            <a:r>
              <a:rPr lang="en-US" sz="1050" dirty="0"/>
              <a:t>      // Store received character to buffer if not over buffer limit</a:t>
            </a:r>
          </a:p>
          <a:p>
            <a:r>
              <a:rPr lang="en-US" sz="1050" dirty="0"/>
              <a:t>      if (</a:t>
            </a:r>
            <a:r>
              <a:rPr lang="en-US" sz="1050" dirty="0" err="1"/>
              <a:t>idx</a:t>
            </a:r>
            <a:r>
              <a:rPr lang="en-US" sz="1050" dirty="0"/>
              <a:t> &lt; </a:t>
            </a:r>
            <a:r>
              <a:rPr lang="en-US" sz="1050" dirty="0" err="1"/>
              <a:t>buf_len</a:t>
            </a:r>
            <a:r>
              <a:rPr lang="en-US" sz="1050" dirty="0"/>
              <a:t> - 1) {</a:t>
            </a:r>
          </a:p>
          <a:p>
            <a:r>
              <a:rPr lang="en-US" sz="1050" dirty="0"/>
              <a:t>        </a:t>
            </a:r>
            <a:r>
              <a:rPr lang="en-US" sz="1050" dirty="0" err="1"/>
              <a:t>buf</a:t>
            </a:r>
            <a:r>
              <a:rPr lang="en-US" sz="1050" dirty="0"/>
              <a:t>[</a:t>
            </a:r>
            <a:r>
              <a:rPr lang="en-US" sz="1050" dirty="0" err="1"/>
              <a:t>idx</a:t>
            </a:r>
            <a:r>
              <a:rPr lang="en-US" sz="1050" dirty="0"/>
              <a:t>] = c;</a:t>
            </a:r>
          </a:p>
          <a:p>
            <a:r>
              <a:rPr lang="en-US" sz="1050" dirty="0"/>
              <a:t>        </a:t>
            </a:r>
            <a:r>
              <a:rPr lang="en-US" sz="1050" dirty="0" err="1"/>
              <a:t>idx</a:t>
            </a:r>
            <a:r>
              <a:rPr lang="en-US" sz="1050" dirty="0"/>
              <a:t>++;</a:t>
            </a:r>
          </a:p>
          <a:p>
            <a:r>
              <a:rPr lang="en-US" sz="1050" dirty="0"/>
              <a:t>      }</a:t>
            </a:r>
          </a:p>
          <a:p>
            <a:endParaRPr lang="en-US" sz="1050" dirty="0"/>
          </a:p>
          <a:p>
            <a:r>
              <a:rPr lang="en-US" sz="1050" dirty="0"/>
              <a:t>      // Create a message buffer for print task</a:t>
            </a:r>
          </a:p>
          <a:p>
            <a:r>
              <a:rPr lang="en-US" sz="1050" dirty="0"/>
              <a:t>      if (c == '\n') {</a:t>
            </a:r>
          </a:p>
          <a:p>
            <a:endParaRPr lang="en-US" sz="1050" dirty="0"/>
          </a:p>
          <a:p>
            <a:r>
              <a:rPr lang="en-US" sz="1050" dirty="0"/>
              <a:t>        // The last character in the string is '\n', so we need to replace</a:t>
            </a:r>
          </a:p>
          <a:p>
            <a:r>
              <a:rPr lang="en-US" sz="1050" dirty="0"/>
              <a:t>        // it with '\0' to make it null-terminated</a:t>
            </a:r>
          </a:p>
          <a:p>
            <a:r>
              <a:rPr lang="en-US" sz="1050" dirty="0"/>
              <a:t>        </a:t>
            </a:r>
            <a:r>
              <a:rPr lang="en-US" sz="1050" dirty="0" err="1"/>
              <a:t>buf</a:t>
            </a:r>
            <a:r>
              <a:rPr lang="en-US" sz="1050" dirty="0"/>
              <a:t>[</a:t>
            </a:r>
            <a:r>
              <a:rPr lang="en-US" sz="1050" dirty="0" err="1"/>
              <a:t>idx</a:t>
            </a:r>
            <a:r>
              <a:rPr lang="en-US" sz="1050" dirty="0"/>
              <a:t> - 1] = '\0';</a:t>
            </a:r>
          </a:p>
          <a:p>
            <a:endParaRPr lang="en-US" sz="1050" dirty="0"/>
          </a:p>
          <a:p>
            <a:r>
              <a:rPr lang="en-US" sz="1050" dirty="0"/>
              <a:t>        // Try to allocate memory and copy over message. If message buffer is</a:t>
            </a:r>
          </a:p>
          <a:p>
            <a:r>
              <a:rPr lang="en-US" sz="1050" dirty="0"/>
              <a:t>        // still in use, ignore the entire message.</a:t>
            </a:r>
          </a:p>
          <a:p>
            <a:r>
              <a:rPr lang="en-US" sz="1050" dirty="0"/>
              <a:t>        if (</a:t>
            </a:r>
            <a:r>
              <a:rPr lang="en-US" sz="1050" dirty="0" err="1"/>
              <a:t>msg_flag</a:t>
            </a:r>
            <a:r>
              <a:rPr lang="en-US" sz="1050" dirty="0"/>
              <a:t> == 0) {</a:t>
            </a:r>
          </a:p>
          <a:p>
            <a:r>
              <a:rPr lang="en-US" sz="1050" dirty="0"/>
              <a:t>          </a:t>
            </a:r>
            <a:r>
              <a:rPr lang="en-US" sz="1050" dirty="0" err="1"/>
              <a:t>msg_ptr</a:t>
            </a:r>
            <a:r>
              <a:rPr lang="en-US" sz="1050" dirty="0"/>
              <a:t> = (char *)</a:t>
            </a:r>
            <a:r>
              <a:rPr lang="en-US" sz="1050" dirty="0" err="1"/>
              <a:t>pvPortMalloc</a:t>
            </a:r>
            <a:r>
              <a:rPr lang="en-US" sz="1050" dirty="0"/>
              <a:t>(</a:t>
            </a:r>
            <a:r>
              <a:rPr lang="en-US" sz="1050" dirty="0" err="1"/>
              <a:t>idx</a:t>
            </a:r>
            <a:r>
              <a:rPr lang="en-US" sz="1050" dirty="0"/>
              <a:t> * </a:t>
            </a:r>
            <a:r>
              <a:rPr lang="en-US" sz="1050" dirty="0" err="1"/>
              <a:t>sizeof</a:t>
            </a:r>
            <a:r>
              <a:rPr lang="en-US" sz="1050" dirty="0"/>
              <a:t>(char));</a:t>
            </a:r>
          </a:p>
          <a:p>
            <a:endParaRPr lang="en-US" sz="1050" dirty="0"/>
          </a:p>
          <a:p>
            <a:r>
              <a:rPr lang="en-US" sz="1050" dirty="0"/>
              <a:t>          // If malloc returns 0 (out of memory), throw an error and reset</a:t>
            </a:r>
          </a:p>
          <a:p>
            <a:r>
              <a:rPr lang="en-US" sz="1050" dirty="0"/>
              <a:t>          </a:t>
            </a:r>
            <a:r>
              <a:rPr lang="en-US" sz="1050" dirty="0" err="1"/>
              <a:t>configASSERT</a:t>
            </a:r>
            <a:r>
              <a:rPr lang="en-US" sz="1050" dirty="0"/>
              <a:t>(</a:t>
            </a:r>
            <a:r>
              <a:rPr lang="en-US" sz="1050" dirty="0" err="1"/>
              <a:t>msg_ptr</a:t>
            </a:r>
            <a:r>
              <a:rPr lang="en-US" sz="1050" dirty="0"/>
              <a:t>);</a:t>
            </a:r>
          </a:p>
          <a:p>
            <a:endParaRPr lang="en-US" sz="1050" dirty="0"/>
          </a:p>
          <a:p>
            <a:r>
              <a:rPr lang="en-US" sz="1050" dirty="0"/>
              <a:t>          // Copy message</a:t>
            </a:r>
          </a:p>
          <a:p>
            <a:r>
              <a:rPr lang="en-US" sz="1050" dirty="0"/>
              <a:t>          </a:t>
            </a:r>
            <a:r>
              <a:rPr lang="en-US" sz="1050" dirty="0" err="1"/>
              <a:t>memcpy</a:t>
            </a:r>
            <a:r>
              <a:rPr lang="en-US" sz="1050" dirty="0"/>
              <a:t>(</a:t>
            </a:r>
            <a:r>
              <a:rPr lang="en-US" sz="1050" dirty="0" err="1"/>
              <a:t>msg_ptr</a:t>
            </a:r>
            <a:r>
              <a:rPr lang="en-US" sz="1050" dirty="0"/>
              <a:t>, </a:t>
            </a:r>
            <a:r>
              <a:rPr lang="en-US" sz="1050" dirty="0" err="1"/>
              <a:t>buf</a:t>
            </a:r>
            <a:r>
              <a:rPr lang="en-US" sz="1050" dirty="0"/>
              <a:t>, </a:t>
            </a:r>
            <a:r>
              <a:rPr lang="en-US" sz="1050" dirty="0" err="1"/>
              <a:t>idx</a:t>
            </a:r>
            <a:r>
              <a:rPr lang="en-US" sz="1050" dirty="0"/>
              <a:t>);</a:t>
            </a:r>
          </a:p>
          <a:p>
            <a:endParaRPr lang="en-US" sz="1050" dirty="0"/>
          </a:p>
          <a:p>
            <a:r>
              <a:rPr lang="en-US" sz="1050" dirty="0"/>
              <a:t>          // Notify other task that message is ready</a:t>
            </a:r>
          </a:p>
          <a:p>
            <a:r>
              <a:rPr lang="en-US" sz="1050" dirty="0"/>
              <a:t>          </a:t>
            </a:r>
            <a:r>
              <a:rPr lang="en-US" sz="1050" dirty="0" err="1"/>
              <a:t>msg_flag</a:t>
            </a:r>
            <a:r>
              <a:rPr lang="en-US" sz="1050" dirty="0"/>
              <a:t> = 1;</a:t>
            </a:r>
          </a:p>
          <a:p>
            <a:r>
              <a:rPr lang="en-US" sz="1050" dirty="0"/>
              <a:t>        }</a:t>
            </a:r>
          </a:p>
          <a:p>
            <a:endParaRPr lang="en-US" sz="1050" dirty="0"/>
          </a:p>
          <a:p>
            <a:r>
              <a:rPr lang="en-US" sz="1050" dirty="0"/>
              <a:t>        // Reset receive buffer and index counter</a:t>
            </a:r>
          </a:p>
          <a:p>
            <a:r>
              <a:rPr lang="en-US" sz="1050" dirty="0"/>
              <a:t>        </a:t>
            </a:r>
            <a:r>
              <a:rPr lang="en-US" sz="1050" dirty="0" err="1"/>
              <a:t>memset</a:t>
            </a:r>
            <a:r>
              <a:rPr lang="en-US" sz="1050" dirty="0"/>
              <a:t>(</a:t>
            </a:r>
            <a:r>
              <a:rPr lang="en-US" sz="1050" dirty="0" err="1"/>
              <a:t>buf</a:t>
            </a:r>
            <a:r>
              <a:rPr lang="en-US" sz="1050" dirty="0"/>
              <a:t>, 0, </a:t>
            </a:r>
            <a:r>
              <a:rPr lang="en-US" sz="1050" dirty="0" err="1"/>
              <a:t>buf_len</a:t>
            </a:r>
            <a:r>
              <a:rPr lang="en-US" sz="1050" dirty="0"/>
              <a:t>);</a:t>
            </a:r>
          </a:p>
          <a:p>
            <a:r>
              <a:rPr lang="en-US" sz="1050" dirty="0"/>
              <a:t>        </a:t>
            </a:r>
            <a:r>
              <a:rPr lang="en-US" sz="1050" dirty="0" err="1"/>
              <a:t>idx</a:t>
            </a:r>
            <a:r>
              <a:rPr lang="en-US" sz="1050" dirty="0"/>
              <a:t> = 0;</a:t>
            </a:r>
          </a:p>
          <a:p>
            <a:r>
              <a:rPr lang="en-US" sz="1050" dirty="0"/>
              <a:t>      }</a:t>
            </a:r>
          </a:p>
          <a:p>
            <a:r>
              <a:rPr lang="en-US" sz="1050" dirty="0"/>
              <a:t>    }</a:t>
            </a:r>
          </a:p>
          <a:p>
            <a:r>
              <a:rPr lang="en-US" sz="1050" dirty="0"/>
              <a:t>  }</a:t>
            </a:r>
          </a:p>
          <a:p>
            <a:r>
              <a:rPr lang="en-US" sz="1050" dirty="0"/>
              <a:t>}</a:t>
            </a:r>
          </a:p>
          <a:p>
            <a:endParaRPr lang="en-US" sz="1050" dirty="0"/>
          </a:p>
          <a:p>
            <a:r>
              <a:rPr lang="en-US" sz="1050" dirty="0"/>
              <a:t>// Task: print message whenever flag is set and free buffer</a:t>
            </a:r>
          </a:p>
          <a:p>
            <a:r>
              <a:rPr lang="en-US" sz="1050" dirty="0"/>
              <a:t>void </a:t>
            </a:r>
            <a:r>
              <a:rPr lang="en-US" sz="1050" dirty="0" err="1"/>
              <a:t>printMessage</a:t>
            </a:r>
            <a:r>
              <a:rPr lang="en-US" sz="1050" dirty="0"/>
              <a:t>(void *parameters) {</a:t>
            </a:r>
          </a:p>
          <a:p>
            <a:r>
              <a:rPr lang="en-US" sz="1050" dirty="0"/>
              <a:t>  while (1) {</a:t>
            </a:r>
          </a:p>
          <a:p>
            <a:endParaRPr lang="en-US" sz="1050" dirty="0"/>
          </a:p>
          <a:p>
            <a:r>
              <a:rPr lang="en-US" sz="1050" dirty="0"/>
              <a:t>    // Wait for flag to be set and print message</a:t>
            </a:r>
          </a:p>
          <a:p>
            <a:r>
              <a:rPr lang="en-US" sz="1050" dirty="0"/>
              <a:t>    if (</a:t>
            </a:r>
            <a:r>
              <a:rPr lang="en-US" sz="1050" dirty="0" err="1"/>
              <a:t>msg_flag</a:t>
            </a:r>
            <a:r>
              <a:rPr lang="en-US" sz="1050" dirty="0"/>
              <a:t> == 1) {</a:t>
            </a:r>
          </a:p>
          <a:p>
            <a:r>
              <a:rPr lang="en-US" sz="1050" dirty="0"/>
              <a:t>      </a:t>
            </a:r>
            <a:r>
              <a:rPr lang="en-US" sz="1050" dirty="0" err="1"/>
              <a:t>Serial.println</a:t>
            </a:r>
            <a:r>
              <a:rPr lang="en-US" sz="1050" dirty="0"/>
              <a:t>(</a:t>
            </a:r>
            <a:r>
              <a:rPr lang="en-US" sz="1050" dirty="0" err="1"/>
              <a:t>msg_ptr</a:t>
            </a:r>
            <a:r>
              <a:rPr lang="en-US" sz="1050" dirty="0"/>
              <a:t>);</a:t>
            </a:r>
          </a:p>
          <a:p>
            <a:endParaRPr lang="en-US" sz="1050" dirty="0"/>
          </a:p>
          <a:p>
            <a:r>
              <a:rPr lang="en-US" sz="1050" dirty="0"/>
              <a:t>      // Give amount of free heap memory (uncomment if you'd like to see it)</a:t>
            </a:r>
          </a:p>
          <a:p>
            <a:r>
              <a:rPr lang="en-US" sz="1050" dirty="0"/>
              <a:t>//      </a:t>
            </a:r>
            <a:r>
              <a:rPr lang="en-US" sz="1050" dirty="0" err="1"/>
              <a:t>Serial.print</a:t>
            </a:r>
            <a:r>
              <a:rPr lang="en-US" sz="1050" dirty="0"/>
              <a:t>("Free heap (bytes): ");</a:t>
            </a:r>
          </a:p>
          <a:p>
            <a:r>
              <a:rPr lang="en-US" sz="1050" dirty="0"/>
              <a:t>//      </a:t>
            </a:r>
            <a:r>
              <a:rPr lang="en-US" sz="1050" dirty="0" err="1"/>
              <a:t>Serial.println</a:t>
            </a:r>
            <a:r>
              <a:rPr lang="en-US" sz="1050" dirty="0"/>
              <a:t>(</a:t>
            </a:r>
            <a:r>
              <a:rPr lang="en-US" sz="1050" dirty="0" err="1"/>
              <a:t>xPortGetFreeHeapSize</a:t>
            </a:r>
            <a:r>
              <a:rPr lang="en-US" sz="1050" dirty="0"/>
              <a:t>());</a:t>
            </a:r>
          </a:p>
          <a:p>
            <a:endParaRPr lang="en-US" sz="1050" dirty="0"/>
          </a:p>
          <a:p>
            <a:r>
              <a:rPr lang="en-US" sz="1050" dirty="0"/>
              <a:t>      // Free buffer, set pointer to null, and clear flag</a:t>
            </a:r>
          </a:p>
          <a:p>
            <a:r>
              <a:rPr lang="en-US" sz="1050" dirty="0"/>
              <a:t>      </a:t>
            </a:r>
            <a:r>
              <a:rPr lang="en-US" sz="1050" dirty="0" err="1"/>
              <a:t>vPortFree</a:t>
            </a:r>
            <a:r>
              <a:rPr lang="en-US" sz="1050" dirty="0"/>
              <a:t>(</a:t>
            </a:r>
            <a:r>
              <a:rPr lang="en-US" sz="1050" dirty="0" err="1"/>
              <a:t>msg_ptr</a:t>
            </a:r>
            <a:r>
              <a:rPr lang="en-US" sz="1050" dirty="0"/>
              <a:t>);</a:t>
            </a:r>
          </a:p>
          <a:p>
            <a:r>
              <a:rPr lang="en-US" sz="1050" dirty="0"/>
              <a:t>      </a:t>
            </a:r>
            <a:r>
              <a:rPr lang="en-US" sz="1050" dirty="0" err="1"/>
              <a:t>msg_ptr</a:t>
            </a:r>
            <a:r>
              <a:rPr lang="en-US" sz="1050" dirty="0"/>
              <a:t> = NULL;</a:t>
            </a:r>
          </a:p>
          <a:p>
            <a:r>
              <a:rPr lang="en-US" sz="1050" dirty="0"/>
              <a:t>      </a:t>
            </a:r>
            <a:r>
              <a:rPr lang="en-US" sz="1050" dirty="0" err="1"/>
              <a:t>msg_flag</a:t>
            </a:r>
            <a:r>
              <a:rPr lang="en-US" sz="1050" dirty="0"/>
              <a:t> = 0;</a:t>
            </a:r>
          </a:p>
          <a:p>
            <a:r>
              <a:rPr lang="en-US" sz="1050" dirty="0"/>
              <a:t>    }</a:t>
            </a:r>
          </a:p>
          <a:p>
            <a:r>
              <a:rPr lang="en-US" sz="1050" dirty="0"/>
              <a:t>  }</a:t>
            </a:r>
          </a:p>
          <a:p>
            <a:r>
              <a:rPr lang="en-US" sz="1050" dirty="0"/>
              <a:t>}</a:t>
            </a:r>
          </a:p>
          <a:p>
            <a:endParaRPr lang="en-US" sz="1050" dirty="0"/>
          </a:p>
          <a:p>
            <a:r>
              <a:rPr lang="en-US" sz="1050" dirty="0"/>
              <a:t>//*****************************************************************************</a:t>
            </a:r>
          </a:p>
          <a:p>
            <a:r>
              <a:rPr lang="en-US" sz="1050" dirty="0"/>
              <a:t>// Main (runs as its own task with priority 1 on core 1)</a:t>
            </a:r>
          </a:p>
          <a:p>
            <a:endParaRPr lang="en-US" sz="1050" dirty="0"/>
          </a:p>
          <a:p>
            <a:r>
              <a:rPr lang="en-US" sz="1050" dirty="0"/>
              <a:t>void setup() {</a:t>
            </a:r>
          </a:p>
          <a:p>
            <a:endParaRPr lang="en-US" sz="1050" dirty="0"/>
          </a:p>
          <a:p>
            <a:r>
              <a:rPr lang="en-US" sz="1050" dirty="0"/>
              <a:t>  // Configure Serial</a:t>
            </a:r>
          </a:p>
          <a:p>
            <a:r>
              <a:rPr lang="en-US" sz="1050" dirty="0"/>
              <a:t>  </a:t>
            </a:r>
            <a:r>
              <a:rPr lang="en-US" sz="1050" dirty="0" err="1"/>
              <a:t>Serial.begin</a:t>
            </a:r>
            <a:r>
              <a:rPr lang="en-US" sz="1050" dirty="0"/>
              <a:t>(115200);</a:t>
            </a:r>
          </a:p>
          <a:p>
            <a:endParaRPr lang="en-US" sz="1050" dirty="0"/>
          </a:p>
          <a:p>
            <a:r>
              <a:rPr lang="en-US" sz="1050" dirty="0"/>
              <a:t>  // Wait a moment to start (so we don't miss Serial output)</a:t>
            </a:r>
          </a:p>
          <a:p>
            <a:r>
              <a:rPr lang="en-US" sz="1050" dirty="0"/>
              <a:t>  </a:t>
            </a:r>
            <a:r>
              <a:rPr lang="en-US" sz="1050" dirty="0" err="1"/>
              <a:t>vTaskDelay</a:t>
            </a:r>
            <a:r>
              <a:rPr lang="en-US" sz="1050" dirty="0"/>
              <a:t>(1000 / </a:t>
            </a:r>
            <a:r>
              <a:rPr lang="en-US" sz="1050" dirty="0" err="1"/>
              <a:t>portTICK_PERIOD_MS</a:t>
            </a:r>
            <a:r>
              <a:rPr lang="en-US" sz="1050" dirty="0"/>
              <a:t>);</a:t>
            </a:r>
          </a:p>
          <a:p>
            <a:r>
              <a:rPr lang="en-US" sz="1050" dirty="0"/>
              <a:t>  </a:t>
            </a:r>
            <a:r>
              <a:rPr lang="en-US" sz="1050" dirty="0" err="1"/>
              <a:t>Serial.println</a:t>
            </a:r>
            <a:r>
              <a:rPr lang="en-US" sz="1050" dirty="0"/>
              <a:t>();</a:t>
            </a:r>
          </a:p>
          <a:p>
            <a:r>
              <a:rPr lang="en-US" sz="1050" dirty="0"/>
              <a:t>  </a:t>
            </a:r>
            <a:r>
              <a:rPr lang="en-US" sz="1050" dirty="0" err="1"/>
              <a:t>Serial.println</a:t>
            </a:r>
            <a:r>
              <a:rPr lang="en-US" sz="1050" dirty="0"/>
              <a:t>("---</a:t>
            </a:r>
            <a:r>
              <a:rPr lang="en-US" sz="1050" dirty="0" err="1"/>
              <a:t>FreeRTOS</a:t>
            </a:r>
            <a:r>
              <a:rPr lang="en-US" sz="1050" dirty="0"/>
              <a:t> Heap Demo---");</a:t>
            </a:r>
          </a:p>
          <a:p>
            <a:r>
              <a:rPr lang="en-US" sz="1050" dirty="0"/>
              <a:t>  </a:t>
            </a:r>
            <a:r>
              <a:rPr lang="en-US" sz="1050" dirty="0" err="1"/>
              <a:t>Serial.println</a:t>
            </a:r>
            <a:r>
              <a:rPr lang="en-US" sz="1050" dirty="0"/>
              <a:t>("Enter a string");</a:t>
            </a:r>
          </a:p>
          <a:p>
            <a:endParaRPr lang="en-US" sz="1050" dirty="0"/>
          </a:p>
          <a:p>
            <a:r>
              <a:rPr lang="en-US" sz="1050" dirty="0"/>
              <a:t>  // Start Serial receive task</a:t>
            </a:r>
          </a:p>
          <a:p>
            <a:r>
              <a:rPr lang="en-US" sz="1050" dirty="0"/>
              <a:t>  </a:t>
            </a:r>
            <a:r>
              <a:rPr lang="en-US" sz="1050" dirty="0" err="1"/>
              <a:t>xTaskCreatePinnedToCore</a:t>
            </a:r>
            <a:r>
              <a:rPr lang="en-US" sz="1050" dirty="0"/>
              <a:t>(</a:t>
            </a:r>
            <a:r>
              <a:rPr lang="en-US" sz="1050" dirty="0" err="1"/>
              <a:t>readSerial</a:t>
            </a:r>
            <a:r>
              <a:rPr lang="en-US" sz="1050" dirty="0"/>
              <a:t>,</a:t>
            </a:r>
          </a:p>
          <a:p>
            <a:r>
              <a:rPr lang="en-US" sz="1050" dirty="0"/>
              <a:t>                          "Read Serial",</a:t>
            </a:r>
          </a:p>
          <a:p>
            <a:r>
              <a:rPr lang="en-US" sz="1050" dirty="0"/>
              <a:t>                          1024,</a:t>
            </a:r>
          </a:p>
          <a:p>
            <a:r>
              <a:rPr lang="en-US" sz="1050" dirty="0"/>
              <a:t>                          NULL,</a:t>
            </a:r>
          </a:p>
          <a:p>
            <a:r>
              <a:rPr lang="en-US" sz="1050" dirty="0"/>
              <a:t>                          1,</a:t>
            </a:r>
          </a:p>
          <a:p>
            <a:r>
              <a:rPr lang="en-US" sz="1050" dirty="0"/>
              <a:t>                          NULL,</a:t>
            </a:r>
          </a:p>
          <a:p>
            <a:r>
              <a:rPr lang="en-US" sz="1050" dirty="0"/>
              <a:t>                          </a:t>
            </a:r>
            <a:r>
              <a:rPr lang="en-US" sz="1050" dirty="0" err="1"/>
              <a:t>app_cpu</a:t>
            </a:r>
            <a:r>
              <a:rPr lang="en-US" sz="1050" dirty="0"/>
              <a:t>);</a:t>
            </a:r>
          </a:p>
          <a:p>
            <a:endParaRPr lang="en-US" sz="1050" dirty="0"/>
          </a:p>
          <a:p>
            <a:r>
              <a:rPr lang="en-US" sz="1050" dirty="0"/>
              <a:t>  // Start Serial print task</a:t>
            </a:r>
          </a:p>
          <a:p>
            <a:r>
              <a:rPr lang="en-US" sz="1050" dirty="0"/>
              <a:t>  </a:t>
            </a:r>
            <a:r>
              <a:rPr lang="en-US" sz="1050" dirty="0" err="1"/>
              <a:t>xTaskCreatePinnedToCore</a:t>
            </a:r>
            <a:r>
              <a:rPr lang="en-US" sz="1050" dirty="0"/>
              <a:t>(</a:t>
            </a:r>
            <a:r>
              <a:rPr lang="en-US" sz="1050" dirty="0" err="1"/>
              <a:t>printMessage</a:t>
            </a:r>
            <a:r>
              <a:rPr lang="en-US" sz="1050" dirty="0"/>
              <a:t>,</a:t>
            </a:r>
          </a:p>
          <a:p>
            <a:r>
              <a:rPr lang="en-US" sz="1050" dirty="0"/>
              <a:t>                          "Print Message",</a:t>
            </a:r>
          </a:p>
          <a:p>
            <a:r>
              <a:rPr lang="en-US" sz="1050" dirty="0"/>
              <a:t>                          1024,</a:t>
            </a:r>
          </a:p>
          <a:p>
            <a:r>
              <a:rPr lang="en-US" sz="1050" dirty="0"/>
              <a:t>                          NULL,</a:t>
            </a:r>
          </a:p>
          <a:p>
            <a:r>
              <a:rPr lang="en-US" sz="1050" dirty="0"/>
              <a:t>                          1,</a:t>
            </a:r>
          </a:p>
          <a:p>
            <a:r>
              <a:rPr lang="en-US" sz="1050" dirty="0"/>
              <a:t>                          NULL,</a:t>
            </a:r>
          </a:p>
          <a:p>
            <a:r>
              <a:rPr lang="en-US" sz="1050" dirty="0"/>
              <a:t>                          </a:t>
            </a:r>
            <a:r>
              <a:rPr lang="en-US" sz="1050" dirty="0" err="1"/>
              <a:t>app_cpu</a:t>
            </a:r>
            <a:r>
              <a:rPr lang="en-US" sz="1050" dirty="0"/>
              <a:t>);</a:t>
            </a:r>
          </a:p>
          <a:p>
            <a:r>
              <a:rPr lang="en-US" sz="1050" dirty="0"/>
              <a:t>  </a:t>
            </a:r>
          </a:p>
          <a:p>
            <a:r>
              <a:rPr lang="en-US" sz="1050" dirty="0"/>
              <a:t>  // Delete "setup and loop" task</a:t>
            </a:r>
          </a:p>
          <a:p>
            <a:r>
              <a:rPr lang="en-US" sz="1050" dirty="0"/>
              <a:t>  </a:t>
            </a:r>
            <a:r>
              <a:rPr lang="en-US" sz="1050" dirty="0" err="1"/>
              <a:t>vTaskDelete</a:t>
            </a:r>
            <a:r>
              <a:rPr lang="en-US" sz="1050" dirty="0"/>
              <a:t>(NULL);</a:t>
            </a:r>
          </a:p>
          <a:p>
            <a:r>
              <a:rPr lang="en-US" sz="1050" dirty="0"/>
              <a:t>}</a:t>
            </a:r>
          </a:p>
          <a:p>
            <a:endParaRPr lang="en-US" sz="1050" dirty="0"/>
          </a:p>
          <a:p>
            <a:r>
              <a:rPr lang="en-US" sz="1050" dirty="0"/>
              <a:t>void loop() {</a:t>
            </a:r>
          </a:p>
          <a:p>
            <a:r>
              <a:rPr lang="en-US" sz="1050" dirty="0"/>
              <a:t>  // Execution should never get here</a:t>
            </a:r>
          </a:p>
          <a:p>
            <a:r>
              <a:rPr lang="en-US" sz="1050" dirty="0"/>
              <a:t>}</a:t>
            </a:r>
          </a:p>
        </p:txBody>
      </p:sp>
    </p:spTree>
    <p:extLst>
      <p:ext uri="{BB962C8B-B14F-4D97-AF65-F5344CB8AC3E}">
        <p14:creationId xmlns:p14="http://schemas.microsoft.com/office/powerpoint/2010/main" val="312327839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2051957" y="2183032"/>
            <a:ext cx="1217550" cy="365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A</a:t>
            </a:r>
            <a:endParaRPr sz="1500"/>
          </a:p>
        </p:txBody>
      </p:sp>
      <p:sp>
        <p:nvSpPr>
          <p:cNvPr id="55" name="Google Shape;55;p13"/>
          <p:cNvSpPr/>
          <p:nvPr/>
        </p:nvSpPr>
        <p:spPr>
          <a:xfrm>
            <a:off x="5874494" y="2183032"/>
            <a:ext cx="1217550" cy="36525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B</a:t>
            </a:r>
            <a:endParaRPr sz="1500"/>
          </a:p>
        </p:txBody>
      </p:sp>
      <p:sp>
        <p:nvSpPr>
          <p:cNvPr id="56" name="Google Shape;56;p13"/>
          <p:cNvSpPr/>
          <p:nvPr/>
        </p:nvSpPr>
        <p:spPr>
          <a:xfrm>
            <a:off x="3873294" y="3144219"/>
            <a:ext cx="1397400" cy="569550"/>
          </a:xfrm>
          <a:prstGeom prst="ellipse">
            <a:avLst/>
          </a:prstGeom>
          <a:solidFill>
            <a:srgbClr val="EFEFEF"/>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Global Variable</a:t>
            </a:r>
            <a:endParaRPr sz="1500"/>
          </a:p>
        </p:txBody>
      </p:sp>
      <p:cxnSp>
        <p:nvCxnSpPr>
          <p:cNvPr id="57" name="Google Shape;57;p13"/>
          <p:cNvCxnSpPr>
            <a:stCxn id="55" idx="1"/>
            <a:endCxn id="56" idx="7"/>
          </p:cNvCxnSpPr>
          <p:nvPr/>
        </p:nvCxnSpPr>
        <p:spPr>
          <a:xfrm flipH="1">
            <a:off x="5065994" y="2365657"/>
            <a:ext cx="808500" cy="861900"/>
          </a:xfrm>
          <a:prstGeom prst="straightConnector1">
            <a:avLst/>
          </a:prstGeom>
          <a:noFill/>
          <a:ln w="38100" cap="flat" cmpd="sng">
            <a:solidFill>
              <a:schemeClr val="dk2"/>
            </a:solidFill>
            <a:prstDash val="solid"/>
            <a:round/>
            <a:headEnd type="triangle" w="med" len="med"/>
            <a:tailEnd type="none" w="med" len="med"/>
          </a:ln>
        </p:spPr>
      </p:cxnSp>
      <p:cxnSp>
        <p:nvCxnSpPr>
          <p:cNvPr id="58" name="Google Shape;58;p13"/>
          <p:cNvCxnSpPr/>
          <p:nvPr/>
        </p:nvCxnSpPr>
        <p:spPr>
          <a:xfrm>
            <a:off x="3269512" y="2548285"/>
            <a:ext cx="808500" cy="679050"/>
          </a:xfrm>
          <a:prstGeom prst="straightConnector1">
            <a:avLst/>
          </a:prstGeom>
          <a:noFill/>
          <a:ln w="38100" cap="flat" cmpd="sng">
            <a:solidFill>
              <a:schemeClr val="dk2"/>
            </a:solidFill>
            <a:prstDash val="solid"/>
            <a:round/>
            <a:headEnd type="none" w="med" len="med"/>
            <a:tailEnd type="triangle" w="med" len="med"/>
          </a:ln>
        </p:spPr>
      </p:cxnSp>
      <p:sp>
        <p:nvSpPr>
          <p:cNvPr id="59" name="Google Shape;59;p13"/>
          <p:cNvSpPr/>
          <p:nvPr/>
        </p:nvSpPr>
        <p:spPr>
          <a:xfrm>
            <a:off x="2051957" y="4309407"/>
            <a:ext cx="1217550" cy="36525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C</a:t>
            </a:r>
            <a:endParaRPr sz="1500"/>
          </a:p>
        </p:txBody>
      </p:sp>
      <p:cxnSp>
        <p:nvCxnSpPr>
          <p:cNvPr id="60" name="Google Shape;60;p13"/>
          <p:cNvCxnSpPr/>
          <p:nvPr/>
        </p:nvCxnSpPr>
        <p:spPr>
          <a:xfrm rot="10800000" flipH="1">
            <a:off x="3269512" y="3630360"/>
            <a:ext cx="808500" cy="679050"/>
          </a:xfrm>
          <a:prstGeom prst="straightConnector1">
            <a:avLst/>
          </a:prstGeom>
          <a:noFill/>
          <a:ln w="38100" cap="flat" cmpd="sng">
            <a:solidFill>
              <a:schemeClr val="dk2"/>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1000"/>
                                        <p:tgtEl>
                                          <p:spTgt spid="59"/>
                                        </p:tgtEl>
                                      </p:cBhvr>
                                    </p:animEffect>
                                  </p:childTnLst>
                                </p:cTn>
                              </p:par>
                              <p:par>
                                <p:cTn id="8" presetID="10" presetClass="entr" presetSubtype="0" fill="hold" nodeType="withEffect">
                                  <p:stCondLst>
                                    <p:cond delay="0"/>
                                  </p:stCondLst>
                                  <p:childTnLst>
                                    <p:set>
                                      <p:cBhvr>
                                        <p:cTn id="9" dur="1" fill="hold">
                                          <p:stCondLst>
                                            <p:cond delay="0"/>
                                          </p:stCondLst>
                                        </p:cTn>
                                        <p:tgtEl>
                                          <p:spTgt spid="60"/>
                                        </p:tgtEl>
                                        <p:attrNameLst>
                                          <p:attrName>style.visibility</p:attrName>
                                        </p:attrNameLst>
                                      </p:cBhvr>
                                      <p:to>
                                        <p:strVal val="visible"/>
                                      </p:to>
                                    </p:set>
                                    <p:animEffect transition="in" filter="fade">
                                      <p:cBhvr>
                                        <p:cTn id="10" dur="10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p:nvPr/>
        </p:nvSpPr>
        <p:spPr>
          <a:xfrm>
            <a:off x="3542938" y="2683275"/>
            <a:ext cx="2482950" cy="44985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latin typeface="Courier New"/>
                <a:ea typeface="Courier New"/>
                <a:cs typeface="Courier New"/>
                <a:sym typeface="Courier New"/>
              </a:rPr>
              <a:t>0x59 0x4A 0xBC 0x42</a:t>
            </a:r>
            <a:endParaRPr sz="1500">
              <a:latin typeface="Courier New"/>
              <a:ea typeface="Courier New"/>
              <a:cs typeface="Courier New"/>
              <a:sym typeface="Courier New"/>
            </a:endParaRPr>
          </a:p>
        </p:txBody>
      </p:sp>
      <p:sp>
        <p:nvSpPr>
          <p:cNvPr id="66" name="Google Shape;66;p14"/>
          <p:cNvSpPr/>
          <p:nvPr/>
        </p:nvSpPr>
        <p:spPr>
          <a:xfrm>
            <a:off x="3542938" y="3133125"/>
            <a:ext cx="2482950" cy="44985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latin typeface="Courier New"/>
                <a:ea typeface="Courier New"/>
                <a:cs typeface="Courier New"/>
                <a:sym typeface="Courier New"/>
              </a:rPr>
              <a:t>0x34 0x52 0xFF 0x07</a:t>
            </a:r>
            <a:endParaRPr sz="1500">
              <a:latin typeface="Courier New"/>
              <a:ea typeface="Courier New"/>
              <a:cs typeface="Courier New"/>
              <a:sym typeface="Courier New"/>
            </a:endParaRPr>
          </a:p>
        </p:txBody>
      </p:sp>
      <p:sp>
        <p:nvSpPr>
          <p:cNvPr id="67" name="Google Shape;67;p14"/>
          <p:cNvSpPr txBox="1"/>
          <p:nvPr/>
        </p:nvSpPr>
        <p:spPr>
          <a:xfrm>
            <a:off x="1884088" y="2746575"/>
            <a:ext cx="1658850" cy="323151"/>
          </a:xfrm>
          <a:prstGeom prst="rect">
            <a:avLst/>
          </a:prstGeom>
          <a:noFill/>
          <a:ln>
            <a:noFill/>
          </a:ln>
        </p:spPr>
        <p:txBody>
          <a:bodyPr spcFirstLastPara="1" wrap="square" lIns="45713" tIns="45713" rIns="45713" bIns="45713" anchor="t" anchorCtr="0">
            <a:spAutoFit/>
          </a:bodyPr>
          <a:lstStyle/>
          <a:p>
            <a:pPr algn="r"/>
            <a:r>
              <a:rPr lang="en" sz="1500"/>
              <a:t>0x3FFC_0000</a:t>
            </a:r>
            <a:endParaRPr sz="1500"/>
          </a:p>
        </p:txBody>
      </p:sp>
      <p:sp>
        <p:nvSpPr>
          <p:cNvPr id="68" name="Google Shape;68;p14"/>
          <p:cNvSpPr txBox="1"/>
          <p:nvPr/>
        </p:nvSpPr>
        <p:spPr>
          <a:xfrm>
            <a:off x="1884088" y="3196425"/>
            <a:ext cx="1658850" cy="323151"/>
          </a:xfrm>
          <a:prstGeom prst="rect">
            <a:avLst/>
          </a:prstGeom>
          <a:noFill/>
          <a:ln>
            <a:noFill/>
          </a:ln>
        </p:spPr>
        <p:txBody>
          <a:bodyPr spcFirstLastPara="1" wrap="square" lIns="45713" tIns="45713" rIns="45713" bIns="45713" anchor="t" anchorCtr="0">
            <a:spAutoFit/>
          </a:bodyPr>
          <a:lstStyle/>
          <a:p>
            <a:pPr algn="r"/>
            <a:r>
              <a:rPr lang="en" sz="1500">
                <a:solidFill>
                  <a:schemeClr val="dk1"/>
                </a:solidFill>
              </a:rPr>
              <a:t>0x3FFC_0001</a:t>
            </a:r>
            <a:endParaRPr sz="1500"/>
          </a:p>
        </p:txBody>
      </p:sp>
      <p:sp>
        <p:nvSpPr>
          <p:cNvPr id="69" name="Google Shape;69;p14"/>
          <p:cNvSpPr/>
          <p:nvPr/>
        </p:nvSpPr>
        <p:spPr>
          <a:xfrm>
            <a:off x="3542938" y="3582975"/>
            <a:ext cx="2482950" cy="44985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latin typeface="Courier New"/>
                <a:ea typeface="Courier New"/>
                <a:cs typeface="Courier New"/>
                <a:sym typeface="Courier New"/>
              </a:rPr>
              <a:t>0x00 0x00 0x00 0x00</a:t>
            </a:r>
            <a:endParaRPr sz="1500">
              <a:latin typeface="Courier New"/>
              <a:ea typeface="Courier New"/>
              <a:cs typeface="Courier New"/>
              <a:sym typeface="Courier New"/>
            </a:endParaRPr>
          </a:p>
        </p:txBody>
      </p:sp>
      <p:sp>
        <p:nvSpPr>
          <p:cNvPr id="70" name="Google Shape;70;p14"/>
          <p:cNvSpPr txBox="1"/>
          <p:nvPr/>
        </p:nvSpPr>
        <p:spPr>
          <a:xfrm rot="5400000">
            <a:off x="4637763" y="4049775"/>
            <a:ext cx="495600" cy="461700"/>
          </a:xfrm>
          <a:prstGeom prst="rect">
            <a:avLst/>
          </a:prstGeom>
          <a:noFill/>
          <a:ln>
            <a:noFill/>
          </a:ln>
        </p:spPr>
        <p:txBody>
          <a:bodyPr spcFirstLastPara="1" wrap="square" lIns="45713" tIns="45713" rIns="45713" bIns="45713" anchor="ctr" anchorCtr="0">
            <a:noAutofit/>
          </a:bodyPr>
          <a:lstStyle/>
          <a:p>
            <a:pPr algn="ctr"/>
            <a:r>
              <a:rPr lang="en" sz="2400"/>
              <a:t>...</a:t>
            </a:r>
            <a:endParaRPr sz="2400"/>
          </a:p>
        </p:txBody>
      </p:sp>
      <p:sp>
        <p:nvSpPr>
          <p:cNvPr id="71" name="Google Shape;71;p14"/>
          <p:cNvSpPr txBox="1"/>
          <p:nvPr/>
        </p:nvSpPr>
        <p:spPr>
          <a:xfrm>
            <a:off x="1884088" y="3646275"/>
            <a:ext cx="1658850" cy="323151"/>
          </a:xfrm>
          <a:prstGeom prst="rect">
            <a:avLst/>
          </a:prstGeom>
          <a:noFill/>
          <a:ln>
            <a:noFill/>
          </a:ln>
        </p:spPr>
        <p:txBody>
          <a:bodyPr spcFirstLastPara="1" wrap="square" lIns="45713" tIns="45713" rIns="45713" bIns="45713" anchor="t" anchorCtr="0">
            <a:spAutoFit/>
          </a:bodyPr>
          <a:lstStyle/>
          <a:p>
            <a:pPr algn="r"/>
            <a:r>
              <a:rPr lang="en" sz="1500">
                <a:solidFill>
                  <a:schemeClr val="dk1"/>
                </a:solidFill>
              </a:rPr>
              <a:t>0x3FFC_0002</a:t>
            </a:r>
            <a:endParaRPr sz="1500"/>
          </a:p>
        </p:txBody>
      </p:sp>
      <p:sp>
        <p:nvSpPr>
          <p:cNvPr id="72" name="Google Shape;72;p14"/>
          <p:cNvSpPr txBox="1"/>
          <p:nvPr/>
        </p:nvSpPr>
        <p:spPr>
          <a:xfrm rot="5400000">
            <a:off x="4637763" y="2204625"/>
            <a:ext cx="495600" cy="461700"/>
          </a:xfrm>
          <a:prstGeom prst="rect">
            <a:avLst/>
          </a:prstGeom>
          <a:noFill/>
          <a:ln>
            <a:noFill/>
          </a:ln>
        </p:spPr>
        <p:txBody>
          <a:bodyPr spcFirstLastPara="1" wrap="square" lIns="45713" tIns="45713" rIns="45713" bIns="45713" anchor="ctr" anchorCtr="0">
            <a:noAutofit/>
          </a:bodyPr>
          <a:lstStyle/>
          <a:p>
            <a:pPr algn="ctr"/>
            <a:r>
              <a:rPr lang="en" sz="2400"/>
              <a:t>...</a:t>
            </a:r>
            <a:endParaRPr sz="2400"/>
          </a:p>
        </p:txBody>
      </p:sp>
      <p:sp>
        <p:nvSpPr>
          <p:cNvPr id="73" name="Google Shape;73;p14"/>
          <p:cNvSpPr txBox="1"/>
          <p:nvPr/>
        </p:nvSpPr>
        <p:spPr>
          <a:xfrm>
            <a:off x="333788" y="1853575"/>
            <a:ext cx="4628250" cy="323151"/>
          </a:xfrm>
          <a:prstGeom prst="rect">
            <a:avLst/>
          </a:prstGeom>
          <a:noFill/>
          <a:ln>
            <a:noFill/>
          </a:ln>
        </p:spPr>
        <p:txBody>
          <a:bodyPr spcFirstLastPara="1" wrap="square" lIns="45713" tIns="45713" rIns="45713" bIns="45713" anchor="t" anchorCtr="0">
            <a:spAutoFit/>
          </a:bodyPr>
          <a:lstStyle/>
          <a:p>
            <a:r>
              <a:rPr lang="en" sz="1500">
                <a:latin typeface="Courier New"/>
                <a:ea typeface="Courier New"/>
                <a:cs typeface="Courier New"/>
                <a:sym typeface="Courier New"/>
              </a:rPr>
              <a:t>global_num = 0x0011223344556677</a:t>
            </a:r>
            <a:endParaRPr sz="1500">
              <a:latin typeface="Courier New"/>
              <a:ea typeface="Courier New"/>
              <a:cs typeface="Courier New"/>
              <a:sym typeface="Courier New"/>
            </a:endParaRPr>
          </a:p>
        </p:txBody>
      </p:sp>
      <p:sp>
        <p:nvSpPr>
          <p:cNvPr id="74" name="Google Shape;74;p14"/>
          <p:cNvSpPr/>
          <p:nvPr/>
        </p:nvSpPr>
        <p:spPr>
          <a:xfrm>
            <a:off x="7502982" y="2952882"/>
            <a:ext cx="1217550" cy="36525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B</a:t>
            </a:r>
            <a:endParaRPr sz="1500"/>
          </a:p>
        </p:txBody>
      </p:sp>
      <p:sp>
        <p:nvSpPr>
          <p:cNvPr id="75" name="Google Shape;75;p14"/>
          <p:cNvSpPr/>
          <p:nvPr/>
        </p:nvSpPr>
        <p:spPr>
          <a:xfrm>
            <a:off x="3542938" y="2683275"/>
            <a:ext cx="2482950" cy="44985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b="1">
                <a:solidFill>
                  <a:srgbClr val="FF0000"/>
                </a:solidFill>
                <a:latin typeface="Courier New"/>
                <a:ea typeface="Courier New"/>
                <a:cs typeface="Courier New"/>
                <a:sym typeface="Courier New"/>
              </a:rPr>
              <a:t>0x77 0x66 0x55 0x44</a:t>
            </a:r>
            <a:endParaRPr sz="1500" b="1">
              <a:solidFill>
                <a:srgbClr val="FF0000"/>
              </a:solidFill>
              <a:latin typeface="Courier New"/>
              <a:ea typeface="Courier New"/>
              <a:cs typeface="Courier New"/>
              <a:sym typeface="Courier New"/>
            </a:endParaRPr>
          </a:p>
        </p:txBody>
      </p:sp>
      <p:sp>
        <p:nvSpPr>
          <p:cNvPr id="76" name="Google Shape;76;p14"/>
          <p:cNvSpPr/>
          <p:nvPr/>
        </p:nvSpPr>
        <p:spPr>
          <a:xfrm>
            <a:off x="3012263" y="1888975"/>
            <a:ext cx="937950" cy="252450"/>
          </a:xfrm>
          <a:prstGeom prst="rect">
            <a:avLst/>
          </a:prstGeom>
          <a:noFill/>
          <a:ln w="38100" cap="flat" cmpd="sng">
            <a:solidFill>
              <a:srgbClr val="FF0000"/>
            </a:solidFill>
            <a:prstDash val="solid"/>
            <a:round/>
            <a:headEnd type="none" w="sm" len="sm"/>
            <a:tailEnd type="none" w="sm" len="sm"/>
          </a:ln>
        </p:spPr>
        <p:txBody>
          <a:bodyPr spcFirstLastPara="1" wrap="square" lIns="45713" tIns="45713" rIns="45713" bIns="45713" anchor="ctr" anchorCtr="0">
            <a:noAutofit/>
          </a:bodyPr>
          <a:lstStyle/>
          <a:p>
            <a:endParaRPr sz="900"/>
          </a:p>
        </p:txBody>
      </p:sp>
      <p:cxnSp>
        <p:nvCxnSpPr>
          <p:cNvPr id="77" name="Google Shape;77;p14"/>
          <p:cNvCxnSpPr>
            <a:stCxn id="76" idx="2"/>
          </p:cNvCxnSpPr>
          <p:nvPr/>
        </p:nvCxnSpPr>
        <p:spPr>
          <a:xfrm>
            <a:off x="3481238" y="2141425"/>
            <a:ext cx="246750" cy="546600"/>
          </a:xfrm>
          <a:prstGeom prst="straightConnector1">
            <a:avLst/>
          </a:prstGeom>
          <a:noFill/>
          <a:ln w="38100" cap="flat" cmpd="sng">
            <a:solidFill>
              <a:srgbClr val="FF0000"/>
            </a:solidFill>
            <a:prstDash val="solid"/>
            <a:round/>
            <a:headEnd type="none" w="med" len="med"/>
            <a:tailEnd type="triangle" w="med" len="med"/>
          </a:ln>
        </p:spPr>
      </p:cxnSp>
      <p:cxnSp>
        <p:nvCxnSpPr>
          <p:cNvPr id="78" name="Google Shape;78;p14"/>
          <p:cNvCxnSpPr>
            <a:endCxn id="74" idx="1"/>
          </p:cNvCxnSpPr>
          <p:nvPr/>
        </p:nvCxnSpPr>
        <p:spPr>
          <a:xfrm>
            <a:off x="6284082" y="3135507"/>
            <a:ext cx="1218900" cy="0"/>
          </a:xfrm>
          <a:prstGeom prst="straightConnector1">
            <a:avLst/>
          </a:prstGeom>
          <a:noFill/>
          <a:ln w="38100" cap="flat" cmpd="sng">
            <a:solidFill>
              <a:schemeClr val="dk2"/>
            </a:solidFill>
            <a:prstDash val="solid"/>
            <a:round/>
            <a:headEnd type="none" w="med" len="med"/>
            <a:tailEnd type="triangle" w="med" len="med"/>
          </a:ln>
        </p:spPr>
      </p:cxnSp>
      <p:cxnSp>
        <p:nvCxnSpPr>
          <p:cNvPr id="79" name="Google Shape;79;p14"/>
          <p:cNvCxnSpPr/>
          <p:nvPr/>
        </p:nvCxnSpPr>
        <p:spPr>
          <a:xfrm>
            <a:off x="6284025" y="2687913"/>
            <a:ext cx="0" cy="895200"/>
          </a:xfrm>
          <a:prstGeom prst="straightConnector1">
            <a:avLst/>
          </a:prstGeom>
          <a:noFill/>
          <a:ln w="38100" cap="flat" cmpd="sng">
            <a:solidFill>
              <a:schemeClr val="dk2"/>
            </a:solidFill>
            <a:prstDash val="solid"/>
            <a:round/>
            <a:headEnd type="none" w="med" len="med"/>
            <a:tailEnd type="none" w="med" len="med"/>
          </a:ln>
        </p:spPr>
      </p:cxnSp>
      <p:cxnSp>
        <p:nvCxnSpPr>
          <p:cNvPr id="80" name="Google Shape;80;p14"/>
          <p:cNvCxnSpPr/>
          <p:nvPr/>
        </p:nvCxnSpPr>
        <p:spPr>
          <a:xfrm rot="10800000">
            <a:off x="6172725" y="2687913"/>
            <a:ext cx="111300" cy="0"/>
          </a:xfrm>
          <a:prstGeom prst="straightConnector1">
            <a:avLst/>
          </a:prstGeom>
          <a:noFill/>
          <a:ln w="38100" cap="flat" cmpd="sng">
            <a:solidFill>
              <a:schemeClr val="dk2"/>
            </a:solidFill>
            <a:prstDash val="solid"/>
            <a:round/>
            <a:headEnd type="none" w="med" len="med"/>
            <a:tailEnd type="none" w="med" len="med"/>
          </a:ln>
        </p:spPr>
      </p:cxnSp>
      <p:cxnSp>
        <p:nvCxnSpPr>
          <p:cNvPr id="81" name="Google Shape;81;p14"/>
          <p:cNvCxnSpPr/>
          <p:nvPr/>
        </p:nvCxnSpPr>
        <p:spPr>
          <a:xfrm rot="10800000">
            <a:off x="6172725" y="3582975"/>
            <a:ext cx="111300" cy="0"/>
          </a:xfrm>
          <a:prstGeom prst="straightConnector1">
            <a:avLst/>
          </a:prstGeom>
          <a:noFill/>
          <a:ln w="38100"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p:cTn id="7" dur="1000"/>
                                        <p:tgtEl>
                                          <p:spTgt spid="76"/>
                                        </p:tgtEl>
                                      </p:cBhvr>
                                    </p:animEffect>
                                  </p:childTnLst>
                                </p:cTn>
                              </p:par>
                              <p:par>
                                <p:cTn id="8" presetID="10" presetClass="entr" presetSubtype="0" fill="hold" nodeType="withEffect">
                                  <p:stCondLst>
                                    <p:cond delay="0"/>
                                  </p:stCondLst>
                                  <p:childTnLst>
                                    <p:set>
                                      <p:cBhvr>
                                        <p:cTn id="9" dur="1" fill="hold">
                                          <p:stCondLst>
                                            <p:cond delay="0"/>
                                          </p:stCondLst>
                                        </p:cTn>
                                        <p:tgtEl>
                                          <p:spTgt spid="77"/>
                                        </p:tgtEl>
                                        <p:attrNameLst>
                                          <p:attrName>style.visibility</p:attrName>
                                        </p:attrNameLst>
                                      </p:cBhvr>
                                      <p:to>
                                        <p:strVal val="visible"/>
                                      </p:to>
                                    </p:set>
                                    <p:animEffect transition="in" filter="fade">
                                      <p:cBhvr>
                                        <p:cTn id="10" dur="1000"/>
                                        <p:tgtEl>
                                          <p:spTgt spid="77"/>
                                        </p:tgtEl>
                                      </p:cBhvr>
                                    </p:animEffect>
                                  </p:childTnLst>
                                </p:cTn>
                              </p:par>
                              <p:par>
                                <p:cTn id="11" presetID="10" presetClass="entr" presetSubtype="0" fill="hold" nodeType="withEffect">
                                  <p:stCondLst>
                                    <p:cond delay="0"/>
                                  </p:stCondLst>
                                  <p:childTnLst>
                                    <p:set>
                                      <p:cBhvr>
                                        <p:cTn id="12" dur="1" fill="hold">
                                          <p:stCondLst>
                                            <p:cond delay="0"/>
                                          </p:stCondLst>
                                        </p:cTn>
                                        <p:tgtEl>
                                          <p:spTgt spid="75"/>
                                        </p:tgtEl>
                                        <p:attrNameLst>
                                          <p:attrName>style.visibility</p:attrName>
                                        </p:attrNameLst>
                                      </p:cBhvr>
                                      <p:to>
                                        <p:strVal val="visible"/>
                                      </p:to>
                                    </p:set>
                                    <p:animEffect transition="in" filter="fade">
                                      <p:cBhvr>
                                        <p:cTn id="13" dur="1000"/>
                                        <p:tgtEl>
                                          <p:spTgt spid="7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4"/>
                                        </p:tgtEl>
                                        <p:attrNameLst>
                                          <p:attrName>style.visibility</p:attrName>
                                        </p:attrNameLst>
                                      </p:cBhvr>
                                      <p:to>
                                        <p:strVal val="visible"/>
                                      </p:to>
                                    </p:set>
                                    <p:animEffect transition="in" filter="fade">
                                      <p:cBhvr>
                                        <p:cTn id="18" dur="1000"/>
                                        <p:tgtEl>
                                          <p:spTgt spid="74"/>
                                        </p:tgtEl>
                                      </p:cBhvr>
                                    </p:animEffect>
                                  </p:childTnLst>
                                </p:cTn>
                              </p:par>
                              <p:par>
                                <p:cTn id="19" presetID="10" presetClass="entr" presetSubtype="0" fill="hold" nodeType="withEffect">
                                  <p:stCondLst>
                                    <p:cond delay="0"/>
                                  </p:stCondLst>
                                  <p:childTnLst>
                                    <p:set>
                                      <p:cBhvr>
                                        <p:cTn id="20" dur="1" fill="hold">
                                          <p:stCondLst>
                                            <p:cond delay="0"/>
                                          </p:stCondLst>
                                        </p:cTn>
                                        <p:tgtEl>
                                          <p:spTgt spid="78"/>
                                        </p:tgtEl>
                                        <p:attrNameLst>
                                          <p:attrName>style.visibility</p:attrName>
                                        </p:attrNameLst>
                                      </p:cBhvr>
                                      <p:to>
                                        <p:strVal val="visible"/>
                                      </p:to>
                                    </p:set>
                                    <p:animEffect transition="in" filter="fade">
                                      <p:cBhvr>
                                        <p:cTn id="21" dur="1000"/>
                                        <p:tgtEl>
                                          <p:spTgt spid="78"/>
                                        </p:tgtEl>
                                      </p:cBhvr>
                                    </p:animEffect>
                                  </p:childTnLst>
                                </p:cTn>
                              </p:par>
                              <p:par>
                                <p:cTn id="22" presetID="10" presetClass="entr" presetSubtype="0" fill="hold" nodeType="withEffect">
                                  <p:stCondLst>
                                    <p:cond delay="0"/>
                                  </p:stCondLst>
                                  <p:childTnLst>
                                    <p:set>
                                      <p:cBhvr>
                                        <p:cTn id="23" dur="1" fill="hold">
                                          <p:stCondLst>
                                            <p:cond delay="0"/>
                                          </p:stCondLst>
                                        </p:cTn>
                                        <p:tgtEl>
                                          <p:spTgt spid="79"/>
                                        </p:tgtEl>
                                        <p:attrNameLst>
                                          <p:attrName>style.visibility</p:attrName>
                                        </p:attrNameLst>
                                      </p:cBhvr>
                                      <p:to>
                                        <p:strVal val="visible"/>
                                      </p:to>
                                    </p:set>
                                    <p:animEffect transition="in" filter="fade">
                                      <p:cBhvr>
                                        <p:cTn id="24" dur="1000"/>
                                        <p:tgtEl>
                                          <p:spTgt spid="79"/>
                                        </p:tgtEl>
                                      </p:cBhvr>
                                    </p:animEffect>
                                  </p:childTnLst>
                                </p:cTn>
                              </p:par>
                              <p:par>
                                <p:cTn id="25" presetID="10" presetClass="entr" presetSubtype="0" fill="hold" nodeType="withEffect">
                                  <p:stCondLst>
                                    <p:cond delay="0"/>
                                  </p:stCondLst>
                                  <p:childTnLst>
                                    <p:set>
                                      <p:cBhvr>
                                        <p:cTn id="26" dur="1" fill="hold">
                                          <p:stCondLst>
                                            <p:cond delay="0"/>
                                          </p:stCondLst>
                                        </p:cTn>
                                        <p:tgtEl>
                                          <p:spTgt spid="80"/>
                                        </p:tgtEl>
                                        <p:attrNameLst>
                                          <p:attrName>style.visibility</p:attrName>
                                        </p:attrNameLst>
                                      </p:cBhvr>
                                      <p:to>
                                        <p:strVal val="visible"/>
                                      </p:to>
                                    </p:set>
                                    <p:animEffect transition="in" filter="fade">
                                      <p:cBhvr>
                                        <p:cTn id="27" dur="1000"/>
                                        <p:tgtEl>
                                          <p:spTgt spid="80"/>
                                        </p:tgtEl>
                                      </p:cBhvr>
                                    </p:animEffect>
                                  </p:childTnLst>
                                </p:cTn>
                              </p:par>
                              <p:par>
                                <p:cTn id="28" presetID="10" presetClass="entr" presetSubtype="0" fill="hold" nodeType="withEffect">
                                  <p:stCondLst>
                                    <p:cond delay="0"/>
                                  </p:stCondLst>
                                  <p:childTnLst>
                                    <p:set>
                                      <p:cBhvr>
                                        <p:cTn id="29" dur="1" fill="hold">
                                          <p:stCondLst>
                                            <p:cond delay="0"/>
                                          </p:stCondLst>
                                        </p:cTn>
                                        <p:tgtEl>
                                          <p:spTgt spid="81"/>
                                        </p:tgtEl>
                                        <p:attrNameLst>
                                          <p:attrName>style.visibility</p:attrName>
                                        </p:attrNameLst>
                                      </p:cBhvr>
                                      <p:to>
                                        <p:strVal val="visible"/>
                                      </p:to>
                                    </p:set>
                                    <p:animEffect transition="in" filter="fade">
                                      <p:cBhvr>
                                        <p:cTn id="30" dur="10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5"/>
          <p:cNvSpPr/>
          <p:nvPr/>
        </p:nvSpPr>
        <p:spPr>
          <a:xfrm>
            <a:off x="333782" y="4912869"/>
            <a:ext cx="1217550" cy="36525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C</a:t>
            </a:r>
            <a:endParaRPr sz="1500"/>
          </a:p>
        </p:txBody>
      </p:sp>
      <p:sp>
        <p:nvSpPr>
          <p:cNvPr id="87" name="Google Shape;87;p15"/>
          <p:cNvSpPr/>
          <p:nvPr/>
        </p:nvSpPr>
        <p:spPr>
          <a:xfrm>
            <a:off x="3542938" y="2683275"/>
            <a:ext cx="2482950" cy="44985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latin typeface="Courier New"/>
                <a:ea typeface="Courier New"/>
                <a:cs typeface="Courier New"/>
                <a:sym typeface="Courier New"/>
              </a:rPr>
              <a:t>0x59 0x4A 0xBC 0x42</a:t>
            </a:r>
            <a:endParaRPr sz="1500">
              <a:latin typeface="Courier New"/>
              <a:ea typeface="Courier New"/>
              <a:cs typeface="Courier New"/>
              <a:sym typeface="Courier New"/>
            </a:endParaRPr>
          </a:p>
        </p:txBody>
      </p:sp>
      <p:sp>
        <p:nvSpPr>
          <p:cNvPr id="88" name="Google Shape;88;p15"/>
          <p:cNvSpPr/>
          <p:nvPr/>
        </p:nvSpPr>
        <p:spPr>
          <a:xfrm>
            <a:off x="3542938" y="3133125"/>
            <a:ext cx="2482950" cy="44985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latin typeface="Courier New"/>
                <a:ea typeface="Courier New"/>
                <a:cs typeface="Courier New"/>
                <a:sym typeface="Courier New"/>
              </a:rPr>
              <a:t>0x34 0x52 0xFF 0x07</a:t>
            </a:r>
            <a:endParaRPr sz="1500">
              <a:latin typeface="Courier New"/>
              <a:ea typeface="Courier New"/>
              <a:cs typeface="Courier New"/>
              <a:sym typeface="Courier New"/>
            </a:endParaRPr>
          </a:p>
        </p:txBody>
      </p:sp>
      <p:sp>
        <p:nvSpPr>
          <p:cNvPr id="89" name="Google Shape;89;p15"/>
          <p:cNvSpPr txBox="1"/>
          <p:nvPr/>
        </p:nvSpPr>
        <p:spPr>
          <a:xfrm>
            <a:off x="1884088" y="2746575"/>
            <a:ext cx="1658850" cy="323151"/>
          </a:xfrm>
          <a:prstGeom prst="rect">
            <a:avLst/>
          </a:prstGeom>
          <a:noFill/>
          <a:ln>
            <a:noFill/>
          </a:ln>
        </p:spPr>
        <p:txBody>
          <a:bodyPr spcFirstLastPara="1" wrap="square" lIns="45713" tIns="45713" rIns="45713" bIns="45713" anchor="t" anchorCtr="0">
            <a:spAutoFit/>
          </a:bodyPr>
          <a:lstStyle/>
          <a:p>
            <a:pPr algn="r"/>
            <a:r>
              <a:rPr lang="en" sz="1500"/>
              <a:t>0x3FFC_0000</a:t>
            </a:r>
            <a:endParaRPr sz="1500"/>
          </a:p>
        </p:txBody>
      </p:sp>
      <p:sp>
        <p:nvSpPr>
          <p:cNvPr id="90" name="Google Shape;90;p15"/>
          <p:cNvSpPr txBox="1"/>
          <p:nvPr/>
        </p:nvSpPr>
        <p:spPr>
          <a:xfrm>
            <a:off x="1884088" y="3196425"/>
            <a:ext cx="1658850" cy="323151"/>
          </a:xfrm>
          <a:prstGeom prst="rect">
            <a:avLst/>
          </a:prstGeom>
          <a:noFill/>
          <a:ln>
            <a:noFill/>
          </a:ln>
        </p:spPr>
        <p:txBody>
          <a:bodyPr spcFirstLastPara="1" wrap="square" lIns="45713" tIns="45713" rIns="45713" bIns="45713" anchor="t" anchorCtr="0">
            <a:spAutoFit/>
          </a:bodyPr>
          <a:lstStyle/>
          <a:p>
            <a:pPr algn="r"/>
            <a:r>
              <a:rPr lang="en" sz="1500">
                <a:solidFill>
                  <a:schemeClr val="dk1"/>
                </a:solidFill>
              </a:rPr>
              <a:t>0x3FFC_0001</a:t>
            </a:r>
            <a:endParaRPr sz="1500"/>
          </a:p>
        </p:txBody>
      </p:sp>
      <p:sp>
        <p:nvSpPr>
          <p:cNvPr id="91" name="Google Shape;91;p15"/>
          <p:cNvSpPr/>
          <p:nvPr/>
        </p:nvSpPr>
        <p:spPr>
          <a:xfrm>
            <a:off x="3542938" y="3582975"/>
            <a:ext cx="2482950" cy="44985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latin typeface="Courier New"/>
                <a:ea typeface="Courier New"/>
                <a:cs typeface="Courier New"/>
                <a:sym typeface="Courier New"/>
              </a:rPr>
              <a:t>0x00 0x00 0x00 0x00</a:t>
            </a:r>
            <a:endParaRPr sz="1500">
              <a:latin typeface="Courier New"/>
              <a:ea typeface="Courier New"/>
              <a:cs typeface="Courier New"/>
              <a:sym typeface="Courier New"/>
            </a:endParaRPr>
          </a:p>
        </p:txBody>
      </p:sp>
      <p:sp>
        <p:nvSpPr>
          <p:cNvPr id="92" name="Google Shape;92;p15"/>
          <p:cNvSpPr txBox="1"/>
          <p:nvPr/>
        </p:nvSpPr>
        <p:spPr>
          <a:xfrm rot="5400000">
            <a:off x="4637763" y="4049775"/>
            <a:ext cx="495600" cy="461700"/>
          </a:xfrm>
          <a:prstGeom prst="rect">
            <a:avLst/>
          </a:prstGeom>
          <a:noFill/>
          <a:ln>
            <a:noFill/>
          </a:ln>
        </p:spPr>
        <p:txBody>
          <a:bodyPr spcFirstLastPara="1" wrap="square" lIns="45713" tIns="45713" rIns="45713" bIns="45713" anchor="ctr" anchorCtr="0">
            <a:noAutofit/>
          </a:bodyPr>
          <a:lstStyle/>
          <a:p>
            <a:pPr algn="ctr"/>
            <a:r>
              <a:rPr lang="en" sz="2400"/>
              <a:t>...</a:t>
            </a:r>
            <a:endParaRPr sz="2400"/>
          </a:p>
        </p:txBody>
      </p:sp>
      <p:sp>
        <p:nvSpPr>
          <p:cNvPr id="93" name="Google Shape;93;p15"/>
          <p:cNvSpPr txBox="1"/>
          <p:nvPr/>
        </p:nvSpPr>
        <p:spPr>
          <a:xfrm>
            <a:off x="1884088" y="3646275"/>
            <a:ext cx="1658850" cy="323151"/>
          </a:xfrm>
          <a:prstGeom prst="rect">
            <a:avLst/>
          </a:prstGeom>
          <a:noFill/>
          <a:ln>
            <a:noFill/>
          </a:ln>
        </p:spPr>
        <p:txBody>
          <a:bodyPr spcFirstLastPara="1" wrap="square" lIns="45713" tIns="45713" rIns="45713" bIns="45713" anchor="t" anchorCtr="0">
            <a:spAutoFit/>
          </a:bodyPr>
          <a:lstStyle/>
          <a:p>
            <a:pPr algn="r"/>
            <a:r>
              <a:rPr lang="en" sz="1500">
                <a:solidFill>
                  <a:schemeClr val="dk1"/>
                </a:solidFill>
              </a:rPr>
              <a:t>0x3FFC_0002</a:t>
            </a:r>
            <a:endParaRPr sz="1500"/>
          </a:p>
        </p:txBody>
      </p:sp>
      <p:sp>
        <p:nvSpPr>
          <p:cNvPr id="94" name="Google Shape;94;p15"/>
          <p:cNvSpPr txBox="1"/>
          <p:nvPr/>
        </p:nvSpPr>
        <p:spPr>
          <a:xfrm rot="5400000">
            <a:off x="4637763" y="2204625"/>
            <a:ext cx="495600" cy="461700"/>
          </a:xfrm>
          <a:prstGeom prst="rect">
            <a:avLst/>
          </a:prstGeom>
          <a:noFill/>
          <a:ln>
            <a:noFill/>
          </a:ln>
        </p:spPr>
        <p:txBody>
          <a:bodyPr spcFirstLastPara="1" wrap="square" lIns="45713" tIns="45713" rIns="45713" bIns="45713" anchor="ctr" anchorCtr="0">
            <a:noAutofit/>
          </a:bodyPr>
          <a:lstStyle/>
          <a:p>
            <a:pPr algn="ctr"/>
            <a:r>
              <a:rPr lang="en" sz="2400"/>
              <a:t>...</a:t>
            </a:r>
            <a:endParaRPr sz="2400"/>
          </a:p>
        </p:txBody>
      </p:sp>
      <p:sp>
        <p:nvSpPr>
          <p:cNvPr id="95" name="Google Shape;95;p15"/>
          <p:cNvSpPr txBox="1"/>
          <p:nvPr/>
        </p:nvSpPr>
        <p:spPr>
          <a:xfrm>
            <a:off x="333788" y="1853575"/>
            <a:ext cx="4628250" cy="323151"/>
          </a:xfrm>
          <a:prstGeom prst="rect">
            <a:avLst/>
          </a:prstGeom>
          <a:noFill/>
          <a:ln>
            <a:noFill/>
          </a:ln>
        </p:spPr>
        <p:txBody>
          <a:bodyPr spcFirstLastPara="1" wrap="square" lIns="45713" tIns="45713" rIns="45713" bIns="45713" anchor="t" anchorCtr="0">
            <a:spAutoFit/>
          </a:bodyPr>
          <a:lstStyle/>
          <a:p>
            <a:r>
              <a:rPr lang="en" sz="1500">
                <a:latin typeface="Courier New"/>
                <a:ea typeface="Courier New"/>
                <a:cs typeface="Courier New"/>
                <a:sym typeface="Courier New"/>
              </a:rPr>
              <a:t>global_num = 0x0011223344556677</a:t>
            </a:r>
            <a:endParaRPr sz="1500">
              <a:latin typeface="Courier New"/>
              <a:ea typeface="Courier New"/>
              <a:cs typeface="Courier New"/>
              <a:sym typeface="Courier New"/>
            </a:endParaRPr>
          </a:p>
        </p:txBody>
      </p:sp>
      <p:sp>
        <p:nvSpPr>
          <p:cNvPr id="96" name="Google Shape;96;p15"/>
          <p:cNvSpPr/>
          <p:nvPr/>
        </p:nvSpPr>
        <p:spPr>
          <a:xfrm>
            <a:off x="3542938" y="2683275"/>
            <a:ext cx="2482950" cy="44985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b="1">
                <a:solidFill>
                  <a:srgbClr val="FF0000"/>
                </a:solidFill>
                <a:latin typeface="Courier New"/>
                <a:ea typeface="Courier New"/>
                <a:cs typeface="Courier New"/>
                <a:sym typeface="Courier New"/>
              </a:rPr>
              <a:t>0x77 0x66 0x55 0x44</a:t>
            </a:r>
            <a:endParaRPr sz="1500" b="1">
              <a:solidFill>
                <a:srgbClr val="FF0000"/>
              </a:solidFill>
              <a:latin typeface="Courier New"/>
              <a:ea typeface="Courier New"/>
              <a:cs typeface="Courier New"/>
              <a:sym typeface="Courier New"/>
            </a:endParaRPr>
          </a:p>
        </p:txBody>
      </p:sp>
      <p:sp>
        <p:nvSpPr>
          <p:cNvPr id="97" name="Google Shape;97;p15"/>
          <p:cNvSpPr/>
          <p:nvPr/>
        </p:nvSpPr>
        <p:spPr>
          <a:xfrm>
            <a:off x="3012263" y="1888975"/>
            <a:ext cx="937950" cy="252450"/>
          </a:xfrm>
          <a:prstGeom prst="rect">
            <a:avLst/>
          </a:prstGeom>
          <a:noFill/>
          <a:ln w="38100" cap="flat" cmpd="sng">
            <a:solidFill>
              <a:srgbClr val="FF000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98" name="Google Shape;98;p15"/>
          <p:cNvSpPr/>
          <p:nvPr/>
        </p:nvSpPr>
        <p:spPr>
          <a:xfrm>
            <a:off x="333782" y="1523719"/>
            <a:ext cx="1217550" cy="365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A</a:t>
            </a:r>
            <a:endParaRPr sz="1500"/>
          </a:p>
        </p:txBody>
      </p:sp>
      <p:sp>
        <p:nvSpPr>
          <p:cNvPr id="99" name="Google Shape;99;p15"/>
          <p:cNvSpPr txBox="1"/>
          <p:nvPr/>
        </p:nvSpPr>
        <p:spPr>
          <a:xfrm>
            <a:off x="333788" y="4589625"/>
            <a:ext cx="4628250" cy="323151"/>
          </a:xfrm>
          <a:prstGeom prst="rect">
            <a:avLst/>
          </a:prstGeom>
          <a:noFill/>
          <a:ln>
            <a:noFill/>
          </a:ln>
        </p:spPr>
        <p:txBody>
          <a:bodyPr spcFirstLastPara="1" wrap="square" lIns="45713" tIns="45713" rIns="45713" bIns="45713" anchor="t" anchorCtr="0">
            <a:spAutoFit/>
          </a:bodyPr>
          <a:lstStyle/>
          <a:p>
            <a:r>
              <a:rPr lang="en" sz="1500">
                <a:latin typeface="Courier New"/>
                <a:ea typeface="Courier New"/>
                <a:cs typeface="Courier New"/>
                <a:sym typeface="Courier New"/>
              </a:rPr>
              <a:t>global_num = 0xAABBCCDDEEFF1234</a:t>
            </a:r>
            <a:endParaRPr sz="1500">
              <a:latin typeface="Courier New"/>
              <a:ea typeface="Courier New"/>
              <a:cs typeface="Courier New"/>
              <a:sym typeface="Courier New"/>
            </a:endParaRPr>
          </a:p>
        </p:txBody>
      </p:sp>
      <p:sp>
        <p:nvSpPr>
          <p:cNvPr id="100" name="Google Shape;100;p15"/>
          <p:cNvSpPr/>
          <p:nvPr/>
        </p:nvSpPr>
        <p:spPr>
          <a:xfrm>
            <a:off x="3542938" y="2683275"/>
            <a:ext cx="2482950" cy="44985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b="1">
                <a:solidFill>
                  <a:srgbClr val="0000FF"/>
                </a:solidFill>
                <a:latin typeface="Courier New"/>
                <a:ea typeface="Courier New"/>
                <a:cs typeface="Courier New"/>
                <a:sym typeface="Courier New"/>
              </a:rPr>
              <a:t>0x34 0x12 0xFF 0xEE</a:t>
            </a:r>
            <a:endParaRPr sz="1500" b="1">
              <a:solidFill>
                <a:srgbClr val="0000FF"/>
              </a:solidFill>
              <a:latin typeface="Courier New"/>
              <a:ea typeface="Courier New"/>
              <a:cs typeface="Courier New"/>
              <a:sym typeface="Courier New"/>
            </a:endParaRPr>
          </a:p>
        </p:txBody>
      </p:sp>
      <p:sp>
        <p:nvSpPr>
          <p:cNvPr id="101" name="Google Shape;101;p15"/>
          <p:cNvSpPr/>
          <p:nvPr/>
        </p:nvSpPr>
        <p:spPr>
          <a:xfrm>
            <a:off x="3542938" y="3133125"/>
            <a:ext cx="2482950" cy="44985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b="1">
                <a:solidFill>
                  <a:srgbClr val="0000FF"/>
                </a:solidFill>
                <a:latin typeface="Courier New"/>
                <a:ea typeface="Courier New"/>
                <a:cs typeface="Courier New"/>
                <a:sym typeface="Courier New"/>
              </a:rPr>
              <a:t>0xDD 0xCC 0xBB 0xAA</a:t>
            </a:r>
            <a:endParaRPr sz="1500" b="1">
              <a:solidFill>
                <a:srgbClr val="0000FF"/>
              </a:solidFill>
              <a:latin typeface="Courier New"/>
              <a:ea typeface="Courier New"/>
              <a:cs typeface="Courier New"/>
              <a:sym typeface="Courier New"/>
            </a:endParaRPr>
          </a:p>
        </p:txBody>
      </p:sp>
      <p:sp>
        <p:nvSpPr>
          <p:cNvPr id="102" name="Google Shape;102;p15"/>
          <p:cNvSpPr/>
          <p:nvPr/>
        </p:nvSpPr>
        <p:spPr>
          <a:xfrm>
            <a:off x="1826325" y="4633025"/>
            <a:ext cx="2123850" cy="252450"/>
          </a:xfrm>
          <a:prstGeom prst="rect">
            <a:avLst/>
          </a:prstGeom>
          <a:noFill/>
          <a:ln w="38100" cap="flat" cmpd="sng">
            <a:solidFill>
              <a:srgbClr val="0000FF"/>
            </a:solidFill>
            <a:prstDash val="solid"/>
            <a:round/>
            <a:headEnd type="none" w="sm" len="sm"/>
            <a:tailEnd type="none" w="sm" len="sm"/>
          </a:ln>
        </p:spPr>
        <p:txBody>
          <a:bodyPr spcFirstLastPara="1" wrap="square" lIns="45713" tIns="45713" rIns="45713" bIns="45713" anchor="ctr" anchorCtr="0">
            <a:noAutofit/>
          </a:bodyPr>
          <a:lstStyle/>
          <a:p>
            <a:endParaRPr sz="900"/>
          </a:p>
        </p:txBody>
      </p:sp>
      <p:cxnSp>
        <p:nvCxnSpPr>
          <p:cNvPr id="103" name="Google Shape;103;p15"/>
          <p:cNvCxnSpPr>
            <a:stCxn id="102" idx="0"/>
          </p:cNvCxnSpPr>
          <p:nvPr/>
        </p:nvCxnSpPr>
        <p:spPr>
          <a:xfrm rot="10800000" flipH="1">
            <a:off x="2888250" y="3598475"/>
            <a:ext cx="900450" cy="1034550"/>
          </a:xfrm>
          <a:prstGeom prst="straightConnector1">
            <a:avLst/>
          </a:prstGeom>
          <a:noFill/>
          <a:ln w="38100" cap="flat" cmpd="sng">
            <a:solidFill>
              <a:srgbClr val="0000FF"/>
            </a:solidFill>
            <a:prstDash val="solid"/>
            <a:round/>
            <a:headEnd type="none" w="med" len="med"/>
            <a:tailEnd type="triangle" w="med" len="med"/>
          </a:ln>
        </p:spPr>
      </p:cxnSp>
      <p:sp>
        <p:nvSpPr>
          <p:cNvPr id="104" name="Google Shape;104;p15"/>
          <p:cNvSpPr/>
          <p:nvPr/>
        </p:nvSpPr>
        <p:spPr>
          <a:xfrm>
            <a:off x="2092975" y="1888975"/>
            <a:ext cx="919350" cy="252450"/>
          </a:xfrm>
          <a:prstGeom prst="rect">
            <a:avLst/>
          </a:prstGeom>
          <a:noFill/>
          <a:ln w="38100" cap="flat" cmpd="sng">
            <a:solidFill>
              <a:srgbClr val="FF0000"/>
            </a:solidFill>
            <a:prstDash val="solid"/>
            <a:round/>
            <a:headEnd type="none" w="sm" len="sm"/>
            <a:tailEnd type="none" w="sm" len="sm"/>
          </a:ln>
        </p:spPr>
        <p:txBody>
          <a:bodyPr spcFirstLastPara="1" wrap="square" lIns="45713" tIns="45713" rIns="45713" bIns="45713" anchor="ctr" anchorCtr="0">
            <a:noAutofit/>
          </a:bodyPr>
          <a:lstStyle/>
          <a:p>
            <a:endParaRPr sz="900"/>
          </a:p>
        </p:txBody>
      </p:sp>
      <p:cxnSp>
        <p:nvCxnSpPr>
          <p:cNvPr id="105" name="Google Shape;105;p15"/>
          <p:cNvCxnSpPr>
            <a:stCxn id="104" idx="2"/>
          </p:cNvCxnSpPr>
          <p:nvPr/>
        </p:nvCxnSpPr>
        <p:spPr>
          <a:xfrm>
            <a:off x="2552650" y="2141425"/>
            <a:ext cx="1337100" cy="991650"/>
          </a:xfrm>
          <a:prstGeom prst="straightConnector1">
            <a:avLst/>
          </a:prstGeom>
          <a:noFill/>
          <a:ln w="38100" cap="flat" cmpd="sng">
            <a:solidFill>
              <a:srgbClr val="FF0000"/>
            </a:solidFill>
            <a:prstDash val="solid"/>
            <a:round/>
            <a:headEnd type="none" w="med" len="med"/>
            <a:tailEnd type="triangle" w="med" len="med"/>
          </a:ln>
        </p:spPr>
      </p:cxnSp>
      <p:sp>
        <p:nvSpPr>
          <p:cNvPr id="106" name="Google Shape;106;p15"/>
          <p:cNvSpPr/>
          <p:nvPr/>
        </p:nvSpPr>
        <p:spPr>
          <a:xfrm>
            <a:off x="3542938" y="3133125"/>
            <a:ext cx="2482950" cy="44985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b="1">
                <a:solidFill>
                  <a:srgbClr val="FF0000"/>
                </a:solidFill>
                <a:latin typeface="Courier New"/>
                <a:ea typeface="Courier New"/>
                <a:cs typeface="Courier New"/>
                <a:sym typeface="Courier New"/>
              </a:rPr>
              <a:t>0x33 0x22 0x11 0x00</a:t>
            </a:r>
            <a:endParaRPr sz="1500" b="1">
              <a:solidFill>
                <a:srgbClr val="FF0000"/>
              </a:solidFill>
              <a:latin typeface="Courier New"/>
              <a:ea typeface="Courier New"/>
              <a:cs typeface="Courier New"/>
              <a:sym typeface="Courier New"/>
            </a:endParaRPr>
          </a:p>
        </p:txBody>
      </p:sp>
      <p:cxnSp>
        <p:nvCxnSpPr>
          <p:cNvPr id="107" name="Google Shape;107;p15"/>
          <p:cNvCxnSpPr/>
          <p:nvPr/>
        </p:nvCxnSpPr>
        <p:spPr>
          <a:xfrm>
            <a:off x="3481238" y="2141425"/>
            <a:ext cx="246750" cy="546600"/>
          </a:xfrm>
          <a:prstGeom prst="straightConnector1">
            <a:avLst/>
          </a:prstGeom>
          <a:noFill/>
          <a:ln w="38100" cap="flat" cmpd="sng">
            <a:solidFill>
              <a:srgbClr val="FF0000"/>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1000"/>
                                        <p:tgtEl>
                                          <p:spTgt spid="97"/>
                                        </p:tgtEl>
                                      </p:cBhvr>
                                    </p:animEffect>
                                    <p:set>
                                      <p:cBhvr>
                                        <p:cTn id="7" dur="1" fill="hold">
                                          <p:stCondLst>
                                            <p:cond delay="1000"/>
                                          </p:stCondLst>
                                        </p:cTn>
                                        <p:tgtEl>
                                          <p:spTgt spid="97"/>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1100"/>
                                        <p:tgtEl>
                                          <p:spTgt spid="107"/>
                                        </p:tgtEl>
                                      </p:cBhvr>
                                    </p:animEffect>
                                    <p:set>
                                      <p:cBhvr>
                                        <p:cTn id="10" dur="1" fill="hold">
                                          <p:stCondLst>
                                            <p:cond delay="1100"/>
                                          </p:stCondLst>
                                        </p:cTn>
                                        <p:tgtEl>
                                          <p:spTgt spid="107"/>
                                        </p:tgtEl>
                                        <p:attrNameLst>
                                          <p:attrName>style.visibility</p:attrName>
                                        </p:attrNameLst>
                                      </p:cBhvr>
                                      <p:to>
                                        <p:strVal val="hidden"/>
                                      </p:to>
                                    </p:set>
                                  </p:childTnLst>
                                </p:cTn>
                              </p:par>
                              <p:par>
                                <p:cTn id="11" presetID="10" presetClass="entr" presetSubtype="0" fill="hold" nodeType="withEffect">
                                  <p:stCondLst>
                                    <p:cond delay="0"/>
                                  </p:stCondLst>
                                  <p:childTnLst>
                                    <p:set>
                                      <p:cBhvr>
                                        <p:cTn id="12" dur="1" fill="hold">
                                          <p:stCondLst>
                                            <p:cond delay="0"/>
                                          </p:stCondLst>
                                        </p:cTn>
                                        <p:tgtEl>
                                          <p:spTgt spid="86"/>
                                        </p:tgtEl>
                                        <p:attrNameLst>
                                          <p:attrName>style.visibility</p:attrName>
                                        </p:attrNameLst>
                                      </p:cBhvr>
                                      <p:to>
                                        <p:strVal val="visible"/>
                                      </p:to>
                                    </p:set>
                                    <p:animEffect transition="in" filter="fade">
                                      <p:cBhvr>
                                        <p:cTn id="13" dur="1000"/>
                                        <p:tgtEl>
                                          <p:spTgt spid="86"/>
                                        </p:tgtEl>
                                      </p:cBhvr>
                                    </p:animEffect>
                                  </p:childTnLst>
                                </p:cTn>
                              </p:par>
                              <p:par>
                                <p:cTn id="14" presetID="10" presetClass="entr" presetSubtype="0" fill="hold" nodeType="withEffect">
                                  <p:stCondLst>
                                    <p:cond delay="0"/>
                                  </p:stCondLst>
                                  <p:childTnLst>
                                    <p:set>
                                      <p:cBhvr>
                                        <p:cTn id="15" dur="1" fill="hold">
                                          <p:stCondLst>
                                            <p:cond delay="0"/>
                                          </p:stCondLst>
                                        </p:cTn>
                                        <p:tgtEl>
                                          <p:spTgt spid="99"/>
                                        </p:tgtEl>
                                        <p:attrNameLst>
                                          <p:attrName>style.visibility</p:attrName>
                                        </p:attrNameLst>
                                      </p:cBhvr>
                                      <p:to>
                                        <p:strVal val="visible"/>
                                      </p:to>
                                    </p:set>
                                    <p:animEffect transition="in" filter="fade">
                                      <p:cBhvr>
                                        <p:cTn id="16" dur="1000"/>
                                        <p:tgtEl>
                                          <p:spTgt spid="9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0"/>
                                        </p:tgtEl>
                                        <p:attrNameLst>
                                          <p:attrName>style.visibility</p:attrName>
                                        </p:attrNameLst>
                                      </p:cBhvr>
                                      <p:to>
                                        <p:strVal val="visible"/>
                                      </p:to>
                                    </p:set>
                                    <p:animEffect transition="in" filter="fade">
                                      <p:cBhvr>
                                        <p:cTn id="21" dur="1000"/>
                                        <p:tgtEl>
                                          <p:spTgt spid="100"/>
                                        </p:tgtEl>
                                      </p:cBhvr>
                                    </p:animEffect>
                                  </p:childTnLst>
                                </p:cTn>
                              </p:par>
                              <p:par>
                                <p:cTn id="22" presetID="10" presetClass="entr" presetSubtype="0" fill="hold" nodeType="withEffect">
                                  <p:stCondLst>
                                    <p:cond delay="0"/>
                                  </p:stCondLst>
                                  <p:childTnLst>
                                    <p:set>
                                      <p:cBhvr>
                                        <p:cTn id="23" dur="1" fill="hold">
                                          <p:stCondLst>
                                            <p:cond delay="0"/>
                                          </p:stCondLst>
                                        </p:cTn>
                                        <p:tgtEl>
                                          <p:spTgt spid="101"/>
                                        </p:tgtEl>
                                        <p:attrNameLst>
                                          <p:attrName>style.visibility</p:attrName>
                                        </p:attrNameLst>
                                      </p:cBhvr>
                                      <p:to>
                                        <p:strVal val="visible"/>
                                      </p:to>
                                    </p:set>
                                    <p:animEffect transition="in" filter="fade">
                                      <p:cBhvr>
                                        <p:cTn id="24" dur="1000"/>
                                        <p:tgtEl>
                                          <p:spTgt spid="101"/>
                                        </p:tgtEl>
                                      </p:cBhvr>
                                    </p:animEffect>
                                  </p:childTnLst>
                                </p:cTn>
                              </p:par>
                              <p:par>
                                <p:cTn id="25" presetID="10" presetClass="entr" presetSubtype="0" fill="hold" nodeType="withEffect">
                                  <p:stCondLst>
                                    <p:cond delay="0"/>
                                  </p:stCondLst>
                                  <p:childTnLst>
                                    <p:set>
                                      <p:cBhvr>
                                        <p:cTn id="26" dur="1" fill="hold">
                                          <p:stCondLst>
                                            <p:cond delay="0"/>
                                          </p:stCondLst>
                                        </p:cTn>
                                        <p:tgtEl>
                                          <p:spTgt spid="103"/>
                                        </p:tgtEl>
                                        <p:attrNameLst>
                                          <p:attrName>style.visibility</p:attrName>
                                        </p:attrNameLst>
                                      </p:cBhvr>
                                      <p:to>
                                        <p:strVal val="visible"/>
                                      </p:to>
                                    </p:set>
                                    <p:animEffect transition="in" filter="fade">
                                      <p:cBhvr>
                                        <p:cTn id="27" dur="1000"/>
                                        <p:tgtEl>
                                          <p:spTgt spid="103"/>
                                        </p:tgtEl>
                                      </p:cBhvr>
                                    </p:animEffect>
                                  </p:childTnLst>
                                </p:cTn>
                              </p:par>
                              <p:par>
                                <p:cTn id="28" presetID="10" presetClass="entr" presetSubtype="0" fill="hold" nodeType="withEffect">
                                  <p:stCondLst>
                                    <p:cond delay="0"/>
                                  </p:stCondLst>
                                  <p:childTnLst>
                                    <p:set>
                                      <p:cBhvr>
                                        <p:cTn id="29" dur="1" fill="hold">
                                          <p:stCondLst>
                                            <p:cond delay="0"/>
                                          </p:stCondLst>
                                        </p:cTn>
                                        <p:tgtEl>
                                          <p:spTgt spid="102"/>
                                        </p:tgtEl>
                                        <p:attrNameLst>
                                          <p:attrName>style.visibility</p:attrName>
                                        </p:attrNameLst>
                                      </p:cBhvr>
                                      <p:to>
                                        <p:strVal val="visible"/>
                                      </p:to>
                                    </p:set>
                                    <p:animEffect transition="in" filter="fade">
                                      <p:cBhvr>
                                        <p:cTn id="30" dur="1000"/>
                                        <p:tgtEl>
                                          <p:spTgt spid="10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nodeType="clickEffect">
                                  <p:stCondLst>
                                    <p:cond delay="0"/>
                                  </p:stCondLst>
                                  <p:childTnLst>
                                    <p:animEffect transition="out" filter="fade">
                                      <p:cBhvr>
                                        <p:cTn id="34" dur="1000"/>
                                        <p:tgtEl>
                                          <p:spTgt spid="103"/>
                                        </p:tgtEl>
                                      </p:cBhvr>
                                    </p:animEffect>
                                    <p:set>
                                      <p:cBhvr>
                                        <p:cTn id="35" dur="1" fill="hold">
                                          <p:stCondLst>
                                            <p:cond delay="1000"/>
                                          </p:stCondLst>
                                        </p:cTn>
                                        <p:tgtEl>
                                          <p:spTgt spid="103"/>
                                        </p:tgtEl>
                                        <p:attrNameLst>
                                          <p:attrName>style.visibility</p:attrName>
                                        </p:attrNameLst>
                                      </p:cBhvr>
                                      <p:to>
                                        <p:strVal val="hidden"/>
                                      </p:to>
                                    </p:set>
                                  </p:childTnLst>
                                </p:cTn>
                              </p:par>
                              <p:par>
                                <p:cTn id="36" presetID="10" presetClass="exit" presetSubtype="0" fill="hold" nodeType="withEffect">
                                  <p:stCondLst>
                                    <p:cond delay="0"/>
                                  </p:stCondLst>
                                  <p:childTnLst>
                                    <p:animEffect transition="out" filter="fade">
                                      <p:cBhvr>
                                        <p:cTn id="37" dur="1000"/>
                                        <p:tgtEl>
                                          <p:spTgt spid="102"/>
                                        </p:tgtEl>
                                      </p:cBhvr>
                                    </p:animEffect>
                                    <p:set>
                                      <p:cBhvr>
                                        <p:cTn id="38" dur="1" fill="hold">
                                          <p:stCondLst>
                                            <p:cond delay="1000"/>
                                          </p:stCondLst>
                                        </p:cTn>
                                        <p:tgtEl>
                                          <p:spTgt spid="10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05"/>
                                        </p:tgtEl>
                                        <p:attrNameLst>
                                          <p:attrName>style.visibility</p:attrName>
                                        </p:attrNameLst>
                                      </p:cBhvr>
                                      <p:to>
                                        <p:strVal val="visible"/>
                                      </p:to>
                                    </p:set>
                                    <p:animEffect transition="in" filter="fade">
                                      <p:cBhvr>
                                        <p:cTn id="43" dur="1000"/>
                                        <p:tgtEl>
                                          <p:spTgt spid="105"/>
                                        </p:tgtEl>
                                      </p:cBhvr>
                                    </p:animEffect>
                                  </p:childTnLst>
                                </p:cTn>
                              </p:par>
                              <p:par>
                                <p:cTn id="44" presetID="10" presetClass="entr" presetSubtype="0" fill="hold" nodeType="withEffect">
                                  <p:stCondLst>
                                    <p:cond delay="0"/>
                                  </p:stCondLst>
                                  <p:childTnLst>
                                    <p:set>
                                      <p:cBhvr>
                                        <p:cTn id="45" dur="1" fill="hold">
                                          <p:stCondLst>
                                            <p:cond delay="0"/>
                                          </p:stCondLst>
                                        </p:cTn>
                                        <p:tgtEl>
                                          <p:spTgt spid="104"/>
                                        </p:tgtEl>
                                        <p:attrNameLst>
                                          <p:attrName>style.visibility</p:attrName>
                                        </p:attrNameLst>
                                      </p:cBhvr>
                                      <p:to>
                                        <p:strVal val="visible"/>
                                      </p:to>
                                    </p:set>
                                    <p:animEffect transition="in" filter="fade">
                                      <p:cBhvr>
                                        <p:cTn id="46" dur="1000"/>
                                        <p:tgtEl>
                                          <p:spTgt spid="104"/>
                                        </p:tgtEl>
                                      </p:cBhvr>
                                    </p:animEffect>
                                  </p:childTnLst>
                                </p:cTn>
                              </p:par>
                              <p:par>
                                <p:cTn id="47" presetID="10" presetClass="entr" presetSubtype="0" fill="hold" nodeType="withEffect">
                                  <p:stCondLst>
                                    <p:cond delay="0"/>
                                  </p:stCondLst>
                                  <p:childTnLst>
                                    <p:set>
                                      <p:cBhvr>
                                        <p:cTn id="48" dur="1" fill="hold">
                                          <p:stCondLst>
                                            <p:cond delay="0"/>
                                          </p:stCondLst>
                                        </p:cTn>
                                        <p:tgtEl>
                                          <p:spTgt spid="106"/>
                                        </p:tgtEl>
                                        <p:attrNameLst>
                                          <p:attrName>style.visibility</p:attrName>
                                        </p:attrNameLst>
                                      </p:cBhvr>
                                      <p:to>
                                        <p:strVal val="visible"/>
                                      </p:to>
                                    </p:set>
                                    <p:animEffect transition="in" filter="fade">
                                      <p:cBhvr>
                                        <p:cTn id="49" dur="1000"/>
                                        <p:tgtEl>
                                          <p:spTgt spid="106"/>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nodeType="clickEffect">
                                  <p:stCondLst>
                                    <p:cond delay="0"/>
                                  </p:stCondLst>
                                  <p:childTnLst>
                                    <p:animEffect transition="out" filter="fade">
                                      <p:cBhvr>
                                        <p:cTn id="53" dur="1000"/>
                                        <p:tgtEl>
                                          <p:spTgt spid="105"/>
                                        </p:tgtEl>
                                      </p:cBhvr>
                                    </p:animEffect>
                                    <p:set>
                                      <p:cBhvr>
                                        <p:cTn id="54" dur="1" fill="hold">
                                          <p:stCondLst>
                                            <p:cond delay="1000"/>
                                          </p:stCondLst>
                                        </p:cTn>
                                        <p:tgtEl>
                                          <p:spTgt spid="105"/>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1000"/>
                                        <p:tgtEl>
                                          <p:spTgt spid="104"/>
                                        </p:tgtEl>
                                      </p:cBhvr>
                                    </p:animEffect>
                                    <p:set>
                                      <p:cBhvr>
                                        <p:cTn id="57" dur="1" fill="hold">
                                          <p:stCondLst>
                                            <p:cond delay="1000"/>
                                          </p:stCondLst>
                                        </p:cTn>
                                        <p:tgtEl>
                                          <p:spTgt spid="10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p:nvPr/>
        </p:nvSpPr>
        <p:spPr>
          <a:xfrm>
            <a:off x="1619057" y="2076794"/>
            <a:ext cx="1217550" cy="365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A</a:t>
            </a:r>
            <a:endParaRPr sz="1500"/>
          </a:p>
        </p:txBody>
      </p:sp>
      <p:sp>
        <p:nvSpPr>
          <p:cNvPr id="113" name="Google Shape;113;p16"/>
          <p:cNvSpPr/>
          <p:nvPr/>
        </p:nvSpPr>
        <p:spPr>
          <a:xfrm>
            <a:off x="1619057" y="4415957"/>
            <a:ext cx="1217550" cy="36525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C</a:t>
            </a:r>
            <a:endParaRPr sz="1500"/>
          </a:p>
        </p:txBody>
      </p:sp>
      <p:sp>
        <p:nvSpPr>
          <p:cNvPr id="114" name="Google Shape;114;p16"/>
          <p:cNvSpPr/>
          <p:nvPr/>
        </p:nvSpPr>
        <p:spPr>
          <a:xfrm>
            <a:off x="6307382" y="3246369"/>
            <a:ext cx="1217550" cy="36525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B</a:t>
            </a:r>
            <a:endParaRPr sz="1500"/>
          </a:p>
        </p:txBody>
      </p:sp>
      <p:sp>
        <p:nvSpPr>
          <p:cNvPr id="115" name="Google Shape;115;p16"/>
          <p:cNvSpPr/>
          <p:nvPr/>
        </p:nvSpPr>
        <p:spPr>
          <a:xfrm rot="-5400000">
            <a:off x="46227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16" name="Google Shape;116;p16"/>
          <p:cNvSpPr txBox="1"/>
          <p:nvPr/>
        </p:nvSpPr>
        <p:spPr>
          <a:xfrm>
            <a:off x="4051800" y="2526975"/>
            <a:ext cx="1040400" cy="323250"/>
          </a:xfrm>
          <a:prstGeom prst="rect">
            <a:avLst/>
          </a:prstGeom>
          <a:noFill/>
          <a:ln>
            <a:noFill/>
          </a:ln>
        </p:spPr>
        <p:txBody>
          <a:bodyPr spcFirstLastPara="1" wrap="square" lIns="45713" tIns="45713" rIns="45713" bIns="45713" anchor="ctr" anchorCtr="0">
            <a:noAutofit/>
          </a:bodyPr>
          <a:lstStyle/>
          <a:p>
            <a:pPr algn="ctr"/>
            <a:r>
              <a:rPr lang="en" sz="1500"/>
              <a:t>Queue</a:t>
            </a:r>
            <a:endParaRPr sz="1500"/>
          </a:p>
        </p:txBody>
      </p:sp>
      <p:sp>
        <p:nvSpPr>
          <p:cNvPr id="117" name="Google Shape;117;p16"/>
          <p:cNvSpPr/>
          <p:nvPr/>
        </p:nvSpPr>
        <p:spPr>
          <a:xfrm rot="-5400000">
            <a:off x="429952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18" name="Google Shape;118;p16"/>
          <p:cNvSpPr/>
          <p:nvPr/>
        </p:nvSpPr>
        <p:spPr>
          <a:xfrm rot="-5400000">
            <a:off x="39762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19" name="Google Shape;119;p16"/>
          <p:cNvSpPr/>
          <p:nvPr/>
        </p:nvSpPr>
        <p:spPr>
          <a:xfrm rot="-5400000">
            <a:off x="365302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20" name="Google Shape;120;p16"/>
          <p:cNvSpPr/>
          <p:nvPr/>
        </p:nvSpPr>
        <p:spPr>
          <a:xfrm rot="-5400000">
            <a:off x="33297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21" name="Google Shape;121;p16"/>
          <p:cNvSpPr txBox="1"/>
          <p:nvPr/>
        </p:nvSpPr>
        <p:spPr>
          <a:xfrm>
            <a:off x="3668025" y="4007775"/>
            <a:ext cx="1807950" cy="323250"/>
          </a:xfrm>
          <a:prstGeom prst="rect">
            <a:avLst/>
          </a:prstGeom>
          <a:noFill/>
          <a:ln>
            <a:noFill/>
          </a:ln>
        </p:spPr>
        <p:txBody>
          <a:bodyPr spcFirstLastPara="1" wrap="square" lIns="45713" tIns="45713" rIns="45713" bIns="45713" anchor="ctr" anchorCtr="0">
            <a:noAutofit/>
          </a:bodyPr>
          <a:lstStyle/>
          <a:p>
            <a:pPr algn="ctr"/>
            <a:r>
              <a:rPr lang="en" sz="1200"/>
              <a:t>First in, first out (FIFO)</a:t>
            </a:r>
            <a:endParaRPr sz="1200"/>
          </a:p>
        </p:txBody>
      </p:sp>
      <p:cxnSp>
        <p:nvCxnSpPr>
          <p:cNvPr id="122" name="Google Shape;122;p16"/>
          <p:cNvCxnSpPr>
            <a:stCxn id="112" idx="3"/>
            <a:endCxn id="123" idx="0"/>
          </p:cNvCxnSpPr>
          <p:nvPr/>
        </p:nvCxnSpPr>
        <p:spPr>
          <a:xfrm>
            <a:off x="2836607" y="2259419"/>
            <a:ext cx="2220300" cy="1169550"/>
          </a:xfrm>
          <a:prstGeom prst="straightConnector1">
            <a:avLst/>
          </a:prstGeom>
          <a:noFill/>
          <a:ln w="38100" cap="flat" cmpd="sng">
            <a:solidFill>
              <a:srgbClr val="FF0000"/>
            </a:solidFill>
            <a:prstDash val="solid"/>
            <a:round/>
            <a:headEnd type="none" w="med" len="med"/>
            <a:tailEnd type="triangle" w="med" len="med"/>
          </a:ln>
        </p:spPr>
      </p:cxnSp>
      <p:sp>
        <p:nvSpPr>
          <p:cNvPr id="123" name="Google Shape;123;p16"/>
          <p:cNvSpPr/>
          <p:nvPr/>
        </p:nvSpPr>
        <p:spPr>
          <a:xfrm rot="-5400000">
            <a:off x="46227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solidFill>
                  <a:srgbClr val="FF0000"/>
                </a:solidFill>
              </a:rPr>
              <a:t>Value A</a:t>
            </a:r>
            <a:endParaRPr sz="1500">
              <a:solidFill>
                <a:srgbClr val="FF0000"/>
              </a:solidFill>
            </a:endParaRPr>
          </a:p>
        </p:txBody>
      </p:sp>
      <p:sp>
        <p:nvSpPr>
          <p:cNvPr id="124" name="Google Shape;124;p16"/>
          <p:cNvSpPr/>
          <p:nvPr/>
        </p:nvSpPr>
        <p:spPr>
          <a:xfrm rot="-5400000">
            <a:off x="429952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solidFill>
                  <a:srgbClr val="0000FF"/>
                </a:solidFill>
              </a:rPr>
              <a:t>Value B</a:t>
            </a:r>
            <a:endParaRPr sz="1500">
              <a:solidFill>
                <a:srgbClr val="0000FF"/>
              </a:solidFill>
            </a:endParaRPr>
          </a:p>
        </p:txBody>
      </p:sp>
      <p:cxnSp>
        <p:nvCxnSpPr>
          <p:cNvPr id="125" name="Google Shape;125;p16"/>
          <p:cNvCxnSpPr>
            <a:stCxn id="113" idx="3"/>
            <a:endCxn id="124" idx="0"/>
          </p:cNvCxnSpPr>
          <p:nvPr/>
        </p:nvCxnSpPr>
        <p:spPr>
          <a:xfrm rot="10800000" flipH="1">
            <a:off x="2836607" y="3429032"/>
            <a:ext cx="1897050" cy="1169550"/>
          </a:xfrm>
          <a:prstGeom prst="straightConnector1">
            <a:avLst/>
          </a:prstGeom>
          <a:noFill/>
          <a:ln w="38100" cap="flat" cmpd="sng">
            <a:solidFill>
              <a:srgbClr val="0000FF"/>
            </a:solidFill>
            <a:prstDash val="solid"/>
            <a:round/>
            <a:headEnd type="none" w="med" len="med"/>
            <a:tailEnd type="triangle" w="med" len="med"/>
          </a:ln>
        </p:spPr>
      </p:cxnSp>
      <p:sp>
        <p:nvSpPr>
          <p:cNvPr id="126" name="Google Shape;126;p16"/>
          <p:cNvSpPr txBox="1"/>
          <p:nvPr/>
        </p:nvSpPr>
        <p:spPr>
          <a:xfrm>
            <a:off x="2892825" y="1609100"/>
            <a:ext cx="3358350" cy="467700"/>
          </a:xfrm>
          <a:prstGeom prst="rect">
            <a:avLst/>
          </a:prstGeom>
          <a:noFill/>
          <a:ln>
            <a:noFill/>
          </a:ln>
        </p:spPr>
        <p:txBody>
          <a:bodyPr spcFirstLastPara="1" wrap="square" lIns="45713" tIns="45713" rIns="45713" bIns="45713" anchor="ctr" anchorCtr="0">
            <a:noAutofit/>
          </a:bodyPr>
          <a:lstStyle/>
          <a:p>
            <a:pPr algn="ctr"/>
            <a:r>
              <a:rPr lang="en" sz="1500"/>
              <a:t>Copy by value, not by reference!</a:t>
            </a:r>
            <a:endParaRPr sz="15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fade">
                                      <p:cBhvr>
                                        <p:cTn id="7" dur="1000"/>
                                        <p:tgtEl>
                                          <p:spTgt spid="122"/>
                                        </p:tgtEl>
                                      </p:cBhvr>
                                    </p:animEffect>
                                  </p:childTnLst>
                                </p:cTn>
                              </p:par>
                              <p:par>
                                <p:cTn id="8" presetID="10" presetClass="entr" presetSubtype="0" fill="hold" nodeType="withEffect">
                                  <p:stCondLst>
                                    <p:cond delay="0"/>
                                  </p:stCondLst>
                                  <p:childTnLst>
                                    <p:set>
                                      <p:cBhvr>
                                        <p:cTn id="9" dur="1" fill="hold">
                                          <p:stCondLst>
                                            <p:cond delay="0"/>
                                          </p:stCondLst>
                                        </p:cTn>
                                        <p:tgtEl>
                                          <p:spTgt spid="123"/>
                                        </p:tgtEl>
                                        <p:attrNameLst>
                                          <p:attrName>style.visibility</p:attrName>
                                        </p:attrNameLst>
                                      </p:cBhvr>
                                      <p:to>
                                        <p:strVal val="visible"/>
                                      </p:to>
                                    </p:set>
                                    <p:animEffect transition="in" filter="fade">
                                      <p:cBhvr>
                                        <p:cTn id="10" dur="1000"/>
                                        <p:tgtEl>
                                          <p:spTgt spid="12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1000"/>
                                        <p:tgtEl>
                                          <p:spTgt spid="122"/>
                                        </p:tgtEl>
                                      </p:cBhvr>
                                    </p:animEffect>
                                    <p:set>
                                      <p:cBhvr>
                                        <p:cTn id="15" dur="1" fill="hold">
                                          <p:stCondLst>
                                            <p:cond delay="1000"/>
                                          </p:stCondLst>
                                        </p:cTn>
                                        <p:tgtEl>
                                          <p:spTgt spid="122"/>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24"/>
                                        </p:tgtEl>
                                        <p:attrNameLst>
                                          <p:attrName>style.visibility</p:attrName>
                                        </p:attrNameLst>
                                      </p:cBhvr>
                                      <p:to>
                                        <p:strVal val="visible"/>
                                      </p:to>
                                    </p:set>
                                    <p:animEffect transition="in" filter="fade">
                                      <p:cBhvr>
                                        <p:cTn id="20" dur="1000"/>
                                        <p:tgtEl>
                                          <p:spTgt spid="124"/>
                                        </p:tgtEl>
                                      </p:cBhvr>
                                    </p:animEffect>
                                  </p:childTnLst>
                                </p:cTn>
                              </p:par>
                              <p:par>
                                <p:cTn id="21" presetID="10" presetClass="entr" presetSubtype="0" fill="hold" nodeType="withEffect">
                                  <p:stCondLst>
                                    <p:cond delay="0"/>
                                  </p:stCondLst>
                                  <p:childTnLst>
                                    <p:set>
                                      <p:cBhvr>
                                        <p:cTn id="22" dur="1" fill="hold">
                                          <p:stCondLst>
                                            <p:cond delay="0"/>
                                          </p:stCondLst>
                                        </p:cTn>
                                        <p:tgtEl>
                                          <p:spTgt spid="125"/>
                                        </p:tgtEl>
                                        <p:attrNameLst>
                                          <p:attrName>style.visibility</p:attrName>
                                        </p:attrNameLst>
                                      </p:cBhvr>
                                      <p:to>
                                        <p:strVal val="visible"/>
                                      </p:to>
                                    </p:set>
                                    <p:animEffect transition="in" filter="fade">
                                      <p:cBhvr>
                                        <p:cTn id="23" dur="1000"/>
                                        <p:tgtEl>
                                          <p:spTgt spid="12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1000"/>
                                        <p:tgtEl>
                                          <p:spTgt spid="125"/>
                                        </p:tgtEl>
                                      </p:cBhvr>
                                    </p:animEffect>
                                    <p:set>
                                      <p:cBhvr>
                                        <p:cTn id="28" dur="1" fill="hold">
                                          <p:stCondLst>
                                            <p:cond delay="1000"/>
                                          </p:stCondLst>
                                        </p:cTn>
                                        <p:tgtEl>
                                          <p:spTgt spid="125"/>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26"/>
                                        </p:tgtEl>
                                        <p:attrNameLst>
                                          <p:attrName>style.visibility</p:attrName>
                                        </p:attrNameLst>
                                      </p:cBhvr>
                                      <p:to>
                                        <p:strVal val="visible"/>
                                      </p:to>
                                    </p:set>
                                    <p:animEffect transition="in" filter="fade">
                                      <p:cBhvr>
                                        <p:cTn id="33" dur="1000"/>
                                        <p:tgtEl>
                                          <p:spTgt spid="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7"/>
          <p:cNvSpPr/>
          <p:nvPr/>
        </p:nvSpPr>
        <p:spPr>
          <a:xfrm>
            <a:off x="1619057" y="2076794"/>
            <a:ext cx="1217550" cy="365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A</a:t>
            </a:r>
            <a:endParaRPr sz="1500"/>
          </a:p>
        </p:txBody>
      </p:sp>
      <p:sp>
        <p:nvSpPr>
          <p:cNvPr id="132" name="Google Shape;132;p17"/>
          <p:cNvSpPr/>
          <p:nvPr/>
        </p:nvSpPr>
        <p:spPr>
          <a:xfrm>
            <a:off x="1619057" y="4415957"/>
            <a:ext cx="1217550" cy="36525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C</a:t>
            </a:r>
            <a:endParaRPr sz="1500"/>
          </a:p>
        </p:txBody>
      </p:sp>
      <p:sp>
        <p:nvSpPr>
          <p:cNvPr id="133" name="Google Shape;133;p17"/>
          <p:cNvSpPr/>
          <p:nvPr/>
        </p:nvSpPr>
        <p:spPr>
          <a:xfrm>
            <a:off x="6307382" y="3246369"/>
            <a:ext cx="1217550" cy="36525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B</a:t>
            </a:r>
            <a:endParaRPr sz="1500"/>
          </a:p>
        </p:txBody>
      </p:sp>
      <p:sp>
        <p:nvSpPr>
          <p:cNvPr id="134" name="Google Shape;134;p17"/>
          <p:cNvSpPr/>
          <p:nvPr/>
        </p:nvSpPr>
        <p:spPr>
          <a:xfrm rot="-5400000">
            <a:off x="46227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35" name="Google Shape;135;p17"/>
          <p:cNvSpPr txBox="1"/>
          <p:nvPr/>
        </p:nvSpPr>
        <p:spPr>
          <a:xfrm>
            <a:off x="4051800" y="2526975"/>
            <a:ext cx="1040400" cy="323250"/>
          </a:xfrm>
          <a:prstGeom prst="rect">
            <a:avLst/>
          </a:prstGeom>
          <a:noFill/>
          <a:ln>
            <a:noFill/>
          </a:ln>
        </p:spPr>
        <p:txBody>
          <a:bodyPr spcFirstLastPara="1" wrap="square" lIns="45713" tIns="45713" rIns="45713" bIns="45713" anchor="ctr" anchorCtr="0">
            <a:noAutofit/>
          </a:bodyPr>
          <a:lstStyle/>
          <a:p>
            <a:pPr algn="ctr"/>
            <a:r>
              <a:rPr lang="en" sz="1500"/>
              <a:t>Queue</a:t>
            </a:r>
            <a:endParaRPr sz="1500"/>
          </a:p>
        </p:txBody>
      </p:sp>
      <p:sp>
        <p:nvSpPr>
          <p:cNvPr id="136" name="Google Shape;136;p17"/>
          <p:cNvSpPr/>
          <p:nvPr/>
        </p:nvSpPr>
        <p:spPr>
          <a:xfrm rot="-5400000">
            <a:off x="429952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37" name="Google Shape;137;p17"/>
          <p:cNvSpPr/>
          <p:nvPr/>
        </p:nvSpPr>
        <p:spPr>
          <a:xfrm rot="-5400000">
            <a:off x="39762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38" name="Google Shape;138;p17"/>
          <p:cNvSpPr/>
          <p:nvPr/>
        </p:nvSpPr>
        <p:spPr>
          <a:xfrm rot="-5400000">
            <a:off x="365302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39" name="Google Shape;139;p17"/>
          <p:cNvSpPr/>
          <p:nvPr/>
        </p:nvSpPr>
        <p:spPr>
          <a:xfrm rot="-5400000">
            <a:off x="33297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40" name="Google Shape;140;p17"/>
          <p:cNvSpPr txBox="1"/>
          <p:nvPr/>
        </p:nvSpPr>
        <p:spPr>
          <a:xfrm>
            <a:off x="3668025" y="4007775"/>
            <a:ext cx="1807950" cy="323250"/>
          </a:xfrm>
          <a:prstGeom prst="rect">
            <a:avLst/>
          </a:prstGeom>
          <a:noFill/>
          <a:ln>
            <a:noFill/>
          </a:ln>
        </p:spPr>
        <p:txBody>
          <a:bodyPr spcFirstLastPara="1" wrap="square" lIns="45713" tIns="45713" rIns="45713" bIns="45713" anchor="ctr" anchorCtr="0">
            <a:noAutofit/>
          </a:bodyPr>
          <a:lstStyle/>
          <a:p>
            <a:pPr algn="ctr"/>
            <a:r>
              <a:rPr lang="en" sz="1200"/>
              <a:t>First in, first out (FIFO)</a:t>
            </a:r>
            <a:endParaRPr sz="1200"/>
          </a:p>
        </p:txBody>
      </p:sp>
      <p:sp>
        <p:nvSpPr>
          <p:cNvPr id="141" name="Google Shape;141;p17"/>
          <p:cNvSpPr/>
          <p:nvPr/>
        </p:nvSpPr>
        <p:spPr>
          <a:xfrm rot="-5400000">
            <a:off x="46227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solidFill>
                  <a:srgbClr val="FF0000"/>
                </a:solidFill>
              </a:rPr>
              <a:t>Value A</a:t>
            </a:r>
            <a:endParaRPr sz="1500">
              <a:solidFill>
                <a:srgbClr val="FF0000"/>
              </a:solidFill>
            </a:endParaRPr>
          </a:p>
        </p:txBody>
      </p:sp>
      <p:sp>
        <p:nvSpPr>
          <p:cNvPr id="142" name="Google Shape;142;p17"/>
          <p:cNvSpPr/>
          <p:nvPr/>
        </p:nvSpPr>
        <p:spPr>
          <a:xfrm rot="-5400000">
            <a:off x="429952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solidFill>
                  <a:srgbClr val="0000FF"/>
                </a:solidFill>
              </a:rPr>
              <a:t>Value B</a:t>
            </a:r>
            <a:endParaRPr sz="1500">
              <a:solidFill>
                <a:srgbClr val="0000FF"/>
              </a:solidFill>
            </a:endParaRPr>
          </a:p>
        </p:txBody>
      </p:sp>
      <p:sp>
        <p:nvSpPr>
          <p:cNvPr id="143" name="Google Shape;143;p17"/>
          <p:cNvSpPr txBox="1"/>
          <p:nvPr/>
        </p:nvSpPr>
        <p:spPr>
          <a:xfrm>
            <a:off x="2892825" y="1609100"/>
            <a:ext cx="3358350" cy="467700"/>
          </a:xfrm>
          <a:prstGeom prst="rect">
            <a:avLst/>
          </a:prstGeom>
          <a:noFill/>
          <a:ln>
            <a:noFill/>
          </a:ln>
        </p:spPr>
        <p:txBody>
          <a:bodyPr spcFirstLastPara="1" wrap="square" lIns="45713" tIns="45713" rIns="45713" bIns="45713" anchor="ctr" anchorCtr="0">
            <a:noAutofit/>
          </a:bodyPr>
          <a:lstStyle/>
          <a:p>
            <a:pPr algn="ctr"/>
            <a:r>
              <a:rPr lang="en" sz="1500"/>
              <a:t>Copy by value, not by reference!</a:t>
            </a:r>
            <a:endParaRPr sz="1500"/>
          </a:p>
        </p:txBody>
      </p:sp>
      <p:cxnSp>
        <p:nvCxnSpPr>
          <p:cNvPr id="144" name="Google Shape;144;p17"/>
          <p:cNvCxnSpPr>
            <a:stCxn id="141" idx="2"/>
            <a:endCxn id="133" idx="1"/>
          </p:cNvCxnSpPr>
          <p:nvPr/>
        </p:nvCxnSpPr>
        <p:spPr>
          <a:xfrm>
            <a:off x="5380125" y="3429000"/>
            <a:ext cx="927300" cy="0"/>
          </a:xfrm>
          <a:prstGeom prst="straightConnector1">
            <a:avLst/>
          </a:prstGeom>
          <a:noFill/>
          <a:ln w="38100" cap="flat" cmpd="sng">
            <a:solidFill>
              <a:srgbClr val="9900FF"/>
            </a:solidFill>
            <a:prstDash val="solid"/>
            <a:round/>
            <a:headEnd type="none" w="med" len="med"/>
            <a:tailEnd type="triangle" w="med" len="med"/>
          </a:ln>
        </p:spPr>
      </p:cxnSp>
      <p:sp>
        <p:nvSpPr>
          <p:cNvPr id="145" name="Google Shape;145;p17"/>
          <p:cNvSpPr/>
          <p:nvPr/>
        </p:nvSpPr>
        <p:spPr>
          <a:xfrm rot="-5400000">
            <a:off x="46227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solidFill>
                  <a:srgbClr val="0000FF"/>
                </a:solidFill>
              </a:rPr>
              <a:t>Value B</a:t>
            </a:r>
            <a:endParaRPr sz="150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1000"/>
                                        <p:tgtEl>
                                          <p:spTgt spid="141"/>
                                        </p:tgtEl>
                                      </p:cBhvr>
                                    </p:animEffect>
                                    <p:set>
                                      <p:cBhvr>
                                        <p:cTn id="7" dur="1" fill="hold">
                                          <p:stCondLst>
                                            <p:cond delay="1000"/>
                                          </p:stCondLst>
                                        </p:cTn>
                                        <p:tgtEl>
                                          <p:spTgt spid="141"/>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1000"/>
                                        <p:tgtEl>
                                          <p:spTgt spid="142"/>
                                        </p:tgtEl>
                                      </p:cBhvr>
                                    </p:animEffect>
                                    <p:set>
                                      <p:cBhvr>
                                        <p:cTn id="12" dur="1" fill="hold">
                                          <p:stCondLst>
                                            <p:cond delay="1000"/>
                                          </p:stCondLst>
                                        </p:cTn>
                                        <p:tgtEl>
                                          <p:spTgt spid="142"/>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145"/>
                                        </p:tgtEl>
                                        <p:attrNameLst>
                                          <p:attrName>style.visibility</p:attrName>
                                        </p:attrNameLst>
                                      </p:cBhvr>
                                      <p:to>
                                        <p:strVal val="visible"/>
                                      </p:to>
                                    </p:set>
                                    <p:animEffect transition="in" filter="fade">
                                      <p:cBhvr>
                                        <p:cTn id="15" dur="10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8"/>
          <p:cNvSpPr/>
          <p:nvPr/>
        </p:nvSpPr>
        <p:spPr>
          <a:xfrm>
            <a:off x="1619057" y="2076794"/>
            <a:ext cx="1217550" cy="365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A</a:t>
            </a:r>
            <a:endParaRPr sz="1500"/>
          </a:p>
        </p:txBody>
      </p:sp>
      <p:sp>
        <p:nvSpPr>
          <p:cNvPr id="151" name="Google Shape;151;p18"/>
          <p:cNvSpPr/>
          <p:nvPr/>
        </p:nvSpPr>
        <p:spPr>
          <a:xfrm>
            <a:off x="1619057" y="4415957"/>
            <a:ext cx="1217550" cy="36525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C</a:t>
            </a:r>
            <a:endParaRPr sz="1500"/>
          </a:p>
        </p:txBody>
      </p:sp>
      <p:sp>
        <p:nvSpPr>
          <p:cNvPr id="152" name="Google Shape;152;p18"/>
          <p:cNvSpPr/>
          <p:nvPr/>
        </p:nvSpPr>
        <p:spPr>
          <a:xfrm rot="-5400000">
            <a:off x="46227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53" name="Google Shape;153;p18"/>
          <p:cNvSpPr txBox="1"/>
          <p:nvPr/>
        </p:nvSpPr>
        <p:spPr>
          <a:xfrm>
            <a:off x="4051800" y="2526975"/>
            <a:ext cx="1040400" cy="323250"/>
          </a:xfrm>
          <a:prstGeom prst="rect">
            <a:avLst/>
          </a:prstGeom>
          <a:noFill/>
          <a:ln>
            <a:noFill/>
          </a:ln>
        </p:spPr>
        <p:txBody>
          <a:bodyPr spcFirstLastPara="1" wrap="square" lIns="45713" tIns="45713" rIns="45713" bIns="45713" anchor="ctr" anchorCtr="0">
            <a:noAutofit/>
          </a:bodyPr>
          <a:lstStyle/>
          <a:p>
            <a:pPr algn="ctr"/>
            <a:r>
              <a:rPr lang="en" sz="1500"/>
              <a:t>Queue</a:t>
            </a:r>
            <a:endParaRPr sz="1500"/>
          </a:p>
        </p:txBody>
      </p:sp>
      <p:sp>
        <p:nvSpPr>
          <p:cNvPr id="154" name="Google Shape;154;p18"/>
          <p:cNvSpPr/>
          <p:nvPr/>
        </p:nvSpPr>
        <p:spPr>
          <a:xfrm rot="-5400000">
            <a:off x="429952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55" name="Google Shape;155;p18"/>
          <p:cNvSpPr/>
          <p:nvPr/>
        </p:nvSpPr>
        <p:spPr>
          <a:xfrm rot="-5400000">
            <a:off x="39762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56" name="Google Shape;156;p18"/>
          <p:cNvSpPr/>
          <p:nvPr/>
        </p:nvSpPr>
        <p:spPr>
          <a:xfrm rot="-5400000">
            <a:off x="365302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57" name="Google Shape;157;p18"/>
          <p:cNvSpPr/>
          <p:nvPr/>
        </p:nvSpPr>
        <p:spPr>
          <a:xfrm rot="-5400000">
            <a:off x="33297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58" name="Google Shape;158;p18"/>
          <p:cNvSpPr txBox="1"/>
          <p:nvPr/>
        </p:nvSpPr>
        <p:spPr>
          <a:xfrm>
            <a:off x="3668025" y="4007775"/>
            <a:ext cx="1807950" cy="323250"/>
          </a:xfrm>
          <a:prstGeom prst="rect">
            <a:avLst/>
          </a:prstGeom>
          <a:noFill/>
          <a:ln>
            <a:noFill/>
          </a:ln>
        </p:spPr>
        <p:txBody>
          <a:bodyPr spcFirstLastPara="1" wrap="square" lIns="45713" tIns="45713" rIns="45713" bIns="45713" anchor="ctr" anchorCtr="0">
            <a:noAutofit/>
          </a:bodyPr>
          <a:lstStyle/>
          <a:p>
            <a:pPr algn="ctr"/>
            <a:r>
              <a:rPr lang="en" sz="1200"/>
              <a:t>First in, first out (FIFO)</a:t>
            </a:r>
            <a:endParaRPr sz="1200"/>
          </a:p>
        </p:txBody>
      </p:sp>
      <p:sp>
        <p:nvSpPr>
          <p:cNvPr id="159" name="Google Shape;159;p18"/>
          <p:cNvSpPr txBox="1"/>
          <p:nvPr/>
        </p:nvSpPr>
        <p:spPr>
          <a:xfrm>
            <a:off x="2892825" y="1609100"/>
            <a:ext cx="3358350" cy="467700"/>
          </a:xfrm>
          <a:prstGeom prst="rect">
            <a:avLst/>
          </a:prstGeom>
          <a:noFill/>
          <a:ln>
            <a:noFill/>
          </a:ln>
        </p:spPr>
        <p:txBody>
          <a:bodyPr spcFirstLastPara="1" wrap="square" lIns="45713" tIns="45713" rIns="45713" bIns="45713" anchor="ctr" anchorCtr="0">
            <a:noAutofit/>
          </a:bodyPr>
          <a:lstStyle/>
          <a:p>
            <a:pPr algn="ctr"/>
            <a:r>
              <a:rPr lang="en" sz="1500"/>
              <a:t>Copy by value, not by reference!</a:t>
            </a:r>
            <a:endParaRPr sz="1500"/>
          </a:p>
        </p:txBody>
      </p:sp>
      <p:cxnSp>
        <p:nvCxnSpPr>
          <p:cNvPr id="160" name="Google Shape;160;p18"/>
          <p:cNvCxnSpPr>
            <a:stCxn id="161" idx="2"/>
            <a:endCxn id="162" idx="1"/>
          </p:cNvCxnSpPr>
          <p:nvPr/>
        </p:nvCxnSpPr>
        <p:spPr>
          <a:xfrm>
            <a:off x="5380082" y="3428994"/>
            <a:ext cx="927300" cy="0"/>
          </a:xfrm>
          <a:prstGeom prst="straightConnector1">
            <a:avLst/>
          </a:prstGeom>
          <a:noFill/>
          <a:ln w="38100" cap="flat" cmpd="sng">
            <a:solidFill>
              <a:srgbClr val="9900FF"/>
            </a:solidFill>
            <a:prstDash val="solid"/>
            <a:round/>
            <a:headEnd type="none" w="med" len="med"/>
            <a:tailEnd type="triangle" w="med" len="med"/>
          </a:ln>
        </p:spPr>
      </p:cxnSp>
      <p:sp>
        <p:nvSpPr>
          <p:cNvPr id="163" name="Google Shape;163;p18"/>
          <p:cNvSpPr txBox="1"/>
          <p:nvPr/>
        </p:nvSpPr>
        <p:spPr>
          <a:xfrm>
            <a:off x="5631207" y="2961300"/>
            <a:ext cx="425100" cy="467700"/>
          </a:xfrm>
          <a:prstGeom prst="rect">
            <a:avLst/>
          </a:prstGeom>
          <a:noFill/>
          <a:ln>
            <a:noFill/>
          </a:ln>
        </p:spPr>
        <p:txBody>
          <a:bodyPr spcFirstLastPara="1" wrap="square" lIns="45713" tIns="45713" rIns="45713" bIns="45713" anchor="ctr" anchorCtr="0">
            <a:noAutofit/>
          </a:bodyPr>
          <a:lstStyle/>
          <a:p>
            <a:pPr algn="ctr"/>
            <a:r>
              <a:rPr lang="en" sz="1500"/>
              <a:t>?</a:t>
            </a:r>
            <a:endParaRPr sz="1500"/>
          </a:p>
        </p:txBody>
      </p:sp>
      <p:sp>
        <p:nvSpPr>
          <p:cNvPr id="164" name="Google Shape;164;p18"/>
          <p:cNvSpPr/>
          <p:nvPr/>
        </p:nvSpPr>
        <p:spPr>
          <a:xfrm>
            <a:off x="6307382" y="3246369"/>
            <a:ext cx="1217550" cy="36525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B</a:t>
            </a:r>
            <a:endParaRPr sz="150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9"/>
          <p:cNvSpPr/>
          <p:nvPr/>
        </p:nvSpPr>
        <p:spPr>
          <a:xfrm>
            <a:off x="1619057" y="2076794"/>
            <a:ext cx="1217550" cy="365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A</a:t>
            </a:r>
            <a:endParaRPr sz="1500"/>
          </a:p>
        </p:txBody>
      </p:sp>
      <p:sp>
        <p:nvSpPr>
          <p:cNvPr id="170" name="Google Shape;170;p19"/>
          <p:cNvSpPr/>
          <p:nvPr/>
        </p:nvSpPr>
        <p:spPr>
          <a:xfrm>
            <a:off x="1619057" y="4415957"/>
            <a:ext cx="1217550" cy="36525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C</a:t>
            </a:r>
            <a:endParaRPr sz="1500"/>
          </a:p>
        </p:txBody>
      </p:sp>
      <p:sp>
        <p:nvSpPr>
          <p:cNvPr id="171" name="Google Shape;171;p19"/>
          <p:cNvSpPr/>
          <p:nvPr/>
        </p:nvSpPr>
        <p:spPr>
          <a:xfrm>
            <a:off x="6307382" y="3246369"/>
            <a:ext cx="1217550" cy="36525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B</a:t>
            </a:r>
            <a:endParaRPr sz="1500"/>
          </a:p>
        </p:txBody>
      </p:sp>
      <p:sp>
        <p:nvSpPr>
          <p:cNvPr id="172" name="Google Shape;172;p19"/>
          <p:cNvSpPr/>
          <p:nvPr/>
        </p:nvSpPr>
        <p:spPr>
          <a:xfrm rot="-5400000">
            <a:off x="46227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73" name="Google Shape;173;p19"/>
          <p:cNvSpPr txBox="1"/>
          <p:nvPr/>
        </p:nvSpPr>
        <p:spPr>
          <a:xfrm>
            <a:off x="4051800" y="2526975"/>
            <a:ext cx="1040400" cy="323250"/>
          </a:xfrm>
          <a:prstGeom prst="rect">
            <a:avLst/>
          </a:prstGeom>
          <a:noFill/>
          <a:ln>
            <a:noFill/>
          </a:ln>
        </p:spPr>
        <p:txBody>
          <a:bodyPr spcFirstLastPara="1" wrap="square" lIns="45713" tIns="45713" rIns="45713" bIns="45713" anchor="ctr" anchorCtr="0">
            <a:noAutofit/>
          </a:bodyPr>
          <a:lstStyle/>
          <a:p>
            <a:pPr algn="ctr"/>
            <a:r>
              <a:rPr lang="en" sz="1500"/>
              <a:t>Queue</a:t>
            </a:r>
            <a:endParaRPr sz="1500"/>
          </a:p>
        </p:txBody>
      </p:sp>
      <p:sp>
        <p:nvSpPr>
          <p:cNvPr id="174" name="Google Shape;174;p19"/>
          <p:cNvSpPr/>
          <p:nvPr/>
        </p:nvSpPr>
        <p:spPr>
          <a:xfrm rot="-5400000">
            <a:off x="429952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75" name="Google Shape;175;p19"/>
          <p:cNvSpPr/>
          <p:nvPr/>
        </p:nvSpPr>
        <p:spPr>
          <a:xfrm rot="-5400000">
            <a:off x="39762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76" name="Google Shape;176;p19"/>
          <p:cNvSpPr/>
          <p:nvPr/>
        </p:nvSpPr>
        <p:spPr>
          <a:xfrm rot="-5400000">
            <a:off x="365302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77" name="Google Shape;177;p19"/>
          <p:cNvSpPr/>
          <p:nvPr/>
        </p:nvSpPr>
        <p:spPr>
          <a:xfrm rot="-5400000">
            <a:off x="33297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78" name="Google Shape;178;p19"/>
          <p:cNvSpPr txBox="1"/>
          <p:nvPr/>
        </p:nvSpPr>
        <p:spPr>
          <a:xfrm>
            <a:off x="3668025" y="4007775"/>
            <a:ext cx="1807950" cy="323250"/>
          </a:xfrm>
          <a:prstGeom prst="rect">
            <a:avLst/>
          </a:prstGeom>
          <a:noFill/>
          <a:ln>
            <a:noFill/>
          </a:ln>
        </p:spPr>
        <p:txBody>
          <a:bodyPr spcFirstLastPara="1" wrap="square" lIns="45713" tIns="45713" rIns="45713" bIns="45713" anchor="ctr" anchorCtr="0">
            <a:noAutofit/>
          </a:bodyPr>
          <a:lstStyle/>
          <a:p>
            <a:pPr algn="ctr"/>
            <a:r>
              <a:rPr lang="en" sz="1200"/>
              <a:t>First in, first out (FIFO)</a:t>
            </a:r>
            <a:endParaRPr sz="1200"/>
          </a:p>
        </p:txBody>
      </p:sp>
      <p:sp>
        <p:nvSpPr>
          <p:cNvPr id="179" name="Google Shape;179;p19"/>
          <p:cNvSpPr/>
          <p:nvPr/>
        </p:nvSpPr>
        <p:spPr>
          <a:xfrm rot="-5400000">
            <a:off x="46227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solidFill>
                  <a:srgbClr val="FF0000"/>
                </a:solidFill>
              </a:rPr>
              <a:t>Value A</a:t>
            </a:r>
            <a:endParaRPr sz="1500">
              <a:solidFill>
                <a:srgbClr val="FF0000"/>
              </a:solidFill>
            </a:endParaRPr>
          </a:p>
        </p:txBody>
      </p:sp>
      <p:sp>
        <p:nvSpPr>
          <p:cNvPr id="180" name="Google Shape;180;p19"/>
          <p:cNvSpPr/>
          <p:nvPr/>
        </p:nvSpPr>
        <p:spPr>
          <a:xfrm rot="-5400000">
            <a:off x="429952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solidFill>
                  <a:srgbClr val="9900FF"/>
                </a:solidFill>
              </a:rPr>
              <a:t>Value C</a:t>
            </a:r>
            <a:endParaRPr sz="1500">
              <a:solidFill>
                <a:srgbClr val="9900FF"/>
              </a:solidFill>
            </a:endParaRPr>
          </a:p>
        </p:txBody>
      </p:sp>
      <p:sp>
        <p:nvSpPr>
          <p:cNvPr id="181" name="Google Shape;181;p19"/>
          <p:cNvSpPr txBox="1"/>
          <p:nvPr/>
        </p:nvSpPr>
        <p:spPr>
          <a:xfrm>
            <a:off x="2892825" y="1609100"/>
            <a:ext cx="3358350" cy="467700"/>
          </a:xfrm>
          <a:prstGeom prst="rect">
            <a:avLst/>
          </a:prstGeom>
          <a:noFill/>
          <a:ln>
            <a:noFill/>
          </a:ln>
        </p:spPr>
        <p:txBody>
          <a:bodyPr spcFirstLastPara="1" wrap="square" lIns="45713" tIns="45713" rIns="45713" bIns="45713" anchor="ctr" anchorCtr="0">
            <a:noAutofit/>
          </a:bodyPr>
          <a:lstStyle/>
          <a:p>
            <a:pPr algn="ctr"/>
            <a:r>
              <a:rPr lang="en" sz="1500"/>
              <a:t>Copy by value, not by reference!</a:t>
            </a:r>
            <a:endParaRPr sz="1500"/>
          </a:p>
        </p:txBody>
      </p:sp>
      <p:sp>
        <p:nvSpPr>
          <p:cNvPr id="182" name="Google Shape;182;p19"/>
          <p:cNvSpPr/>
          <p:nvPr/>
        </p:nvSpPr>
        <p:spPr>
          <a:xfrm rot="-5400000">
            <a:off x="46227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solidFill>
                  <a:srgbClr val="0000FF"/>
                </a:solidFill>
              </a:rPr>
              <a:t>Value B</a:t>
            </a:r>
            <a:endParaRPr sz="1500">
              <a:solidFill>
                <a:srgbClr val="0000FF"/>
              </a:solidFill>
            </a:endParaRPr>
          </a:p>
        </p:txBody>
      </p:sp>
      <p:sp>
        <p:nvSpPr>
          <p:cNvPr id="183" name="Google Shape;183;p19"/>
          <p:cNvSpPr/>
          <p:nvPr/>
        </p:nvSpPr>
        <p:spPr>
          <a:xfrm rot="-5400000">
            <a:off x="39762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solidFill>
                  <a:srgbClr val="FF00FF"/>
                </a:solidFill>
              </a:rPr>
              <a:t>Value D</a:t>
            </a:r>
            <a:endParaRPr sz="1500">
              <a:solidFill>
                <a:srgbClr val="FF00FF"/>
              </a:solidFill>
            </a:endParaRPr>
          </a:p>
        </p:txBody>
      </p:sp>
      <p:sp>
        <p:nvSpPr>
          <p:cNvPr id="184" name="Google Shape;184;p19"/>
          <p:cNvSpPr/>
          <p:nvPr/>
        </p:nvSpPr>
        <p:spPr>
          <a:xfrm rot="-5400000">
            <a:off x="365302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solidFill>
                  <a:srgbClr val="980000"/>
                </a:solidFill>
              </a:rPr>
              <a:t>Value E</a:t>
            </a:r>
            <a:endParaRPr sz="1500">
              <a:solidFill>
                <a:srgbClr val="980000"/>
              </a:solidFill>
            </a:endParaRPr>
          </a:p>
        </p:txBody>
      </p:sp>
      <p:sp>
        <p:nvSpPr>
          <p:cNvPr id="185" name="Google Shape;185;p19"/>
          <p:cNvSpPr/>
          <p:nvPr/>
        </p:nvSpPr>
        <p:spPr>
          <a:xfrm rot="-5400000">
            <a:off x="33297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solidFill>
                  <a:srgbClr val="FF9900"/>
                </a:solidFill>
              </a:rPr>
              <a:t>Value F</a:t>
            </a:r>
            <a:endParaRPr sz="1500">
              <a:solidFill>
                <a:srgbClr val="FF9900"/>
              </a:solidFill>
            </a:endParaRPr>
          </a:p>
        </p:txBody>
      </p:sp>
      <p:cxnSp>
        <p:nvCxnSpPr>
          <p:cNvPr id="186" name="Google Shape;186;p19"/>
          <p:cNvCxnSpPr>
            <a:endCxn id="185" idx="0"/>
          </p:cNvCxnSpPr>
          <p:nvPr/>
        </p:nvCxnSpPr>
        <p:spPr>
          <a:xfrm>
            <a:off x="2836575" y="2259450"/>
            <a:ext cx="927300" cy="1169550"/>
          </a:xfrm>
          <a:prstGeom prst="straightConnector1">
            <a:avLst/>
          </a:prstGeom>
          <a:noFill/>
          <a:ln w="38100" cap="flat" cmpd="sng">
            <a:solidFill>
              <a:srgbClr val="FF0000"/>
            </a:solidFill>
            <a:prstDash val="solid"/>
            <a:round/>
            <a:headEnd type="none" w="med" len="med"/>
            <a:tailEnd type="triangle" w="med" len="med"/>
          </a:ln>
        </p:spPr>
      </p:cxnSp>
      <p:sp>
        <p:nvSpPr>
          <p:cNvPr id="187" name="Google Shape;187;p19"/>
          <p:cNvSpPr txBox="1"/>
          <p:nvPr/>
        </p:nvSpPr>
        <p:spPr>
          <a:xfrm>
            <a:off x="3132794" y="2365575"/>
            <a:ext cx="425100" cy="467700"/>
          </a:xfrm>
          <a:prstGeom prst="rect">
            <a:avLst/>
          </a:prstGeom>
          <a:noFill/>
          <a:ln>
            <a:noFill/>
          </a:ln>
        </p:spPr>
        <p:txBody>
          <a:bodyPr spcFirstLastPara="1" wrap="square" lIns="45713" tIns="45713" rIns="45713" bIns="45713" anchor="ctr" anchorCtr="0">
            <a:noAutofit/>
          </a:bodyPr>
          <a:lstStyle/>
          <a:p>
            <a:pPr algn="ctr"/>
            <a:r>
              <a:rPr lang="en" sz="1500"/>
              <a:t>?</a:t>
            </a:r>
            <a:endParaRPr sz="150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0"/>
          <p:cNvSpPr/>
          <p:nvPr/>
        </p:nvSpPr>
        <p:spPr>
          <a:xfrm>
            <a:off x="2356750" y="3246369"/>
            <a:ext cx="1217550" cy="365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A</a:t>
            </a:r>
            <a:endParaRPr sz="1500"/>
          </a:p>
        </p:txBody>
      </p:sp>
      <p:sp>
        <p:nvSpPr>
          <p:cNvPr id="193" name="Google Shape;193;p20"/>
          <p:cNvSpPr/>
          <p:nvPr/>
        </p:nvSpPr>
        <p:spPr>
          <a:xfrm>
            <a:off x="5569688" y="3246369"/>
            <a:ext cx="1217550" cy="36525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B</a:t>
            </a:r>
            <a:endParaRPr sz="1500"/>
          </a:p>
        </p:txBody>
      </p:sp>
      <p:sp>
        <p:nvSpPr>
          <p:cNvPr id="194" name="Google Shape;194;p20"/>
          <p:cNvSpPr/>
          <p:nvPr/>
        </p:nvSpPr>
        <p:spPr>
          <a:xfrm rot="-5400000">
            <a:off x="4622775" y="2178538"/>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95" name="Google Shape;195;p20"/>
          <p:cNvSpPr/>
          <p:nvPr/>
        </p:nvSpPr>
        <p:spPr>
          <a:xfrm rot="-5400000">
            <a:off x="4299525" y="2178538"/>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96" name="Google Shape;196;p20"/>
          <p:cNvSpPr/>
          <p:nvPr/>
        </p:nvSpPr>
        <p:spPr>
          <a:xfrm rot="-5400000">
            <a:off x="3976275" y="2178538"/>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97" name="Google Shape;197;p20"/>
          <p:cNvSpPr/>
          <p:nvPr/>
        </p:nvSpPr>
        <p:spPr>
          <a:xfrm rot="-5400000">
            <a:off x="3653025" y="2178538"/>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98" name="Google Shape;198;p20"/>
          <p:cNvSpPr/>
          <p:nvPr/>
        </p:nvSpPr>
        <p:spPr>
          <a:xfrm rot="-5400000">
            <a:off x="3329775" y="2178538"/>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99" name="Google Shape;199;p20"/>
          <p:cNvSpPr txBox="1"/>
          <p:nvPr/>
        </p:nvSpPr>
        <p:spPr>
          <a:xfrm>
            <a:off x="4022025" y="1335525"/>
            <a:ext cx="1099950" cy="408900"/>
          </a:xfrm>
          <a:prstGeom prst="rect">
            <a:avLst/>
          </a:prstGeom>
          <a:noFill/>
          <a:ln>
            <a:noFill/>
          </a:ln>
        </p:spPr>
        <p:txBody>
          <a:bodyPr spcFirstLastPara="1" wrap="square" lIns="45713" tIns="45713" rIns="45713" bIns="45713" anchor="ctr" anchorCtr="0">
            <a:noAutofit/>
          </a:bodyPr>
          <a:lstStyle/>
          <a:p>
            <a:pPr algn="ctr"/>
            <a:r>
              <a:rPr lang="en" sz="1500"/>
              <a:t>Queue 1</a:t>
            </a:r>
            <a:endParaRPr sz="1500"/>
          </a:p>
        </p:txBody>
      </p:sp>
      <p:sp>
        <p:nvSpPr>
          <p:cNvPr id="200" name="Google Shape;200;p20"/>
          <p:cNvSpPr/>
          <p:nvPr/>
        </p:nvSpPr>
        <p:spPr>
          <a:xfrm rot="-5400000">
            <a:off x="4622775" y="452452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01" name="Google Shape;201;p20"/>
          <p:cNvSpPr/>
          <p:nvPr/>
        </p:nvSpPr>
        <p:spPr>
          <a:xfrm rot="-5400000">
            <a:off x="4299525" y="452452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02" name="Google Shape;202;p20"/>
          <p:cNvSpPr/>
          <p:nvPr/>
        </p:nvSpPr>
        <p:spPr>
          <a:xfrm rot="-5400000">
            <a:off x="3976275" y="452452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03" name="Google Shape;203;p20"/>
          <p:cNvSpPr/>
          <p:nvPr/>
        </p:nvSpPr>
        <p:spPr>
          <a:xfrm rot="-5400000">
            <a:off x="3653025" y="452452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04" name="Google Shape;204;p20"/>
          <p:cNvSpPr/>
          <p:nvPr/>
        </p:nvSpPr>
        <p:spPr>
          <a:xfrm rot="-5400000">
            <a:off x="3329775" y="452452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05" name="Google Shape;205;p20"/>
          <p:cNvSpPr txBox="1"/>
          <p:nvPr/>
        </p:nvSpPr>
        <p:spPr>
          <a:xfrm>
            <a:off x="4022025" y="3681513"/>
            <a:ext cx="1099950" cy="408900"/>
          </a:xfrm>
          <a:prstGeom prst="rect">
            <a:avLst/>
          </a:prstGeom>
          <a:noFill/>
          <a:ln>
            <a:noFill/>
          </a:ln>
        </p:spPr>
        <p:txBody>
          <a:bodyPr spcFirstLastPara="1" wrap="square" lIns="45713" tIns="45713" rIns="45713" bIns="45713" anchor="ctr" anchorCtr="0">
            <a:noAutofit/>
          </a:bodyPr>
          <a:lstStyle/>
          <a:p>
            <a:pPr algn="ctr"/>
            <a:r>
              <a:rPr lang="en" sz="1500"/>
              <a:t>Queue 2</a:t>
            </a:r>
            <a:endParaRPr sz="1500"/>
          </a:p>
        </p:txBody>
      </p:sp>
      <p:sp>
        <p:nvSpPr>
          <p:cNvPr id="206" name="Google Shape;206;p20"/>
          <p:cNvSpPr txBox="1"/>
          <p:nvPr/>
        </p:nvSpPr>
        <p:spPr>
          <a:xfrm>
            <a:off x="241588" y="1335525"/>
            <a:ext cx="2902050" cy="1200314"/>
          </a:xfrm>
          <a:prstGeom prst="rect">
            <a:avLst/>
          </a:prstGeom>
          <a:noFill/>
          <a:ln>
            <a:noFill/>
          </a:ln>
        </p:spPr>
        <p:txBody>
          <a:bodyPr spcFirstLastPara="1" wrap="square" lIns="45713" tIns="45713" rIns="45713" bIns="45713" anchor="t" anchorCtr="0">
            <a:spAutoFit/>
          </a:bodyPr>
          <a:lstStyle/>
          <a:p>
            <a:r>
              <a:rPr lang="en" sz="1200" b="1"/>
              <a:t>Task A</a:t>
            </a:r>
            <a:endParaRPr sz="1200" b="1"/>
          </a:p>
          <a:p>
            <a:pPr marL="228600" indent="-190500">
              <a:buSzPts val="2400"/>
              <a:buChar char="●"/>
            </a:pPr>
            <a:r>
              <a:rPr lang="en" sz="1200"/>
              <a:t>Prints any new messages from Queue 2</a:t>
            </a:r>
            <a:endParaRPr sz="1200"/>
          </a:p>
          <a:p>
            <a:pPr marL="228600" indent="-190500">
              <a:buSzPts val="2400"/>
              <a:buChar char="●"/>
            </a:pPr>
            <a:r>
              <a:rPr lang="en" sz="1200"/>
              <a:t>Reads serial input from user</a:t>
            </a:r>
            <a:endParaRPr sz="1200"/>
          </a:p>
          <a:p>
            <a:pPr marL="228600" indent="-190500">
              <a:buSzPts val="2400"/>
              <a:buChar char="●"/>
            </a:pPr>
            <a:r>
              <a:rPr lang="en" sz="1200"/>
              <a:t>Echo input back to serial terminal</a:t>
            </a:r>
            <a:endParaRPr sz="1200"/>
          </a:p>
          <a:p>
            <a:pPr marL="228600" indent="-190500">
              <a:buSzPts val="2400"/>
              <a:buChar char="●"/>
            </a:pPr>
            <a:r>
              <a:rPr lang="en" sz="1200"/>
              <a:t>If “delay xxx” send xxx (number) to Queue 1</a:t>
            </a:r>
            <a:endParaRPr sz="1200"/>
          </a:p>
        </p:txBody>
      </p:sp>
      <p:sp>
        <p:nvSpPr>
          <p:cNvPr id="207" name="Google Shape;207;p20"/>
          <p:cNvSpPr txBox="1"/>
          <p:nvPr/>
        </p:nvSpPr>
        <p:spPr>
          <a:xfrm>
            <a:off x="6000363" y="1335525"/>
            <a:ext cx="2902050" cy="1384980"/>
          </a:xfrm>
          <a:prstGeom prst="rect">
            <a:avLst/>
          </a:prstGeom>
          <a:noFill/>
          <a:ln>
            <a:noFill/>
          </a:ln>
        </p:spPr>
        <p:txBody>
          <a:bodyPr spcFirstLastPara="1" wrap="square" lIns="45713" tIns="45713" rIns="45713" bIns="45713" anchor="t" anchorCtr="0">
            <a:spAutoFit/>
          </a:bodyPr>
          <a:lstStyle/>
          <a:p>
            <a:r>
              <a:rPr lang="en" sz="1200" b="1"/>
              <a:t>Task B</a:t>
            </a:r>
            <a:endParaRPr sz="1200" b="1"/>
          </a:p>
          <a:p>
            <a:pPr marL="228600" indent="-190500">
              <a:buSzPts val="2400"/>
              <a:buChar char="●"/>
            </a:pPr>
            <a:r>
              <a:rPr lang="en" sz="1200">
                <a:solidFill>
                  <a:schemeClr val="dk1"/>
                </a:solidFill>
              </a:rPr>
              <a:t>Updates </a:t>
            </a:r>
            <a:r>
              <a:rPr lang="en" sz="1200">
                <a:solidFill>
                  <a:schemeClr val="dk1"/>
                </a:solidFill>
                <a:latin typeface="Courier New"/>
                <a:ea typeface="Courier New"/>
                <a:cs typeface="Courier New"/>
                <a:sym typeface="Courier New"/>
              </a:rPr>
              <a:t>t</a:t>
            </a:r>
            <a:r>
              <a:rPr lang="en" sz="1200">
                <a:solidFill>
                  <a:schemeClr val="dk1"/>
                </a:solidFill>
              </a:rPr>
              <a:t> with any new values from Queue 1</a:t>
            </a:r>
            <a:endParaRPr sz="1200"/>
          </a:p>
          <a:p>
            <a:pPr marL="228600" indent="-190500">
              <a:buSzPts val="2400"/>
              <a:buChar char="●"/>
            </a:pPr>
            <a:r>
              <a:rPr lang="en" sz="1200"/>
              <a:t>Blinks LED with </a:t>
            </a:r>
            <a:r>
              <a:rPr lang="en" sz="1200">
                <a:latin typeface="Courier New"/>
                <a:ea typeface="Courier New"/>
                <a:cs typeface="Courier New"/>
                <a:sym typeface="Courier New"/>
              </a:rPr>
              <a:t>t</a:t>
            </a:r>
            <a:r>
              <a:rPr lang="en" sz="1200"/>
              <a:t> delay</a:t>
            </a:r>
            <a:endParaRPr sz="1200"/>
          </a:p>
          <a:p>
            <a:pPr marL="228600" indent="-190500">
              <a:buSzPts val="2400"/>
              <a:buChar char="●"/>
            </a:pPr>
            <a:r>
              <a:rPr lang="en" sz="1200"/>
              <a:t>Every time LED blinks 100 times, send “Blinked” string to Queue 2 (optional: also send number of times blinked)</a:t>
            </a:r>
            <a:endParaRPr sz="1200"/>
          </a:p>
        </p:txBody>
      </p:sp>
      <p:cxnSp>
        <p:nvCxnSpPr>
          <p:cNvPr id="208" name="Google Shape;208;p20"/>
          <p:cNvCxnSpPr>
            <a:stCxn id="192" idx="0"/>
            <a:endCxn id="198" idx="0"/>
          </p:cNvCxnSpPr>
          <p:nvPr/>
        </p:nvCxnSpPr>
        <p:spPr>
          <a:xfrm rot="10800000" flipH="1">
            <a:off x="2965525" y="2340219"/>
            <a:ext cx="798300" cy="906150"/>
          </a:xfrm>
          <a:prstGeom prst="straightConnector1">
            <a:avLst/>
          </a:prstGeom>
          <a:noFill/>
          <a:ln w="38100" cap="flat" cmpd="sng">
            <a:solidFill>
              <a:schemeClr val="dk2"/>
            </a:solidFill>
            <a:prstDash val="solid"/>
            <a:round/>
            <a:headEnd type="none" w="med" len="med"/>
            <a:tailEnd type="triangle" w="med" len="med"/>
          </a:ln>
        </p:spPr>
      </p:cxnSp>
      <p:cxnSp>
        <p:nvCxnSpPr>
          <p:cNvPr id="209" name="Google Shape;209;p20"/>
          <p:cNvCxnSpPr>
            <a:stCxn id="194" idx="2"/>
            <a:endCxn id="193" idx="0"/>
          </p:cNvCxnSpPr>
          <p:nvPr/>
        </p:nvCxnSpPr>
        <p:spPr>
          <a:xfrm>
            <a:off x="5380125" y="2340163"/>
            <a:ext cx="798300" cy="906150"/>
          </a:xfrm>
          <a:prstGeom prst="straightConnector1">
            <a:avLst/>
          </a:prstGeom>
          <a:noFill/>
          <a:ln w="38100" cap="flat" cmpd="sng">
            <a:solidFill>
              <a:schemeClr val="dk2"/>
            </a:solidFill>
            <a:prstDash val="solid"/>
            <a:round/>
            <a:headEnd type="none" w="med" len="med"/>
            <a:tailEnd type="triangle" w="med" len="med"/>
          </a:ln>
        </p:spPr>
      </p:cxnSp>
      <p:cxnSp>
        <p:nvCxnSpPr>
          <p:cNvPr id="210" name="Google Shape;210;p20"/>
          <p:cNvCxnSpPr>
            <a:stCxn id="193" idx="2"/>
            <a:endCxn id="200" idx="2"/>
          </p:cNvCxnSpPr>
          <p:nvPr/>
        </p:nvCxnSpPr>
        <p:spPr>
          <a:xfrm flipH="1">
            <a:off x="5380163" y="3611619"/>
            <a:ext cx="798300" cy="1074600"/>
          </a:xfrm>
          <a:prstGeom prst="straightConnector1">
            <a:avLst/>
          </a:prstGeom>
          <a:noFill/>
          <a:ln w="38100" cap="flat" cmpd="sng">
            <a:solidFill>
              <a:schemeClr val="dk2"/>
            </a:solidFill>
            <a:prstDash val="solid"/>
            <a:round/>
            <a:headEnd type="none" w="med" len="med"/>
            <a:tailEnd type="triangle" w="med" len="med"/>
          </a:ln>
        </p:spPr>
      </p:cxnSp>
      <p:cxnSp>
        <p:nvCxnSpPr>
          <p:cNvPr id="211" name="Google Shape;211;p20"/>
          <p:cNvCxnSpPr>
            <a:stCxn id="204" idx="0"/>
            <a:endCxn id="192" idx="2"/>
          </p:cNvCxnSpPr>
          <p:nvPr/>
        </p:nvCxnSpPr>
        <p:spPr>
          <a:xfrm rot="10800000">
            <a:off x="2965575" y="3611550"/>
            <a:ext cx="798300" cy="1074600"/>
          </a:xfrm>
          <a:prstGeom prst="straightConnector1">
            <a:avLst/>
          </a:prstGeom>
          <a:noFill/>
          <a:ln w="38100" cap="flat" cmpd="sng">
            <a:solidFill>
              <a:schemeClr val="dk2"/>
            </a:solidFill>
            <a:prstDash val="solid"/>
            <a:round/>
            <a:headEnd type="none" w="med" len="med"/>
            <a:tailEnd type="triangle" w="med" len="med"/>
          </a:ln>
        </p:spPr>
      </p:cxn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p:nvPr/>
        </p:nvSpPr>
        <p:spPr>
          <a:xfrm>
            <a:off x="1619057" y="2076794"/>
            <a:ext cx="1217550" cy="365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A</a:t>
            </a:r>
            <a:endParaRPr sz="1500"/>
          </a:p>
        </p:txBody>
      </p:sp>
      <p:sp>
        <p:nvSpPr>
          <p:cNvPr id="217" name="Google Shape;217;p21"/>
          <p:cNvSpPr/>
          <p:nvPr/>
        </p:nvSpPr>
        <p:spPr>
          <a:xfrm>
            <a:off x="1619057" y="4415957"/>
            <a:ext cx="1217550" cy="36525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C</a:t>
            </a:r>
            <a:endParaRPr sz="1500"/>
          </a:p>
        </p:txBody>
      </p:sp>
      <p:sp>
        <p:nvSpPr>
          <p:cNvPr id="218" name="Google Shape;218;p21"/>
          <p:cNvSpPr/>
          <p:nvPr/>
        </p:nvSpPr>
        <p:spPr>
          <a:xfrm>
            <a:off x="6307382" y="3246369"/>
            <a:ext cx="1217550" cy="36525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B</a:t>
            </a:r>
            <a:endParaRPr sz="1500"/>
          </a:p>
        </p:txBody>
      </p:sp>
      <p:sp>
        <p:nvSpPr>
          <p:cNvPr id="219" name="Google Shape;219;p21"/>
          <p:cNvSpPr/>
          <p:nvPr/>
        </p:nvSpPr>
        <p:spPr>
          <a:xfrm rot="-5400000">
            <a:off x="46227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20" name="Google Shape;220;p21"/>
          <p:cNvSpPr txBox="1"/>
          <p:nvPr/>
        </p:nvSpPr>
        <p:spPr>
          <a:xfrm>
            <a:off x="4051800" y="2526975"/>
            <a:ext cx="1040400" cy="323250"/>
          </a:xfrm>
          <a:prstGeom prst="rect">
            <a:avLst/>
          </a:prstGeom>
          <a:noFill/>
          <a:ln>
            <a:noFill/>
          </a:ln>
        </p:spPr>
        <p:txBody>
          <a:bodyPr spcFirstLastPara="1" wrap="square" lIns="45713" tIns="45713" rIns="45713" bIns="45713" anchor="ctr" anchorCtr="0">
            <a:noAutofit/>
          </a:bodyPr>
          <a:lstStyle/>
          <a:p>
            <a:pPr algn="ctr"/>
            <a:r>
              <a:rPr lang="en" sz="1500"/>
              <a:t>Queue</a:t>
            </a:r>
            <a:endParaRPr sz="1500"/>
          </a:p>
        </p:txBody>
      </p:sp>
      <p:sp>
        <p:nvSpPr>
          <p:cNvPr id="221" name="Google Shape;221;p21"/>
          <p:cNvSpPr/>
          <p:nvPr/>
        </p:nvSpPr>
        <p:spPr>
          <a:xfrm rot="-5400000">
            <a:off x="429952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22" name="Google Shape;222;p21"/>
          <p:cNvSpPr/>
          <p:nvPr/>
        </p:nvSpPr>
        <p:spPr>
          <a:xfrm rot="-5400000">
            <a:off x="39762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23" name="Google Shape;223;p21"/>
          <p:cNvSpPr/>
          <p:nvPr/>
        </p:nvSpPr>
        <p:spPr>
          <a:xfrm rot="-5400000">
            <a:off x="365302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24" name="Google Shape;224;p21"/>
          <p:cNvSpPr/>
          <p:nvPr/>
        </p:nvSpPr>
        <p:spPr>
          <a:xfrm rot="-5400000">
            <a:off x="33297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25" name="Google Shape;225;p21"/>
          <p:cNvSpPr txBox="1"/>
          <p:nvPr/>
        </p:nvSpPr>
        <p:spPr>
          <a:xfrm>
            <a:off x="3668025" y="4007775"/>
            <a:ext cx="1807950" cy="323250"/>
          </a:xfrm>
          <a:prstGeom prst="rect">
            <a:avLst/>
          </a:prstGeom>
          <a:noFill/>
          <a:ln>
            <a:noFill/>
          </a:ln>
        </p:spPr>
        <p:txBody>
          <a:bodyPr spcFirstLastPara="1" wrap="square" lIns="45713" tIns="45713" rIns="45713" bIns="45713" anchor="ctr" anchorCtr="0">
            <a:noAutofit/>
          </a:bodyPr>
          <a:lstStyle/>
          <a:p>
            <a:pPr algn="ctr"/>
            <a:r>
              <a:rPr lang="en" sz="1200"/>
              <a:t>First in, first out (FIFO)</a:t>
            </a:r>
            <a:endParaRPr sz="1200"/>
          </a:p>
        </p:txBody>
      </p:sp>
      <p:sp>
        <p:nvSpPr>
          <p:cNvPr id="226" name="Google Shape;226;p21"/>
          <p:cNvSpPr/>
          <p:nvPr/>
        </p:nvSpPr>
        <p:spPr>
          <a:xfrm rot="-5400000">
            <a:off x="462277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solidFill>
                  <a:srgbClr val="FF0000"/>
                </a:solidFill>
              </a:rPr>
              <a:t>Value A</a:t>
            </a:r>
            <a:endParaRPr sz="1500">
              <a:solidFill>
                <a:srgbClr val="FF0000"/>
              </a:solidFill>
            </a:endParaRPr>
          </a:p>
        </p:txBody>
      </p:sp>
      <p:sp>
        <p:nvSpPr>
          <p:cNvPr id="227" name="Google Shape;227;p21"/>
          <p:cNvSpPr/>
          <p:nvPr/>
        </p:nvSpPr>
        <p:spPr>
          <a:xfrm rot="-5400000">
            <a:off x="4299525" y="3267375"/>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solidFill>
                  <a:srgbClr val="0000FF"/>
                </a:solidFill>
              </a:rPr>
              <a:t>Value B</a:t>
            </a:r>
            <a:endParaRPr sz="1500">
              <a:solidFill>
                <a:srgbClr val="0000FF"/>
              </a:solidFill>
            </a:endParaRPr>
          </a:p>
        </p:txBody>
      </p:sp>
      <p:cxnSp>
        <p:nvCxnSpPr>
          <p:cNvPr id="228" name="Google Shape;228;p21"/>
          <p:cNvCxnSpPr>
            <a:stCxn id="217" idx="3"/>
            <a:endCxn id="227" idx="0"/>
          </p:cNvCxnSpPr>
          <p:nvPr/>
        </p:nvCxnSpPr>
        <p:spPr>
          <a:xfrm rot="10800000" flipH="1">
            <a:off x="2836607" y="3429032"/>
            <a:ext cx="1897050" cy="1169550"/>
          </a:xfrm>
          <a:prstGeom prst="straightConnector1">
            <a:avLst/>
          </a:prstGeom>
          <a:noFill/>
          <a:ln w="38100" cap="flat" cmpd="sng">
            <a:solidFill>
              <a:srgbClr val="0000FF"/>
            </a:solidFill>
            <a:prstDash val="solid"/>
            <a:round/>
            <a:headEnd type="none" w="med" len="med"/>
            <a:tailEnd type="triangle" w="med" len="med"/>
          </a:ln>
        </p:spPr>
      </p:cxnSp>
      <p:sp>
        <p:nvSpPr>
          <p:cNvPr id="229" name="Google Shape;229;p21"/>
          <p:cNvSpPr txBox="1"/>
          <p:nvPr/>
        </p:nvSpPr>
        <p:spPr>
          <a:xfrm>
            <a:off x="2892825" y="1609100"/>
            <a:ext cx="3358350" cy="467700"/>
          </a:xfrm>
          <a:prstGeom prst="rect">
            <a:avLst/>
          </a:prstGeom>
          <a:noFill/>
          <a:ln>
            <a:noFill/>
          </a:ln>
        </p:spPr>
        <p:txBody>
          <a:bodyPr spcFirstLastPara="1" wrap="square" lIns="45713" tIns="45713" rIns="45713" bIns="45713" anchor="ctr" anchorCtr="0">
            <a:noAutofit/>
          </a:bodyPr>
          <a:lstStyle/>
          <a:p>
            <a:pPr algn="ctr"/>
            <a:r>
              <a:rPr lang="en" sz="1500"/>
              <a:t>Copy by value, not by reference!</a:t>
            </a:r>
            <a:endParaRPr sz="1500"/>
          </a:p>
        </p:txBody>
      </p:sp>
      <p:cxnSp>
        <p:nvCxnSpPr>
          <p:cNvPr id="230" name="Google Shape;230;p21"/>
          <p:cNvCxnSpPr>
            <a:stCxn id="216" idx="3"/>
          </p:cNvCxnSpPr>
          <p:nvPr/>
        </p:nvCxnSpPr>
        <p:spPr>
          <a:xfrm>
            <a:off x="2836607" y="2259419"/>
            <a:ext cx="2218200" cy="790350"/>
          </a:xfrm>
          <a:prstGeom prst="straightConnector1">
            <a:avLst/>
          </a:prstGeom>
          <a:noFill/>
          <a:ln w="38100" cap="flat" cmpd="sng">
            <a:solidFill>
              <a:srgbClr val="FF0000"/>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0"/>
                                        </p:tgtEl>
                                        <p:attrNameLst>
                                          <p:attrName>style.visibility</p:attrName>
                                        </p:attrNameLst>
                                      </p:cBhvr>
                                      <p:to>
                                        <p:strVal val="visible"/>
                                      </p:to>
                                    </p:set>
                                    <p:animEffect transition="in" filter="fade">
                                      <p:cBhvr>
                                        <p:cTn id="7" dur="1000"/>
                                        <p:tgtEl>
                                          <p:spTgt spid="230"/>
                                        </p:tgtEl>
                                      </p:cBhvr>
                                    </p:animEffect>
                                  </p:childTnLst>
                                </p:cTn>
                              </p:par>
                              <p:par>
                                <p:cTn id="8" presetID="10" presetClass="entr" presetSubtype="0" fill="hold" nodeType="withEffect">
                                  <p:stCondLst>
                                    <p:cond delay="0"/>
                                  </p:stCondLst>
                                  <p:childTnLst>
                                    <p:set>
                                      <p:cBhvr>
                                        <p:cTn id="9" dur="1" fill="hold">
                                          <p:stCondLst>
                                            <p:cond delay="0"/>
                                          </p:stCondLst>
                                        </p:cTn>
                                        <p:tgtEl>
                                          <p:spTgt spid="226"/>
                                        </p:tgtEl>
                                        <p:attrNameLst>
                                          <p:attrName>style.visibility</p:attrName>
                                        </p:attrNameLst>
                                      </p:cBhvr>
                                      <p:to>
                                        <p:strVal val="visible"/>
                                      </p:to>
                                    </p:set>
                                    <p:animEffect transition="in" filter="fade">
                                      <p:cBhvr>
                                        <p:cTn id="10" dur="1000"/>
                                        <p:tgtEl>
                                          <p:spTgt spid="22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1000"/>
                                        <p:tgtEl>
                                          <p:spTgt spid="230"/>
                                        </p:tgtEl>
                                      </p:cBhvr>
                                    </p:animEffect>
                                    <p:set>
                                      <p:cBhvr>
                                        <p:cTn id="15" dur="1" fill="hold">
                                          <p:stCondLst>
                                            <p:cond delay="1000"/>
                                          </p:stCondLst>
                                        </p:cTn>
                                        <p:tgtEl>
                                          <p:spTgt spid="230"/>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27"/>
                                        </p:tgtEl>
                                        <p:attrNameLst>
                                          <p:attrName>style.visibility</p:attrName>
                                        </p:attrNameLst>
                                      </p:cBhvr>
                                      <p:to>
                                        <p:strVal val="visible"/>
                                      </p:to>
                                    </p:set>
                                    <p:animEffect transition="in" filter="fade">
                                      <p:cBhvr>
                                        <p:cTn id="20" dur="1000"/>
                                        <p:tgtEl>
                                          <p:spTgt spid="227"/>
                                        </p:tgtEl>
                                      </p:cBhvr>
                                    </p:animEffect>
                                  </p:childTnLst>
                                </p:cTn>
                              </p:par>
                              <p:par>
                                <p:cTn id="21" presetID="10" presetClass="entr" presetSubtype="0" fill="hold" nodeType="withEffect">
                                  <p:stCondLst>
                                    <p:cond delay="0"/>
                                  </p:stCondLst>
                                  <p:childTnLst>
                                    <p:set>
                                      <p:cBhvr>
                                        <p:cTn id="22" dur="1" fill="hold">
                                          <p:stCondLst>
                                            <p:cond delay="0"/>
                                          </p:stCondLst>
                                        </p:cTn>
                                        <p:tgtEl>
                                          <p:spTgt spid="228"/>
                                        </p:tgtEl>
                                        <p:attrNameLst>
                                          <p:attrName>style.visibility</p:attrName>
                                        </p:attrNameLst>
                                      </p:cBhvr>
                                      <p:to>
                                        <p:strVal val="visible"/>
                                      </p:to>
                                    </p:set>
                                    <p:animEffect transition="in" filter="fade">
                                      <p:cBhvr>
                                        <p:cTn id="23" dur="1000"/>
                                        <p:tgtEl>
                                          <p:spTgt spid="22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1000"/>
                                        <p:tgtEl>
                                          <p:spTgt spid="228"/>
                                        </p:tgtEl>
                                      </p:cBhvr>
                                    </p:animEffect>
                                    <p:set>
                                      <p:cBhvr>
                                        <p:cTn id="28" dur="1" fill="hold">
                                          <p:stCondLst>
                                            <p:cond delay="1000"/>
                                          </p:stCondLst>
                                        </p:cTn>
                                        <p:tgtEl>
                                          <p:spTgt spid="228"/>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29"/>
                                        </p:tgtEl>
                                        <p:attrNameLst>
                                          <p:attrName>style.visibility</p:attrName>
                                        </p:attrNameLst>
                                      </p:cBhvr>
                                      <p:to>
                                        <p:strVal val="visible"/>
                                      </p:to>
                                    </p:set>
                                    <p:animEffect transition="in" filter="fade">
                                      <p:cBhvr>
                                        <p:cTn id="33" dur="10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145C3BA-F3C9-1B17-3934-04EB058EB864}"/>
              </a:ext>
            </a:extLst>
          </p:cNvPr>
          <p:cNvSpPr txBox="1"/>
          <p:nvPr/>
        </p:nvSpPr>
        <p:spPr>
          <a:xfrm>
            <a:off x="1305697" y="-6937196"/>
            <a:ext cx="4572000" cy="12003286"/>
          </a:xfrm>
          <a:prstGeom prst="rect">
            <a:avLst/>
          </a:prstGeom>
          <a:noFill/>
        </p:spPr>
        <p:txBody>
          <a:bodyPr wrap="square">
            <a:spAutoFit/>
          </a:bodyPr>
          <a:lstStyle/>
          <a:p>
            <a:r>
              <a:rPr lang="en-US" sz="900" dirty="0"/>
              <a:t>/**</a:t>
            </a:r>
          </a:p>
          <a:p>
            <a:r>
              <a:rPr lang="en-US" sz="900" dirty="0"/>
              <a:t> * </a:t>
            </a:r>
            <a:r>
              <a:rPr lang="en-US" sz="900" dirty="0" err="1"/>
              <a:t>FreeRTOS</a:t>
            </a:r>
            <a:r>
              <a:rPr lang="en-US" sz="900" dirty="0"/>
              <a:t> Queue Demo</a:t>
            </a:r>
          </a:p>
          <a:p>
            <a:r>
              <a:rPr lang="en-US" sz="900" dirty="0"/>
              <a:t> * </a:t>
            </a:r>
          </a:p>
          <a:p>
            <a:r>
              <a:rPr lang="en-US" sz="900" dirty="0"/>
              <a:t> * Send data to the serial terminal using a queue.</a:t>
            </a:r>
          </a:p>
          <a:p>
            <a:r>
              <a:rPr lang="en-US" sz="900" dirty="0"/>
              <a:t> * </a:t>
            </a:r>
          </a:p>
          <a:p>
            <a:r>
              <a:rPr lang="en-US" sz="900" dirty="0"/>
              <a:t> * Date: January 19, 2020</a:t>
            </a:r>
          </a:p>
          <a:p>
            <a:r>
              <a:rPr lang="en-US" sz="900" dirty="0"/>
              <a:t> * Author: Shawn Hymel</a:t>
            </a:r>
          </a:p>
          <a:p>
            <a:r>
              <a:rPr lang="en-US" sz="900" dirty="0"/>
              <a:t> * License: 0BSD</a:t>
            </a:r>
          </a:p>
          <a:p>
            <a:r>
              <a:rPr lang="en-US" sz="900" dirty="0"/>
              <a:t> */</a:t>
            </a:r>
          </a:p>
          <a:p>
            <a:endParaRPr lang="en-US" sz="900" dirty="0"/>
          </a:p>
          <a:p>
            <a:r>
              <a:rPr lang="en-US" sz="900" dirty="0"/>
              <a:t>// Use only core 1 for demo purposes</a:t>
            </a:r>
          </a:p>
          <a:p>
            <a:r>
              <a:rPr lang="en-US" sz="900" dirty="0"/>
              <a:t>#if CONFIG_FREERTOS_UNICORE</a:t>
            </a:r>
          </a:p>
          <a:p>
            <a:r>
              <a:rPr lang="en-US" sz="900" dirty="0"/>
              <a:t>  static const </a:t>
            </a:r>
            <a:r>
              <a:rPr lang="en-US" sz="900" dirty="0" err="1"/>
              <a:t>BaseType_t</a:t>
            </a:r>
            <a:r>
              <a:rPr lang="en-US" sz="900" dirty="0"/>
              <a:t> </a:t>
            </a:r>
            <a:r>
              <a:rPr lang="en-US" sz="900" dirty="0" err="1"/>
              <a:t>app_cpu</a:t>
            </a:r>
            <a:r>
              <a:rPr lang="en-US" sz="900" dirty="0"/>
              <a:t> = 0;</a:t>
            </a:r>
          </a:p>
          <a:p>
            <a:r>
              <a:rPr lang="en-US" sz="900" dirty="0"/>
              <a:t>#else</a:t>
            </a:r>
          </a:p>
          <a:p>
            <a:r>
              <a:rPr lang="en-US" sz="900" dirty="0"/>
              <a:t>  static const </a:t>
            </a:r>
            <a:r>
              <a:rPr lang="en-US" sz="900" dirty="0" err="1"/>
              <a:t>BaseType_t</a:t>
            </a:r>
            <a:r>
              <a:rPr lang="en-US" sz="900" dirty="0"/>
              <a:t> </a:t>
            </a:r>
            <a:r>
              <a:rPr lang="en-US" sz="900" dirty="0" err="1"/>
              <a:t>app_cpu</a:t>
            </a:r>
            <a:r>
              <a:rPr lang="en-US" sz="900" dirty="0"/>
              <a:t> = 1;</a:t>
            </a:r>
          </a:p>
          <a:p>
            <a:r>
              <a:rPr lang="en-US" sz="900" dirty="0"/>
              <a:t>#endif</a:t>
            </a:r>
          </a:p>
          <a:p>
            <a:endParaRPr lang="en-US" sz="900" dirty="0"/>
          </a:p>
          <a:p>
            <a:r>
              <a:rPr lang="en-US" sz="900" dirty="0"/>
              <a:t>// Settings</a:t>
            </a:r>
          </a:p>
          <a:p>
            <a:r>
              <a:rPr lang="en-US" sz="900" dirty="0"/>
              <a:t>static const uint8_t </a:t>
            </a:r>
            <a:r>
              <a:rPr lang="en-US" sz="900" dirty="0" err="1"/>
              <a:t>msg_queue_len</a:t>
            </a:r>
            <a:r>
              <a:rPr lang="en-US" sz="900" dirty="0"/>
              <a:t> = 5;</a:t>
            </a:r>
          </a:p>
          <a:p>
            <a:endParaRPr lang="en-US" sz="900" dirty="0"/>
          </a:p>
          <a:p>
            <a:r>
              <a:rPr lang="en-US" sz="900" dirty="0"/>
              <a:t>// </a:t>
            </a:r>
            <a:r>
              <a:rPr lang="en-US" sz="900" dirty="0" err="1"/>
              <a:t>Globals</a:t>
            </a:r>
            <a:endParaRPr lang="en-US" sz="900" dirty="0"/>
          </a:p>
          <a:p>
            <a:r>
              <a:rPr lang="en-US" sz="900" dirty="0"/>
              <a:t>static </a:t>
            </a:r>
            <a:r>
              <a:rPr lang="en-US" sz="900" dirty="0" err="1"/>
              <a:t>QueueHandle_t</a:t>
            </a:r>
            <a:r>
              <a:rPr lang="en-US" sz="900" dirty="0"/>
              <a:t> </a:t>
            </a:r>
            <a:r>
              <a:rPr lang="en-US" sz="900" dirty="0" err="1"/>
              <a:t>msg_queue</a:t>
            </a:r>
            <a:r>
              <a:rPr lang="en-US" sz="900" dirty="0"/>
              <a:t>;</a:t>
            </a:r>
          </a:p>
          <a:p>
            <a:endParaRPr lang="en-US" sz="900" dirty="0"/>
          </a:p>
          <a:p>
            <a:r>
              <a:rPr lang="en-US" sz="900" dirty="0"/>
              <a:t>//*****************************************************************************</a:t>
            </a:r>
          </a:p>
          <a:p>
            <a:r>
              <a:rPr lang="en-US" sz="900" dirty="0"/>
              <a:t>// Tasks</a:t>
            </a:r>
          </a:p>
          <a:p>
            <a:endParaRPr lang="en-US" sz="900" dirty="0"/>
          </a:p>
          <a:p>
            <a:r>
              <a:rPr lang="en-US" sz="900" dirty="0"/>
              <a:t>// Task: wait for item on queue and print it</a:t>
            </a:r>
          </a:p>
          <a:p>
            <a:r>
              <a:rPr lang="en-US" sz="900" dirty="0"/>
              <a:t>void </a:t>
            </a:r>
            <a:r>
              <a:rPr lang="en-US" sz="900" dirty="0" err="1"/>
              <a:t>printMessages</a:t>
            </a:r>
            <a:r>
              <a:rPr lang="en-US" sz="900" dirty="0"/>
              <a:t>(void *parameters) {</a:t>
            </a:r>
          </a:p>
          <a:p>
            <a:endParaRPr lang="en-US" sz="900" dirty="0"/>
          </a:p>
          <a:p>
            <a:r>
              <a:rPr lang="en-US" sz="900" dirty="0"/>
              <a:t>  int item;</a:t>
            </a:r>
          </a:p>
          <a:p>
            <a:endParaRPr lang="en-US" sz="900" dirty="0"/>
          </a:p>
          <a:p>
            <a:r>
              <a:rPr lang="en-US" sz="900" dirty="0"/>
              <a:t>  // Loop forever</a:t>
            </a:r>
          </a:p>
          <a:p>
            <a:r>
              <a:rPr lang="en-US" sz="900" dirty="0"/>
              <a:t>  while (1) {</a:t>
            </a:r>
          </a:p>
          <a:p>
            <a:endParaRPr lang="en-US" sz="900" dirty="0"/>
          </a:p>
          <a:p>
            <a:r>
              <a:rPr lang="en-US" sz="900" dirty="0"/>
              <a:t>    // See if there's a message in the queue (do not block)</a:t>
            </a:r>
          </a:p>
          <a:p>
            <a:r>
              <a:rPr lang="en-US" sz="900" dirty="0"/>
              <a:t>    if (</a:t>
            </a:r>
            <a:r>
              <a:rPr lang="en-US" sz="900" dirty="0" err="1"/>
              <a:t>xQueueReceive</a:t>
            </a:r>
            <a:r>
              <a:rPr lang="en-US" sz="900" dirty="0"/>
              <a:t>(</a:t>
            </a:r>
            <a:r>
              <a:rPr lang="en-US" sz="900" dirty="0" err="1"/>
              <a:t>msg_queue</a:t>
            </a:r>
            <a:r>
              <a:rPr lang="en-US" sz="900" dirty="0"/>
              <a:t>, (void *)&amp;item, 0) == </a:t>
            </a:r>
            <a:r>
              <a:rPr lang="en-US" sz="900" dirty="0" err="1"/>
              <a:t>pdTRUE</a:t>
            </a:r>
            <a:r>
              <a:rPr lang="en-US" sz="900" dirty="0"/>
              <a:t>) {</a:t>
            </a:r>
          </a:p>
          <a:p>
            <a:r>
              <a:rPr lang="en-US" sz="900" dirty="0"/>
              <a:t>      //</a:t>
            </a:r>
            <a:r>
              <a:rPr lang="en-US" sz="900" dirty="0" err="1"/>
              <a:t>Serial.println</a:t>
            </a:r>
            <a:r>
              <a:rPr lang="en-US" sz="900" dirty="0"/>
              <a:t>(item);</a:t>
            </a:r>
          </a:p>
          <a:p>
            <a:r>
              <a:rPr lang="en-US" sz="900" dirty="0"/>
              <a:t>    }</a:t>
            </a:r>
          </a:p>
          <a:p>
            <a:r>
              <a:rPr lang="en-US" sz="900" dirty="0"/>
              <a:t>    </a:t>
            </a:r>
            <a:r>
              <a:rPr lang="en-US" sz="900" dirty="0" err="1"/>
              <a:t>Serial.println</a:t>
            </a:r>
            <a:r>
              <a:rPr lang="en-US" sz="900" dirty="0"/>
              <a:t>(item);</a:t>
            </a:r>
          </a:p>
          <a:p>
            <a:endParaRPr lang="en-US" sz="900" dirty="0"/>
          </a:p>
          <a:p>
            <a:r>
              <a:rPr lang="en-US" sz="900" dirty="0"/>
              <a:t>    // Wait before trying again</a:t>
            </a:r>
          </a:p>
          <a:p>
            <a:r>
              <a:rPr lang="en-US" sz="900" dirty="0"/>
              <a:t>    </a:t>
            </a:r>
            <a:r>
              <a:rPr lang="en-US" sz="900" dirty="0" err="1"/>
              <a:t>vTaskDelay</a:t>
            </a:r>
            <a:r>
              <a:rPr lang="en-US" sz="900" dirty="0"/>
              <a:t>(500 / </a:t>
            </a:r>
            <a:r>
              <a:rPr lang="en-US" sz="900" dirty="0" err="1"/>
              <a:t>portTICK_PERIOD_MS</a:t>
            </a:r>
            <a:r>
              <a:rPr lang="en-US" sz="900" dirty="0"/>
              <a:t>);</a:t>
            </a:r>
          </a:p>
          <a:p>
            <a:r>
              <a:rPr lang="en-US" sz="900" dirty="0"/>
              <a:t>  }</a:t>
            </a:r>
          </a:p>
          <a:p>
            <a:r>
              <a:rPr lang="en-US" sz="900" dirty="0"/>
              <a:t>}</a:t>
            </a:r>
          </a:p>
          <a:p>
            <a:endParaRPr lang="en-US" sz="900" dirty="0"/>
          </a:p>
          <a:p>
            <a:r>
              <a:rPr lang="en-US" sz="900" dirty="0"/>
              <a:t>//*****************************************************************************</a:t>
            </a:r>
          </a:p>
          <a:p>
            <a:r>
              <a:rPr lang="en-US" sz="900" dirty="0"/>
              <a:t>// Main (runs as its own task with priority 1 on core 1)</a:t>
            </a:r>
          </a:p>
          <a:p>
            <a:endParaRPr lang="en-US" sz="900" dirty="0"/>
          </a:p>
          <a:p>
            <a:r>
              <a:rPr lang="en-US" sz="900" dirty="0"/>
              <a:t>void setup() {</a:t>
            </a:r>
          </a:p>
          <a:p>
            <a:endParaRPr lang="en-US" sz="900" dirty="0"/>
          </a:p>
          <a:p>
            <a:r>
              <a:rPr lang="en-US" sz="900" dirty="0"/>
              <a:t>  // Configure Serial</a:t>
            </a:r>
          </a:p>
          <a:p>
            <a:r>
              <a:rPr lang="en-US" sz="900" dirty="0"/>
              <a:t>  </a:t>
            </a:r>
            <a:r>
              <a:rPr lang="en-US" sz="900" dirty="0" err="1"/>
              <a:t>Serial.begin</a:t>
            </a:r>
            <a:r>
              <a:rPr lang="en-US" sz="900" dirty="0"/>
              <a:t>(115200);</a:t>
            </a:r>
          </a:p>
          <a:p>
            <a:endParaRPr lang="en-US" sz="900" dirty="0"/>
          </a:p>
          <a:p>
            <a:r>
              <a:rPr lang="en-US" sz="900" dirty="0"/>
              <a:t>  // Wait a moment to start (so we don't miss Serial output)</a:t>
            </a:r>
          </a:p>
          <a:p>
            <a:r>
              <a:rPr lang="en-US" sz="900" dirty="0"/>
              <a:t>  </a:t>
            </a:r>
            <a:r>
              <a:rPr lang="en-US" sz="900" dirty="0" err="1"/>
              <a:t>vTaskDelay</a:t>
            </a:r>
            <a:r>
              <a:rPr lang="en-US" sz="900" dirty="0"/>
              <a:t>(1000 / </a:t>
            </a:r>
            <a:r>
              <a:rPr lang="en-US" sz="900" dirty="0" err="1"/>
              <a:t>portTICK_PERIOD_MS</a:t>
            </a:r>
            <a:r>
              <a:rPr lang="en-US" sz="900" dirty="0"/>
              <a:t>);</a:t>
            </a:r>
          </a:p>
          <a:p>
            <a:r>
              <a:rPr lang="en-US" sz="900" dirty="0"/>
              <a:t>  </a:t>
            </a:r>
            <a:r>
              <a:rPr lang="en-US" sz="900" dirty="0" err="1"/>
              <a:t>Serial.println</a:t>
            </a:r>
            <a:r>
              <a:rPr lang="en-US" sz="900" dirty="0"/>
              <a:t>();</a:t>
            </a:r>
          </a:p>
          <a:p>
            <a:r>
              <a:rPr lang="en-US" sz="900" dirty="0"/>
              <a:t>  </a:t>
            </a:r>
            <a:r>
              <a:rPr lang="en-US" sz="900" dirty="0" err="1"/>
              <a:t>Serial.println</a:t>
            </a:r>
            <a:r>
              <a:rPr lang="en-US" sz="900" dirty="0"/>
              <a:t>("---</a:t>
            </a:r>
            <a:r>
              <a:rPr lang="en-US" sz="900" dirty="0" err="1"/>
              <a:t>FreeRTOS</a:t>
            </a:r>
            <a:r>
              <a:rPr lang="en-US" sz="900" dirty="0"/>
              <a:t> Queue Demo---");</a:t>
            </a:r>
          </a:p>
          <a:p>
            <a:endParaRPr lang="en-US" sz="900" dirty="0"/>
          </a:p>
          <a:p>
            <a:r>
              <a:rPr lang="en-US" sz="900" dirty="0"/>
              <a:t>  // Create queue</a:t>
            </a:r>
          </a:p>
          <a:p>
            <a:r>
              <a:rPr lang="en-US" sz="900" dirty="0"/>
              <a:t>  </a:t>
            </a:r>
            <a:r>
              <a:rPr lang="en-US" sz="900" dirty="0" err="1"/>
              <a:t>msg_queue</a:t>
            </a:r>
            <a:r>
              <a:rPr lang="en-US" sz="900" dirty="0"/>
              <a:t> = </a:t>
            </a:r>
            <a:r>
              <a:rPr lang="en-US" sz="900" dirty="0" err="1"/>
              <a:t>xQueueCreate</a:t>
            </a:r>
            <a:r>
              <a:rPr lang="en-US" sz="900" dirty="0"/>
              <a:t>(</a:t>
            </a:r>
            <a:r>
              <a:rPr lang="en-US" sz="900" dirty="0" err="1"/>
              <a:t>msg_queue_len</a:t>
            </a:r>
            <a:r>
              <a:rPr lang="en-US" sz="900" dirty="0"/>
              <a:t>, </a:t>
            </a:r>
            <a:r>
              <a:rPr lang="en-US" sz="900" dirty="0" err="1"/>
              <a:t>sizeof</a:t>
            </a:r>
            <a:r>
              <a:rPr lang="en-US" sz="900" dirty="0"/>
              <a:t>(int));</a:t>
            </a:r>
          </a:p>
          <a:p>
            <a:endParaRPr lang="en-US" sz="900" dirty="0"/>
          </a:p>
          <a:p>
            <a:r>
              <a:rPr lang="en-US" sz="900" dirty="0"/>
              <a:t>  // Start print task</a:t>
            </a:r>
          </a:p>
          <a:p>
            <a:r>
              <a:rPr lang="en-US" sz="900" dirty="0"/>
              <a:t>  </a:t>
            </a:r>
            <a:r>
              <a:rPr lang="en-US" sz="900" dirty="0" err="1"/>
              <a:t>xTaskCreatePinnedToCore</a:t>
            </a:r>
            <a:r>
              <a:rPr lang="en-US" sz="900" dirty="0"/>
              <a:t>(</a:t>
            </a:r>
            <a:r>
              <a:rPr lang="en-US" sz="900" dirty="0" err="1"/>
              <a:t>printMessages</a:t>
            </a:r>
            <a:r>
              <a:rPr lang="en-US" sz="900" dirty="0"/>
              <a:t>,</a:t>
            </a:r>
          </a:p>
          <a:p>
            <a:r>
              <a:rPr lang="en-US" sz="900" dirty="0"/>
              <a:t>                          "Print Messages",</a:t>
            </a:r>
          </a:p>
          <a:p>
            <a:r>
              <a:rPr lang="en-US" sz="900" dirty="0"/>
              <a:t>                          1024,</a:t>
            </a:r>
          </a:p>
          <a:p>
            <a:r>
              <a:rPr lang="en-US" sz="900" dirty="0"/>
              <a:t>                          NULL,</a:t>
            </a:r>
          </a:p>
          <a:p>
            <a:r>
              <a:rPr lang="en-US" sz="900" dirty="0"/>
              <a:t>                          1,</a:t>
            </a:r>
          </a:p>
          <a:p>
            <a:r>
              <a:rPr lang="en-US" sz="900" dirty="0"/>
              <a:t>                          NULL,</a:t>
            </a:r>
          </a:p>
          <a:p>
            <a:r>
              <a:rPr lang="en-US" sz="900" dirty="0"/>
              <a:t>                          </a:t>
            </a:r>
            <a:r>
              <a:rPr lang="en-US" sz="900" dirty="0" err="1"/>
              <a:t>app_cpu</a:t>
            </a:r>
            <a:r>
              <a:rPr lang="en-US" sz="900" dirty="0"/>
              <a:t>);</a:t>
            </a:r>
          </a:p>
          <a:p>
            <a:r>
              <a:rPr lang="en-US" sz="900" dirty="0"/>
              <a:t>}</a:t>
            </a:r>
          </a:p>
          <a:p>
            <a:endParaRPr lang="en-US" sz="900" dirty="0"/>
          </a:p>
          <a:p>
            <a:r>
              <a:rPr lang="en-US" sz="900" dirty="0"/>
              <a:t>void loop() {</a:t>
            </a:r>
          </a:p>
          <a:p>
            <a:endParaRPr lang="en-US" sz="900" dirty="0"/>
          </a:p>
          <a:p>
            <a:r>
              <a:rPr lang="en-US" sz="900" dirty="0"/>
              <a:t>  static int num  = 0;</a:t>
            </a:r>
          </a:p>
          <a:p>
            <a:endParaRPr lang="en-US" sz="900" dirty="0"/>
          </a:p>
          <a:p>
            <a:r>
              <a:rPr lang="en-US" sz="900" dirty="0"/>
              <a:t>  // Try to add item to queue for 10 ticks, fail if queue is full</a:t>
            </a:r>
          </a:p>
          <a:p>
            <a:r>
              <a:rPr lang="en-US" sz="900" dirty="0"/>
              <a:t>  if (</a:t>
            </a:r>
            <a:r>
              <a:rPr lang="en-US" sz="900" dirty="0" err="1"/>
              <a:t>xQueueSend</a:t>
            </a:r>
            <a:r>
              <a:rPr lang="en-US" sz="900" dirty="0"/>
              <a:t>(</a:t>
            </a:r>
            <a:r>
              <a:rPr lang="en-US" sz="900" dirty="0" err="1"/>
              <a:t>msg_queue</a:t>
            </a:r>
            <a:r>
              <a:rPr lang="en-US" sz="900" dirty="0"/>
              <a:t>, (void *)&amp;num, 10) != </a:t>
            </a:r>
            <a:r>
              <a:rPr lang="en-US" sz="900" dirty="0" err="1"/>
              <a:t>pdTRUE</a:t>
            </a:r>
            <a:r>
              <a:rPr lang="en-US" sz="900" dirty="0"/>
              <a:t>) {</a:t>
            </a:r>
          </a:p>
          <a:p>
            <a:r>
              <a:rPr lang="en-US" sz="900" dirty="0"/>
              <a:t>    </a:t>
            </a:r>
            <a:r>
              <a:rPr lang="en-US" sz="900" dirty="0" err="1"/>
              <a:t>Serial.println</a:t>
            </a:r>
            <a:r>
              <a:rPr lang="en-US" sz="900" dirty="0"/>
              <a:t>("Queue full");</a:t>
            </a:r>
          </a:p>
          <a:p>
            <a:r>
              <a:rPr lang="en-US" sz="900" dirty="0"/>
              <a:t>  }</a:t>
            </a:r>
          </a:p>
          <a:p>
            <a:r>
              <a:rPr lang="en-US" sz="900" dirty="0"/>
              <a:t>  num++;</a:t>
            </a:r>
          </a:p>
          <a:p>
            <a:endParaRPr lang="en-US" sz="900" dirty="0"/>
          </a:p>
          <a:p>
            <a:r>
              <a:rPr lang="en-US" sz="900" dirty="0"/>
              <a:t>  // Wait before trying again</a:t>
            </a:r>
          </a:p>
          <a:p>
            <a:r>
              <a:rPr lang="en-US" sz="900" dirty="0"/>
              <a:t>  </a:t>
            </a:r>
            <a:r>
              <a:rPr lang="en-US" sz="900" dirty="0" err="1"/>
              <a:t>vTaskDelay</a:t>
            </a:r>
            <a:r>
              <a:rPr lang="en-US" sz="900" dirty="0"/>
              <a:t>(1000 / </a:t>
            </a:r>
            <a:r>
              <a:rPr lang="en-US" sz="900" dirty="0" err="1"/>
              <a:t>portTICK_PERIOD_MS</a:t>
            </a:r>
            <a:r>
              <a:rPr lang="en-US" sz="900" dirty="0"/>
              <a:t>);</a:t>
            </a:r>
          </a:p>
          <a:p>
            <a:r>
              <a:rPr lang="en-US" sz="900" dirty="0"/>
              <a:t>}</a:t>
            </a:r>
          </a:p>
        </p:txBody>
      </p:sp>
    </p:spTree>
    <p:extLst>
      <p:ext uri="{BB962C8B-B14F-4D97-AF65-F5344CB8AC3E}">
        <p14:creationId xmlns:p14="http://schemas.microsoft.com/office/powerpoint/2010/main" val="209364653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1884F-3FC5-BD75-5DBF-D703A115C28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06F6ADE-38E8-9BD1-9BAC-6EEC08A06413}"/>
              </a:ext>
            </a:extLst>
          </p:cNvPr>
          <p:cNvSpPr txBox="1"/>
          <p:nvPr/>
        </p:nvSpPr>
        <p:spPr>
          <a:xfrm>
            <a:off x="1305697" y="-6937196"/>
            <a:ext cx="4572000" cy="27653724"/>
          </a:xfrm>
          <a:prstGeom prst="rect">
            <a:avLst/>
          </a:prstGeom>
          <a:noFill/>
        </p:spPr>
        <p:txBody>
          <a:bodyPr wrap="square">
            <a:spAutoFit/>
          </a:bodyPr>
          <a:lstStyle/>
          <a:p>
            <a:r>
              <a:rPr lang="en-US" sz="900" dirty="0"/>
              <a:t>/**</a:t>
            </a:r>
          </a:p>
          <a:p>
            <a:r>
              <a:rPr lang="en-US" sz="900" dirty="0"/>
              <a:t> * Solution to 05 - Queue Challenge</a:t>
            </a:r>
          </a:p>
          <a:p>
            <a:r>
              <a:rPr lang="en-US" sz="900" dirty="0"/>
              <a:t> * </a:t>
            </a:r>
          </a:p>
          <a:p>
            <a:r>
              <a:rPr lang="en-US" sz="900" dirty="0"/>
              <a:t> * One task performs basic echo on Serial. If it sees "delay" followed by a</a:t>
            </a:r>
          </a:p>
          <a:p>
            <a:r>
              <a:rPr lang="en-US" sz="900" dirty="0"/>
              <a:t> * number, it sends the number (in a queue) to the second task. If it receives</a:t>
            </a:r>
          </a:p>
          <a:p>
            <a:r>
              <a:rPr lang="en-US" sz="900" dirty="0"/>
              <a:t> * a message in a second queue, it prints it to the console. The second task</a:t>
            </a:r>
          </a:p>
          <a:p>
            <a:r>
              <a:rPr lang="en-US" sz="900" dirty="0"/>
              <a:t> * blinks an LED. When it gets a message from the first queue (number), it</a:t>
            </a:r>
          </a:p>
          <a:p>
            <a:r>
              <a:rPr lang="en-US" sz="900" dirty="0"/>
              <a:t> * updates the blink delay to that number. Whenever the LED blinks 100 times,</a:t>
            </a:r>
          </a:p>
          <a:p>
            <a:r>
              <a:rPr lang="en-US" sz="900" dirty="0"/>
              <a:t> * the second task sends a message to the first task to be printed.</a:t>
            </a:r>
          </a:p>
          <a:p>
            <a:r>
              <a:rPr lang="en-US" sz="900" dirty="0"/>
              <a:t> * </a:t>
            </a:r>
          </a:p>
          <a:p>
            <a:r>
              <a:rPr lang="en-US" sz="900" dirty="0"/>
              <a:t> * Date: January 18, 2021</a:t>
            </a:r>
          </a:p>
          <a:p>
            <a:r>
              <a:rPr lang="en-US" sz="900" dirty="0"/>
              <a:t> * Author: Shawn Hymel</a:t>
            </a:r>
          </a:p>
          <a:p>
            <a:r>
              <a:rPr lang="en-US" sz="900" dirty="0"/>
              <a:t> * License: 0BSD</a:t>
            </a:r>
          </a:p>
          <a:p>
            <a:r>
              <a:rPr lang="en-US" sz="900" dirty="0"/>
              <a:t> */</a:t>
            </a:r>
          </a:p>
          <a:p>
            <a:endParaRPr lang="en-US" sz="900" dirty="0"/>
          </a:p>
          <a:p>
            <a:r>
              <a:rPr lang="en-US" sz="900" dirty="0"/>
              <a:t>// Use only core 1 for demo purposes</a:t>
            </a:r>
          </a:p>
          <a:p>
            <a:r>
              <a:rPr lang="en-US" sz="900" dirty="0"/>
              <a:t>#if CONFIG_FREERTOS_UNICORE</a:t>
            </a:r>
          </a:p>
          <a:p>
            <a:r>
              <a:rPr lang="en-US" sz="900" dirty="0"/>
              <a:t>  static const </a:t>
            </a:r>
            <a:r>
              <a:rPr lang="en-US" sz="900" dirty="0" err="1"/>
              <a:t>BaseType_t</a:t>
            </a:r>
            <a:r>
              <a:rPr lang="en-US" sz="900" dirty="0"/>
              <a:t> </a:t>
            </a:r>
            <a:r>
              <a:rPr lang="en-US" sz="900" dirty="0" err="1"/>
              <a:t>app_cpu</a:t>
            </a:r>
            <a:r>
              <a:rPr lang="en-US" sz="900" dirty="0"/>
              <a:t> = 0;</a:t>
            </a:r>
          </a:p>
          <a:p>
            <a:r>
              <a:rPr lang="en-US" sz="900" dirty="0"/>
              <a:t>#else</a:t>
            </a:r>
          </a:p>
          <a:p>
            <a:r>
              <a:rPr lang="en-US" sz="900" dirty="0"/>
              <a:t>  static const </a:t>
            </a:r>
            <a:r>
              <a:rPr lang="en-US" sz="900" dirty="0" err="1"/>
              <a:t>BaseType_t</a:t>
            </a:r>
            <a:r>
              <a:rPr lang="en-US" sz="900" dirty="0"/>
              <a:t> </a:t>
            </a:r>
            <a:r>
              <a:rPr lang="en-US" sz="900" dirty="0" err="1"/>
              <a:t>app_cpu</a:t>
            </a:r>
            <a:r>
              <a:rPr lang="en-US" sz="900" dirty="0"/>
              <a:t> = 1;</a:t>
            </a:r>
          </a:p>
          <a:p>
            <a:r>
              <a:rPr lang="en-US" sz="900" dirty="0"/>
              <a:t>#endif</a:t>
            </a:r>
          </a:p>
          <a:p>
            <a:endParaRPr lang="en-US" sz="900" dirty="0"/>
          </a:p>
          <a:p>
            <a:r>
              <a:rPr lang="en-US" sz="900" dirty="0"/>
              <a:t>// Settings</a:t>
            </a:r>
          </a:p>
          <a:p>
            <a:r>
              <a:rPr lang="en-US" sz="900" dirty="0"/>
              <a:t>static const uint8_t </a:t>
            </a:r>
            <a:r>
              <a:rPr lang="en-US" sz="900" dirty="0" err="1"/>
              <a:t>buf_len</a:t>
            </a:r>
            <a:r>
              <a:rPr lang="en-US" sz="900" dirty="0"/>
              <a:t> = 255;     // Size of buffer to look for command</a:t>
            </a:r>
          </a:p>
          <a:p>
            <a:r>
              <a:rPr lang="en-US" sz="900" dirty="0"/>
              <a:t>static const char command[] = "delay "; // Note the space!</a:t>
            </a:r>
          </a:p>
          <a:p>
            <a:r>
              <a:rPr lang="en-US" sz="900" dirty="0"/>
              <a:t>static const int </a:t>
            </a:r>
            <a:r>
              <a:rPr lang="en-US" sz="900" dirty="0" err="1"/>
              <a:t>delay_queue_len</a:t>
            </a:r>
            <a:r>
              <a:rPr lang="en-US" sz="900" dirty="0"/>
              <a:t> = 5;   // Size of </a:t>
            </a:r>
            <a:r>
              <a:rPr lang="en-US" sz="900" dirty="0" err="1"/>
              <a:t>delay_queue</a:t>
            </a:r>
            <a:endParaRPr lang="en-US" sz="900" dirty="0"/>
          </a:p>
          <a:p>
            <a:r>
              <a:rPr lang="en-US" sz="900" dirty="0"/>
              <a:t>static const int </a:t>
            </a:r>
            <a:r>
              <a:rPr lang="en-US" sz="900" dirty="0" err="1"/>
              <a:t>msg_queue_len</a:t>
            </a:r>
            <a:r>
              <a:rPr lang="en-US" sz="900" dirty="0"/>
              <a:t> = 5;     // Size of </a:t>
            </a:r>
            <a:r>
              <a:rPr lang="en-US" sz="900" dirty="0" err="1"/>
              <a:t>msg_queue</a:t>
            </a:r>
            <a:endParaRPr lang="en-US" sz="900" dirty="0"/>
          </a:p>
          <a:p>
            <a:r>
              <a:rPr lang="en-US" sz="900" dirty="0"/>
              <a:t>static const uint8_t </a:t>
            </a:r>
            <a:r>
              <a:rPr lang="en-US" sz="900" dirty="0" err="1"/>
              <a:t>blink_max</a:t>
            </a:r>
            <a:r>
              <a:rPr lang="en-US" sz="900" dirty="0"/>
              <a:t> = 100;   // Num times to blink before message</a:t>
            </a:r>
          </a:p>
          <a:p>
            <a:endParaRPr lang="en-US" sz="900" dirty="0"/>
          </a:p>
          <a:p>
            <a:r>
              <a:rPr lang="en-US" sz="900" dirty="0"/>
              <a:t>// Pins (change this if your Arduino board does not have LED_BUILTIN defined)</a:t>
            </a:r>
          </a:p>
          <a:p>
            <a:r>
              <a:rPr lang="en-US" sz="900" dirty="0"/>
              <a:t>static const int </a:t>
            </a:r>
            <a:r>
              <a:rPr lang="en-US" sz="900" dirty="0" err="1"/>
              <a:t>led_pin</a:t>
            </a:r>
            <a:r>
              <a:rPr lang="en-US" sz="900" dirty="0"/>
              <a:t> = LED_BUILTIN;</a:t>
            </a:r>
          </a:p>
          <a:p>
            <a:endParaRPr lang="en-US" sz="900" dirty="0"/>
          </a:p>
          <a:p>
            <a:r>
              <a:rPr lang="en-US" sz="900" dirty="0"/>
              <a:t>// Message struct: used to wrap strings (not necessary, but it's useful to see</a:t>
            </a:r>
          </a:p>
          <a:p>
            <a:r>
              <a:rPr lang="en-US" sz="900" dirty="0"/>
              <a:t>// how to use structs here)</a:t>
            </a:r>
          </a:p>
          <a:p>
            <a:r>
              <a:rPr lang="en-US" sz="900" dirty="0"/>
              <a:t>typedef struct Message {</a:t>
            </a:r>
          </a:p>
          <a:p>
            <a:r>
              <a:rPr lang="en-US" sz="900" dirty="0"/>
              <a:t>  char body[20];</a:t>
            </a:r>
          </a:p>
          <a:p>
            <a:r>
              <a:rPr lang="en-US" sz="900" dirty="0"/>
              <a:t>  int count;</a:t>
            </a:r>
          </a:p>
          <a:p>
            <a:r>
              <a:rPr lang="en-US" sz="900" dirty="0"/>
              <a:t>} Message;</a:t>
            </a:r>
          </a:p>
          <a:p>
            <a:endParaRPr lang="en-US" sz="900" dirty="0"/>
          </a:p>
          <a:p>
            <a:r>
              <a:rPr lang="en-US" sz="900" dirty="0"/>
              <a:t>// </a:t>
            </a:r>
            <a:r>
              <a:rPr lang="en-US" sz="900" dirty="0" err="1"/>
              <a:t>Globals</a:t>
            </a:r>
            <a:endParaRPr lang="en-US" sz="900" dirty="0"/>
          </a:p>
          <a:p>
            <a:r>
              <a:rPr lang="en-US" sz="900" dirty="0"/>
              <a:t>static </a:t>
            </a:r>
            <a:r>
              <a:rPr lang="en-US" sz="900" dirty="0" err="1"/>
              <a:t>QueueHandle_t</a:t>
            </a:r>
            <a:r>
              <a:rPr lang="en-US" sz="900" dirty="0"/>
              <a:t> </a:t>
            </a:r>
            <a:r>
              <a:rPr lang="en-US" sz="900" dirty="0" err="1"/>
              <a:t>delay_queue</a:t>
            </a:r>
            <a:r>
              <a:rPr lang="en-US" sz="900" dirty="0"/>
              <a:t>;</a:t>
            </a:r>
          </a:p>
          <a:p>
            <a:r>
              <a:rPr lang="en-US" sz="900" dirty="0"/>
              <a:t>static </a:t>
            </a:r>
            <a:r>
              <a:rPr lang="en-US" sz="900" dirty="0" err="1"/>
              <a:t>QueueHandle_t</a:t>
            </a:r>
            <a:r>
              <a:rPr lang="en-US" sz="900" dirty="0"/>
              <a:t> </a:t>
            </a:r>
            <a:r>
              <a:rPr lang="en-US" sz="900" dirty="0" err="1"/>
              <a:t>msg_queue</a:t>
            </a:r>
            <a:r>
              <a:rPr lang="en-US" sz="900" dirty="0"/>
              <a:t>;</a:t>
            </a:r>
          </a:p>
          <a:p>
            <a:endParaRPr lang="en-US" sz="900" dirty="0"/>
          </a:p>
          <a:p>
            <a:r>
              <a:rPr lang="en-US" sz="900" dirty="0"/>
              <a:t>//*****************************************************************************</a:t>
            </a:r>
          </a:p>
          <a:p>
            <a:r>
              <a:rPr lang="en-US" sz="900" dirty="0"/>
              <a:t>// Tasks</a:t>
            </a:r>
          </a:p>
          <a:p>
            <a:endParaRPr lang="en-US" sz="900" dirty="0"/>
          </a:p>
          <a:p>
            <a:r>
              <a:rPr lang="en-US" sz="900" dirty="0"/>
              <a:t>// Task: command line interface (CLI)</a:t>
            </a:r>
          </a:p>
          <a:p>
            <a:r>
              <a:rPr lang="en-US" sz="900" dirty="0"/>
              <a:t>void </a:t>
            </a:r>
            <a:r>
              <a:rPr lang="en-US" sz="900" dirty="0" err="1"/>
              <a:t>doCLI</a:t>
            </a:r>
            <a:r>
              <a:rPr lang="en-US" sz="900" dirty="0"/>
              <a:t>(void *parameters) {</a:t>
            </a:r>
          </a:p>
          <a:p>
            <a:endParaRPr lang="en-US" sz="900" dirty="0"/>
          </a:p>
          <a:p>
            <a:r>
              <a:rPr lang="en-US" sz="900" dirty="0"/>
              <a:t>  Message </a:t>
            </a:r>
            <a:r>
              <a:rPr lang="en-US" sz="900" dirty="0" err="1"/>
              <a:t>rcv_msg</a:t>
            </a:r>
            <a:r>
              <a:rPr lang="en-US" sz="900" dirty="0"/>
              <a:t>;</a:t>
            </a:r>
          </a:p>
          <a:p>
            <a:r>
              <a:rPr lang="en-US" sz="900" dirty="0"/>
              <a:t>  char c;</a:t>
            </a:r>
          </a:p>
          <a:p>
            <a:r>
              <a:rPr lang="en-US" sz="900" dirty="0"/>
              <a:t>  char </a:t>
            </a:r>
            <a:r>
              <a:rPr lang="en-US" sz="900" dirty="0" err="1"/>
              <a:t>buf</a:t>
            </a:r>
            <a:r>
              <a:rPr lang="en-US" sz="900" dirty="0"/>
              <a:t>[</a:t>
            </a:r>
            <a:r>
              <a:rPr lang="en-US" sz="900" dirty="0" err="1"/>
              <a:t>buf_len</a:t>
            </a:r>
            <a:r>
              <a:rPr lang="en-US" sz="900" dirty="0"/>
              <a:t>];</a:t>
            </a:r>
          </a:p>
          <a:p>
            <a:r>
              <a:rPr lang="en-US" sz="900" dirty="0"/>
              <a:t>  uint8_t </a:t>
            </a:r>
            <a:r>
              <a:rPr lang="en-US" sz="900" dirty="0" err="1"/>
              <a:t>idx</a:t>
            </a:r>
            <a:r>
              <a:rPr lang="en-US" sz="900" dirty="0"/>
              <a:t> = 0;</a:t>
            </a:r>
          </a:p>
          <a:p>
            <a:r>
              <a:rPr lang="en-US" sz="900" dirty="0"/>
              <a:t>  uint8_t </a:t>
            </a:r>
            <a:r>
              <a:rPr lang="en-US" sz="900" dirty="0" err="1"/>
              <a:t>cmd_len</a:t>
            </a:r>
            <a:r>
              <a:rPr lang="en-US" sz="900" dirty="0"/>
              <a:t> = </a:t>
            </a:r>
            <a:r>
              <a:rPr lang="en-US" sz="900" dirty="0" err="1"/>
              <a:t>strlen</a:t>
            </a:r>
            <a:r>
              <a:rPr lang="en-US" sz="900" dirty="0"/>
              <a:t>(command);</a:t>
            </a:r>
          </a:p>
          <a:p>
            <a:r>
              <a:rPr lang="en-US" sz="900" dirty="0"/>
              <a:t>  int </a:t>
            </a:r>
            <a:r>
              <a:rPr lang="en-US" sz="900" dirty="0" err="1"/>
              <a:t>led_delay</a:t>
            </a:r>
            <a:r>
              <a:rPr lang="en-US" sz="900" dirty="0"/>
              <a:t>;</a:t>
            </a:r>
          </a:p>
          <a:p>
            <a:endParaRPr lang="en-US" sz="900" dirty="0"/>
          </a:p>
          <a:p>
            <a:r>
              <a:rPr lang="en-US" sz="900" dirty="0"/>
              <a:t>  // Clear whole buffer</a:t>
            </a:r>
          </a:p>
          <a:p>
            <a:r>
              <a:rPr lang="en-US" sz="900" dirty="0"/>
              <a:t>  </a:t>
            </a:r>
            <a:r>
              <a:rPr lang="en-US" sz="900" dirty="0" err="1"/>
              <a:t>memset</a:t>
            </a:r>
            <a:r>
              <a:rPr lang="en-US" sz="900" dirty="0"/>
              <a:t>(</a:t>
            </a:r>
            <a:r>
              <a:rPr lang="en-US" sz="900" dirty="0" err="1"/>
              <a:t>buf</a:t>
            </a:r>
            <a:r>
              <a:rPr lang="en-US" sz="900" dirty="0"/>
              <a:t>, 0, </a:t>
            </a:r>
            <a:r>
              <a:rPr lang="en-US" sz="900" dirty="0" err="1"/>
              <a:t>buf_len</a:t>
            </a:r>
            <a:r>
              <a:rPr lang="en-US" sz="900" dirty="0"/>
              <a:t>);</a:t>
            </a:r>
          </a:p>
          <a:p>
            <a:endParaRPr lang="en-US" sz="900" dirty="0"/>
          </a:p>
          <a:p>
            <a:r>
              <a:rPr lang="en-US" sz="900" dirty="0"/>
              <a:t>  // Loop forever</a:t>
            </a:r>
          </a:p>
          <a:p>
            <a:r>
              <a:rPr lang="en-US" sz="900" dirty="0"/>
              <a:t>  while (1) {</a:t>
            </a:r>
          </a:p>
          <a:p>
            <a:endParaRPr lang="en-US" sz="900" dirty="0"/>
          </a:p>
          <a:p>
            <a:r>
              <a:rPr lang="en-US" sz="900" dirty="0"/>
              <a:t>    // See if there's a message in the queue (do not block)</a:t>
            </a:r>
          </a:p>
          <a:p>
            <a:r>
              <a:rPr lang="en-US" sz="900" dirty="0"/>
              <a:t>    if (</a:t>
            </a:r>
            <a:r>
              <a:rPr lang="en-US" sz="900" dirty="0" err="1"/>
              <a:t>xQueueReceive</a:t>
            </a:r>
            <a:r>
              <a:rPr lang="en-US" sz="900" dirty="0"/>
              <a:t>(</a:t>
            </a:r>
            <a:r>
              <a:rPr lang="en-US" sz="900" dirty="0" err="1"/>
              <a:t>msg_queue</a:t>
            </a:r>
            <a:r>
              <a:rPr lang="en-US" sz="900" dirty="0"/>
              <a:t>, (void *)&amp;</a:t>
            </a:r>
            <a:r>
              <a:rPr lang="en-US" sz="900" dirty="0" err="1"/>
              <a:t>rcv_msg</a:t>
            </a:r>
            <a:r>
              <a:rPr lang="en-US" sz="900" dirty="0"/>
              <a:t>, 0) == </a:t>
            </a:r>
            <a:r>
              <a:rPr lang="en-US" sz="900" dirty="0" err="1"/>
              <a:t>pdTRUE</a:t>
            </a:r>
            <a:r>
              <a:rPr lang="en-US" sz="900" dirty="0"/>
              <a:t>) {</a:t>
            </a:r>
          </a:p>
          <a:p>
            <a:r>
              <a:rPr lang="en-US" sz="900" dirty="0"/>
              <a:t>      </a:t>
            </a:r>
            <a:r>
              <a:rPr lang="en-US" sz="900" dirty="0" err="1"/>
              <a:t>Serial.print</a:t>
            </a:r>
            <a:r>
              <a:rPr lang="en-US" sz="900" dirty="0"/>
              <a:t>(</a:t>
            </a:r>
            <a:r>
              <a:rPr lang="en-US" sz="900" dirty="0" err="1"/>
              <a:t>rcv_msg.body</a:t>
            </a:r>
            <a:r>
              <a:rPr lang="en-US" sz="900" dirty="0"/>
              <a:t>);</a:t>
            </a:r>
          </a:p>
          <a:p>
            <a:r>
              <a:rPr lang="en-US" sz="900" dirty="0"/>
              <a:t>      </a:t>
            </a:r>
            <a:r>
              <a:rPr lang="en-US" sz="900" dirty="0" err="1"/>
              <a:t>Serial.println</a:t>
            </a:r>
            <a:r>
              <a:rPr lang="en-US" sz="900" dirty="0"/>
              <a:t>(</a:t>
            </a:r>
            <a:r>
              <a:rPr lang="en-US" sz="900" dirty="0" err="1"/>
              <a:t>rcv_msg.count</a:t>
            </a:r>
            <a:r>
              <a:rPr lang="en-US" sz="900" dirty="0"/>
              <a:t>);</a:t>
            </a:r>
          </a:p>
          <a:p>
            <a:r>
              <a:rPr lang="en-US" sz="900" dirty="0"/>
              <a:t>    }</a:t>
            </a:r>
          </a:p>
          <a:p>
            <a:endParaRPr lang="en-US" sz="900" dirty="0"/>
          </a:p>
          <a:p>
            <a:r>
              <a:rPr lang="en-US" sz="900" dirty="0"/>
              <a:t>    // Read characters from serial</a:t>
            </a:r>
          </a:p>
          <a:p>
            <a:r>
              <a:rPr lang="en-US" sz="900" dirty="0"/>
              <a:t>    if (</a:t>
            </a:r>
            <a:r>
              <a:rPr lang="en-US" sz="900" dirty="0" err="1"/>
              <a:t>Serial.available</a:t>
            </a:r>
            <a:r>
              <a:rPr lang="en-US" sz="900" dirty="0"/>
              <a:t>() &gt; 0) {</a:t>
            </a:r>
          </a:p>
          <a:p>
            <a:r>
              <a:rPr lang="en-US" sz="900" dirty="0"/>
              <a:t>      c = </a:t>
            </a:r>
            <a:r>
              <a:rPr lang="en-US" sz="900" dirty="0" err="1"/>
              <a:t>Serial.read</a:t>
            </a:r>
            <a:r>
              <a:rPr lang="en-US" sz="900" dirty="0"/>
              <a:t>();</a:t>
            </a:r>
          </a:p>
          <a:p>
            <a:endParaRPr lang="en-US" sz="900" dirty="0"/>
          </a:p>
          <a:p>
            <a:r>
              <a:rPr lang="en-US" sz="900" dirty="0"/>
              <a:t>      // Store received character to buffer if not over buffer limit</a:t>
            </a:r>
          </a:p>
          <a:p>
            <a:r>
              <a:rPr lang="en-US" sz="900" dirty="0"/>
              <a:t>      if (</a:t>
            </a:r>
            <a:r>
              <a:rPr lang="en-US" sz="900" dirty="0" err="1"/>
              <a:t>idx</a:t>
            </a:r>
            <a:r>
              <a:rPr lang="en-US" sz="900" dirty="0"/>
              <a:t> &lt; </a:t>
            </a:r>
            <a:r>
              <a:rPr lang="en-US" sz="900" dirty="0" err="1"/>
              <a:t>buf_len</a:t>
            </a:r>
            <a:r>
              <a:rPr lang="en-US" sz="900" dirty="0"/>
              <a:t> - 1) {</a:t>
            </a:r>
          </a:p>
          <a:p>
            <a:r>
              <a:rPr lang="en-US" sz="900" dirty="0"/>
              <a:t>        </a:t>
            </a:r>
            <a:r>
              <a:rPr lang="en-US" sz="900" dirty="0" err="1"/>
              <a:t>buf</a:t>
            </a:r>
            <a:r>
              <a:rPr lang="en-US" sz="900" dirty="0"/>
              <a:t>[</a:t>
            </a:r>
            <a:r>
              <a:rPr lang="en-US" sz="900" dirty="0" err="1"/>
              <a:t>idx</a:t>
            </a:r>
            <a:r>
              <a:rPr lang="en-US" sz="900" dirty="0"/>
              <a:t>] = c;</a:t>
            </a:r>
          </a:p>
          <a:p>
            <a:r>
              <a:rPr lang="en-US" sz="900" dirty="0"/>
              <a:t>        </a:t>
            </a:r>
            <a:r>
              <a:rPr lang="en-US" sz="900" dirty="0" err="1"/>
              <a:t>idx</a:t>
            </a:r>
            <a:r>
              <a:rPr lang="en-US" sz="900" dirty="0"/>
              <a:t>++;</a:t>
            </a:r>
          </a:p>
          <a:p>
            <a:r>
              <a:rPr lang="en-US" sz="900" dirty="0"/>
              <a:t>      }</a:t>
            </a:r>
          </a:p>
          <a:p>
            <a:endParaRPr lang="en-US" sz="900" dirty="0"/>
          </a:p>
          <a:p>
            <a:r>
              <a:rPr lang="en-US" sz="900" dirty="0"/>
              <a:t>      // Print newline and check input on 'enter'</a:t>
            </a:r>
          </a:p>
          <a:p>
            <a:r>
              <a:rPr lang="en-US" sz="900" dirty="0"/>
              <a:t>      if ((c == '\n') || (c == '\r')) {</a:t>
            </a:r>
          </a:p>
          <a:p>
            <a:endParaRPr lang="en-US" sz="900" dirty="0"/>
          </a:p>
          <a:p>
            <a:r>
              <a:rPr lang="en-US" sz="900" dirty="0"/>
              <a:t>        // Print newline to terminal</a:t>
            </a:r>
          </a:p>
          <a:p>
            <a:r>
              <a:rPr lang="en-US" sz="900" dirty="0"/>
              <a:t>        </a:t>
            </a:r>
            <a:r>
              <a:rPr lang="en-US" sz="900" dirty="0" err="1"/>
              <a:t>Serial.print</a:t>
            </a:r>
            <a:r>
              <a:rPr lang="en-US" sz="900" dirty="0"/>
              <a:t>("\r\n");</a:t>
            </a:r>
          </a:p>
          <a:p>
            <a:endParaRPr lang="en-US" sz="900" dirty="0"/>
          </a:p>
          <a:p>
            <a:r>
              <a:rPr lang="en-US" sz="900" dirty="0"/>
              <a:t>        // Check if the first 6 characters are "delay "</a:t>
            </a:r>
          </a:p>
          <a:p>
            <a:r>
              <a:rPr lang="en-US" sz="900" dirty="0"/>
              <a:t>        if (</a:t>
            </a:r>
            <a:r>
              <a:rPr lang="en-US" sz="900" dirty="0" err="1"/>
              <a:t>memcmp</a:t>
            </a:r>
            <a:r>
              <a:rPr lang="en-US" sz="900" dirty="0"/>
              <a:t>(</a:t>
            </a:r>
            <a:r>
              <a:rPr lang="en-US" sz="900" dirty="0" err="1"/>
              <a:t>buf</a:t>
            </a:r>
            <a:r>
              <a:rPr lang="en-US" sz="900" dirty="0"/>
              <a:t>, command, </a:t>
            </a:r>
            <a:r>
              <a:rPr lang="en-US" sz="900" dirty="0" err="1"/>
              <a:t>cmd_len</a:t>
            </a:r>
            <a:r>
              <a:rPr lang="en-US" sz="900" dirty="0"/>
              <a:t>) == 0) {</a:t>
            </a:r>
          </a:p>
          <a:p>
            <a:endParaRPr lang="en-US" sz="900" dirty="0"/>
          </a:p>
          <a:p>
            <a:r>
              <a:rPr lang="en-US" sz="900" dirty="0"/>
              <a:t>          // Convert last part to positive integer (negative int crashes)</a:t>
            </a:r>
          </a:p>
          <a:p>
            <a:r>
              <a:rPr lang="en-US" sz="900" dirty="0"/>
              <a:t>          char* tail = </a:t>
            </a:r>
            <a:r>
              <a:rPr lang="en-US" sz="900" dirty="0" err="1"/>
              <a:t>buf</a:t>
            </a:r>
            <a:r>
              <a:rPr lang="en-US" sz="900" dirty="0"/>
              <a:t> + </a:t>
            </a:r>
            <a:r>
              <a:rPr lang="en-US" sz="900" dirty="0" err="1"/>
              <a:t>cmd_len</a:t>
            </a:r>
            <a:r>
              <a:rPr lang="en-US" sz="900" dirty="0"/>
              <a:t>;</a:t>
            </a:r>
          </a:p>
          <a:p>
            <a:r>
              <a:rPr lang="en-US" sz="900" dirty="0"/>
              <a:t>          </a:t>
            </a:r>
            <a:r>
              <a:rPr lang="en-US" sz="900" dirty="0" err="1"/>
              <a:t>led_delay</a:t>
            </a:r>
            <a:r>
              <a:rPr lang="en-US" sz="900" dirty="0"/>
              <a:t> = </a:t>
            </a:r>
            <a:r>
              <a:rPr lang="en-US" sz="900" dirty="0" err="1"/>
              <a:t>atoi</a:t>
            </a:r>
            <a:r>
              <a:rPr lang="en-US" sz="900" dirty="0"/>
              <a:t>(tail);</a:t>
            </a:r>
          </a:p>
          <a:p>
            <a:r>
              <a:rPr lang="en-US" sz="900" dirty="0"/>
              <a:t>          </a:t>
            </a:r>
            <a:r>
              <a:rPr lang="en-US" sz="900" dirty="0" err="1"/>
              <a:t>led_delay</a:t>
            </a:r>
            <a:r>
              <a:rPr lang="en-US" sz="900" dirty="0"/>
              <a:t> = abs(</a:t>
            </a:r>
            <a:r>
              <a:rPr lang="en-US" sz="900" dirty="0" err="1"/>
              <a:t>led_delay</a:t>
            </a:r>
            <a:r>
              <a:rPr lang="en-US" sz="900" dirty="0"/>
              <a:t>);</a:t>
            </a:r>
          </a:p>
          <a:p>
            <a:endParaRPr lang="en-US" sz="900" dirty="0"/>
          </a:p>
          <a:p>
            <a:r>
              <a:rPr lang="en-US" sz="900" dirty="0"/>
              <a:t>          // Send integer to other task via queue</a:t>
            </a:r>
          </a:p>
          <a:p>
            <a:r>
              <a:rPr lang="en-US" sz="900" dirty="0"/>
              <a:t>          if (</a:t>
            </a:r>
            <a:r>
              <a:rPr lang="en-US" sz="900" dirty="0" err="1"/>
              <a:t>xQueueSend</a:t>
            </a:r>
            <a:r>
              <a:rPr lang="en-US" sz="900" dirty="0"/>
              <a:t>(</a:t>
            </a:r>
            <a:r>
              <a:rPr lang="en-US" sz="900" dirty="0" err="1"/>
              <a:t>delay_queue</a:t>
            </a:r>
            <a:r>
              <a:rPr lang="en-US" sz="900" dirty="0"/>
              <a:t>, (void *)&amp;</a:t>
            </a:r>
            <a:r>
              <a:rPr lang="en-US" sz="900" dirty="0" err="1"/>
              <a:t>led_delay</a:t>
            </a:r>
            <a:r>
              <a:rPr lang="en-US" sz="900" dirty="0"/>
              <a:t>, 10) != </a:t>
            </a:r>
            <a:r>
              <a:rPr lang="en-US" sz="900" dirty="0" err="1"/>
              <a:t>pdTRUE</a:t>
            </a:r>
            <a:r>
              <a:rPr lang="en-US" sz="900" dirty="0"/>
              <a:t>) {</a:t>
            </a:r>
          </a:p>
          <a:p>
            <a:r>
              <a:rPr lang="en-US" sz="900" dirty="0"/>
              <a:t>            </a:t>
            </a:r>
            <a:r>
              <a:rPr lang="en-US" sz="900" dirty="0" err="1"/>
              <a:t>Serial.println</a:t>
            </a:r>
            <a:r>
              <a:rPr lang="en-US" sz="900" dirty="0"/>
              <a:t>("ERROR: Could not put item on delay queue.");</a:t>
            </a:r>
          </a:p>
          <a:p>
            <a:r>
              <a:rPr lang="en-US" sz="900" dirty="0"/>
              <a:t>          }</a:t>
            </a:r>
          </a:p>
          <a:p>
            <a:r>
              <a:rPr lang="en-US" sz="900" dirty="0"/>
              <a:t>        }</a:t>
            </a:r>
          </a:p>
          <a:p>
            <a:endParaRPr lang="en-US" sz="900" dirty="0"/>
          </a:p>
          <a:p>
            <a:r>
              <a:rPr lang="en-US" sz="900" dirty="0"/>
              <a:t>        // Reset receive buffer and index counter</a:t>
            </a:r>
          </a:p>
          <a:p>
            <a:r>
              <a:rPr lang="en-US" sz="900" dirty="0"/>
              <a:t>        </a:t>
            </a:r>
            <a:r>
              <a:rPr lang="en-US" sz="900" dirty="0" err="1"/>
              <a:t>memset</a:t>
            </a:r>
            <a:r>
              <a:rPr lang="en-US" sz="900" dirty="0"/>
              <a:t>(</a:t>
            </a:r>
            <a:r>
              <a:rPr lang="en-US" sz="900" dirty="0" err="1"/>
              <a:t>buf</a:t>
            </a:r>
            <a:r>
              <a:rPr lang="en-US" sz="900" dirty="0"/>
              <a:t>, 0, </a:t>
            </a:r>
            <a:r>
              <a:rPr lang="en-US" sz="900" dirty="0" err="1"/>
              <a:t>buf_len</a:t>
            </a:r>
            <a:r>
              <a:rPr lang="en-US" sz="900" dirty="0"/>
              <a:t>);</a:t>
            </a:r>
          </a:p>
          <a:p>
            <a:r>
              <a:rPr lang="en-US" sz="900" dirty="0"/>
              <a:t>        </a:t>
            </a:r>
            <a:r>
              <a:rPr lang="en-US" sz="900" dirty="0" err="1"/>
              <a:t>idx</a:t>
            </a:r>
            <a:r>
              <a:rPr lang="en-US" sz="900" dirty="0"/>
              <a:t> = 0;</a:t>
            </a:r>
          </a:p>
          <a:p>
            <a:endParaRPr lang="en-US" sz="900" dirty="0"/>
          </a:p>
          <a:p>
            <a:r>
              <a:rPr lang="en-US" sz="900" dirty="0"/>
              <a:t>      // Otherwise, echo character back to serial terminal</a:t>
            </a:r>
          </a:p>
          <a:p>
            <a:r>
              <a:rPr lang="en-US" sz="900" dirty="0"/>
              <a:t>      } else {</a:t>
            </a:r>
          </a:p>
          <a:p>
            <a:r>
              <a:rPr lang="en-US" sz="900" dirty="0"/>
              <a:t>        </a:t>
            </a:r>
            <a:r>
              <a:rPr lang="en-US" sz="900" dirty="0" err="1"/>
              <a:t>Serial.print</a:t>
            </a:r>
            <a:r>
              <a:rPr lang="en-US" sz="900" dirty="0"/>
              <a:t>(c);</a:t>
            </a:r>
          </a:p>
          <a:p>
            <a:r>
              <a:rPr lang="en-US" sz="900" dirty="0"/>
              <a:t>      }</a:t>
            </a:r>
          </a:p>
          <a:p>
            <a:r>
              <a:rPr lang="en-US" sz="900" dirty="0"/>
              <a:t>    } </a:t>
            </a:r>
          </a:p>
          <a:p>
            <a:r>
              <a:rPr lang="en-US" sz="900" dirty="0"/>
              <a:t>  }</a:t>
            </a:r>
          </a:p>
          <a:p>
            <a:r>
              <a:rPr lang="en-US" sz="900" dirty="0"/>
              <a:t>}</a:t>
            </a:r>
          </a:p>
          <a:p>
            <a:endParaRPr lang="en-US" sz="900" dirty="0"/>
          </a:p>
          <a:p>
            <a:r>
              <a:rPr lang="en-US" sz="900" dirty="0"/>
              <a:t>// Task: flash LED based on delay provided, notify other task every 100 blinks</a:t>
            </a:r>
          </a:p>
          <a:p>
            <a:r>
              <a:rPr lang="en-US" sz="900" dirty="0"/>
              <a:t>void </a:t>
            </a:r>
            <a:r>
              <a:rPr lang="en-US" sz="900" dirty="0" err="1"/>
              <a:t>blinkLED</a:t>
            </a:r>
            <a:r>
              <a:rPr lang="en-US" sz="900" dirty="0"/>
              <a:t>(void *parameters) {</a:t>
            </a:r>
          </a:p>
          <a:p>
            <a:endParaRPr lang="en-US" sz="900" dirty="0"/>
          </a:p>
          <a:p>
            <a:r>
              <a:rPr lang="en-US" sz="900" dirty="0"/>
              <a:t>  Message msg;</a:t>
            </a:r>
          </a:p>
          <a:p>
            <a:r>
              <a:rPr lang="en-US" sz="900" dirty="0"/>
              <a:t>  int </a:t>
            </a:r>
            <a:r>
              <a:rPr lang="en-US" sz="900" dirty="0" err="1"/>
              <a:t>led_delay</a:t>
            </a:r>
            <a:r>
              <a:rPr lang="en-US" sz="900" dirty="0"/>
              <a:t> = 500;</a:t>
            </a:r>
          </a:p>
          <a:p>
            <a:r>
              <a:rPr lang="en-US" sz="900" dirty="0"/>
              <a:t>  uint8_t counter = 0;</a:t>
            </a:r>
          </a:p>
          <a:p>
            <a:endParaRPr lang="en-US" sz="900" dirty="0"/>
          </a:p>
          <a:p>
            <a:r>
              <a:rPr lang="en-US" sz="900" dirty="0"/>
              <a:t>  // Set up pin</a:t>
            </a:r>
          </a:p>
          <a:p>
            <a:r>
              <a:rPr lang="en-US" sz="900" dirty="0"/>
              <a:t>  </a:t>
            </a:r>
            <a:r>
              <a:rPr lang="en-US" sz="900" dirty="0" err="1"/>
              <a:t>pinMode</a:t>
            </a:r>
            <a:r>
              <a:rPr lang="en-US" sz="900" dirty="0"/>
              <a:t>(LED_BUILTIN, OUTPUT);</a:t>
            </a:r>
          </a:p>
          <a:p>
            <a:endParaRPr lang="en-US" sz="900" dirty="0"/>
          </a:p>
          <a:p>
            <a:r>
              <a:rPr lang="en-US" sz="900" dirty="0"/>
              <a:t>  // Loop forever</a:t>
            </a:r>
          </a:p>
          <a:p>
            <a:r>
              <a:rPr lang="en-US" sz="900" dirty="0"/>
              <a:t>  while (1) {</a:t>
            </a:r>
          </a:p>
          <a:p>
            <a:endParaRPr lang="en-US" sz="900" dirty="0"/>
          </a:p>
          <a:p>
            <a:r>
              <a:rPr lang="en-US" sz="900" dirty="0"/>
              <a:t>    // See if there's a message in the queue (do not block)</a:t>
            </a:r>
          </a:p>
          <a:p>
            <a:r>
              <a:rPr lang="en-US" sz="900" dirty="0"/>
              <a:t>    if (</a:t>
            </a:r>
            <a:r>
              <a:rPr lang="en-US" sz="900" dirty="0" err="1"/>
              <a:t>xQueueReceive</a:t>
            </a:r>
            <a:r>
              <a:rPr lang="en-US" sz="900" dirty="0"/>
              <a:t>(</a:t>
            </a:r>
            <a:r>
              <a:rPr lang="en-US" sz="900" dirty="0" err="1"/>
              <a:t>delay_queue</a:t>
            </a:r>
            <a:r>
              <a:rPr lang="en-US" sz="900" dirty="0"/>
              <a:t>, (void *)&amp;</a:t>
            </a:r>
            <a:r>
              <a:rPr lang="en-US" sz="900" dirty="0" err="1"/>
              <a:t>led_delay</a:t>
            </a:r>
            <a:r>
              <a:rPr lang="en-US" sz="900" dirty="0"/>
              <a:t>, 0) == </a:t>
            </a:r>
            <a:r>
              <a:rPr lang="en-US" sz="900" dirty="0" err="1"/>
              <a:t>pdTRUE</a:t>
            </a:r>
            <a:r>
              <a:rPr lang="en-US" sz="900" dirty="0"/>
              <a:t>) {</a:t>
            </a:r>
          </a:p>
          <a:p>
            <a:endParaRPr lang="en-US" sz="900" dirty="0"/>
          </a:p>
          <a:p>
            <a:r>
              <a:rPr lang="en-US" sz="900" dirty="0"/>
              <a:t>      // Best practice: use only one task to manage serial comms</a:t>
            </a:r>
          </a:p>
          <a:p>
            <a:r>
              <a:rPr lang="en-US" sz="900" dirty="0"/>
              <a:t>      </a:t>
            </a:r>
            <a:r>
              <a:rPr lang="en-US" sz="900" dirty="0" err="1"/>
              <a:t>strcpy</a:t>
            </a:r>
            <a:r>
              <a:rPr lang="en-US" sz="900" dirty="0"/>
              <a:t>(</a:t>
            </a:r>
            <a:r>
              <a:rPr lang="en-US" sz="900" dirty="0" err="1"/>
              <a:t>msg.body</a:t>
            </a:r>
            <a:r>
              <a:rPr lang="en-US" sz="900" dirty="0"/>
              <a:t>, "Message received ");</a:t>
            </a:r>
          </a:p>
          <a:p>
            <a:r>
              <a:rPr lang="en-US" sz="900" dirty="0"/>
              <a:t>      </a:t>
            </a:r>
            <a:r>
              <a:rPr lang="en-US" sz="900" dirty="0" err="1"/>
              <a:t>msg.count</a:t>
            </a:r>
            <a:r>
              <a:rPr lang="en-US" sz="900" dirty="0"/>
              <a:t> = 1;</a:t>
            </a:r>
          </a:p>
          <a:p>
            <a:r>
              <a:rPr lang="en-US" sz="900" dirty="0"/>
              <a:t>      </a:t>
            </a:r>
            <a:r>
              <a:rPr lang="en-US" sz="900" dirty="0" err="1"/>
              <a:t>xQueueSend</a:t>
            </a:r>
            <a:r>
              <a:rPr lang="en-US" sz="900" dirty="0"/>
              <a:t>(</a:t>
            </a:r>
            <a:r>
              <a:rPr lang="en-US" sz="900" dirty="0" err="1"/>
              <a:t>msg_queue</a:t>
            </a:r>
            <a:r>
              <a:rPr lang="en-US" sz="900" dirty="0"/>
              <a:t>, (void *)&amp;msg, 10);</a:t>
            </a:r>
          </a:p>
          <a:p>
            <a:r>
              <a:rPr lang="en-US" sz="900" dirty="0"/>
              <a:t>    }</a:t>
            </a:r>
          </a:p>
          <a:p>
            <a:endParaRPr lang="en-US" sz="900" dirty="0"/>
          </a:p>
          <a:p>
            <a:r>
              <a:rPr lang="en-US" sz="900" dirty="0"/>
              <a:t>    // Blink</a:t>
            </a:r>
          </a:p>
          <a:p>
            <a:r>
              <a:rPr lang="en-US" sz="900" dirty="0"/>
              <a:t>    </a:t>
            </a:r>
            <a:r>
              <a:rPr lang="en-US" sz="900" dirty="0" err="1"/>
              <a:t>digitalWrite</a:t>
            </a:r>
            <a:r>
              <a:rPr lang="en-US" sz="900" dirty="0"/>
              <a:t>(</a:t>
            </a:r>
            <a:r>
              <a:rPr lang="en-US" sz="900" dirty="0" err="1"/>
              <a:t>led_pin</a:t>
            </a:r>
            <a:r>
              <a:rPr lang="en-US" sz="900" dirty="0"/>
              <a:t>, HIGH);</a:t>
            </a:r>
          </a:p>
          <a:p>
            <a:r>
              <a:rPr lang="en-US" sz="900" dirty="0"/>
              <a:t>    </a:t>
            </a:r>
            <a:r>
              <a:rPr lang="en-US" sz="900" dirty="0" err="1"/>
              <a:t>vTaskDelay</a:t>
            </a:r>
            <a:r>
              <a:rPr lang="en-US" sz="900" dirty="0"/>
              <a:t>(</a:t>
            </a:r>
            <a:r>
              <a:rPr lang="en-US" sz="900" dirty="0" err="1"/>
              <a:t>led_delay</a:t>
            </a:r>
            <a:r>
              <a:rPr lang="en-US" sz="900" dirty="0"/>
              <a:t> / </a:t>
            </a:r>
            <a:r>
              <a:rPr lang="en-US" sz="900" dirty="0" err="1"/>
              <a:t>portTICK_PERIOD_MS</a:t>
            </a:r>
            <a:r>
              <a:rPr lang="en-US" sz="900" dirty="0"/>
              <a:t>);</a:t>
            </a:r>
          </a:p>
          <a:p>
            <a:r>
              <a:rPr lang="en-US" sz="900" dirty="0"/>
              <a:t>    </a:t>
            </a:r>
            <a:r>
              <a:rPr lang="en-US" sz="900" dirty="0" err="1"/>
              <a:t>digitalWrite</a:t>
            </a:r>
            <a:r>
              <a:rPr lang="en-US" sz="900" dirty="0"/>
              <a:t>(</a:t>
            </a:r>
            <a:r>
              <a:rPr lang="en-US" sz="900" dirty="0" err="1"/>
              <a:t>led_pin</a:t>
            </a:r>
            <a:r>
              <a:rPr lang="en-US" sz="900" dirty="0"/>
              <a:t>, LOW);</a:t>
            </a:r>
          </a:p>
          <a:p>
            <a:r>
              <a:rPr lang="en-US" sz="900" dirty="0"/>
              <a:t>    </a:t>
            </a:r>
            <a:r>
              <a:rPr lang="en-US" sz="900" dirty="0" err="1"/>
              <a:t>vTaskDelay</a:t>
            </a:r>
            <a:r>
              <a:rPr lang="en-US" sz="900" dirty="0"/>
              <a:t>(</a:t>
            </a:r>
            <a:r>
              <a:rPr lang="en-US" sz="900" dirty="0" err="1"/>
              <a:t>led_delay</a:t>
            </a:r>
            <a:r>
              <a:rPr lang="en-US" sz="900" dirty="0"/>
              <a:t> / </a:t>
            </a:r>
            <a:r>
              <a:rPr lang="en-US" sz="900" dirty="0" err="1"/>
              <a:t>portTICK_PERIOD_MS</a:t>
            </a:r>
            <a:r>
              <a:rPr lang="en-US" sz="900" dirty="0"/>
              <a:t>);</a:t>
            </a:r>
          </a:p>
          <a:p>
            <a:endParaRPr lang="en-US" sz="900" dirty="0"/>
          </a:p>
          <a:p>
            <a:r>
              <a:rPr lang="en-US" sz="900" dirty="0"/>
              <a:t>    // If we've blinked 100 times, send a message to the other task</a:t>
            </a:r>
          </a:p>
          <a:p>
            <a:r>
              <a:rPr lang="en-US" sz="900" dirty="0"/>
              <a:t>    counter++;</a:t>
            </a:r>
          </a:p>
          <a:p>
            <a:r>
              <a:rPr lang="en-US" sz="900" dirty="0"/>
              <a:t>    if (counter &gt;= </a:t>
            </a:r>
            <a:r>
              <a:rPr lang="en-US" sz="900" dirty="0" err="1"/>
              <a:t>blink_max</a:t>
            </a:r>
            <a:r>
              <a:rPr lang="en-US" sz="900" dirty="0"/>
              <a:t>) {</a:t>
            </a:r>
          </a:p>
          <a:p>
            <a:r>
              <a:rPr lang="en-US" sz="900" dirty="0"/>
              <a:t>      </a:t>
            </a:r>
          </a:p>
          <a:p>
            <a:r>
              <a:rPr lang="en-US" sz="900" dirty="0"/>
              <a:t>      // Construct message and send</a:t>
            </a:r>
          </a:p>
          <a:p>
            <a:r>
              <a:rPr lang="en-US" sz="900" dirty="0"/>
              <a:t>      </a:t>
            </a:r>
            <a:r>
              <a:rPr lang="en-US" sz="900" dirty="0" err="1"/>
              <a:t>strcpy</a:t>
            </a:r>
            <a:r>
              <a:rPr lang="en-US" sz="900" dirty="0"/>
              <a:t>(</a:t>
            </a:r>
            <a:r>
              <a:rPr lang="en-US" sz="900" dirty="0" err="1"/>
              <a:t>msg.body</a:t>
            </a:r>
            <a:r>
              <a:rPr lang="en-US" sz="900" dirty="0"/>
              <a:t>, "Blinked: ");</a:t>
            </a:r>
          </a:p>
          <a:p>
            <a:r>
              <a:rPr lang="en-US" sz="900" dirty="0"/>
              <a:t>      </a:t>
            </a:r>
            <a:r>
              <a:rPr lang="en-US" sz="900" dirty="0" err="1"/>
              <a:t>msg.count</a:t>
            </a:r>
            <a:r>
              <a:rPr lang="en-US" sz="900" dirty="0"/>
              <a:t> = counter;</a:t>
            </a:r>
          </a:p>
          <a:p>
            <a:r>
              <a:rPr lang="en-US" sz="900" dirty="0"/>
              <a:t>      </a:t>
            </a:r>
            <a:r>
              <a:rPr lang="en-US" sz="900" dirty="0" err="1"/>
              <a:t>xQueueSend</a:t>
            </a:r>
            <a:r>
              <a:rPr lang="en-US" sz="900" dirty="0"/>
              <a:t>(</a:t>
            </a:r>
            <a:r>
              <a:rPr lang="en-US" sz="900" dirty="0" err="1"/>
              <a:t>msg_queue</a:t>
            </a:r>
            <a:r>
              <a:rPr lang="en-US" sz="900" dirty="0"/>
              <a:t>, (void *)&amp;msg, 10);</a:t>
            </a:r>
          </a:p>
          <a:p>
            <a:endParaRPr lang="en-US" sz="900" dirty="0"/>
          </a:p>
          <a:p>
            <a:r>
              <a:rPr lang="en-US" sz="900" dirty="0"/>
              <a:t>      // Reset counter</a:t>
            </a:r>
          </a:p>
          <a:p>
            <a:r>
              <a:rPr lang="en-US" sz="900" dirty="0"/>
              <a:t>      counter = 0;</a:t>
            </a:r>
          </a:p>
          <a:p>
            <a:r>
              <a:rPr lang="en-US" sz="900" dirty="0"/>
              <a:t>    }</a:t>
            </a:r>
          </a:p>
          <a:p>
            <a:r>
              <a:rPr lang="en-US" sz="900" dirty="0"/>
              <a:t>  }</a:t>
            </a:r>
          </a:p>
          <a:p>
            <a:r>
              <a:rPr lang="en-US" sz="900" dirty="0"/>
              <a:t>}</a:t>
            </a:r>
          </a:p>
          <a:p>
            <a:endParaRPr lang="en-US" sz="900" dirty="0"/>
          </a:p>
          <a:p>
            <a:r>
              <a:rPr lang="en-US" sz="900" dirty="0"/>
              <a:t>//*****************************************************************************</a:t>
            </a:r>
          </a:p>
          <a:p>
            <a:r>
              <a:rPr lang="en-US" sz="900" dirty="0"/>
              <a:t>// Main (runs as its own task with priority 1 on core 1)</a:t>
            </a:r>
          </a:p>
          <a:p>
            <a:endParaRPr lang="en-US" sz="900" dirty="0"/>
          </a:p>
          <a:p>
            <a:r>
              <a:rPr lang="en-US" sz="900" dirty="0"/>
              <a:t>void setup() {</a:t>
            </a:r>
          </a:p>
          <a:p>
            <a:endParaRPr lang="en-US" sz="900" dirty="0"/>
          </a:p>
          <a:p>
            <a:r>
              <a:rPr lang="en-US" sz="900" dirty="0"/>
              <a:t>  // Configure Serial</a:t>
            </a:r>
          </a:p>
          <a:p>
            <a:r>
              <a:rPr lang="en-US" sz="900" dirty="0"/>
              <a:t>  </a:t>
            </a:r>
            <a:r>
              <a:rPr lang="en-US" sz="900" dirty="0" err="1"/>
              <a:t>Serial.begin</a:t>
            </a:r>
            <a:r>
              <a:rPr lang="en-US" sz="900" dirty="0"/>
              <a:t>(115200);</a:t>
            </a:r>
          </a:p>
          <a:p>
            <a:endParaRPr lang="en-US" sz="900" dirty="0"/>
          </a:p>
          <a:p>
            <a:r>
              <a:rPr lang="en-US" sz="900" dirty="0"/>
              <a:t>  // Wait a moment to start (so we don't miss Serial output)</a:t>
            </a:r>
          </a:p>
          <a:p>
            <a:r>
              <a:rPr lang="en-US" sz="900" dirty="0"/>
              <a:t>  </a:t>
            </a:r>
            <a:r>
              <a:rPr lang="en-US" sz="900" dirty="0" err="1"/>
              <a:t>vTaskDelay</a:t>
            </a:r>
            <a:r>
              <a:rPr lang="en-US" sz="900" dirty="0"/>
              <a:t>(1000 / </a:t>
            </a:r>
            <a:r>
              <a:rPr lang="en-US" sz="900" dirty="0" err="1"/>
              <a:t>portTICK_PERIOD_MS</a:t>
            </a:r>
            <a:r>
              <a:rPr lang="en-US" sz="900" dirty="0"/>
              <a:t>);</a:t>
            </a:r>
          </a:p>
          <a:p>
            <a:r>
              <a:rPr lang="en-US" sz="900" dirty="0"/>
              <a:t>  </a:t>
            </a:r>
            <a:r>
              <a:rPr lang="en-US" sz="900" dirty="0" err="1"/>
              <a:t>Serial.println</a:t>
            </a:r>
            <a:r>
              <a:rPr lang="en-US" sz="900" dirty="0"/>
              <a:t>();</a:t>
            </a:r>
          </a:p>
          <a:p>
            <a:r>
              <a:rPr lang="en-US" sz="900" dirty="0"/>
              <a:t>  </a:t>
            </a:r>
            <a:r>
              <a:rPr lang="en-US" sz="900" dirty="0" err="1"/>
              <a:t>Serial.println</a:t>
            </a:r>
            <a:r>
              <a:rPr lang="en-US" sz="900" dirty="0"/>
              <a:t>("---</a:t>
            </a:r>
            <a:r>
              <a:rPr lang="en-US" sz="900" dirty="0" err="1"/>
              <a:t>FreeRTOS</a:t>
            </a:r>
            <a:r>
              <a:rPr lang="en-US" sz="900" dirty="0"/>
              <a:t> Queue Solution---");</a:t>
            </a:r>
          </a:p>
          <a:p>
            <a:r>
              <a:rPr lang="en-US" sz="900" dirty="0"/>
              <a:t>  </a:t>
            </a:r>
            <a:r>
              <a:rPr lang="en-US" sz="900" dirty="0" err="1"/>
              <a:t>Serial.println</a:t>
            </a:r>
            <a:r>
              <a:rPr lang="en-US" sz="900" dirty="0"/>
              <a:t>("Enter the command 'delay xxx' where xxx is your desired ");</a:t>
            </a:r>
          </a:p>
          <a:p>
            <a:r>
              <a:rPr lang="en-US" sz="900" dirty="0"/>
              <a:t>  </a:t>
            </a:r>
            <a:r>
              <a:rPr lang="en-US" sz="900" dirty="0" err="1"/>
              <a:t>Serial.println</a:t>
            </a:r>
            <a:r>
              <a:rPr lang="en-US" sz="900" dirty="0"/>
              <a:t>("LED blink delay time in milliseconds");</a:t>
            </a:r>
          </a:p>
          <a:p>
            <a:endParaRPr lang="en-US" sz="900" dirty="0"/>
          </a:p>
          <a:p>
            <a:r>
              <a:rPr lang="en-US" sz="900" dirty="0"/>
              <a:t>  // Create queues</a:t>
            </a:r>
          </a:p>
          <a:p>
            <a:r>
              <a:rPr lang="en-US" sz="900" dirty="0"/>
              <a:t>  </a:t>
            </a:r>
            <a:r>
              <a:rPr lang="en-US" sz="900" dirty="0" err="1"/>
              <a:t>delay_queue</a:t>
            </a:r>
            <a:r>
              <a:rPr lang="en-US" sz="900" dirty="0"/>
              <a:t> = </a:t>
            </a:r>
            <a:r>
              <a:rPr lang="en-US" sz="900" dirty="0" err="1"/>
              <a:t>xQueueCreate</a:t>
            </a:r>
            <a:r>
              <a:rPr lang="en-US" sz="900" dirty="0"/>
              <a:t>(</a:t>
            </a:r>
            <a:r>
              <a:rPr lang="en-US" sz="900" dirty="0" err="1"/>
              <a:t>delay_queue_len</a:t>
            </a:r>
            <a:r>
              <a:rPr lang="en-US" sz="900" dirty="0"/>
              <a:t>, </a:t>
            </a:r>
            <a:r>
              <a:rPr lang="en-US" sz="900" dirty="0" err="1"/>
              <a:t>sizeof</a:t>
            </a:r>
            <a:r>
              <a:rPr lang="en-US" sz="900" dirty="0"/>
              <a:t>(int));</a:t>
            </a:r>
          </a:p>
          <a:p>
            <a:r>
              <a:rPr lang="en-US" sz="900" dirty="0"/>
              <a:t>  </a:t>
            </a:r>
            <a:r>
              <a:rPr lang="en-US" sz="900" dirty="0" err="1"/>
              <a:t>msg_queue</a:t>
            </a:r>
            <a:r>
              <a:rPr lang="en-US" sz="900" dirty="0"/>
              <a:t> = </a:t>
            </a:r>
            <a:r>
              <a:rPr lang="en-US" sz="900" dirty="0" err="1"/>
              <a:t>xQueueCreate</a:t>
            </a:r>
            <a:r>
              <a:rPr lang="en-US" sz="900" dirty="0"/>
              <a:t>(</a:t>
            </a:r>
            <a:r>
              <a:rPr lang="en-US" sz="900" dirty="0" err="1"/>
              <a:t>msg_queue_len</a:t>
            </a:r>
            <a:r>
              <a:rPr lang="en-US" sz="900" dirty="0"/>
              <a:t>, </a:t>
            </a:r>
            <a:r>
              <a:rPr lang="en-US" sz="900" dirty="0" err="1"/>
              <a:t>sizeof</a:t>
            </a:r>
            <a:r>
              <a:rPr lang="en-US" sz="900" dirty="0"/>
              <a:t>(Message));</a:t>
            </a:r>
          </a:p>
          <a:p>
            <a:endParaRPr lang="en-US" sz="900" dirty="0"/>
          </a:p>
          <a:p>
            <a:r>
              <a:rPr lang="en-US" sz="900" dirty="0"/>
              <a:t>  // Start CLI task</a:t>
            </a:r>
          </a:p>
          <a:p>
            <a:r>
              <a:rPr lang="en-US" sz="900" dirty="0"/>
              <a:t>  </a:t>
            </a:r>
            <a:r>
              <a:rPr lang="en-US" sz="900" dirty="0" err="1"/>
              <a:t>xTaskCreatePinnedToCore</a:t>
            </a:r>
            <a:r>
              <a:rPr lang="en-US" sz="900" dirty="0"/>
              <a:t>(</a:t>
            </a:r>
            <a:r>
              <a:rPr lang="en-US" sz="900" dirty="0" err="1"/>
              <a:t>doCLI</a:t>
            </a:r>
            <a:r>
              <a:rPr lang="en-US" sz="900" dirty="0"/>
              <a:t>,</a:t>
            </a:r>
          </a:p>
          <a:p>
            <a:r>
              <a:rPr lang="en-US" sz="900" dirty="0"/>
              <a:t>                          "CLI",</a:t>
            </a:r>
          </a:p>
          <a:p>
            <a:r>
              <a:rPr lang="en-US" sz="900" dirty="0"/>
              <a:t>                          1024,</a:t>
            </a:r>
          </a:p>
          <a:p>
            <a:r>
              <a:rPr lang="en-US" sz="900" dirty="0"/>
              <a:t>                          NULL,</a:t>
            </a:r>
          </a:p>
          <a:p>
            <a:r>
              <a:rPr lang="en-US" sz="900" dirty="0"/>
              <a:t>                          1,</a:t>
            </a:r>
          </a:p>
          <a:p>
            <a:r>
              <a:rPr lang="en-US" sz="900" dirty="0"/>
              <a:t>                          NULL,</a:t>
            </a:r>
          </a:p>
          <a:p>
            <a:r>
              <a:rPr lang="en-US" sz="900" dirty="0"/>
              <a:t>                          </a:t>
            </a:r>
            <a:r>
              <a:rPr lang="en-US" sz="900" dirty="0" err="1"/>
              <a:t>app_cpu</a:t>
            </a:r>
            <a:r>
              <a:rPr lang="en-US" sz="900" dirty="0"/>
              <a:t>);</a:t>
            </a:r>
          </a:p>
          <a:p>
            <a:endParaRPr lang="en-US" sz="900" dirty="0"/>
          </a:p>
          <a:p>
            <a:r>
              <a:rPr lang="en-US" sz="900" dirty="0"/>
              <a:t>  // Start blink task</a:t>
            </a:r>
          </a:p>
          <a:p>
            <a:r>
              <a:rPr lang="en-US" sz="900" dirty="0"/>
              <a:t>  </a:t>
            </a:r>
            <a:r>
              <a:rPr lang="en-US" sz="900" dirty="0" err="1"/>
              <a:t>xTaskCreatePinnedToCore</a:t>
            </a:r>
            <a:r>
              <a:rPr lang="en-US" sz="900" dirty="0"/>
              <a:t>(</a:t>
            </a:r>
            <a:r>
              <a:rPr lang="en-US" sz="900" dirty="0" err="1"/>
              <a:t>blinkLED</a:t>
            </a:r>
            <a:r>
              <a:rPr lang="en-US" sz="900" dirty="0"/>
              <a:t>,</a:t>
            </a:r>
          </a:p>
          <a:p>
            <a:r>
              <a:rPr lang="en-US" sz="900" dirty="0"/>
              <a:t>                          "Blink LED",</a:t>
            </a:r>
          </a:p>
          <a:p>
            <a:r>
              <a:rPr lang="en-US" sz="900" dirty="0"/>
              <a:t>                          1024,</a:t>
            </a:r>
          </a:p>
          <a:p>
            <a:r>
              <a:rPr lang="en-US" sz="900" dirty="0"/>
              <a:t>                          NULL,</a:t>
            </a:r>
          </a:p>
          <a:p>
            <a:r>
              <a:rPr lang="en-US" sz="900" dirty="0"/>
              <a:t>                          1,</a:t>
            </a:r>
          </a:p>
          <a:p>
            <a:r>
              <a:rPr lang="en-US" sz="900" dirty="0"/>
              <a:t>                          NULL,</a:t>
            </a:r>
          </a:p>
          <a:p>
            <a:r>
              <a:rPr lang="en-US" sz="900" dirty="0"/>
              <a:t>                          </a:t>
            </a:r>
            <a:r>
              <a:rPr lang="en-US" sz="900" dirty="0" err="1"/>
              <a:t>app_cpu</a:t>
            </a:r>
            <a:r>
              <a:rPr lang="en-US" sz="900" dirty="0"/>
              <a:t>);</a:t>
            </a:r>
          </a:p>
          <a:p>
            <a:endParaRPr lang="en-US" sz="900" dirty="0"/>
          </a:p>
          <a:p>
            <a:r>
              <a:rPr lang="en-US" sz="900" dirty="0"/>
              <a:t>  // Delete "setup and loop" task</a:t>
            </a:r>
          </a:p>
          <a:p>
            <a:r>
              <a:rPr lang="en-US" sz="900" dirty="0"/>
              <a:t>  </a:t>
            </a:r>
            <a:r>
              <a:rPr lang="en-US" sz="900" dirty="0" err="1"/>
              <a:t>vTaskDelete</a:t>
            </a:r>
            <a:r>
              <a:rPr lang="en-US" sz="900" dirty="0"/>
              <a:t>(NULL);</a:t>
            </a:r>
          </a:p>
          <a:p>
            <a:r>
              <a:rPr lang="en-US" sz="900" dirty="0"/>
              <a:t>}</a:t>
            </a:r>
          </a:p>
          <a:p>
            <a:endParaRPr lang="en-US" sz="900" dirty="0"/>
          </a:p>
          <a:p>
            <a:r>
              <a:rPr lang="en-US" sz="900" dirty="0"/>
              <a:t>void loop() {</a:t>
            </a:r>
          </a:p>
          <a:p>
            <a:r>
              <a:rPr lang="en-US" sz="900" dirty="0"/>
              <a:t>  // Execution should never get here</a:t>
            </a:r>
          </a:p>
          <a:p>
            <a:r>
              <a:rPr lang="en-US" sz="900"/>
              <a:t>}</a:t>
            </a:r>
            <a:endParaRPr lang="en-US" sz="900" dirty="0"/>
          </a:p>
        </p:txBody>
      </p:sp>
    </p:spTree>
    <p:extLst>
      <p:ext uri="{BB962C8B-B14F-4D97-AF65-F5344CB8AC3E}">
        <p14:creationId xmlns:p14="http://schemas.microsoft.com/office/powerpoint/2010/main" val="49429024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824450" y="1882050"/>
            <a:ext cx="4374600" cy="3093140"/>
          </a:xfrm>
          <a:prstGeom prst="rect">
            <a:avLst/>
          </a:prstGeom>
          <a:noFill/>
          <a:ln>
            <a:noFill/>
          </a:ln>
        </p:spPr>
        <p:txBody>
          <a:bodyPr spcFirstLastPara="1" wrap="square" lIns="45713" tIns="45713" rIns="45713" bIns="45713" anchor="t" anchorCtr="0">
            <a:spAutoFit/>
          </a:bodyPr>
          <a:lstStyle/>
          <a:p>
            <a:r>
              <a:rPr lang="en" sz="1500">
                <a:solidFill>
                  <a:srgbClr val="00FF00"/>
                </a:solidFill>
                <a:latin typeface="Courier New"/>
                <a:ea typeface="Courier New"/>
                <a:cs typeface="Courier New"/>
                <a:sym typeface="Courier New"/>
              </a:rPr>
              <a:t>int global_var = 0;</a:t>
            </a:r>
            <a:endParaRPr sz="1500">
              <a:solidFill>
                <a:srgbClr val="00FF00"/>
              </a:solidFill>
              <a:latin typeface="Courier New"/>
              <a:ea typeface="Courier New"/>
              <a:cs typeface="Courier New"/>
              <a:sym typeface="Courier New"/>
            </a:endParaRPr>
          </a:p>
          <a:p>
            <a:endParaRPr sz="1500">
              <a:solidFill>
                <a:srgbClr val="00FF00"/>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void incTask(void *parameters) {</a:t>
            </a:r>
            <a:endParaRPr sz="1500">
              <a:solidFill>
                <a:srgbClr val="00FF00"/>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  while(1) {</a:t>
            </a:r>
            <a:endParaRPr sz="1500">
              <a:solidFill>
                <a:srgbClr val="00FF00"/>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    global_var++;</a:t>
            </a:r>
            <a:endParaRPr sz="1500">
              <a:solidFill>
                <a:srgbClr val="00FF00"/>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  }</a:t>
            </a:r>
            <a:endParaRPr sz="1500">
              <a:solidFill>
                <a:srgbClr val="00FF00"/>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a:t>
            </a:r>
            <a:endParaRPr sz="1500">
              <a:solidFill>
                <a:srgbClr val="00FF00"/>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  </a:t>
            </a:r>
            <a:endParaRPr sz="1500">
              <a:solidFill>
                <a:srgbClr val="00FF00"/>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void main() {</a:t>
            </a:r>
            <a:br>
              <a:rPr lang="en" sz="1500">
                <a:solidFill>
                  <a:srgbClr val="00FF00"/>
                </a:solidFill>
                <a:latin typeface="Courier New"/>
                <a:ea typeface="Courier New"/>
                <a:cs typeface="Courier New"/>
                <a:sym typeface="Courier New"/>
              </a:rPr>
            </a:br>
            <a:r>
              <a:rPr lang="en" sz="1500">
                <a:solidFill>
                  <a:srgbClr val="00FF00"/>
                </a:solidFill>
                <a:latin typeface="Courier New"/>
                <a:ea typeface="Courier New"/>
                <a:cs typeface="Courier New"/>
                <a:sym typeface="Courier New"/>
              </a:rPr>
              <a:t>  startTask1(incTask, “Task 1”);</a:t>
            </a:r>
            <a:endParaRPr sz="1500">
              <a:solidFill>
                <a:srgbClr val="00FF00"/>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  startTask2(incTask, “Task 2”);</a:t>
            </a:r>
            <a:endParaRPr sz="1500">
              <a:solidFill>
                <a:srgbClr val="00FF00"/>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  sleep();</a:t>
            </a:r>
            <a:endParaRPr sz="1500">
              <a:solidFill>
                <a:srgbClr val="00FF00"/>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a:t>
            </a:r>
            <a:endParaRPr sz="1500">
              <a:solidFill>
                <a:srgbClr val="00FF00"/>
              </a:solidFill>
              <a:latin typeface="Courier New"/>
              <a:ea typeface="Courier New"/>
              <a:cs typeface="Courier New"/>
              <a:sym typeface="Courier New"/>
            </a:endParaRPr>
          </a:p>
        </p:txBody>
      </p:sp>
      <p:sp>
        <p:nvSpPr>
          <p:cNvPr id="55" name="Google Shape;55;p13"/>
          <p:cNvSpPr txBox="1"/>
          <p:nvPr/>
        </p:nvSpPr>
        <p:spPr>
          <a:xfrm>
            <a:off x="2384700" y="1047113"/>
            <a:ext cx="4374600" cy="399150"/>
          </a:xfrm>
          <a:prstGeom prst="rect">
            <a:avLst/>
          </a:prstGeom>
          <a:noFill/>
          <a:ln>
            <a:noFill/>
          </a:ln>
        </p:spPr>
        <p:txBody>
          <a:bodyPr spcFirstLastPara="1" wrap="square" lIns="45713" tIns="45713" rIns="45713" bIns="45713" anchor="ctr" anchorCtr="0">
            <a:noAutofit/>
          </a:bodyPr>
          <a:lstStyle/>
          <a:p>
            <a:pPr algn="ctr"/>
            <a:r>
              <a:rPr lang="en" sz="2400">
                <a:solidFill>
                  <a:srgbClr val="FFFFFF"/>
                </a:solidFill>
              </a:rPr>
              <a:t>Race Condition</a:t>
            </a:r>
            <a:endParaRPr sz="2400">
              <a:solidFill>
                <a:srgbClr val="FFFFFF"/>
              </a:solidFill>
            </a:endParaRPr>
          </a:p>
        </p:txBody>
      </p:sp>
      <p:sp>
        <p:nvSpPr>
          <p:cNvPr id="56" name="Google Shape;56;p13"/>
          <p:cNvSpPr txBox="1"/>
          <p:nvPr/>
        </p:nvSpPr>
        <p:spPr>
          <a:xfrm>
            <a:off x="5617200" y="1997550"/>
            <a:ext cx="2923500" cy="2862308"/>
          </a:xfrm>
          <a:prstGeom prst="rect">
            <a:avLst/>
          </a:prstGeom>
          <a:noFill/>
          <a:ln>
            <a:noFill/>
          </a:ln>
        </p:spPr>
        <p:txBody>
          <a:bodyPr spcFirstLastPara="1" wrap="square" lIns="45713" tIns="45713" rIns="45713" bIns="45713" anchor="t" anchorCtr="0">
            <a:spAutoFit/>
          </a:bodyPr>
          <a:lstStyle/>
          <a:p>
            <a:r>
              <a:rPr lang="en" sz="1500">
                <a:solidFill>
                  <a:srgbClr val="FFFFFF"/>
                </a:solidFill>
              </a:rPr>
              <a:t>global_var increment can take several instruction cycles!</a:t>
            </a:r>
            <a:endParaRPr sz="1500">
              <a:solidFill>
                <a:srgbClr val="FFFFFF"/>
              </a:solidFill>
            </a:endParaRPr>
          </a:p>
          <a:p>
            <a:endParaRPr sz="1500">
              <a:solidFill>
                <a:srgbClr val="FFFFFF"/>
              </a:solidFill>
            </a:endParaRPr>
          </a:p>
          <a:p>
            <a:r>
              <a:rPr lang="en" sz="1500">
                <a:solidFill>
                  <a:srgbClr val="FFFFFF"/>
                </a:solidFill>
              </a:rPr>
              <a:t>global_var:</a:t>
            </a:r>
            <a:endParaRPr sz="1500">
              <a:solidFill>
                <a:srgbClr val="FFFFFF"/>
              </a:solidFill>
            </a:endParaRPr>
          </a:p>
          <a:p>
            <a:r>
              <a:rPr lang="en" sz="1500">
                <a:solidFill>
                  <a:srgbClr val="FFFFFF"/>
                </a:solidFill>
              </a:rPr>
              <a:t>0</a:t>
            </a:r>
            <a:endParaRPr sz="1500">
              <a:solidFill>
                <a:srgbClr val="FFFFFF"/>
              </a:solidFill>
            </a:endParaRPr>
          </a:p>
          <a:p>
            <a:r>
              <a:rPr lang="en" sz="1500">
                <a:solidFill>
                  <a:srgbClr val="FFFFFF"/>
                </a:solidFill>
              </a:rPr>
              <a:t>1</a:t>
            </a:r>
            <a:endParaRPr sz="1500">
              <a:solidFill>
                <a:srgbClr val="FFFFFF"/>
              </a:solidFill>
            </a:endParaRPr>
          </a:p>
          <a:p>
            <a:r>
              <a:rPr lang="en" sz="1500">
                <a:solidFill>
                  <a:srgbClr val="FFFFFF"/>
                </a:solidFill>
              </a:rPr>
              <a:t>2</a:t>
            </a:r>
            <a:endParaRPr sz="1500">
              <a:solidFill>
                <a:srgbClr val="FFFFFF"/>
              </a:solidFill>
            </a:endParaRPr>
          </a:p>
          <a:p>
            <a:r>
              <a:rPr lang="en" sz="1500">
                <a:solidFill>
                  <a:srgbClr val="FFFFFF"/>
                </a:solidFill>
              </a:rPr>
              <a:t>3</a:t>
            </a:r>
            <a:endParaRPr sz="1500">
              <a:solidFill>
                <a:srgbClr val="FFFFFF"/>
              </a:solidFill>
            </a:endParaRPr>
          </a:p>
          <a:p>
            <a:r>
              <a:rPr lang="en" sz="1500">
                <a:solidFill>
                  <a:srgbClr val="FFFFFF"/>
                </a:solidFill>
              </a:rPr>
              <a:t>3</a:t>
            </a:r>
            <a:endParaRPr sz="1500">
              <a:solidFill>
                <a:srgbClr val="FFFFFF"/>
              </a:solidFill>
            </a:endParaRPr>
          </a:p>
          <a:p>
            <a:r>
              <a:rPr lang="en" sz="1500">
                <a:solidFill>
                  <a:srgbClr val="FFFFFF"/>
                </a:solidFill>
              </a:rPr>
              <a:t>4</a:t>
            </a:r>
            <a:endParaRPr sz="1500">
              <a:solidFill>
                <a:srgbClr val="FFFFFF"/>
              </a:solidFill>
            </a:endParaRPr>
          </a:p>
          <a:p>
            <a:r>
              <a:rPr lang="en" sz="1500">
                <a:solidFill>
                  <a:srgbClr val="FFFFFF"/>
                </a:solidFill>
              </a:rPr>
              <a:t>5</a:t>
            </a:r>
            <a:endParaRPr sz="1500">
              <a:solidFill>
                <a:srgbClr val="FFFFFF"/>
              </a:solidFill>
            </a:endParaRPr>
          </a:p>
          <a:p>
            <a:r>
              <a:rPr lang="en" sz="1500">
                <a:solidFill>
                  <a:srgbClr val="FFFFFF"/>
                </a:solidFill>
              </a:rPr>
              <a:t>5</a:t>
            </a:r>
            <a:endParaRPr sz="1500">
              <a:solidFill>
                <a:srgbClr val="FFFFFF"/>
              </a:solidFill>
            </a:endParaRPr>
          </a:p>
        </p:txBody>
      </p:sp>
      <p:cxnSp>
        <p:nvCxnSpPr>
          <p:cNvPr id="57" name="Google Shape;57;p13"/>
          <p:cNvCxnSpPr/>
          <p:nvPr/>
        </p:nvCxnSpPr>
        <p:spPr>
          <a:xfrm flipH="1">
            <a:off x="3057288" y="2520488"/>
            <a:ext cx="2491050" cy="432900"/>
          </a:xfrm>
          <a:prstGeom prst="straightConnector1">
            <a:avLst/>
          </a:prstGeom>
          <a:noFill/>
          <a:ln w="38100" cap="flat" cmpd="sng">
            <a:solidFill>
              <a:srgbClr val="FFFFFF"/>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1000"/>
                                        <p:tgtEl>
                                          <p:spTgt spid="56"/>
                                        </p:tgtEl>
                                      </p:cBhvr>
                                    </p:animEffect>
                                  </p:childTnLst>
                                </p:cTn>
                              </p:par>
                              <p:par>
                                <p:cTn id="8" presetID="10" presetClass="entr" presetSubtype="0" fill="hold" nodeType="withEffect">
                                  <p:stCondLst>
                                    <p:cond delay="0"/>
                                  </p:stCondLst>
                                  <p:childTnLst>
                                    <p:set>
                                      <p:cBhvr>
                                        <p:cTn id="9" dur="1" fill="hold">
                                          <p:stCondLst>
                                            <p:cond delay="0"/>
                                          </p:stCondLst>
                                        </p:cTn>
                                        <p:tgtEl>
                                          <p:spTgt spid="57"/>
                                        </p:tgtEl>
                                        <p:attrNameLst>
                                          <p:attrName>style.visibility</p:attrName>
                                        </p:attrNameLst>
                                      </p:cBhvr>
                                      <p:to>
                                        <p:strVal val="visible"/>
                                      </p:to>
                                    </p:set>
                                    <p:animEffect transition="in" filter="fade">
                                      <p:cBhvr>
                                        <p:cTn id="10" dur="10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p:nvPr/>
        </p:nvSpPr>
        <p:spPr>
          <a:xfrm>
            <a:off x="2051957" y="2183032"/>
            <a:ext cx="1217550" cy="365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A</a:t>
            </a:r>
            <a:endParaRPr sz="1500"/>
          </a:p>
        </p:txBody>
      </p:sp>
      <p:sp>
        <p:nvSpPr>
          <p:cNvPr id="63" name="Google Shape;63;p14"/>
          <p:cNvSpPr/>
          <p:nvPr/>
        </p:nvSpPr>
        <p:spPr>
          <a:xfrm>
            <a:off x="3873294" y="3144219"/>
            <a:ext cx="1397400" cy="569550"/>
          </a:xfrm>
          <a:prstGeom prst="ellipse">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Global Variable</a:t>
            </a:r>
            <a:endParaRPr sz="1500"/>
          </a:p>
        </p:txBody>
      </p:sp>
      <p:cxnSp>
        <p:nvCxnSpPr>
          <p:cNvPr id="64" name="Google Shape;64;p14"/>
          <p:cNvCxnSpPr/>
          <p:nvPr/>
        </p:nvCxnSpPr>
        <p:spPr>
          <a:xfrm>
            <a:off x="3269512" y="2548285"/>
            <a:ext cx="808500" cy="679050"/>
          </a:xfrm>
          <a:prstGeom prst="straightConnector1">
            <a:avLst/>
          </a:prstGeom>
          <a:noFill/>
          <a:ln w="38100" cap="flat" cmpd="sng">
            <a:solidFill>
              <a:srgbClr val="595959"/>
            </a:solidFill>
            <a:prstDash val="solid"/>
            <a:round/>
            <a:headEnd type="none" w="med" len="med"/>
            <a:tailEnd type="triangle" w="med" len="med"/>
          </a:ln>
        </p:spPr>
      </p:cxnSp>
      <p:sp>
        <p:nvSpPr>
          <p:cNvPr id="65" name="Google Shape;65;p14"/>
          <p:cNvSpPr/>
          <p:nvPr/>
        </p:nvSpPr>
        <p:spPr>
          <a:xfrm>
            <a:off x="2051957" y="4309407"/>
            <a:ext cx="1217550" cy="36525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B</a:t>
            </a:r>
            <a:endParaRPr sz="1500"/>
          </a:p>
        </p:txBody>
      </p:sp>
      <p:cxnSp>
        <p:nvCxnSpPr>
          <p:cNvPr id="66" name="Google Shape;66;p14"/>
          <p:cNvCxnSpPr/>
          <p:nvPr/>
        </p:nvCxnSpPr>
        <p:spPr>
          <a:xfrm rot="10800000" flipH="1">
            <a:off x="3269512" y="3630360"/>
            <a:ext cx="808500" cy="679050"/>
          </a:xfrm>
          <a:prstGeom prst="straightConnector1">
            <a:avLst/>
          </a:prstGeom>
          <a:noFill/>
          <a:ln w="38100" cap="flat" cmpd="sng">
            <a:solidFill>
              <a:srgbClr val="595959"/>
            </a:solidFill>
            <a:prstDash val="solid"/>
            <a:round/>
            <a:headEnd type="none" w="med" len="med"/>
            <a:tailEnd type="triangle" w="med" len="med"/>
          </a:ln>
        </p:spPr>
      </p:cxn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p:nvPr/>
        </p:nvSpPr>
        <p:spPr>
          <a:xfrm>
            <a:off x="824450" y="1882050"/>
            <a:ext cx="4374600" cy="3093140"/>
          </a:xfrm>
          <a:prstGeom prst="rect">
            <a:avLst/>
          </a:prstGeom>
          <a:noFill/>
          <a:ln>
            <a:noFill/>
          </a:ln>
        </p:spPr>
        <p:txBody>
          <a:bodyPr spcFirstLastPara="1" wrap="square" lIns="45713" tIns="45713" rIns="45713" bIns="45713" anchor="t" anchorCtr="0">
            <a:spAutoFit/>
          </a:bodyPr>
          <a:lstStyle/>
          <a:p>
            <a:r>
              <a:rPr lang="en" sz="1500">
                <a:solidFill>
                  <a:srgbClr val="00FF00"/>
                </a:solidFill>
                <a:latin typeface="Courier New"/>
                <a:ea typeface="Courier New"/>
                <a:cs typeface="Courier New"/>
                <a:sym typeface="Courier New"/>
              </a:rPr>
              <a:t>int global_var = 0;</a:t>
            </a:r>
            <a:endParaRPr sz="1500">
              <a:solidFill>
                <a:srgbClr val="00FF00"/>
              </a:solidFill>
              <a:latin typeface="Courier New"/>
              <a:ea typeface="Courier New"/>
              <a:cs typeface="Courier New"/>
              <a:sym typeface="Courier New"/>
            </a:endParaRPr>
          </a:p>
          <a:p>
            <a:endParaRPr sz="1500">
              <a:solidFill>
                <a:srgbClr val="00FF00"/>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void incTask(void *parameters) {</a:t>
            </a:r>
            <a:endParaRPr sz="1500">
              <a:solidFill>
                <a:srgbClr val="00FF00"/>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  while(1) {</a:t>
            </a:r>
            <a:endParaRPr sz="1500">
              <a:solidFill>
                <a:srgbClr val="00FF00"/>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    global_var++;</a:t>
            </a:r>
            <a:endParaRPr sz="1500">
              <a:solidFill>
                <a:srgbClr val="00FF00"/>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  }</a:t>
            </a:r>
            <a:endParaRPr sz="1500">
              <a:solidFill>
                <a:srgbClr val="00FF00"/>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a:t>
            </a:r>
            <a:endParaRPr sz="1500">
              <a:solidFill>
                <a:srgbClr val="00FF00"/>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  </a:t>
            </a:r>
            <a:endParaRPr sz="1500">
              <a:solidFill>
                <a:srgbClr val="00FF00"/>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void main() {</a:t>
            </a:r>
            <a:br>
              <a:rPr lang="en" sz="1500">
                <a:solidFill>
                  <a:srgbClr val="00FF00"/>
                </a:solidFill>
                <a:latin typeface="Courier New"/>
                <a:ea typeface="Courier New"/>
                <a:cs typeface="Courier New"/>
                <a:sym typeface="Courier New"/>
              </a:rPr>
            </a:br>
            <a:r>
              <a:rPr lang="en" sz="1500">
                <a:solidFill>
                  <a:srgbClr val="00FF00"/>
                </a:solidFill>
                <a:latin typeface="Courier New"/>
                <a:ea typeface="Courier New"/>
                <a:cs typeface="Courier New"/>
                <a:sym typeface="Courier New"/>
              </a:rPr>
              <a:t>  startTask1(incTask, “Task 1”);</a:t>
            </a:r>
            <a:endParaRPr sz="1500">
              <a:solidFill>
                <a:srgbClr val="00FF00"/>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  startTask2(incTask, “Task 2”);</a:t>
            </a:r>
            <a:endParaRPr sz="1500">
              <a:solidFill>
                <a:srgbClr val="00FF00"/>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  sleep();</a:t>
            </a:r>
            <a:endParaRPr sz="1500">
              <a:solidFill>
                <a:srgbClr val="00FF00"/>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a:t>
            </a:r>
            <a:endParaRPr sz="1500">
              <a:solidFill>
                <a:srgbClr val="00FF00"/>
              </a:solidFill>
              <a:latin typeface="Courier New"/>
              <a:ea typeface="Courier New"/>
              <a:cs typeface="Courier New"/>
              <a:sym typeface="Courier New"/>
            </a:endParaRPr>
          </a:p>
        </p:txBody>
      </p:sp>
      <p:sp>
        <p:nvSpPr>
          <p:cNvPr id="72" name="Google Shape;72;p15"/>
          <p:cNvSpPr txBox="1"/>
          <p:nvPr/>
        </p:nvSpPr>
        <p:spPr>
          <a:xfrm>
            <a:off x="3482588" y="1700263"/>
            <a:ext cx="4374600" cy="230818"/>
          </a:xfrm>
          <a:prstGeom prst="rect">
            <a:avLst/>
          </a:prstGeom>
          <a:noFill/>
          <a:ln>
            <a:noFill/>
          </a:ln>
        </p:spPr>
        <p:txBody>
          <a:bodyPr spcFirstLastPara="1" wrap="square" lIns="45713" tIns="45713" rIns="45713" bIns="45713" anchor="t" anchorCtr="0">
            <a:spAutoFit/>
          </a:bodyPr>
          <a:lstStyle/>
          <a:p>
            <a:endParaRPr sz="900"/>
          </a:p>
        </p:txBody>
      </p:sp>
      <p:sp>
        <p:nvSpPr>
          <p:cNvPr id="73" name="Google Shape;73;p15"/>
          <p:cNvSpPr txBox="1"/>
          <p:nvPr/>
        </p:nvSpPr>
        <p:spPr>
          <a:xfrm>
            <a:off x="2384700" y="1047113"/>
            <a:ext cx="4374600" cy="399150"/>
          </a:xfrm>
          <a:prstGeom prst="rect">
            <a:avLst/>
          </a:prstGeom>
          <a:noFill/>
          <a:ln>
            <a:noFill/>
          </a:ln>
        </p:spPr>
        <p:txBody>
          <a:bodyPr spcFirstLastPara="1" wrap="square" lIns="45713" tIns="45713" rIns="45713" bIns="45713" anchor="ctr" anchorCtr="0">
            <a:noAutofit/>
          </a:bodyPr>
          <a:lstStyle/>
          <a:p>
            <a:pPr algn="ctr"/>
            <a:r>
              <a:rPr lang="en" sz="2400">
                <a:solidFill>
                  <a:srgbClr val="FFFFFF"/>
                </a:solidFill>
              </a:rPr>
              <a:t>Race Condition</a:t>
            </a:r>
            <a:endParaRPr sz="2400">
              <a:solidFill>
                <a:srgbClr val="FFFFFF"/>
              </a:solidFill>
            </a:endParaRPr>
          </a:p>
        </p:txBody>
      </p:sp>
      <p:sp>
        <p:nvSpPr>
          <p:cNvPr id="74" name="Google Shape;74;p15"/>
          <p:cNvSpPr txBox="1"/>
          <p:nvPr/>
        </p:nvSpPr>
        <p:spPr>
          <a:xfrm>
            <a:off x="5617200" y="1997550"/>
            <a:ext cx="2923500" cy="2862308"/>
          </a:xfrm>
          <a:prstGeom prst="rect">
            <a:avLst/>
          </a:prstGeom>
          <a:noFill/>
          <a:ln>
            <a:noFill/>
          </a:ln>
        </p:spPr>
        <p:txBody>
          <a:bodyPr spcFirstLastPara="1" wrap="square" lIns="45713" tIns="45713" rIns="45713" bIns="45713" anchor="t" anchorCtr="0">
            <a:spAutoFit/>
          </a:bodyPr>
          <a:lstStyle/>
          <a:p>
            <a:r>
              <a:rPr lang="en" sz="1500">
                <a:solidFill>
                  <a:srgbClr val="FFFFFF"/>
                </a:solidFill>
              </a:rPr>
              <a:t>global_var increment can take several instruction cycles!</a:t>
            </a:r>
            <a:endParaRPr sz="1500">
              <a:solidFill>
                <a:srgbClr val="FFFFFF"/>
              </a:solidFill>
            </a:endParaRPr>
          </a:p>
          <a:p>
            <a:endParaRPr sz="1500">
              <a:solidFill>
                <a:srgbClr val="FFFFFF"/>
              </a:solidFill>
            </a:endParaRPr>
          </a:p>
          <a:p>
            <a:r>
              <a:rPr lang="en" sz="1500">
                <a:solidFill>
                  <a:srgbClr val="FFFFFF"/>
                </a:solidFill>
              </a:rPr>
              <a:t>global_var:</a:t>
            </a:r>
            <a:endParaRPr sz="1500">
              <a:solidFill>
                <a:srgbClr val="FFFFFF"/>
              </a:solidFill>
            </a:endParaRPr>
          </a:p>
          <a:p>
            <a:r>
              <a:rPr lang="en" sz="1500">
                <a:solidFill>
                  <a:srgbClr val="FFFFFF"/>
                </a:solidFill>
              </a:rPr>
              <a:t>0</a:t>
            </a:r>
            <a:endParaRPr sz="1500">
              <a:solidFill>
                <a:srgbClr val="FFFFFF"/>
              </a:solidFill>
            </a:endParaRPr>
          </a:p>
          <a:p>
            <a:r>
              <a:rPr lang="en" sz="1500">
                <a:solidFill>
                  <a:srgbClr val="FFFFFF"/>
                </a:solidFill>
              </a:rPr>
              <a:t>1</a:t>
            </a:r>
            <a:endParaRPr sz="1500">
              <a:solidFill>
                <a:srgbClr val="FFFFFF"/>
              </a:solidFill>
            </a:endParaRPr>
          </a:p>
          <a:p>
            <a:r>
              <a:rPr lang="en" sz="1500">
                <a:solidFill>
                  <a:srgbClr val="FFFFFF"/>
                </a:solidFill>
              </a:rPr>
              <a:t>2</a:t>
            </a:r>
            <a:endParaRPr sz="1500">
              <a:solidFill>
                <a:srgbClr val="FFFFFF"/>
              </a:solidFill>
            </a:endParaRPr>
          </a:p>
          <a:p>
            <a:r>
              <a:rPr lang="en" sz="1500">
                <a:solidFill>
                  <a:srgbClr val="FFFFFF"/>
                </a:solidFill>
              </a:rPr>
              <a:t>3</a:t>
            </a:r>
            <a:endParaRPr sz="1500">
              <a:solidFill>
                <a:srgbClr val="FFFFFF"/>
              </a:solidFill>
            </a:endParaRPr>
          </a:p>
          <a:p>
            <a:r>
              <a:rPr lang="en" sz="1500">
                <a:solidFill>
                  <a:srgbClr val="FFFFFF"/>
                </a:solidFill>
              </a:rPr>
              <a:t>3</a:t>
            </a:r>
            <a:endParaRPr sz="1500">
              <a:solidFill>
                <a:srgbClr val="FFFFFF"/>
              </a:solidFill>
            </a:endParaRPr>
          </a:p>
          <a:p>
            <a:r>
              <a:rPr lang="en" sz="1500">
                <a:solidFill>
                  <a:srgbClr val="FFFFFF"/>
                </a:solidFill>
              </a:rPr>
              <a:t>4</a:t>
            </a:r>
            <a:endParaRPr sz="1500">
              <a:solidFill>
                <a:srgbClr val="FFFFFF"/>
              </a:solidFill>
            </a:endParaRPr>
          </a:p>
          <a:p>
            <a:r>
              <a:rPr lang="en" sz="1500">
                <a:solidFill>
                  <a:srgbClr val="FFFFFF"/>
                </a:solidFill>
              </a:rPr>
              <a:t>5</a:t>
            </a:r>
            <a:endParaRPr sz="1500">
              <a:solidFill>
                <a:srgbClr val="FFFFFF"/>
              </a:solidFill>
            </a:endParaRPr>
          </a:p>
          <a:p>
            <a:r>
              <a:rPr lang="en" sz="1500">
                <a:solidFill>
                  <a:srgbClr val="FFFFFF"/>
                </a:solidFill>
              </a:rPr>
              <a:t>5</a:t>
            </a:r>
            <a:endParaRPr sz="1500">
              <a:solidFill>
                <a:srgbClr val="FFFFFF"/>
              </a:solidFill>
            </a:endParaRPr>
          </a:p>
        </p:txBody>
      </p:sp>
      <p:cxnSp>
        <p:nvCxnSpPr>
          <p:cNvPr id="75" name="Google Shape;75;p15"/>
          <p:cNvCxnSpPr/>
          <p:nvPr/>
        </p:nvCxnSpPr>
        <p:spPr>
          <a:xfrm flipH="1">
            <a:off x="3057288" y="2520488"/>
            <a:ext cx="2491050" cy="432900"/>
          </a:xfrm>
          <a:prstGeom prst="straightConnector1">
            <a:avLst/>
          </a:prstGeom>
          <a:noFill/>
          <a:ln w="38100" cap="flat" cmpd="sng">
            <a:solidFill>
              <a:srgbClr val="FFFFFF"/>
            </a:solidFill>
            <a:prstDash val="solid"/>
            <a:round/>
            <a:headEnd type="none" w="med" len="med"/>
            <a:tailEnd type="triangle" w="med" len="med"/>
          </a:ln>
        </p:spPr>
      </p:cxn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p:nvPr/>
        </p:nvSpPr>
        <p:spPr>
          <a:xfrm>
            <a:off x="974232" y="1152982"/>
            <a:ext cx="1217550" cy="365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A</a:t>
            </a:r>
            <a:endParaRPr sz="1500"/>
          </a:p>
        </p:txBody>
      </p:sp>
      <p:sp>
        <p:nvSpPr>
          <p:cNvPr id="81" name="Google Shape;81;p16"/>
          <p:cNvSpPr/>
          <p:nvPr/>
        </p:nvSpPr>
        <p:spPr>
          <a:xfrm>
            <a:off x="6952219" y="1152982"/>
            <a:ext cx="1217550" cy="36525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B</a:t>
            </a:r>
            <a:endParaRPr sz="1500"/>
          </a:p>
        </p:txBody>
      </p:sp>
      <p:sp>
        <p:nvSpPr>
          <p:cNvPr id="82" name="Google Shape;82;p16"/>
          <p:cNvSpPr/>
          <p:nvPr/>
        </p:nvSpPr>
        <p:spPr>
          <a:xfrm>
            <a:off x="4005275" y="1050832"/>
            <a:ext cx="1397400" cy="569550"/>
          </a:xfrm>
          <a:prstGeom prst="ellipse">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Global Variable</a:t>
            </a:r>
            <a:endParaRPr sz="1500"/>
          </a:p>
        </p:txBody>
      </p:sp>
      <p:sp>
        <p:nvSpPr>
          <p:cNvPr id="83" name="Google Shape;83;p16"/>
          <p:cNvSpPr txBox="1"/>
          <p:nvPr/>
        </p:nvSpPr>
        <p:spPr>
          <a:xfrm>
            <a:off x="379332" y="1691200"/>
            <a:ext cx="2407350" cy="323151"/>
          </a:xfrm>
          <a:prstGeom prst="rect">
            <a:avLst/>
          </a:prstGeom>
          <a:noFill/>
          <a:ln>
            <a:noFill/>
          </a:ln>
        </p:spPr>
        <p:txBody>
          <a:bodyPr spcFirstLastPara="1" wrap="square" lIns="45713" tIns="45713" rIns="45713" bIns="45713" anchor="t" anchorCtr="0">
            <a:spAutoFit/>
          </a:bodyPr>
          <a:lstStyle/>
          <a:p>
            <a:pPr algn="ctr"/>
            <a:r>
              <a:rPr lang="en" sz="1500"/>
              <a:t>Get value from memory</a:t>
            </a:r>
            <a:endParaRPr sz="1500"/>
          </a:p>
        </p:txBody>
      </p:sp>
      <p:sp>
        <p:nvSpPr>
          <p:cNvPr id="84" name="Google Shape;84;p16"/>
          <p:cNvSpPr txBox="1"/>
          <p:nvPr/>
        </p:nvSpPr>
        <p:spPr>
          <a:xfrm>
            <a:off x="379332" y="2014450"/>
            <a:ext cx="2407350" cy="323151"/>
          </a:xfrm>
          <a:prstGeom prst="rect">
            <a:avLst/>
          </a:prstGeom>
          <a:noFill/>
          <a:ln>
            <a:noFill/>
          </a:ln>
        </p:spPr>
        <p:txBody>
          <a:bodyPr spcFirstLastPara="1" wrap="square" lIns="45713" tIns="45713" rIns="45713" bIns="45713" anchor="t" anchorCtr="0">
            <a:spAutoFit/>
          </a:bodyPr>
          <a:lstStyle/>
          <a:p>
            <a:pPr algn="ctr"/>
            <a:r>
              <a:rPr lang="en" sz="1500"/>
              <a:t>Increment value</a:t>
            </a:r>
            <a:endParaRPr sz="1500"/>
          </a:p>
        </p:txBody>
      </p:sp>
      <p:sp>
        <p:nvSpPr>
          <p:cNvPr id="85" name="Google Shape;85;p16"/>
          <p:cNvSpPr txBox="1"/>
          <p:nvPr/>
        </p:nvSpPr>
        <p:spPr>
          <a:xfrm>
            <a:off x="379332" y="2337700"/>
            <a:ext cx="2407350" cy="323151"/>
          </a:xfrm>
          <a:prstGeom prst="rect">
            <a:avLst/>
          </a:prstGeom>
          <a:noFill/>
          <a:ln>
            <a:noFill/>
          </a:ln>
        </p:spPr>
        <p:txBody>
          <a:bodyPr spcFirstLastPara="1" wrap="square" lIns="45713" tIns="45713" rIns="45713" bIns="45713" anchor="t" anchorCtr="0">
            <a:spAutoFit/>
          </a:bodyPr>
          <a:lstStyle/>
          <a:p>
            <a:pPr algn="ctr"/>
            <a:r>
              <a:rPr lang="en" sz="1500"/>
              <a:t>Write value to memory</a:t>
            </a:r>
            <a:endParaRPr sz="1500"/>
          </a:p>
        </p:txBody>
      </p:sp>
      <p:sp>
        <p:nvSpPr>
          <p:cNvPr id="86" name="Google Shape;86;p16"/>
          <p:cNvSpPr txBox="1"/>
          <p:nvPr/>
        </p:nvSpPr>
        <p:spPr>
          <a:xfrm>
            <a:off x="6357319" y="2660950"/>
            <a:ext cx="2407350" cy="323151"/>
          </a:xfrm>
          <a:prstGeom prst="rect">
            <a:avLst/>
          </a:prstGeom>
          <a:noFill/>
          <a:ln>
            <a:noFill/>
          </a:ln>
        </p:spPr>
        <p:txBody>
          <a:bodyPr spcFirstLastPara="1" wrap="square" lIns="45713" tIns="45713" rIns="45713" bIns="45713" anchor="t" anchorCtr="0">
            <a:spAutoFit/>
          </a:bodyPr>
          <a:lstStyle/>
          <a:p>
            <a:pPr algn="ctr"/>
            <a:r>
              <a:rPr lang="en" sz="1500"/>
              <a:t>Get value from memory</a:t>
            </a:r>
            <a:endParaRPr sz="1500"/>
          </a:p>
        </p:txBody>
      </p:sp>
      <p:sp>
        <p:nvSpPr>
          <p:cNvPr id="87" name="Google Shape;87;p16"/>
          <p:cNvSpPr txBox="1"/>
          <p:nvPr/>
        </p:nvSpPr>
        <p:spPr>
          <a:xfrm>
            <a:off x="6357319" y="2984200"/>
            <a:ext cx="2407350" cy="323151"/>
          </a:xfrm>
          <a:prstGeom prst="rect">
            <a:avLst/>
          </a:prstGeom>
          <a:noFill/>
          <a:ln>
            <a:noFill/>
          </a:ln>
        </p:spPr>
        <p:txBody>
          <a:bodyPr spcFirstLastPara="1" wrap="square" lIns="45713" tIns="45713" rIns="45713" bIns="45713" anchor="t" anchorCtr="0">
            <a:spAutoFit/>
          </a:bodyPr>
          <a:lstStyle/>
          <a:p>
            <a:pPr algn="ctr"/>
            <a:r>
              <a:rPr lang="en" sz="1500"/>
              <a:t>Increment value</a:t>
            </a:r>
            <a:endParaRPr sz="1500"/>
          </a:p>
        </p:txBody>
      </p:sp>
      <p:sp>
        <p:nvSpPr>
          <p:cNvPr id="88" name="Google Shape;88;p16"/>
          <p:cNvSpPr txBox="1"/>
          <p:nvPr/>
        </p:nvSpPr>
        <p:spPr>
          <a:xfrm>
            <a:off x="6357319" y="3307450"/>
            <a:ext cx="2407350" cy="323151"/>
          </a:xfrm>
          <a:prstGeom prst="rect">
            <a:avLst/>
          </a:prstGeom>
          <a:noFill/>
          <a:ln>
            <a:noFill/>
          </a:ln>
        </p:spPr>
        <p:txBody>
          <a:bodyPr spcFirstLastPara="1" wrap="square" lIns="45713" tIns="45713" rIns="45713" bIns="45713" anchor="t" anchorCtr="0">
            <a:spAutoFit/>
          </a:bodyPr>
          <a:lstStyle/>
          <a:p>
            <a:pPr algn="ctr"/>
            <a:r>
              <a:rPr lang="en" sz="1500"/>
              <a:t>Write value to memory</a:t>
            </a:r>
            <a:endParaRPr sz="1500"/>
          </a:p>
        </p:txBody>
      </p:sp>
      <p:sp>
        <p:nvSpPr>
          <p:cNvPr id="89" name="Google Shape;89;p16"/>
          <p:cNvSpPr txBox="1"/>
          <p:nvPr/>
        </p:nvSpPr>
        <p:spPr>
          <a:xfrm>
            <a:off x="4464732" y="1691200"/>
            <a:ext cx="478500" cy="323151"/>
          </a:xfrm>
          <a:prstGeom prst="rect">
            <a:avLst/>
          </a:prstGeom>
          <a:noFill/>
          <a:ln>
            <a:noFill/>
          </a:ln>
        </p:spPr>
        <p:txBody>
          <a:bodyPr spcFirstLastPara="1" wrap="square" lIns="45713" tIns="45713" rIns="45713" bIns="45713" anchor="t" anchorCtr="0">
            <a:spAutoFit/>
          </a:bodyPr>
          <a:lstStyle/>
          <a:p>
            <a:pPr algn="ctr"/>
            <a:r>
              <a:rPr lang="en" sz="1500"/>
              <a:t>0</a:t>
            </a:r>
            <a:endParaRPr sz="1500"/>
          </a:p>
        </p:txBody>
      </p:sp>
      <p:sp>
        <p:nvSpPr>
          <p:cNvPr id="90" name="Google Shape;90;p16"/>
          <p:cNvSpPr txBox="1"/>
          <p:nvPr/>
        </p:nvSpPr>
        <p:spPr>
          <a:xfrm>
            <a:off x="4464732" y="2337700"/>
            <a:ext cx="478500" cy="323151"/>
          </a:xfrm>
          <a:prstGeom prst="rect">
            <a:avLst/>
          </a:prstGeom>
          <a:noFill/>
          <a:ln>
            <a:noFill/>
          </a:ln>
        </p:spPr>
        <p:txBody>
          <a:bodyPr spcFirstLastPara="1" wrap="square" lIns="45713" tIns="45713" rIns="45713" bIns="45713" anchor="t" anchorCtr="0">
            <a:spAutoFit/>
          </a:bodyPr>
          <a:lstStyle/>
          <a:p>
            <a:pPr algn="ctr"/>
            <a:r>
              <a:rPr lang="en" sz="1500"/>
              <a:t>1</a:t>
            </a:r>
            <a:endParaRPr sz="1500"/>
          </a:p>
        </p:txBody>
      </p:sp>
      <p:cxnSp>
        <p:nvCxnSpPr>
          <p:cNvPr id="91" name="Google Shape;91;p16"/>
          <p:cNvCxnSpPr>
            <a:endCxn id="83" idx="3"/>
          </p:cNvCxnSpPr>
          <p:nvPr/>
        </p:nvCxnSpPr>
        <p:spPr>
          <a:xfrm flipH="1" flipV="1">
            <a:off x="2786682" y="1852776"/>
            <a:ext cx="1678050" cy="49"/>
          </a:xfrm>
          <a:prstGeom prst="straightConnector1">
            <a:avLst/>
          </a:prstGeom>
          <a:noFill/>
          <a:ln w="38100" cap="flat" cmpd="sng">
            <a:solidFill>
              <a:schemeClr val="dk2"/>
            </a:solidFill>
            <a:prstDash val="solid"/>
            <a:round/>
            <a:headEnd type="none" w="med" len="med"/>
            <a:tailEnd type="triangle" w="med" len="med"/>
          </a:ln>
        </p:spPr>
      </p:cxnSp>
      <p:cxnSp>
        <p:nvCxnSpPr>
          <p:cNvPr id="92" name="Google Shape;92;p16"/>
          <p:cNvCxnSpPr>
            <a:stCxn id="85" idx="3"/>
            <a:endCxn id="90" idx="1"/>
          </p:cNvCxnSpPr>
          <p:nvPr/>
        </p:nvCxnSpPr>
        <p:spPr>
          <a:xfrm>
            <a:off x="2786682" y="2499276"/>
            <a:ext cx="1678050" cy="0"/>
          </a:xfrm>
          <a:prstGeom prst="straightConnector1">
            <a:avLst/>
          </a:prstGeom>
          <a:noFill/>
          <a:ln w="38100" cap="flat" cmpd="sng">
            <a:solidFill>
              <a:schemeClr val="dk2"/>
            </a:solidFill>
            <a:prstDash val="solid"/>
            <a:round/>
            <a:headEnd type="none" w="med" len="med"/>
            <a:tailEnd type="triangle" w="med" len="med"/>
          </a:ln>
        </p:spPr>
      </p:cxnSp>
      <p:sp>
        <p:nvSpPr>
          <p:cNvPr id="93" name="Google Shape;93;p16"/>
          <p:cNvSpPr txBox="1"/>
          <p:nvPr/>
        </p:nvSpPr>
        <p:spPr>
          <a:xfrm>
            <a:off x="4464732" y="2660950"/>
            <a:ext cx="478500" cy="323151"/>
          </a:xfrm>
          <a:prstGeom prst="rect">
            <a:avLst/>
          </a:prstGeom>
          <a:noFill/>
          <a:ln>
            <a:noFill/>
          </a:ln>
        </p:spPr>
        <p:txBody>
          <a:bodyPr spcFirstLastPara="1" wrap="square" lIns="45713" tIns="45713" rIns="45713" bIns="45713" anchor="t" anchorCtr="0">
            <a:spAutoFit/>
          </a:bodyPr>
          <a:lstStyle/>
          <a:p>
            <a:pPr algn="ctr"/>
            <a:r>
              <a:rPr lang="en" sz="1500"/>
              <a:t>1</a:t>
            </a:r>
            <a:endParaRPr sz="1500"/>
          </a:p>
        </p:txBody>
      </p:sp>
      <p:sp>
        <p:nvSpPr>
          <p:cNvPr id="94" name="Google Shape;94;p16"/>
          <p:cNvSpPr txBox="1"/>
          <p:nvPr/>
        </p:nvSpPr>
        <p:spPr>
          <a:xfrm>
            <a:off x="4464732" y="3307450"/>
            <a:ext cx="478500" cy="323151"/>
          </a:xfrm>
          <a:prstGeom prst="rect">
            <a:avLst/>
          </a:prstGeom>
          <a:noFill/>
          <a:ln>
            <a:noFill/>
          </a:ln>
        </p:spPr>
        <p:txBody>
          <a:bodyPr spcFirstLastPara="1" wrap="square" lIns="45713" tIns="45713" rIns="45713" bIns="45713" anchor="t" anchorCtr="0">
            <a:spAutoFit/>
          </a:bodyPr>
          <a:lstStyle/>
          <a:p>
            <a:pPr algn="ctr"/>
            <a:r>
              <a:rPr lang="en" sz="1500"/>
              <a:t>2</a:t>
            </a:r>
            <a:endParaRPr sz="1500"/>
          </a:p>
        </p:txBody>
      </p:sp>
      <p:cxnSp>
        <p:nvCxnSpPr>
          <p:cNvPr id="95" name="Google Shape;95;p16"/>
          <p:cNvCxnSpPr>
            <a:stCxn id="93" idx="3"/>
            <a:endCxn id="86" idx="1"/>
          </p:cNvCxnSpPr>
          <p:nvPr/>
        </p:nvCxnSpPr>
        <p:spPr>
          <a:xfrm>
            <a:off x="4943232" y="2822526"/>
            <a:ext cx="1414087" cy="0"/>
          </a:xfrm>
          <a:prstGeom prst="straightConnector1">
            <a:avLst/>
          </a:prstGeom>
          <a:noFill/>
          <a:ln w="38100" cap="flat" cmpd="sng">
            <a:solidFill>
              <a:schemeClr val="dk2"/>
            </a:solidFill>
            <a:prstDash val="solid"/>
            <a:round/>
            <a:headEnd type="none" w="med" len="med"/>
            <a:tailEnd type="triangle" w="med" len="med"/>
          </a:ln>
        </p:spPr>
      </p:cxnSp>
      <p:cxnSp>
        <p:nvCxnSpPr>
          <p:cNvPr id="96" name="Google Shape;96;p16"/>
          <p:cNvCxnSpPr>
            <a:stCxn id="88" idx="1"/>
            <a:endCxn id="94" idx="3"/>
          </p:cNvCxnSpPr>
          <p:nvPr/>
        </p:nvCxnSpPr>
        <p:spPr>
          <a:xfrm flipH="1">
            <a:off x="4943232" y="3469026"/>
            <a:ext cx="1414087" cy="0"/>
          </a:xfrm>
          <a:prstGeom prst="straightConnector1">
            <a:avLst/>
          </a:prstGeom>
          <a:noFill/>
          <a:ln w="38100" cap="flat" cmpd="sng">
            <a:solidFill>
              <a:schemeClr val="dk2"/>
            </a:solidFill>
            <a:prstDash val="solid"/>
            <a:round/>
            <a:headEnd type="none" w="med" len="med"/>
            <a:tailEnd type="triangle" w="med" len="med"/>
          </a:ln>
        </p:spPr>
      </p:cxnSp>
      <p:sp>
        <p:nvSpPr>
          <p:cNvPr id="97" name="Google Shape;97;p16"/>
          <p:cNvSpPr txBox="1"/>
          <p:nvPr/>
        </p:nvSpPr>
        <p:spPr>
          <a:xfrm>
            <a:off x="379332" y="3859300"/>
            <a:ext cx="2407350" cy="323151"/>
          </a:xfrm>
          <a:prstGeom prst="rect">
            <a:avLst/>
          </a:prstGeom>
          <a:noFill/>
          <a:ln>
            <a:noFill/>
          </a:ln>
        </p:spPr>
        <p:txBody>
          <a:bodyPr spcFirstLastPara="1" wrap="square" lIns="45713" tIns="45713" rIns="45713" bIns="45713" anchor="t" anchorCtr="0">
            <a:spAutoFit/>
          </a:bodyPr>
          <a:lstStyle/>
          <a:p>
            <a:pPr algn="ctr"/>
            <a:r>
              <a:rPr lang="en" sz="1500"/>
              <a:t>Get value from memory</a:t>
            </a:r>
            <a:endParaRPr sz="1500"/>
          </a:p>
        </p:txBody>
      </p:sp>
      <p:sp>
        <p:nvSpPr>
          <p:cNvPr id="98" name="Google Shape;98;p16"/>
          <p:cNvSpPr txBox="1"/>
          <p:nvPr/>
        </p:nvSpPr>
        <p:spPr>
          <a:xfrm>
            <a:off x="379332" y="5137788"/>
            <a:ext cx="2407350" cy="323151"/>
          </a:xfrm>
          <a:prstGeom prst="rect">
            <a:avLst/>
          </a:prstGeom>
          <a:noFill/>
          <a:ln>
            <a:noFill/>
          </a:ln>
        </p:spPr>
        <p:txBody>
          <a:bodyPr spcFirstLastPara="1" wrap="square" lIns="45713" tIns="45713" rIns="45713" bIns="45713" anchor="t" anchorCtr="0">
            <a:spAutoFit/>
          </a:bodyPr>
          <a:lstStyle/>
          <a:p>
            <a:pPr algn="ctr"/>
            <a:r>
              <a:rPr lang="en" sz="1500"/>
              <a:t>Increment value</a:t>
            </a:r>
            <a:endParaRPr sz="1500"/>
          </a:p>
        </p:txBody>
      </p:sp>
      <p:sp>
        <p:nvSpPr>
          <p:cNvPr id="99" name="Google Shape;99;p16"/>
          <p:cNvSpPr txBox="1"/>
          <p:nvPr/>
        </p:nvSpPr>
        <p:spPr>
          <a:xfrm>
            <a:off x="379332" y="5446525"/>
            <a:ext cx="2407350" cy="323151"/>
          </a:xfrm>
          <a:prstGeom prst="rect">
            <a:avLst/>
          </a:prstGeom>
          <a:noFill/>
          <a:ln>
            <a:noFill/>
          </a:ln>
        </p:spPr>
        <p:txBody>
          <a:bodyPr spcFirstLastPara="1" wrap="square" lIns="45713" tIns="45713" rIns="45713" bIns="45713" anchor="t" anchorCtr="0">
            <a:spAutoFit/>
          </a:bodyPr>
          <a:lstStyle/>
          <a:p>
            <a:pPr algn="ctr"/>
            <a:r>
              <a:rPr lang="en" sz="1500"/>
              <a:t>Write value to memory</a:t>
            </a:r>
            <a:endParaRPr sz="1500"/>
          </a:p>
        </p:txBody>
      </p:sp>
      <p:sp>
        <p:nvSpPr>
          <p:cNvPr id="100" name="Google Shape;100;p16"/>
          <p:cNvSpPr txBox="1"/>
          <p:nvPr/>
        </p:nvSpPr>
        <p:spPr>
          <a:xfrm>
            <a:off x="6357319" y="4182550"/>
            <a:ext cx="2407350" cy="323151"/>
          </a:xfrm>
          <a:prstGeom prst="rect">
            <a:avLst/>
          </a:prstGeom>
          <a:noFill/>
          <a:ln>
            <a:noFill/>
          </a:ln>
        </p:spPr>
        <p:txBody>
          <a:bodyPr spcFirstLastPara="1" wrap="square" lIns="45713" tIns="45713" rIns="45713" bIns="45713" anchor="t" anchorCtr="0">
            <a:spAutoFit/>
          </a:bodyPr>
          <a:lstStyle/>
          <a:p>
            <a:pPr algn="ctr"/>
            <a:r>
              <a:rPr lang="en" sz="1500"/>
              <a:t>Get value from memory</a:t>
            </a:r>
            <a:endParaRPr sz="1500"/>
          </a:p>
        </p:txBody>
      </p:sp>
      <p:sp>
        <p:nvSpPr>
          <p:cNvPr id="101" name="Google Shape;101;p16"/>
          <p:cNvSpPr txBox="1"/>
          <p:nvPr/>
        </p:nvSpPr>
        <p:spPr>
          <a:xfrm>
            <a:off x="6357319" y="4505800"/>
            <a:ext cx="2407350" cy="323151"/>
          </a:xfrm>
          <a:prstGeom prst="rect">
            <a:avLst/>
          </a:prstGeom>
          <a:noFill/>
          <a:ln>
            <a:noFill/>
          </a:ln>
        </p:spPr>
        <p:txBody>
          <a:bodyPr spcFirstLastPara="1" wrap="square" lIns="45713" tIns="45713" rIns="45713" bIns="45713" anchor="t" anchorCtr="0">
            <a:spAutoFit/>
          </a:bodyPr>
          <a:lstStyle/>
          <a:p>
            <a:pPr algn="ctr"/>
            <a:r>
              <a:rPr lang="en" sz="1500"/>
              <a:t>Increment value</a:t>
            </a:r>
            <a:endParaRPr sz="1500"/>
          </a:p>
        </p:txBody>
      </p:sp>
      <p:sp>
        <p:nvSpPr>
          <p:cNvPr id="102" name="Google Shape;102;p16"/>
          <p:cNvSpPr txBox="1"/>
          <p:nvPr/>
        </p:nvSpPr>
        <p:spPr>
          <a:xfrm>
            <a:off x="6357319" y="4829050"/>
            <a:ext cx="2407350" cy="323151"/>
          </a:xfrm>
          <a:prstGeom prst="rect">
            <a:avLst/>
          </a:prstGeom>
          <a:noFill/>
          <a:ln>
            <a:noFill/>
          </a:ln>
        </p:spPr>
        <p:txBody>
          <a:bodyPr spcFirstLastPara="1" wrap="square" lIns="45713" tIns="45713" rIns="45713" bIns="45713" anchor="t" anchorCtr="0">
            <a:spAutoFit/>
          </a:bodyPr>
          <a:lstStyle/>
          <a:p>
            <a:pPr algn="ctr"/>
            <a:r>
              <a:rPr lang="en" sz="1500"/>
              <a:t>Write value to memory</a:t>
            </a:r>
            <a:endParaRPr sz="1500"/>
          </a:p>
        </p:txBody>
      </p:sp>
      <p:sp>
        <p:nvSpPr>
          <p:cNvPr id="103" name="Google Shape;103;p16"/>
          <p:cNvSpPr txBox="1"/>
          <p:nvPr/>
        </p:nvSpPr>
        <p:spPr>
          <a:xfrm>
            <a:off x="4464732" y="3859300"/>
            <a:ext cx="478500" cy="323151"/>
          </a:xfrm>
          <a:prstGeom prst="rect">
            <a:avLst/>
          </a:prstGeom>
          <a:noFill/>
          <a:ln>
            <a:noFill/>
          </a:ln>
        </p:spPr>
        <p:txBody>
          <a:bodyPr spcFirstLastPara="1" wrap="square" lIns="45713" tIns="45713" rIns="45713" bIns="45713" anchor="t" anchorCtr="0">
            <a:spAutoFit/>
          </a:bodyPr>
          <a:lstStyle/>
          <a:p>
            <a:pPr algn="ctr"/>
            <a:r>
              <a:rPr lang="en" sz="1500"/>
              <a:t>2</a:t>
            </a:r>
            <a:endParaRPr sz="1500"/>
          </a:p>
        </p:txBody>
      </p:sp>
      <p:cxnSp>
        <p:nvCxnSpPr>
          <p:cNvPr id="104" name="Google Shape;104;p16"/>
          <p:cNvCxnSpPr>
            <a:endCxn id="97" idx="3"/>
          </p:cNvCxnSpPr>
          <p:nvPr/>
        </p:nvCxnSpPr>
        <p:spPr>
          <a:xfrm flipH="1" flipV="1">
            <a:off x="2786682" y="4020876"/>
            <a:ext cx="1678050" cy="49"/>
          </a:xfrm>
          <a:prstGeom prst="straightConnector1">
            <a:avLst/>
          </a:prstGeom>
          <a:noFill/>
          <a:ln w="38100" cap="flat" cmpd="sng">
            <a:solidFill>
              <a:schemeClr val="dk2"/>
            </a:solidFill>
            <a:prstDash val="solid"/>
            <a:round/>
            <a:headEnd type="none" w="med" len="med"/>
            <a:tailEnd type="triangle" w="med" len="med"/>
          </a:ln>
        </p:spPr>
      </p:cxnSp>
      <p:cxnSp>
        <p:nvCxnSpPr>
          <p:cNvPr id="105" name="Google Shape;105;p16"/>
          <p:cNvCxnSpPr>
            <a:stCxn id="99" idx="3"/>
            <a:endCxn id="106" idx="1"/>
          </p:cNvCxnSpPr>
          <p:nvPr/>
        </p:nvCxnSpPr>
        <p:spPr>
          <a:xfrm>
            <a:off x="2786682" y="5608101"/>
            <a:ext cx="1678037" cy="0"/>
          </a:xfrm>
          <a:prstGeom prst="straightConnector1">
            <a:avLst/>
          </a:prstGeom>
          <a:noFill/>
          <a:ln w="38100" cap="flat" cmpd="sng">
            <a:solidFill>
              <a:schemeClr val="dk2"/>
            </a:solidFill>
            <a:prstDash val="solid"/>
            <a:round/>
            <a:headEnd type="none" w="med" len="med"/>
            <a:tailEnd type="triangle" w="med" len="med"/>
          </a:ln>
        </p:spPr>
      </p:cxnSp>
      <p:sp>
        <p:nvSpPr>
          <p:cNvPr id="107" name="Google Shape;107;p16"/>
          <p:cNvSpPr txBox="1"/>
          <p:nvPr/>
        </p:nvSpPr>
        <p:spPr>
          <a:xfrm>
            <a:off x="4464732" y="4182550"/>
            <a:ext cx="478500" cy="323151"/>
          </a:xfrm>
          <a:prstGeom prst="rect">
            <a:avLst/>
          </a:prstGeom>
          <a:noFill/>
          <a:ln>
            <a:noFill/>
          </a:ln>
        </p:spPr>
        <p:txBody>
          <a:bodyPr spcFirstLastPara="1" wrap="square" lIns="45713" tIns="45713" rIns="45713" bIns="45713" anchor="t" anchorCtr="0">
            <a:spAutoFit/>
          </a:bodyPr>
          <a:lstStyle/>
          <a:p>
            <a:pPr algn="ctr"/>
            <a:r>
              <a:rPr lang="en" sz="1500"/>
              <a:t>2</a:t>
            </a:r>
            <a:endParaRPr sz="1500"/>
          </a:p>
        </p:txBody>
      </p:sp>
      <p:sp>
        <p:nvSpPr>
          <p:cNvPr id="106" name="Google Shape;106;p16"/>
          <p:cNvSpPr txBox="1"/>
          <p:nvPr/>
        </p:nvSpPr>
        <p:spPr>
          <a:xfrm>
            <a:off x="4464719" y="5446525"/>
            <a:ext cx="478500" cy="323151"/>
          </a:xfrm>
          <a:prstGeom prst="rect">
            <a:avLst/>
          </a:prstGeom>
          <a:noFill/>
          <a:ln>
            <a:noFill/>
          </a:ln>
        </p:spPr>
        <p:txBody>
          <a:bodyPr spcFirstLastPara="1" wrap="square" lIns="45713" tIns="45713" rIns="45713" bIns="45713" anchor="t" anchorCtr="0">
            <a:spAutoFit/>
          </a:bodyPr>
          <a:lstStyle/>
          <a:p>
            <a:pPr algn="ctr"/>
            <a:r>
              <a:rPr lang="en" sz="1500"/>
              <a:t>3</a:t>
            </a:r>
            <a:endParaRPr sz="1500"/>
          </a:p>
        </p:txBody>
      </p:sp>
      <p:cxnSp>
        <p:nvCxnSpPr>
          <p:cNvPr id="108" name="Google Shape;108;p16"/>
          <p:cNvCxnSpPr>
            <a:stCxn id="107" idx="3"/>
            <a:endCxn id="100" idx="1"/>
          </p:cNvCxnSpPr>
          <p:nvPr/>
        </p:nvCxnSpPr>
        <p:spPr>
          <a:xfrm>
            <a:off x="4943232" y="4344126"/>
            <a:ext cx="1414087" cy="0"/>
          </a:xfrm>
          <a:prstGeom prst="straightConnector1">
            <a:avLst/>
          </a:prstGeom>
          <a:noFill/>
          <a:ln w="38100" cap="flat" cmpd="sng">
            <a:solidFill>
              <a:schemeClr val="dk2"/>
            </a:solidFill>
            <a:prstDash val="solid"/>
            <a:round/>
            <a:headEnd type="none" w="med" len="med"/>
            <a:tailEnd type="triangle" w="med" len="med"/>
          </a:ln>
        </p:spPr>
      </p:cxnSp>
      <p:cxnSp>
        <p:nvCxnSpPr>
          <p:cNvPr id="109" name="Google Shape;109;p16"/>
          <p:cNvCxnSpPr>
            <a:stCxn id="102" idx="1"/>
            <a:endCxn id="110" idx="3"/>
          </p:cNvCxnSpPr>
          <p:nvPr/>
        </p:nvCxnSpPr>
        <p:spPr>
          <a:xfrm flipH="1">
            <a:off x="4943232" y="4990626"/>
            <a:ext cx="1414087" cy="0"/>
          </a:xfrm>
          <a:prstGeom prst="straightConnector1">
            <a:avLst/>
          </a:prstGeom>
          <a:noFill/>
          <a:ln w="38100" cap="flat" cmpd="sng">
            <a:solidFill>
              <a:schemeClr val="dk2"/>
            </a:solidFill>
            <a:prstDash val="solid"/>
            <a:round/>
            <a:headEnd type="none" w="med" len="med"/>
            <a:tailEnd type="triangle" w="med" len="med"/>
          </a:ln>
        </p:spPr>
      </p:cxnSp>
      <p:sp>
        <p:nvSpPr>
          <p:cNvPr id="110" name="Google Shape;110;p16"/>
          <p:cNvSpPr txBox="1"/>
          <p:nvPr/>
        </p:nvSpPr>
        <p:spPr>
          <a:xfrm>
            <a:off x="4464732" y="4829050"/>
            <a:ext cx="478500" cy="323151"/>
          </a:xfrm>
          <a:prstGeom prst="rect">
            <a:avLst/>
          </a:prstGeom>
          <a:noFill/>
          <a:ln>
            <a:noFill/>
          </a:ln>
        </p:spPr>
        <p:txBody>
          <a:bodyPr spcFirstLastPara="1" wrap="square" lIns="45713" tIns="45713" rIns="45713" bIns="45713" anchor="t" anchorCtr="0">
            <a:spAutoFit/>
          </a:bodyPr>
          <a:lstStyle/>
          <a:p>
            <a:pPr algn="ctr"/>
            <a:r>
              <a:rPr lang="en" sz="1500"/>
              <a:t>3</a:t>
            </a:r>
            <a:endParaRPr sz="1500"/>
          </a:p>
        </p:txBody>
      </p:sp>
      <p:cxnSp>
        <p:nvCxnSpPr>
          <p:cNvPr id="111" name="Google Shape;111;p16"/>
          <p:cNvCxnSpPr/>
          <p:nvPr/>
        </p:nvCxnSpPr>
        <p:spPr>
          <a:xfrm>
            <a:off x="379275" y="3750150"/>
            <a:ext cx="8385450" cy="0"/>
          </a:xfrm>
          <a:prstGeom prst="straightConnector1">
            <a:avLst/>
          </a:prstGeom>
          <a:noFill/>
          <a:ln w="38100" cap="flat" cmpd="sng">
            <a:solidFill>
              <a:srgbClr val="999999"/>
            </a:solidFill>
            <a:prstDash val="dash"/>
            <a:round/>
            <a:headEnd type="none" w="med" len="med"/>
            <a:tailEnd type="none" w="med" len="med"/>
          </a:ln>
        </p:spPr>
      </p:cxnSp>
      <p:sp>
        <p:nvSpPr>
          <p:cNvPr id="112" name="Google Shape;112;p16"/>
          <p:cNvSpPr txBox="1"/>
          <p:nvPr/>
        </p:nvSpPr>
        <p:spPr>
          <a:xfrm>
            <a:off x="4891200" y="5446525"/>
            <a:ext cx="884550" cy="323151"/>
          </a:xfrm>
          <a:prstGeom prst="rect">
            <a:avLst/>
          </a:prstGeom>
          <a:noFill/>
          <a:ln>
            <a:noFill/>
          </a:ln>
        </p:spPr>
        <p:txBody>
          <a:bodyPr spcFirstLastPara="1" wrap="square" lIns="45713" tIns="45713" rIns="45713" bIns="45713" anchor="t" anchorCtr="0">
            <a:spAutoFit/>
          </a:bodyPr>
          <a:lstStyle/>
          <a:p>
            <a:r>
              <a:rPr lang="en" sz="1500">
                <a:solidFill>
                  <a:srgbClr val="FF0000"/>
                </a:solidFill>
              </a:rPr>
              <a:t>Uh-oh.</a:t>
            </a:r>
            <a:endParaRPr sz="15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fade">
                                      <p:cBhvr>
                                        <p:cTn id="7" dur="1000"/>
                                        <p:tgtEl>
                                          <p:spTgt spid="83"/>
                                        </p:tgtEl>
                                      </p:cBhvr>
                                    </p:animEffect>
                                  </p:childTnLst>
                                </p:cTn>
                              </p:par>
                              <p:par>
                                <p:cTn id="8" presetID="10" presetClass="entr" presetSubtype="0" fill="hold" nodeType="withEffect">
                                  <p:stCondLst>
                                    <p:cond delay="0"/>
                                  </p:stCondLst>
                                  <p:childTnLst>
                                    <p:set>
                                      <p:cBhvr>
                                        <p:cTn id="9" dur="1" fill="hold">
                                          <p:stCondLst>
                                            <p:cond delay="0"/>
                                          </p:stCondLst>
                                        </p:cTn>
                                        <p:tgtEl>
                                          <p:spTgt spid="84"/>
                                        </p:tgtEl>
                                        <p:attrNameLst>
                                          <p:attrName>style.visibility</p:attrName>
                                        </p:attrNameLst>
                                      </p:cBhvr>
                                      <p:to>
                                        <p:strVal val="visible"/>
                                      </p:to>
                                    </p:set>
                                    <p:animEffect transition="in" filter="fade">
                                      <p:cBhvr>
                                        <p:cTn id="10" dur="1000"/>
                                        <p:tgtEl>
                                          <p:spTgt spid="84"/>
                                        </p:tgtEl>
                                      </p:cBhvr>
                                    </p:animEffect>
                                  </p:childTnLst>
                                </p:cTn>
                              </p:par>
                              <p:par>
                                <p:cTn id="11" presetID="10" presetClass="entr" presetSubtype="0" fill="hold" nodeType="withEffect">
                                  <p:stCondLst>
                                    <p:cond delay="0"/>
                                  </p:stCondLst>
                                  <p:childTnLst>
                                    <p:set>
                                      <p:cBhvr>
                                        <p:cTn id="12" dur="1" fill="hold">
                                          <p:stCondLst>
                                            <p:cond delay="0"/>
                                          </p:stCondLst>
                                        </p:cTn>
                                        <p:tgtEl>
                                          <p:spTgt spid="85"/>
                                        </p:tgtEl>
                                        <p:attrNameLst>
                                          <p:attrName>style.visibility</p:attrName>
                                        </p:attrNameLst>
                                      </p:cBhvr>
                                      <p:to>
                                        <p:strVal val="visible"/>
                                      </p:to>
                                    </p:set>
                                    <p:animEffect transition="in" filter="fade">
                                      <p:cBhvr>
                                        <p:cTn id="13" dur="1000"/>
                                        <p:tgtEl>
                                          <p:spTgt spid="85"/>
                                        </p:tgtEl>
                                      </p:cBhvr>
                                    </p:animEffect>
                                  </p:childTnLst>
                                </p:cTn>
                              </p:par>
                              <p:par>
                                <p:cTn id="14" presetID="10" presetClass="entr" presetSubtype="0" fill="hold" nodeType="withEffect">
                                  <p:stCondLst>
                                    <p:cond delay="0"/>
                                  </p:stCondLst>
                                  <p:childTnLst>
                                    <p:set>
                                      <p:cBhvr>
                                        <p:cTn id="15" dur="1" fill="hold">
                                          <p:stCondLst>
                                            <p:cond delay="0"/>
                                          </p:stCondLst>
                                        </p:cTn>
                                        <p:tgtEl>
                                          <p:spTgt spid="90"/>
                                        </p:tgtEl>
                                        <p:attrNameLst>
                                          <p:attrName>style.visibility</p:attrName>
                                        </p:attrNameLst>
                                      </p:cBhvr>
                                      <p:to>
                                        <p:strVal val="visible"/>
                                      </p:to>
                                    </p:set>
                                    <p:animEffect transition="in" filter="fade">
                                      <p:cBhvr>
                                        <p:cTn id="16" dur="1000"/>
                                        <p:tgtEl>
                                          <p:spTgt spid="90"/>
                                        </p:tgtEl>
                                      </p:cBhvr>
                                    </p:animEffect>
                                  </p:childTnLst>
                                </p:cTn>
                              </p:par>
                              <p:par>
                                <p:cTn id="17" presetID="10" presetClass="entr" presetSubtype="0" fill="hold" nodeType="withEffect">
                                  <p:stCondLst>
                                    <p:cond delay="0"/>
                                  </p:stCondLst>
                                  <p:childTnLst>
                                    <p:set>
                                      <p:cBhvr>
                                        <p:cTn id="18" dur="1" fill="hold">
                                          <p:stCondLst>
                                            <p:cond delay="0"/>
                                          </p:stCondLst>
                                        </p:cTn>
                                        <p:tgtEl>
                                          <p:spTgt spid="91"/>
                                        </p:tgtEl>
                                        <p:attrNameLst>
                                          <p:attrName>style.visibility</p:attrName>
                                        </p:attrNameLst>
                                      </p:cBhvr>
                                      <p:to>
                                        <p:strVal val="visible"/>
                                      </p:to>
                                    </p:set>
                                    <p:animEffect transition="in" filter="fade">
                                      <p:cBhvr>
                                        <p:cTn id="19" dur="1000"/>
                                        <p:tgtEl>
                                          <p:spTgt spid="91"/>
                                        </p:tgtEl>
                                      </p:cBhvr>
                                    </p:animEffect>
                                  </p:childTnLst>
                                </p:cTn>
                              </p:par>
                              <p:par>
                                <p:cTn id="20" presetID="10" presetClass="entr" presetSubtype="0" fill="hold" nodeType="withEffect">
                                  <p:stCondLst>
                                    <p:cond delay="0"/>
                                  </p:stCondLst>
                                  <p:childTnLst>
                                    <p:set>
                                      <p:cBhvr>
                                        <p:cTn id="21" dur="1" fill="hold">
                                          <p:stCondLst>
                                            <p:cond delay="0"/>
                                          </p:stCondLst>
                                        </p:cTn>
                                        <p:tgtEl>
                                          <p:spTgt spid="92"/>
                                        </p:tgtEl>
                                        <p:attrNameLst>
                                          <p:attrName>style.visibility</p:attrName>
                                        </p:attrNameLst>
                                      </p:cBhvr>
                                      <p:to>
                                        <p:strVal val="visible"/>
                                      </p:to>
                                    </p:set>
                                    <p:animEffect transition="in" filter="fade">
                                      <p:cBhvr>
                                        <p:cTn id="22" dur="1000"/>
                                        <p:tgtEl>
                                          <p:spTgt spid="9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6"/>
                                        </p:tgtEl>
                                        <p:attrNameLst>
                                          <p:attrName>style.visibility</p:attrName>
                                        </p:attrNameLst>
                                      </p:cBhvr>
                                      <p:to>
                                        <p:strVal val="visible"/>
                                      </p:to>
                                    </p:set>
                                    <p:animEffect transition="in" filter="fade">
                                      <p:cBhvr>
                                        <p:cTn id="27" dur="1000"/>
                                        <p:tgtEl>
                                          <p:spTgt spid="86"/>
                                        </p:tgtEl>
                                      </p:cBhvr>
                                    </p:animEffect>
                                  </p:childTnLst>
                                </p:cTn>
                              </p:par>
                              <p:par>
                                <p:cTn id="28" presetID="10" presetClass="entr" presetSubtype="0" fill="hold" nodeType="withEffect">
                                  <p:stCondLst>
                                    <p:cond delay="0"/>
                                  </p:stCondLst>
                                  <p:childTnLst>
                                    <p:set>
                                      <p:cBhvr>
                                        <p:cTn id="29" dur="1" fill="hold">
                                          <p:stCondLst>
                                            <p:cond delay="0"/>
                                          </p:stCondLst>
                                        </p:cTn>
                                        <p:tgtEl>
                                          <p:spTgt spid="87"/>
                                        </p:tgtEl>
                                        <p:attrNameLst>
                                          <p:attrName>style.visibility</p:attrName>
                                        </p:attrNameLst>
                                      </p:cBhvr>
                                      <p:to>
                                        <p:strVal val="visible"/>
                                      </p:to>
                                    </p:set>
                                    <p:animEffect transition="in" filter="fade">
                                      <p:cBhvr>
                                        <p:cTn id="30" dur="1000"/>
                                        <p:tgtEl>
                                          <p:spTgt spid="87"/>
                                        </p:tgtEl>
                                      </p:cBhvr>
                                    </p:animEffect>
                                  </p:childTnLst>
                                </p:cTn>
                              </p:par>
                              <p:par>
                                <p:cTn id="31" presetID="10" presetClass="entr" presetSubtype="0" fill="hold" nodeType="withEffect">
                                  <p:stCondLst>
                                    <p:cond delay="0"/>
                                  </p:stCondLst>
                                  <p:childTnLst>
                                    <p:set>
                                      <p:cBhvr>
                                        <p:cTn id="32" dur="1" fill="hold">
                                          <p:stCondLst>
                                            <p:cond delay="0"/>
                                          </p:stCondLst>
                                        </p:cTn>
                                        <p:tgtEl>
                                          <p:spTgt spid="88"/>
                                        </p:tgtEl>
                                        <p:attrNameLst>
                                          <p:attrName>style.visibility</p:attrName>
                                        </p:attrNameLst>
                                      </p:cBhvr>
                                      <p:to>
                                        <p:strVal val="visible"/>
                                      </p:to>
                                    </p:set>
                                    <p:animEffect transition="in" filter="fade">
                                      <p:cBhvr>
                                        <p:cTn id="33" dur="1000"/>
                                        <p:tgtEl>
                                          <p:spTgt spid="88"/>
                                        </p:tgtEl>
                                      </p:cBhvr>
                                    </p:animEffect>
                                  </p:childTnLst>
                                </p:cTn>
                              </p:par>
                              <p:par>
                                <p:cTn id="34" presetID="10" presetClass="entr" presetSubtype="0" fill="hold" nodeType="withEffect">
                                  <p:stCondLst>
                                    <p:cond delay="0"/>
                                  </p:stCondLst>
                                  <p:childTnLst>
                                    <p:set>
                                      <p:cBhvr>
                                        <p:cTn id="35" dur="1" fill="hold">
                                          <p:stCondLst>
                                            <p:cond delay="0"/>
                                          </p:stCondLst>
                                        </p:cTn>
                                        <p:tgtEl>
                                          <p:spTgt spid="93"/>
                                        </p:tgtEl>
                                        <p:attrNameLst>
                                          <p:attrName>style.visibility</p:attrName>
                                        </p:attrNameLst>
                                      </p:cBhvr>
                                      <p:to>
                                        <p:strVal val="visible"/>
                                      </p:to>
                                    </p:set>
                                    <p:animEffect transition="in" filter="fade">
                                      <p:cBhvr>
                                        <p:cTn id="36" dur="1000"/>
                                        <p:tgtEl>
                                          <p:spTgt spid="93"/>
                                        </p:tgtEl>
                                      </p:cBhvr>
                                    </p:animEffect>
                                  </p:childTnLst>
                                </p:cTn>
                              </p:par>
                              <p:par>
                                <p:cTn id="37" presetID="10" presetClass="entr" presetSubtype="0" fill="hold" nodeType="withEffect">
                                  <p:stCondLst>
                                    <p:cond delay="0"/>
                                  </p:stCondLst>
                                  <p:childTnLst>
                                    <p:set>
                                      <p:cBhvr>
                                        <p:cTn id="38" dur="1" fill="hold">
                                          <p:stCondLst>
                                            <p:cond delay="0"/>
                                          </p:stCondLst>
                                        </p:cTn>
                                        <p:tgtEl>
                                          <p:spTgt spid="94"/>
                                        </p:tgtEl>
                                        <p:attrNameLst>
                                          <p:attrName>style.visibility</p:attrName>
                                        </p:attrNameLst>
                                      </p:cBhvr>
                                      <p:to>
                                        <p:strVal val="visible"/>
                                      </p:to>
                                    </p:set>
                                    <p:animEffect transition="in" filter="fade">
                                      <p:cBhvr>
                                        <p:cTn id="39" dur="1000"/>
                                        <p:tgtEl>
                                          <p:spTgt spid="94"/>
                                        </p:tgtEl>
                                      </p:cBhvr>
                                    </p:animEffect>
                                  </p:childTnLst>
                                </p:cTn>
                              </p:par>
                              <p:par>
                                <p:cTn id="40" presetID="10" presetClass="entr" presetSubtype="0" fill="hold" nodeType="withEffect">
                                  <p:stCondLst>
                                    <p:cond delay="0"/>
                                  </p:stCondLst>
                                  <p:childTnLst>
                                    <p:set>
                                      <p:cBhvr>
                                        <p:cTn id="41" dur="1" fill="hold">
                                          <p:stCondLst>
                                            <p:cond delay="0"/>
                                          </p:stCondLst>
                                        </p:cTn>
                                        <p:tgtEl>
                                          <p:spTgt spid="95"/>
                                        </p:tgtEl>
                                        <p:attrNameLst>
                                          <p:attrName>style.visibility</p:attrName>
                                        </p:attrNameLst>
                                      </p:cBhvr>
                                      <p:to>
                                        <p:strVal val="visible"/>
                                      </p:to>
                                    </p:set>
                                    <p:animEffect transition="in" filter="fade">
                                      <p:cBhvr>
                                        <p:cTn id="42" dur="1000"/>
                                        <p:tgtEl>
                                          <p:spTgt spid="95"/>
                                        </p:tgtEl>
                                      </p:cBhvr>
                                    </p:animEffect>
                                  </p:childTnLst>
                                </p:cTn>
                              </p:par>
                              <p:par>
                                <p:cTn id="43" presetID="10" presetClass="entr" presetSubtype="0" fill="hold" nodeType="withEffect">
                                  <p:stCondLst>
                                    <p:cond delay="0"/>
                                  </p:stCondLst>
                                  <p:childTnLst>
                                    <p:set>
                                      <p:cBhvr>
                                        <p:cTn id="44" dur="1" fill="hold">
                                          <p:stCondLst>
                                            <p:cond delay="0"/>
                                          </p:stCondLst>
                                        </p:cTn>
                                        <p:tgtEl>
                                          <p:spTgt spid="96"/>
                                        </p:tgtEl>
                                        <p:attrNameLst>
                                          <p:attrName>style.visibility</p:attrName>
                                        </p:attrNameLst>
                                      </p:cBhvr>
                                      <p:to>
                                        <p:strVal val="visible"/>
                                      </p:to>
                                    </p:set>
                                    <p:animEffect transition="in" filter="fade">
                                      <p:cBhvr>
                                        <p:cTn id="45" dur="1000"/>
                                        <p:tgtEl>
                                          <p:spTgt spid="9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11"/>
                                        </p:tgtEl>
                                        <p:attrNameLst>
                                          <p:attrName>style.visibility</p:attrName>
                                        </p:attrNameLst>
                                      </p:cBhvr>
                                      <p:to>
                                        <p:strVal val="visible"/>
                                      </p:to>
                                    </p:set>
                                    <p:animEffect transition="in" filter="fade">
                                      <p:cBhvr>
                                        <p:cTn id="50" dur="1000"/>
                                        <p:tgtEl>
                                          <p:spTgt spid="111"/>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97"/>
                                        </p:tgtEl>
                                        <p:attrNameLst>
                                          <p:attrName>style.visibility</p:attrName>
                                        </p:attrNameLst>
                                      </p:cBhvr>
                                      <p:to>
                                        <p:strVal val="visible"/>
                                      </p:to>
                                    </p:set>
                                    <p:animEffect transition="in" filter="fade">
                                      <p:cBhvr>
                                        <p:cTn id="55" dur="1000"/>
                                        <p:tgtEl>
                                          <p:spTgt spid="97"/>
                                        </p:tgtEl>
                                      </p:cBhvr>
                                    </p:animEffect>
                                  </p:childTnLst>
                                </p:cTn>
                              </p:par>
                              <p:par>
                                <p:cTn id="56" presetID="10" presetClass="entr" presetSubtype="0" fill="hold" nodeType="withEffect">
                                  <p:stCondLst>
                                    <p:cond delay="0"/>
                                  </p:stCondLst>
                                  <p:childTnLst>
                                    <p:set>
                                      <p:cBhvr>
                                        <p:cTn id="57" dur="1" fill="hold">
                                          <p:stCondLst>
                                            <p:cond delay="0"/>
                                          </p:stCondLst>
                                        </p:cTn>
                                        <p:tgtEl>
                                          <p:spTgt spid="103"/>
                                        </p:tgtEl>
                                        <p:attrNameLst>
                                          <p:attrName>style.visibility</p:attrName>
                                        </p:attrNameLst>
                                      </p:cBhvr>
                                      <p:to>
                                        <p:strVal val="visible"/>
                                      </p:to>
                                    </p:set>
                                    <p:animEffect transition="in" filter="fade">
                                      <p:cBhvr>
                                        <p:cTn id="58" dur="1000"/>
                                        <p:tgtEl>
                                          <p:spTgt spid="103"/>
                                        </p:tgtEl>
                                      </p:cBhvr>
                                    </p:animEffect>
                                  </p:childTnLst>
                                </p:cTn>
                              </p:par>
                              <p:par>
                                <p:cTn id="59" presetID="10" presetClass="entr" presetSubtype="0" fill="hold" nodeType="withEffect">
                                  <p:stCondLst>
                                    <p:cond delay="0"/>
                                  </p:stCondLst>
                                  <p:childTnLst>
                                    <p:set>
                                      <p:cBhvr>
                                        <p:cTn id="60" dur="1" fill="hold">
                                          <p:stCondLst>
                                            <p:cond delay="0"/>
                                          </p:stCondLst>
                                        </p:cTn>
                                        <p:tgtEl>
                                          <p:spTgt spid="104"/>
                                        </p:tgtEl>
                                        <p:attrNameLst>
                                          <p:attrName>style.visibility</p:attrName>
                                        </p:attrNameLst>
                                      </p:cBhvr>
                                      <p:to>
                                        <p:strVal val="visible"/>
                                      </p:to>
                                    </p:set>
                                    <p:animEffect transition="in" filter="fade">
                                      <p:cBhvr>
                                        <p:cTn id="61" dur="1000"/>
                                        <p:tgtEl>
                                          <p:spTgt spid="104"/>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00"/>
                                        </p:tgtEl>
                                        <p:attrNameLst>
                                          <p:attrName>style.visibility</p:attrName>
                                        </p:attrNameLst>
                                      </p:cBhvr>
                                      <p:to>
                                        <p:strVal val="visible"/>
                                      </p:to>
                                    </p:set>
                                    <p:animEffect transition="in" filter="fade">
                                      <p:cBhvr>
                                        <p:cTn id="66" dur="1000"/>
                                        <p:tgtEl>
                                          <p:spTgt spid="100"/>
                                        </p:tgtEl>
                                      </p:cBhvr>
                                    </p:animEffect>
                                  </p:childTnLst>
                                </p:cTn>
                              </p:par>
                              <p:par>
                                <p:cTn id="67" presetID="10" presetClass="entr" presetSubtype="0" fill="hold" nodeType="withEffect">
                                  <p:stCondLst>
                                    <p:cond delay="0"/>
                                  </p:stCondLst>
                                  <p:childTnLst>
                                    <p:set>
                                      <p:cBhvr>
                                        <p:cTn id="68" dur="1" fill="hold">
                                          <p:stCondLst>
                                            <p:cond delay="0"/>
                                          </p:stCondLst>
                                        </p:cTn>
                                        <p:tgtEl>
                                          <p:spTgt spid="101"/>
                                        </p:tgtEl>
                                        <p:attrNameLst>
                                          <p:attrName>style.visibility</p:attrName>
                                        </p:attrNameLst>
                                      </p:cBhvr>
                                      <p:to>
                                        <p:strVal val="visible"/>
                                      </p:to>
                                    </p:set>
                                    <p:animEffect transition="in" filter="fade">
                                      <p:cBhvr>
                                        <p:cTn id="69" dur="1000"/>
                                        <p:tgtEl>
                                          <p:spTgt spid="101"/>
                                        </p:tgtEl>
                                      </p:cBhvr>
                                    </p:animEffect>
                                  </p:childTnLst>
                                </p:cTn>
                              </p:par>
                              <p:par>
                                <p:cTn id="70" presetID="10" presetClass="entr" presetSubtype="0" fill="hold" nodeType="withEffect">
                                  <p:stCondLst>
                                    <p:cond delay="0"/>
                                  </p:stCondLst>
                                  <p:childTnLst>
                                    <p:set>
                                      <p:cBhvr>
                                        <p:cTn id="71" dur="1" fill="hold">
                                          <p:stCondLst>
                                            <p:cond delay="0"/>
                                          </p:stCondLst>
                                        </p:cTn>
                                        <p:tgtEl>
                                          <p:spTgt spid="102"/>
                                        </p:tgtEl>
                                        <p:attrNameLst>
                                          <p:attrName>style.visibility</p:attrName>
                                        </p:attrNameLst>
                                      </p:cBhvr>
                                      <p:to>
                                        <p:strVal val="visible"/>
                                      </p:to>
                                    </p:set>
                                    <p:animEffect transition="in" filter="fade">
                                      <p:cBhvr>
                                        <p:cTn id="72" dur="1000"/>
                                        <p:tgtEl>
                                          <p:spTgt spid="102"/>
                                        </p:tgtEl>
                                      </p:cBhvr>
                                    </p:animEffect>
                                  </p:childTnLst>
                                </p:cTn>
                              </p:par>
                              <p:par>
                                <p:cTn id="73" presetID="10" presetClass="entr" presetSubtype="0" fill="hold" nodeType="withEffect">
                                  <p:stCondLst>
                                    <p:cond delay="0"/>
                                  </p:stCondLst>
                                  <p:childTnLst>
                                    <p:set>
                                      <p:cBhvr>
                                        <p:cTn id="74" dur="1" fill="hold">
                                          <p:stCondLst>
                                            <p:cond delay="0"/>
                                          </p:stCondLst>
                                        </p:cTn>
                                        <p:tgtEl>
                                          <p:spTgt spid="107"/>
                                        </p:tgtEl>
                                        <p:attrNameLst>
                                          <p:attrName>style.visibility</p:attrName>
                                        </p:attrNameLst>
                                      </p:cBhvr>
                                      <p:to>
                                        <p:strVal val="visible"/>
                                      </p:to>
                                    </p:set>
                                    <p:animEffect transition="in" filter="fade">
                                      <p:cBhvr>
                                        <p:cTn id="75" dur="1000"/>
                                        <p:tgtEl>
                                          <p:spTgt spid="107"/>
                                        </p:tgtEl>
                                      </p:cBhvr>
                                    </p:animEffect>
                                  </p:childTnLst>
                                </p:cTn>
                              </p:par>
                              <p:par>
                                <p:cTn id="76" presetID="10" presetClass="entr" presetSubtype="0" fill="hold" nodeType="withEffect">
                                  <p:stCondLst>
                                    <p:cond delay="0"/>
                                  </p:stCondLst>
                                  <p:childTnLst>
                                    <p:set>
                                      <p:cBhvr>
                                        <p:cTn id="77" dur="1" fill="hold">
                                          <p:stCondLst>
                                            <p:cond delay="0"/>
                                          </p:stCondLst>
                                        </p:cTn>
                                        <p:tgtEl>
                                          <p:spTgt spid="108"/>
                                        </p:tgtEl>
                                        <p:attrNameLst>
                                          <p:attrName>style.visibility</p:attrName>
                                        </p:attrNameLst>
                                      </p:cBhvr>
                                      <p:to>
                                        <p:strVal val="visible"/>
                                      </p:to>
                                    </p:set>
                                    <p:animEffect transition="in" filter="fade">
                                      <p:cBhvr>
                                        <p:cTn id="78" dur="1000"/>
                                        <p:tgtEl>
                                          <p:spTgt spid="108"/>
                                        </p:tgtEl>
                                      </p:cBhvr>
                                    </p:animEffect>
                                  </p:childTnLst>
                                </p:cTn>
                              </p:par>
                              <p:par>
                                <p:cTn id="79" presetID="10" presetClass="entr" presetSubtype="0" fill="hold" nodeType="withEffect">
                                  <p:stCondLst>
                                    <p:cond delay="0"/>
                                  </p:stCondLst>
                                  <p:childTnLst>
                                    <p:set>
                                      <p:cBhvr>
                                        <p:cTn id="80" dur="1" fill="hold">
                                          <p:stCondLst>
                                            <p:cond delay="0"/>
                                          </p:stCondLst>
                                        </p:cTn>
                                        <p:tgtEl>
                                          <p:spTgt spid="109"/>
                                        </p:tgtEl>
                                        <p:attrNameLst>
                                          <p:attrName>style.visibility</p:attrName>
                                        </p:attrNameLst>
                                      </p:cBhvr>
                                      <p:to>
                                        <p:strVal val="visible"/>
                                      </p:to>
                                    </p:set>
                                    <p:animEffect transition="in" filter="fade">
                                      <p:cBhvr>
                                        <p:cTn id="81" dur="1000"/>
                                        <p:tgtEl>
                                          <p:spTgt spid="109"/>
                                        </p:tgtEl>
                                      </p:cBhvr>
                                    </p:animEffect>
                                  </p:childTnLst>
                                </p:cTn>
                              </p:par>
                              <p:par>
                                <p:cTn id="82" presetID="10" presetClass="entr" presetSubtype="0" fill="hold" nodeType="withEffect">
                                  <p:stCondLst>
                                    <p:cond delay="0"/>
                                  </p:stCondLst>
                                  <p:childTnLst>
                                    <p:set>
                                      <p:cBhvr>
                                        <p:cTn id="83" dur="1" fill="hold">
                                          <p:stCondLst>
                                            <p:cond delay="0"/>
                                          </p:stCondLst>
                                        </p:cTn>
                                        <p:tgtEl>
                                          <p:spTgt spid="110"/>
                                        </p:tgtEl>
                                        <p:attrNameLst>
                                          <p:attrName>style.visibility</p:attrName>
                                        </p:attrNameLst>
                                      </p:cBhvr>
                                      <p:to>
                                        <p:strVal val="visible"/>
                                      </p:to>
                                    </p:set>
                                    <p:animEffect transition="in" filter="fade">
                                      <p:cBhvr>
                                        <p:cTn id="84" dur="1000"/>
                                        <p:tgtEl>
                                          <p:spTgt spid="110"/>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98"/>
                                        </p:tgtEl>
                                        <p:attrNameLst>
                                          <p:attrName>style.visibility</p:attrName>
                                        </p:attrNameLst>
                                      </p:cBhvr>
                                      <p:to>
                                        <p:strVal val="visible"/>
                                      </p:to>
                                    </p:set>
                                    <p:animEffect transition="in" filter="fade">
                                      <p:cBhvr>
                                        <p:cTn id="89" dur="1000"/>
                                        <p:tgtEl>
                                          <p:spTgt spid="98"/>
                                        </p:tgtEl>
                                      </p:cBhvr>
                                    </p:animEffect>
                                  </p:childTnLst>
                                </p:cTn>
                              </p:par>
                              <p:par>
                                <p:cTn id="90" presetID="10" presetClass="entr" presetSubtype="0" fill="hold" nodeType="withEffect">
                                  <p:stCondLst>
                                    <p:cond delay="0"/>
                                  </p:stCondLst>
                                  <p:childTnLst>
                                    <p:set>
                                      <p:cBhvr>
                                        <p:cTn id="91" dur="1" fill="hold">
                                          <p:stCondLst>
                                            <p:cond delay="0"/>
                                          </p:stCondLst>
                                        </p:cTn>
                                        <p:tgtEl>
                                          <p:spTgt spid="99"/>
                                        </p:tgtEl>
                                        <p:attrNameLst>
                                          <p:attrName>style.visibility</p:attrName>
                                        </p:attrNameLst>
                                      </p:cBhvr>
                                      <p:to>
                                        <p:strVal val="visible"/>
                                      </p:to>
                                    </p:set>
                                    <p:animEffect transition="in" filter="fade">
                                      <p:cBhvr>
                                        <p:cTn id="92" dur="1000"/>
                                        <p:tgtEl>
                                          <p:spTgt spid="99"/>
                                        </p:tgtEl>
                                      </p:cBhvr>
                                    </p:animEffect>
                                  </p:childTnLst>
                                </p:cTn>
                              </p:par>
                              <p:par>
                                <p:cTn id="93" presetID="10" presetClass="entr" presetSubtype="0" fill="hold" nodeType="withEffect">
                                  <p:stCondLst>
                                    <p:cond delay="0"/>
                                  </p:stCondLst>
                                  <p:childTnLst>
                                    <p:set>
                                      <p:cBhvr>
                                        <p:cTn id="94" dur="1" fill="hold">
                                          <p:stCondLst>
                                            <p:cond delay="0"/>
                                          </p:stCondLst>
                                        </p:cTn>
                                        <p:tgtEl>
                                          <p:spTgt spid="105"/>
                                        </p:tgtEl>
                                        <p:attrNameLst>
                                          <p:attrName>style.visibility</p:attrName>
                                        </p:attrNameLst>
                                      </p:cBhvr>
                                      <p:to>
                                        <p:strVal val="visible"/>
                                      </p:to>
                                    </p:set>
                                    <p:animEffect transition="in" filter="fade">
                                      <p:cBhvr>
                                        <p:cTn id="95" dur="1000"/>
                                        <p:tgtEl>
                                          <p:spTgt spid="105"/>
                                        </p:tgtEl>
                                      </p:cBhvr>
                                    </p:animEffect>
                                  </p:childTnLst>
                                </p:cTn>
                              </p:par>
                              <p:par>
                                <p:cTn id="96" presetID="10" presetClass="entr" presetSubtype="0" fill="hold" nodeType="withEffect">
                                  <p:stCondLst>
                                    <p:cond delay="0"/>
                                  </p:stCondLst>
                                  <p:childTnLst>
                                    <p:set>
                                      <p:cBhvr>
                                        <p:cTn id="97" dur="1" fill="hold">
                                          <p:stCondLst>
                                            <p:cond delay="0"/>
                                          </p:stCondLst>
                                        </p:cTn>
                                        <p:tgtEl>
                                          <p:spTgt spid="106"/>
                                        </p:tgtEl>
                                        <p:attrNameLst>
                                          <p:attrName>style.visibility</p:attrName>
                                        </p:attrNameLst>
                                      </p:cBhvr>
                                      <p:to>
                                        <p:strVal val="visible"/>
                                      </p:to>
                                    </p:set>
                                    <p:animEffect transition="in" filter="fade">
                                      <p:cBhvr>
                                        <p:cTn id="98" dur="1000"/>
                                        <p:tgtEl>
                                          <p:spTgt spid="106"/>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112"/>
                                        </p:tgtEl>
                                        <p:attrNameLst>
                                          <p:attrName>style.visibility</p:attrName>
                                        </p:attrNameLst>
                                      </p:cBhvr>
                                      <p:to>
                                        <p:strVal val="visible"/>
                                      </p:to>
                                    </p:set>
                                    <p:animEffect transition="in" filter="fade">
                                      <p:cBhvr>
                                        <p:cTn id="103" dur="10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7"/>
          <p:cNvSpPr txBox="1">
            <a:spLocks noGrp="1"/>
          </p:cNvSpPr>
          <p:nvPr>
            <p:ph type="title"/>
          </p:nvPr>
        </p:nvSpPr>
        <p:spPr>
          <a:xfrm>
            <a:off x="311700" y="1302275"/>
            <a:ext cx="8520600" cy="572700"/>
          </a:xfrm>
          <a:prstGeom prst="rect">
            <a:avLst/>
          </a:prstGeom>
        </p:spPr>
        <p:txBody>
          <a:bodyPr spcFirstLastPara="1" vert="horz" wrap="square" lIns="91425" tIns="91425" rIns="91425" bIns="91425" rtlCol="0" anchor="t" anchorCtr="0">
            <a:noAutofit/>
          </a:bodyPr>
          <a:lstStyle/>
          <a:p>
            <a:pPr algn="l"/>
            <a:r>
              <a:rPr lang="en" sz="2400"/>
              <a:t>Protecting Shared Resources and Synchronizing Threads</a:t>
            </a:r>
            <a:endParaRPr sz="2400"/>
          </a:p>
        </p:txBody>
      </p:sp>
      <p:sp>
        <p:nvSpPr>
          <p:cNvPr id="118" name="Google Shape;118;p17"/>
          <p:cNvSpPr txBox="1">
            <a:spLocks noGrp="1"/>
          </p:cNvSpPr>
          <p:nvPr>
            <p:ph type="body" idx="1"/>
          </p:nvPr>
        </p:nvSpPr>
        <p:spPr>
          <a:xfrm>
            <a:off x="311700" y="2009725"/>
            <a:ext cx="8520600" cy="3416400"/>
          </a:xfrm>
          <a:prstGeom prst="rect">
            <a:avLst/>
          </a:prstGeom>
        </p:spPr>
        <p:txBody>
          <a:bodyPr spcFirstLastPara="1" vert="horz" wrap="square" lIns="91425" tIns="91425" rIns="91425" bIns="91425" rtlCol="0" anchor="t" anchorCtr="0">
            <a:noAutofit/>
          </a:bodyPr>
          <a:lstStyle/>
          <a:p>
            <a:r>
              <a:rPr lang="en"/>
              <a:t>Queue: pass messages (data) between threads</a:t>
            </a:r>
            <a:endParaRPr/>
          </a:p>
          <a:p>
            <a:r>
              <a:rPr lang="en"/>
              <a:t>Lock: allows only one thread to enter the “locked” section of code</a:t>
            </a:r>
            <a:endParaRPr/>
          </a:p>
          <a:p>
            <a:r>
              <a:rPr lang="en"/>
              <a:t>Mutex (MUTual EXclusion): Like a lock, but system wide (shared by multiple processes)</a:t>
            </a:r>
            <a:endParaRPr/>
          </a:p>
          <a:p>
            <a:r>
              <a:rPr lang="en"/>
              <a:t>Semaphore: allows multiple threads to enter a critical section of code</a:t>
            </a:r>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18"/>
          <p:cNvPicPr preferRelativeResize="0"/>
          <p:nvPr/>
        </p:nvPicPr>
        <p:blipFill>
          <a:blip r:embed="rId3">
            <a:alphaModFix/>
          </a:blip>
          <a:stretch>
            <a:fillRect/>
          </a:stretch>
        </p:blipFill>
        <p:spPr>
          <a:xfrm>
            <a:off x="0" y="857250"/>
            <a:ext cx="9144000" cy="5143503"/>
          </a:xfrm>
          <a:prstGeom prst="rect">
            <a:avLst/>
          </a:prstGeom>
          <a:noFill/>
          <a:ln>
            <a:noFill/>
          </a:ln>
        </p:spPr>
      </p:pic>
      <p:pic>
        <p:nvPicPr>
          <p:cNvPr id="124" name="Google Shape;124;p18"/>
          <p:cNvPicPr preferRelativeResize="0"/>
          <p:nvPr/>
        </p:nvPicPr>
        <p:blipFill>
          <a:blip r:embed="rId4">
            <a:alphaModFix/>
          </a:blip>
          <a:stretch>
            <a:fillRect/>
          </a:stretch>
        </p:blipFill>
        <p:spPr>
          <a:xfrm>
            <a:off x="1077813" y="2943038"/>
            <a:ext cx="1551375" cy="1902063"/>
          </a:xfrm>
          <a:prstGeom prst="rect">
            <a:avLst/>
          </a:prstGeom>
          <a:noFill/>
          <a:ln>
            <a:noFill/>
          </a:ln>
        </p:spPr>
      </p:pic>
      <p:pic>
        <p:nvPicPr>
          <p:cNvPr id="125" name="Google Shape;125;p18"/>
          <p:cNvPicPr preferRelativeResize="0"/>
          <p:nvPr/>
        </p:nvPicPr>
        <p:blipFill>
          <a:blip r:embed="rId5">
            <a:alphaModFix/>
          </a:blip>
          <a:stretch>
            <a:fillRect/>
          </a:stretch>
        </p:blipFill>
        <p:spPr>
          <a:xfrm>
            <a:off x="1432038" y="3893550"/>
            <a:ext cx="1001187" cy="500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4"/>
                                        </p:tgtEl>
                                        <p:attrNameLst>
                                          <p:attrName>style.visibility</p:attrName>
                                        </p:attrNameLst>
                                      </p:cBhvr>
                                      <p:to>
                                        <p:strVal val="visible"/>
                                      </p:to>
                                    </p:set>
                                    <p:animEffect transition="in" filter="fade">
                                      <p:cBhvr>
                                        <p:cTn id="7" dur="1000"/>
                                        <p:tgtEl>
                                          <p:spTgt spid="1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5"/>
                                        </p:tgtEl>
                                        <p:attrNameLst>
                                          <p:attrName>style.visibility</p:attrName>
                                        </p:attrNameLst>
                                      </p:cBhvr>
                                      <p:to>
                                        <p:strVal val="visible"/>
                                      </p:to>
                                    </p:set>
                                    <p:animEffect transition="in" filter="fade">
                                      <p:cBhvr>
                                        <p:cTn id="12" dur="1000"/>
                                        <p:tgtEl>
                                          <p:spTgt spid="1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1000"/>
                                        <p:tgtEl>
                                          <p:spTgt spid="125"/>
                                        </p:tgtEl>
                                      </p:cBhvr>
                                    </p:animEffect>
                                    <p:set>
                                      <p:cBhvr>
                                        <p:cTn id="17" dur="1" fill="hold">
                                          <p:stCondLst>
                                            <p:cond delay="1000"/>
                                          </p:stCondLst>
                                        </p:cTn>
                                        <p:tgtEl>
                                          <p:spTgt spid="12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5"/>
                                        </p:tgtEl>
                                        <p:attrNameLst>
                                          <p:attrName>style.visibility</p:attrName>
                                        </p:attrNameLst>
                                      </p:cBhvr>
                                      <p:to>
                                        <p:strVal val="visible"/>
                                      </p:to>
                                    </p:set>
                                    <p:animEffect transition="in" filter="fade">
                                      <p:cBhvr>
                                        <p:cTn id="22" dur="10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9"/>
          <p:cNvSpPr/>
          <p:nvPr/>
        </p:nvSpPr>
        <p:spPr>
          <a:xfrm>
            <a:off x="4776232" y="974632"/>
            <a:ext cx="1397400" cy="569550"/>
          </a:xfrm>
          <a:prstGeom prst="ellipse">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Global Variable</a:t>
            </a:r>
            <a:endParaRPr sz="1500"/>
          </a:p>
        </p:txBody>
      </p:sp>
      <p:sp>
        <p:nvSpPr>
          <p:cNvPr id="131" name="Google Shape;131;p19"/>
          <p:cNvSpPr/>
          <p:nvPr/>
        </p:nvSpPr>
        <p:spPr>
          <a:xfrm>
            <a:off x="2970369" y="974632"/>
            <a:ext cx="1397400" cy="569550"/>
          </a:xfrm>
          <a:prstGeom prst="ellipse">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Mutex</a:t>
            </a:r>
            <a:endParaRPr sz="1500"/>
          </a:p>
        </p:txBody>
      </p:sp>
      <p:sp>
        <p:nvSpPr>
          <p:cNvPr id="132" name="Google Shape;132;p19"/>
          <p:cNvSpPr/>
          <p:nvPr/>
        </p:nvSpPr>
        <p:spPr>
          <a:xfrm>
            <a:off x="974238" y="1074666"/>
            <a:ext cx="1217550" cy="320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A</a:t>
            </a:r>
            <a:endParaRPr sz="1500"/>
          </a:p>
        </p:txBody>
      </p:sp>
      <p:sp>
        <p:nvSpPr>
          <p:cNvPr id="133" name="Google Shape;133;p19"/>
          <p:cNvSpPr/>
          <p:nvPr/>
        </p:nvSpPr>
        <p:spPr>
          <a:xfrm>
            <a:off x="6952225" y="1074666"/>
            <a:ext cx="1217550" cy="32025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B</a:t>
            </a:r>
            <a:endParaRPr sz="1500"/>
          </a:p>
        </p:txBody>
      </p:sp>
      <p:sp>
        <p:nvSpPr>
          <p:cNvPr id="134" name="Google Shape;134;p19"/>
          <p:cNvSpPr txBox="1"/>
          <p:nvPr/>
        </p:nvSpPr>
        <p:spPr>
          <a:xfrm>
            <a:off x="379332" y="1835163"/>
            <a:ext cx="2407350" cy="323151"/>
          </a:xfrm>
          <a:prstGeom prst="rect">
            <a:avLst/>
          </a:prstGeom>
          <a:noFill/>
          <a:ln>
            <a:noFill/>
          </a:ln>
        </p:spPr>
        <p:txBody>
          <a:bodyPr spcFirstLastPara="1" wrap="square" lIns="45713" tIns="45713" rIns="45713" bIns="45713" anchor="t" anchorCtr="0">
            <a:spAutoFit/>
          </a:bodyPr>
          <a:lstStyle/>
          <a:p>
            <a:pPr algn="ctr"/>
            <a:r>
              <a:rPr lang="en" sz="1500"/>
              <a:t>Check for and take mutex</a:t>
            </a:r>
            <a:endParaRPr sz="1500"/>
          </a:p>
        </p:txBody>
      </p:sp>
      <p:sp>
        <p:nvSpPr>
          <p:cNvPr id="135" name="Google Shape;135;p19"/>
          <p:cNvSpPr txBox="1"/>
          <p:nvPr/>
        </p:nvSpPr>
        <p:spPr>
          <a:xfrm>
            <a:off x="379332" y="2158413"/>
            <a:ext cx="2407350" cy="323151"/>
          </a:xfrm>
          <a:prstGeom prst="rect">
            <a:avLst/>
          </a:prstGeom>
          <a:noFill/>
          <a:ln>
            <a:noFill/>
          </a:ln>
        </p:spPr>
        <p:txBody>
          <a:bodyPr spcFirstLastPara="1" wrap="square" lIns="45713" tIns="45713" rIns="45713" bIns="45713" anchor="t" anchorCtr="0">
            <a:spAutoFit/>
          </a:bodyPr>
          <a:lstStyle/>
          <a:p>
            <a:pPr algn="ctr"/>
            <a:r>
              <a:rPr lang="en" sz="1500"/>
              <a:t>Get value from memory</a:t>
            </a:r>
            <a:endParaRPr sz="1500"/>
          </a:p>
        </p:txBody>
      </p:sp>
      <p:sp>
        <p:nvSpPr>
          <p:cNvPr id="136" name="Google Shape;136;p19"/>
          <p:cNvSpPr txBox="1"/>
          <p:nvPr/>
        </p:nvSpPr>
        <p:spPr>
          <a:xfrm>
            <a:off x="5235682" y="1673325"/>
            <a:ext cx="478500" cy="323151"/>
          </a:xfrm>
          <a:prstGeom prst="rect">
            <a:avLst/>
          </a:prstGeom>
          <a:noFill/>
          <a:ln>
            <a:noFill/>
          </a:ln>
        </p:spPr>
        <p:txBody>
          <a:bodyPr spcFirstLastPara="1" wrap="square" lIns="45713" tIns="45713" rIns="45713" bIns="45713" anchor="t" anchorCtr="0">
            <a:spAutoFit/>
          </a:bodyPr>
          <a:lstStyle/>
          <a:p>
            <a:pPr algn="ctr"/>
            <a:r>
              <a:rPr lang="en" sz="1500"/>
              <a:t>0</a:t>
            </a:r>
            <a:endParaRPr sz="1500"/>
          </a:p>
        </p:txBody>
      </p:sp>
      <p:sp>
        <p:nvSpPr>
          <p:cNvPr id="137" name="Google Shape;137;p19"/>
          <p:cNvSpPr txBox="1"/>
          <p:nvPr/>
        </p:nvSpPr>
        <p:spPr>
          <a:xfrm>
            <a:off x="5235682" y="2319825"/>
            <a:ext cx="478500" cy="323151"/>
          </a:xfrm>
          <a:prstGeom prst="rect">
            <a:avLst/>
          </a:prstGeom>
          <a:noFill/>
          <a:ln>
            <a:noFill/>
          </a:ln>
        </p:spPr>
        <p:txBody>
          <a:bodyPr spcFirstLastPara="1" wrap="square" lIns="45713" tIns="45713" rIns="45713" bIns="45713" anchor="t" anchorCtr="0">
            <a:spAutoFit/>
          </a:bodyPr>
          <a:lstStyle/>
          <a:p>
            <a:pPr algn="ctr"/>
            <a:r>
              <a:rPr lang="en" sz="1500"/>
              <a:t>0</a:t>
            </a:r>
            <a:endParaRPr sz="1500"/>
          </a:p>
        </p:txBody>
      </p:sp>
      <p:sp>
        <p:nvSpPr>
          <p:cNvPr id="138" name="Google Shape;138;p19"/>
          <p:cNvSpPr txBox="1"/>
          <p:nvPr/>
        </p:nvSpPr>
        <p:spPr>
          <a:xfrm>
            <a:off x="5235682" y="2643075"/>
            <a:ext cx="478500" cy="323151"/>
          </a:xfrm>
          <a:prstGeom prst="rect">
            <a:avLst/>
          </a:prstGeom>
          <a:noFill/>
          <a:ln>
            <a:noFill/>
          </a:ln>
        </p:spPr>
        <p:txBody>
          <a:bodyPr spcFirstLastPara="1" wrap="square" lIns="45713" tIns="45713" rIns="45713" bIns="45713" anchor="t" anchorCtr="0">
            <a:spAutoFit/>
          </a:bodyPr>
          <a:lstStyle/>
          <a:p>
            <a:pPr algn="ctr"/>
            <a:r>
              <a:rPr lang="en" sz="1500"/>
              <a:t>0</a:t>
            </a:r>
            <a:endParaRPr sz="1500"/>
          </a:p>
        </p:txBody>
      </p:sp>
      <p:sp>
        <p:nvSpPr>
          <p:cNvPr id="139" name="Google Shape;139;p19"/>
          <p:cNvSpPr txBox="1"/>
          <p:nvPr/>
        </p:nvSpPr>
        <p:spPr>
          <a:xfrm>
            <a:off x="5235682" y="3289575"/>
            <a:ext cx="478500" cy="323151"/>
          </a:xfrm>
          <a:prstGeom prst="rect">
            <a:avLst/>
          </a:prstGeom>
          <a:noFill/>
          <a:ln>
            <a:noFill/>
          </a:ln>
        </p:spPr>
        <p:txBody>
          <a:bodyPr spcFirstLastPara="1" wrap="square" lIns="45713" tIns="45713" rIns="45713" bIns="45713" anchor="t" anchorCtr="0">
            <a:spAutoFit/>
          </a:bodyPr>
          <a:lstStyle/>
          <a:p>
            <a:pPr algn="ctr"/>
            <a:r>
              <a:rPr lang="en" sz="1500"/>
              <a:t>0</a:t>
            </a:r>
            <a:endParaRPr sz="1500"/>
          </a:p>
        </p:txBody>
      </p:sp>
      <p:sp>
        <p:nvSpPr>
          <p:cNvPr id="140" name="Google Shape;140;p19"/>
          <p:cNvSpPr txBox="1"/>
          <p:nvPr/>
        </p:nvSpPr>
        <p:spPr>
          <a:xfrm>
            <a:off x="3429819" y="1673325"/>
            <a:ext cx="478500" cy="323151"/>
          </a:xfrm>
          <a:prstGeom prst="rect">
            <a:avLst/>
          </a:prstGeom>
          <a:noFill/>
          <a:ln>
            <a:noFill/>
          </a:ln>
        </p:spPr>
        <p:txBody>
          <a:bodyPr spcFirstLastPara="1" wrap="square" lIns="45713" tIns="45713" rIns="45713" bIns="45713" anchor="t" anchorCtr="0">
            <a:spAutoFit/>
          </a:bodyPr>
          <a:lstStyle/>
          <a:p>
            <a:pPr algn="ctr"/>
            <a:r>
              <a:rPr lang="en" sz="1500"/>
              <a:t>1</a:t>
            </a:r>
            <a:endParaRPr sz="1500"/>
          </a:p>
        </p:txBody>
      </p:sp>
      <p:sp>
        <p:nvSpPr>
          <p:cNvPr id="141" name="Google Shape;141;p19"/>
          <p:cNvSpPr txBox="1"/>
          <p:nvPr/>
        </p:nvSpPr>
        <p:spPr>
          <a:xfrm>
            <a:off x="3429819" y="1996569"/>
            <a:ext cx="478500" cy="323151"/>
          </a:xfrm>
          <a:prstGeom prst="rect">
            <a:avLst/>
          </a:prstGeom>
          <a:noFill/>
          <a:ln>
            <a:noFill/>
          </a:ln>
        </p:spPr>
        <p:txBody>
          <a:bodyPr spcFirstLastPara="1" wrap="square" lIns="45713" tIns="45713" rIns="45713" bIns="45713" anchor="t" anchorCtr="0">
            <a:spAutoFit/>
          </a:bodyPr>
          <a:lstStyle/>
          <a:p>
            <a:pPr algn="ctr"/>
            <a:r>
              <a:rPr lang="en" sz="1500"/>
              <a:t>0</a:t>
            </a:r>
            <a:endParaRPr sz="1500"/>
          </a:p>
        </p:txBody>
      </p:sp>
      <p:sp>
        <p:nvSpPr>
          <p:cNvPr id="142" name="Google Shape;142;p19"/>
          <p:cNvSpPr txBox="1"/>
          <p:nvPr/>
        </p:nvSpPr>
        <p:spPr>
          <a:xfrm>
            <a:off x="3429819" y="2319819"/>
            <a:ext cx="478500" cy="323151"/>
          </a:xfrm>
          <a:prstGeom prst="rect">
            <a:avLst/>
          </a:prstGeom>
          <a:noFill/>
          <a:ln>
            <a:noFill/>
          </a:ln>
        </p:spPr>
        <p:txBody>
          <a:bodyPr spcFirstLastPara="1" wrap="square" lIns="45713" tIns="45713" rIns="45713" bIns="45713" anchor="t" anchorCtr="0">
            <a:spAutoFit/>
          </a:bodyPr>
          <a:lstStyle/>
          <a:p>
            <a:pPr algn="ctr"/>
            <a:r>
              <a:rPr lang="en" sz="1500"/>
              <a:t>0</a:t>
            </a:r>
            <a:endParaRPr sz="1500"/>
          </a:p>
        </p:txBody>
      </p:sp>
      <p:sp>
        <p:nvSpPr>
          <p:cNvPr id="143" name="Google Shape;143;p19"/>
          <p:cNvSpPr txBox="1"/>
          <p:nvPr/>
        </p:nvSpPr>
        <p:spPr>
          <a:xfrm>
            <a:off x="3429819" y="2643075"/>
            <a:ext cx="478500" cy="323151"/>
          </a:xfrm>
          <a:prstGeom prst="rect">
            <a:avLst/>
          </a:prstGeom>
          <a:noFill/>
          <a:ln>
            <a:noFill/>
          </a:ln>
        </p:spPr>
        <p:txBody>
          <a:bodyPr spcFirstLastPara="1" wrap="square" lIns="45713" tIns="45713" rIns="45713" bIns="45713" anchor="t" anchorCtr="0">
            <a:spAutoFit/>
          </a:bodyPr>
          <a:lstStyle/>
          <a:p>
            <a:pPr algn="ctr"/>
            <a:r>
              <a:rPr lang="en" sz="1500"/>
              <a:t>0</a:t>
            </a:r>
            <a:endParaRPr sz="1500"/>
          </a:p>
        </p:txBody>
      </p:sp>
      <p:sp>
        <p:nvSpPr>
          <p:cNvPr id="144" name="Google Shape;144;p19"/>
          <p:cNvSpPr txBox="1"/>
          <p:nvPr/>
        </p:nvSpPr>
        <p:spPr>
          <a:xfrm>
            <a:off x="5235682" y="1996575"/>
            <a:ext cx="478500" cy="323151"/>
          </a:xfrm>
          <a:prstGeom prst="rect">
            <a:avLst/>
          </a:prstGeom>
          <a:noFill/>
          <a:ln>
            <a:noFill/>
          </a:ln>
        </p:spPr>
        <p:txBody>
          <a:bodyPr spcFirstLastPara="1" wrap="square" lIns="45713" tIns="45713" rIns="45713" bIns="45713" anchor="t" anchorCtr="0">
            <a:spAutoFit/>
          </a:bodyPr>
          <a:lstStyle/>
          <a:p>
            <a:pPr algn="ctr"/>
            <a:r>
              <a:rPr lang="en" sz="1500"/>
              <a:t>0</a:t>
            </a:r>
            <a:endParaRPr sz="1500"/>
          </a:p>
        </p:txBody>
      </p:sp>
      <p:sp>
        <p:nvSpPr>
          <p:cNvPr id="145" name="Google Shape;145;p19"/>
          <p:cNvSpPr txBox="1"/>
          <p:nvPr/>
        </p:nvSpPr>
        <p:spPr>
          <a:xfrm>
            <a:off x="3429819" y="2966325"/>
            <a:ext cx="478500" cy="323151"/>
          </a:xfrm>
          <a:prstGeom prst="rect">
            <a:avLst/>
          </a:prstGeom>
          <a:noFill/>
          <a:ln>
            <a:noFill/>
          </a:ln>
        </p:spPr>
        <p:txBody>
          <a:bodyPr spcFirstLastPara="1" wrap="square" lIns="45713" tIns="45713" rIns="45713" bIns="45713" anchor="t" anchorCtr="0">
            <a:spAutoFit/>
          </a:bodyPr>
          <a:lstStyle/>
          <a:p>
            <a:pPr algn="ctr"/>
            <a:r>
              <a:rPr lang="en" sz="1500"/>
              <a:t>0</a:t>
            </a:r>
            <a:endParaRPr sz="1500"/>
          </a:p>
        </p:txBody>
      </p:sp>
      <p:sp>
        <p:nvSpPr>
          <p:cNvPr id="146" name="Google Shape;146;p19"/>
          <p:cNvSpPr txBox="1"/>
          <p:nvPr/>
        </p:nvSpPr>
        <p:spPr>
          <a:xfrm>
            <a:off x="3429819" y="3289569"/>
            <a:ext cx="478500" cy="323151"/>
          </a:xfrm>
          <a:prstGeom prst="rect">
            <a:avLst/>
          </a:prstGeom>
          <a:noFill/>
          <a:ln>
            <a:noFill/>
          </a:ln>
        </p:spPr>
        <p:txBody>
          <a:bodyPr spcFirstLastPara="1" wrap="square" lIns="45713" tIns="45713" rIns="45713" bIns="45713" anchor="t" anchorCtr="0">
            <a:spAutoFit/>
          </a:bodyPr>
          <a:lstStyle/>
          <a:p>
            <a:pPr algn="ctr"/>
            <a:r>
              <a:rPr lang="en" sz="1500"/>
              <a:t>0</a:t>
            </a:r>
            <a:endParaRPr sz="1500"/>
          </a:p>
        </p:txBody>
      </p:sp>
      <p:sp>
        <p:nvSpPr>
          <p:cNvPr id="147" name="Google Shape;147;p19"/>
          <p:cNvSpPr txBox="1"/>
          <p:nvPr/>
        </p:nvSpPr>
        <p:spPr>
          <a:xfrm>
            <a:off x="3429819" y="3612819"/>
            <a:ext cx="478500" cy="323151"/>
          </a:xfrm>
          <a:prstGeom prst="rect">
            <a:avLst/>
          </a:prstGeom>
          <a:noFill/>
          <a:ln>
            <a:noFill/>
          </a:ln>
        </p:spPr>
        <p:txBody>
          <a:bodyPr spcFirstLastPara="1" wrap="square" lIns="45713" tIns="45713" rIns="45713" bIns="45713" anchor="t" anchorCtr="0">
            <a:spAutoFit/>
          </a:bodyPr>
          <a:lstStyle/>
          <a:p>
            <a:pPr algn="ctr"/>
            <a:r>
              <a:rPr lang="en" sz="1500"/>
              <a:t>0</a:t>
            </a:r>
            <a:endParaRPr sz="1500"/>
          </a:p>
        </p:txBody>
      </p:sp>
      <p:sp>
        <p:nvSpPr>
          <p:cNvPr id="148" name="Google Shape;148;p19"/>
          <p:cNvSpPr txBox="1"/>
          <p:nvPr/>
        </p:nvSpPr>
        <p:spPr>
          <a:xfrm>
            <a:off x="3429819" y="3936075"/>
            <a:ext cx="478500" cy="323151"/>
          </a:xfrm>
          <a:prstGeom prst="rect">
            <a:avLst/>
          </a:prstGeom>
          <a:noFill/>
          <a:ln>
            <a:noFill/>
          </a:ln>
        </p:spPr>
        <p:txBody>
          <a:bodyPr spcFirstLastPara="1" wrap="square" lIns="45713" tIns="45713" rIns="45713" bIns="45713" anchor="t" anchorCtr="0">
            <a:spAutoFit/>
          </a:bodyPr>
          <a:lstStyle/>
          <a:p>
            <a:pPr algn="ctr"/>
            <a:r>
              <a:rPr lang="en" sz="1500"/>
              <a:t>1</a:t>
            </a:r>
            <a:endParaRPr sz="1500"/>
          </a:p>
        </p:txBody>
      </p:sp>
      <p:sp>
        <p:nvSpPr>
          <p:cNvPr id="149" name="Google Shape;149;p19"/>
          <p:cNvSpPr txBox="1"/>
          <p:nvPr/>
        </p:nvSpPr>
        <p:spPr>
          <a:xfrm>
            <a:off x="379332" y="3123463"/>
            <a:ext cx="2407350" cy="323151"/>
          </a:xfrm>
          <a:prstGeom prst="rect">
            <a:avLst/>
          </a:prstGeom>
          <a:noFill/>
          <a:ln>
            <a:noFill/>
          </a:ln>
        </p:spPr>
        <p:txBody>
          <a:bodyPr spcFirstLastPara="1" wrap="square" lIns="45713" tIns="45713" rIns="45713" bIns="45713" anchor="t" anchorCtr="0">
            <a:spAutoFit/>
          </a:bodyPr>
          <a:lstStyle/>
          <a:p>
            <a:pPr algn="ctr"/>
            <a:r>
              <a:rPr lang="en" sz="1500">
                <a:solidFill>
                  <a:schemeClr val="dk1"/>
                </a:solidFill>
              </a:rPr>
              <a:t>Increment value</a:t>
            </a:r>
            <a:endParaRPr sz="1500"/>
          </a:p>
        </p:txBody>
      </p:sp>
      <p:sp>
        <p:nvSpPr>
          <p:cNvPr id="150" name="Google Shape;150;p19"/>
          <p:cNvSpPr txBox="1"/>
          <p:nvPr/>
        </p:nvSpPr>
        <p:spPr>
          <a:xfrm>
            <a:off x="379332" y="3446713"/>
            <a:ext cx="2407350" cy="323151"/>
          </a:xfrm>
          <a:prstGeom prst="rect">
            <a:avLst/>
          </a:prstGeom>
          <a:noFill/>
          <a:ln>
            <a:noFill/>
          </a:ln>
        </p:spPr>
        <p:txBody>
          <a:bodyPr spcFirstLastPara="1" wrap="square" lIns="45713" tIns="45713" rIns="45713" bIns="45713" anchor="t" anchorCtr="0">
            <a:spAutoFit/>
          </a:bodyPr>
          <a:lstStyle/>
          <a:p>
            <a:pPr algn="ctr"/>
            <a:r>
              <a:rPr lang="en" sz="1500">
                <a:solidFill>
                  <a:schemeClr val="dk1"/>
                </a:solidFill>
              </a:rPr>
              <a:t>Write value to memory</a:t>
            </a:r>
            <a:endParaRPr sz="1500"/>
          </a:p>
        </p:txBody>
      </p:sp>
      <p:cxnSp>
        <p:nvCxnSpPr>
          <p:cNvPr id="151" name="Google Shape;151;p19"/>
          <p:cNvCxnSpPr/>
          <p:nvPr/>
        </p:nvCxnSpPr>
        <p:spPr>
          <a:xfrm>
            <a:off x="2703375" y="1996788"/>
            <a:ext cx="3737250" cy="0"/>
          </a:xfrm>
          <a:prstGeom prst="straightConnector1">
            <a:avLst/>
          </a:prstGeom>
          <a:noFill/>
          <a:ln w="19050" cap="flat" cmpd="sng">
            <a:solidFill>
              <a:srgbClr val="CCCCCC"/>
            </a:solidFill>
            <a:prstDash val="solid"/>
            <a:round/>
            <a:headEnd type="none" w="med" len="med"/>
            <a:tailEnd type="none" w="med" len="med"/>
          </a:ln>
        </p:spPr>
      </p:cxnSp>
      <p:cxnSp>
        <p:nvCxnSpPr>
          <p:cNvPr id="152" name="Google Shape;152;p19"/>
          <p:cNvCxnSpPr/>
          <p:nvPr/>
        </p:nvCxnSpPr>
        <p:spPr>
          <a:xfrm>
            <a:off x="2703375" y="2301588"/>
            <a:ext cx="3737250" cy="0"/>
          </a:xfrm>
          <a:prstGeom prst="straightConnector1">
            <a:avLst/>
          </a:prstGeom>
          <a:noFill/>
          <a:ln w="19050" cap="flat" cmpd="sng">
            <a:solidFill>
              <a:srgbClr val="CCCCCC"/>
            </a:solidFill>
            <a:prstDash val="solid"/>
            <a:round/>
            <a:headEnd type="none" w="med" len="med"/>
            <a:tailEnd type="none" w="med" len="med"/>
          </a:ln>
        </p:spPr>
      </p:cxnSp>
      <p:cxnSp>
        <p:nvCxnSpPr>
          <p:cNvPr id="153" name="Google Shape;153;p19"/>
          <p:cNvCxnSpPr/>
          <p:nvPr/>
        </p:nvCxnSpPr>
        <p:spPr>
          <a:xfrm>
            <a:off x="2703375" y="2652513"/>
            <a:ext cx="3737250" cy="0"/>
          </a:xfrm>
          <a:prstGeom prst="straightConnector1">
            <a:avLst/>
          </a:prstGeom>
          <a:noFill/>
          <a:ln w="19050" cap="flat" cmpd="sng">
            <a:solidFill>
              <a:srgbClr val="CCCCCC"/>
            </a:solidFill>
            <a:prstDash val="solid"/>
            <a:round/>
            <a:headEnd type="none" w="med" len="med"/>
            <a:tailEnd type="none" w="med" len="med"/>
          </a:ln>
        </p:spPr>
      </p:cxnSp>
      <p:cxnSp>
        <p:nvCxnSpPr>
          <p:cNvPr id="154" name="Google Shape;154;p19"/>
          <p:cNvCxnSpPr/>
          <p:nvPr/>
        </p:nvCxnSpPr>
        <p:spPr>
          <a:xfrm>
            <a:off x="2703375" y="2957313"/>
            <a:ext cx="3737250" cy="0"/>
          </a:xfrm>
          <a:prstGeom prst="straightConnector1">
            <a:avLst/>
          </a:prstGeom>
          <a:noFill/>
          <a:ln w="19050" cap="flat" cmpd="sng">
            <a:solidFill>
              <a:srgbClr val="CCCCCC"/>
            </a:solidFill>
            <a:prstDash val="solid"/>
            <a:round/>
            <a:headEnd type="none" w="med" len="med"/>
            <a:tailEnd type="none" w="med" len="med"/>
          </a:ln>
        </p:spPr>
      </p:cxnSp>
      <p:cxnSp>
        <p:nvCxnSpPr>
          <p:cNvPr id="155" name="Google Shape;155;p19"/>
          <p:cNvCxnSpPr/>
          <p:nvPr/>
        </p:nvCxnSpPr>
        <p:spPr>
          <a:xfrm>
            <a:off x="2703375" y="3298800"/>
            <a:ext cx="3737250" cy="0"/>
          </a:xfrm>
          <a:prstGeom prst="straightConnector1">
            <a:avLst/>
          </a:prstGeom>
          <a:noFill/>
          <a:ln w="19050" cap="flat" cmpd="sng">
            <a:solidFill>
              <a:srgbClr val="CCCCCC"/>
            </a:solidFill>
            <a:prstDash val="solid"/>
            <a:round/>
            <a:headEnd type="none" w="med" len="med"/>
            <a:tailEnd type="none" w="med" len="med"/>
          </a:ln>
        </p:spPr>
      </p:cxnSp>
      <p:cxnSp>
        <p:nvCxnSpPr>
          <p:cNvPr id="156" name="Google Shape;156;p19"/>
          <p:cNvCxnSpPr/>
          <p:nvPr/>
        </p:nvCxnSpPr>
        <p:spPr>
          <a:xfrm>
            <a:off x="2703375" y="3603600"/>
            <a:ext cx="3737250" cy="0"/>
          </a:xfrm>
          <a:prstGeom prst="straightConnector1">
            <a:avLst/>
          </a:prstGeom>
          <a:noFill/>
          <a:ln w="19050" cap="flat" cmpd="sng">
            <a:solidFill>
              <a:srgbClr val="CCCCCC"/>
            </a:solidFill>
            <a:prstDash val="solid"/>
            <a:round/>
            <a:headEnd type="none" w="med" len="med"/>
            <a:tailEnd type="none" w="med" len="med"/>
          </a:ln>
        </p:spPr>
      </p:cxnSp>
      <p:cxnSp>
        <p:nvCxnSpPr>
          <p:cNvPr id="157" name="Google Shape;157;p19"/>
          <p:cNvCxnSpPr/>
          <p:nvPr/>
        </p:nvCxnSpPr>
        <p:spPr>
          <a:xfrm>
            <a:off x="2703375" y="3927275"/>
            <a:ext cx="3737250" cy="0"/>
          </a:xfrm>
          <a:prstGeom prst="straightConnector1">
            <a:avLst/>
          </a:prstGeom>
          <a:noFill/>
          <a:ln w="19050" cap="flat" cmpd="sng">
            <a:solidFill>
              <a:srgbClr val="CCCCCC"/>
            </a:solidFill>
            <a:prstDash val="solid"/>
            <a:round/>
            <a:headEnd type="none" w="med" len="med"/>
            <a:tailEnd type="none" w="med" len="med"/>
          </a:ln>
        </p:spPr>
      </p:cxnSp>
      <p:cxnSp>
        <p:nvCxnSpPr>
          <p:cNvPr id="158" name="Google Shape;158;p19"/>
          <p:cNvCxnSpPr/>
          <p:nvPr/>
        </p:nvCxnSpPr>
        <p:spPr>
          <a:xfrm>
            <a:off x="2703375" y="4232075"/>
            <a:ext cx="3737250" cy="0"/>
          </a:xfrm>
          <a:prstGeom prst="straightConnector1">
            <a:avLst/>
          </a:prstGeom>
          <a:noFill/>
          <a:ln w="19050" cap="flat" cmpd="sng">
            <a:solidFill>
              <a:srgbClr val="CCCCCC"/>
            </a:solidFill>
            <a:prstDash val="solid"/>
            <a:round/>
            <a:headEnd type="none" w="med" len="med"/>
            <a:tailEnd type="none" w="med" len="med"/>
          </a:ln>
        </p:spPr>
      </p:cxnSp>
      <p:sp>
        <p:nvSpPr>
          <p:cNvPr id="159" name="Google Shape;159;p19"/>
          <p:cNvSpPr txBox="1"/>
          <p:nvPr/>
        </p:nvSpPr>
        <p:spPr>
          <a:xfrm>
            <a:off x="6357319" y="2476944"/>
            <a:ext cx="2407350" cy="323151"/>
          </a:xfrm>
          <a:prstGeom prst="rect">
            <a:avLst/>
          </a:prstGeom>
          <a:noFill/>
          <a:ln>
            <a:noFill/>
          </a:ln>
        </p:spPr>
        <p:txBody>
          <a:bodyPr spcFirstLastPara="1" wrap="square" lIns="45713" tIns="45713" rIns="45713" bIns="45713" anchor="t" anchorCtr="0">
            <a:spAutoFit/>
          </a:bodyPr>
          <a:lstStyle/>
          <a:p>
            <a:pPr algn="ctr"/>
            <a:r>
              <a:rPr lang="en" sz="1500"/>
              <a:t>Check for and take mutex</a:t>
            </a:r>
            <a:endParaRPr sz="1500"/>
          </a:p>
        </p:txBody>
      </p:sp>
      <p:sp>
        <p:nvSpPr>
          <p:cNvPr id="160" name="Google Shape;160;p19"/>
          <p:cNvSpPr txBox="1"/>
          <p:nvPr/>
        </p:nvSpPr>
        <p:spPr>
          <a:xfrm>
            <a:off x="6357319" y="2800194"/>
            <a:ext cx="2407350" cy="323151"/>
          </a:xfrm>
          <a:prstGeom prst="rect">
            <a:avLst/>
          </a:prstGeom>
          <a:noFill/>
          <a:ln>
            <a:noFill/>
          </a:ln>
        </p:spPr>
        <p:txBody>
          <a:bodyPr spcFirstLastPara="1" wrap="square" lIns="45713" tIns="45713" rIns="45713" bIns="45713" anchor="t" anchorCtr="0">
            <a:spAutoFit/>
          </a:bodyPr>
          <a:lstStyle/>
          <a:p>
            <a:pPr algn="ctr"/>
            <a:r>
              <a:rPr lang="en" sz="1500"/>
              <a:t>Wait/yield</a:t>
            </a:r>
            <a:endParaRPr sz="1500"/>
          </a:p>
        </p:txBody>
      </p:sp>
      <p:sp>
        <p:nvSpPr>
          <p:cNvPr id="161" name="Google Shape;161;p19"/>
          <p:cNvSpPr txBox="1"/>
          <p:nvPr/>
        </p:nvSpPr>
        <p:spPr>
          <a:xfrm>
            <a:off x="5235682" y="2966432"/>
            <a:ext cx="478500" cy="323151"/>
          </a:xfrm>
          <a:prstGeom prst="rect">
            <a:avLst/>
          </a:prstGeom>
          <a:noFill/>
          <a:ln>
            <a:noFill/>
          </a:ln>
        </p:spPr>
        <p:txBody>
          <a:bodyPr spcFirstLastPara="1" wrap="square" lIns="45713" tIns="45713" rIns="45713" bIns="45713" anchor="t" anchorCtr="0">
            <a:spAutoFit/>
          </a:bodyPr>
          <a:lstStyle/>
          <a:p>
            <a:pPr algn="ctr"/>
            <a:r>
              <a:rPr lang="en" sz="1500"/>
              <a:t>0</a:t>
            </a:r>
            <a:endParaRPr sz="1500"/>
          </a:p>
        </p:txBody>
      </p:sp>
      <p:sp>
        <p:nvSpPr>
          <p:cNvPr id="162" name="Google Shape;162;p19"/>
          <p:cNvSpPr txBox="1"/>
          <p:nvPr/>
        </p:nvSpPr>
        <p:spPr>
          <a:xfrm>
            <a:off x="5235682" y="3599257"/>
            <a:ext cx="478500" cy="323151"/>
          </a:xfrm>
          <a:prstGeom prst="rect">
            <a:avLst/>
          </a:prstGeom>
          <a:noFill/>
          <a:ln>
            <a:noFill/>
          </a:ln>
        </p:spPr>
        <p:txBody>
          <a:bodyPr spcFirstLastPara="1" wrap="square" lIns="45713" tIns="45713" rIns="45713" bIns="45713" anchor="t" anchorCtr="0">
            <a:spAutoFit/>
          </a:bodyPr>
          <a:lstStyle/>
          <a:p>
            <a:pPr algn="ctr"/>
            <a:r>
              <a:rPr lang="en" sz="1500"/>
              <a:t>1</a:t>
            </a:r>
            <a:endParaRPr sz="1500"/>
          </a:p>
        </p:txBody>
      </p:sp>
      <p:sp>
        <p:nvSpPr>
          <p:cNvPr id="163" name="Google Shape;163;p19"/>
          <p:cNvSpPr txBox="1"/>
          <p:nvPr/>
        </p:nvSpPr>
        <p:spPr>
          <a:xfrm>
            <a:off x="5235682" y="3908394"/>
            <a:ext cx="478500" cy="323151"/>
          </a:xfrm>
          <a:prstGeom prst="rect">
            <a:avLst/>
          </a:prstGeom>
          <a:noFill/>
          <a:ln>
            <a:noFill/>
          </a:ln>
        </p:spPr>
        <p:txBody>
          <a:bodyPr spcFirstLastPara="1" wrap="square" lIns="45713" tIns="45713" rIns="45713" bIns="45713" anchor="t" anchorCtr="0">
            <a:spAutoFit/>
          </a:bodyPr>
          <a:lstStyle/>
          <a:p>
            <a:pPr algn="ctr"/>
            <a:r>
              <a:rPr lang="en" sz="1500"/>
              <a:t>1</a:t>
            </a:r>
            <a:endParaRPr sz="1500"/>
          </a:p>
        </p:txBody>
      </p:sp>
      <p:sp>
        <p:nvSpPr>
          <p:cNvPr id="164" name="Google Shape;164;p19"/>
          <p:cNvSpPr txBox="1"/>
          <p:nvPr/>
        </p:nvSpPr>
        <p:spPr>
          <a:xfrm>
            <a:off x="5235682" y="4222975"/>
            <a:ext cx="478500" cy="323151"/>
          </a:xfrm>
          <a:prstGeom prst="rect">
            <a:avLst/>
          </a:prstGeom>
          <a:noFill/>
          <a:ln>
            <a:noFill/>
          </a:ln>
        </p:spPr>
        <p:txBody>
          <a:bodyPr spcFirstLastPara="1" wrap="square" lIns="45713" tIns="45713" rIns="45713" bIns="45713" anchor="t" anchorCtr="0">
            <a:spAutoFit/>
          </a:bodyPr>
          <a:lstStyle/>
          <a:p>
            <a:pPr algn="ctr"/>
            <a:r>
              <a:rPr lang="en" sz="1500"/>
              <a:t>1</a:t>
            </a:r>
            <a:endParaRPr sz="1500"/>
          </a:p>
        </p:txBody>
      </p:sp>
      <p:sp>
        <p:nvSpPr>
          <p:cNvPr id="165" name="Google Shape;165;p19"/>
          <p:cNvSpPr txBox="1"/>
          <p:nvPr/>
        </p:nvSpPr>
        <p:spPr>
          <a:xfrm>
            <a:off x="5235682" y="4869475"/>
            <a:ext cx="478500" cy="323151"/>
          </a:xfrm>
          <a:prstGeom prst="rect">
            <a:avLst/>
          </a:prstGeom>
          <a:noFill/>
          <a:ln>
            <a:noFill/>
          </a:ln>
        </p:spPr>
        <p:txBody>
          <a:bodyPr spcFirstLastPara="1" wrap="square" lIns="45713" tIns="45713" rIns="45713" bIns="45713" anchor="t" anchorCtr="0">
            <a:spAutoFit/>
          </a:bodyPr>
          <a:lstStyle/>
          <a:p>
            <a:pPr algn="ctr"/>
            <a:r>
              <a:rPr lang="en" sz="1500"/>
              <a:t>1</a:t>
            </a:r>
            <a:endParaRPr sz="1500"/>
          </a:p>
        </p:txBody>
      </p:sp>
      <p:sp>
        <p:nvSpPr>
          <p:cNvPr id="166" name="Google Shape;166;p19"/>
          <p:cNvSpPr txBox="1"/>
          <p:nvPr/>
        </p:nvSpPr>
        <p:spPr>
          <a:xfrm>
            <a:off x="3429819" y="4222975"/>
            <a:ext cx="478500" cy="323151"/>
          </a:xfrm>
          <a:prstGeom prst="rect">
            <a:avLst/>
          </a:prstGeom>
          <a:noFill/>
          <a:ln>
            <a:noFill/>
          </a:ln>
        </p:spPr>
        <p:txBody>
          <a:bodyPr spcFirstLastPara="1" wrap="square" lIns="45713" tIns="45713" rIns="45713" bIns="45713" anchor="t" anchorCtr="0">
            <a:spAutoFit/>
          </a:bodyPr>
          <a:lstStyle/>
          <a:p>
            <a:pPr algn="ctr"/>
            <a:r>
              <a:rPr lang="en" sz="1500"/>
              <a:t>0</a:t>
            </a:r>
            <a:endParaRPr sz="1500"/>
          </a:p>
        </p:txBody>
      </p:sp>
      <p:sp>
        <p:nvSpPr>
          <p:cNvPr id="167" name="Google Shape;167;p19"/>
          <p:cNvSpPr txBox="1"/>
          <p:nvPr/>
        </p:nvSpPr>
        <p:spPr>
          <a:xfrm>
            <a:off x="3429819" y="4546225"/>
            <a:ext cx="478500" cy="323151"/>
          </a:xfrm>
          <a:prstGeom prst="rect">
            <a:avLst/>
          </a:prstGeom>
          <a:noFill/>
          <a:ln>
            <a:noFill/>
          </a:ln>
        </p:spPr>
        <p:txBody>
          <a:bodyPr spcFirstLastPara="1" wrap="square" lIns="45713" tIns="45713" rIns="45713" bIns="45713" anchor="t" anchorCtr="0">
            <a:spAutoFit/>
          </a:bodyPr>
          <a:lstStyle/>
          <a:p>
            <a:pPr algn="ctr"/>
            <a:r>
              <a:rPr lang="en" sz="1500"/>
              <a:t>0</a:t>
            </a:r>
            <a:endParaRPr sz="1500"/>
          </a:p>
        </p:txBody>
      </p:sp>
      <p:sp>
        <p:nvSpPr>
          <p:cNvPr id="168" name="Google Shape;168;p19"/>
          <p:cNvSpPr txBox="1"/>
          <p:nvPr/>
        </p:nvSpPr>
        <p:spPr>
          <a:xfrm>
            <a:off x="3429819" y="4869469"/>
            <a:ext cx="478500" cy="323151"/>
          </a:xfrm>
          <a:prstGeom prst="rect">
            <a:avLst/>
          </a:prstGeom>
          <a:noFill/>
          <a:ln>
            <a:noFill/>
          </a:ln>
        </p:spPr>
        <p:txBody>
          <a:bodyPr spcFirstLastPara="1" wrap="square" lIns="45713" tIns="45713" rIns="45713" bIns="45713" anchor="t" anchorCtr="0">
            <a:spAutoFit/>
          </a:bodyPr>
          <a:lstStyle/>
          <a:p>
            <a:pPr algn="ctr"/>
            <a:r>
              <a:rPr lang="en" sz="1500"/>
              <a:t>0</a:t>
            </a:r>
            <a:endParaRPr sz="1500"/>
          </a:p>
        </p:txBody>
      </p:sp>
      <p:sp>
        <p:nvSpPr>
          <p:cNvPr id="169" name="Google Shape;169;p19"/>
          <p:cNvSpPr txBox="1"/>
          <p:nvPr/>
        </p:nvSpPr>
        <p:spPr>
          <a:xfrm>
            <a:off x="3429819" y="5192719"/>
            <a:ext cx="478500" cy="323151"/>
          </a:xfrm>
          <a:prstGeom prst="rect">
            <a:avLst/>
          </a:prstGeom>
          <a:noFill/>
          <a:ln>
            <a:noFill/>
          </a:ln>
        </p:spPr>
        <p:txBody>
          <a:bodyPr spcFirstLastPara="1" wrap="square" lIns="45713" tIns="45713" rIns="45713" bIns="45713" anchor="t" anchorCtr="0">
            <a:spAutoFit/>
          </a:bodyPr>
          <a:lstStyle/>
          <a:p>
            <a:pPr algn="ctr"/>
            <a:r>
              <a:rPr lang="en" sz="1500"/>
              <a:t>0</a:t>
            </a:r>
            <a:endParaRPr sz="1500"/>
          </a:p>
        </p:txBody>
      </p:sp>
      <p:sp>
        <p:nvSpPr>
          <p:cNvPr id="170" name="Google Shape;170;p19"/>
          <p:cNvSpPr txBox="1"/>
          <p:nvPr/>
        </p:nvSpPr>
        <p:spPr>
          <a:xfrm>
            <a:off x="3429819" y="5515975"/>
            <a:ext cx="478500" cy="323151"/>
          </a:xfrm>
          <a:prstGeom prst="rect">
            <a:avLst/>
          </a:prstGeom>
          <a:noFill/>
          <a:ln>
            <a:noFill/>
          </a:ln>
        </p:spPr>
        <p:txBody>
          <a:bodyPr spcFirstLastPara="1" wrap="square" lIns="45713" tIns="45713" rIns="45713" bIns="45713" anchor="t" anchorCtr="0">
            <a:spAutoFit/>
          </a:bodyPr>
          <a:lstStyle/>
          <a:p>
            <a:pPr algn="ctr"/>
            <a:r>
              <a:rPr lang="en" sz="1500"/>
              <a:t>1</a:t>
            </a:r>
            <a:endParaRPr sz="1500"/>
          </a:p>
        </p:txBody>
      </p:sp>
      <p:cxnSp>
        <p:nvCxnSpPr>
          <p:cNvPr id="171" name="Google Shape;171;p19"/>
          <p:cNvCxnSpPr/>
          <p:nvPr/>
        </p:nvCxnSpPr>
        <p:spPr>
          <a:xfrm>
            <a:off x="2703375" y="4537213"/>
            <a:ext cx="3737250" cy="0"/>
          </a:xfrm>
          <a:prstGeom prst="straightConnector1">
            <a:avLst/>
          </a:prstGeom>
          <a:noFill/>
          <a:ln w="19050" cap="flat" cmpd="sng">
            <a:solidFill>
              <a:srgbClr val="CCCCCC"/>
            </a:solidFill>
            <a:prstDash val="solid"/>
            <a:round/>
            <a:headEnd type="none" w="med" len="med"/>
            <a:tailEnd type="none" w="med" len="med"/>
          </a:ln>
        </p:spPr>
      </p:cxnSp>
      <p:cxnSp>
        <p:nvCxnSpPr>
          <p:cNvPr id="172" name="Google Shape;172;p19"/>
          <p:cNvCxnSpPr/>
          <p:nvPr/>
        </p:nvCxnSpPr>
        <p:spPr>
          <a:xfrm>
            <a:off x="2703375" y="4878700"/>
            <a:ext cx="3737250" cy="0"/>
          </a:xfrm>
          <a:prstGeom prst="straightConnector1">
            <a:avLst/>
          </a:prstGeom>
          <a:noFill/>
          <a:ln w="19050" cap="flat" cmpd="sng">
            <a:solidFill>
              <a:srgbClr val="CCCCCC"/>
            </a:solidFill>
            <a:prstDash val="solid"/>
            <a:round/>
            <a:headEnd type="none" w="med" len="med"/>
            <a:tailEnd type="none" w="med" len="med"/>
          </a:ln>
        </p:spPr>
      </p:cxnSp>
      <p:cxnSp>
        <p:nvCxnSpPr>
          <p:cNvPr id="173" name="Google Shape;173;p19"/>
          <p:cNvCxnSpPr/>
          <p:nvPr/>
        </p:nvCxnSpPr>
        <p:spPr>
          <a:xfrm>
            <a:off x="2703375" y="5183500"/>
            <a:ext cx="3737250" cy="0"/>
          </a:xfrm>
          <a:prstGeom prst="straightConnector1">
            <a:avLst/>
          </a:prstGeom>
          <a:noFill/>
          <a:ln w="19050" cap="flat" cmpd="sng">
            <a:solidFill>
              <a:srgbClr val="CCCCCC"/>
            </a:solidFill>
            <a:prstDash val="solid"/>
            <a:round/>
            <a:headEnd type="none" w="med" len="med"/>
            <a:tailEnd type="none" w="med" len="med"/>
          </a:ln>
        </p:spPr>
      </p:cxnSp>
      <p:cxnSp>
        <p:nvCxnSpPr>
          <p:cNvPr id="174" name="Google Shape;174;p19"/>
          <p:cNvCxnSpPr/>
          <p:nvPr/>
        </p:nvCxnSpPr>
        <p:spPr>
          <a:xfrm>
            <a:off x="2703375" y="5507175"/>
            <a:ext cx="3737250" cy="0"/>
          </a:xfrm>
          <a:prstGeom prst="straightConnector1">
            <a:avLst/>
          </a:prstGeom>
          <a:noFill/>
          <a:ln w="19050" cap="flat" cmpd="sng">
            <a:solidFill>
              <a:srgbClr val="CCCCCC"/>
            </a:solidFill>
            <a:prstDash val="solid"/>
            <a:round/>
            <a:headEnd type="none" w="med" len="med"/>
            <a:tailEnd type="none" w="med" len="med"/>
          </a:ln>
        </p:spPr>
      </p:cxnSp>
      <p:sp>
        <p:nvSpPr>
          <p:cNvPr id="175" name="Google Shape;175;p19"/>
          <p:cNvSpPr txBox="1"/>
          <p:nvPr/>
        </p:nvSpPr>
        <p:spPr>
          <a:xfrm>
            <a:off x="5235682" y="4546332"/>
            <a:ext cx="478500" cy="323151"/>
          </a:xfrm>
          <a:prstGeom prst="rect">
            <a:avLst/>
          </a:prstGeom>
          <a:noFill/>
          <a:ln>
            <a:noFill/>
          </a:ln>
        </p:spPr>
        <p:txBody>
          <a:bodyPr spcFirstLastPara="1" wrap="square" lIns="45713" tIns="45713" rIns="45713" bIns="45713" anchor="t" anchorCtr="0">
            <a:spAutoFit/>
          </a:bodyPr>
          <a:lstStyle/>
          <a:p>
            <a:pPr algn="ctr"/>
            <a:r>
              <a:rPr lang="en" sz="1500"/>
              <a:t>1</a:t>
            </a:r>
            <a:endParaRPr sz="1500"/>
          </a:p>
        </p:txBody>
      </p:sp>
      <p:sp>
        <p:nvSpPr>
          <p:cNvPr id="176" name="Google Shape;176;p19"/>
          <p:cNvSpPr txBox="1"/>
          <p:nvPr/>
        </p:nvSpPr>
        <p:spPr>
          <a:xfrm>
            <a:off x="5235682" y="5179157"/>
            <a:ext cx="478500" cy="323151"/>
          </a:xfrm>
          <a:prstGeom prst="rect">
            <a:avLst/>
          </a:prstGeom>
          <a:noFill/>
          <a:ln>
            <a:noFill/>
          </a:ln>
        </p:spPr>
        <p:txBody>
          <a:bodyPr spcFirstLastPara="1" wrap="square" lIns="45713" tIns="45713" rIns="45713" bIns="45713" anchor="t" anchorCtr="0">
            <a:spAutoFit/>
          </a:bodyPr>
          <a:lstStyle/>
          <a:p>
            <a:pPr algn="ctr"/>
            <a:r>
              <a:rPr lang="en" sz="1500"/>
              <a:t>2</a:t>
            </a:r>
            <a:endParaRPr sz="1500"/>
          </a:p>
        </p:txBody>
      </p:sp>
      <p:sp>
        <p:nvSpPr>
          <p:cNvPr id="177" name="Google Shape;177;p19"/>
          <p:cNvSpPr txBox="1"/>
          <p:nvPr/>
        </p:nvSpPr>
        <p:spPr>
          <a:xfrm>
            <a:off x="5235682" y="5488294"/>
            <a:ext cx="478500" cy="323151"/>
          </a:xfrm>
          <a:prstGeom prst="rect">
            <a:avLst/>
          </a:prstGeom>
          <a:noFill/>
          <a:ln>
            <a:noFill/>
          </a:ln>
        </p:spPr>
        <p:txBody>
          <a:bodyPr spcFirstLastPara="1" wrap="square" lIns="45713" tIns="45713" rIns="45713" bIns="45713" anchor="t" anchorCtr="0">
            <a:spAutoFit/>
          </a:bodyPr>
          <a:lstStyle/>
          <a:p>
            <a:pPr algn="ctr"/>
            <a:r>
              <a:rPr lang="en" sz="1500"/>
              <a:t>2</a:t>
            </a:r>
            <a:endParaRPr sz="1500"/>
          </a:p>
        </p:txBody>
      </p:sp>
      <p:sp>
        <p:nvSpPr>
          <p:cNvPr id="178" name="Google Shape;178;p19"/>
          <p:cNvSpPr txBox="1"/>
          <p:nvPr/>
        </p:nvSpPr>
        <p:spPr>
          <a:xfrm>
            <a:off x="379332" y="3742669"/>
            <a:ext cx="2407350" cy="323151"/>
          </a:xfrm>
          <a:prstGeom prst="rect">
            <a:avLst/>
          </a:prstGeom>
          <a:noFill/>
          <a:ln>
            <a:noFill/>
          </a:ln>
        </p:spPr>
        <p:txBody>
          <a:bodyPr spcFirstLastPara="1" wrap="square" lIns="45713" tIns="45713" rIns="45713" bIns="45713" anchor="t" anchorCtr="0">
            <a:spAutoFit/>
          </a:bodyPr>
          <a:lstStyle/>
          <a:p>
            <a:pPr algn="ctr"/>
            <a:r>
              <a:rPr lang="en" sz="1500">
                <a:solidFill>
                  <a:schemeClr val="dk1"/>
                </a:solidFill>
              </a:rPr>
              <a:t>Give mutex</a:t>
            </a:r>
            <a:endParaRPr sz="1500"/>
          </a:p>
        </p:txBody>
      </p:sp>
      <p:sp>
        <p:nvSpPr>
          <p:cNvPr id="179" name="Google Shape;179;p19"/>
          <p:cNvSpPr txBox="1"/>
          <p:nvPr/>
        </p:nvSpPr>
        <p:spPr>
          <a:xfrm>
            <a:off x="6357319" y="4073232"/>
            <a:ext cx="2407350" cy="323151"/>
          </a:xfrm>
          <a:prstGeom prst="rect">
            <a:avLst/>
          </a:prstGeom>
          <a:noFill/>
          <a:ln>
            <a:noFill/>
          </a:ln>
        </p:spPr>
        <p:txBody>
          <a:bodyPr spcFirstLastPara="1" wrap="square" lIns="45713" tIns="45713" rIns="45713" bIns="45713" anchor="t" anchorCtr="0">
            <a:spAutoFit/>
          </a:bodyPr>
          <a:lstStyle/>
          <a:p>
            <a:pPr algn="ctr"/>
            <a:r>
              <a:rPr lang="en" sz="1500"/>
              <a:t>Check for and take mutex</a:t>
            </a:r>
            <a:endParaRPr sz="1500"/>
          </a:p>
        </p:txBody>
      </p:sp>
      <p:sp>
        <p:nvSpPr>
          <p:cNvPr id="180" name="Google Shape;180;p19"/>
          <p:cNvSpPr txBox="1"/>
          <p:nvPr/>
        </p:nvSpPr>
        <p:spPr>
          <a:xfrm>
            <a:off x="6357319" y="4396482"/>
            <a:ext cx="2407350" cy="323151"/>
          </a:xfrm>
          <a:prstGeom prst="rect">
            <a:avLst/>
          </a:prstGeom>
          <a:noFill/>
          <a:ln>
            <a:noFill/>
          </a:ln>
        </p:spPr>
        <p:txBody>
          <a:bodyPr spcFirstLastPara="1" wrap="square" lIns="45713" tIns="45713" rIns="45713" bIns="45713" anchor="t" anchorCtr="0">
            <a:spAutoFit/>
          </a:bodyPr>
          <a:lstStyle/>
          <a:p>
            <a:pPr algn="ctr"/>
            <a:r>
              <a:rPr lang="en" sz="1500">
                <a:solidFill>
                  <a:schemeClr val="dk1"/>
                </a:solidFill>
              </a:rPr>
              <a:t>Get value from memory</a:t>
            </a:r>
            <a:endParaRPr sz="1500"/>
          </a:p>
        </p:txBody>
      </p:sp>
      <p:sp>
        <p:nvSpPr>
          <p:cNvPr id="181" name="Google Shape;181;p19"/>
          <p:cNvSpPr txBox="1"/>
          <p:nvPr/>
        </p:nvSpPr>
        <p:spPr>
          <a:xfrm>
            <a:off x="6357319" y="4724238"/>
            <a:ext cx="2407350" cy="323151"/>
          </a:xfrm>
          <a:prstGeom prst="rect">
            <a:avLst/>
          </a:prstGeom>
          <a:noFill/>
          <a:ln>
            <a:noFill/>
          </a:ln>
        </p:spPr>
        <p:txBody>
          <a:bodyPr spcFirstLastPara="1" wrap="square" lIns="45713" tIns="45713" rIns="45713" bIns="45713" anchor="t" anchorCtr="0">
            <a:spAutoFit/>
          </a:bodyPr>
          <a:lstStyle/>
          <a:p>
            <a:pPr algn="ctr"/>
            <a:r>
              <a:rPr lang="en" sz="1500">
                <a:solidFill>
                  <a:schemeClr val="dk1"/>
                </a:solidFill>
              </a:rPr>
              <a:t>Increment value</a:t>
            </a:r>
            <a:endParaRPr sz="1500">
              <a:solidFill>
                <a:schemeClr val="dk1"/>
              </a:solidFill>
            </a:endParaRPr>
          </a:p>
        </p:txBody>
      </p:sp>
      <p:sp>
        <p:nvSpPr>
          <p:cNvPr id="182" name="Google Shape;182;p19"/>
          <p:cNvSpPr txBox="1"/>
          <p:nvPr/>
        </p:nvSpPr>
        <p:spPr>
          <a:xfrm>
            <a:off x="6357319" y="5051988"/>
            <a:ext cx="2407350" cy="323151"/>
          </a:xfrm>
          <a:prstGeom prst="rect">
            <a:avLst/>
          </a:prstGeom>
          <a:noFill/>
          <a:ln>
            <a:noFill/>
          </a:ln>
        </p:spPr>
        <p:txBody>
          <a:bodyPr spcFirstLastPara="1" wrap="square" lIns="45713" tIns="45713" rIns="45713" bIns="45713" anchor="t" anchorCtr="0">
            <a:spAutoFit/>
          </a:bodyPr>
          <a:lstStyle/>
          <a:p>
            <a:pPr algn="ctr"/>
            <a:r>
              <a:rPr lang="en" sz="1500">
                <a:solidFill>
                  <a:schemeClr val="dk1"/>
                </a:solidFill>
              </a:rPr>
              <a:t>Write value to memory</a:t>
            </a:r>
            <a:endParaRPr sz="1500">
              <a:solidFill>
                <a:schemeClr val="dk1"/>
              </a:solidFill>
            </a:endParaRPr>
          </a:p>
        </p:txBody>
      </p:sp>
      <p:sp>
        <p:nvSpPr>
          <p:cNvPr id="183" name="Google Shape;183;p19"/>
          <p:cNvSpPr txBox="1"/>
          <p:nvPr/>
        </p:nvSpPr>
        <p:spPr>
          <a:xfrm>
            <a:off x="6357319" y="5375238"/>
            <a:ext cx="2407350" cy="323151"/>
          </a:xfrm>
          <a:prstGeom prst="rect">
            <a:avLst/>
          </a:prstGeom>
          <a:noFill/>
          <a:ln>
            <a:noFill/>
          </a:ln>
        </p:spPr>
        <p:txBody>
          <a:bodyPr spcFirstLastPara="1" wrap="square" lIns="45713" tIns="45713" rIns="45713" bIns="45713" anchor="t" anchorCtr="0">
            <a:spAutoFit/>
          </a:bodyPr>
          <a:lstStyle/>
          <a:p>
            <a:pPr algn="ctr"/>
            <a:r>
              <a:rPr lang="en" sz="1500">
                <a:solidFill>
                  <a:schemeClr val="dk1"/>
                </a:solidFill>
              </a:rPr>
              <a:t>Give mutex</a:t>
            </a:r>
            <a:endParaRPr sz="15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4"/>
                                        </p:tgtEl>
                                        <p:attrNameLst>
                                          <p:attrName>style.visibility</p:attrName>
                                        </p:attrNameLst>
                                      </p:cBhvr>
                                      <p:to>
                                        <p:strVal val="visible"/>
                                      </p:to>
                                    </p:set>
                                    <p:animEffect transition="in" filter="fade">
                                      <p:cBhvr>
                                        <p:cTn id="7" dur="1000"/>
                                        <p:tgtEl>
                                          <p:spTgt spid="134"/>
                                        </p:tgtEl>
                                      </p:cBhvr>
                                    </p:animEffect>
                                  </p:childTnLst>
                                </p:cTn>
                              </p:par>
                              <p:par>
                                <p:cTn id="8" presetID="10" presetClass="entr" presetSubtype="0" fill="hold" nodeType="withEffect">
                                  <p:stCondLst>
                                    <p:cond delay="0"/>
                                  </p:stCondLst>
                                  <p:childTnLst>
                                    <p:set>
                                      <p:cBhvr>
                                        <p:cTn id="9" dur="1" fill="hold">
                                          <p:stCondLst>
                                            <p:cond delay="0"/>
                                          </p:stCondLst>
                                        </p:cTn>
                                        <p:tgtEl>
                                          <p:spTgt spid="141"/>
                                        </p:tgtEl>
                                        <p:attrNameLst>
                                          <p:attrName>style.visibility</p:attrName>
                                        </p:attrNameLst>
                                      </p:cBhvr>
                                      <p:to>
                                        <p:strVal val="visible"/>
                                      </p:to>
                                    </p:set>
                                    <p:animEffect transition="in" filter="fade">
                                      <p:cBhvr>
                                        <p:cTn id="10" dur="1000"/>
                                        <p:tgtEl>
                                          <p:spTgt spid="141"/>
                                        </p:tgtEl>
                                      </p:cBhvr>
                                    </p:animEffect>
                                  </p:childTnLst>
                                </p:cTn>
                              </p:par>
                              <p:par>
                                <p:cTn id="11" presetID="10" presetClass="entr" presetSubtype="0" fill="hold" nodeType="withEffect">
                                  <p:stCondLst>
                                    <p:cond delay="0"/>
                                  </p:stCondLst>
                                  <p:childTnLst>
                                    <p:set>
                                      <p:cBhvr>
                                        <p:cTn id="12" dur="1" fill="hold">
                                          <p:stCondLst>
                                            <p:cond delay="0"/>
                                          </p:stCondLst>
                                        </p:cTn>
                                        <p:tgtEl>
                                          <p:spTgt spid="144"/>
                                        </p:tgtEl>
                                        <p:attrNameLst>
                                          <p:attrName>style.visibility</p:attrName>
                                        </p:attrNameLst>
                                      </p:cBhvr>
                                      <p:to>
                                        <p:strVal val="visible"/>
                                      </p:to>
                                    </p:set>
                                    <p:animEffect transition="in" filter="fade">
                                      <p:cBhvr>
                                        <p:cTn id="13" dur="1000"/>
                                        <p:tgtEl>
                                          <p:spTgt spid="14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5"/>
                                        </p:tgtEl>
                                        <p:attrNameLst>
                                          <p:attrName>style.visibility</p:attrName>
                                        </p:attrNameLst>
                                      </p:cBhvr>
                                      <p:to>
                                        <p:strVal val="visible"/>
                                      </p:to>
                                    </p:set>
                                    <p:animEffect transition="in" filter="fade">
                                      <p:cBhvr>
                                        <p:cTn id="18" dur="1000"/>
                                        <p:tgtEl>
                                          <p:spTgt spid="135"/>
                                        </p:tgtEl>
                                      </p:cBhvr>
                                    </p:animEffect>
                                  </p:childTnLst>
                                </p:cTn>
                              </p:par>
                              <p:par>
                                <p:cTn id="19" presetID="10" presetClass="entr" presetSubtype="0" fill="hold" nodeType="withEffect">
                                  <p:stCondLst>
                                    <p:cond delay="0"/>
                                  </p:stCondLst>
                                  <p:childTnLst>
                                    <p:set>
                                      <p:cBhvr>
                                        <p:cTn id="20" dur="1" fill="hold">
                                          <p:stCondLst>
                                            <p:cond delay="0"/>
                                          </p:stCondLst>
                                        </p:cTn>
                                        <p:tgtEl>
                                          <p:spTgt spid="142"/>
                                        </p:tgtEl>
                                        <p:attrNameLst>
                                          <p:attrName>style.visibility</p:attrName>
                                        </p:attrNameLst>
                                      </p:cBhvr>
                                      <p:to>
                                        <p:strVal val="visible"/>
                                      </p:to>
                                    </p:set>
                                    <p:animEffect transition="in" filter="fade">
                                      <p:cBhvr>
                                        <p:cTn id="21" dur="1000"/>
                                        <p:tgtEl>
                                          <p:spTgt spid="142"/>
                                        </p:tgtEl>
                                      </p:cBhvr>
                                    </p:animEffect>
                                  </p:childTnLst>
                                </p:cTn>
                              </p:par>
                              <p:par>
                                <p:cTn id="22" presetID="10" presetClass="entr" presetSubtype="0" fill="hold" nodeType="withEffect">
                                  <p:stCondLst>
                                    <p:cond delay="0"/>
                                  </p:stCondLst>
                                  <p:childTnLst>
                                    <p:set>
                                      <p:cBhvr>
                                        <p:cTn id="23" dur="1" fill="hold">
                                          <p:stCondLst>
                                            <p:cond delay="0"/>
                                          </p:stCondLst>
                                        </p:cTn>
                                        <p:tgtEl>
                                          <p:spTgt spid="137"/>
                                        </p:tgtEl>
                                        <p:attrNameLst>
                                          <p:attrName>style.visibility</p:attrName>
                                        </p:attrNameLst>
                                      </p:cBhvr>
                                      <p:to>
                                        <p:strVal val="visible"/>
                                      </p:to>
                                    </p:set>
                                    <p:animEffect transition="in" filter="fade">
                                      <p:cBhvr>
                                        <p:cTn id="24" dur="1000"/>
                                        <p:tgtEl>
                                          <p:spTgt spid="13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38"/>
                                        </p:tgtEl>
                                        <p:attrNameLst>
                                          <p:attrName>style.visibility</p:attrName>
                                        </p:attrNameLst>
                                      </p:cBhvr>
                                      <p:to>
                                        <p:strVal val="visible"/>
                                      </p:to>
                                    </p:set>
                                    <p:animEffect transition="in" filter="fade">
                                      <p:cBhvr>
                                        <p:cTn id="29" dur="1000"/>
                                        <p:tgtEl>
                                          <p:spTgt spid="138"/>
                                        </p:tgtEl>
                                      </p:cBhvr>
                                    </p:animEffect>
                                  </p:childTnLst>
                                </p:cTn>
                              </p:par>
                              <p:par>
                                <p:cTn id="30" presetID="10" presetClass="entr" presetSubtype="0" fill="hold" nodeType="withEffect">
                                  <p:stCondLst>
                                    <p:cond delay="0"/>
                                  </p:stCondLst>
                                  <p:childTnLst>
                                    <p:set>
                                      <p:cBhvr>
                                        <p:cTn id="31" dur="1" fill="hold">
                                          <p:stCondLst>
                                            <p:cond delay="0"/>
                                          </p:stCondLst>
                                        </p:cTn>
                                        <p:tgtEl>
                                          <p:spTgt spid="159"/>
                                        </p:tgtEl>
                                        <p:attrNameLst>
                                          <p:attrName>style.visibility</p:attrName>
                                        </p:attrNameLst>
                                      </p:cBhvr>
                                      <p:to>
                                        <p:strVal val="visible"/>
                                      </p:to>
                                    </p:set>
                                    <p:animEffect transition="in" filter="fade">
                                      <p:cBhvr>
                                        <p:cTn id="32" dur="1000"/>
                                        <p:tgtEl>
                                          <p:spTgt spid="159"/>
                                        </p:tgtEl>
                                      </p:cBhvr>
                                    </p:animEffect>
                                  </p:childTnLst>
                                </p:cTn>
                              </p:par>
                              <p:par>
                                <p:cTn id="33" presetID="10" presetClass="entr" presetSubtype="0" fill="hold" nodeType="withEffect">
                                  <p:stCondLst>
                                    <p:cond delay="0"/>
                                  </p:stCondLst>
                                  <p:childTnLst>
                                    <p:set>
                                      <p:cBhvr>
                                        <p:cTn id="34" dur="1" fill="hold">
                                          <p:stCondLst>
                                            <p:cond delay="0"/>
                                          </p:stCondLst>
                                        </p:cTn>
                                        <p:tgtEl>
                                          <p:spTgt spid="143"/>
                                        </p:tgtEl>
                                        <p:attrNameLst>
                                          <p:attrName>style.visibility</p:attrName>
                                        </p:attrNameLst>
                                      </p:cBhvr>
                                      <p:to>
                                        <p:strVal val="visible"/>
                                      </p:to>
                                    </p:set>
                                    <p:animEffect transition="in" filter="fade">
                                      <p:cBhvr>
                                        <p:cTn id="35" dur="1000"/>
                                        <p:tgtEl>
                                          <p:spTgt spid="14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60"/>
                                        </p:tgtEl>
                                        <p:attrNameLst>
                                          <p:attrName>style.visibility</p:attrName>
                                        </p:attrNameLst>
                                      </p:cBhvr>
                                      <p:to>
                                        <p:strVal val="visible"/>
                                      </p:to>
                                    </p:set>
                                    <p:animEffect transition="in" filter="fade">
                                      <p:cBhvr>
                                        <p:cTn id="40" dur="1000"/>
                                        <p:tgtEl>
                                          <p:spTgt spid="160"/>
                                        </p:tgtEl>
                                      </p:cBhvr>
                                    </p:animEffect>
                                  </p:childTnLst>
                                </p:cTn>
                              </p:par>
                              <p:par>
                                <p:cTn id="41" presetID="10" presetClass="entr" presetSubtype="0" fill="hold" nodeType="withEffect">
                                  <p:stCondLst>
                                    <p:cond delay="0"/>
                                  </p:stCondLst>
                                  <p:childTnLst>
                                    <p:set>
                                      <p:cBhvr>
                                        <p:cTn id="42" dur="1" fill="hold">
                                          <p:stCondLst>
                                            <p:cond delay="0"/>
                                          </p:stCondLst>
                                        </p:cTn>
                                        <p:tgtEl>
                                          <p:spTgt spid="161"/>
                                        </p:tgtEl>
                                        <p:attrNameLst>
                                          <p:attrName>style.visibility</p:attrName>
                                        </p:attrNameLst>
                                      </p:cBhvr>
                                      <p:to>
                                        <p:strVal val="visible"/>
                                      </p:to>
                                    </p:set>
                                    <p:animEffect transition="in" filter="fade">
                                      <p:cBhvr>
                                        <p:cTn id="43" dur="1000"/>
                                        <p:tgtEl>
                                          <p:spTgt spid="161"/>
                                        </p:tgtEl>
                                      </p:cBhvr>
                                    </p:animEffect>
                                  </p:childTnLst>
                                </p:cTn>
                              </p:par>
                              <p:par>
                                <p:cTn id="44" presetID="10" presetClass="entr" presetSubtype="0" fill="hold" nodeType="withEffect">
                                  <p:stCondLst>
                                    <p:cond delay="0"/>
                                  </p:stCondLst>
                                  <p:childTnLst>
                                    <p:set>
                                      <p:cBhvr>
                                        <p:cTn id="45" dur="1" fill="hold">
                                          <p:stCondLst>
                                            <p:cond delay="0"/>
                                          </p:stCondLst>
                                        </p:cTn>
                                        <p:tgtEl>
                                          <p:spTgt spid="145"/>
                                        </p:tgtEl>
                                        <p:attrNameLst>
                                          <p:attrName>style.visibility</p:attrName>
                                        </p:attrNameLst>
                                      </p:cBhvr>
                                      <p:to>
                                        <p:strVal val="visible"/>
                                      </p:to>
                                    </p:set>
                                    <p:animEffect transition="in" filter="fade">
                                      <p:cBhvr>
                                        <p:cTn id="46" dur="1000"/>
                                        <p:tgtEl>
                                          <p:spTgt spid="14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46"/>
                                        </p:tgtEl>
                                        <p:attrNameLst>
                                          <p:attrName>style.visibility</p:attrName>
                                        </p:attrNameLst>
                                      </p:cBhvr>
                                      <p:to>
                                        <p:strVal val="visible"/>
                                      </p:to>
                                    </p:set>
                                    <p:animEffect transition="in" filter="fade">
                                      <p:cBhvr>
                                        <p:cTn id="51" dur="1000"/>
                                        <p:tgtEl>
                                          <p:spTgt spid="146"/>
                                        </p:tgtEl>
                                      </p:cBhvr>
                                    </p:animEffect>
                                  </p:childTnLst>
                                </p:cTn>
                              </p:par>
                              <p:par>
                                <p:cTn id="52" presetID="10" presetClass="entr" presetSubtype="0" fill="hold" nodeType="withEffect">
                                  <p:stCondLst>
                                    <p:cond delay="0"/>
                                  </p:stCondLst>
                                  <p:childTnLst>
                                    <p:set>
                                      <p:cBhvr>
                                        <p:cTn id="53" dur="1" fill="hold">
                                          <p:stCondLst>
                                            <p:cond delay="0"/>
                                          </p:stCondLst>
                                        </p:cTn>
                                        <p:tgtEl>
                                          <p:spTgt spid="149"/>
                                        </p:tgtEl>
                                        <p:attrNameLst>
                                          <p:attrName>style.visibility</p:attrName>
                                        </p:attrNameLst>
                                      </p:cBhvr>
                                      <p:to>
                                        <p:strVal val="visible"/>
                                      </p:to>
                                    </p:set>
                                    <p:animEffect transition="in" filter="fade">
                                      <p:cBhvr>
                                        <p:cTn id="54" dur="1000"/>
                                        <p:tgtEl>
                                          <p:spTgt spid="149"/>
                                        </p:tgtEl>
                                      </p:cBhvr>
                                    </p:animEffect>
                                  </p:childTnLst>
                                </p:cTn>
                              </p:par>
                              <p:par>
                                <p:cTn id="55" presetID="10" presetClass="entr" presetSubtype="0" fill="hold" nodeType="withEffect">
                                  <p:stCondLst>
                                    <p:cond delay="0"/>
                                  </p:stCondLst>
                                  <p:childTnLst>
                                    <p:set>
                                      <p:cBhvr>
                                        <p:cTn id="56" dur="1" fill="hold">
                                          <p:stCondLst>
                                            <p:cond delay="0"/>
                                          </p:stCondLst>
                                        </p:cTn>
                                        <p:tgtEl>
                                          <p:spTgt spid="139"/>
                                        </p:tgtEl>
                                        <p:attrNameLst>
                                          <p:attrName>style.visibility</p:attrName>
                                        </p:attrNameLst>
                                      </p:cBhvr>
                                      <p:to>
                                        <p:strVal val="visible"/>
                                      </p:to>
                                    </p:set>
                                    <p:animEffect transition="in" filter="fade">
                                      <p:cBhvr>
                                        <p:cTn id="57" dur="1000"/>
                                        <p:tgtEl>
                                          <p:spTgt spid="139"/>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47"/>
                                        </p:tgtEl>
                                        <p:attrNameLst>
                                          <p:attrName>style.visibility</p:attrName>
                                        </p:attrNameLst>
                                      </p:cBhvr>
                                      <p:to>
                                        <p:strVal val="visible"/>
                                      </p:to>
                                    </p:set>
                                    <p:animEffect transition="in" filter="fade">
                                      <p:cBhvr>
                                        <p:cTn id="62" dur="1000"/>
                                        <p:tgtEl>
                                          <p:spTgt spid="147"/>
                                        </p:tgtEl>
                                      </p:cBhvr>
                                    </p:animEffect>
                                  </p:childTnLst>
                                </p:cTn>
                              </p:par>
                              <p:par>
                                <p:cTn id="63" presetID="10" presetClass="entr" presetSubtype="0" fill="hold" nodeType="withEffect">
                                  <p:stCondLst>
                                    <p:cond delay="0"/>
                                  </p:stCondLst>
                                  <p:childTnLst>
                                    <p:set>
                                      <p:cBhvr>
                                        <p:cTn id="64" dur="1" fill="hold">
                                          <p:stCondLst>
                                            <p:cond delay="0"/>
                                          </p:stCondLst>
                                        </p:cTn>
                                        <p:tgtEl>
                                          <p:spTgt spid="150"/>
                                        </p:tgtEl>
                                        <p:attrNameLst>
                                          <p:attrName>style.visibility</p:attrName>
                                        </p:attrNameLst>
                                      </p:cBhvr>
                                      <p:to>
                                        <p:strVal val="visible"/>
                                      </p:to>
                                    </p:set>
                                    <p:animEffect transition="in" filter="fade">
                                      <p:cBhvr>
                                        <p:cTn id="65" dur="1000"/>
                                        <p:tgtEl>
                                          <p:spTgt spid="150"/>
                                        </p:tgtEl>
                                      </p:cBhvr>
                                    </p:animEffect>
                                  </p:childTnLst>
                                </p:cTn>
                              </p:par>
                              <p:par>
                                <p:cTn id="66" presetID="10" presetClass="entr" presetSubtype="0" fill="hold" nodeType="withEffect">
                                  <p:stCondLst>
                                    <p:cond delay="0"/>
                                  </p:stCondLst>
                                  <p:childTnLst>
                                    <p:set>
                                      <p:cBhvr>
                                        <p:cTn id="67" dur="1" fill="hold">
                                          <p:stCondLst>
                                            <p:cond delay="0"/>
                                          </p:stCondLst>
                                        </p:cTn>
                                        <p:tgtEl>
                                          <p:spTgt spid="162"/>
                                        </p:tgtEl>
                                        <p:attrNameLst>
                                          <p:attrName>style.visibility</p:attrName>
                                        </p:attrNameLst>
                                      </p:cBhvr>
                                      <p:to>
                                        <p:strVal val="visible"/>
                                      </p:to>
                                    </p:set>
                                    <p:animEffect transition="in" filter="fade">
                                      <p:cBhvr>
                                        <p:cTn id="68" dur="1000"/>
                                        <p:tgtEl>
                                          <p:spTgt spid="162"/>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148"/>
                                        </p:tgtEl>
                                        <p:attrNameLst>
                                          <p:attrName>style.visibility</p:attrName>
                                        </p:attrNameLst>
                                      </p:cBhvr>
                                      <p:to>
                                        <p:strVal val="visible"/>
                                      </p:to>
                                    </p:set>
                                    <p:animEffect transition="in" filter="fade">
                                      <p:cBhvr>
                                        <p:cTn id="73" dur="1000"/>
                                        <p:tgtEl>
                                          <p:spTgt spid="148"/>
                                        </p:tgtEl>
                                      </p:cBhvr>
                                    </p:animEffect>
                                  </p:childTnLst>
                                </p:cTn>
                              </p:par>
                              <p:par>
                                <p:cTn id="74" presetID="10" presetClass="entr" presetSubtype="0" fill="hold" nodeType="withEffect">
                                  <p:stCondLst>
                                    <p:cond delay="0"/>
                                  </p:stCondLst>
                                  <p:childTnLst>
                                    <p:set>
                                      <p:cBhvr>
                                        <p:cTn id="75" dur="1" fill="hold">
                                          <p:stCondLst>
                                            <p:cond delay="0"/>
                                          </p:stCondLst>
                                        </p:cTn>
                                        <p:tgtEl>
                                          <p:spTgt spid="178"/>
                                        </p:tgtEl>
                                        <p:attrNameLst>
                                          <p:attrName>style.visibility</p:attrName>
                                        </p:attrNameLst>
                                      </p:cBhvr>
                                      <p:to>
                                        <p:strVal val="visible"/>
                                      </p:to>
                                    </p:set>
                                    <p:animEffect transition="in" filter="fade">
                                      <p:cBhvr>
                                        <p:cTn id="76" dur="1000"/>
                                        <p:tgtEl>
                                          <p:spTgt spid="178"/>
                                        </p:tgtEl>
                                      </p:cBhvr>
                                    </p:animEffect>
                                  </p:childTnLst>
                                </p:cTn>
                              </p:par>
                              <p:par>
                                <p:cTn id="77" presetID="10" presetClass="entr" presetSubtype="0" fill="hold" nodeType="withEffect">
                                  <p:stCondLst>
                                    <p:cond delay="0"/>
                                  </p:stCondLst>
                                  <p:childTnLst>
                                    <p:set>
                                      <p:cBhvr>
                                        <p:cTn id="78" dur="1" fill="hold">
                                          <p:stCondLst>
                                            <p:cond delay="0"/>
                                          </p:stCondLst>
                                        </p:cTn>
                                        <p:tgtEl>
                                          <p:spTgt spid="163"/>
                                        </p:tgtEl>
                                        <p:attrNameLst>
                                          <p:attrName>style.visibility</p:attrName>
                                        </p:attrNameLst>
                                      </p:cBhvr>
                                      <p:to>
                                        <p:strVal val="visible"/>
                                      </p:to>
                                    </p:set>
                                    <p:animEffect transition="in" filter="fade">
                                      <p:cBhvr>
                                        <p:cTn id="79" dur="1000"/>
                                        <p:tgtEl>
                                          <p:spTgt spid="163"/>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164"/>
                                        </p:tgtEl>
                                        <p:attrNameLst>
                                          <p:attrName>style.visibility</p:attrName>
                                        </p:attrNameLst>
                                      </p:cBhvr>
                                      <p:to>
                                        <p:strVal val="visible"/>
                                      </p:to>
                                    </p:set>
                                    <p:animEffect transition="in" filter="fade">
                                      <p:cBhvr>
                                        <p:cTn id="84" dur="1000"/>
                                        <p:tgtEl>
                                          <p:spTgt spid="164"/>
                                        </p:tgtEl>
                                      </p:cBhvr>
                                    </p:animEffect>
                                  </p:childTnLst>
                                </p:cTn>
                              </p:par>
                              <p:par>
                                <p:cTn id="85" presetID="10" presetClass="entr" presetSubtype="0" fill="hold" nodeType="withEffect">
                                  <p:stCondLst>
                                    <p:cond delay="0"/>
                                  </p:stCondLst>
                                  <p:childTnLst>
                                    <p:set>
                                      <p:cBhvr>
                                        <p:cTn id="86" dur="1" fill="hold">
                                          <p:stCondLst>
                                            <p:cond delay="0"/>
                                          </p:stCondLst>
                                        </p:cTn>
                                        <p:tgtEl>
                                          <p:spTgt spid="179"/>
                                        </p:tgtEl>
                                        <p:attrNameLst>
                                          <p:attrName>style.visibility</p:attrName>
                                        </p:attrNameLst>
                                      </p:cBhvr>
                                      <p:to>
                                        <p:strVal val="visible"/>
                                      </p:to>
                                    </p:set>
                                    <p:animEffect transition="in" filter="fade">
                                      <p:cBhvr>
                                        <p:cTn id="87" dur="1000"/>
                                        <p:tgtEl>
                                          <p:spTgt spid="179"/>
                                        </p:tgtEl>
                                      </p:cBhvr>
                                    </p:animEffect>
                                  </p:childTnLst>
                                </p:cTn>
                              </p:par>
                              <p:par>
                                <p:cTn id="88" presetID="10" presetClass="entr" presetSubtype="0" fill="hold" nodeType="withEffect">
                                  <p:stCondLst>
                                    <p:cond delay="0"/>
                                  </p:stCondLst>
                                  <p:childTnLst>
                                    <p:set>
                                      <p:cBhvr>
                                        <p:cTn id="89" dur="1" fill="hold">
                                          <p:stCondLst>
                                            <p:cond delay="0"/>
                                          </p:stCondLst>
                                        </p:cTn>
                                        <p:tgtEl>
                                          <p:spTgt spid="166"/>
                                        </p:tgtEl>
                                        <p:attrNameLst>
                                          <p:attrName>style.visibility</p:attrName>
                                        </p:attrNameLst>
                                      </p:cBhvr>
                                      <p:to>
                                        <p:strVal val="visible"/>
                                      </p:to>
                                    </p:set>
                                    <p:animEffect transition="in" filter="fade">
                                      <p:cBhvr>
                                        <p:cTn id="90" dur="1000"/>
                                        <p:tgtEl>
                                          <p:spTgt spid="166"/>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175"/>
                                        </p:tgtEl>
                                        <p:attrNameLst>
                                          <p:attrName>style.visibility</p:attrName>
                                        </p:attrNameLst>
                                      </p:cBhvr>
                                      <p:to>
                                        <p:strVal val="visible"/>
                                      </p:to>
                                    </p:set>
                                    <p:animEffect transition="in" filter="fade">
                                      <p:cBhvr>
                                        <p:cTn id="95" dur="1000"/>
                                        <p:tgtEl>
                                          <p:spTgt spid="175"/>
                                        </p:tgtEl>
                                      </p:cBhvr>
                                    </p:animEffect>
                                  </p:childTnLst>
                                </p:cTn>
                              </p:par>
                              <p:par>
                                <p:cTn id="96" presetID="10" presetClass="entr" presetSubtype="0" fill="hold" nodeType="withEffect">
                                  <p:stCondLst>
                                    <p:cond delay="0"/>
                                  </p:stCondLst>
                                  <p:childTnLst>
                                    <p:set>
                                      <p:cBhvr>
                                        <p:cTn id="97" dur="1" fill="hold">
                                          <p:stCondLst>
                                            <p:cond delay="0"/>
                                          </p:stCondLst>
                                        </p:cTn>
                                        <p:tgtEl>
                                          <p:spTgt spid="180"/>
                                        </p:tgtEl>
                                        <p:attrNameLst>
                                          <p:attrName>style.visibility</p:attrName>
                                        </p:attrNameLst>
                                      </p:cBhvr>
                                      <p:to>
                                        <p:strVal val="visible"/>
                                      </p:to>
                                    </p:set>
                                    <p:animEffect transition="in" filter="fade">
                                      <p:cBhvr>
                                        <p:cTn id="98" dur="1000"/>
                                        <p:tgtEl>
                                          <p:spTgt spid="180"/>
                                        </p:tgtEl>
                                      </p:cBhvr>
                                    </p:animEffect>
                                  </p:childTnLst>
                                </p:cTn>
                              </p:par>
                              <p:par>
                                <p:cTn id="99" presetID="10" presetClass="entr" presetSubtype="0" fill="hold" nodeType="withEffect">
                                  <p:stCondLst>
                                    <p:cond delay="0"/>
                                  </p:stCondLst>
                                  <p:childTnLst>
                                    <p:set>
                                      <p:cBhvr>
                                        <p:cTn id="100" dur="1" fill="hold">
                                          <p:stCondLst>
                                            <p:cond delay="0"/>
                                          </p:stCondLst>
                                        </p:cTn>
                                        <p:tgtEl>
                                          <p:spTgt spid="167"/>
                                        </p:tgtEl>
                                        <p:attrNameLst>
                                          <p:attrName>style.visibility</p:attrName>
                                        </p:attrNameLst>
                                      </p:cBhvr>
                                      <p:to>
                                        <p:strVal val="visible"/>
                                      </p:to>
                                    </p:set>
                                    <p:animEffect transition="in" filter="fade">
                                      <p:cBhvr>
                                        <p:cTn id="101" dur="1000"/>
                                        <p:tgtEl>
                                          <p:spTgt spid="167"/>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165"/>
                                        </p:tgtEl>
                                        <p:attrNameLst>
                                          <p:attrName>style.visibility</p:attrName>
                                        </p:attrNameLst>
                                      </p:cBhvr>
                                      <p:to>
                                        <p:strVal val="visible"/>
                                      </p:to>
                                    </p:set>
                                    <p:animEffect transition="in" filter="fade">
                                      <p:cBhvr>
                                        <p:cTn id="106" dur="1000"/>
                                        <p:tgtEl>
                                          <p:spTgt spid="165"/>
                                        </p:tgtEl>
                                      </p:cBhvr>
                                    </p:animEffect>
                                  </p:childTnLst>
                                </p:cTn>
                              </p:par>
                              <p:par>
                                <p:cTn id="107" presetID="10" presetClass="entr" presetSubtype="0" fill="hold" nodeType="withEffect">
                                  <p:stCondLst>
                                    <p:cond delay="0"/>
                                  </p:stCondLst>
                                  <p:childTnLst>
                                    <p:set>
                                      <p:cBhvr>
                                        <p:cTn id="108" dur="1" fill="hold">
                                          <p:stCondLst>
                                            <p:cond delay="0"/>
                                          </p:stCondLst>
                                        </p:cTn>
                                        <p:tgtEl>
                                          <p:spTgt spid="181"/>
                                        </p:tgtEl>
                                        <p:attrNameLst>
                                          <p:attrName>style.visibility</p:attrName>
                                        </p:attrNameLst>
                                      </p:cBhvr>
                                      <p:to>
                                        <p:strVal val="visible"/>
                                      </p:to>
                                    </p:set>
                                    <p:animEffect transition="in" filter="fade">
                                      <p:cBhvr>
                                        <p:cTn id="109" dur="1000"/>
                                        <p:tgtEl>
                                          <p:spTgt spid="181"/>
                                        </p:tgtEl>
                                      </p:cBhvr>
                                    </p:animEffect>
                                  </p:childTnLst>
                                </p:cTn>
                              </p:par>
                              <p:par>
                                <p:cTn id="110" presetID="10" presetClass="entr" presetSubtype="0" fill="hold" nodeType="withEffect">
                                  <p:stCondLst>
                                    <p:cond delay="0"/>
                                  </p:stCondLst>
                                  <p:childTnLst>
                                    <p:set>
                                      <p:cBhvr>
                                        <p:cTn id="111" dur="1" fill="hold">
                                          <p:stCondLst>
                                            <p:cond delay="0"/>
                                          </p:stCondLst>
                                        </p:cTn>
                                        <p:tgtEl>
                                          <p:spTgt spid="168"/>
                                        </p:tgtEl>
                                        <p:attrNameLst>
                                          <p:attrName>style.visibility</p:attrName>
                                        </p:attrNameLst>
                                      </p:cBhvr>
                                      <p:to>
                                        <p:strVal val="visible"/>
                                      </p:to>
                                    </p:set>
                                    <p:animEffect transition="in" filter="fade">
                                      <p:cBhvr>
                                        <p:cTn id="112" dur="1000"/>
                                        <p:tgtEl>
                                          <p:spTgt spid="168"/>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176"/>
                                        </p:tgtEl>
                                        <p:attrNameLst>
                                          <p:attrName>style.visibility</p:attrName>
                                        </p:attrNameLst>
                                      </p:cBhvr>
                                      <p:to>
                                        <p:strVal val="visible"/>
                                      </p:to>
                                    </p:set>
                                    <p:animEffect transition="in" filter="fade">
                                      <p:cBhvr>
                                        <p:cTn id="117" dur="1000"/>
                                        <p:tgtEl>
                                          <p:spTgt spid="176"/>
                                        </p:tgtEl>
                                      </p:cBhvr>
                                    </p:animEffect>
                                  </p:childTnLst>
                                </p:cTn>
                              </p:par>
                              <p:par>
                                <p:cTn id="118" presetID="10" presetClass="entr" presetSubtype="0" fill="hold" nodeType="withEffect">
                                  <p:stCondLst>
                                    <p:cond delay="0"/>
                                  </p:stCondLst>
                                  <p:childTnLst>
                                    <p:set>
                                      <p:cBhvr>
                                        <p:cTn id="119" dur="1" fill="hold">
                                          <p:stCondLst>
                                            <p:cond delay="0"/>
                                          </p:stCondLst>
                                        </p:cTn>
                                        <p:tgtEl>
                                          <p:spTgt spid="182"/>
                                        </p:tgtEl>
                                        <p:attrNameLst>
                                          <p:attrName>style.visibility</p:attrName>
                                        </p:attrNameLst>
                                      </p:cBhvr>
                                      <p:to>
                                        <p:strVal val="visible"/>
                                      </p:to>
                                    </p:set>
                                    <p:animEffect transition="in" filter="fade">
                                      <p:cBhvr>
                                        <p:cTn id="120" dur="1000"/>
                                        <p:tgtEl>
                                          <p:spTgt spid="182"/>
                                        </p:tgtEl>
                                      </p:cBhvr>
                                    </p:animEffect>
                                  </p:childTnLst>
                                </p:cTn>
                              </p:par>
                              <p:par>
                                <p:cTn id="121" presetID="10" presetClass="entr" presetSubtype="0" fill="hold" nodeType="withEffect">
                                  <p:stCondLst>
                                    <p:cond delay="0"/>
                                  </p:stCondLst>
                                  <p:childTnLst>
                                    <p:set>
                                      <p:cBhvr>
                                        <p:cTn id="122" dur="1" fill="hold">
                                          <p:stCondLst>
                                            <p:cond delay="0"/>
                                          </p:stCondLst>
                                        </p:cTn>
                                        <p:tgtEl>
                                          <p:spTgt spid="169"/>
                                        </p:tgtEl>
                                        <p:attrNameLst>
                                          <p:attrName>style.visibility</p:attrName>
                                        </p:attrNameLst>
                                      </p:cBhvr>
                                      <p:to>
                                        <p:strVal val="visible"/>
                                      </p:to>
                                    </p:set>
                                    <p:animEffect transition="in" filter="fade">
                                      <p:cBhvr>
                                        <p:cTn id="123" dur="1000"/>
                                        <p:tgtEl>
                                          <p:spTgt spid="169"/>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nodeType="clickEffect">
                                  <p:stCondLst>
                                    <p:cond delay="0"/>
                                  </p:stCondLst>
                                  <p:childTnLst>
                                    <p:set>
                                      <p:cBhvr>
                                        <p:cTn id="127" dur="1" fill="hold">
                                          <p:stCondLst>
                                            <p:cond delay="0"/>
                                          </p:stCondLst>
                                        </p:cTn>
                                        <p:tgtEl>
                                          <p:spTgt spid="177"/>
                                        </p:tgtEl>
                                        <p:attrNameLst>
                                          <p:attrName>style.visibility</p:attrName>
                                        </p:attrNameLst>
                                      </p:cBhvr>
                                      <p:to>
                                        <p:strVal val="visible"/>
                                      </p:to>
                                    </p:set>
                                    <p:animEffect transition="in" filter="fade">
                                      <p:cBhvr>
                                        <p:cTn id="128" dur="1000"/>
                                        <p:tgtEl>
                                          <p:spTgt spid="177"/>
                                        </p:tgtEl>
                                      </p:cBhvr>
                                    </p:animEffect>
                                  </p:childTnLst>
                                </p:cTn>
                              </p:par>
                              <p:par>
                                <p:cTn id="129" presetID="10" presetClass="entr" presetSubtype="0" fill="hold" nodeType="withEffect">
                                  <p:stCondLst>
                                    <p:cond delay="0"/>
                                  </p:stCondLst>
                                  <p:childTnLst>
                                    <p:set>
                                      <p:cBhvr>
                                        <p:cTn id="130" dur="1" fill="hold">
                                          <p:stCondLst>
                                            <p:cond delay="0"/>
                                          </p:stCondLst>
                                        </p:cTn>
                                        <p:tgtEl>
                                          <p:spTgt spid="183"/>
                                        </p:tgtEl>
                                        <p:attrNameLst>
                                          <p:attrName>style.visibility</p:attrName>
                                        </p:attrNameLst>
                                      </p:cBhvr>
                                      <p:to>
                                        <p:strVal val="visible"/>
                                      </p:to>
                                    </p:set>
                                    <p:animEffect transition="in" filter="fade">
                                      <p:cBhvr>
                                        <p:cTn id="131" dur="1000"/>
                                        <p:tgtEl>
                                          <p:spTgt spid="183"/>
                                        </p:tgtEl>
                                      </p:cBhvr>
                                    </p:animEffect>
                                  </p:childTnLst>
                                </p:cTn>
                              </p:par>
                              <p:par>
                                <p:cTn id="132" presetID="10" presetClass="entr" presetSubtype="0" fill="hold" nodeType="withEffect">
                                  <p:stCondLst>
                                    <p:cond delay="0"/>
                                  </p:stCondLst>
                                  <p:childTnLst>
                                    <p:set>
                                      <p:cBhvr>
                                        <p:cTn id="133" dur="1" fill="hold">
                                          <p:stCondLst>
                                            <p:cond delay="0"/>
                                          </p:stCondLst>
                                        </p:cTn>
                                        <p:tgtEl>
                                          <p:spTgt spid="170"/>
                                        </p:tgtEl>
                                        <p:attrNameLst>
                                          <p:attrName>style.visibility</p:attrName>
                                        </p:attrNameLst>
                                      </p:cBhvr>
                                      <p:to>
                                        <p:strVal val="visible"/>
                                      </p:to>
                                    </p:set>
                                    <p:animEffect transition="in" filter="fade">
                                      <p:cBhvr>
                                        <p:cTn id="134" dur="1000"/>
                                        <p:tgtEl>
                                          <p:spTgt spid="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46768-7081-477E-248D-0F42BF34042E}"/>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B7D41692-9087-64B3-8A7E-2C64AFF340F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6344097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857250"/>
            <a:ext cx="9144000" cy="5143503"/>
          </a:xfrm>
          <a:prstGeom prst="rect">
            <a:avLst/>
          </a:prstGeom>
          <a:noFill/>
          <a:ln>
            <a:noFill/>
          </a:ln>
        </p:spPr>
      </p:pic>
      <p:pic>
        <p:nvPicPr>
          <p:cNvPr id="55" name="Google Shape;55;p13"/>
          <p:cNvPicPr preferRelativeResize="0"/>
          <p:nvPr/>
        </p:nvPicPr>
        <p:blipFill>
          <a:blip r:embed="rId4">
            <a:alphaModFix/>
          </a:blip>
          <a:stretch>
            <a:fillRect/>
          </a:stretch>
        </p:blipFill>
        <p:spPr>
          <a:xfrm>
            <a:off x="1077813" y="2943038"/>
            <a:ext cx="1551375" cy="1902063"/>
          </a:xfrm>
          <a:prstGeom prst="rect">
            <a:avLst/>
          </a:prstGeom>
          <a:noFill/>
          <a:ln>
            <a:noFill/>
          </a:ln>
        </p:spPr>
      </p:pic>
      <p:pic>
        <p:nvPicPr>
          <p:cNvPr id="56" name="Google Shape;56;p13"/>
          <p:cNvPicPr preferRelativeResize="0"/>
          <p:nvPr/>
        </p:nvPicPr>
        <p:blipFill>
          <a:blip r:embed="rId5">
            <a:alphaModFix/>
          </a:blip>
          <a:stretch>
            <a:fillRect/>
          </a:stretch>
        </p:blipFill>
        <p:spPr>
          <a:xfrm>
            <a:off x="1432038" y="3893550"/>
            <a:ext cx="1001187" cy="500600"/>
          </a:xfrm>
          <a:prstGeom prst="rect">
            <a:avLst/>
          </a:prstGeom>
          <a:noFill/>
          <a:ln>
            <a:noFill/>
          </a:ln>
        </p:spPr>
      </p:pic>
      <p:pic>
        <p:nvPicPr>
          <p:cNvPr id="57" name="Google Shape;57;p13"/>
          <p:cNvPicPr preferRelativeResize="0"/>
          <p:nvPr/>
        </p:nvPicPr>
        <p:blipFill>
          <a:blip r:embed="rId5">
            <a:alphaModFix/>
          </a:blip>
          <a:stretch>
            <a:fillRect/>
          </a:stretch>
        </p:blipFill>
        <p:spPr>
          <a:xfrm>
            <a:off x="1077813" y="3893550"/>
            <a:ext cx="1001187" cy="500600"/>
          </a:xfrm>
          <a:prstGeom prst="rect">
            <a:avLst/>
          </a:prstGeom>
          <a:noFill/>
          <a:ln>
            <a:noFill/>
          </a:ln>
        </p:spPr>
      </p:pic>
      <p:pic>
        <p:nvPicPr>
          <p:cNvPr id="58" name="Google Shape;58;p13"/>
          <p:cNvPicPr preferRelativeResize="0"/>
          <p:nvPr/>
        </p:nvPicPr>
        <p:blipFill>
          <a:blip r:embed="rId5">
            <a:alphaModFix/>
          </a:blip>
          <a:stretch>
            <a:fillRect/>
          </a:stretch>
        </p:blipFill>
        <p:spPr>
          <a:xfrm>
            <a:off x="1352907" y="4082475"/>
            <a:ext cx="1001187" cy="500600"/>
          </a:xfrm>
          <a:prstGeom prst="rect">
            <a:avLst/>
          </a:prstGeom>
          <a:noFill/>
          <a:ln>
            <a:noFill/>
          </a:ln>
        </p:spPr>
      </p:pic>
      <p:pic>
        <p:nvPicPr>
          <p:cNvPr id="59" name="Google Shape;59;p13"/>
          <p:cNvPicPr preferRelativeResize="0"/>
          <p:nvPr/>
        </p:nvPicPr>
        <p:blipFill>
          <a:blip r:embed="rId5">
            <a:alphaModFix/>
          </a:blip>
          <a:stretch>
            <a:fillRect/>
          </a:stretch>
        </p:blipFill>
        <p:spPr>
          <a:xfrm>
            <a:off x="1806750" y="3893550"/>
            <a:ext cx="1001187" cy="500600"/>
          </a:xfrm>
          <a:prstGeom prst="rect">
            <a:avLst/>
          </a:prstGeom>
          <a:noFill/>
          <a:ln>
            <a:noFill/>
          </a:ln>
        </p:spPr>
      </p:pic>
      <p:pic>
        <p:nvPicPr>
          <p:cNvPr id="60" name="Google Shape;60;p13"/>
          <p:cNvPicPr preferRelativeResize="0"/>
          <p:nvPr/>
        </p:nvPicPr>
        <p:blipFill>
          <a:blip r:embed="rId5">
            <a:alphaModFix/>
          </a:blip>
          <a:stretch>
            <a:fillRect/>
          </a:stretch>
        </p:blipFill>
        <p:spPr>
          <a:xfrm>
            <a:off x="1298513" y="3723488"/>
            <a:ext cx="1001187" cy="500600"/>
          </a:xfrm>
          <a:prstGeom prst="rect">
            <a:avLst/>
          </a:prstGeom>
          <a:noFill/>
          <a:ln>
            <a:noFill/>
          </a:ln>
        </p:spPr>
      </p:pic>
      <p:sp>
        <p:nvSpPr>
          <p:cNvPr id="61" name="Google Shape;61;p13"/>
          <p:cNvSpPr/>
          <p:nvPr/>
        </p:nvSpPr>
        <p:spPr>
          <a:xfrm>
            <a:off x="307144" y="2597500"/>
            <a:ext cx="3092700" cy="3092700"/>
          </a:xfrm>
          <a:prstGeom prst="mathMultiply">
            <a:avLst>
              <a:gd name="adj1" fmla="val 13779"/>
            </a:avLst>
          </a:prstGeom>
          <a:solidFill>
            <a:srgbClr val="FF0000"/>
          </a:solidFill>
          <a:ln>
            <a:noFill/>
          </a:ln>
        </p:spPr>
        <p:txBody>
          <a:bodyPr spcFirstLastPara="1" wrap="square" lIns="45713" tIns="45713" rIns="45713" bIns="45713" anchor="ctr" anchorCtr="0">
            <a:noAutofit/>
          </a:bodyPr>
          <a:lstStyle/>
          <a:p>
            <a:endParaRPr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1000"/>
                                        <p:tgtEl>
                                          <p:spTgt spid="55"/>
                                        </p:tgtEl>
                                      </p:cBhvr>
                                    </p:animEffect>
                                  </p:childTnLst>
                                </p:cTn>
                              </p:par>
                              <p:par>
                                <p:cTn id="8" presetID="10" presetClass="entr" presetSubtype="0" fill="hold" nodeType="withEffect">
                                  <p:stCondLst>
                                    <p:cond delay="0"/>
                                  </p:stCondLst>
                                  <p:childTnLst>
                                    <p:set>
                                      <p:cBhvr>
                                        <p:cTn id="9" dur="1" fill="hold">
                                          <p:stCondLst>
                                            <p:cond delay="0"/>
                                          </p:stCondLst>
                                        </p:cTn>
                                        <p:tgtEl>
                                          <p:spTgt spid="56"/>
                                        </p:tgtEl>
                                        <p:attrNameLst>
                                          <p:attrName>style.visibility</p:attrName>
                                        </p:attrNameLst>
                                      </p:cBhvr>
                                      <p:to>
                                        <p:strVal val="visible"/>
                                      </p:to>
                                    </p:set>
                                    <p:animEffect transition="in" filter="fade">
                                      <p:cBhvr>
                                        <p:cTn id="10" dur="1000"/>
                                        <p:tgtEl>
                                          <p:spTgt spid="5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8"/>
                                        </p:tgtEl>
                                        <p:attrNameLst>
                                          <p:attrName>style.visibility</p:attrName>
                                        </p:attrNameLst>
                                      </p:cBhvr>
                                      <p:to>
                                        <p:strVal val="visible"/>
                                      </p:to>
                                    </p:set>
                                    <p:animEffect transition="in" filter="fade">
                                      <p:cBhvr>
                                        <p:cTn id="15" dur="1000"/>
                                        <p:tgtEl>
                                          <p:spTgt spid="58"/>
                                        </p:tgtEl>
                                      </p:cBhvr>
                                    </p:animEffect>
                                  </p:childTnLst>
                                </p:cTn>
                              </p:par>
                              <p:par>
                                <p:cTn id="16" presetID="10" presetClass="entr" presetSubtype="0" fill="hold" nodeType="withEffect">
                                  <p:stCondLst>
                                    <p:cond delay="0"/>
                                  </p:stCondLst>
                                  <p:childTnLst>
                                    <p:set>
                                      <p:cBhvr>
                                        <p:cTn id="17" dur="1" fill="hold">
                                          <p:stCondLst>
                                            <p:cond delay="0"/>
                                          </p:stCondLst>
                                        </p:cTn>
                                        <p:tgtEl>
                                          <p:spTgt spid="59"/>
                                        </p:tgtEl>
                                        <p:attrNameLst>
                                          <p:attrName>style.visibility</p:attrName>
                                        </p:attrNameLst>
                                      </p:cBhvr>
                                      <p:to>
                                        <p:strVal val="visible"/>
                                      </p:to>
                                    </p:set>
                                    <p:animEffect transition="in" filter="fade">
                                      <p:cBhvr>
                                        <p:cTn id="18" dur="1000"/>
                                        <p:tgtEl>
                                          <p:spTgt spid="59"/>
                                        </p:tgtEl>
                                      </p:cBhvr>
                                    </p:animEffect>
                                  </p:childTnLst>
                                </p:cTn>
                              </p:par>
                              <p:par>
                                <p:cTn id="19" presetID="10" presetClass="entr" presetSubtype="0" fill="hold" nodeType="withEffect">
                                  <p:stCondLst>
                                    <p:cond delay="0"/>
                                  </p:stCondLst>
                                  <p:childTnLst>
                                    <p:set>
                                      <p:cBhvr>
                                        <p:cTn id="20" dur="1" fill="hold">
                                          <p:stCondLst>
                                            <p:cond delay="0"/>
                                          </p:stCondLst>
                                        </p:cTn>
                                        <p:tgtEl>
                                          <p:spTgt spid="60"/>
                                        </p:tgtEl>
                                        <p:attrNameLst>
                                          <p:attrName>style.visibility</p:attrName>
                                        </p:attrNameLst>
                                      </p:cBhvr>
                                      <p:to>
                                        <p:strVal val="visible"/>
                                      </p:to>
                                    </p:set>
                                    <p:animEffect transition="in" filter="fade">
                                      <p:cBhvr>
                                        <p:cTn id="21" dur="1000"/>
                                        <p:tgtEl>
                                          <p:spTgt spid="60"/>
                                        </p:tgtEl>
                                      </p:cBhvr>
                                    </p:animEffect>
                                  </p:childTnLst>
                                </p:cTn>
                              </p:par>
                              <p:par>
                                <p:cTn id="22" presetID="10"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animEffect transition="in" filter="fade">
                                      <p:cBhvr>
                                        <p:cTn id="24" dur="1000"/>
                                        <p:tgtEl>
                                          <p:spTgt spid="57"/>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4"/>
          <p:cNvSpPr/>
          <p:nvPr/>
        </p:nvSpPr>
        <p:spPr>
          <a:xfrm>
            <a:off x="2636025" y="3541494"/>
            <a:ext cx="3871950" cy="970650"/>
          </a:xfrm>
          <a:prstGeom prst="rect">
            <a:avLst/>
          </a:prstGeom>
          <a:solidFill>
            <a:srgbClr val="000000"/>
          </a:solidFill>
          <a:ln>
            <a:noFill/>
          </a:ln>
        </p:spPr>
        <p:txBody>
          <a:bodyPr spcFirstLastPara="1" wrap="square" lIns="45713" tIns="45713" rIns="45713" bIns="45713" anchor="ctr" anchorCtr="0">
            <a:noAutofit/>
          </a:bodyPr>
          <a:lstStyle/>
          <a:p>
            <a:pPr algn="ctr"/>
            <a:r>
              <a:rPr lang="en" sz="1500">
                <a:solidFill>
                  <a:srgbClr val="00FF00"/>
                </a:solidFill>
                <a:latin typeface="Courier New"/>
                <a:ea typeface="Courier New"/>
                <a:cs typeface="Courier New"/>
                <a:sym typeface="Courier New"/>
              </a:rPr>
              <a:t>Critical section </a:t>
            </a:r>
            <a:endParaRPr sz="1500">
              <a:solidFill>
                <a:srgbClr val="00FF00"/>
              </a:solidFill>
              <a:latin typeface="Courier New"/>
              <a:ea typeface="Courier New"/>
              <a:cs typeface="Courier New"/>
              <a:sym typeface="Courier New"/>
            </a:endParaRPr>
          </a:p>
          <a:p>
            <a:pPr algn="ctr"/>
            <a:r>
              <a:rPr lang="en" sz="1500">
                <a:solidFill>
                  <a:srgbClr val="00FF00"/>
                </a:solidFill>
                <a:latin typeface="Courier New"/>
                <a:ea typeface="Courier New"/>
                <a:cs typeface="Courier New"/>
                <a:sym typeface="Courier New"/>
              </a:rPr>
              <a:t>(manipulate shared resource)</a:t>
            </a:r>
            <a:endParaRPr sz="1500">
              <a:solidFill>
                <a:srgbClr val="00FF00"/>
              </a:solidFill>
              <a:latin typeface="Courier New"/>
              <a:ea typeface="Courier New"/>
              <a:cs typeface="Courier New"/>
              <a:sym typeface="Courier New"/>
            </a:endParaRPr>
          </a:p>
        </p:txBody>
      </p:sp>
      <p:sp>
        <p:nvSpPr>
          <p:cNvPr id="67" name="Google Shape;67;p14"/>
          <p:cNvSpPr txBox="1"/>
          <p:nvPr/>
        </p:nvSpPr>
        <p:spPr>
          <a:xfrm>
            <a:off x="1065375" y="954088"/>
            <a:ext cx="7013250" cy="461651"/>
          </a:xfrm>
          <a:prstGeom prst="rect">
            <a:avLst/>
          </a:prstGeom>
          <a:noFill/>
          <a:ln>
            <a:noFill/>
          </a:ln>
        </p:spPr>
        <p:txBody>
          <a:bodyPr spcFirstLastPara="1" wrap="square" lIns="45713" tIns="45713" rIns="45713" bIns="45713" anchor="t" anchorCtr="0">
            <a:spAutoFit/>
          </a:bodyPr>
          <a:lstStyle/>
          <a:p>
            <a:pPr algn="ctr"/>
            <a:r>
              <a:rPr lang="en" sz="2400"/>
              <a:t>Semaphore: The Idea</a:t>
            </a:r>
            <a:endParaRPr sz="2400"/>
          </a:p>
        </p:txBody>
      </p:sp>
      <p:sp>
        <p:nvSpPr>
          <p:cNvPr id="68" name="Google Shape;68;p14"/>
          <p:cNvSpPr/>
          <p:nvPr/>
        </p:nvSpPr>
        <p:spPr>
          <a:xfrm>
            <a:off x="658450" y="2771175"/>
            <a:ext cx="710250" cy="710250"/>
          </a:xfrm>
          <a:prstGeom prst="ellipse">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2400"/>
              <a:t>3</a:t>
            </a:r>
            <a:endParaRPr sz="2400"/>
          </a:p>
        </p:txBody>
      </p:sp>
      <p:sp>
        <p:nvSpPr>
          <p:cNvPr id="69" name="Google Shape;69;p14"/>
          <p:cNvSpPr/>
          <p:nvPr/>
        </p:nvSpPr>
        <p:spPr>
          <a:xfrm>
            <a:off x="1787994" y="1736250"/>
            <a:ext cx="1217550" cy="365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A</a:t>
            </a:r>
            <a:endParaRPr sz="1500"/>
          </a:p>
        </p:txBody>
      </p:sp>
      <p:sp>
        <p:nvSpPr>
          <p:cNvPr id="70" name="Google Shape;70;p14"/>
          <p:cNvSpPr/>
          <p:nvPr/>
        </p:nvSpPr>
        <p:spPr>
          <a:xfrm>
            <a:off x="3238144" y="1736250"/>
            <a:ext cx="1217550" cy="36525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B</a:t>
            </a:r>
            <a:endParaRPr sz="1500"/>
          </a:p>
        </p:txBody>
      </p:sp>
      <p:sp>
        <p:nvSpPr>
          <p:cNvPr id="71" name="Google Shape;71;p14"/>
          <p:cNvSpPr/>
          <p:nvPr/>
        </p:nvSpPr>
        <p:spPr>
          <a:xfrm>
            <a:off x="4688294" y="1736250"/>
            <a:ext cx="1217550" cy="36525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C</a:t>
            </a:r>
            <a:endParaRPr sz="1500"/>
          </a:p>
        </p:txBody>
      </p:sp>
      <p:sp>
        <p:nvSpPr>
          <p:cNvPr id="72" name="Google Shape;72;p14"/>
          <p:cNvSpPr/>
          <p:nvPr/>
        </p:nvSpPr>
        <p:spPr>
          <a:xfrm>
            <a:off x="6138444" y="1736250"/>
            <a:ext cx="1217550" cy="36525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D</a:t>
            </a:r>
            <a:endParaRPr sz="1500"/>
          </a:p>
        </p:txBody>
      </p:sp>
      <p:sp>
        <p:nvSpPr>
          <p:cNvPr id="73" name="Google Shape;73;p14"/>
          <p:cNvSpPr txBox="1"/>
          <p:nvPr/>
        </p:nvSpPr>
        <p:spPr>
          <a:xfrm>
            <a:off x="187075" y="2249400"/>
            <a:ext cx="1653000" cy="461700"/>
          </a:xfrm>
          <a:prstGeom prst="rect">
            <a:avLst/>
          </a:prstGeom>
          <a:noFill/>
          <a:ln>
            <a:noFill/>
          </a:ln>
        </p:spPr>
        <p:txBody>
          <a:bodyPr spcFirstLastPara="1" wrap="square" lIns="45713" tIns="45713" rIns="45713" bIns="45713" anchor="ctr" anchorCtr="0">
            <a:noAutofit/>
          </a:bodyPr>
          <a:lstStyle/>
          <a:p>
            <a:pPr algn="ctr"/>
            <a:r>
              <a:rPr lang="en" sz="1500"/>
              <a:t>Counting semaphore</a:t>
            </a:r>
            <a:endParaRPr sz="1500"/>
          </a:p>
        </p:txBody>
      </p:sp>
      <p:cxnSp>
        <p:nvCxnSpPr>
          <p:cNvPr id="74" name="Google Shape;74;p14"/>
          <p:cNvCxnSpPr>
            <a:stCxn id="69" idx="2"/>
          </p:cNvCxnSpPr>
          <p:nvPr/>
        </p:nvCxnSpPr>
        <p:spPr>
          <a:xfrm>
            <a:off x="2396769" y="2101500"/>
            <a:ext cx="873000" cy="655500"/>
          </a:xfrm>
          <a:prstGeom prst="straightConnector1">
            <a:avLst/>
          </a:prstGeom>
          <a:noFill/>
          <a:ln w="38100" cap="flat" cmpd="sng">
            <a:solidFill>
              <a:schemeClr val="dk2"/>
            </a:solidFill>
            <a:prstDash val="solid"/>
            <a:round/>
            <a:headEnd type="none" w="med" len="med"/>
            <a:tailEnd type="triangle" w="med" len="med"/>
          </a:ln>
        </p:spPr>
      </p:cxnSp>
      <p:sp>
        <p:nvSpPr>
          <p:cNvPr id="75" name="Google Shape;75;p14"/>
          <p:cNvSpPr/>
          <p:nvPr/>
        </p:nvSpPr>
        <p:spPr>
          <a:xfrm>
            <a:off x="658450" y="2771175"/>
            <a:ext cx="710250" cy="710250"/>
          </a:xfrm>
          <a:prstGeom prst="ellipse">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2400"/>
              <a:t>2</a:t>
            </a:r>
            <a:endParaRPr sz="2400"/>
          </a:p>
        </p:txBody>
      </p:sp>
      <p:sp>
        <p:nvSpPr>
          <p:cNvPr id="76" name="Google Shape;76;p14"/>
          <p:cNvSpPr/>
          <p:nvPr/>
        </p:nvSpPr>
        <p:spPr>
          <a:xfrm>
            <a:off x="2973825" y="2753175"/>
            <a:ext cx="3196350" cy="365250"/>
          </a:xfrm>
          <a:prstGeom prst="rect">
            <a:avLst/>
          </a:prstGeom>
          <a:solidFill>
            <a:srgbClr val="000000"/>
          </a:solidFill>
          <a:ln>
            <a:noFill/>
          </a:ln>
        </p:spPr>
        <p:txBody>
          <a:bodyPr spcFirstLastPara="1" wrap="square" lIns="45713" tIns="45713" rIns="45713" bIns="45713" anchor="ctr" anchorCtr="0">
            <a:noAutofit/>
          </a:bodyPr>
          <a:lstStyle/>
          <a:p>
            <a:pPr algn="ctr">
              <a:buClr>
                <a:schemeClr val="dk1"/>
              </a:buClr>
              <a:buSzPts val="1100"/>
            </a:pPr>
            <a:r>
              <a:rPr lang="en" sz="1500">
                <a:solidFill>
                  <a:srgbClr val="00FF00"/>
                </a:solidFill>
                <a:latin typeface="Courier New"/>
                <a:ea typeface="Courier New"/>
                <a:cs typeface="Courier New"/>
                <a:sym typeface="Courier New"/>
              </a:rPr>
              <a:t>semaphoreTake(semaphore)</a:t>
            </a:r>
            <a:endParaRPr sz="1500">
              <a:solidFill>
                <a:srgbClr val="00FF00"/>
              </a:solidFill>
              <a:latin typeface="Courier New"/>
              <a:ea typeface="Courier New"/>
              <a:cs typeface="Courier New"/>
              <a:sym typeface="Courier New"/>
            </a:endParaRPr>
          </a:p>
        </p:txBody>
      </p:sp>
      <p:cxnSp>
        <p:nvCxnSpPr>
          <p:cNvPr id="77" name="Google Shape;77;p14"/>
          <p:cNvCxnSpPr/>
          <p:nvPr/>
        </p:nvCxnSpPr>
        <p:spPr>
          <a:xfrm>
            <a:off x="3269775" y="3120388"/>
            <a:ext cx="0" cy="421050"/>
          </a:xfrm>
          <a:prstGeom prst="straightConnector1">
            <a:avLst/>
          </a:prstGeom>
          <a:noFill/>
          <a:ln w="38100" cap="flat" cmpd="sng">
            <a:solidFill>
              <a:schemeClr val="dk2"/>
            </a:solidFill>
            <a:prstDash val="solid"/>
            <a:round/>
            <a:headEnd type="none" w="med" len="med"/>
            <a:tailEnd type="triangle" w="med" len="med"/>
          </a:ln>
        </p:spPr>
      </p:cxnSp>
      <p:cxnSp>
        <p:nvCxnSpPr>
          <p:cNvPr id="78" name="Google Shape;78;p14"/>
          <p:cNvCxnSpPr>
            <a:stCxn id="70" idx="2"/>
          </p:cNvCxnSpPr>
          <p:nvPr/>
        </p:nvCxnSpPr>
        <p:spPr>
          <a:xfrm>
            <a:off x="3846919" y="2101500"/>
            <a:ext cx="0" cy="658050"/>
          </a:xfrm>
          <a:prstGeom prst="straightConnector1">
            <a:avLst/>
          </a:prstGeom>
          <a:noFill/>
          <a:ln w="38100" cap="flat" cmpd="sng">
            <a:solidFill>
              <a:schemeClr val="dk2"/>
            </a:solidFill>
            <a:prstDash val="solid"/>
            <a:round/>
            <a:headEnd type="none" w="med" len="med"/>
            <a:tailEnd type="triangle" w="med" len="med"/>
          </a:ln>
        </p:spPr>
      </p:cxnSp>
      <p:cxnSp>
        <p:nvCxnSpPr>
          <p:cNvPr id="79" name="Google Shape;79;p14"/>
          <p:cNvCxnSpPr/>
          <p:nvPr/>
        </p:nvCxnSpPr>
        <p:spPr>
          <a:xfrm>
            <a:off x="3846925" y="3120388"/>
            <a:ext cx="0" cy="421050"/>
          </a:xfrm>
          <a:prstGeom prst="straightConnector1">
            <a:avLst/>
          </a:prstGeom>
          <a:noFill/>
          <a:ln w="38100" cap="flat" cmpd="sng">
            <a:solidFill>
              <a:schemeClr val="dk2"/>
            </a:solidFill>
            <a:prstDash val="solid"/>
            <a:round/>
            <a:headEnd type="none" w="med" len="med"/>
            <a:tailEnd type="triangle" w="med" len="med"/>
          </a:ln>
        </p:spPr>
      </p:cxnSp>
      <p:sp>
        <p:nvSpPr>
          <p:cNvPr id="80" name="Google Shape;80;p14"/>
          <p:cNvSpPr/>
          <p:nvPr/>
        </p:nvSpPr>
        <p:spPr>
          <a:xfrm>
            <a:off x="658450" y="2771175"/>
            <a:ext cx="710250" cy="710250"/>
          </a:xfrm>
          <a:prstGeom prst="ellipse">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2400"/>
              <a:t>1</a:t>
            </a:r>
            <a:endParaRPr sz="2400"/>
          </a:p>
        </p:txBody>
      </p:sp>
      <p:sp>
        <p:nvSpPr>
          <p:cNvPr id="81" name="Google Shape;81;p14"/>
          <p:cNvSpPr/>
          <p:nvPr/>
        </p:nvSpPr>
        <p:spPr>
          <a:xfrm>
            <a:off x="658450" y="2771175"/>
            <a:ext cx="710250" cy="710250"/>
          </a:xfrm>
          <a:prstGeom prst="ellipse">
            <a:avLst/>
          </a:prstGeom>
          <a:solidFill>
            <a:srgbClr val="F4CC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2400"/>
              <a:t>0</a:t>
            </a:r>
            <a:endParaRPr sz="2400"/>
          </a:p>
        </p:txBody>
      </p:sp>
      <p:cxnSp>
        <p:nvCxnSpPr>
          <p:cNvPr id="82" name="Google Shape;82;p14"/>
          <p:cNvCxnSpPr/>
          <p:nvPr/>
        </p:nvCxnSpPr>
        <p:spPr>
          <a:xfrm>
            <a:off x="5297069" y="2101500"/>
            <a:ext cx="0" cy="658050"/>
          </a:xfrm>
          <a:prstGeom prst="straightConnector1">
            <a:avLst/>
          </a:prstGeom>
          <a:noFill/>
          <a:ln w="38100" cap="flat" cmpd="sng">
            <a:solidFill>
              <a:schemeClr val="dk2"/>
            </a:solidFill>
            <a:prstDash val="solid"/>
            <a:round/>
            <a:headEnd type="none" w="med" len="med"/>
            <a:tailEnd type="triangle" w="med" len="med"/>
          </a:ln>
        </p:spPr>
      </p:cxnSp>
      <p:cxnSp>
        <p:nvCxnSpPr>
          <p:cNvPr id="83" name="Google Shape;83;p14"/>
          <p:cNvCxnSpPr/>
          <p:nvPr/>
        </p:nvCxnSpPr>
        <p:spPr>
          <a:xfrm>
            <a:off x="5297075" y="3120388"/>
            <a:ext cx="0" cy="421050"/>
          </a:xfrm>
          <a:prstGeom prst="straightConnector1">
            <a:avLst/>
          </a:prstGeom>
          <a:noFill/>
          <a:ln w="38100" cap="flat" cmpd="sng">
            <a:solidFill>
              <a:schemeClr val="dk2"/>
            </a:solidFill>
            <a:prstDash val="solid"/>
            <a:round/>
            <a:headEnd type="none" w="med" len="med"/>
            <a:tailEnd type="triangle" w="med" len="med"/>
          </a:ln>
        </p:spPr>
      </p:cxnSp>
      <p:cxnSp>
        <p:nvCxnSpPr>
          <p:cNvPr id="84" name="Google Shape;84;p14"/>
          <p:cNvCxnSpPr/>
          <p:nvPr/>
        </p:nvCxnSpPr>
        <p:spPr>
          <a:xfrm flipH="1">
            <a:off x="5863875" y="2101500"/>
            <a:ext cx="873000" cy="655500"/>
          </a:xfrm>
          <a:prstGeom prst="straightConnector1">
            <a:avLst/>
          </a:prstGeom>
          <a:noFill/>
          <a:ln w="38100" cap="flat" cmpd="sng">
            <a:solidFill>
              <a:schemeClr val="dk2"/>
            </a:solidFill>
            <a:prstDash val="solid"/>
            <a:round/>
            <a:headEnd type="none" w="med" len="med"/>
            <a:tailEnd type="triangle" w="med" len="med"/>
          </a:ln>
        </p:spPr>
      </p:cxnSp>
      <p:cxnSp>
        <p:nvCxnSpPr>
          <p:cNvPr id="85" name="Google Shape;85;p14"/>
          <p:cNvCxnSpPr/>
          <p:nvPr/>
        </p:nvCxnSpPr>
        <p:spPr>
          <a:xfrm>
            <a:off x="5863869" y="3120388"/>
            <a:ext cx="0" cy="421050"/>
          </a:xfrm>
          <a:prstGeom prst="straightConnector1">
            <a:avLst/>
          </a:prstGeom>
          <a:noFill/>
          <a:ln w="38100" cap="flat" cmpd="sng">
            <a:solidFill>
              <a:schemeClr val="dk2"/>
            </a:solidFill>
            <a:prstDash val="solid"/>
            <a:round/>
            <a:headEnd type="none" w="med" len="med"/>
            <a:tailEnd type="triangle" w="med" len="med"/>
          </a:ln>
        </p:spPr>
      </p:cxnSp>
      <p:sp>
        <p:nvSpPr>
          <p:cNvPr id="86" name="Google Shape;86;p14"/>
          <p:cNvSpPr/>
          <p:nvPr/>
        </p:nvSpPr>
        <p:spPr>
          <a:xfrm>
            <a:off x="2973825" y="4935225"/>
            <a:ext cx="3196350" cy="365250"/>
          </a:xfrm>
          <a:prstGeom prst="rect">
            <a:avLst/>
          </a:prstGeom>
          <a:solidFill>
            <a:srgbClr val="000000"/>
          </a:solidFill>
          <a:ln>
            <a:noFill/>
          </a:ln>
        </p:spPr>
        <p:txBody>
          <a:bodyPr spcFirstLastPara="1" wrap="square" lIns="45713" tIns="45713" rIns="45713" bIns="45713" anchor="ctr" anchorCtr="0">
            <a:noAutofit/>
          </a:bodyPr>
          <a:lstStyle/>
          <a:p>
            <a:pPr algn="ctr"/>
            <a:r>
              <a:rPr lang="en" sz="1500">
                <a:solidFill>
                  <a:srgbClr val="00FF00"/>
                </a:solidFill>
                <a:latin typeface="Courier New"/>
                <a:ea typeface="Courier New"/>
                <a:cs typeface="Courier New"/>
                <a:sym typeface="Courier New"/>
              </a:rPr>
              <a:t>semaphoreGive(semaphore)</a:t>
            </a:r>
            <a:endParaRPr sz="1500">
              <a:solidFill>
                <a:srgbClr val="00FF00"/>
              </a:solidFill>
              <a:latin typeface="Courier New"/>
              <a:ea typeface="Courier New"/>
              <a:cs typeface="Courier New"/>
              <a:sym typeface="Courier New"/>
            </a:endParaRPr>
          </a:p>
        </p:txBody>
      </p:sp>
      <p:cxnSp>
        <p:nvCxnSpPr>
          <p:cNvPr id="87" name="Google Shape;87;p14"/>
          <p:cNvCxnSpPr/>
          <p:nvPr/>
        </p:nvCxnSpPr>
        <p:spPr>
          <a:xfrm>
            <a:off x="3269775" y="4512150"/>
            <a:ext cx="0" cy="421050"/>
          </a:xfrm>
          <a:prstGeom prst="straightConnector1">
            <a:avLst/>
          </a:prstGeom>
          <a:noFill/>
          <a:ln w="38100" cap="flat" cmpd="sng">
            <a:solidFill>
              <a:schemeClr val="dk2"/>
            </a:solidFill>
            <a:prstDash val="solid"/>
            <a:round/>
            <a:headEnd type="none" w="med" len="med"/>
            <a:tailEnd type="triangle" w="med" len="med"/>
          </a:ln>
        </p:spPr>
      </p:cxnSp>
      <p:cxnSp>
        <p:nvCxnSpPr>
          <p:cNvPr id="88" name="Google Shape;88;p14"/>
          <p:cNvCxnSpPr/>
          <p:nvPr/>
        </p:nvCxnSpPr>
        <p:spPr>
          <a:xfrm>
            <a:off x="3269775" y="5302500"/>
            <a:ext cx="0" cy="421050"/>
          </a:xfrm>
          <a:prstGeom prst="straightConnector1">
            <a:avLst/>
          </a:prstGeom>
          <a:noFill/>
          <a:ln w="38100" cap="flat" cmpd="sng">
            <a:solidFill>
              <a:schemeClr val="dk2"/>
            </a:solidFill>
            <a:prstDash val="solid"/>
            <a:round/>
            <a:headEnd type="none" w="med" len="med"/>
            <a:tailEnd type="triangle" w="med" len="med"/>
          </a:ln>
        </p:spPr>
      </p:cxnSp>
      <p:sp>
        <p:nvSpPr>
          <p:cNvPr id="89" name="Google Shape;89;p14"/>
          <p:cNvSpPr/>
          <p:nvPr/>
        </p:nvSpPr>
        <p:spPr>
          <a:xfrm>
            <a:off x="658450" y="2771175"/>
            <a:ext cx="710250" cy="710250"/>
          </a:xfrm>
          <a:prstGeom prst="ellipse">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2400"/>
              <a:t>1</a:t>
            </a:r>
            <a:endParaRPr sz="2400"/>
          </a:p>
        </p:txBody>
      </p:sp>
      <p:sp>
        <p:nvSpPr>
          <p:cNvPr id="90" name="Google Shape;90;p14"/>
          <p:cNvSpPr/>
          <p:nvPr/>
        </p:nvSpPr>
        <p:spPr>
          <a:xfrm>
            <a:off x="658450" y="2771175"/>
            <a:ext cx="710250" cy="710250"/>
          </a:xfrm>
          <a:prstGeom prst="ellipse">
            <a:avLst/>
          </a:prstGeom>
          <a:solidFill>
            <a:srgbClr val="F4CC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2400"/>
              <a:t>0</a:t>
            </a:r>
            <a:endParaRPr sz="2400"/>
          </a:p>
        </p:txBody>
      </p:sp>
      <p:cxnSp>
        <p:nvCxnSpPr>
          <p:cNvPr id="91" name="Google Shape;91;p14"/>
          <p:cNvCxnSpPr/>
          <p:nvPr/>
        </p:nvCxnSpPr>
        <p:spPr>
          <a:xfrm>
            <a:off x="3846925" y="4512150"/>
            <a:ext cx="0" cy="421050"/>
          </a:xfrm>
          <a:prstGeom prst="straightConnector1">
            <a:avLst/>
          </a:prstGeom>
          <a:noFill/>
          <a:ln w="38100" cap="flat" cmpd="sng">
            <a:solidFill>
              <a:schemeClr val="dk2"/>
            </a:solidFill>
            <a:prstDash val="solid"/>
            <a:round/>
            <a:headEnd type="none" w="med" len="med"/>
            <a:tailEnd type="triangle" w="med" len="med"/>
          </a:ln>
        </p:spPr>
      </p:cxnSp>
      <p:cxnSp>
        <p:nvCxnSpPr>
          <p:cNvPr id="92" name="Google Shape;92;p14"/>
          <p:cNvCxnSpPr/>
          <p:nvPr/>
        </p:nvCxnSpPr>
        <p:spPr>
          <a:xfrm>
            <a:off x="5297075" y="4512150"/>
            <a:ext cx="0" cy="421050"/>
          </a:xfrm>
          <a:prstGeom prst="straightConnector1">
            <a:avLst/>
          </a:prstGeom>
          <a:noFill/>
          <a:ln w="38100" cap="flat" cmpd="sng">
            <a:solidFill>
              <a:schemeClr val="dk2"/>
            </a:solidFill>
            <a:prstDash val="solid"/>
            <a:round/>
            <a:headEnd type="none" w="med" len="med"/>
            <a:tailEnd type="triangle" w="med" len="med"/>
          </a:ln>
        </p:spPr>
      </p:cxnSp>
      <p:cxnSp>
        <p:nvCxnSpPr>
          <p:cNvPr id="93" name="Google Shape;93;p14"/>
          <p:cNvCxnSpPr/>
          <p:nvPr/>
        </p:nvCxnSpPr>
        <p:spPr>
          <a:xfrm>
            <a:off x="5863869" y="4512150"/>
            <a:ext cx="0" cy="421050"/>
          </a:xfrm>
          <a:prstGeom prst="straightConnector1">
            <a:avLst/>
          </a:prstGeom>
          <a:noFill/>
          <a:ln w="38100" cap="flat" cmpd="sng">
            <a:solidFill>
              <a:schemeClr val="dk2"/>
            </a:solidFill>
            <a:prstDash val="solid"/>
            <a:round/>
            <a:headEnd type="none" w="med" len="med"/>
            <a:tailEnd type="triangle" w="med" len="med"/>
          </a:ln>
        </p:spPr>
      </p:cxnSp>
      <p:cxnSp>
        <p:nvCxnSpPr>
          <p:cNvPr id="94" name="Google Shape;94;p14"/>
          <p:cNvCxnSpPr/>
          <p:nvPr/>
        </p:nvCxnSpPr>
        <p:spPr>
          <a:xfrm>
            <a:off x="3846925" y="5302500"/>
            <a:ext cx="0" cy="421050"/>
          </a:xfrm>
          <a:prstGeom prst="straightConnector1">
            <a:avLst/>
          </a:prstGeom>
          <a:noFill/>
          <a:ln w="38100" cap="flat" cmpd="sng">
            <a:solidFill>
              <a:schemeClr val="dk2"/>
            </a:solidFill>
            <a:prstDash val="solid"/>
            <a:round/>
            <a:headEnd type="none" w="med" len="med"/>
            <a:tailEnd type="triangle" w="med" len="med"/>
          </a:ln>
        </p:spPr>
      </p:cxnSp>
      <p:cxnSp>
        <p:nvCxnSpPr>
          <p:cNvPr id="95" name="Google Shape;95;p14"/>
          <p:cNvCxnSpPr/>
          <p:nvPr/>
        </p:nvCxnSpPr>
        <p:spPr>
          <a:xfrm>
            <a:off x="5297075" y="5302500"/>
            <a:ext cx="0" cy="421050"/>
          </a:xfrm>
          <a:prstGeom prst="straightConnector1">
            <a:avLst/>
          </a:prstGeom>
          <a:noFill/>
          <a:ln w="38100" cap="flat" cmpd="sng">
            <a:solidFill>
              <a:schemeClr val="dk2"/>
            </a:solidFill>
            <a:prstDash val="solid"/>
            <a:round/>
            <a:headEnd type="none" w="med" len="med"/>
            <a:tailEnd type="triangle" w="med" len="med"/>
          </a:ln>
        </p:spPr>
      </p:cxnSp>
      <p:cxnSp>
        <p:nvCxnSpPr>
          <p:cNvPr id="96" name="Google Shape;96;p14"/>
          <p:cNvCxnSpPr/>
          <p:nvPr/>
        </p:nvCxnSpPr>
        <p:spPr>
          <a:xfrm>
            <a:off x="5863869" y="5302500"/>
            <a:ext cx="0" cy="421050"/>
          </a:xfrm>
          <a:prstGeom prst="straightConnector1">
            <a:avLst/>
          </a:prstGeom>
          <a:noFill/>
          <a:ln w="38100" cap="flat" cmpd="sng">
            <a:solidFill>
              <a:schemeClr val="dk2"/>
            </a:solidFill>
            <a:prstDash val="solid"/>
            <a:round/>
            <a:headEnd type="none" w="med" len="med"/>
            <a:tailEnd type="triangle" w="med" len="med"/>
          </a:ln>
        </p:spPr>
      </p:cxnSp>
      <p:sp>
        <p:nvSpPr>
          <p:cNvPr id="97" name="Google Shape;97;p14"/>
          <p:cNvSpPr/>
          <p:nvPr/>
        </p:nvSpPr>
        <p:spPr>
          <a:xfrm>
            <a:off x="658450" y="2771175"/>
            <a:ext cx="710250" cy="710250"/>
          </a:xfrm>
          <a:prstGeom prst="ellipse">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2400"/>
              <a:t>3</a:t>
            </a:r>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fade">
                                      <p:cBhvr>
                                        <p:cTn id="7" dur="1000"/>
                                        <p:tgtEl>
                                          <p:spTgt spid="6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fade">
                                      <p:cBhvr>
                                        <p:cTn id="12" dur="1000"/>
                                        <p:tgtEl>
                                          <p:spTgt spid="74"/>
                                        </p:tgtEl>
                                      </p:cBhvr>
                                    </p:animEffect>
                                  </p:childTnLst>
                                </p:cTn>
                              </p:par>
                              <p:par>
                                <p:cTn id="13" presetID="10" presetClass="entr" presetSubtype="0" fill="hold" nodeType="withEffect">
                                  <p:stCondLst>
                                    <p:cond delay="0"/>
                                  </p:stCondLst>
                                  <p:childTnLst>
                                    <p:set>
                                      <p:cBhvr>
                                        <p:cTn id="14" dur="1" fill="hold">
                                          <p:stCondLst>
                                            <p:cond delay="0"/>
                                          </p:stCondLst>
                                        </p:cTn>
                                        <p:tgtEl>
                                          <p:spTgt spid="76"/>
                                        </p:tgtEl>
                                        <p:attrNameLst>
                                          <p:attrName>style.visibility</p:attrName>
                                        </p:attrNameLst>
                                      </p:cBhvr>
                                      <p:to>
                                        <p:strVal val="visible"/>
                                      </p:to>
                                    </p:set>
                                    <p:animEffect transition="in" filter="fade">
                                      <p:cBhvr>
                                        <p:cTn id="15" dur="1000"/>
                                        <p:tgtEl>
                                          <p:spTgt spid="7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75"/>
                                        </p:tgtEl>
                                        <p:attrNameLst>
                                          <p:attrName>style.visibility</p:attrName>
                                        </p:attrNameLst>
                                      </p:cBhvr>
                                      <p:to>
                                        <p:strVal val="visible"/>
                                      </p:to>
                                    </p:set>
                                    <p:animEffect transition="in" filter="fade">
                                      <p:cBhvr>
                                        <p:cTn id="20" dur="1000"/>
                                        <p:tgtEl>
                                          <p:spTgt spid="7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77"/>
                                        </p:tgtEl>
                                        <p:attrNameLst>
                                          <p:attrName>style.visibility</p:attrName>
                                        </p:attrNameLst>
                                      </p:cBhvr>
                                      <p:to>
                                        <p:strVal val="visible"/>
                                      </p:to>
                                    </p:set>
                                    <p:animEffect transition="in" filter="fade">
                                      <p:cBhvr>
                                        <p:cTn id="25" dur="1000"/>
                                        <p:tgtEl>
                                          <p:spTgt spid="7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78"/>
                                        </p:tgtEl>
                                        <p:attrNameLst>
                                          <p:attrName>style.visibility</p:attrName>
                                        </p:attrNameLst>
                                      </p:cBhvr>
                                      <p:to>
                                        <p:strVal val="visible"/>
                                      </p:to>
                                    </p:set>
                                    <p:animEffect transition="in" filter="fade">
                                      <p:cBhvr>
                                        <p:cTn id="30" dur="1000"/>
                                        <p:tgtEl>
                                          <p:spTgt spid="78"/>
                                        </p:tgtEl>
                                      </p:cBhvr>
                                    </p:animEffect>
                                  </p:childTnLst>
                                </p:cTn>
                              </p:par>
                              <p:par>
                                <p:cTn id="31" presetID="10" presetClass="entr" presetSubtype="0" fill="hold" nodeType="withEffect">
                                  <p:stCondLst>
                                    <p:cond delay="0"/>
                                  </p:stCondLst>
                                  <p:childTnLst>
                                    <p:set>
                                      <p:cBhvr>
                                        <p:cTn id="32" dur="1" fill="hold">
                                          <p:stCondLst>
                                            <p:cond delay="0"/>
                                          </p:stCondLst>
                                        </p:cTn>
                                        <p:tgtEl>
                                          <p:spTgt spid="70"/>
                                        </p:tgtEl>
                                        <p:attrNameLst>
                                          <p:attrName>style.visibility</p:attrName>
                                        </p:attrNameLst>
                                      </p:cBhvr>
                                      <p:to>
                                        <p:strVal val="visible"/>
                                      </p:to>
                                    </p:set>
                                    <p:animEffect transition="in" filter="fade">
                                      <p:cBhvr>
                                        <p:cTn id="33" dur="1000"/>
                                        <p:tgtEl>
                                          <p:spTgt spid="7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80"/>
                                        </p:tgtEl>
                                        <p:attrNameLst>
                                          <p:attrName>style.visibility</p:attrName>
                                        </p:attrNameLst>
                                      </p:cBhvr>
                                      <p:to>
                                        <p:strVal val="visible"/>
                                      </p:to>
                                    </p:set>
                                    <p:animEffect transition="in" filter="fade">
                                      <p:cBhvr>
                                        <p:cTn id="38" dur="1000"/>
                                        <p:tgtEl>
                                          <p:spTgt spid="8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79"/>
                                        </p:tgtEl>
                                        <p:attrNameLst>
                                          <p:attrName>style.visibility</p:attrName>
                                        </p:attrNameLst>
                                      </p:cBhvr>
                                      <p:to>
                                        <p:strVal val="visible"/>
                                      </p:to>
                                    </p:set>
                                    <p:animEffect transition="in" filter="fade">
                                      <p:cBhvr>
                                        <p:cTn id="43" dur="1000"/>
                                        <p:tgtEl>
                                          <p:spTgt spid="7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71"/>
                                        </p:tgtEl>
                                        <p:attrNameLst>
                                          <p:attrName>style.visibility</p:attrName>
                                        </p:attrNameLst>
                                      </p:cBhvr>
                                      <p:to>
                                        <p:strVal val="visible"/>
                                      </p:to>
                                    </p:set>
                                    <p:animEffect transition="in" filter="fade">
                                      <p:cBhvr>
                                        <p:cTn id="48" dur="1000"/>
                                        <p:tgtEl>
                                          <p:spTgt spid="71"/>
                                        </p:tgtEl>
                                      </p:cBhvr>
                                    </p:animEffect>
                                  </p:childTnLst>
                                </p:cTn>
                              </p:par>
                              <p:par>
                                <p:cTn id="49" presetID="10" presetClass="entr" presetSubtype="0" fill="hold" nodeType="withEffect">
                                  <p:stCondLst>
                                    <p:cond delay="0"/>
                                  </p:stCondLst>
                                  <p:childTnLst>
                                    <p:set>
                                      <p:cBhvr>
                                        <p:cTn id="50" dur="1" fill="hold">
                                          <p:stCondLst>
                                            <p:cond delay="0"/>
                                          </p:stCondLst>
                                        </p:cTn>
                                        <p:tgtEl>
                                          <p:spTgt spid="82"/>
                                        </p:tgtEl>
                                        <p:attrNameLst>
                                          <p:attrName>style.visibility</p:attrName>
                                        </p:attrNameLst>
                                      </p:cBhvr>
                                      <p:to>
                                        <p:strVal val="visible"/>
                                      </p:to>
                                    </p:set>
                                    <p:animEffect transition="in" filter="fade">
                                      <p:cBhvr>
                                        <p:cTn id="51" dur="1000"/>
                                        <p:tgtEl>
                                          <p:spTgt spid="82"/>
                                        </p:tgtEl>
                                      </p:cBhvr>
                                    </p:animEffect>
                                  </p:childTnLst>
                                </p:cTn>
                              </p:par>
                              <p:par>
                                <p:cTn id="52" presetID="10" presetClass="entr" presetSubtype="0" fill="hold" nodeType="withEffect">
                                  <p:stCondLst>
                                    <p:cond delay="0"/>
                                  </p:stCondLst>
                                  <p:childTnLst>
                                    <p:set>
                                      <p:cBhvr>
                                        <p:cTn id="53" dur="1" fill="hold">
                                          <p:stCondLst>
                                            <p:cond delay="0"/>
                                          </p:stCondLst>
                                        </p:cTn>
                                        <p:tgtEl>
                                          <p:spTgt spid="83"/>
                                        </p:tgtEl>
                                        <p:attrNameLst>
                                          <p:attrName>style.visibility</p:attrName>
                                        </p:attrNameLst>
                                      </p:cBhvr>
                                      <p:to>
                                        <p:strVal val="visible"/>
                                      </p:to>
                                    </p:set>
                                    <p:animEffect transition="in" filter="fade">
                                      <p:cBhvr>
                                        <p:cTn id="54" dur="1000"/>
                                        <p:tgtEl>
                                          <p:spTgt spid="83"/>
                                        </p:tgtEl>
                                      </p:cBhvr>
                                    </p:animEffect>
                                  </p:childTnLst>
                                </p:cTn>
                              </p:par>
                              <p:par>
                                <p:cTn id="55" presetID="10" presetClass="entr" presetSubtype="0" fill="hold" nodeType="withEffect">
                                  <p:stCondLst>
                                    <p:cond delay="0"/>
                                  </p:stCondLst>
                                  <p:childTnLst>
                                    <p:set>
                                      <p:cBhvr>
                                        <p:cTn id="56" dur="1" fill="hold">
                                          <p:stCondLst>
                                            <p:cond delay="0"/>
                                          </p:stCondLst>
                                        </p:cTn>
                                        <p:tgtEl>
                                          <p:spTgt spid="81"/>
                                        </p:tgtEl>
                                        <p:attrNameLst>
                                          <p:attrName>style.visibility</p:attrName>
                                        </p:attrNameLst>
                                      </p:cBhvr>
                                      <p:to>
                                        <p:strVal val="visible"/>
                                      </p:to>
                                    </p:set>
                                    <p:animEffect transition="in" filter="fade">
                                      <p:cBhvr>
                                        <p:cTn id="57" dur="1000"/>
                                        <p:tgtEl>
                                          <p:spTgt spid="81"/>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72"/>
                                        </p:tgtEl>
                                        <p:attrNameLst>
                                          <p:attrName>style.visibility</p:attrName>
                                        </p:attrNameLst>
                                      </p:cBhvr>
                                      <p:to>
                                        <p:strVal val="visible"/>
                                      </p:to>
                                    </p:set>
                                    <p:animEffect transition="in" filter="fade">
                                      <p:cBhvr>
                                        <p:cTn id="62" dur="1000"/>
                                        <p:tgtEl>
                                          <p:spTgt spid="72"/>
                                        </p:tgtEl>
                                      </p:cBhvr>
                                    </p:animEffect>
                                  </p:childTnLst>
                                </p:cTn>
                              </p:par>
                              <p:par>
                                <p:cTn id="63" presetID="10" presetClass="entr" presetSubtype="0" fill="hold" nodeType="withEffect">
                                  <p:stCondLst>
                                    <p:cond delay="0"/>
                                  </p:stCondLst>
                                  <p:childTnLst>
                                    <p:set>
                                      <p:cBhvr>
                                        <p:cTn id="64" dur="1" fill="hold">
                                          <p:stCondLst>
                                            <p:cond delay="0"/>
                                          </p:stCondLst>
                                        </p:cTn>
                                        <p:tgtEl>
                                          <p:spTgt spid="84"/>
                                        </p:tgtEl>
                                        <p:attrNameLst>
                                          <p:attrName>style.visibility</p:attrName>
                                        </p:attrNameLst>
                                      </p:cBhvr>
                                      <p:to>
                                        <p:strVal val="visible"/>
                                      </p:to>
                                    </p:set>
                                    <p:animEffect transition="in" filter="fade">
                                      <p:cBhvr>
                                        <p:cTn id="65" dur="1000"/>
                                        <p:tgtEl>
                                          <p:spTgt spid="84"/>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86"/>
                                        </p:tgtEl>
                                        <p:attrNameLst>
                                          <p:attrName>style.visibility</p:attrName>
                                        </p:attrNameLst>
                                      </p:cBhvr>
                                      <p:to>
                                        <p:strVal val="visible"/>
                                      </p:to>
                                    </p:set>
                                    <p:animEffect transition="in" filter="fade">
                                      <p:cBhvr>
                                        <p:cTn id="70" dur="1000"/>
                                        <p:tgtEl>
                                          <p:spTgt spid="86"/>
                                        </p:tgtEl>
                                      </p:cBhvr>
                                    </p:animEffect>
                                  </p:childTnLst>
                                </p:cTn>
                              </p:par>
                              <p:par>
                                <p:cTn id="71" presetID="10" presetClass="entr" presetSubtype="0" fill="hold" nodeType="withEffect">
                                  <p:stCondLst>
                                    <p:cond delay="0"/>
                                  </p:stCondLst>
                                  <p:childTnLst>
                                    <p:set>
                                      <p:cBhvr>
                                        <p:cTn id="72" dur="1" fill="hold">
                                          <p:stCondLst>
                                            <p:cond delay="0"/>
                                          </p:stCondLst>
                                        </p:cTn>
                                        <p:tgtEl>
                                          <p:spTgt spid="87"/>
                                        </p:tgtEl>
                                        <p:attrNameLst>
                                          <p:attrName>style.visibility</p:attrName>
                                        </p:attrNameLst>
                                      </p:cBhvr>
                                      <p:to>
                                        <p:strVal val="visible"/>
                                      </p:to>
                                    </p:set>
                                    <p:animEffect transition="in" filter="fade">
                                      <p:cBhvr>
                                        <p:cTn id="73" dur="1000"/>
                                        <p:tgtEl>
                                          <p:spTgt spid="87"/>
                                        </p:tgtEl>
                                      </p:cBhvr>
                                    </p:animEffect>
                                  </p:childTnLst>
                                </p:cTn>
                              </p:par>
                              <p:par>
                                <p:cTn id="74" presetID="10" presetClass="entr" presetSubtype="0" fill="hold" nodeType="withEffect">
                                  <p:stCondLst>
                                    <p:cond delay="0"/>
                                  </p:stCondLst>
                                  <p:childTnLst>
                                    <p:set>
                                      <p:cBhvr>
                                        <p:cTn id="75" dur="1" fill="hold">
                                          <p:stCondLst>
                                            <p:cond delay="0"/>
                                          </p:stCondLst>
                                        </p:cTn>
                                        <p:tgtEl>
                                          <p:spTgt spid="88"/>
                                        </p:tgtEl>
                                        <p:attrNameLst>
                                          <p:attrName>style.visibility</p:attrName>
                                        </p:attrNameLst>
                                      </p:cBhvr>
                                      <p:to>
                                        <p:strVal val="visible"/>
                                      </p:to>
                                    </p:set>
                                    <p:animEffect transition="in" filter="fade">
                                      <p:cBhvr>
                                        <p:cTn id="76" dur="1000"/>
                                        <p:tgtEl>
                                          <p:spTgt spid="88"/>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89"/>
                                        </p:tgtEl>
                                        <p:attrNameLst>
                                          <p:attrName>style.visibility</p:attrName>
                                        </p:attrNameLst>
                                      </p:cBhvr>
                                      <p:to>
                                        <p:strVal val="visible"/>
                                      </p:to>
                                    </p:set>
                                    <p:animEffect transition="in" filter="fade">
                                      <p:cBhvr>
                                        <p:cTn id="81" dur="1000"/>
                                        <p:tgtEl>
                                          <p:spTgt spid="89"/>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85"/>
                                        </p:tgtEl>
                                        <p:attrNameLst>
                                          <p:attrName>style.visibility</p:attrName>
                                        </p:attrNameLst>
                                      </p:cBhvr>
                                      <p:to>
                                        <p:strVal val="visible"/>
                                      </p:to>
                                    </p:set>
                                    <p:animEffect transition="in" filter="fade">
                                      <p:cBhvr>
                                        <p:cTn id="86" dur="1000"/>
                                        <p:tgtEl>
                                          <p:spTgt spid="85"/>
                                        </p:tgtEl>
                                      </p:cBhvr>
                                    </p:animEffect>
                                  </p:childTnLst>
                                </p:cTn>
                              </p:par>
                              <p:par>
                                <p:cTn id="87" presetID="10" presetClass="entr" presetSubtype="0" fill="hold" nodeType="withEffect">
                                  <p:stCondLst>
                                    <p:cond delay="0"/>
                                  </p:stCondLst>
                                  <p:childTnLst>
                                    <p:set>
                                      <p:cBhvr>
                                        <p:cTn id="88" dur="1" fill="hold">
                                          <p:stCondLst>
                                            <p:cond delay="0"/>
                                          </p:stCondLst>
                                        </p:cTn>
                                        <p:tgtEl>
                                          <p:spTgt spid="90"/>
                                        </p:tgtEl>
                                        <p:attrNameLst>
                                          <p:attrName>style.visibility</p:attrName>
                                        </p:attrNameLst>
                                      </p:cBhvr>
                                      <p:to>
                                        <p:strVal val="visible"/>
                                      </p:to>
                                    </p:set>
                                    <p:animEffect transition="in" filter="fade">
                                      <p:cBhvr>
                                        <p:cTn id="89" dur="1000"/>
                                        <p:tgtEl>
                                          <p:spTgt spid="90"/>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94"/>
                                        </p:tgtEl>
                                        <p:attrNameLst>
                                          <p:attrName>style.visibility</p:attrName>
                                        </p:attrNameLst>
                                      </p:cBhvr>
                                      <p:to>
                                        <p:strVal val="visible"/>
                                      </p:to>
                                    </p:set>
                                    <p:animEffect transition="in" filter="fade">
                                      <p:cBhvr>
                                        <p:cTn id="94" dur="1000"/>
                                        <p:tgtEl>
                                          <p:spTgt spid="94"/>
                                        </p:tgtEl>
                                      </p:cBhvr>
                                    </p:animEffect>
                                  </p:childTnLst>
                                </p:cTn>
                              </p:par>
                              <p:par>
                                <p:cTn id="95" presetID="10" presetClass="entr" presetSubtype="0" fill="hold" nodeType="withEffect">
                                  <p:stCondLst>
                                    <p:cond delay="0"/>
                                  </p:stCondLst>
                                  <p:childTnLst>
                                    <p:set>
                                      <p:cBhvr>
                                        <p:cTn id="96" dur="1" fill="hold">
                                          <p:stCondLst>
                                            <p:cond delay="0"/>
                                          </p:stCondLst>
                                        </p:cTn>
                                        <p:tgtEl>
                                          <p:spTgt spid="95"/>
                                        </p:tgtEl>
                                        <p:attrNameLst>
                                          <p:attrName>style.visibility</p:attrName>
                                        </p:attrNameLst>
                                      </p:cBhvr>
                                      <p:to>
                                        <p:strVal val="visible"/>
                                      </p:to>
                                    </p:set>
                                    <p:animEffect transition="in" filter="fade">
                                      <p:cBhvr>
                                        <p:cTn id="97" dur="1000"/>
                                        <p:tgtEl>
                                          <p:spTgt spid="95"/>
                                        </p:tgtEl>
                                      </p:cBhvr>
                                    </p:animEffect>
                                  </p:childTnLst>
                                </p:cTn>
                              </p:par>
                              <p:par>
                                <p:cTn id="98" presetID="10" presetClass="entr" presetSubtype="0" fill="hold" nodeType="withEffect">
                                  <p:stCondLst>
                                    <p:cond delay="0"/>
                                  </p:stCondLst>
                                  <p:childTnLst>
                                    <p:set>
                                      <p:cBhvr>
                                        <p:cTn id="99" dur="1" fill="hold">
                                          <p:stCondLst>
                                            <p:cond delay="0"/>
                                          </p:stCondLst>
                                        </p:cTn>
                                        <p:tgtEl>
                                          <p:spTgt spid="96"/>
                                        </p:tgtEl>
                                        <p:attrNameLst>
                                          <p:attrName>style.visibility</p:attrName>
                                        </p:attrNameLst>
                                      </p:cBhvr>
                                      <p:to>
                                        <p:strVal val="visible"/>
                                      </p:to>
                                    </p:set>
                                    <p:animEffect transition="in" filter="fade">
                                      <p:cBhvr>
                                        <p:cTn id="100" dur="1000"/>
                                        <p:tgtEl>
                                          <p:spTgt spid="96"/>
                                        </p:tgtEl>
                                      </p:cBhvr>
                                    </p:animEffect>
                                  </p:childTnLst>
                                </p:cTn>
                              </p:par>
                              <p:par>
                                <p:cTn id="101" presetID="10" presetClass="entr" presetSubtype="0" fill="hold" nodeType="withEffect">
                                  <p:stCondLst>
                                    <p:cond delay="0"/>
                                  </p:stCondLst>
                                  <p:childTnLst>
                                    <p:set>
                                      <p:cBhvr>
                                        <p:cTn id="102" dur="1" fill="hold">
                                          <p:stCondLst>
                                            <p:cond delay="0"/>
                                          </p:stCondLst>
                                        </p:cTn>
                                        <p:tgtEl>
                                          <p:spTgt spid="91"/>
                                        </p:tgtEl>
                                        <p:attrNameLst>
                                          <p:attrName>style.visibility</p:attrName>
                                        </p:attrNameLst>
                                      </p:cBhvr>
                                      <p:to>
                                        <p:strVal val="visible"/>
                                      </p:to>
                                    </p:set>
                                    <p:animEffect transition="in" filter="fade">
                                      <p:cBhvr>
                                        <p:cTn id="103" dur="1000"/>
                                        <p:tgtEl>
                                          <p:spTgt spid="91"/>
                                        </p:tgtEl>
                                      </p:cBhvr>
                                    </p:animEffect>
                                  </p:childTnLst>
                                </p:cTn>
                              </p:par>
                              <p:par>
                                <p:cTn id="104" presetID="10" presetClass="entr" presetSubtype="0" fill="hold" nodeType="withEffect">
                                  <p:stCondLst>
                                    <p:cond delay="0"/>
                                  </p:stCondLst>
                                  <p:childTnLst>
                                    <p:set>
                                      <p:cBhvr>
                                        <p:cTn id="105" dur="1" fill="hold">
                                          <p:stCondLst>
                                            <p:cond delay="0"/>
                                          </p:stCondLst>
                                        </p:cTn>
                                        <p:tgtEl>
                                          <p:spTgt spid="92"/>
                                        </p:tgtEl>
                                        <p:attrNameLst>
                                          <p:attrName>style.visibility</p:attrName>
                                        </p:attrNameLst>
                                      </p:cBhvr>
                                      <p:to>
                                        <p:strVal val="visible"/>
                                      </p:to>
                                    </p:set>
                                    <p:animEffect transition="in" filter="fade">
                                      <p:cBhvr>
                                        <p:cTn id="106" dur="1000"/>
                                        <p:tgtEl>
                                          <p:spTgt spid="92"/>
                                        </p:tgtEl>
                                      </p:cBhvr>
                                    </p:animEffect>
                                  </p:childTnLst>
                                </p:cTn>
                              </p:par>
                              <p:par>
                                <p:cTn id="107" presetID="10" presetClass="entr" presetSubtype="0" fill="hold" nodeType="withEffect">
                                  <p:stCondLst>
                                    <p:cond delay="0"/>
                                  </p:stCondLst>
                                  <p:childTnLst>
                                    <p:set>
                                      <p:cBhvr>
                                        <p:cTn id="108" dur="1" fill="hold">
                                          <p:stCondLst>
                                            <p:cond delay="0"/>
                                          </p:stCondLst>
                                        </p:cTn>
                                        <p:tgtEl>
                                          <p:spTgt spid="93"/>
                                        </p:tgtEl>
                                        <p:attrNameLst>
                                          <p:attrName>style.visibility</p:attrName>
                                        </p:attrNameLst>
                                      </p:cBhvr>
                                      <p:to>
                                        <p:strVal val="visible"/>
                                      </p:to>
                                    </p:set>
                                    <p:animEffect transition="in" filter="fade">
                                      <p:cBhvr>
                                        <p:cTn id="109" dur="1000"/>
                                        <p:tgtEl>
                                          <p:spTgt spid="93"/>
                                        </p:tgtEl>
                                      </p:cBhvr>
                                    </p:animEffect>
                                  </p:childTnLst>
                                </p:cTn>
                              </p:par>
                              <p:par>
                                <p:cTn id="110" presetID="10" presetClass="entr" presetSubtype="0" fill="hold" nodeType="withEffect">
                                  <p:stCondLst>
                                    <p:cond delay="0"/>
                                  </p:stCondLst>
                                  <p:childTnLst>
                                    <p:set>
                                      <p:cBhvr>
                                        <p:cTn id="111" dur="1" fill="hold">
                                          <p:stCondLst>
                                            <p:cond delay="0"/>
                                          </p:stCondLst>
                                        </p:cTn>
                                        <p:tgtEl>
                                          <p:spTgt spid="97"/>
                                        </p:tgtEl>
                                        <p:attrNameLst>
                                          <p:attrName>style.visibility</p:attrName>
                                        </p:attrNameLst>
                                      </p:cBhvr>
                                      <p:to>
                                        <p:strVal val="visible"/>
                                      </p:to>
                                    </p:set>
                                    <p:animEffect transition="in" filter="fade">
                                      <p:cBhvr>
                                        <p:cTn id="112" dur="10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p:nvPr/>
        </p:nvSpPr>
        <p:spPr>
          <a:xfrm>
            <a:off x="3148232" y="1548207"/>
            <a:ext cx="1217550" cy="365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A</a:t>
            </a:r>
            <a:endParaRPr sz="1500"/>
          </a:p>
        </p:txBody>
      </p:sp>
      <p:sp>
        <p:nvSpPr>
          <p:cNvPr id="103" name="Google Shape;103;p15"/>
          <p:cNvSpPr/>
          <p:nvPr/>
        </p:nvSpPr>
        <p:spPr>
          <a:xfrm>
            <a:off x="4778219" y="1548207"/>
            <a:ext cx="1217550" cy="36525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B</a:t>
            </a:r>
            <a:endParaRPr sz="1500"/>
          </a:p>
        </p:txBody>
      </p:sp>
      <p:sp>
        <p:nvSpPr>
          <p:cNvPr id="104" name="Google Shape;104;p15"/>
          <p:cNvSpPr/>
          <p:nvPr/>
        </p:nvSpPr>
        <p:spPr>
          <a:xfrm>
            <a:off x="3148238" y="5303757"/>
            <a:ext cx="1217550" cy="36525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C</a:t>
            </a:r>
            <a:endParaRPr sz="1500"/>
          </a:p>
        </p:txBody>
      </p:sp>
      <p:sp>
        <p:nvSpPr>
          <p:cNvPr id="105" name="Google Shape;105;p15"/>
          <p:cNvSpPr/>
          <p:nvPr/>
        </p:nvSpPr>
        <p:spPr>
          <a:xfrm>
            <a:off x="4778225" y="5303757"/>
            <a:ext cx="1217550" cy="36525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D</a:t>
            </a:r>
            <a:endParaRPr sz="1500"/>
          </a:p>
        </p:txBody>
      </p:sp>
      <p:sp>
        <p:nvSpPr>
          <p:cNvPr id="106" name="Google Shape;106;p15"/>
          <p:cNvSpPr/>
          <p:nvPr/>
        </p:nvSpPr>
        <p:spPr>
          <a:xfrm rot="-5400000">
            <a:off x="4622775" y="3446988"/>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07" name="Google Shape;107;p15"/>
          <p:cNvSpPr/>
          <p:nvPr/>
        </p:nvSpPr>
        <p:spPr>
          <a:xfrm rot="-5400000">
            <a:off x="4299525" y="3446988"/>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08" name="Google Shape;108;p15"/>
          <p:cNvSpPr/>
          <p:nvPr/>
        </p:nvSpPr>
        <p:spPr>
          <a:xfrm rot="-5400000">
            <a:off x="3976275" y="3446988"/>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09" name="Google Shape;109;p15"/>
          <p:cNvSpPr/>
          <p:nvPr/>
        </p:nvSpPr>
        <p:spPr>
          <a:xfrm rot="-5400000">
            <a:off x="3653025" y="3446988"/>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10" name="Google Shape;110;p15"/>
          <p:cNvSpPr/>
          <p:nvPr/>
        </p:nvSpPr>
        <p:spPr>
          <a:xfrm rot="-5400000">
            <a:off x="3329775" y="3446988"/>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11" name="Google Shape;111;p15"/>
          <p:cNvSpPr txBox="1"/>
          <p:nvPr/>
        </p:nvSpPr>
        <p:spPr>
          <a:xfrm>
            <a:off x="1674000" y="3355338"/>
            <a:ext cx="2089800" cy="506550"/>
          </a:xfrm>
          <a:prstGeom prst="rect">
            <a:avLst/>
          </a:prstGeom>
          <a:noFill/>
          <a:ln>
            <a:noFill/>
          </a:ln>
        </p:spPr>
        <p:txBody>
          <a:bodyPr spcFirstLastPara="1" wrap="square" lIns="45713" tIns="45713" rIns="45713" bIns="45713" anchor="ctr" anchorCtr="0">
            <a:noAutofit/>
          </a:bodyPr>
          <a:lstStyle/>
          <a:p>
            <a:pPr algn="ctr"/>
            <a:r>
              <a:rPr lang="en" sz="1500"/>
              <a:t>Shared resource</a:t>
            </a:r>
            <a:endParaRPr sz="1500"/>
          </a:p>
          <a:p>
            <a:pPr algn="ctr"/>
            <a:r>
              <a:rPr lang="en" sz="1500"/>
              <a:t>(e.g. buffer, linked list)</a:t>
            </a:r>
            <a:endParaRPr sz="1500"/>
          </a:p>
        </p:txBody>
      </p:sp>
      <p:sp>
        <p:nvSpPr>
          <p:cNvPr id="112" name="Google Shape;112;p15"/>
          <p:cNvSpPr/>
          <p:nvPr/>
        </p:nvSpPr>
        <p:spPr>
          <a:xfrm>
            <a:off x="2973825" y="2280544"/>
            <a:ext cx="3196350" cy="365250"/>
          </a:xfrm>
          <a:prstGeom prst="rect">
            <a:avLst/>
          </a:prstGeom>
          <a:solidFill>
            <a:srgbClr val="000000"/>
          </a:solidFill>
          <a:ln>
            <a:noFill/>
          </a:ln>
        </p:spPr>
        <p:txBody>
          <a:bodyPr spcFirstLastPara="1" wrap="square" lIns="45713" tIns="45713" rIns="45713" bIns="45713" anchor="ctr" anchorCtr="0">
            <a:noAutofit/>
          </a:bodyPr>
          <a:lstStyle/>
          <a:p>
            <a:pPr algn="ctr"/>
            <a:r>
              <a:rPr lang="en" sz="1500">
                <a:solidFill>
                  <a:srgbClr val="00FF00"/>
                </a:solidFill>
                <a:latin typeface="Courier New"/>
                <a:ea typeface="Courier New"/>
                <a:cs typeface="Courier New"/>
                <a:sym typeface="Courier New"/>
              </a:rPr>
              <a:t>semaphoreGive(semaphore)</a:t>
            </a:r>
            <a:endParaRPr sz="1500">
              <a:solidFill>
                <a:srgbClr val="00FF00"/>
              </a:solidFill>
              <a:latin typeface="Courier New"/>
              <a:ea typeface="Courier New"/>
              <a:cs typeface="Courier New"/>
              <a:sym typeface="Courier New"/>
            </a:endParaRPr>
          </a:p>
        </p:txBody>
      </p:sp>
      <p:sp>
        <p:nvSpPr>
          <p:cNvPr id="113" name="Google Shape;113;p15"/>
          <p:cNvSpPr/>
          <p:nvPr/>
        </p:nvSpPr>
        <p:spPr>
          <a:xfrm>
            <a:off x="2973825" y="4571425"/>
            <a:ext cx="3196350" cy="365250"/>
          </a:xfrm>
          <a:prstGeom prst="rect">
            <a:avLst/>
          </a:prstGeom>
          <a:solidFill>
            <a:srgbClr val="000000"/>
          </a:solidFill>
          <a:ln>
            <a:noFill/>
          </a:ln>
        </p:spPr>
        <p:txBody>
          <a:bodyPr spcFirstLastPara="1" wrap="square" lIns="45713" tIns="45713" rIns="45713" bIns="45713" anchor="ctr" anchorCtr="0">
            <a:noAutofit/>
          </a:bodyPr>
          <a:lstStyle/>
          <a:p>
            <a:pPr algn="ctr"/>
            <a:r>
              <a:rPr lang="en" sz="1500">
                <a:solidFill>
                  <a:srgbClr val="00FF00"/>
                </a:solidFill>
                <a:latin typeface="Courier New"/>
                <a:ea typeface="Courier New"/>
                <a:cs typeface="Courier New"/>
                <a:sym typeface="Courier New"/>
              </a:rPr>
              <a:t>semaphoreTake(semaphore)</a:t>
            </a:r>
            <a:endParaRPr sz="1500">
              <a:solidFill>
                <a:srgbClr val="00FF00"/>
              </a:solidFill>
              <a:latin typeface="Courier New"/>
              <a:ea typeface="Courier New"/>
              <a:cs typeface="Courier New"/>
              <a:sym typeface="Courier New"/>
            </a:endParaRPr>
          </a:p>
        </p:txBody>
      </p:sp>
      <p:sp>
        <p:nvSpPr>
          <p:cNvPr id="114" name="Google Shape;114;p15"/>
          <p:cNvSpPr txBox="1"/>
          <p:nvPr/>
        </p:nvSpPr>
        <p:spPr>
          <a:xfrm>
            <a:off x="1065375" y="954088"/>
            <a:ext cx="7013250" cy="461651"/>
          </a:xfrm>
          <a:prstGeom prst="rect">
            <a:avLst/>
          </a:prstGeom>
          <a:noFill/>
          <a:ln>
            <a:noFill/>
          </a:ln>
        </p:spPr>
        <p:txBody>
          <a:bodyPr spcFirstLastPara="1" wrap="square" lIns="45713" tIns="45713" rIns="45713" bIns="45713" anchor="t" anchorCtr="0">
            <a:spAutoFit/>
          </a:bodyPr>
          <a:lstStyle/>
          <a:p>
            <a:pPr algn="ctr"/>
            <a:r>
              <a:rPr lang="en" sz="2400"/>
              <a:t>Semaphore: In Practice</a:t>
            </a:r>
            <a:endParaRPr sz="2400"/>
          </a:p>
        </p:txBody>
      </p:sp>
      <p:sp>
        <p:nvSpPr>
          <p:cNvPr id="115" name="Google Shape;115;p15"/>
          <p:cNvSpPr/>
          <p:nvPr/>
        </p:nvSpPr>
        <p:spPr>
          <a:xfrm>
            <a:off x="658450" y="2771175"/>
            <a:ext cx="710250" cy="710250"/>
          </a:xfrm>
          <a:prstGeom prst="ellipse">
            <a:avLst/>
          </a:prstGeom>
          <a:solidFill>
            <a:srgbClr val="F4CC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2400"/>
              <a:t>0</a:t>
            </a:r>
            <a:endParaRPr sz="2400"/>
          </a:p>
        </p:txBody>
      </p:sp>
      <p:sp>
        <p:nvSpPr>
          <p:cNvPr id="116" name="Google Shape;116;p15"/>
          <p:cNvSpPr txBox="1"/>
          <p:nvPr/>
        </p:nvSpPr>
        <p:spPr>
          <a:xfrm>
            <a:off x="187075" y="2249400"/>
            <a:ext cx="1653000" cy="461700"/>
          </a:xfrm>
          <a:prstGeom prst="rect">
            <a:avLst/>
          </a:prstGeom>
          <a:noFill/>
          <a:ln>
            <a:noFill/>
          </a:ln>
        </p:spPr>
        <p:txBody>
          <a:bodyPr spcFirstLastPara="1" wrap="square" lIns="45713" tIns="45713" rIns="45713" bIns="45713" anchor="ctr" anchorCtr="0">
            <a:noAutofit/>
          </a:bodyPr>
          <a:lstStyle/>
          <a:p>
            <a:pPr algn="ctr"/>
            <a:r>
              <a:rPr lang="en" sz="1500"/>
              <a:t>Counting semaphore</a:t>
            </a:r>
            <a:endParaRPr sz="1500"/>
          </a:p>
        </p:txBody>
      </p:sp>
      <p:cxnSp>
        <p:nvCxnSpPr>
          <p:cNvPr id="117" name="Google Shape;117;p15"/>
          <p:cNvCxnSpPr>
            <a:stCxn id="102" idx="2"/>
          </p:cNvCxnSpPr>
          <p:nvPr/>
        </p:nvCxnSpPr>
        <p:spPr>
          <a:xfrm>
            <a:off x="3757007" y="1913457"/>
            <a:ext cx="147150" cy="369150"/>
          </a:xfrm>
          <a:prstGeom prst="straightConnector1">
            <a:avLst/>
          </a:prstGeom>
          <a:noFill/>
          <a:ln w="38100" cap="flat" cmpd="sng">
            <a:solidFill>
              <a:schemeClr val="dk2"/>
            </a:solidFill>
            <a:prstDash val="solid"/>
            <a:round/>
            <a:headEnd type="none" w="med" len="med"/>
            <a:tailEnd type="triangle" w="med" len="med"/>
          </a:ln>
        </p:spPr>
      </p:cxnSp>
      <p:cxnSp>
        <p:nvCxnSpPr>
          <p:cNvPr id="118" name="Google Shape;118;p15"/>
          <p:cNvCxnSpPr>
            <a:stCxn id="112" idx="2"/>
            <a:endCxn id="108" idx="3"/>
          </p:cNvCxnSpPr>
          <p:nvPr/>
        </p:nvCxnSpPr>
        <p:spPr>
          <a:xfrm>
            <a:off x="4572000" y="2645794"/>
            <a:ext cx="0" cy="367050"/>
          </a:xfrm>
          <a:prstGeom prst="straightConnector1">
            <a:avLst/>
          </a:prstGeom>
          <a:noFill/>
          <a:ln w="38100" cap="flat" cmpd="sng">
            <a:solidFill>
              <a:schemeClr val="dk2"/>
            </a:solidFill>
            <a:prstDash val="solid"/>
            <a:round/>
            <a:headEnd type="none" w="med" len="med"/>
            <a:tailEnd type="triangle" w="med" len="med"/>
          </a:ln>
        </p:spPr>
      </p:cxnSp>
      <p:cxnSp>
        <p:nvCxnSpPr>
          <p:cNvPr id="119" name="Google Shape;119;p15"/>
          <p:cNvCxnSpPr/>
          <p:nvPr/>
        </p:nvCxnSpPr>
        <p:spPr>
          <a:xfrm flipH="1">
            <a:off x="5232969" y="1913457"/>
            <a:ext cx="147150" cy="369150"/>
          </a:xfrm>
          <a:prstGeom prst="straightConnector1">
            <a:avLst/>
          </a:prstGeom>
          <a:noFill/>
          <a:ln w="38100" cap="flat" cmpd="sng">
            <a:solidFill>
              <a:schemeClr val="dk2"/>
            </a:solidFill>
            <a:prstDash val="solid"/>
            <a:round/>
            <a:headEnd type="none" w="med" len="med"/>
            <a:tailEnd type="triangle" w="med" len="med"/>
          </a:ln>
        </p:spPr>
      </p:cxnSp>
      <p:sp>
        <p:nvSpPr>
          <p:cNvPr id="120" name="Google Shape;120;p15"/>
          <p:cNvSpPr/>
          <p:nvPr/>
        </p:nvSpPr>
        <p:spPr>
          <a:xfrm rot="-5400000">
            <a:off x="4299525" y="3446988"/>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Value</a:t>
            </a:r>
            <a:endParaRPr sz="1500"/>
          </a:p>
        </p:txBody>
      </p:sp>
      <p:sp>
        <p:nvSpPr>
          <p:cNvPr id="121" name="Google Shape;121;p15"/>
          <p:cNvSpPr/>
          <p:nvPr/>
        </p:nvSpPr>
        <p:spPr>
          <a:xfrm rot="-5400000">
            <a:off x="4622775" y="3446988"/>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Value</a:t>
            </a:r>
            <a:endParaRPr sz="1500"/>
          </a:p>
        </p:txBody>
      </p:sp>
      <p:sp>
        <p:nvSpPr>
          <p:cNvPr id="122" name="Google Shape;122;p15"/>
          <p:cNvSpPr/>
          <p:nvPr/>
        </p:nvSpPr>
        <p:spPr>
          <a:xfrm>
            <a:off x="658450" y="2771175"/>
            <a:ext cx="710250" cy="710250"/>
          </a:xfrm>
          <a:prstGeom prst="ellipse">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2400"/>
              <a:t>1</a:t>
            </a:r>
            <a:endParaRPr sz="2400"/>
          </a:p>
        </p:txBody>
      </p:sp>
      <p:sp>
        <p:nvSpPr>
          <p:cNvPr id="123" name="Google Shape;123;p15"/>
          <p:cNvSpPr/>
          <p:nvPr/>
        </p:nvSpPr>
        <p:spPr>
          <a:xfrm>
            <a:off x="658450" y="2771175"/>
            <a:ext cx="710250" cy="710250"/>
          </a:xfrm>
          <a:prstGeom prst="ellipse">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2400"/>
              <a:t>2</a:t>
            </a:r>
            <a:endParaRPr sz="2400"/>
          </a:p>
        </p:txBody>
      </p:sp>
      <p:sp>
        <p:nvSpPr>
          <p:cNvPr id="124" name="Google Shape;124;p15"/>
          <p:cNvSpPr txBox="1"/>
          <p:nvPr/>
        </p:nvSpPr>
        <p:spPr>
          <a:xfrm>
            <a:off x="6626275" y="1499988"/>
            <a:ext cx="1653000" cy="461700"/>
          </a:xfrm>
          <a:prstGeom prst="rect">
            <a:avLst/>
          </a:prstGeom>
          <a:noFill/>
          <a:ln>
            <a:noFill/>
          </a:ln>
        </p:spPr>
        <p:txBody>
          <a:bodyPr spcFirstLastPara="1" wrap="square" lIns="45713" tIns="45713" rIns="45713" bIns="45713" anchor="ctr" anchorCtr="0">
            <a:noAutofit/>
          </a:bodyPr>
          <a:lstStyle/>
          <a:p>
            <a:pPr algn="ctr"/>
            <a:r>
              <a:rPr lang="en" sz="1500"/>
              <a:t>Producers</a:t>
            </a:r>
            <a:endParaRPr sz="1500"/>
          </a:p>
        </p:txBody>
      </p:sp>
      <p:sp>
        <p:nvSpPr>
          <p:cNvPr id="125" name="Google Shape;125;p15"/>
          <p:cNvSpPr txBox="1"/>
          <p:nvPr/>
        </p:nvSpPr>
        <p:spPr>
          <a:xfrm>
            <a:off x="6572275" y="5255538"/>
            <a:ext cx="1653000" cy="461700"/>
          </a:xfrm>
          <a:prstGeom prst="rect">
            <a:avLst/>
          </a:prstGeom>
          <a:noFill/>
          <a:ln>
            <a:noFill/>
          </a:ln>
        </p:spPr>
        <p:txBody>
          <a:bodyPr spcFirstLastPara="1" wrap="square" lIns="45713" tIns="45713" rIns="45713" bIns="45713" anchor="ctr" anchorCtr="0">
            <a:noAutofit/>
          </a:bodyPr>
          <a:lstStyle/>
          <a:p>
            <a:pPr algn="ctr"/>
            <a:r>
              <a:rPr lang="en" sz="1500"/>
              <a:t>Consumers</a:t>
            </a:r>
            <a:endParaRPr sz="1500"/>
          </a:p>
        </p:txBody>
      </p:sp>
      <p:cxnSp>
        <p:nvCxnSpPr>
          <p:cNvPr id="126" name="Google Shape;126;p15"/>
          <p:cNvCxnSpPr/>
          <p:nvPr/>
        </p:nvCxnSpPr>
        <p:spPr>
          <a:xfrm rot="10800000" flipH="1">
            <a:off x="3757007" y="4934588"/>
            <a:ext cx="147150" cy="369150"/>
          </a:xfrm>
          <a:prstGeom prst="straightConnector1">
            <a:avLst/>
          </a:prstGeom>
          <a:noFill/>
          <a:ln w="38100" cap="flat" cmpd="sng">
            <a:solidFill>
              <a:schemeClr val="dk2"/>
            </a:solidFill>
            <a:prstDash val="solid"/>
            <a:round/>
            <a:headEnd type="none" w="med" len="med"/>
            <a:tailEnd type="triangle" w="med" len="med"/>
          </a:ln>
        </p:spPr>
      </p:cxnSp>
      <p:cxnSp>
        <p:nvCxnSpPr>
          <p:cNvPr id="127" name="Google Shape;127;p15"/>
          <p:cNvCxnSpPr/>
          <p:nvPr/>
        </p:nvCxnSpPr>
        <p:spPr>
          <a:xfrm rot="10800000">
            <a:off x="4572000" y="4204350"/>
            <a:ext cx="0" cy="367050"/>
          </a:xfrm>
          <a:prstGeom prst="straightConnector1">
            <a:avLst/>
          </a:prstGeom>
          <a:noFill/>
          <a:ln w="38100" cap="flat" cmpd="sng">
            <a:solidFill>
              <a:schemeClr val="dk2"/>
            </a:solidFill>
            <a:prstDash val="solid"/>
            <a:round/>
            <a:headEnd type="none" w="med" len="med"/>
            <a:tailEnd type="triangle" w="med" len="med"/>
          </a:ln>
        </p:spPr>
      </p:cxnSp>
      <p:cxnSp>
        <p:nvCxnSpPr>
          <p:cNvPr id="128" name="Google Shape;128;p15"/>
          <p:cNvCxnSpPr/>
          <p:nvPr/>
        </p:nvCxnSpPr>
        <p:spPr>
          <a:xfrm rot="10800000">
            <a:off x="5232969" y="4934588"/>
            <a:ext cx="147150" cy="369150"/>
          </a:xfrm>
          <a:prstGeom prst="straightConnector1">
            <a:avLst/>
          </a:prstGeom>
          <a:noFill/>
          <a:ln w="38100" cap="flat" cmpd="sng">
            <a:solidFill>
              <a:schemeClr val="dk2"/>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1000"/>
                                        <p:tgtEl>
                                          <p:spTgt spid="117"/>
                                        </p:tgtEl>
                                      </p:cBhvr>
                                    </p:animEffect>
                                  </p:childTnLst>
                                </p:cTn>
                              </p:par>
                              <p:par>
                                <p:cTn id="8" presetID="10" presetClass="entr" presetSubtype="0" fill="hold" nodeType="withEffect">
                                  <p:stCondLst>
                                    <p:cond delay="0"/>
                                  </p:stCondLst>
                                  <p:childTnLst>
                                    <p:set>
                                      <p:cBhvr>
                                        <p:cTn id="9" dur="1" fill="hold">
                                          <p:stCondLst>
                                            <p:cond delay="0"/>
                                          </p:stCondLst>
                                        </p:cTn>
                                        <p:tgtEl>
                                          <p:spTgt spid="118"/>
                                        </p:tgtEl>
                                        <p:attrNameLst>
                                          <p:attrName>style.visibility</p:attrName>
                                        </p:attrNameLst>
                                      </p:cBhvr>
                                      <p:to>
                                        <p:strVal val="visible"/>
                                      </p:to>
                                    </p:set>
                                    <p:animEffect transition="in" filter="fade">
                                      <p:cBhvr>
                                        <p:cTn id="10" dur="1000"/>
                                        <p:tgtEl>
                                          <p:spTgt spid="118"/>
                                        </p:tgtEl>
                                      </p:cBhvr>
                                    </p:animEffect>
                                  </p:childTnLst>
                                </p:cTn>
                              </p:par>
                              <p:par>
                                <p:cTn id="11" presetID="10" presetClass="entr" presetSubtype="0" fill="hold" nodeType="withEffect">
                                  <p:stCondLst>
                                    <p:cond delay="0"/>
                                  </p:stCondLst>
                                  <p:childTnLst>
                                    <p:set>
                                      <p:cBhvr>
                                        <p:cTn id="12" dur="1" fill="hold">
                                          <p:stCondLst>
                                            <p:cond delay="0"/>
                                          </p:stCondLst>
                                        </p:cTn>
                                        <p:tgtEl>
                                          <p:spTgt spid="122"/>
                                        </p:tgtEl>
                                        <p:attrNameLst>
                                          <p:attrName>style.visibility</p:attrName>
                                        </p:attrNameLst>
                                      </p:cBhvr>
                                      <p:to>
                                        <p:strVal val="visible"/>
                                      </p:to>
                                    </p:set>
                                    <p:animEffect transition="in" filter="fade">
                                      <p:cBhvr>
                                        <p:cTn id="13" dur="1000"/>
                                        <p:tgtEl>
                                          <p:spTgt spid="122"/>
                                        </p:tgtEl>
                                      </p:cBhvr>
                                    </p:animEffect>
                                  </p:childTnLst>
                                </p:cTn>
                              </p:par>
                              <p:par>
                                <p:cTn id="14" presetID="10" presetClass="entr" presetSubtype="0" fill="hold" nodeType="withEffect">
                                  <p:stCondLst>
                                    <p:cond delay="0"/>
                                  </p:stCondLst>
                                  <p:childTnLst>
                                    <p:set>
                                      <p:cBhvr>
                                        <p:cTn id="15" dur="1" fill="hold">
                                          <p:stCondLst>
                                            <p:cond delay="0"/>
                                          </p:stCondLst>
                                        </p:cTn>
                                        <p:tgtEl>
                                          <p:spTgt spid="121"/>
                                        </p:tgtEl>
                                        <p:attrNameLst>
                                          <p:attrName>style.visibility</p:attrName>
                                        </p:attrNameLst>
                                      </p:cBhvr>
                                      <p:to>
                                        <p:strVal val="visible"/>
                                      </p:to>
                                    </p:set>
                                    <p:animEffect transition="in" filter="fade">
                                      <p:cBhvr>
                                        <p:cTn id="16" dur="1000"/>
                                        <p:tgtEl>
                                          <p:spTgt spid="12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1000"/>
                                        <p:tgtEl>
                                          <p:spTgt spid="117"/>
                                        </p:tgtEl>
                                      </p:cBhvr>
                                    </p:animEffect>
                                    <p:set>
                                      <p:cBhvr>
                                        <p:cTn id="21" dur="1" fill="hold">
                                          <p:stCondLst>
                                            <p:cond delay="1000"/>
                                          </p:stCondLst>
                                        </p:cTn>
                                        <p:tgtEl>
                                          <p:spTgt spid="117"/>
                                        </p:tgtEl>
                                        <p:attrNameLst>
                                          <p:attrName>style.visibility</p:attrName>
                                        </p:attrNameLst>
                                      </p:cBhvr>
                                      <p:to>
                                        <p:strVal val="hidden"/>
                                      </p:to>
                                    </p:set>
                                  </p:childTnLst>
                                </p:cTn>
                              </p:par>
                              <p:par>
                                <p:cTn id="22" presetID="10" presetClass="exit" presetSubtype="0" fill="hold" nodeType="withEffect">
                                  <p:stCondLst>
                                    <p:cond delay="0"/>
                                  </p:stCondLst>
                                  <p:childTnLst>
                                    <p:animEffect transition="out" filter="fade">
                                      <p:cBhvr>
                                        <p:cTn id="23" dur="1000"/>
                                        <p:tgtEl>
                                          <p:spTgt spid="118"/>
                                        </p:tgtEl>
                                      </p:cBhvr>
                                    </p:animEffect>
                                    <p:set>
                                      <p:cBhvr>
                                        <p:cTn id="24" dur="1" fill="hold">
                                          <p:stCondLst>
                                            <p:cond delay="1000"/>
                                          </p:stCondLst>
                                        </p:cTn>
                                        <p:tgtEl>
                                          <p:spTgt spid="118"/>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9"/>
                                        </p:tgtEl>
                                        <p:attrNameLst>
                                          <p:attrName>style.visibility</p:attrName>
                                        </p:attrNameLst>
                                      </p:cBhvr>
                                      <p:to>
                                        <p:strVal val="visible"/>
                                      </p:to>
                                    </p:set>
                                    <p:animEffect transition="in" filter="fade">
                                      <p:cBhvr>
                                        <p:cTn id="29" dur="1000"/>
                                        <p:tgtEl>
                                          <p:spTgt spid="119"/>
                                        </p:tgtEl>
                                      </p:cBhvr>
                                    </p:animEffect>
                                  </p:childTnLst>
                                </p:cTn>
                              </p:par>
                              <p:par>
                                <p:cTn id="30" presetID="10" presetClass="entr" presetSubtype="0" fill="hold" nodeType="withEffect">
                                  <p:stCondLst>
                                    <p:cond delay="0"/>
                                  </p:stCondLst>
                                  <p:childTnLst>
                                    <p:set>
                                      <p:cBhvr>
                                        <p:cTn id="31" dur="1" fill="hold">
                                          <p:stCondLst>
                                            <p:cond delay="0"/>
                                          </p:stCondLst>
                                        </p:cTn>
                                        <p:tgtEl>
                                          <p:spTgt spid="120"/>
                                        </p:tgtEl>
                                        <p:attrNameLst>
                                          <p:attrName>style.visibility</p:attrName>
                                        </p:attrNameLst>
                                      </p:cBhvr>
                                      <p:to>
                                        <p:strVal val="visible"/>
                                      </p:to>
                                    </p:set>
                                    <p:animEffect transition="in" filter="fade">
                                      <p:cBhvr>
                                        <p:cTn id="32" dur="1000"/>
                                        <p:tgtEl>
                                          <p:spTgt spid="120"/>
                                        </p:tgtEl>
                                      </p:cBhvr>
                                    </p:animEffect>
                                  </p:childTnLst>
                                </p:cTn>
                              </p:par>
                              <p:par>
                                <p:cTn id="33" presetID="10" presetClass="entr" presetSubtype="0" fill="hold" nodeType="withEffect">
                                  <p:stCondLst>
                                    <p:cond delay="0"/>
                                  </p:stCondLst>
                                  <p:childTnLst>
                                    <p:set>
                                      <p:cBhvr>
                                        <p:cTn id="34" dur="1" fill="hold">
                                          <p:stCondLst>
                                            <p:cond delay="0"/>
                                          </p:stCondLst>
                                        </p:cTn>
                                        <p:tgtEl>
                                          <p:spTgt spid="123"/>
                                        </p:tgtEl>
                                        <p:attrNameLst>
                                          <p:attrName>style.visibility</p:attrName>
                                        </p:attrNameLst>
                                      </p:cBhvr>
                                      <p:to>
                                        <p:strVal val="visible"/>
                                      </p:to>
                                    </p:set>
                                    <p:animEffect transition="in" filter="fade">
                                      <p:cBhvr>
                                        <p:cTn id="35" dur="1000"/>
                                        <p:tgtEl>
                                          <p:spTgt spid="123"/>
                                        </p:tgtEl>
                                      </p:cBhvr>
                                    </p:animEffect>
                                  </p:childTnLst>
                                </p:cTn>
                              </p:par>
                              <p:par>
                                <p:cTn id="36" presetID="10" presetClass="entr" presetSubtype="0" fill="hold" nodeType="withEffect">
                                  <p:stCondLst>
                                    <p:cond delay="0"/>
                                  </p:stCondLst>
                                  <p:childTnLst>
                                    <p:set>
                                      <p:cBhvr>
                                        <p:cTn id="37" dur="1" fill="hold">
                                          <p:stCondLst>
                                            <p:cond delay="0"/>
                                          </p:stCondLst>
                                        </p:cTn>
                                        <p:tgtEl>
                                          <p:spTgt spid="118"/>
                                        </p:tgtEl>
                                        <p:attrNameLst>
                                          <p:attrName>style.visibility</p:attrName>
                                        </p:attrNameLst>
                                      </p:cBhvr>
                                      <p:to>
                                        <p:strVal val="visible"/>
                                      </p:to>
                                    </p:set>
                                    <p:animEffect transition="in" filter="fade">
                                      <p:cBhvr>
                                        <p:cTn id="38" dur="1000"/>
                                        <p:tgtEl>
                                          <p:spTgt spid="11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xit" presetSubtype="0" fill="hold" nodeType="clickEffect">
                                  <p:stCondLst>
                                    <p:cond delay="0"/>
                                  </p:stCondLst>
                                  <p:childTnLst>
                                    <p:animEffect transition="out" filter="fade">
                                      <p:cBhvr>
                                        <p:cTn id="42" dur="1000"/>
                                        <p:tgtEl>
                                          <p:spTgt spid="119"/>
                                        </p:tgtEl>
                                      </p:cBhvr>
                                    </p:animEffect>
                                    <p:set>
                                      <p:cBhvr>
                                        <p:cTn id="43" dur="1" fill="hold">
                                          <p:stCondLst>
                                            <p:cond delay="1000"/>
                                          </p:stCondLst>
                                        </p:cTn>
                                        <p:tgtEl>
                                          <p:spTgt spid="119"/>
                                        </p:tgtEl>
                                        <p:attrNameLst>
                                          <p:attrName>style.visibility</p:attrName>
                                        </p:attrNameLst>
                                      </p:cBhvr>
                                      <p:to>
                                        <p:strVal val="hidden"/>
                                      </p:to>
                                    </p:set>
                                  </p:childTnLst>
                                </p:cTn>
                              </p:par>
                              <p:par>
                                <p:cTn id="44" presetID="10" presetClass="exit" presetSubtype="0" fill="hold" nodeType="withEffect">
                                  <p:stCondLst>
                                    <p:cond delay="0"/>
                                  </p:stCondLst>
                                  <p:childTnLst>
                                    <p:animEffect transition="out" filter="fade">
                                      <p:cBhvr>
                                        <p:cTn id="45" dur="1000"/>
                                        <p:tgtEl>
                                          <p:spTgt spid="118"/>
                                        </p:tgtEl>
                                      </p:cBhvr>
                                    </p:animEffect>
                                    <p:set>
                                      <p:cBhvr>
                                        <p:cTn id="46" dur="1" fill="hold">
                                          <p:stCondLst>
                                            <p:cond delay="1000"/>
                                          </p:stCondLst>
                                        </p:cTn>
                                        <p:tgtEl>
                                          <p:spTgt spid="118"/>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26"/>
                                        </p:tgtEl>
                                        <p:attrNameLst>
                                          <p:attrName>style.visibility</p:attrName>
                                        </p:attrNameLst>
                                      </p:cBhvr>
                                      <p:to>
                                        <p:strVal val="visible"/>
                                      </p:to>
                                    </p:set>
                                    <p:animEffect transition="in" filter="fade">
                                      <p:cBhvr>
                                        <p:cTn id="51" dur="1000"/>
                                        <p:tgtEl>
                                          <p:spTgt spid="126"/>
                                        </p:tgtEl>
                                      </p:cBhvr>
                                    </p:animEffect>
                                  </p:childTnLst>
                                </p:cTn>
                              </p:par>
                              <p:par>
                                <p:cTn id="52" presetID="10" presetClass="entr" presetSubtype="0" fill="hold" nodeType="withEffect">
                                  <p:stCondLst>
                                    <p:cond delay="0"/>
                                  </p:stCondLst>
                                  <p:childTnLst>
                                    <p:set>
                                      <p:cBhvr>
                                        <p:cTn id="53" dur="1" fill="hold">
                                          <p:stCondLst>
                                            <p:cond delay="0"/>
                                          </p:stCondLst>
                                        </p:cTn>
                                        <p:tgtEl>
                                          <p:spTgt spid="127"/>
                                        </p:tgtEl>
                                        <p:attrNameLst>
                                          <p:attrName>style.visibility</p:attrName>
                                        </p:attrNameLst>
                                      </p:cBhvr>
                                      <p:to>
                                        <p:strVal val="visible"/>
                                      </p:to>
                                    </p:set>
                                    <p:animEffect transition="in" filter="fade">
                                      <p:cBhvr>
                                        <p:cTn id="54" dur="1000"/>
                                        <p:tgtEl>
                                          <p:spTgt spid="127"/>
                                        </p:tgtEl>
                                      </p:cBhvr>
                                    </p:animEffect>
                                  </p:childTnLst>
                                </p:cTn>
                              </p:par>
                              <p:par>
                                <p:cTn id="55" presetID="10" presetClass="exit" presetSubtype="0" fill="hold" nodeType="withEffect">
                                  <p:stCondLst>
                                    <p:cond delay="0"/>
                                  </p:stCondLst>
                                  <p:childTnLst>
                                    <p:animEffect transition="out" filter="fade">
                                      <p:cBhvr>
                                        <p:cTn id="56" dur="1000"/>
                                        <p:tgtEl>
                                          <p:spTgt spid="123"/>
                                        </p:tgtEl>
                                      </p:cBhvr>
                                    </p:animEffect>
                                    <p:set>
                                      <p:cBhvr>
                                        <p:cTn id="57" dur="1" fill="hold">
                                          <p:stCondLst>
                                            <p:cond delay="1000"/>
                                          </p:stCondLst>
                                        </p:cTn>
                                        <p:tgtEl>
                                          <p:spTgt spid="123"/>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1000"/>
                                        <p:tgtEl>
                                          <p:spTgt spid="120"/>
                                        </p:tgtEl>
                                      </p:cBhvr>
                                    </p:animEffect>
                                    <p:set>
                                      <p:cBhvr>
                                        <p:cTn id="60" dur="1" fill="hold">
                                          <p:stCondLst>
                                            <p:cond delay="1000"/>
                                          </p:stCondLst>
                                        </p:cTn>
                                        <p:tgtEl>
                                          <p:spTgt spid="120"/>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0" presetClass="exit" presetSubtype="0" fill="hold" nodeType="clickEffect">
                                  <p:stCondLst>
                                    <p:cond delay="0"/>
                                  </p:stCondLst>
                                  <p:childTnLst>
                                    <p:animEffect transition="out" filter="fade">
                                      <p:cBhvr>
                                        <p:cTn id="64" dur="1000"/>
                                        <p:tgtEl>
                                          <p:spTgt spid="126"/>
                                        </p:tgtEl>
                                      </p:cBhvr>
                                    </p:animEffect>
                                    <p:set>
                                      <p:cBhvr>
                                        <p:cTn id="65" dur="1" fill="hold">
                                          <p:stCondLst>
                                            <p:cond delay="1000"/>
                                          </p:stCondLst>
                                        </p:cTn>
                                        <p:tgtEl>
                                          <p:spTgt spid="126"/>
                                        </p:tgtEl>
                                        <p:attrNameLst>
                                          <p:attrName>style.visibility</p:attrName>
                                        </p:attrNameLst>
                                      </p:cBhvr>
                                      <p:to>
                                        <p:strVal val="hidden"/>
                                      </p:to>
                                    </p:set>
                                  </p:childTnLst>
                                </p:cTn>
                              </p:par>
                              <p:par>
                                <p:cTn id="66" presetID="10" presetClass="exit" presetSubtype="0" fill="hold" nodeType="withEffect">
                                  <p:stCondLst>
                                    <p:cond delay="0"/>
                                  </p:stCondLst>
                                  <p:childTnLst>
                                    <p:animEffect transition="out" filter="fade">
                                      <p:cBhvr>
                                        <p:cTn id="67" dur="1000"/>
                                        <p:tgtEl>
                                          <p:spTgt spid="127"/>
                                        </p:tgtEl>
                                      </p:cBhvr>
                                    </p:animEffect>
                                    <p:set>
                                      <p:cBhvr>
                                        <p:cTn id="68" dur="1" fill="hold">
                                          <p:stCondLst>
                                            <p:cond delay="1000"/>
                                          </p:stCondLst>
                                        </p:cTn>
                                        <p:tgtEl>
                                          <p:spTgt spid="127"/>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128"/>
                                        </p:tgtEl>
                                        <p:attrNameLst>
                                          <p:attrName>style.visibility</p:attrName>
                                        </p:attrNameLst>
                                      </p:cBhvr>
                                      <p:to>
                                        <p:strVal val="visible"/>
                                      </p:to>
                                    </p:set>
                                    <p:animEffect transition="in" filter="fade">
                                      <p:cBhvr>
                                        <p:cTn id="73" dur="1000"/>
                                        <p:tgtEl>
                                          <p:spTgt spid="128"/>
                                        </p:tgtEl>
                                      </p:cBhvr>
                                    </p:animEffect>
                                  </p:childTnLst>
                                </p:cTn>
                              </p:par>
                              <p:par>
                                <p:cTn id="74" presetID="10" presetClass="entr" presetSubtype="0" fill="hold" nodeType="withEffect">
                                  <p:stCondLst>
                                    <p:cond delay="0"/>
                                  </p:stCondLst>
                                  <p:childTnLst>
                                    <p:set>
                                      <p:cBhvr>
                                        <p:cTn id="75" dur="1" fill="hold">
                                          <p:stCondLst>
                                            <p:cond delay="0"/>
                                          </p:stCondLst>
                                        </p:cTn>
                                        <p:tgtEl>
                                          <p:spTgt spid="127"/>
                                        </p:tgtEl>
                                        <p:attrNameLst>
                                          <p:attrName>style.visibility</p:attrName>
                                        </p:attrNameLst>
                                      </p:cBhvr>
                                      <p:to>
                                        <p:strVal val="visible"/>
                                      </p:to>
                                    </p:set>
                                    <p:animEffect transition="in" filter="fade">
                                      <p:cBhvr>
                                        <p:cTn id="76" dur="1000"/>
                                        <p:tgtEl>
                                          <p:spTgt spid="127"/>
                                        </p:tgtEl>
                                      </p:cBhvr>
                                    </p:animEffect>
                                  </p:childTnLst>
                                </p:cTn>
                              </p:par>
                              <p:par>
                                <p:cTn id="77" presetID="10" presetClass="exit" presetSubtype="0" fill="hold" nodeType="withEffect">
                                  <p:stCondLst>
                                    <p:cond delay="0"/>
                                  </p:stCondLst>
                                  <p:childTnLst>
                                    <p:animEffect transition="out" filter="fade">
                                      <p:cBhvr>
                                        <p:cTn id="78" dur="1000"/>
                                        <p:tgtEl>
                                          <p:spTgt spid="121"/>
                                        </p:tgtEl>
                                      </p:cBhvr>
                                    </p:animEffect>
                                    <p:set>
                                      <p:cBhvr>
                                        <p:cTn id="79" dur="1" fill="hold">
                                          <p:stCondLst>
                                            <p:cond delay="1000"/>
                                          </p:stCondLst>
                                        </p:cTn>
                                        <p:tgtEl>
                                          <p:spTgt spid="121"/>
                                        </p:tgtEl>
                                        <p:attrNameLst>
                                          <p:attrName>style.visibility</p:attrName>
                                        </p:attrNameLst>
                                      </p:cBhvr>
                                      <p:to>
                                        <p:strVal val="hidden"/>
                                      </p:to>
                                    </p:set>
                                  </p:childTnLst>
                                </p:cTn>
                              </p:par>
                              <p:par>
                                <p:cTn id="80" presetID="10" presetClass="exit" presetSubtype="0" fill="hold" nodeType="withEffect">
                                  <p:stCondLst>
                                    <p:cond delay="0"/>
                                  </p:stCondLst>
                                  <p:childTnLst>
                                    <p:animEffect transition="out" filter="fade">
                                      <p:cBhvr>
                                        <p:cTn id="81" dur="1000"/>
                                        <p:tgtEl>
                                          <p:spTgt spid="122"/>
                                        </p:tgtEl>
                                      </p:cBhvr>
                                    </p:animEffect>
                                    <p:set>
                                      <p:cBhvr>
                                        <p:cTn id="82" dur="1" fill="hold">
                                          <p:stCondLst>
                                            <p:cond delay="1000"/>
                                          </p:stCondLst>
                                        </p:cTn>
                                        <p:tgtEl>
                                          <p:spTgt spid="122"/>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0" presetClass="exit" presetSubtype="0" fill="hold" nodeType="clickEffect">
                                  <p:stCondLst>
                                    <p:cond delay="0"/>
                                  </p:stCondLst>
                                  <p:childTnLst>
                                    <p:animEffect transition="out" filter="fade">
                                      <p:cBhvr>
                                        <p:cTn id="86" dur="1000"/>
                                        <p:tgtEl>
                                          <p:spTgt spid="127"/>
                                        </p:tgtEl>
                                      </p:cBhvr>
                                    </p:animEffect>
                                    <p:set>
                                      <p:cBhvr>
                                        <p:cTn id="87" dur="1" fill="hold">
                                          <p:stCondLst>
                                            <p:cond delay="1000"/>
                                          </p:stCondLst>
                                        </p:cTn>
                                        <p:tgtEl>
                                          <p:spTgt spid="127"/>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1000"/>
                                        <p:tgtEl>
                                          <p:spTgt spid="128"/>
                                        </p:tgtEl>
                                      </p:cBhvr>
                                    </p:animEffect>
                                    <p:set>
                                      <p:cBhvr>
                                        <p:cTn id="90" dur="1" fill="hold">
                                          <p:stCondLst>
                                            <p:cond delay="1000"/>
                                          </p:stCondLst>
                                        </p:cTn>
                                        <p:tgtEl>
                                          <p:spTgt spid="128"/>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126"/>
                                        </p:tgtEl>
                                        <p:attrNameLst>
                                          <p:attrName>style.visibility</p:attrName>
                                        </p:attrNameLst>
                                      </p:cBhvr>
                                      <p:to>
                                        <p:strVal val="visible"/>
                                      </p:to>
                                    </p:set>
                                    <p:animEffect transition="in" filter="fade">
                                      <p:cBhvr>
                                        <p:cTn id="95" dur="1000"/>
                                        <p:tgtEl>
                                          <p:spTgt spid="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6"/>
          <p:cNvSpPr/>
          <p:nvPr/>
        </p:nvSpPr>
        <p:spPr>
          <a:xfrm>
            <a:off x="795594" y="2134800"/>
            <a:ext cx="2997600" cy="2588400"/>
          </a:xfrm>
          <a:prstGeom prst="rect">
            <a:avLst/>
          </a:prstGeom>
          <a:solidFill>
            <a:srgbClr val="000000"/>
          </a:solidFill>
          <a:ln>
            <a:noFill/>
          </a:ln>
        </p:spPr>
        <p:txBody>
          <a:bodyPr spcFirstLastPara="1" wrap="square" lIns="45713" tIns="45713" rIns="45713" bIns="45713" anchor="ctr" anchorCtr="0">
            <a:noAutofit/>
          </a:bodyPr>
          <a:lstStyle/>
          <a:p>
            <a:r>
              <a:rPr lang="en" sz="1500">
                <a:solidFill>
                  <a:srgbClr val="F3F3F3"/>
                </a:solidFill>
                <a:latin typeface="Courier New"/>
                <a:ea typeface="Courier New"/>
                <a:cs typeface="Courier New"/>
                <a:sym typeface="Courier New"/>
              </a:rPr>
              <a:t>// Task 1</a:t>
            </a:r>
            <a:endParaRPr sz="1500">
              <a:solidFill>
                <a:srgbClr val="F3F3F3"/>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semaphoreTake(mutex)</a:t>
            </a:r>
            <a:endParaRPr sz="1500">
              <a:solidFill>
                <a:srgbClr val="00FF00"/>
              </a:solidFill>
              <a:latin typeface="Courier New"/>
              <a:ea typeface="Courier New"/>
              <a:cs typeface="Courier New"/>
              <a:sym typeface="Courier New"/>
            </a:endParaRPr>
          </a:p>
          <a:p>
            <a:r>
              <a:rPr lang="en" sz="1500">
                <a:solidFill>
                  <a:srgbClr val="F3F3F3"/>
                </a:solidFill>
                <a:latin typeface="Courier New"/>
                <a:ea typeface="Courier New"/>
                <a:cs typeface="Courier New"/>
                <a:sym typeface="Courier New"/>
              </a:rPr>
              <a:t>// Use shared resource</a:t>
            </a:r>
            <a:endParaRPr sz="1500">
              <a:solidFill>
                <a:srgbClr val="F3F3F3"/>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semaphoreGive(mutex)</a:t>
            </a:r>
            <a:endParaRPr sz="1500">
              <a:solidFill>
                <a:srgbClr val="00FF00"/>
              </a:solidFill>
              <a:latin typeface="Courier New"/>
              <a:ea typeface="Courier New"/>
              <a:cs typeface="Courier New"/>
              <a:sym typeface="Courier New"/>
            </a:endParaRPr>
          </a:p>
          <a:p>
            <a:endParaRPr sz="1500">
              <a:solidFill>
                <a:srgbClr val="00FF00"/>
              </a:solidFill>
              <a:latin typeface="Courier New"/>
              <a:ea typeface="Courier New"/>
              <a:cs typeface="Courier New"/>
              <a:sym typeface="Courier New"/>
            </a:endParaRPr>
          </a:p>
          <a:p>
            <a:endParaRPr sz="1500">
              <a:solidFill>
                <a:srgbClr val="00FF00"/>
              </a:solidFill>
              <a:latin typeface="Courier New"/>
              <a:ea typeface="Courier New"/>
              <a:cs typeface="Courier New"/>
              <a:sym typeface="Courier New"/>
            </a:endParaRPr>
          </a:p>
          <a:p>
            <a:r>
              <a:rPr lang="en" sz="1500">
                <a:solidFill>
                  <a:srgbClr val="F3F3F3"/>
                </a:solidFill>
                <a:latin typeface="Courier New"/>
                <a:ea typeface="Courier New"/>
                <a:cs typeface="Courier New"/>
                <a:sym typeface="Courier New"/>
              </a:rPr>
              <a:t>// Task 2</a:t>
            </a:r>
            <a:endParaRPr sz="1500">
              <a:solidFill>
                <a:srgbClr val="F3F3F3"/>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semaphoreTake(mutex)</a:t>
            </a:r>
            <a:endParaRPr sz="1500">
              <a:solidFill>
                <a:srgbClr val="00FF00"/>
              </a:solidFill>
              <a:latin typeface="Courier New"/>
              <a:ea typeface="Courier New"/>
              <a:cs typeface="Courier New"/>
              <a:sym typeface="Courier New"/>
            </a:endParaRPr>
          </a:p>
          <a:p>
            <a:r>
              <a:rPr lang="en" sz="1500">
                <a:solidFill>
                  <a:srgbClr val="F3F3F3"/>
                </a:solidFill>
                <a:latin typeface="Courier New"/>
                <a:ea typeface="Courier New"/>
                <a:cs typeface="Courier New"/>
                <a:sym typeface="Courier New"/>
              </a:rPr>
              <a:t>// Use shared resource</a:t>
            </a:r>
            <a:endParaRPr sz="1500">
              <a:solidFill>
                <a:srgbClr val="F3F3F3"/>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semaphoreGive(mutex)</a:t>
            </a:r>
            <a:endParaRPr sz="1500">
              <a:solidFill>
                <a:srgbClr val="00FF00"/>
              </a:solidFill>
              <a:latin typeface="Courier New"/>
              <a:ea typeface="Courier New"/>
              <a:cs typeface="Courier New"/>
              <a:sym typeface="Courier New"/>
            </a:endParaRPr>
          </a:p>
        </p:txBody>
      </p:sp>
      <p:sp>
        <p:nvSpPr>
          <p:cNvPr id="134" name="Google Shape;134;p16"/>
          <p:cNvSpPr/>
          <p:nvPr/>
        </p:nvSpPr>
        <p:spPr>
          <a:xfrm>
            <a:off x="5350807" y="2134800"/>
            <a:ext cx="2997600" cy="2588400"/>
          </a:xfrm>
          <a:prstGeom prst="rect">
            <a:avLst/>
          </a:prstGeom>
          <a:solidFill>
            <a:srgbClr val="000000"/>
          </a:solidFill>
          <a:ln>
            <a:noFill/>
          </a:ln>
        </p:spPr>
        <p:txBody>
          <a:bodyPr spcFirstLastPara="1" wrap="square" lIns="45713" tIns="45713" rIns="45713" bIns="45713" anchor="ctr" anchorCtr="0">
            <a:noAutofit/>
          </a:bodyPr>
          <a:lstStyle/>
          <a:p>
            <a:r>
              <a:rPr lang="en" sz="1500">
                <a:solidFill>
                  <a:srgbClr val="F3F3F3"/>
                </a:solidFill>
                <a:latin typeface="Courier New"/>
                <a:ea typeface="Courier New"/>
                <a:cs typeface="Courier New"/>
                <a:sym typeface="Courier New"/>
              </a:rPr>
              <a:t>// Task 1 (producer)</a:t>
            </a:r>
            <a:endParaRPr sz="1500">
              <a:solidFill>
                <a:srgbClr val="F3F3F3"/>
              </a:solidFill>
              <a:latin typeface="Courier New"/>
              <a:ea typeface="Courier New"/>
              <a:cs typeface="Courier New"/>
              <a:sym typeface="Courier New"/>
            </a:endParaRPr>
          </a:p>
          <a:p>
            <a:r>
              <a:rPr lang="en" sz="1500">
                <a:solidFill>
                  <a:srgbClr val="F3F3F3"/>
                </a:solidFill>
                <a:latin typeface="Courier New"/>
                <a:ea typeface="Courier New"/>
                <a:cs typeface="Courier New"/>
                <a:sym typeface="Courier New"/>
              </a:rPr>
              <a:t>// Add something to</a:t>
            </a:r>
            <a:endParaRPr sz="1500">
              <a:solidFill>
                <a:srgbClr val="F3F3F3"/>
              </a:solidFill>
              <a:latin typeface="Courier New"/>
              <a:ea typeface="Courier New"/>
              <a:cs typeface="Courier New"/>
              <a:sym typeface="Courier New"/>
            </a:endParaRPr>
          </a:p>
          <a:p>
            <a:r>
              <a:rPr lang="en" sz="1500">
                <a:solidFill>
                  <a:srgbClr val="F3F3F3"/>
                </a:solidFill>
                <a:latin typeface="Courier New"/>
                <a:ea typeface="Courier New"/>
                <a:cs typeface="Courier New"/>
                <a:sym typeface="Courier New"/>
              </a:rPr>
              <a:t>// shared resource</a:t>
            </a:r>
            <a:endParaRPr sz="1500">
              <a:solidFill>
                <a:srgbClr val="F3F3F3"/>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semaphoreGive(semaphore)</a:t>
            </a:r>
            <a:endParaRPr sz="1500">
              <a:solidFill>
                <a:srgbClr val="00FF00"/>
              </a:solidFill>
              <a:latin typeface="Courier New"/>
              <a:ea typeface="Courier New"/>
              <a:cs typeface="Courier New"/>
              <a:sym typeface="Courier New"/>
            </a:endParaRPr>
          </a:p>
          <a:p>
            <a:endParaRPr sz="1500">
              <a:solidFill>
                <a:srgbClr val="00FF00"/>
              </a:solidFill>
              <a:latin typeface="Courier New"/>
              <a:ea typeface="Courier New"/>
              <a:cs typeface="Courier New"/>
              <a:sym typeface="Courier New"/>
            </a:endParaRPr>
          </a:p>
          <a:p>
            <a:endParaRPr sz="1500">
              <a:solidFill>
                <a:srgbClr val="00FF00"/>
              </a:solidFill>
              <a:latin typeface="Courier New"/>
              <a:ea typeface="Courier New"/>
              <a:cs typeface="Courier New"/>
              <a:sym typeface="Courier New"/>
            </a:endParaRPr>
          </a:p>
          <a:p>
            <a:r>
              <a:rPr lang="en" sz="1500">
                <a:solidFill>
                  <a:srgbClr val="F3F3F3"/>
                </a:solidFill>
                <a:latin typeface="Courier New"/>
                <a:ea typeface="Courier New"/>
                <a:cs typeface="Courier New"/>
                <a:sym typeface="Courier New"/>
              </a:rPr>
              <a:t>// Task 2 (consumer)</a:t>
            </a:r>
            <a:endParaRPr sz="1500">
              <a:solidFill>
                <a:srgbClr val="F3F3F3"/>
              </a:solidFill>
              <a:latin typeface="Courier New"/>
              <a:ea typeface="Courier New"/>
              <a:cs typeface="Courier New"/>
              <a:sym typeface="Courier New"/>
            </a:endParaRPr>
          </a:p>
          <a:p>
            <a:r>
              <a:rPr lang="en" sz="1500">
                <a:solidFill>
                  <a:srgbClr val="00FF00"/>
                </a:solidFill>
                <a:latin typeface="Courier New"/>
                <a:ea typeface="Courier New"/>
                <a:cs typeface="Courier New"/>
                <a:sym typeface="Courier New"/>
              </a:rPr>
              <a:t>semaphoreTake(mutex)</a:t>
            </a:r>
            <a:endParaRPr sz="1500">
              <a:solidFill>
                <a:srgbClr val="00FF00"/>
              </a:solidFill>
              <a:latin typeface="Courier New"/>
              <a:ea typeface="Courier New"/>
              <a:cs typeface="Courier New"/>
              <a:sym typeface="Courier New"/>
            </a:endParaRPr>
          </a:p>
          <a:p>
            <a:r>
              <a:rPr lang="en" sz="1500">
                <a:solidFill>
                  <a:srgbClr val="F3F3F3"/>
                </a:solidFill>
                <a:latin typeface="Courier New"/>
                <a:ea typeface="Courier New"/>
                <a:cs typeface="Courier New"/>
                <a:sym typeface="Courier New"/>
              </a:rPr>
              <a:t>// Remove something from</a:t>
            </a:r>
            <a:endParaRPr sz="1500">
              <a:solidFill>
                <a:srgbClr val="F3F3F3"/>
              </a:solidFill>
              <a:latin typeface="Courier New"/>
              <a:ea typeface="Courier New"/>
              <a:cs typeface="Courier New"/>
              <a:sym typeface="Courier New"/>
            </a:endParaRPr>
          </a:p>
          <a:p>
            <a:r>
              <a:rPr lang="en" sz="1500">
                <a:solidFill>
                  <a:srgbClr val="F3F3F3"/>
                </a:solidFill>
                <a:latin typeface="Courier New"/>
                <a:ea typeface="Courier New"/>
                <a:cs typeface="Courier New"/>
                <a:sym typeface="Courier New"/>
              </a:rPr>
              <a:t>// shared resource</a:t>
            </a:r>
            <a:endParaRPr sz="1500">
              <a:solidFill>
                <a:srgbClr val="F3F3F3"/>
              </a:solidFill>
              <a:latin typeface="Courier New"/>
              <a:ea typeface="Courier New"/>
              <a:cs typeface="Courier New"/>
              <a:sym typeface="Courier New"/>
            </a:endParaRPr>
          </a:p>
        </p:txBody>
      </p:sp>
      <p:sp>
        <p:nvSpPr>
          <p:cNvPr id="135" name="Google Shape;135;p16"/>
          <p:cNvSpPr txBox="1"/>
          <p:nvPr/>
        </p:nvSpPr>
        <p:spPr>
          <a:xfrm>
            <a:off x="795600" y="1765350"/>
            <a:ext cx="2997600" cy="369318"/>
          </a:xfrm>
          <a:prstGeom prst="rect">
            <a:avLst/>
          </a:prstGeom>
          <a:noFill/>
          <a:ln>
            <a:noFill/>
          </a:ln>
        </p:spPr>
        <p:txBody>
          <a:bodyPr spcFirstLastPara="1" wrap="square" lIns="45713" tIns="45713" rIns="45713" bIns="45713" anchor="t" anchorCtr="0">
            <a:spAutoFit/>
          </a:bodyPr>
          <a:lstStyle/>
          <a:p>
            <a:pPr algn="ctr"/>
            <a:r>
              <a:rPr lang="en"/>
              <a:t>Mutex</a:t>
            </a:r>
            <a:endParaRPr/>
          </a:p>
        </p:txBody>
      </p:sp>
      <p:sp>
        <p:nvSpPr>
          <p:cNvPr id="136" name="Google Shape;136;p16"/>
          <p:cNvSpPr txBox="1"/>
          <p:nvPr/>
        </p:nvSpPr>
        <p:spPr>
          <a:xfrm>
            <a:off x="5350813" y="1765350"/>
            <a:ext cx="2997600" cy="369318"/>
          </a:xfrm>
          <a:prstGeom prst="rect">
            <a:avLst/>
          </a:prstGeom>
          <a:noFill/>
          <a:ln>
            <a:noFill/>
          </a:ln>
        </p:spPr>
        <p:txBody>
          <a:bodyPr spcFirstLastPara="1" wrap="square" lIns="45713" tIns="45713" rIns="45713" bIns="45713" anchor="t" anchorCtr="0">
            <a:spAutoFit/>
          </a:bodyPr>
          <a:lstStyle/>
          <a:p>
            <a:pPr algn="ctr"/>
            <a:r>
              <a:rPr lang="en"/>
              <a:t>Semaphore</a:t>
            </a:r>
            <a:endParaRPr/>
          </a:p>
        </p:txBody>
      </p:sp>
      <p:sp>
        <p:nvSpPr>
          <p:cNvPr id="137" name="Google Shape;137;p16"/>
          <p:cNvSpPr/>
          <p:nvPr/>
        </p:nvSpPr>
        <p:spPr>
          <a:xfrm rot="-899958">
            <a:off x="55004" y="1441832"/>
            <a:ext cx="2178719" cy="1265408"/>
          </a:xfrm>
          <a:prstGeom prst="irregularSeal1">
            <a:avLst/>
          </a:prstGeom>
          <a:solidFill>
            <a:srgbClr val="FCE5CD"/>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Ownership!</a:t>
            </a:r>
            <a:endParaRPr sz="1500"/>
          </a:p>
        </p:txBody>
      </p:sp>
      <p:sp>
        <p:nvSpPr>
          <p:cNvPr id="138" name="Google Shape;138;p16"/>
          <p:cNvSpPr/>
          <p:nvPr/>
        </p:nvSpPr>
        <p:spPr>
          <a:xfrm rot="1799989">
            <a:off x="2369901" y="1214934"/>
            <a:ext cx="2539418" cy="1345071"/>
          </a:xfrm>
          <a:prstGeom prst="irregularSeal2">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r>
              <a:rPr lang="en" sz="1500"/>
              <a:t>Priority Inheritance!</a:t>
            </a:r>
            <a:endParaRPr sz="1500"/>
          </a:p>
        </p:txBody>
      </p:sp>
      <p:sp>
        <p:nvSpPr>
          <p:cNvPr id="139" name="Google Shape;139;p16"/>
          <p:cNvSpPr/>
          <p:nvPr/>
        </p:nvSpPr>
        <p:spPr>
          <a:xfrm rot="900041">
            <a:off x="7405064" y="2923897"/>
            <a:ext cx="1602492" cy="1265408"/>
          </a:xfrm>
          <a:prstGeom prst="irregularSeal1">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Good for ISR!</a:t>
            </a:r>
            <a:endParaRPr sz="15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graphicFrame>
        <p:nvGraphicFramePr>
          <p:cNvPr id="144" name="Google Shape;144;p17"/>
          <p:cNvGraphicFramePr/>
          <p:nvPr/>
        </p:nvGraphicFramePr>
        <p:xfrm>
          <a:off x="1828150" y="2402820"/>
          <a:ext cx="1500000" cy="1500000"/>
        </p:xfrm>
        <a:graphic>
          <a:graphicData uri="http://schemas.openxmlformats.org/drawingml/2006/table">
            <a:tbl>
              <a:tblPr>
                <a:noFill/>
              </a:tblPr>
              <a:tblGrid>
                <a:gridCol w="2743850">
                  <a:extLst>
                    <a:ext uri="{9D8B030D-6E8A-4147-A177-3AD203B41FA5}">
                      <a16:colId xmlns:a16="http://schemas.microsoft.com/office/drawing/2014/main" val="20000"/>
                    </a:ext>
                  </a:extLst>
                </a:gridCol>
                <a:gridCol w="2743850">
                  <a:extLst>
                    <a:ext uri="{9D8B030D-6E8A-4147-A177-3AD203B41FA5}">
                      <a16:colId xmlns:a16="http://schemas.microsoft.com/office/drawing/2014/main" val="20001"/>
                    </a:ext>
                  </a:extLst>
                </a:gridCol>
              </a:tblGrid>
              <a:tr h="513088">
                <a:tc>
                  <a:txBody>
                    <a:bodyPr/>
                    <a:lstStyle/>
                    <a:p>
                      <a:pPr marL="0" lvl="0" indent="0" algn="ctr" rtl="0">
                        <a:spcBef>
                          <a:spcPts val="0"/>
                        </a:spcBef>
                        <a:spcAft>
                          <a:spcPts val="0"/>
                        </a:spcAft>
                        <a:buNone/>
                      </a:pPr>
                      <a:r>
                        <a:rPr lang="en" sz="1500" b="1"/>
                        <a:t>FreeRTOS</a:t>
                      </a:r>
                      <a:endParaRPr sz="1500" b="1"/>
                    </a:p>
                  </a:txBody>
                  <a:tcPr marL="45713" marR="45713" marT="45713" marB="45713"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500" b="1"/>
                        <a:t>POSIX</a:t>
                      </a:r>
                      <a:endParaRPr sz="1500" b="1"/>
                    </a:p>
                  </a:txBody>
                  <a:tcPr marL="45713" marR="45713" marT="45713" marB="45713"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513088">
                <a:tc>
                  <a:txBody>
                    <a:bodyPr/>
                    <a:lstStyle/>
                    <a:p>
                      <a:pPr marL="0" lvl="0" indent="0" algn="ctr" rtl="0">
                        <a:spcBef>
                          <a:spcPts val="0"/>
                        </a:spcBef>
                        <a:spcAft>
                          <a:spcPts val="0"/>
                        </a:spcAft>
                        <a:buNone/>
                      </a:pPr>
                      <a:r>
                        <a:rPr lang="en" sz="1500"/>
                        <a:t>xSemaphoreTake()</a:t>
                      </a:r>
                      <a:endParaRPr sz="1500"/>
                    </a:p>
                  </a:txBody>
                  <a:tcPr marL="45713" marR="45713" marT="45713" marB="45713"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500"/>
                        <a:t>sem_wait()</a:t>
                      </a:r>
                      <a:endParaRPr sz="1500"/>
                    </a:p>
                  </a:txBody>
                  <a:tcPr marL="45713" marR="45713" marT="45713" marB="45713"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513088">
                <a:tc>
                  <a:txBody>
                    <a:bodyPr/>
                    <a:lstStyle/>
                    <a:p>
                      <a:pPr marL="0" lvl="0" indent="0" algn="ctr" rtl="0">
                        <a:spcBef>
                          <a:spcPts val="0"/>
                        </a:spcBef>
                        <a:spcAft>
                          <a:spcPts val="0"/>
                        </a:spcAft>
                        <a:buNone/>
                      </a:pPr>
                      <a:r>
                        <a:rPr lang="en" sz="1500"/>
                        <a:t>xSemaphoreGive()</a:t>
                      </a:r>
                      <a:endParaRPr sz="1500"/>
                    </a:p>
                  </a:txBody>
                  <a:tcPr marL="45713" marR="45713" marT="45713" marB="45713"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500"/>
                        <a:t>sem_post()</a:t>
                      </a:r>
                      <a:endParaRPr sz="1500"/>
                    </a:p>
                  </a:txBody>
                  <a:tcPr marL="45713" marR="45713" marT="45713" marB="45713"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513088">
                <a:tc>
                  <a:txBody>
                    <a:bodyPr/>
                    <a:lstStyle/>
                    <a:p>
                      <a:pPr marL="0" lvl="0" indent="0" algn="ctr" rtl="0">
                        <a:spcBef>
                          <a:spcPts val="0"/>
                        </a:spcBef>
                        <a:spcAft>
                          <a:spcPts val="0"/>
                        </a:spcAft>
                        <a:buNone/>
                      </a:pPr>
                      <a:r>
                        <a:rPr lang="en" sz="1500"/>
                        <a:t>uxSemaphoreGetCount()</a:t>
                      </a:r>
                      <a:endParaRPr sz="1500"/>
                    </a:p>
                  </a:txBody>
                  <a:tcPr marL="45713" marR="45713" marT="45713" marB="45713"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500"/>
                        <a:t>sem_getvalue()</a:t>
                      </a:r>
                      <a:endParaRPr sz="1500"/>
                    </a:p>
                  </a:txBody>
                  <a:tcPr marL="45713" marR="45713" marT="45713" marB="45713" anchor="ctr">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8"/>
          <p:cNvSpPr/>
          <p:nvPr/>
        </p:nvSpPr>
        <p:spPr>
          <a:xfrm>
            <a:off x="1231419" y="2098382"/>
            <a:ext cx="1217550" cy="365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0</a:t>
            </a:r>
            <a:endParaRPr sz="1500"/>
          </a:p>
        </p:txBody>
      </p:sp>
      <p:sp>
        <p:nvSpPr>
          <p:cNvPr id="150" name="Google Shape;150;p18"/>
          <p:cNvSpPr/>
          <p:nvPr/>
        </p:nvSpPr>
        <p:spPr>
          <a:xfrm>
            <a:off x="2597319" y="2098382"/>
            <a:ext cx="1217550" cy="365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1</a:t>
            </a:r>
            <a:endParaRPr sz="1500"/>
          </a:p>
        </p:txBody>
      </p:sp>
      <p:sp>
        <p:nvSpPr>
          <p:cNvPr id="151" name="Google Shape;151;p18"/>
          <p:cNvSpPr/>
          <p:nvPr/>
        </p:nvSpPr>
        <p:spPr>
          <a:xfrm>
            <a:off x="3148238" y="4753582"/>
            <a:ext cx="1217550" cy="365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A</a:t>
            </a:r>
            <a:endParaRPr sz="1500"/>
          </a:p>
        </p:txBody>
      </p:sp>
      <p:sp>
        <p:nvSpPr>
          <p:cNvPr id="152" name="Google Shape;152;p18"/>
          <p:cNvSpPr/>
          <p:nvPr/>
        </p:nvSpPr>
        <p:spPr>
          <a:xfrm>
            <a:off x="4778225" y="4753582"/>
            <a:ext cx="1217550" cy="365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B</a:t>
            </a:r>
            <a:endParaRPr sz="1500"/>
          </a:p>
        </p:txBody>
      </p:sp>
      <p:sp>
        <p:nvSpPr>
          <p:cNvPr id="153" name="Google Shape;153;p18"/>
          <p:cNvSpPr/>
          <p:nvPr/>
        </p:nvSpPr>
        <p:spPr>
          <a:xfrm rot="-5400000">
            <a:off x="4622775" y="3446988"/>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54" name="Google Shape;154;p18"/>
          <p:cNvSpPr/>
          <p:nvPr/>
        </p:nvSpPr>
        <p:spPr>
          <a:xfrm rot="-5400000">
            <a:off x="4299525" y="3446988"/>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55" name="Google Shape;155;p18"/>
          <p:cNvSpPr/>
          <p:nvPr/>
        </p:nvSpPr>
        <p:spPr>
          <a:xfrm rot="-5400000">
            <a:off x="3653025" y="3446988"/>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56" name="Google Shape;156;p18"/>
          <p:cNvSpPr/>
          <p:nvPr/>
        </p:nvSpPr>
        <p:spPr>
          <a:xfrm rot="-5400000">
            <a:off x="3329775" y="3446988"/>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57" name="Google Shape;157;p18"/>
          <p:cNvSpPr txBox="1"/>
          <p:nvPr/>
        </p:nvSpPr>
        <p:spPr>
          <a:xfrm>
            <a:off x="1674000" y="3355338"/>
            <a:ext cx="2089800" cy="506550"/>
          </a:xfrm>
          <a:prstGeom prst="rect">
            <a:avLst/>
          </a:prstGeom>
          <a:noFill/>
          <a:ln>
            <a:noFill/>
          </a:ln>
        </p:spPr>
        <p:txBody>
          <a:bodyPr spcFirstLastPara="1" wrap="square" lIns="45713" tIns="45713" rIns="45713" bIns="45713" anchor="ctr" anchorCtr="0">
            <a:noAutofit/>
          </a:bodyPr>
          <a:lstStyle/>
          <a:p>
            <a:pPr algn="ctr"/>
            <a:r>
              <a:rPr lang="en" sz="1500"/>
              <a:t>Shared resource</a:t>
            </a:r>
            <a:endParaRPr sz="1500"/>
          </a:p>
          <a:p>
            <a:pPr algn="ctr"/>
            <a:r>
              <a:rPr lang="en" sz="1500"/>
              <a:t>(circular buffer)</a:t>
            </a:r>
            <a:endParaRPr sz="1500"/>
          </a:p>
        </p:txBody>
      </p:sp>
      <p:sp>
        <p:nvSpPr>
          <p:cNvPr id="158" name="Google Shape;158;p18"/>
          <p:cNvSpPr/>
          <p:nvPr/>
        </p:nvSpPr>
        <p:spPr>
          <a:xfrm rot="-5400000">
            <a:off x="4299525" y="3446988"/>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59" name="Google Shape;159;p18"/>
          <p:cNvSpPr/>
          <p:nvPr/>
        </p:nvSpPr>
        <p:spPr>
          <a:xfrm rot="-5400000">
            <a:off x="4622775" y="3446988"/>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60" name="Google Shape;160;p18"/>
          <p:cNvSpPr txBox="1"/>
          <p:nvPr/>
        </p:nvSpPr>
        <p:spPr>
          <a:xfrm>
            <a:off x="1065375" y="954088"/>
            <a:ext cx="7013250" cy="461651"/>
          </a:xfrm>
          <a:prstGeom prst="rect">
            <a:avLst/>
          </a:prstGeom>
          <a:noFill/>
          <a:ln>
            <a:noFill/>
          </a:ln>
        </p:spPr>
        <p:txBody>
          <a:bodyPr spcFirstLastPara="1" wrap="square" lIns="45713" tIns="45713" rIns="45713" bIns="45713" anchor="t" anchorCtr="0">
            <a:spAutoFit/>
          </a:bodyPr>
          <a:lstStyle/>
          <a:p>
            <a:pPr algn="ctr"/>
            <a:r>
              <a:rPr lang="en" sz="2400"/>
              <a:t>Semaphore: The Challenge</a:t>
            </a:r>
            <a:endParaRPr sz="2400"/>
          </a:p>
        </p:txBody>
      </p:sp>
      <p:sp>
        <p:nvSpPr>
          <p:cNvPr id="161" name="Google Shape;161;p18"/>
          <p:cNvSpPr/>
          <p:nvPr/>
        </p:nvSpPr>
        <p:spPr>
          <a:xfrm>
            <a:off x="3963219" y="2098382"/>
            <a:ext cx="1217550" cy="365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2</a:t>
            </a:r>
            <a:endParaRPr sz="1500"/>
          </a:p>
        </p:txBody>
      </p:sp>
      <p:sp>
        <p:nvSpPr>
          <p:cNvPr id="162" name="Google Shape;162;p18"/>
          <p:cNvSpPr/>
          <p:nvPr/>
        </p:nvSpPr>
        <p:spPr>
          <a:xfrm>
            <a:off x="5329119" y="2098382"/>
            <a:ext cx="1217550" cy="365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3</a:t>
            </a:r>
            <a:endParaRPr sz="1500"/>
          </a:p>
        </p:txBody>
      </p:sp>
      <p:sp>
        <p:nvSpPr>
          <p:cNvPr id="163" name="Google Shape;163;p18"/>
          <p:cNvSpPr/>
          <p:nvPr/>
        </p:nvSpPr>
        <p:spPr>
          <a:xfrm>
            <a:off x="6695019" y="2098382"/>
            <a:ext cx="1217550" cy="365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4</a:t>
            </a:r>
            <a:endParaRPr sz="1500"/>
          </a:p>
        </p:txBody>
      </p:sp>
      <p:cxnSp>
        <p:nvCxnSpPr>
          <p:cNvPr id="164" name="Google Shape;164;p18"/>
          <p:cNvCxnSpPr>
            <a:stCxn id="149" idx="2"/>
            <a:endCxn id="165" idx="3"/>
          </p:cNvCxnSpPr>
          <p:nvPr/>
        </p:nvCxnSpPr>
        <p:spPr>
          <a:xfrm>
            <a:off x="1840194" y="2463632"/>
            <a:ext cx="2731800" cy="549300"/>
          </a:xfrm>
          <a:prstGeom prst="straightConnector1">
            <a:avLst/>
          </a:prstGeom>
          <a:noFill/>
          <a:ln w="38100" cap="flat" cmpd="sng">
            <a:solidFill>
              <a:schemeClr val="dk2"/>
            </a:solidFill>
            <a:prstDash val="solid"/>
            <a:round/>
            <a:headEnd type="none" w="med" len="med"/>
            <a:tailEnd type="triangle" w="med" len="med"/>
          </a:ln>
        </p:spPr>
      </p:cxnSp>
      <p:sp>
        <p:nvSpPr>
          <p:cNvPr id="165" name="Google Shape;165;p18"/>
          <p:cNvSpPr/>
          <p:nvPr/>
        </p:nvSpPr>
        <p:spPr>
          <a:xfrm rot="-5400000">
            <a:off x="3976275" y="3446988"/>
            <a:ext cx="119145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cxnSp>
        <p:nvCxnSpPr>
          <p:cNvPr id="166" name="Google Shape;166;p18"/>
          <p:cNvCxnSpPr>
            <a:stCxn id="150" idx="2"/>
            <a:endCxn id="165" idx="3"/>
          </p:cNvCxnSpPr>
          <p:nvPr/>
        </p:nvCxnSpPr>
        <p:spPr>
          <a:xfrm>
            <a:off x="3206094" y="2463632"/>
            <a:ext cx="1365900" cy="549300"/>
          </a:xfrm>
          <a:prstGeom prst="straightConnector1">
            <a:avLst/>
          </a:prstGeom>
          <a:noFill/>
          <a:ln w="38100" cap="flat" cmpd="sng">
            <a:solidFill>
              <a:schemeClr val="dk2"/>
            </a:solidFill>
            <a:prstDash val="solid"/>
            <a:round/>
            <a:headEnd type="none" w="med" len="med"/>
            <a:tailEnd type="triangle" w="med" len="med"/>
          </a:ln>
        </p:spPr>
      </p:cxnSp>
      <p:cxnSp>
        <p:nvCxnSpPr>
          <p:cNvPr id="167" name="Google Shape;167;p18"/>
          <p:cNvCxnSpPr>
            <a:stCxn id="161" idx="2"/>
            <a:endCxn id="165" idx="3"/>
          </p:cNvCxnSpPr>
          <p:nvPr/>
        </p:nvCxnSpPr>
        <p:spPr>
          <a:xfrm>
            <a:off x="4571994" y="2463632"/>
            <a:ext cx="0" cy="549300"/>
          </a:xfrm>
          <a:prstGeom prst="straightConnector1">
            <a:avLst/>
          </a:prstGeom>
          <a:noFill/>
          <a:ln w="38100" cap="flat" cmpd="sng">
            <a:solidFill>
              <a:schemeClr val="dk2"/>
            </a:solidFill>
            <a:prstDash val="solid"/>
            <a:round/>
            <a:headEnd type="none" w="med" len="med"/>
            <a:tailEnd type="triangle" w="med" len="med"/>
          </a:ln>
        </p:spPr>
      </p:cxnSp>
      <p:cxnSp>
        <p:nvCxnSpPr>
          <p:cNvPr id="168" name="Google Shape;168;p18"/>
          <p:cNvCxnSpPr>
            <a:stCxn id="162" idx="2"/>
            <a:endCxn id="165" idx="3"/>
          </p:cNvCxnSpPr>
          <p:nvPr/>
        </p:nvCxnSpPr>
        <p:spPr>
          <a:xfrm flipH="1">
            <a:off x="4571994" y="2463632"/>
            <a:ext cx="1365900" cy="549300"/>
          </a:xfrm>
          <a:prstGeom prst="straightConnector1">
            <a:avLst/>
          </a:prstGeom>
          <a:noFill/>
          <a:ln w="38100" cap="flat" cmpd="sng">
            <a:solidFill>
              <a:schemeClr val="dk2"/>
            </a:solidFill>
            <a:prstDash val="solid"/>
            <a:round/>
            <a:headEnd type="none" w="med" len="med"/>
            <a:tailEnd type="triangle" w="med" len="med"/>
          </a:ln>
        </p:spPr>
      </p:cxnSp>
      <p:cxnSp>
        <p:nvCxnSpPr>
          <p:cNvPr id="169" name="Google Shape;169;p18"/>
          <p:cNvCxnSpPr>
            <a:stCxn id="163" idx="2"/>
            <a:endCxn id="165" idx="3"/>
          </p:cNvCxnSpPr>
          <p:nvPr/>
        </p:nvCxnSpPr>
        <p:spPr>
          <a:xfrm flipH="1">
            <a:off x="4571994" y="2463632"/>
            <a:ext cx="2731800" cy="549300"/>
          </a:xfrm>
          <a:prstGeom prst="straightConnector1">
            <a:avLst/>
          </a:prstGeom>
          <a:noFill/>
          <a:ln w="38100" cap="flat" cmpd="sng">
            <a:solidFill>
              <a:schemeClr val="dk2"/>
            </a:solidFill>
            <a:prstDash val="solid"/>
            <a:round/>
            <a:headEnd type="none" w="med" len="med"/>
            <a:tailEnd type="triangle" w="med" len="med"/>
          </a:ln>
        </p:spPr>
      </p:cxnSp>
      <p:cxnSp>
        <p:nvCxnSpPr>
          <p:cNvPr id="170" name="Google Shape;170;p18"/>
          <p:cNvCxnSpPr>
            <a:stCxn id="165" idx="1"/>
            <a:endCxn id="151" idx="0"/>
          </p:cNvCxnSpPr>
          <p:nvPr/>
        </p:nvCxnSpPr>
        <p:spPr>
          <a:xfrm flipH="1">
            <a:off x="3757050" y="4204338"/>
            <a:ext cx="814950" cy="549300"/>
          </a:xfrm>
          <a:prstGeom prst="straightConnector1">
            <a:avLst/>
          </a:prstGeom>
          <a:noFill/>
          <a:ln w="38100" cap="flat" cmpd="sng">
            <a:solidFill>
              <a:schemeClr val="dk2"/>
            </a:solidFill>
            <a:prstDash val="solid"/>
            <a:round/>
            <a:headEnd type="none" w="med" len="med"/>
            <a:tailEnd type="triangle" w="med" len="med"/>
          </a:ln>
        </p:spPr>
      </p:cxnSp>
      <p:cxnSp>
        <p:nvCxnSpPr>
          <p:cNvPr id="171" name="Google Shape;171;p18"/>
          <p:cNvCxnSpPr>
            <a:stCxn id="165" idx="1"/>
            <a:endCxn id="152" idx="0"/>
          </p:cNvCxnSpPr>
          <p:nvPr/>
        </p:nvCxnSpPr>
        <p:spPr>
          <a:xfrm>
            <a:off x="4572000" y="4204338"/>
            <a:ext cx="814950" cy="549300"/>
          </a:xfrm>
          <a:prstGeom prst="straightConnector1">
            <a:avLst/>
          </a:prstGeom>
          <a:noFill/>
          <a:ln w="38100" cap="flat" cmpd="sng">
            <a:solidFill>
              <a:schemeClr val="dk2"/>
            </a:solidFill>
            <a:prstDash val="solid"/>
            <a:round/>
            <a:headEnd type="none" w="med" len="med"/>
            <a:tailEnd type="triangle" w="med" len="med"/>
          </a:ln>
        </p:spPr>
      </p:cxn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9"/>
          <p:cNvSpPr/>
          <p:nvPr/>
        </p:nvSpPr>
        <p:spPr>
          <a:xfrm>
            <a:off x="2636025" y="3541494"/>
            <a:ext cx="3871950" cy="970650"/>
          </a:xfrm>
          <a:prstGeom prst="rect">
            <a:avLst/>
          </a:prstGeom>
          <a:solidFill>
            <a:srgbClr val="000000"/>
          </a:solidFill>
          <a:ln>
            <a:noFill/>
          </a:ln>
        </p:spPr>
        <p:txBody>
          <a:bodyPr spcFirstLastPara="1" wrap="square" lIns="45713" tIns="45713" rIns="45713" bIns="45713" anchor="ctr" anchorCtr="0">
            <a:noAutofit/>
          </a:bodyPr>
          <a:lstStyle/>
          <a:p>
            <a:pPr algn="ctr"/>
            <a:r>
              <a:rPr lang="en" sz="1500">
                <a:solidFill>
                  <a:srgbClr val="00FF00"/>
                </a:solidFill>
                <a:latin typeface="Courier New"/>
                <a:ea typeface="Courier New"/>
                <a:cs typeface="Courier New"/>
                <a:sym typeface="Courier New"/>
              </a:rPr>
              <a:t>Critical section </a:t>
            </a:r>
            <a:endParaRPr sz="1500">
              <a:solidFill>
                <a:srgbClr val="00FF00"/>
              </a:solidFill>
              <a:latin typeface="Courier New"/>
              <a:ea typeface="Courier New"/>
              <a:cs typeface="Courier New"/>
              <a:sym typeface="Courier New"/>
            </a:endParaRPr>
          </a:p>
          <a:p>
            <a:pPr algn="ctr"/>
            <a:r>
              <a:rPr lang="en" sz="1500">
                <a:solidFill>
                  <a:srgbClr val="00FF00"/>
                </a:solidFill>
                <a:latin typeface="Courier New"/>
                <a:ea typeface="Courier New"/>
                <a:cs typeface="Courier New"/>
                <a:sym typeface="Courier New"/>
              </a:rPr>
              <a:t>(manipulate shared resource)</a:t>
            </a:r>
            <a:endParaRPr sz="1500">
              <a:solidFill>
                <a:srgbClr val="00FF00"/>
              </a:solidFill>
              <a:latin typeface="Courier New"/>
              <a:ea typeface="Courier New"/>
              <a:cs typeface="Courier New"/>
              <a:sym typeface="Courier New"/>
            </a:endParaRPr>
          </a:p>
        </p:txBody>
      </p:sp>
      <p:sp>
        <p:nvSpPr>
          <p:cNvPr id="177" name="Google Shape;177;p19"/>
          <p:cNvSpPr txBox="1"/>
          <p:nvPr/>
        </p:nvSpPr>
        <p:spPr>
          <a:xfrm>
            <a:off x="1065375" y="954088"/>
            <a:ext cx="7013250" cy="461651"/>
          </a:xfrm>
          <a:prstGeom prst="rect">
            <a:avLst/>
          </a:prstGeom>
          <a:noFill/>
          <a:ln>
            <a:noFill/>
          </a:ln>
        </p:spPr>
        <p:txBody>
          <a:bodyPr spcFirstLastPara="1" wrap="square" lIns="45713" tIns="45713" rIns="45713" bIns="45713" anchor="t" anchorCtr="0">
            <a:spAutoFit/>
          </a:bodyPr>
          <a:lstStyle/>
          <a:p>
            <a:pPr algn="ctr"/>
            <a:r>
              <a:rPr lang="en" sz="2400"/>
              <a:t>Semaphore: The Idea</a:t>
            </a:r>
            <a:endParaRPr sz="2400"/>
          </a:p>
        </p:txBody>
      </p:sp>
      <p:sp>
        <p:nvSpPr>
          <p:cNvPr id="178" name="Google Shape;178;p19"/>
          <p:cNvSpPr/>
          <p:nvPr/>
        </p:nvSpPr>
        <p:spPr>
          <a:xfrm>
            <a:off x="658450" y="2771175"/>
            <a:ext cx="710250" cy="710250"/>
          </a:xfrm>
          <a:prstGeom prst="ellipse">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2400"/>
              <a:t>3</a:t>
            </a:r>
            <a:endParaRPr sz="2400"/>
          </a:p>
        </p:txBody>
      </p:sp>
      <p:sp>
        <p:nvSpPr>
          <p:cNvPr id="179" name="Google Shape;179;p19"/>
          <p:cNvSpPr/>
          <p:nvPr/>
        </p:nvSpPr>
        <p:spPr>
          <a:xfrm>
            <a:off x="1787994" y="1736250"/>
            <a:ext cx="1217550" cy="365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A</a:t>
            </a:r>
            <a:endParaRPr sz="1500"/>
          </a:p>
        </p:txBody>
      </p:sp>
      <p:sp>
        <p:nvSpPr>
          <p:cNvPr id="180" name="Google Shape;180;p19"/>
          <p:cNvSpPr/>
          <p:nvPr/>
        </p:nvSpPr>
        <p:spPr>
          <a:xfrm>
            <a:off x="3238144" y="1736250"/>
            <a:ext cx="1217550" cy="36525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B</a:t>
            </a:r>
            <a:endParaRPr sz="1500"/>
          </a:p>
        </p:txBody>
      </p:sp>
      <p:sp>
        <p:nvSpPr>
          <p:cNvPr id="181" name="Google Shape;181;p19"/>
          <p:cNvSpPr/>
          <p:nvPr/>
        </p:nvSpPr>
        <p:spPr>
          <a:xfrm>
            <a:off x="4688294" y="1736250"/>
            <a:ext cx="1217550" cy="36525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C</a:t>
            </a:r>
            <a:endParaRPr sz="1500"/>
          </a:p>
        </p:txBody>
      </p:sp>
      <p:sp>
        <p:nvSpPr>
          <p:cNvPr id="182" name="Google Shape;182;p19"/>
          <p:cNvSpPr/>
          <p:nvPr/>
        </p:nvSpPr>
        <p:spPr>
          <a:xfrm>
            <a:off x="6138444" y="1736250"/>
            <a:ext cx="1217550" cy="36525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D</a:t>
            </a:r>
            <a:endParaRPr sz="1500"/>
          </a:p>
        </p:txBody>
      </p:sp>
      <p:sp>
        <p:nvSpPr>
          <p:cNvPr id="183" name="Google Shape;183;p19"/>
          <p:cNvSpPr txBox="1"/>
          <p:nvPr/>
        </p:nvSpPr>
        <p:spPr>
          <a:xfrm>
            <a:off x="187075" y="2249400"/>
            <a:ext cx="1653000" cy="461700"/>
          </a:xfrm>
          <a:prstGeom prst="rect">
            <a:avLst/>
          </a:prstGeom>
          <a:noFill/>
          <a:ln>
            <a:noFill/>
          </a:ln>
        </p:spPr>
        <p:txBody>
          <a:bodyPr spcFirstLastPara="1" wrap="square" lIns="45713" tIns="45713" rIns="45713" bIns="45713" anchor="ctr" anchorCtr="0">
            <a:noAutofit/>
          </a:bodyPr>
          <a:lstStyle/>
          <a:p>
            <a:pPr algn="ctr"/>
            <a:r>
              <a:rPr lang="en" sz="1500"/>
              <a:t>Counting semaphore</a:t>
            </a:r>
            <a:endParaRPr sz="1500"/>
          </a:p>
        </p:txBody>
      </p:sp>
      <p:cxnSp>
        <p:nvCxnSpPr>
          <p:cNvPr id="184" name="Google Shape;184;p19"/>
          <p:cNvCxnSpPr>
            <a:stCxn id="179" idx="2"/>
          </p:cNvCxnSpPr>
          <p:nvPr/>
        </p:nvCxnSpPr>
        <p:spPr>
          <a:xfrm>
            <a:off x="2396769" y="2101500"/>
            <a:ext cx="873000" cy="655500"/>
          </a:xfrm>
          <a:prstGeom prst="straightConnector1">
            <a:avLst/>
          </a:prstGeom>
          <a:noFill/>
          <a:ln w="38100" cap="flat" cmpd="sng">
            <a:solidFill>
              <a:schemeClr val="dk2"/>
            </a:solidFill>
            <a:prstDash val="solid"/>
            <a:round/>
            <a:headEnd type="none" w="med" len="med"/>
            <a:tailEnd type="triangle" w="med" len="med"/>
          </a:ln>
        </p:spPr>
      </p:cxnSp>
      <p:sp>
        <p:nvSpPr>
          <p:cNvPr id="185" name="Google Shape;185;p19"/>
          <p:cNvSpPr/>
          <p:nvPr/>
        </p:nvSpPr>
        <p:spPr>
          <a:xfrm>
            <a:off x="658450" y="2771175"/>
            <a:ext cx="710250" cy="710250"/>
          </a:xfrm>
          <a:prstGeom prst="ellipse">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2400"/>
              <a:t>2</a:t>
            </a:r>
            <a:endParaRPr sz="2400"/>
          </a:p>
        </p:txBody>
      </p:sp>
      <p:sp>
        <p:nvSpPr>
          <p:cNvPr id="186" name="Google Shape;186;p19"/>
          <p:cNvSpPr/>
          <p:nvPr/>
        </p:nvSpPr>
        <p:spPr>
          <a:xfrm>
            <a:off x="2973825" y="2753175"/>
            <a:ext cx="3196350" cy="365250"/>
          </a:xfrm>
          <a:prstGeom prst="rect">
            <a:avLst/>
          </a:prstGeom>
          <a:solidFill>
            <a:srgbClr val="000000"/>
          </a:solidFill>
          <a:ln>
            <a:noFill/>
          </a:ln>
        </p:spPr>
        <p:txBody>
          <a:bodyPr spcFirstLastPara="1" wrap="square" lIns="45713" tIns="45713" rIns="45713" bIns="45713" anchor="ctr" anchorCtr="0">
            <a:noAutofit/>
          </a:bodyPr>
          <a:lstStyle/>
          <a:p>
            <a:pPr algn="ctr">
              <a:buClr>
                <a:schemeClr val="dk1"/>
              </a:buClr>
              <a:buSzPts val="1100"/>
            </a:pPr>
            <a:r>
              <a:rPr lang="en" sz="1500">
                <a:solidFill>
                  <a:srgbClr val="00FF00"/>
                </a:solidFill>
                <a:latin typeface="Courier New"/>
                <a:ea typeface="Courier New"/>
                <a:cs typeface="Courier New"/>
                <a:sym typeface="Courier New"/>
              </a:rPr>
              <a:t>semaphoreTake(semaphore)</a:t>
            </a:r>
            <a:endParaRPr sz="1500">
              <a:solidFill>
                <a:srgbClr val="00FF00"/>
              </a:solidFill>
              <a:latin typeface="Courier New"/>
              <a:ea typeface="Courier New"/>
              <a:cs typeface="Courier New"/>
              <a:sym typeface="Courier New"/>
            </a:endParaRPr>
          </a:p>
        </p:txBody>
      </p:sp>
      <p:cxnSp>
        <p:nvCxnSpPr>
          <p:cNvPr id="187" name="Google Shape;187;p19"/>
          <p:cNvCxnSpPr/>
          <p:nvPr/>
        </p:nvCxnSpPr>
        <p:spPr>
          <a:xfrm>
            <a:off x="3269775" y="3120388"/>
            <a:ext cx="0" cy="421050"/>
          </a:xfrm>
          <a:prstGeom prst="straightConnector1">
            <a:avLst/>
          </a:prstGeom>
          <a:noFill/>
          <a:ln w="38100" cap="flat" cmpd="sng">
            <a:solidFill>
              <a:schemeClr val="dk2"/>
            </a:solidFill>
            <a:prstDash val="solid"/>
            <a:round/>
            <a:headEnd type="none" w="med" len="med"/>
            <a:tailEnd type="triangle" w="med" len="med"/>
          </a:ln>
        </p:spPr>
      </p:cxnSp>
      <p:cxnSp>
        <p:nvCxnSpPr>
          <p:cNvPr id="188" name="Google Shape;188;p19"/>
          <p:cNvCxnSpPr>
            <a:stCxn id="180" idx="2"/>
          </p:cNvCxnSpPr>
          <p:nvPr/>
        </p:nvCxnSpPr>
        <p:spPr>
          <a:xfrm>
            <a:off x="3846919" y="2101500"/>
            <a:ext cx="0" cy="658050"/>
          </a:xfrm>
          <a:prstGeom prst="straightConnector1">
            <a:avLst/>
          </a:prstGeom>
          <a:noFill/>
          <a:ln w="38100" cap="flat" cmpd="sng">
            <a:solidFill>
              <a:schemeClr val="dk2"/>
            </a:solidFill>
            <a:prstDash val="solid"/>
            <a:round/>
            <a:headEnd type="none" w="med" len="med"/>
            <a:tailEnd type="triangle" w="med" len="med"/>
          </a:ln>
        </p:spPr>
      </p:cxnSp>
      <p:cxnSp>
        <p:nvCxnSpPr>
          <p:cNvPr id="189" name="Google Shape;189;p19"/>
          <p:cNvCxnSpPr/>
          <p:nvPr/>
        </p:nvCxnSpPr>
        <p:spPr>
          <a:xfrm>
            <a:off x="3846925" y="3120388"/>
            <a:ext cx="0" cy="421050"/>
          </a:xfrm>
          <a:prstGeom prst="straightConnector1">
            <a:avLst/>
          </a:prstGeom>
          <a:noFill/>
          <a:ln w="38100" cap="flat" cmpd="sng">
            <a:solidFill>
              <a:schemeClr val="dk2"/>
            </a:solidFill>
            <a:prstDash val="solid"/>
            <a:round/>
            <a:headEnd type="none" w="med" len="med"/>
            <a:tailEnd type="triangle" w="med" len="med"/>
          </a:ln>
        </p:spPr>
      </p:cxnSp>
      <p:sp>
        <p:nvSpPr>
          <p:cNvPr id="190" name="Google Shape;190;p19"/>
          <p:cNvSpPr/>
          <p:nvPr/>
        </p:nvSpPr>
        <p:spPr>
          <a:xfrm>
            <a:off x="658450" y="2771175"/>
            <a:ext cx="710250" cy="710250"/>
          </a:xfrm>
          <a:prstGeom prst="ellipse">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2400"/>
              <a:t>1</a:t>
            </a:r>
            <a:endParaRPr sz="2400"/>
          </a:p>
        </p:txBody>
      </p:sp>
      <p:sp>
        <p:nvSpPr>
          <p:cNvPr id="191" name="Google Shape;191;p19"/>
          <p:cNvSpPr/>
          <p:nvPr/>
        </p:nvSpPr>
        <p:spPr>
          <a:xfrm>
            <a:off x="658450" y="2771175"/>
            <a:ext cx="710250" cy="710250"/>
          </a:xfrm>
          <a:prstGeom prst="ellipse">
            <a:avLst/>
          </a:prstGeom>
          <a:solidFill>
            <a:srgbClr val="F4CC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2400"/>
              <a:t>0</a:t>
            </a:r>
            <a:endParaRPr sz="2400"/>
          </a:p>
        </p:txBody>
      </p:sp>
      <p:cxnSp>
        <p:nvCxnSpPr>
          <p:cNvPr id="192" name="Google Shape;192;p19"/>
          <p:cNvCxnSpPr/>
          <p:nvPr/>
        </p:nvCxnSpPr>
        <p:spPr>
          <a:xfrm>
            <a:off x="5297069" y="2101500"/>
            <a:ext cx="0" cy="658050"/>
          </a:xfrm>
          <a:prstGeom prst="straightConnector1">
            <a:avLst/>
          </a:prstGeom>
          <a:noFill/>
          <a:ln w="38100" cap="flat" cmpd="sng">
            <a:solidFill>
              <a:schemeClr val="dk2"/>
            </a:solidFill>
            <a:prstDash val="solid"/>
            <a:round/>
            <a:headEnd type="none" w="med" len="med"/>
            <a:tailEnd type="triangle" w="med" len="med"/>
          </a:ln>
        </p:spPr>
      </p:cxnSp>
      <p:cxnSp>
        <p:nvCxnSpPr>
          <p:cNvPr id="193" name="Google Shape;193;p19"/>
          <p:cNvCxnSpPr/>
          <p:nvPr/>
        </p:nvCxnSpPr>
        <p:spPr>
          <a:xfrm>
            <a:off x="5297075" y="3120388"/>
            <a:ext cx="0" cy="421050"/>
          </a:xfrm>
          <a:prstGeom prst="straightConnector1">
            <a:avLst/>
          </a:prstGeom>
          <a:noFill/>
          <a:ln w="38100" cap="flat" cmpd="sng">
            <a:solidFill>
              <a:schemeClr val="dk2"/>
            </a:solidFill>
            <a:prstDash val="solid"/>
            <a:round/>
            <a:headEnd type="none" w="med" len="med"/>
            <a:tailEnd type="triangle" w="med" len="med"/>
          </a:ln>
        </p:spPr>
      </p:cxnSp>
      <p:cxnSp>
        <p:nvCxnSpPr>
          <p:cNvPr id="194" name="Google Shape;194;p19"/>
          <p:cNvCxnSpPr/>
          <p:nvPr/>
        </p:nvCxnSpPr>
        <p:spPr>
          <a:xfrm flipH="1">
            <a:off x="5863875" y="2101500"/>
            <a:ext cx="873000" cy="655500"/>
          </a:xfrm>
          <a:prstGeom prst="straightConnector1">
            <a:avLst/>
          </a:prstGeom>
          <a:noFill/>
          <a:ln w="38100" cap="flat" cmpd="sng">
            <a:solidFill>
              <a:schemeClr val="dk2"/>
            </a:solidFill>
            <a:prstDash val="solid"/>
            <a:round/>
            <a:headEnd type="none" w="med" len="med"/>
            <a:tailEnd type="triangle" w="med" len="med"/>
          </a:ln>
        </p:spPr>
      </p:cxnSp>
      <p:sp>
        <p:nvSpPr>
          <p:cNvPr id="195" name="Google Shape;195;p19"/>
          <p:cNvSpPr/>
          <p:nvPr/>
        </p:nvSpPr>
        <p:spPr>
          <a:xfrm>
            <a:off x="2973825" y="4935225"/>
            <a:ext cx="3196350" cy="365250"/>
          </a:xfrm>
          <a:prstGeom prst="rect">
            <a:avLst/>
          </a:prstGeom>
          <a:solidFill>
            <a:srgbClr val="000000"/>
          </a:solidFill>
          <a:ln>
            <a:noFill/>
          </a:ln>
        </p:spPr>
        <p:txBody>
          <a:bodyPr spcFirstLastPara="1" wrap="square" lIns="45713" tIns="45713" rIns="45713" bIns="45713" anchor="ctr" anchorCtr="0">
            <a:noAutofit/>
          </a:bodyPr>
          <a:lstStyle/>
          <a:p>
            <a:pPr algn="ctr"/>
            <a:r>
              <a:rPr lang="en" sz="1500">
                <a:solidFill>
                  <a:srgbClr val="00FF00"/>
                </a:solidFill>
                <a:latin typeface="Courier New"/>
                <a:ea typeface="Courier New"/>
                <a:cs typeface="Courier New"/>
                <a:sym typeface="Courier New"/>
              </a:rPr>
              <a:t>semaphoreGive(semaphore)</a:t>
            </a:r>
            <a:endParaRPr sz="1500">
              <a:solidFill>
                <a:srgbClr val="00FF00"/>
              </a:solidFill>
              <a:latin typeface="Courier New"/>
              <a:ea typeface="Courier New"/>
              <a:cs typeface="Courier New"/>
              <a:sym typeface="Courier New"/>
            </a:endParaRPr>
          </a:p>
        </p:txBody>
      </p:sp>
      <p:cxnSp>
        <p:nvCxnSpPr>
          <p:cNvPr id="196" name="Google Shape;196;p19"/>
          <p:cNvCxnSpPr/>
          <p:nvPr/>
        </p:nvCxnSpPr>
        <p:spPr>
          <a:xfrm>
            <a:off x="3269775" y="4512150"/>
            <a:ext cx="0" cy="421050"/>
          </a:xfrm>
          <a:prstGeom prst="straightConnector1">
            <a:avLst/>
          </a:prstGeom>
          <a:noFill/>
          <a:ln w="38100" cap="flat" cmpd="sng">
            <a:solidFill>
              <a:schemeClr val="dk2"/>
            </a:solidFill>
            <a:prstDash val="solid"/>
            <a:round/>
            <a:headEnd type="none" w="med" len="med"/>
            <a:tailEnd type="triangle" w="med" len="med"/>
          </a:ln>
        </p:spPr>
      </p:cxnSp>
      <p:cxnSp>
        <p:nvCxnSpPr>
          <p:cNvPr id="197" name="Google Shape;197;p19"/>
          <p:cNvCxnSpPr/>
          <p:nvPr/>
        </p:nvCxnSpPr>
        <p:spPr>
          <a:xfrm>
            <a:off x="3269775" y="5302500"/>
            <a:ext cx="0" cy="421050"/>
          </a:xfrm>
          <a:prstGeom prst="straightConnector1">
            <a:avLst/>
          </a:prstGeom>
          <a:noFill/>
          <a:ln w="38100" cap="flat" cmpd="sng">
            <a:solidFill>
              <a:schemeClr val="dk2"/>
            </a:solidFill>
            <a:prstDash val="solid"/>
            <a:round/>
            <a:headEnd type="none" w="med" len="med"/>
            <a:tailEnd type="triangle" w="med" len="med"/>
          </a:ln>
        </p:spPr>
      </p:cxnSp>
      <p:sp>
        <p:nvSpPr>
          <p:cNvPr id="198" name="Google Shape;198;p19"/>
          <p:cNvSpPr/>
          <p:nvPr/>
        </p:nvSpPr>
        <p:spPr>
          <a:xfrm>
            <a:off x="658450" y="2771175"/>
            <a:ext cx="710250" cy="710250"/>
          </a:xfrm>
          <a:prstGeom prst="ellipse">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2400"/>
              <a:t>1</a:t>
            </a:r>
            <a:endParaRPr sz="2400"/>
          </a:p>
        </p:txBody>
      </p:sp>
      <p:sp>
        <p:nvSpPr>
          <p:cNvPr id="199" name="Google Shape;199;p19"/>
          <p:cNvSpPr/>
          <p:nvPr/>
        </p:nvSpPr>
        <p:spPr>
          <a:xfrm>
            <a:off x="658450" y="2771175"/>
            <a:ext cx="710250" cy="710250"/>
          </a:xfrm>
          <a:prstGeom prst="ellipse">
            <a:avLst/>
          </a:prstGeom>
          <a:solidFill>
            <a:srgbClr val="F4CC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2400"/>
              <a:t>0</a:t>
            </a:r>
            <a:endParaRPr sz="2400"/>
          </a:p>
        </p:txBody>
      </p:sp>
      <p:cxnSp>
        <p:nvCxnSpPr>
          <p:cNvPr id="200" name="Google Shape;200;p19"/>
          <p:cNvCxnSpPr/>
          <p:nvPr/>
        </p:nvCxnSpPr>
        <p:spPr>
          <a:xfrm>
            <a:off x="3846925" y="4512150"/>
            <a:ext cx="0" cy="421050"/>
          </a:xfrm>
          <a:prstGeom prst="straightConnector1">
            <a:avLst/>
          </a:prstGeom>
          <a:noFill/>
          <a:ln w="38100" cap="flat" cmpd="sng">
            <a:solidFill>
              <a:schemeClr val="dk2"/>
            </a:solidFill>
            <a:prstDash val="solid"/>
            <a:round/>
            <a:headEnd type="none" w="med" len="med"/>
            <a:tailEnd type="triangle" w="med" len="med"/>
          </a:ln>
        </p:spPr>
      </p:cxnSp>
      <p:cxnSp>
        <p:nvCxnSpPr>
          <p:cNvPr id="201" name="Google Shape;201;p19"/>
          <p:cNvCxnSpPr/>
          <p:nvPr/>
        </p:nvCxnSpPr>
        <p:spPr>
          <a:xfrm>
            <a:off x="5297075" y="4512150"/>
            <a:ext cx="0" cy="421050"/>
          </a:xfrm>
          <a:prstGeom prst="straightConnector1">
            <a:avLst/>
          </a:prstGeom>
          <a:noFill/>
          <a:ln w="38100" cap="flat" cmpd="sng">
            <a:solidFill>
              <a:schemeClr val="dk2"/>
            </a:solidFill>
            <a:prstDash val="solid"/>
            <a:round/>
            <a:headEnd type="none" w="med" len="med"/>
            <a:tailEnd type="triangle" w="med" len="med"/>
          </a:ln>
        </p:spPr>
      </p:cxnSp>
      <p:cxnSp>
        <p:nvCxnSpPr>
          <p:cNvPr id="202" name="Google Shape;202;p19"/>
          <p:cNvCxnSpPr/>
          <p:nvPr/>
        </p:nvCxnSpPr>
        <p:spPr>
          <a:xfrm>
            <a:off x="3846925" y="5302500"/>
            <a:ext cx="0" cy="421050"/>
          </a:xfrm>
          <a:prstGeom prst="straightConnector1">
            <a:avLst/>
          </a:prstGeom>
          <a:noFill/>
          <a:ln w="38100" cap="flat" cmpd="sng">
            <a:solidFill>
              <a:schemeClr val="dk2"/>
            </a:solidFill>
            <a:prstDash val="solid"/>
            <a:round/>
            <a:headEnd type="none" w="med" len="med"/>
            <a:tailEnd type="triangle" w="med" len="med"/>
          </a:ln>
        </p:spPr>
      </p:cxnSp>
      <p:cxnSp>
        <p:nvCxnSpPr>
          <p:cNvPr id="203" name="Google Shape;203;p19"/>
          <p:cNvCxnSpPr/>
          <p:nvPr/>
        </p:nvCxnSpPr>
        <p:spPr>
          <a:xfrm>
            <a:off x="5297075" y="5302500"/>
            <a:ext cx="0" cy="421050"/>
          </a:xfrm>
          <a:prstGeom prst="straightConnector1">
            <a:avLst/>
          </a:prstGeom>
          <a:noFill/>
          <a:ln w="38100" cap="flat" cmpd="sng">
            <a:solidFill>
              <a:schemeClr val="dk2"/>
            </a:solidFill>
            <a:prstDash val="solid"/>
            <a:round/>
            <a:headEnd type="none" w="med" len="med"/>
            <a:tailEnd type="triangle" w="med" len="med"/>
          </a:ln>
        </p:spPr>
      </p:cxnSp>
      <p:sp>
        <p:nvSpPr>
          <p:cNvPr id="204" name="Google Shape;204;p19"/>
          <p:cNvSpPr/>
          <p:nvPr/>
        </p:nvSpPr>
        <p:spPr>
          <a:xfrm>
            <a:off x="658450" y="2771175"/>
            <a:ext cx="710250" cy="710250"/>
          </a:xfrm>
          <a:prstGeom prst="ellipse">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2400"/>
              <a:t>3</a:t>
            </a:r>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1000"/>
                                        <p:tgtEl>
                                          <p:spTgt spid="17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4"/>
                                        </p:tgtEl>
                                        <p:attrNameLst>
                                          <p:attrName>style.visibility</p:attrName>
                                        </p:attrNameLst>
                                      </p:cBhvr>
                                      <p:to>
                                        <p:strVal val="visible"/>
                                      </p:to>
                                    </p:set>
                                    <p:animEffect transition="in" filter="fade">
                                      <p:cBhvr>
                                        <p:cTn id="12" dur="1000"/>
                                        <p:tgtEl>
                                          <p:spTgt spid="184"/>
                                        </p:tgtEl>
                                      </p:cBhvr>
                                    </p:animEffect>
                                  </p:childTnLst>
                                </p:cTn>
                              </p:par>
                              <p:par>
                                <p:cTn id="13" presetID="10" presetClass="entr" presetSubtype="0" fill="hold" nodeType="withEffect">
                                  <p:stCondLst>
                                    <p:cond delay="0"/>
                                  </p:stCondLst>
                                  <p:childTnLst>
                                    <p:set>
                                      <p:cBhvr>
                                        <p:cTn id="14" dur="1" fill="hold">
                                          <p:stCondLst>
                                            <p:cond delay="0"/>
                                          </p:stCondLst>
                                        </p:cTn>
                                        <p:tgtEl>
                                          <p:spTgt spid="186"/>
                                        </p:tgtEl>
                                        <p:attrNameLst>
                                          <p:attrName>style.visibility</p:attrName>
                                        </p:attrNameLst>
                                      </p:cBhvr>
                                      <p:to>
                                        <p:strVal val="visible"/>
                                      </p:to>
                                    </p:set>
                                    <p:animEffect transition="in" filter="fade">
                                      <p:cBhvr>
                                        <p:cTn id="15" dur="1000"/>
                                        <p:tgtEl>
                                          <p:spTgt spid="18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5"/>
                                        </p:tgtEl>
                                        <p:attrNameLst>
                                          <p:attrName>style.visibility</p:attrName>
                                        </p:attrNameLst>
                                      </p:cBhvr>
                                      <p:to>
                                        <p:strVal val="visible"/>
                                      </p:to>
                                    </p:set>
                                    <p:animEffect transition="in" filter="fade">
                                      <p:cBhvr>
                                        <p:cTn id="20" dur="1000"/>
                                        <p:tgtEl>
                                          <p:spTgt spid="18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87"/>
                                        </p:tgtEl>
                                        <p:attrNameLst>
                                          <p:attrName>style.visibility</p:attrName>
                                        </p:attrNameLst>
                                      </p:cBhvr>
                                      <p:to>
                                        <p:strVal val="visible"/>
                                      </p:to>
                                    </p:set>
                                    <p:animEffect transition="in" filter="fade">
                                      <p:cBhvr>
                                        <p:cTn id="25" dur="1000"/>
                                        <p:tgtEl>
                                          <p:spTgt spid="18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88"/>
                                        </p:tgtEl>
                                        <p:attrNameLst>
                                          <p:attrName>style.visibility</p:attrName>
                                        </p:attrNameLst>
                                      </p:cBhvr>
                                      <p:to>
                                        <p:strVal val="visible"/>
                                      </p:to>
                                    </p:set>
                                    <p:animEffect transition="in" filter="fade">
                                      <p:cBhvr>
                                        <p:cTn id="30" dur="1000"/>
                                        <p:tgtEl>
                                          <p:spTgt spid="188"/>
                                        </p:tgtEl>
                                      </p:cBhvr>
                                    </p:animEffect>
                                  </p:childTnLst>
                                </p:cTn>
                              </p:par>
                              <p:par>
                                <p:cTn id="31" presetID="10" presetClass="entr" presetSubtype="0" fill="hold" nodeType="withEffect">
                                  <p:stCondLst>
                                    <p:cond delay="0"/>
                                  </p:stCondLst>
                                  <p:childTnLst>
                                    <p:set>
                                      <p:cBhvr>
                                        <p:cTn id="32" dur="1" fill="hold">
                                          <p:stCondLst>
                                            <p:cond delay="0"/>
                                          </p:stCondLst>
                                        </p:cTn>
                                        <p:tgtEl>
                                          <p:spTgt spid="180"/>
                                        </p:tgtEl>
                                        <p:attrNameLst>
                                          <p:attrName>style.visibility</p:attrName>
                                        </p:attrNameLst>
                                      </p:cBhvr>
                                      <p:to>
                                        <p:strVal val="visible"/>
                                      </p:to>
                                    </p:set>
                                    <p:animEffect transition="in" filter="fade">
                                      <p:cBhvr>
                                        <p:cTn id="33" dur="1000"/>
                                        <p:tgtEl>
                                          <p:spTgt spid="18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90"/>
                                        </p:tgtEl>
                                        <p:attrNameLst>
                                          <p:attrName>style.visibility</p:attrName>
                                        </p:attrNameLst>
                                      </p:cBhvr>
                                      <p:to>
                                        <p:strVal val="visible"/>
                                      </p:to>
                                    </p:set>
                                    <p:animEffect transition="in" filter="fade">
                                      <p:cBhvr>
                                        <p:cTn id="38" dur="1000"/>
                                        <p:tgtEl>
                                          <p:spTgt spid="19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89"/>
                                        </p:tgtEl>
                                        <p:attrNameLst>
                                          <p:attrName>style.visibility</p:attrName>
                                        </p:attrNameLst>
                                      </p:cBhvr>
                                      <p:to>
                                        <p:strVal val="visible"/>
                                      </p:to>
                                    </p:set>
                                    <p:animEffect transition="in" filter="fade">
                                      <p:cBhvr>
                                        <p:cTn id="43" dur="1000"/>
                                        <p:tgtEl>
                                          <p:spTgt spid="18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81"/>
                                        </p:tgtEl>
                                        <p:attrNameLst>
                                          <p:attrName>style.visibility</p:attrName>
                                        </p:attrNameLst>
                                      </p:cBhvr>
                                      <p:to>
                                        <p:strVal val="visible"/>
                                      </p:to>
                                    </p:set>
                                    <p:animEffect transition="in" filter="fade">
                                      <p:cBhvr>
                                        <p:cTn id="48" dur="1000"/>
                                        <p:tgtEl>
                                          <p:spTgt spid="181"/>
                                        </p:tgtEl>
                                      </p:cBhvr>
                                    </p:animEffect>
                                  </p:childTnLst>
                                </p:cTn>
                              </p:par>
                              <p:par>
                                <p:cTn id="49" presetID="10" presetClass="entr" presetSubtype="0" fill="hold" nodeType="withEffect">
                                  <p:stCondLst>
                                    <p:cond delay="0"/>
                                  </p:stCondLst>
                                  <p:childTnLst>
                                    <p:set>
                                      <p:cBhvr>
                                        <p:cTn id="50" dur="1" fill="hold">
                                          <p:stCondLst>
                                            <p:cond delay="0"/>
                                          </p:stCondLst>
                                        </p:cTn>
                                        <p:tgtEl>
                                          <p:spTgt spid="192"/>
                                        </p:tgtEl>
                                        <p:attrNameLst>
                                          <p:attrName>style.visibility</p:attrName>
                                        </p:attrNameLst>
                                      </p:cBhvr>
                                      <p:to>
                                        <p:strVal val="visible"/>
                                      </p:to>
                                    </p:set>
                                    <p:animEffect transition="in" filter="fade">
                                      <p:cBhvr>
                                        <p:cTn id="51" dur="1000"/>
                                        <p:tgtEl>
                                          <p:spTgt spid="192"/>
                                        </p:tgtEl>
                                      </p:cBhvr>
                                    </p:animEffect>
                                  </p:childTnLst>
                                </p:cTn>
                              </p:par>
                              <p:par>
                                <p:cTn id="52" presetID="10" presetClass="entr" presetSubtype="0" fill="hold" nodeType="withEffect">
                                  <p:stCondLst>
                                    <p:cond delay="0"/>
                                  </p:stCondLst>
                                  <p:childTnLst>
                                    <p:set>
                                      <p:cBhvr>
                                        <p:cTn id="53" dur="1" fill="hold">
                                          <p:stCondLst>
                                            <p:cond delay="0"/>
                                          </p:stCondLst>
                                        </p:cTn>
                                        <p:tgtEl>
                                          <p:spTgt spid="193"/>
                                        </p:tgtEl>
                                        <p:attrNameLst>
                                          <p:attrName>style.visibility</p:attrName>
                                        </p:attrNameLst>
                                      </p:cBhvr>
                                      <p:to>
                                        <p:strVal val="visible"/>
                                      </p:to>
                                    </p:set>
                                    <p:animEffect transition="in" filter="fade">
                                      <p:cBhvr>
                                        <p:cTn id="54" dur="1000"/>
                                        <p:tgtEl>
                                          <p:spTgt spid="193"/>
                                        </p:tgtEl>
                                      </p:cBhvr>
                                    </p:animEffect>
                                  </p:childTnLst>
                                </p:cTn>
                              </p:par>
                              <p:par>
                                <p:cTn id="55" presetID="10" presetClass="entr" presetSubtype="0" fill="hold" nodeType="withEffect">
                                  <p:stCondLst>
                                    <p:cond delay="0"/>
                                  </p:stCondLst>
                                  <p:childTnLst>
                                    <p:set>
                                      <p:cBhvr>
                                        <p:cTn id="56" dur="1" fill="hold">
                                          <p:stCondLst>
                                            <p:cond delay="0"/>
                                          </p:stCondLst>
                                        </p:cTn>
                                        <p:tgtEl>
                                          <p:spTgt spid="191"/>
                                        </p:tgtEl>
                                        <p:attrNameLst>
                                          <p:attrName>style.visibility</p:attrName>
                                        </p:attrNameLst>
                                      </p:cBhvr>
                                      <p:to>
                                        <p:strVal val="visible"/>
                                      </p:to>
                                    </p:set>
                                    <p:animEffect transition="in" filter="fade">
                                      <p:cBhvr>
                                        <p:cTn id="57" dur="1000"/>
                                        <p:tgtEl>
                                          <p:spTgt spid="191"/>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82"/>
                                        </p:tgtEl>
                                        <p:attrNameLst>
                                          <p:attrName>style.visibility</p:attrName>
                                        </p:attrNameLst>
                                      </p:cBhvr>
                                      <p:to>
                                        <p:strVal val="visible"/>
                                      </p:to>
                                    </p:set>
                                    <p:animEffect transition="in" filter="fade">
                                      <p:cBhvr>
                                        <p:cTn id="62" dur="1000"/>
                                        <p:tgtEl>
                                          <p:spTgt spid="182"/>
                                        </p:tgtEl>
                                      </p:cBhvr>
                                    </p:animEffect>
                                  </p:childTnLst>
                                </p:cTn>
                              </p:par>
                              <p:par>
                                <p:cTn id="63" presetID="10" presetClass="entr" presetSubtype="0" fill="hold" nodeType="withEffect">
                                  <p:stCondLst>
                                    <p:cond delay="0"/>
                                  </p:stCondLst>
                                  <p:childTnLst>
                                    <p:set>
                                      <p:cBhvr>
                                        <p:cTn id="64" dur="1" fill="hold">
                                          <p:stCondLst>
                                            <p:cond delay="0"/>
                                          </p:stCondLst>
                                        </p:cTn>
                                        <p:tgtEl>
                                          <p:spTgt spid="194"/>
                                        </p:tgtEl>
                                        <p:attrNameLst>
                                          <p:attrName>style.visibility</p:attrName>
                                        </p:attrNameLst>
                                      </p:cBhvr>
                                      <p:to>
                                        <p:strVal val="visible"/>
                                      </p:to>
                                    </p:set>
                                    <p:animEffect transition="in" filter="fade">
                                      <p:cBhvr>
                                        <p:cTn id="65" dur="1000"/>
                                        <p:tgtEl>
                                          <p:spTgt spid="194"/>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195"/>
                                        </p:tgtEl>
                                        <p:attrNameLst>
                                          <p:attrName>style.visibility</p:attrName>
                                        </p:attrNameLst>
                                      </p:cBhvr>
                                      <p:to>
                                        <p:strVal val="visible"/>
                                      </p:to>
                                    </p:set>
                                    <p:animEffect transition="in" filter="fade">
                                      <p:cBhvr>
                                        <p:cTn id="70" dur="1000"/>
                                        <p:tgtEl>
                                          <p:spTgt spid="195"/>
                                        </p:tgtEl>
                                      </p:cBhvr>
                                    </p:animEffect>
                                  </p:childTnLst>
                                </p:cTn>
                              </p:par>
                              <p:par>
                                <p:cTn id="71" presetID="10" presetClass="entr" presetSubtype="0" fill="hold" nodeType="withEffect">
                                  <p:stCondLst>
                                    <p:cond delay="0"/>
                                  </p:stCondLst>
                                  <p:childTnLst>
                                    <p:set>
                                      <p:cBhvr>
                                        <p:cTn id="72" dur="1" fill="hold">
                                          <p:stCondLst>
                                            <p:cond delay="0"/>
                                          </p:stCondLst>
                                        </p:cTn>
                                        <p:tgtEl>
                                          <p:spTgt spid="196"/>
                                        </p:tgtEl>
                                        <p:attrNameLst>
                                          <p:attrName>style.visibility</p:attrName>
                                        </p:attrNameLst>
                                      </p:cBhvr>
                                      <p:to>
                                        <p:strVal val="visible"/>
                                      </p:to>
                                    </p:set>
                                    <p:animEffect transition="in" filter="fade">
                                      <p:cBhvr>
                                        <p:cTn id="73" dur="1000"/>
                                        <p:tgtEl>
                                          <p:spTgt spid="196"/>
                                        </p:tgtEl>
                                      </p:cBhvr>
                                    </p:animEffect>
                                  </p:childTnLst>
                                </p:cTn>
                              </p:par>
                              <p:par>
                                <p:cTn id="74" presetID="10" presetClass="entr" presetSubtype="0" fill="hold" nodeType="withEffect">
                                  <p:stCondLst>
                                    <p:cond delay="0"/>
                                  </p:stCondLst>
                                  <p:childTnLst>
                                    <p:set>
                                      <p:cBhvr>
                                        <p:cTn id="75" dur="1" fill="hold">
                                          <p:stCondLst>
                                            <p:cond delay="0"/>
                                          </p:stCondLst>
                                        </p:cTn>
                                        <p:tgtEl>
                                          <p:spTgt spid="197"/>
                                        </p:tgtEl>
                                        <p:attrNameLst>
                                          <p:attrName>style.visibility</p:attrName>
                                        </p:attrNameLst>
                                      </p:cBhvr>
                                      <p:to>
                                        <p:strVal val="visible"/>
                                      </p:to>
                                    </p:set>
                                    <p:animEffect transition="in" filter="fade">
                                      <p:cBhvr>
                                        <p:cTn id="76" dur="1000"/>
                                        <p:tgtEl>
                                          <p:spTgt spid="197"/>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198"/>
                                        </p:tgtEl>
                                        <p:attrNameLst>
                                          <p:attrName>style.visibility</p:attrName>
                                        </p:attrNameLst>
                                      </p:cBhvr>
                                      <p:to>
                                        <p:strVal val="visible"/>
                                      </p:to>
                                    </p:set>
                                    <p:animEffect transition="in" filter="fade">
                                      <p:cBhvr>
                                        <p:cTn id="81" dur="1000"/>
                                        <p:tgtEl>
                                          <p:spTgt spid="198"/>
                                        </p:tgtEl>
                                      </p:cBhvr>
                                    </p:animEffect>
                                  </p:childTnLst>
                                </p:cTn>
                              </p:par>
                              <p:par>
                                <p:cTn id="82" presetID="10" presetClass="entr" presetSubtype="0" fill="hold" nodeType="withEffect">
                                  <p:stCondLst>
                                    <p:cond delay="0"/>
                                  </p:stCondLst>
                                  <p:childTnLst>
                                    <p:set>
                                      <p:cBhvr>
                                        <p:cTn id="83" dur="1" fill="hold">
                                          <p:stCondLst>
                                            <p:cond delay="0"/>
                                          </p:stCondLst>
                                        </p:cTn>
                                        <p:tgtEl>
                                          <p:spTgt spid="199"/>
                                        </p:tgtEl>
                                        <p:attrNameLst>
                                          <p:attrName>style.visibility</p:attrName>
                                        </p:attrNameLst>
                                      </p:cBhvr>
                                      <p:to>
                                        <p:strVal val="visible"/>
                                      </p:to>
                                    </p:set>
                                    <p:animEffect transition="in" filter="fade">
                                      <p:cBhvr>
                                        <p:cTn id="84" dur="1000"/>
                                        <p:tgtEl>
                                          <p:spTgt spid="199"/>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202"/>
                                        </p:tgtEl>
                                        <p:attrNameLst>
                                          <p:attrName>style.visibility</p:attrName>
                                        </p:attrNameLst>
                                      </p:cBhvr>
                                      <p:to>
                                        <p:strVal val="visible"/>
                                      </p:to>
                                    </p:set>
                                    <p:animEffect transition="in" filter="fade">
                                      <p:cBhvr>
                                        <p:cTn id="89" dur="1000"/>
                                        <p:tgtEl>
                                          <p:spTgt spid="202"/>
                                        </p:tgtEl>
                                      </p:cBhvr>
                                    </p:animEffect>
                                  </p:childTnLst>
                                </p:cTn>
                              </p:par>
                              <p:par>
                                <p:cTn id="90" presetID="10" presetClass="entr" presetSubtype="0" fill="hold" nodeType="withEffect">
                                  <p:stCondLst>
                                    <p:cond delay="0"/>
                                  </p:stCondLst>
                                  <p:childTnLst>
                                    <p:set>
                                      <p:cBhvr>
                                        <p:cTn id="91" dur="1" fill="hold">
                                          <p:stCondLst>
                                            <p:cond delay="0"/>
                                          </p:stCondLst>
                                        </p:cTn>
                                        <p:tgtEl>
                                          <p:spTgt spid="203"/>
                                        </p:tgtEl>
                                        <p:attrNameLst>
                                          <p:attrName>style.visibility</p:attrName>
                                        </p:attrNameLst>
                                      </p:cBhvr>
                                      <p:to>
                                        <p:strVal val="visible"/>
                                      </p:to>
                                    </p:set>
                                    <p:animEffect transition="in" filter="fade">
                                      <p:cBhvr>
                                        <p:cTn id="92" dur="1000"/>
                                        <p:tgtEl>
                                          <p:spTgt spid="203"/>
                                        </p:tgtEl>
                                      </p:cBhvr>
                                    </p:animEffect>
                                  </p:childTnLst>
                                </p:cTn>
                              </p:par>
                              <p:par>
                                <p:cTn id="93" presetID="10" presetClass="entr" presetSubtype="0" fill="hold" nodeType="withEffect">
                                  <p:stCondLst>
                                    <p:cond delay="0"/>
                                  </p:stCondLst>
                                  <p:childTnLst>
                                    <p:set>
                                      <p:cBhvr>
                                        <p:cTn id="94" dur="1" fill="hold">
                                          <p:stCondLst>
                                            <p:cond delay="0"/>
                                          </p:stCondLst>
                                        </p:cTn>
                                        <p:tgtEl>
                                          <p:spTgt spid="200"/>
                                        </p:tgtEl>
                                        <p:attrNameLst>
                                          <p:attrName>style.visibility</p:attrName>
                                        </p:attrNameLst>
                                      </p:cBhvr>
                                      <p:to>
                                        <p:strVal val="visible"/>
                                      </p:to>
                                    </p:set>
                                    <p:animEffect transition="in" filter="fade">
                                      <p:cBhvr>
                                        <p:cTn id="95" dur="1000"/>
                                        <p:tgtEl>
                                          <p:spTgt spid="200"/>
                                        </p:tgtEl>
                                      </p:cBhvr>
                                    </p:animEffect>
                                  </p:childTnLst>
                                </p:cTn>
                              </p:par>
                              <p:par>
                                <p:cTn id="96" presetID="10" presetClass="entr" presetSubtype="0" fill="hold" nodeType="withEffect">
                                  <p:stCondLst>
                                    <p:cond delay="0"/>
                                  </p:stCondLst>
                                  <p:childTnLst>
                                    <p:set>
                                      <p:cBhvr>
                                        <p:cTn id="97" dur="1" fill="hold">
                                          <p:stCondLst>
                                            <p:cond delay="0"/>
                                          </p:stCondLst>
                                        </p:cTn>
                                        <p:tgtEl>
                                          <p:spTgt spid="201"/>
                                        </p:tgtEl>
                                        <p:attrNameLst>
                                          <p:attrName>style.visibility</p:attrName>
                                        </p:attrNameLst>
                                      </p:cBhvr>
                                      <p:to>
                                        <p:strVal val="visible"/>
                                      </p:to>
                                    </p:set>
                                    <p:animEffect transition="in" filter="fade">
                                      <p:cBhvr>
                                        <p:cTn id="98" dur="1000"/>
                                        <p:tgtEl>
                                          <p:spTgt spid="201"/>
                                        </p:tgtEl>
                                      </p:cBhvr>
                                    </p:animEffect>
                                  </p:childTnLst>
                                </p:cTn>
                              </p:par>
                              <p:par>
                                <p:cTn id="99" presetID="10" presetClass="entr" presetSubtype="0" fill="hold" nodeType="withEffect">
                                  <p:stCondLst>
                                    <p:cond delay="0"/>
                                  </p:stCondLst>
                                  <p:childTnLst>
                                    <p:set>
                                      <p:cBhvr>
                                        <p:cTn id="100" dur="1" fill="hold">
                                          <p:stCondLst>
                                            <p:cond delay="0"/>
                                          </p:stCondLst>
                                        </p:cTn>
                                        <p:tgtEl>
                                          <p:spTgt spid="204"/>
                                        </p:tgtEl>
                                        <p:attrNameLst>
                                          <p:attrName>style.visibility</p:attrName>
                                        </p:attrNameLst>
                                      </p:cBhvr>
                                      <p:to>
                                        <p:strVal val="visible"/>
                                      </p:to>
                                    </p:set>
                                    <p:animEffect transition="in" filter="fade">
                                      <p:cBhvr>
                                        <p:cTn id="101" dur="1000"/>
                                        <p:tgtEl>
                                          <p:spTgt spid="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C59FE-CF09-40AE-1D23-456E8BD9BCA6}"/>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3876276-B577-C663-0FA7-3B07C2AD03E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30663691"/>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cxnSp>
        <p:nvCxnSpPr>
          <p:cNvPr id="54" name="Google Shape;54;p13"/>
          <p:cNvCxnSpPr/>
          <p:nvPr/>
        </p:nvCxnSpPr>
        <p:spPr>
          <a:xfrm>
            <a:off x="1162463" y="3823300"/>
            <a:ext cx="4076550" cy="0"/>
          </a:xfrm>
          <a:prstGeom prst="straightConnector1">
            <a:avLst/>
          </a:prstGeom>
          <a:noFill/>
          <a:ln w="38100" cap="flat" cmpd="sng">
            <a:solidFill>
              <a:schemeClr val="dk2"/>
            </a:solidFill>
            <a:prstDash val="solid"/>
            <a:round/>
            <a:headEnd type="none" w="med" len="med"/>
            <a:tailEnd type="triangle" w="med" len="med"/>
          </a:ln>
        </p:spPr>
      </p:cxnSp>
      <p:sp>
        <p:nvSpPr>
          <p:cNvPr id="55" name="Google Shape;55;p13"/>
          <p:cNvSpPr/>
          <p:nvPr/>
        </p:nvSpPr>
        <p:spPr>
          <a:xfrm>
            <a:off x="1162463" y="3209750"/>
            <a:ext cx="938700" cy="318000"/>
          </a:xfrm>
          <a:prstGeom prst="rect">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56" name="Google Shape;56;p13"/>
          <p:cNvSpPr/>
          <p:nvPr/>
        </p:nvSpPr>
        <p:spPr>
          <a:xfrm>
            <a:off x="2222963" y="3209750"/>
            <a:ext cx="938700" cy="318000"/>
          </a:xfrm>
          <a:prstGeom prst="rect">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57" name="Google Shape;57;p13"/>
          <p:cNvSpPr/>
          <p:nvPr/>
        </p:nvSpPr>
        <p:spPr>
          <a:xfrm>
            <a:off x="2101163" y="2539200"/>
            <a:ext cx="121800" cy="318000"/>
          </a:xfrm>
          <a:prstGeom prst="rect">
            <a:avLst/>
          </a:prstGeom>
          <a:solidFill>
            <a:srgbClr val="FCE5CD"/>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58" name="Google Shape;58;p13"/>
          <p:cNvSpPr/>
          <p:nvPr/>
        </p:nvSpPr>
        <p:spPr>
          <a:xfrm>
            <a:off x="3161663" y="2539200"/>
            <a:ext cx="121800" cy="318000"/>
          </a:xfrm>
          <a:prstGeom prst="rect">
            <a:avLst/>
          </a:prstGeom>
          <a:solidFill>
            <a:srgbClr val="FCE5CD"/>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59" name="Google Shape;59;p13"/>
          <p:cNvSpPr/>
          <p:nvPr/>
        </p:nvSpPr>
        <p:spPr>
          <a:xfrm>
            <a:off x="3283463" y="3209750"/>
            <a:ext cx="938700" cy="318000"/>
          </a:xfrm>
          <a:prstGeom prst="rect">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0" name="Google Shape;60;p13"/>
          <p:cNvSpPr/>
          <p:nvPr/>
        </p:nvSpPr>
        <p:spPr>
          <a:xfrm>
            <a:off x="4222163" y="2539200"/>
            <a:ext cx="121800" cy="318000"/>
          </a:xfrm>
          <a:prstGeom prst="rect">
            <a:avLst/>
          </a:prstGeom>
          <a:solidFill>
            <a:srgbClr val="FCE5CD"/>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1" name="Google Shape;61;p13"/>
          <p:cNvSpPr/>
          <p:nvPr/>
        </p:nvSpPr>
        <p:spPr>
          <a:xfrm>
            <a:off x="4343963" y="3209750"/>
            <a:ext cx="495150" cy="318000"/>
          </a:xfrm>
          <a:prstGeom prst="rect">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2" name="Google Shape;62;p13"/>
          <p:cNvSpPr txBox="1"/>
          <p:nvPr/>
        </p:nvSpPr>
        <p:spPr>
          <a:xfrm>
            <a:off x="151543" y="2421150"/>
            <a:ext cx="863100" cy="553984"/>
          </a:xfrm>
          <a:prstGeom prst="rect">
            <a:avLst/>
          </a:prstGeom>
          <a:noFill/>
          <a:ln>
            <a:noFill/>
          </a:ln>
        </p:spPr>
        <p:txBody>
          <a:bodyPr spcFirstLastPara="1" wrap="square" lIns="45713" tIns="45713" rIns="45713" bIns="45713" anchor="t" anchorCtr="0">
            <a:spAutoFit/>
          </a:bodyPr>
          <a:lstStyle/>
          <a:p>
            <a:pPr algn="r"/>
            <a:r>
              <a:rPr lang="en" sz="1500"/>
              <a:t>Periodic</a:t>
            </a:r>
            <a:endParaRPr sz="1500"/>
          </a:p>
          <a:p>
            <a:pPr algn="r"/>
            <a:r>
              <a:rPr lang="en" sz="1500"/>
              <a:t>Function</a:t>
            </a:r>
            <a:endParaRPr sz="1500"/>
          </a:p>
        </p:txBody>
      </p:sp>
      <p:sp>
        <p:nvSpPr>
          <p:cNvPr id="63" name="Google Shape;63;p13"/>
          <p:cNvSpPr txBox="1"/>
          <p:nvPr/>
        </p:nvSpPr>
        <p:spPr>
          <a:xfrm>
            <a:off x="151543" y="3207125"/>
            <a:ext cx="863100" cy="323151"/>
          </a:xfrm>
          <a:prstGeom prst="rect">
            <a:avLst/>
          </a:prstGeom>
          <a:noFill/>
          <a:ln>
            <a:noFill/>
          </a:ln>
        </p:spPr>
        <p:txBody>
          <a:bodyPr spcFirstLastPara="1" wrap="square" lIns="45713" tIns="45713" rIns="45713" bIns="45713" anchor="t" anchorCtr="0">
            <a:spAutoFit/>
          </a:bodyPr>
          <a:lstStyle/>
          <a:p>
            <a:pPr algn="r"/>
            <a:r>
              <a:rPr lang="en" sz="1500"/>
              <a:t>Task A</a:t>
            </a:r>
            <a:endParaRPr sz="1500"/>
          </a:p>
        </p:txBody>
      </p:sp>
      <p:cxnSp>
        <p:nvCxnSpPr>
          <p:cNvPr id="64" name="Google Shape;64;p13"/>
          <p:cNvCxnSpPr/>
          <p:nvPr/>
        </p:nvCxnSpPr>
        <p:spPr>
          <a:xfrm>
            <a:off x="2101163" y="2857200"/>
            <a:ext cx="0" cy="1244250"/>
          </a:xfrm>
          <a:prstGeom prst="straightConnector1">
            <a:avLst/>
          </a:prstGeom>
          <a:noFill/>
          <a:ln w="38100" cap="flat" cmpd="sng">
            <a:solidFill>
              <a:schemeClr val="dk2"/>
            </a:solidFill>
            <a:prstDash val="dash"/>
            <a:round/>
            <a:headEnd type="none" w="med" len="med"/>
            <a:tailEnd type="none" w="med" len="med"/>
          </a:ln>
        </p:spPr>
      </p:cxnSp>
      <p:cxnSp>
        <p:nvCxnSpPr>
          <p:cNvPr id="65" name="Google Shape;65;p13"/>
          <p:cNvCxnSpPr/>
          <p:nvPr/>
        </p:nvCxnSpPr>
        <p:spPr>
          <a:xfrm>
            <a:off x="3161663" y="2857200"/>
            <a:ext cx="0" cy="1244250"/>
          </a:xfrm>
          <a:prstGeom prst="straightConnector1">
            <a:avLst/>
          </a:prstGeom>
          <a:noFill/>
          <a:ln w="38100" cap="flat" cmpd="sng">
            <a:solidFill>
              <a:schemeClr val="dk2"/>
            </a:solidFill>
            <a:prstDash val="dash"/>
            <a:round/>
            <a:headEnd type="none" w="med" len="med"/>
            <a:tailEnd type="none" w="med" len="med"/>
          </a:ln>
        </p:spPr>
      </p:cxnSp>
      <p:cxnSp>
        <p:nvCxnSpPr>
          <p:cNvPr id="66" name="Google Shape;66;p13"/>
          <p:cNvCxnSpPr/>
          <p:nvPr/>
        </p:nvCxnSpPr>
        <p:spPr>
          <a:xfrm>
            <a:off x="4222163" y="2857200"/>
            <a:ext cx="0" cy="1244250"/>
          </a:xfrm>
          <a:prstGeom prst="straightConnector1">
            <a:avLst/>
          </a:prstGeom>
          <a:noFill/>
          <a:ln w="38100" cap="flat" cmpd="sng">
            <a:solidFill>
              <a:schemeClr val="dk2"/>
            </a:solidFill>
            <a:prstDash val="dash"/>
            <a:round/>
            <a:headEnd type="none" w="med" len="med"/>
            <a:tailEnd type="none" w="med" len="med"/>
          </a:ln>
        </p:spPr>
      </p:cxnSp>
      <p:sp>
        <p:nvSpPr>
          <p:cNvPr id="67" name="Google Shape;67;p13"/>
          <p:cNvSpPr txBox="1"/>
          <p:nvPr/>
        </p:nvSpPr>
        <p:spPr>
          <a:xfrm>
            <a:off x="1775213" y="4101450"/>
            <a:ext cx="651900" cy="318000"/>
          </a:xfrm>
          <a:prstGeom prst="rect">
            <a:avLst/>
          </a:prstGeom>
          <a:noFill/>
          <a:ln>
            <a:noFill/>
          </a:ln>
        </p:spPr>
        <p:txBody>
          <a:bodyPr spcFirstLastPara="1" wrap="square" lIns="45713" tIns="45713" rIns="45713" bIns="45713" anchor="ctr" anchorCtr="0">
            <a:noAutofit/>
          </a:bodyPr>
          <a:lstStyle/>
          <a:p>
            <a:pPr algn="ctr"/>
            <a:r>
              <a:rPr lang="en" sz="1500"/>
              <a:t>220</a:t>
            </a:r>
            <a:endParaRPr sz="1500"/>
          </a:p>
        </p:txBody>
      </p:sp>
      <p:sp>
        <p:nvSpPr>
          <p:cNvPr id="68" name="Google Shape;68;p13"/>
          <p:cNvSpPr txBox="1"/>
          <p:nvPr/>
        </p:nvSpPr>
        <p:spPr>
          <a:xfrm>
            <a:off x="2835713" y="4118850"/>
            <a:ext cx="651900" cy="318000"/>
          </a:xfrm>
          <a:prstGeom prst="rect">
            <a:avLst/>
          </a:prstGeom>
          <a:noFill/>
          <a:ln>
            <a:noFill/>
          </a:ln>
        </p:spPr>
        <p:txBody>
          <a:bodyPr spcFirstLastPara="1" wrap="square" lIns="45713" tIns="45713" rIns="45713" bIns="45713" anchor="ctr" anchorCtr="0">
            <a:noAutofit/>
          </a:bodyPr>
          <a:lstStyle/>
          <a:p>
            <a:pPr algn="ctr"/>
            <a:r>
              <a:rPr lang="en" sz="1500"/>
              <a:t>440</a:t>
            </a:r>
            <a:endParaRPr sz="1500"/>
          </a:p>
        </p:txBody>
      </p:sp>
      <p:sp>
        <p:nvSpPr>
          <p:cNvPr id="69" name="Google Shape;69;p13"/>
          <p:cNvSpPr txBox="1"/>
          <p:nvPr/>
        </p:nvSpPr>
        <p:spPr>
          <a:xfrm>
            <a:off x="3896213" y="4118850"/>
            <a:ext cx="651900" cy="318000"/>
          </a:xfrm>
          <a:prstGeom prst="rect">
            <a:avLst/>
          </a:prstGeom>
          <a:noFill/>
          <a:ln>
            <a:noFill/>
          </a:ln>
        </p:spPr>
        <p:txBody>
          <a:bodyPr spcFirstLastPara="1" wrap="square" lIns="45713" tIns="45713" rIns="45713" bIns="45713" anchor="ctr" anchorCtr="0">
            <a:noAutofit/>
          </a:bodyPr>
          <a:lstStyle/>
          <a:p>
            <a:pPr algn="ctr"/>
            <a:r>
              <a:rPr lang="en" sz="1500"/>
              <a:t>660</a:t>
            </a:r>
            <a:endParaRPr sz="1500"/>
          </a:p>
        </p:txBody>
      </p:sp>
      <p:sp>
        <p:nvSpPr>
          <p:cNvPr id="70" name="Google Shape;70;p13"/>
          <p:cNvSpPr txBox="1"/>
          <p:nvPr/>
        </p:nvSpPr>
        <p:spPr>
          <a:xfrm>
            <a:off x="4548113" y="3823300"/>
            <a:ext cx="973500" cy="318000"/>
          </a:xfrm>
          <a:prstGeom prst="rect">
            <a:avLst/>
          </a:prstGeom>
          <a:noFill/>
          <a:ln>
            <a:noFill/>
          </a:ln>
        </p:spPr>
        <p:txBody>
          <a:bodyPr spcFirstLastPara="1" wrap="square" lIns="45713" tIns="45713" rIns="45713" bIns="45713" anchor="ctr" anchorCtr="0">
            <a:noAutofit/>
          </a:bodyPr>
          <a:lstStyle/>
          <a:p>
            <a:pPr algn="ctr"/>
            <a:r>
              <a:rPr lang="en" sz="1500"/>
              <a:t>Time (ms)</a:t>
            </a:r>
            <a:endParaRPr sz="1500"/>
          </a:p>
        </p:txBody>
      </p:sp>
      <p:sp>
        <p:nvSpPr>
          <p:cNvPr id="71" name="Google Shape;71;p13"/>
          <p:cNvSpPr txBox="1"/>
          <p:nvPr/>
        </p:nvSpPr>
        <p:spPr>
          <a:xfrm>
            <a:off x="1065375" y="954088"/>
            <a:ext cx="7013250" cy="461651"/>
          </a:xfrm>
          <a:prstGeom prst="rect">
            <a:avLst/>
          </a:prstGeom>
          <a:noFill/>
          <a:ln>
            <a:noFill/>
          </a:ln>
        </p:spPr>
        <p:txBody>
          <a:bodyPr spcFirstLastPara="1" wrap="square" lIns="45713" tIns="45713" rIns="45713" bIns="45713" anchor="t" anchorCtr="0">
            <a:spAutoFit/>
          </a:bodyPr>
          <a:lstStyle/>
          <a:p>
            <a:pPr algn="ctr"/>
            <a:r>
              <a:rPr lang="en" sz="2400"/>
              <a:t>Timers</a:t>
            </a:r>
            <a:endParaRPr sz="2400"/>
          </a:p>
        </p:txBody>
      </p:sp>
      <p:sp>
        <p:nvSpPr>
          <p:cNvPr id="72" name="Google Shape;72;p13"/>
          <p:cNvSpPr txBox="1"/>
          <p:nvPr/>
        </p:nvSpPr>
        <p:spPr>
          <a:xfrm>
            <a:off x="5823550" y="2698275"/>
            <a:ext cx="3168900" cy="357776"/>
          </a:xfrm>
          <a:prstGeom prst="rect">
            <a:avLst/>
          </a:prstGeom>
          <a:noFill/>
          <a:ln>
            <a:noFill/>
          </a:ln>
        </p:spPr>
        <p:txBody>
          <a:bodyPr spcFirstLastPara="1" wrap="square" lIns="45713" tIns="45713" rIns="45713" bIns="45713" anchor="t" anchorCtr="0">
            <a:spAutoFit/>
          </a:bodyPr>
          <a:lstStyle/>
          <a:p>
            <a:pPr>
              <a:lnSpc>
                <a:spcPct val="115000"/>
              </a:lnSpc>
            </a:pPr>
            <a:r>
              <a:rPr lang="en" sz="1500" b="1"/>
              <a:t>Possible Approaches</a:t>
            </a:r>
            <a:endParaRPr sz="1500"/>
          </a:p>
        </p:txBody>
      </p:sp>
      <p:sp>
        <p:nvSpPr>
          <p:cNvPr id="73" name="Google Shape;73;p13"/>
          <p:cNvSpPr txBox="1"/>
          <p:nvPr/>
        </p:nvSpPr>
        <p:spPr>
          <a:xfrm>
            <a:off x="5823550" y="2963225"/>
            <a:ext cx="3168900" cy="357776"/>
          </a:xfrm>
          <a:prstGeom prst="rect">
            <a:avLst/>
          </a:prstGeom>
          <a:noFill/>
          <a:ln>
            <a:noFill/>
          </a:ln>
        </p:spPr>
        <p:txBody>
          <a:bodyPr spcFirstLastPara="1" wrap="square" lIns="45713" tIns="45713" rIns="45713" bIns="45713" anchor="t" anchorCtr="0">
            <a:spAutoFit/>
          </a:bodyPr>
          <a:lstStyle/>
          <a:p>
            <a:pPr marL="228600" indent="-209550">
              <a:lnSpc>
                <a:spcPct val="115000"/>
              </a:lnSpc>
              <a:buClr>
                <a:schemeClr val="dk1"/>
              </a:buClr>
              <a:buSzPts val="3000"/>
              <a:buChar char="●"/>
            </a:pPr>
            <a:r>
              <a:rPr lang="en" sz="1500">
                <a:solidFill>
                  <a:schemeClr val="dk1"/>
                </a:solidFill>
              </a:rPr>
              <a:t>New task with vTaskDelay()</a:t>
            </a:r>
            <a:endParaRPr sz="900"/>
          </a:p>
        </p:txBody>
      </p:sp>
      <p:sp>
        <p:nvSpPr>
          <p:cNvPr id="74" name="Google Shape;74;p13"/>
          <p:cNvSpPr txBox="1"/>
          <p:nvPr/>
        </p:nvSpPr>
        <p:spPr>
          <a:xfrm>
            <a:off x="5823550" y="3229925"/>
            <a:ext cx="3168900" cy="357776"/>
          </a:xfrm>
          <a:prstGeom prst="rect">
            <a:avLst/>
          </a:prstGeom>
          <a:noFill/>
          <a:ln>
            <a:noFill/>
          </a:ln>
        </p:spPr>
        <p:txBody>
          <a:bodyPr spcFirstLastPara="1" wrap="square" lIns="45713" tIns="45713" rIns="45713" bIns="45713" anchor="t" anchorCtr="0">
            <a:spAutoFit/>
          </a:bodyPr>
          <a:lstStyle/>
          <a:p>
            <a:pPr marL="228600" indent="-209550">
              <a:lnSpc>
                <a:spcPct val="115000"/>
              </a:lnSpc>
              <a:buClr>
                <a:schemeClr val="dk1"/>
              </a:buClr>
              <a:buSzPts val="3000"/>
              <a:buChar char="●"/>
            </a:pPr>
            <a:r>
              <a:rPr lang="en" sz="1500">
                <a:solidFill>
                  <a:schemeClr val="dk1"/>
                </a:solidFill>
              </a:rPr>
              <a:t>Task A with xTaskGetTickCount()</a:t>
            </a:r>
            <a:endParaRPr sz="900"/>
          </a:p>
        </p:txBody>
      </p:sp>
      <p:sp>
        <p:nvSpPr>
          <p:cNvPr id="75" name="Google Shape;75;p13"/>
          <p:cNvSpPr txBox="1"/>
          <p:nvPr/>
        </p:nvSpPr>
        <p:spPr>
          <a:xfrm>
            <a:off x="5823550" y="3496625"/>
            <a:ext cx="3168900" cy="357776"/>
          </a:xfrm>
          <a:prstGeom prst="rect">
            <a:avLst/>
          </a:prstGeom>
          <a:noFill/>
          <a:ln>
            <a:noFill/>
          </a:ln>
        </p:spPr>
        <p:txBody>
          <a:bodyPr spcFirstLastPara="1" wrap="square" lIns="45713" tIns="45713" rIns="45713" bIns="45713" anchor="t" anchorCtr="0">
            <a:spAutoFit/>
          </a:bodyPr>
          <a:lstStyle/>
          <a:p>
            <a:pPr marL="228600" indent="-209550">
              <a:lnSpc>
                <a:spcPct val="115000"/>
              </a:lnSpc>
              <a:buClr>
                <a:schemeClr val="dk1"/>
              </a:buClr>
              <a:buSzPts val="3000"/>
              <a:buChar char="●"/>
            </a:pPr>
            <a:r>
              <a:rPr lang="en" sz="1500">
                <a:solidFill>
                  <a:schemeClr val="dk1"/>
                </a:solidFill>
              </a:rPr>
              <a:t>Hardware timer</a:t>
            </a:r>
            <a:endParaRPr sz="900"/>
          </a:p>
        </p:txBody>
      </p:sp>
      <p:sp>
        <p:nvSpPr>
          <p:cNvPr id="76" name="Google Shape;76;p13"/>
          <p:cNvSpPr txBox="1"/>
          <p:nvPr/>
        </p:nvSpPr>
        <p:spPr>
          <a:xfrm>
            <a:off x="5823550" y="3782575"/>
            <a:ext cx="3168900" cy="357776"/>
          </a:xfrm>
          <a:prstGeom prst="rect">
            <a:avLst/>
          </a:prstGeom>
          <a:noFill/>
          <a:ln>
            <a:noFill/>
          </a:ln>
        </p:spPr>
        <p:txBody>
          <a:bodyPr spcFirstLastPara="1" wrap="square" lIns="45713" tIns="45713" rIns="45713" bIns="45713" anchor="t" anchorCtr="0">
            <a:spAutoFit/>
          </a:bodyPr>
          <a:lstStyle/>
          <a:p>
            <a:pPr marL="228600" indent="-209550">
              <a:lnSpc>
                <a:spcPct val="115000"/>
              </a:lnSpc>
              <a:buClr>
                <a:schemeClr val="dk1"/>
              </a:buClr>
              <a:buSzPts val="3000"/>
              <a:buChar char="●"/>
            </a:pPr>
            <a:r>
              <a:rPr lang="en" sz="1500">
                <a:solidFill>
                  <a:schemeClr val="dk1"/>
                </a:solidFill>
              </a:rPr>
              <a:t>Software timer</a:t>
            </a:r>
            <a:endParaRPr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fade">
                                      <p:cBhvr>
                                        <p:cTn id="7" dur="1000"/>
                                        <p:tgtEl>
                                          <p:spTgt spid="7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3"/>
                                        </p:tgtEl>
                                        <p:attrNameLst>
                                          <p:attrName>style.visibility</p:attrName>
                                        </p:attrNameLst>
                                      </p:cBhvr>
                                      <p:to>
                                        <p:strVal val="visible"/>
                                      </p:to>
                                    </p:set>
                                    <p:animEffect transition="in" filter="fade">
                                      <p:cBhvr>
                                        <p:cTn id="12" dur="1000"/>
                                        <p:tgtEl>
                                          <p:spTgt spid="7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4"/>
                                        </p:tgtEl>
                                        <p:attrNameLst>
                                          <p:attrName>style.visibility</p:attrName>
                                        </p:attrNameLst>
                                      </p:cBhvr>
                                      <p:to>
                                        <p:strVal val="visible"/>
                                      </p:to>
                                    </p:set>
                                    <p:animEffect transition="in" filter="fade">
                                      <p:cBhvr>
                                        <p:cTn id="17" dur="1000"/>
                                        <p:tgtEl>
                                          <p:spTgt spid="7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5"/>
                                        </p:tgtEl>
                                        <p:attrNameLst>
                                          <p:attrName>style.visibility</p:attrName>
                                        </p:attrNameLst>
                                      </p:cBhvr>
                                      <p:to>
                                        <p:strVal val="visible"/>
                                      </p:to>
                                    </p:set>
                                    <p:animEffect transition="in" filter="fade">
                                      <p:cBhvr>
                                        <p:cTn id="22" dur="1000"/>
                                        <p:tgtEl>
                                          <p:spTgt spid="7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6"/>
                                        </p:tgtEl>
                                        <p:attrNameLst>
                                          <p:attrName>style.visibility</p:attrName>
                                        </p:attrNameLst>
                                      </p:cBhvr>
                                      <p:to>
                                        <p:strVal val="visible"/>
                                      </p:to>
                                    </p:set>
                                    <p:animEffect transition="in" filter="fade">
                                      <p:cBhvr>
                                        <p:cTn id="27" dur="10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4"/>
          <p:cNvSpPr txBox="1"/>
          <p:nvPr/>
        </p:nvSpPr>
        <p:spPr>
          <a:xfrm>
            <a:off x="1065375" y="954088"/>
            <a:ext cx="7013250" cy="461651"/>
          </a:xfrm>
          <a:prstGeom prst="rect">
            <a:avLst/>
          </a:prstGeom>
          <a:noFill/>
          <a:ln>
            <a:noFill/>
          </a:ln>
        </p:spPr>
        <p:txBody>
          <a:bodyPr spcFirstLastPara="1" wrap="square" lIns="45713" tIns="45713" rIns="45713" bIns="45713" anchor="t" anchorCtr="0">
            <a:spAutoFit/>
          </a:bodyPr>
          <a:lstStyle/>
          <a:p>
            <a:pPr algn="ctr"/>
            <a:r>
              <a:rPr lang="en" sz="2400"/>
              <a:t>Software Timers in FreeRTOS</a:t>
            </a:r>
            <a:endParaRPr sz="2400"/>
          </a:p>
        </p:txBody>
      </p:sp>
      <p:sp>
        <p:nvSpPr>
          <p:cNvPr id="82" name="Google Shape;82;p14"/>
          <p:cNvSpPr/>
          <p:nvPr/>
        </p:nvSpPr>
        <p:spPr>
          <a:xfrm>
            <a:off x="4237500" y="3346525"/>
            <a:ext cx="133800" cy="70875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3" name="Google Shape;83;p14"/>
          <p:cNvSpPr/>
          <p:nvPr/>
        </p:nvSpPr>
        <p:spPr>
          <a:xfrm>
            <a:off x="4371302" y="3346525"/>
            <a:ext cx="133800" cy="70875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4" name="Google Shape;84;p14"/>
          <p:cNvSpPr/>
          <p:nvPr/>
        </p:nvSpPr>
        <p:spPr>
          <a:xfrm>
            <a:off x="4505103" y="3346525"/>
            <a:ext cx="133800" cy="70875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5" name="Google Shape;85;p14"/>
          <p:cNvSpPr/>
          <p:nvPr/>
        </p:nvSpPr>
        <p:spPr>
          <a:xfrm>
            <a:off x="4638904" y="3346525"/>
            <a:ext cx="133800" cy="70875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6" name="Google Shape;86;p14"/>
          <p:cNvSpPr/>
          <p:nvPr/>
        </p:nvSpPr>
        <p:spPr>
          <a:xfrm>
            <a:off x="4772699" y="3346525"/>
            <a:ext cx="133800" cy="708750"/>
          </a:xfrm>
          <a:prstGeom prst="rect">
            <a:avLst/>
          </a:prstGeom>
          <a:solidFill>
            <a:schemeClr val="lt2"/>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7" name="Google Shape;87;p14"/>
          <p:cNvSpPr txBox="1"/>
          <p:nvPr/>
        </p:nvSpPr>
        <p:spPr>
          <a:xfrm>
            <a:off x="3898350" y="2540200"/>
            <a:ext cx="1347300" cy="790350"/>
          </a:xfrm>
          <a:prstGeom prst="rect">
            <a:avLst/>
          </a:prstGeom>
          <a:noFill/>
          <a:ln>
            <a:noFill/>
          </a:ln>
        </p:spPr>
        <p:txBody>
          <a:bodyPr spcFirstLastPara="1" wrap="square" lIns="45713" tIns="45713" rIns="45713" bIns="45713" anchor="ctr" anchorCtr="0">
            <a:noAutofit/>
          </a:bodyPr>
          <a:lstStyle/>
          <a:p>
            <a:pPr algn="ctr"/>
            <a:r>
              <a:rPr lang="en" sz="1500"/>
              <a:t>Timer</a:t>
            </a:r>
            <a:endParaRPr sz="1500"/>
          </a:p>
          <a:p>
            <a:pPr algn="ctr"/>
            <a:r>
              <a:rPr lang="en" sz="1500"/>
              <a:t>Command</a:t>
            </a:r>
            <a:endParaRPr sz="1500"/>
          </a:p>
          <a:p>
            <a:pPr algn="ctr"/>
            <a:r>
              <a:rPr lang="en" sz="1500"/>
              <a:t>Queue</a:t>
            </a:r>
            <a:endParaRPr sz="1500"/>
          </a:p>
        </p:txBody>
      </p:sp>
      <p:sp>
        <p:nvSpPr>
          <p:cNvPr id="88" name="Google Shape;88;p14"/>
          <p:cNvSpPr/>
          <p:nvPr/>
        </p:nvSpPr>
        <p:spPr>
          <a:xfrm>
            <a:off x="6141163" y="3102025"/>
            <a:ext cx="1197750" cy="1197750"/>
          </a:xfrm>
          <a:prstGeom prst="ellipse">
            <a:avLst/>
          </a:prstGeom>
          <a:solidFill>
            <a:srgbClr val="CFE2F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buClr>
                <a:schemeClr val="dk1"/>
              </a:buClr>
              <a:buSzPts val="1100"/>
            </a:pPr>
            <a:r>
              <a:rPr lang="en" sz="1500">
                <a:solidFill>
                  <a:schemeClr val="dk1"/>
                </a:solidFill>
              </a:rPr>
              <a:t>Timer Service</a:t>
            </a:r>
            <a:endParaRPr sz="1500">
              <a:solidFill>
                <a:schemeClr val="dk1"/>
              </a:solidFill>
            </a:endParaRPr>
          </a:p>
          <a:p>
            <a:pPr algn="ctr">
              <a:buClr>
                <a:schemeClr val="dk1"/>
              </a:buClr>
              <a:buSzPts val="1100"/>
            </a:pPr>
            <a:r>
              <a:rPr lang="en" sz="1500">
                <a:solidFill>
                  <a:schemeClr val="dk1"/>
                </a:solidFill>
              </a:rPr>
              <a:t>Task</a:t>
            </a:r>
            <a:endParaRPr sz="900"/>
          </a:p>
        </p:txBody>
      </p:sp>
      <p:sp>
        <p:nvSpPr>
          <p:cNvPr id="89" name="Google Shape;89;p14"/>
          <p:cNvSpPr/>
          <p:nvPr/>
        </p:nvSpPr>
        <p:spPr>
          <a:xfrm>
            <a:off x="1805088" y="2272882"/>
            <a:ext cx="1197750" cy="1197750"/>
          </a:xfrm>
          <a:prstGeom prst="ellipse">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solidFill>
                  <a:schemeClr val="dk1"/>
                </a:solidFill>
              </a:rPr>
              <a:t>Task A</a:t>
            </a:r>
            <a:endParaRPr sz="900"/>
          </a:p>
        </p:txBody>
      </p:sp>
      <p:sp>
        <p:nvSpPr>
          <p:cNvPr id="90" name="Google Shape;90;p14"/>
          <p:cNvSpPr/>
          <p:nvPr/>
        </p:nvSpPr>
        <p:spPr>
          <a:xfrm>
            <a:off x="1805088" y="4129144"/>
            <a:ext cx="1197750" cy="1197750"/>
          </a:xfrm>
          <a:prstGeom prst="ellipse">
            <a:avLst/>
          </a:prstGeom>
          <a:solidFill>
            <a:srgbClr val="FCE5CD"/>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solidFill>
                  <a:schemeClr val="dk1"/>
                </a:solidFill>
              </a:rPr>
              <a:t>Task B</a:t>
            </a:r>
            <a:endParaRPr sz="900"/>
          </a:p>
        </p:txBody>
      </p:sp>
      <p:sp>
        <p:nvSpPr>
          <p:cNvPr id="91" name="Google Shape;91;p14"/>
          <p:cNvSpPr/>
          <p:nvPr/>
        </p:nvSpPr>
        <p:spPr>
          <a:xfrm>
            <a:off x="6071038" y="2434438"/>
            <a:ext cx="133800" cy="341250"/>
          </a:xfrm>
          <a:prstGeom prst="rect">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92" name="Google Shape;92;p14"/>
          <p:cNvSpPr/>
          <p:nvPr/>
        </p:nvSpPr>
        <p:spPr>
          <a:xfrm>
            <a:off x="6204839" y="2434438"/>
            <a:ext cx="133800" cy="341250"/>
          </a:xfrm>
          <a:prstGeom prst="rect">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93" name="Google Shape;93;p14"/>
          <p:cNvSpPr/>
          <p:nvPr/>
        </p:nvSpPr>
        <p:spPr>
          <a:xfrm>
            <a:off x="6338641" y="2434438"/>
            <a:ext cx="133800" cy="341250"/>
          </a:xfrm>
          <a:prstGeom prst="rect">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94" name="Google Shape;94;p14"/>
          <p:cNvSpPr/>
          <p:nvPr/>
        </p:nvSpPr>
        <p:spPr>
          <a:xfrm>
            <a:off x="6472442" y="2434438"/>
            <a:ext cx="133800" cy="341250"/>
          </a:xfrm>
          <a:prstGeom prst="rect">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95" name="Google Shape;95;p14"/>
          <p:cNvSpPr/>
          <p:nvPr/>
        </p:nvSpPr>
        <p:spPr>
          <a:xfrm>
            <a:off x="6606238" y="2434438"/>
            <a:ext cx="133800" cy="341250"/>
          </a:xfrm>
          <a:prstGeom prst="rect">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96" name="Google Shape;96;p14"/>
          <p:cNvSpPr/>
          <p:nvPr/>
        </p:nvSpPr>
        <p:spPr>
          <a:xfrm>
            <a:off x="6740042" y="2434438"/>
            <a:ext cx="133800" cy="341250"/>
          </a:xfrm>
          <a:prstGeom prst="rect">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97" name="Google Shape;97;p14"/>
          <p:cNvSpPr/>
          <p:nvPr/>
        </p:nvSpPr>
        <p:spPr>
          <a:xfrm>
            <a:off x="6873838" y="2434438"/>
            <a:ext cx="133800" cy="341250"/>
          </a:xfrm>
          <a:prstGeom prst="rect">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98" name="Google Shape;98;p14"/>
          <p:cNvSpPr/>
          <p:nvPr/>
        </p:nvSpPr>
        <p:spPr>
          <a:xfrm>
            <a:off x="7007638" y="2434438"/>
            <a:ext cx="133800" cy="341250"/>
          </a:xfrm>
          <a:prstGeom prst="rect">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99" name="Google Shape;99;p14"/>
          <p:cNvSpPr/>
          <p:nvPr/>
        </p:nvSpPr>
        <p:spPr>
          <a:xfrm>
            <a:off x="7141442" y="2434438"/>
            <a:ext cx="133800" cy="341250"/>
          </a:xfrm>
          <a:prstGeom prst="rect">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100" name="Google Shape;100;p14"/>
          <p:cNvSpPr/>
          <p:nvPr/>
        </p:nvSpPr>
        <p:spPr>
          <a:xfrm>
            <a:off x="7275238" y="2434438"/>
            <a:ext cx="133800" cy="341250"/>
          </a:xfrm>
          <a:prstGeom prst="rect">
            <a:avLst/>
          </a:prstGeom>
          <a:solidFill>
            <a:srgbClr val="D9EAD3"/>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cxnSp>
        <p:nvCxnSpPr>
          <p:cNvPr id="101" name="Google Shape;101;p14"/>
          <p:cNvCxnSpPr>
            <a:stCxn id="89" idx="6"/>
            <a:endCxn id="82" idx="1"/>
          </p:cNvCxnSpPr>
          <p:nvPr/>
        </p:nvCxnSpPr>
        <p:spPr>
          <a:xfrm>
            <a:off x="3002838" y="2871757"/>
            <a:ext cx="1234650" cy="829200"/>
          </a:xfrm>
          <a:prstGeom prst="straightConnector1">
            <a:avLst/>
          </a:prstGeom>
          <a:noFill/>
          <a:ln w="38100" cap="flat" cmpd="sng">
            <a:solidFill>
              <a:schemeClr val="dk2"/>
            </a:solidFill>
            <a:prstDash val="solid"/>
            <a:round/>
            <a:headEnd type="none" w="med" len="med"/>
            <a:tailEnd type="triangle" w="med" len="med"/>
          </a:ln>
        </p:spPr>
      </p:cxnSp>
      <p:cxnSp>
        <p:nvCxnSpPr>
          <p:cNvPr id="102" name="Google Shape;102;p14"/>
          <p:cNvCxnSpPr>
            <a:stCxn id="90" idx="6"/>
            <a:endCxn id="82" idx="1"/>
          </p:cNvCxnSpPr>
          <p:nvPr/>
        </p:nvCxnSpPr>
        <p:spPr>
          <a:xfrm rot="10800000" flipH="1">
            <a:off x="3002838" y="3700969"/>
            <a:ext cx="1234650" cy="1027050"/>
          </a:xfrm>
          <a:prstGeom prst="straightConnector1">
            <a:avLst/>
          </a:prstGeom>
          <a:noFill/>
          <a:ln w="38100" cap="flat" cmpd="sng">
            <a:solidFill>
              <a:schemeClr val="dk2"/>
            </a:solidFill>
            <a:prstDash val="solid"/>
            <a:round/>
            <a:headEnd type="none" w="med" len="med"/>
            <a:tailEnd type="triangle" w="med" len="med"/>
          </a:ln>
        </p:spPr>
      </p:cxnSp>
      <p:cxnSp>
        <p:nvCxnSpPr>
          <p:cNvPr id="103" name="Google Shape;103;p14"/>
          <p:cNvCxnSpPr>
            <a:stCxn id="86" idx="3"/>
            <a:endCxn id="88" idx="2"/>
          </p:cNvCxnSpPr>
          <p:nvPr/>
        </p:nvCxnSpPr>
        <p:spPr>
          <a:xfrm>
            <a:off x="4906499" y="3700900"/>
            <a:ext cx="1234650" cy="0"/>
          </a:xfrm>
          <a:prstGeom prst="straightConnector1">
            <a:avLst/>
          </a:prstGeom>
          <a:noFill/>
          <a:ln w="38100" cap="flat" cmpd="sng">
            <a:solidFill>
              <a:schemeClr val="dk2"/>
            </a:solidFill>
            <a:prstDash val="solid"/>
            <a:round/>
            <a:headEnd type="none" w="med" len="med"/>
            <a:tailEnd type="triangle" w="med" len="med"/>
          </a:ln>
        </p:spPr>
      </p:cxnSp>
      <p:cxnSp>
        <p:nvCxnSpPr>
          <p:cNvPr id="104" name="Google Shape;104;p14"/>
          <p:cNvCxnSpPr>
            <a:stCxn id="88" idx="0"/>
          </p:cNvCxnSpPr>
          <p:nvPr/>
        </p:nvCxnSpPr>
        <p:spPr>
          <a:xfrm rot="10800000">
            <a:off x="6740038" y="2768725"/>
            <a:ext cx="0" cy="333300"/>
          </a:xfrm>
          <a:prstGeom prst="straightConnector1">
            <a:avLst/>
          </a:prstGeom>
          <a:noFill/>
          <a:ln w="38100" cap="flat" cmpd="sng">
            <a:solidFill>
              <a:schemeClr val="dk2"/>
            </a:solidFill>
            <a:prstDash val="solid"/>
            <a:round/>
            <a:headEnd type="triangle" w="med" len="med"/>
            <a:tailEnd type="triangle" w="med" len="med"/>
          </a:ln>
        </p:spPr>
      </p:cxnSp>
      <p:sp>
        <p:nvSpPr>
          <p:cNvPr id="105" name="Google Shape;105;p14"/>
          <p:cNvSpPr txBox="1"/>
          <p:nvPr/>
        </p:nvSpPr>
        <p:spPr>
          <a:xfrm>
            <a:off x="6066388" y="2141188"/>
            <a:ext cx="1347300" cy="293250"/>
          </a:xfrm>
          <a:prstGeom prst="rect">
            <a:avLst/>
          </a:prstGeom>
          <a:noFill/>
          <a:ln>
            <a:noFill/>
          </a:ln>
        </p:spPr>
        <p:txBody>
          <a:bodyPr spcFirstLastPara="1" wrap="square" lIns="45713" tIns="45713" rIns="45713" bIns="45713" anchor="ctr" anchorCtr="0">
            <a:noAutofit/>
          </a:bodyPr>
          <a:lstStyle/>
          <a:p>
            <a:pPr algn="ctr"/>
            <a:r>
              <a:rPr lang="en" sz="1500"/>
              <a:t>Timer List</a:t>
            </a:r>
            <a:endParaRPr sz="1500"/>
          </a:p>
        </p:txBody>
      </p:sp>
      <p:sp>
        <p:nvSpPr>
          <p:cNvPr id="106" name="Google Shape;106;p14"/>
          <p:cNvSpPr/>
          <p:nvPr/>
        </p:nvSpPr>
        <p:spPr>
          <a:xfrm>
            <a:off x="4536088" y="5010150"/>
            <a:ext cx="4407900" cy="708750"/>
          </a:xfrm>
          <a:prstGeom prst="rect">
            <a:avLst/>
          </a:prstGeom>
          <a:solidFill>
            <a:srgbClr val="000000"/>
          </a:solidFill>
          <a:ln w="9525"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buClr>
                <a:schemeClr val="dk1"/>
              </a:buClr>
              <a:buSzPts val="1100"/>
            </a:pPr>
            <a:r>
              <a:rPr lang="en" sz="1200">
                <a:solidFill>
                  <a:srgbClr val="00FF00"/>
                </a:solidFill>
                <a:latin typeface="Courier New"/>
                <a:ea typeface="Courier New"/>
                <a:cs typeface="Courier New"/>
                <a:sym typeface="Courier New"/>
              </a:rPr>
              <a:t>void myTimerCallback(TimerHandle_t xTimer) {</a:t>
            </a:r>
            <a:endParaRPr sz="1200">
              <a:solidFill>
                <a:srgbClr val="00FF00"/>
              </a:solidFill>
              <a:latin typeface="Courier New"/>
              <a:ea typeface="Courier New"/>
              <a:cs typeface="Courier New"/>
              <a:sym typeface="Courier New"/>
            </a:endParaRPr>
          </a:p>
          <a:p>
            <a:pPr>
              <a:buClr>
                <a:schemeClr val="dk1"/>
              </a:buClr>
              <a:buSzPts val="1100"/>
            </a:pPr>
            <a:r>
              <a:rPr lang="en" sz="1200">
                <a:solidFill>
                  <a:srgbClr val="00FF00"/>
                </a:solidFill>
                <a:latin typeface="Courier New"/>
                <a:ea typeface="Courier New"/>
                <a:cs typeface="Courier New"/>
                <a:sym typeface="Courier New"/>
              </a:rPr>
              <a:t>  // Do some stuff</a:t>
            </a:r>
            <a:endParaRPr sz="1200">
              <a:solidFill>
                <a:srgbClr val="00FF00"/>
              </a:solidFill>
              <a:latin typeface="Courier New"/>
              <a:ea typeface="Courier New"/>
              <a:cs typeface="Courier New"/>
              <a:sym typeface="Courier New"/>
            </a:endParaRPr>
          </a:p>
          <a:p>
            <a:pPr>
              <a:buClr>
                <a:schemeClr val="dk1"/>
              </a:buClr>
              <a:buSzPts val="1100"/>
            </a:pPr>
            <a:r>
              <a:rPr lang="en" sz="1200">
                <a:solidFill>
                  <a:srgbClr val="00FF00"/>
                </a:solidFill>
                <a:latin typeface="Courier New"/>
                <a:ea typeface="Courier New"/>
                <a:cs typeface="Courier New"/>
                <a:sym typeface="Courier New"/>
              </a:rPr>
              <a:t>}</a:t>
            </a:r>
            <a:endParaRPr sz="1200">
              <a:solidFill>
                <a:srgbClr val="00FF00"/>
              </a:solidFill>
            </a:endParaRPr>
          </a:p>
        </p:txBody>
      </p:sp>
      <p:cxnSp>
        <p:nvCxnSpPr>
          <p:cNvPr id="107" name="Google Shape;107;p14"/>
          <p:cNvCxnSpPr>
            <a:stCxn id="88" idx="4"/>
            <a:endCxn id="106" idx="0"/>
          </p:cNvCxnSpPr>
          <p:nvPr/>
        </p:nvCxnSpPr>
        <p:spPr>
          <a:xfrm>
            <a:off x="6740038" y="4299775"/>
            <a:ext cx="0" cy="710400"/>
          </a:xfrm>
          <a:prstGeom prst="straightConnector1">
            <a:avLst/>
          </a:prstGeom>
          <a:noFill/>
          <a:ln w="38100" cap="flat" cmpd="sng">
            <a:solidFill>
              <a:schemeClr val="dk2"/>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1000"/>
                                        <p:tgtEl>
                                          <p:spTgt spid="91"/>
                                        </p:tgtEl>
                                      </p:cBhvr>
                                    </p:animEffect>
                                  </p:childTnLst>
                                </p:cTn>
                              </p:par>
                              <p:par>
                                <p:cTn id="8" presetID="10" presetClass="entr" presetSubtype="0" fill="hold" nodeType="withEffect">
                                  <p:stCondLst>
                                    <p:cond delay="0"/>
                                  </p:stCondLst>
                                  <p:childTnLst>
                                    <p:set>
                                      <p:cBhvr>
                                        <p:cTn id="9" dur="1" fill="hold">
                                          <p:stCondLst>
                                            <p:cond delay="0"/>
                                          </p:stCondLst>
                                        </p:cTn>
                                        <p:tgtEl>
                                          <p:spTgt spid="92"/>
                                        </p:tgtEl>
                                        <p:attrNameLst>
                                          <p:attrName>style.visibility</p:attrName>
                                        </p:attrNameLst>
                                      </p:cBhvr>
                                      <p:to>
                                        <p:strVal val="visible"/>
                                      </p:to>
                                    </p:set>
                                    <p:animEffect transition="in" filter="fade">
                                      <p:cBhvr>
                                        <p:cTn id="10" dur="1000"/>
                                        <p:tgtEl>
                                          <p:spTgt spid="92"/>
                                        </p:tgtEl>
                                      </p:cBhvr>
                                    </p:animEffect>
                                  </p:childTnLst>
                                </p:cTn>
                              </p:par>
                              <p:par>
                                <p:cTn id="11" presetID="10" presetClass="entr" presetSubtype="0" fill="hold" nodeType="withEffect">
                                  <p:stCondLst>
                                    <p:cond delay="0"/>
                                  </p:stCondLst>
                                  <p:childTnLst>
                                    <p:set>
                                      <p:cBhvr>
                                        <p:cTn id="12" dur="1" fill="hold">
                                          <p:stCondLst>
                                            <p:cond delay="0"/>
                                          </p:stCondLst>
                                        </p:cTn>
                                        <p:tgtEl>
                                          <p:spTgt spid="93"/>
                                        </p:tgtEl>
                                        <p:attrNameLst>
                                          <p:attrName>style.visibility</p:attrName>
                                        </p:attrNameLst>
                                      </p:cBhvr>
                                      <p:to>
                                        <p:strVal val="visible"/>
                                      </p:to>
                                    </p:set>
                                    <p:animEffect transition="in" filter="fade">
                                      <p:cBhvr>
                                        <p:cTn id="13" dur="1000"/>
                                        <p:tgtEl>
                                          <p:spTgt spid="93"/>
                                        </p:tgtEl>
                                      </p:cBhvr>
                                    </p:animEffect>
                                  </p:childTnLst>
                                </p:cTn>
                              </p:par>
                              <p:par>
                                <p:cTn id="14" presetID="10" presetClass="entr" presetSubtype="0" fill="hold" nodeType="withEffect">
                                  <p:stCondLst>
                                    <p:cond delay="0"/>
                                  </p:stCondLst>
                                  <p:childTnLst>
                                    <p:set>
                                      <p:cBhvr>
                                        <p:cTn id="15" dur="1" fill="hold">
                                          <p:stCondLst>
                                            <p:cond delay="0"/>
                                          </p:stCondLst>
                                        </p:cTn>
                                        <p:tgtEl>
                                          <p:spTgt spid="94"/>
                                        </p:tgtEl>
                                        <p:attrNameLst>
                                          <p:attrName>style.visibility</p:attrName>
                                        </p:attrNameLst>
                                      </p:cBhvr>
                                      <p:to>
                                        <p:strVal val="visible"/>
                                      </p:to>
                                    </p:set>
                                    <p:animEffect transition="in" filter="fade">
                                      <p:cBhvr>
                                        <p:cTn id="16" dur="1000"/>
                                        <p:tgtEl>
                                          <p:spTgt spid="94"/>
                                        </p:tgtEl>
                                      </p:cBhvr>
                                    </p:animEffect>
                                  </p:childTnLst>
                                </p:cTn>
                              </p:par>
                              <p:par>
                                <p:cTn id="17" presetID="10" presetClass="entr" presetSubtype="0" fill="hold" nodeType="withEffect">
                                  <p:stCondLst>
                                    <p:cond delay="0"/>
                                  </p:stCondLst>
                                  <p:childTnLst>
                                    <p:set>
                                      <p:cBhvr>
                                        <p:cTn id="18" dur="1" fill="hold">
                                          <p:stCondLst>
                                            <p:cond delay="0"/>
                                          </p:stCondLst>
                                        </p:cTn>
                                        <p:tgtEl>
                                          <p:spTgt spid="95"/>
                                        </p:tgtEl>
                                        <p:attrNameLst>
                                          <p:attrName>style.visibility</p:attrName>
                                        </p:attrNameLst>
                                      </p:cBhvr>
                                      <p:to>
                                        <p:strVal val="visible"/>
                                      </p:to>
                                    </p:set>
                                    <p:animEffect transition="in" filter="fade">
                                      <p:cBhvr>
                                        <p:cTn id="19" dur="1000"/>
                                        <p:tgtEl>
                                          <p:spTgt spid="95"/>
                                        </p:tgtEl>
                                      </p:cBhvr>
                                    </p:animEffect>
                                  </p:childTnLst>
                                </p:cTn>
                              </p:par>
                              <p:par>
                                <p:cTn id="20" presetID="10" presetClass="entr" presetSubtype="0" fill="hold" nodeType="withEffect">
                                  <p:stCondLst>
                                    <p:cond delay="0"/>
                                  </p:stCondLst>
                                  <p:childTnLst>
                                    <p:set>
                                      <p:cBhvr>
                                        <p:cTn id="21" dur="1" fill="hold">
                                          <p:stCondLst>
                                            <p:cond delay="0"/>
                                          </p:stCondLst>
                                        </p:cTn>
                                        <p:tgtEl>
                                          <p:spTgt spid="96"/>
                                        </p:tgtEl>
                                        <p:attrNameLst>
                                          <p:attrName>style.visibility</p:attrName>
                                        </p:attrNameLst>
                                      </p:cBhvr>
                                      <p:to>
                                        <p:strVal val="visible"/>
                                      </p:to>
                                    </p:set>
                                    <p:animEffect transition="in" filter="fade">
                                      <p:cBhvr>
                                        <p:cTn id="22" dur="1000"/>
                                        <p:tgtEl>
                                          <p:spTgt spid="96"/>
                                        </p:tgtEl>
                                      </p:cBhvr>
                                    </p:animEffect>
                                  </p:childTnLst>
                                </p:cTn>
                              </p:par>
                              <p:par>
                                <p:cTn id="23" presetID="10" presetClass="entr" presetSubtype="0" fill="hold" nodeType="withEffect">
                                  <p:stCondLst>
                                    <p:cond delay="0"/>
                                  </p:stCondLst>
                                  <p:childTnLst>
                                    <p:set>
                                      <p:cBhvr>
                                        <p:cTn id="24" dur="1" fill="hold">
                                          <p:stCondLst>
                                            <p:cond delay="0"/>
                                          </p:stCondLst>
                                        </p:cTn>
                                        <p:tgtEl>
                                          <p:spTgt spid="97"/>
                                        </p:tgtEl>
                                        <p:attrNameLst>
                                          <p:attrName>style.visibility</p:attrName>
                                        </p:attrNameLst>
                                      </p:cBhvr>
                                      <p:to>
                                        <p:strVal val="visible"/>
                                      </p:to>
                                    </p:set>
                                    <p:animEffect transition="in" filter="fade">
                                      <p:cBhvr>
                                        <p:cTn id="25" dur="1000"/>
                                        <p:tgtEl>
                                          <p:spTgt spid="97"/>
                                        </p:tgtEl>
                                      </p:cBhvr>
                                    </p:animEffect>
                                  </p:childTnLst>
                                </p:cTn>
                              </p:par>
                              <p:par>
                                <p:cTn id="26" presetID="10" presetClass="entr" presetSubtype="0" fill="hold" nodeType="withEffect">
                                  <p:stCondLst>
                                    <p:cond delay="0"/>
                                  </p:stCondLst>
                                  <p:childTnLst>
                                    <p:set>
                                      <p:cBhvr>
                                        <p:cTn id="27" dur="1" fill="hold">
                                          <p:stCondLst>
                                            <p:cond delay="0"/>
                                          </p:stCondLst>
                                        </p:cTn>
                                        <p:tgtEl>
                                          <p:spTgt spid="98"/>
                                        </p:tgtEl>
                                        <p:attrNameLst>
                                          <p:attrName>style.visibility</p:attrName>
                                        </p:attrNameLst>
                                      </p:cBhvr>
                                      <p:to>
                                        <p:strVal val="visible"/>
                                      </p:to>
                                    </p:set>
                                    <p:animEffect transition="in" filter="fade">
                                      <p:cBhvr>
                                        <p:cTn id="28" dur="1000"/>
                                        <p:tgtEl>
                                          <p:spTgt spid="98"/>
                                        </p:tgtEl>
                                      </p:cBhvr>
                                    </p:animEffect>
                                  </p:childTnLst>
                                </p:cTn>
                              </p:par>
                              <p:par>
                                <p:cTn id="29" presetID="10" presetClass="entr" presetSubtype="0" fill="hold" nodeType="withEffect">
                                  <p:stCondLst>
                                    <p:cond delay="0"/>
                                  </p:stCondLst>
                                  <p:childTnLst>
                                    <p:set>
                                      <p:cBhvr>
                                        <p:cTn id="30" dur="1" fill="hold">
                                          <p:stCondLst>
                                            <p:cond delay="0"/>
                                          </p:stCondLst>
                                        </p:cTn>
                                        <p:tgtEl>
                                          <p:spTgt spid="99"/>
                                        </p:tgtEl>
                                        <p:attrNameLst>
                                          <p:attrName>style.visibility</p:attrName>
                                        </p:attrNameLst>
                                      </p:cBhvr>
                                      <p:to>
                                        <p:strVal val="visible"/>
                                      </p:to>
                                    </p:set>
                                    <p:animEffect transition="in" filter="fade">
                                      <p:cBhvr>
                                        <p:cTn id="31" dur="1000"/>
                                        <p:tgtEl>
                                          <p:spTgt spid="99"/>
                                        </p:tgtEl>
                                      </p:cBhvr>
                                    </p:animEffect>
                                  </p:childTnLst>
                                </p:cTn>
                              </p:par>
                              <p:par>
                                <p:cTn id="32" presetID="10" presetClass="entr" presetSubtype="0" fill="hold" nodeType="withEffect">
                                  <p:stCondLst>
                                    <p:cond delay="0"/>
                                  </p:stCondLst>
                                  <p:childTnLst>
                                    <p:set>
                                      <p:cBhvr>
                                        <p:cTn id="33" dur="1" fill="hold">
                                          <p:stCondLst>
                                            <p:cond delay="0"/>
                                          </p:stCondLst>
                                        </p:cTn>
                                        <p:tgtEl>
                                          <p:spTgt spid="100"/>
                                        </p:tgtEl>
                                        <p:attrNameLst>
                                          <p:attrName>style.visibility</p:attrName>
                                        </p:attrNameLst>
                                      </p:cBhvr>
                                      <p:to>
                                        <p:strVal val="visible"/>
                                      </p:to>
                                    </p:set>
                                    <p:animEffect transition="in" filter="fade">
                                      <p:cBhvr>
                                        <p:cTn id="34" dur="1000"/>
                                        <p:tgtEl>
                                          <p:spTgt spid="100"/>
                                        </p:tgtEl>
                                      </p:cBhvr>
                                    </p:animEffect>
                                  </p:childTnLst>
                                </p:cTn>
                              </p:par>
                              <p:par>
                                <p:cTn id="35" presetID="10" presetClass="entr" presetSubtype="0" fill="hold" nodeType="withEffect">
                                  <p:stCondLst>
                                    <p:cond delay="0"/>
                                  </p:stCondLst>
                                  <p:childTnLst>
                                    <p:set>
                                      <p:cBhvr>
                                        <p:cTn id="36" dur="1" fill="hold">
                                          <p:stCondLst>
                                            <p:cond delay="0"/>
                                          </p:stCondLst>
                                        </p:cTn>
                                        <p:tgtEl>
                                          <p:spTgt spid="104"/>
                                        </p:tgtEl>
                                        <p:attrNameLst>
                                          <p:attrName>style.visibility</p:attrName>
                                        </p:attrNameLst>
                                      </p:cBhvr>
                                      <p:to>
                                        <p:strVal val="visible"/>
                                      </p:to>
                                    </p:set>
                                    <p:animEffect transition="in" filter="fade">
                                      <p:cBhvr>
                                        <p:cTn id="37" dur="1000"/>
                                        <p:tgtEl>
                                          <p:spTgt spid="104"/>
                                        </p:tgtEl>
                                      </p:cBhvr>
                                    </p:animEffect>
                                  </p:childTnLst>
                                </p:cTn>
                              </p:par>
                              <p:par>
                                <p:cTn id="38" presetID="10" presetClass="entr" presetSubtype="0" fill="hold" nodeType="withEffect">
                                  <p:stCondLst>
                                    <p:cond delay="0"/>
                                  </p:stCondLst>
                                  <p:childTnLst>
                                    <p:set>
                                      <p:cBhvr>
                                        <p:cTn id="39" dur="1" fill="hold">
                                          <p:stCondLst>
                                            <p:cond delay="0"/>
                                          </p:stCondLst>
                                        </p:cTn>
                                        <p:tgtEl>
                                          <p:spTgt spid="105"/>
                                        </p:tgtEl>
                                        <p:attrNameLst>
                                          <p:attrName>style.visibility</p:attrName>
                                        </p:attrNameLst>
                                      </p:cBhvr>
                                      <p:to>
                                        <p:strVal val="visible"/>
                                      </p:to>
                                    </p:set>
                                    <p:animEffect transition="in" filter="fade">
                                      <p:cBhvr>
                                        <p:cTn id="40" dur="1000"/>
                                        <p:tgtEl>
                                          <p:spTgt spid="10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06"/>
                                        </p:tgtEl>
                                        <p:attrNameLst>
                                          <p:attrName>style.visibility</p:attrName>
                                        </p:attrNameLst>
                                      </p:cBhvr>
                                      <p:to>
                                        <p:strVal val="visible"/>
                                      </p:to>
                                    </p:set>
                                    <p:animEffect transition="in" filter="fade">
                                      <p:cBhvr>
                                        <p:cTn id="45" dur="1000"/>
                                        <p:tgtEl>
                                          <p:spTgt spid="106"/>
                                        </p:tgtEl>
                                      </p:cBhvr>
                                    </p:animEffect>
                                  </p:childTnLst>
                                </p:cTn>
                              </p:par>
                              <p:par>
                                <p:cTn id="46" presetID="10" presetClass="entr" presetSubtype="0" fill="hold" nodeType="withEffect">
                                  <p:stCondLst>
                                    <p:cond delay="0"/>
                                  </p:stCondLst>
                                  <p:childTnLst>
                                    <p:set>
                                      <p:cBhvr>
                                        <p:cTn id="47" dur="1" fill="hold">
                                          <p:stCondLst>
                                            <p:cond delay="0"/>
                                          </p:stCondLst>
                                        </p:cTn>
                                        <p:tgtEl>
                                          <p:spTgt spid="107"/>
                                        </p:tgtEl>
                                        <p:attrNameLst>
                                          <p:attrName>style.visibility</p:attrName>
                                        </p:attrNameLst>
                                      </p:cBhvr>
                                      <p:to>
                                        <p:strVal val="visible"/>
                                      </p:to>
                                    </p:set>
                                    <p:animEffect transition="in" filter="fade">
                                      <p:cBhvr>
                                        <p:cTn id="48" dur="1000"/>
                                        <p:tgtEl>
                                          <p:spTgt spid="10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82"/>
                                        </p:tgtEl>
                                        <p:attrNameLst>
                                          <p:attrName>style.visibility</p:attrName>
                                        </p:attrNameLst>
                                      </p:cBhvr>
                                      <p:to>
                                        <p:strVal val="visible"/>
                                      </p:to>
                                    </p:set>
                                    <p:animEffect transition="in" filter="fade">
                                      <p:cBhvr>
                                        <p:cTn id="53" dur="1000"/>
                                        <p:tgtEl>
                                          <p:spTgt spid="82"/>
                                        </p:tgtEl>
                                      </p:cBhvr>
                                    </p:animEffect>
                                  </p:childTnLst>
                                </p:cTn>
                              </p:par>
                              <p:par>
                                <p:cTn id="54" presetID="10" presetClass="entr" presetSubtype="0" fill="hold" nodeType="withEffect">
                                  <p:stCondLst>
                                    <p:cond delay="0"/>
                                  </p:stCondLst>
                                  <p:childTnLst>
                                    <p:set>
                                      <p:cBhvr>
                                        <p:cTn id="55" dur="1" fill="hold">
                                          <p:stCondLst>
                                            <p:cond delay="0"/>
                                          </p:stCondLst>
                                        </p:cTn>
                                        <p:tgtEl>
                                          <p:spTgt spid="83"/>
                                        </p:tgtEl>
                                        <p:attrNameLst>
                                          <p:attrName>style.visibility</p:attrName>
                                        </p:attrNameLst>
                                      </p:cBhvr>
                                      <p:to>
                                        <p:strVal val="visible"/>
                                      </p:to>
                                    </p:set>
                                    <p:animEffect transition="in" filter="fade">
                                      <p:cBhvr>
                                        <p:cTn id="56" dur="1000"/>
                                        <p:tgtEl>
                                          <p:spTgt spid="83"/>
                                        </p:tgtEl>
                                      </p:cBhvr>
                                    </p:animEffect>
                                  </p:childTnLst>
                                </p:cTn>
                              </p:par>
                              <p:par>
                                <p:cTn id="57" presetID="10" presetClass="entr" presetSubtype="0" fill="hold" nodeType="withEffect">
                                  <p:stCondLst>
                                    <p:cond delay="0"/>
                                  </p:stCondLst>
                                  <p:childTnLst>
                                    <p:set>
                                      <p:cBhvr>
                                        <p:cTn id="58" dur="1" fill="hold">
                                          <p:stCondLst>
                                            <p:cond delay="0"/>
                                          </p:stCondLst>
                                        </p:cTn>
                                        <p:tgtEl>
                                          <p:spTgt spid="84"/>
                                        </p:tgtEl>
                                        <p:attrNameLst>
                                          <p:attrName>style.visibility</p:attrName>
                                        </p:attrNameLst>
                                      </p:cBhvr>
                                      <p:to>
                                        <p:strVal val="visible"/>
                                      </p:to>
                                    </p:set>
                                    <p:animEffect transition="in" filter="fade">
                                      <p:cBhvr>
                                        <p:cTn id="59" dur="1000"/>
                                        <p:tgtEl>
                                          <p:spTgt spid="84"/>
                                        </p:tgtEl>
                                      </p:cBhvr>
                                    </p:animEffect>
                                  </p:childTnLst>
                                </p:cTn>
                              </p:par>
                              <p:par>
                                <p:cTn id="60" presetID="10" presetClass="entr" presetSubtype="0" fill="hold" nodeType="withEffect">
                                  <p:stCondLst>
                                    <p:cond delay="0"/>
                                  </p:stCondLst>
                                  <p:childTnLst>
                                    <p:set>
                                      <p:cBhvr>
                                        <p:cTn id="61" dur="1" fill="hold">
                                          <p:stCondLst>
                                            <p:cond delay="0"/>
                                          </p:stCondLst>
                                        </p:cTn>
                                        <p:tgtEl>
                                          <p:spTgt spid="85"/>
                                        </p:tgtEl>
                                        <p:attrNameLst>
                                          <p:attrName>style.visibility</p:attrName>
                                        </p:attrNameLst>
                                      </p:cBhvr>
                                      <p:to>
                                        <p:strVal val="visible"/>
                                      </p:to>
                                    </p:set>
                                    <p:animEffect transition="in" filter="fade">
                                      <p:cBhvr>
                                        <p:cTn id="62" dur="1000"/>
                                        <p:tgtEl>
                                          <p:spTgt spid="85"/>
                                        </p:tgtEl>
                                      </p:cBhvr>
                                    </p:animEffect>
                                  </p:childTnLst>
                                </p:cTn>
                              </p:par>
                              <p:par>
                                <p:cTn id="63" presetID="10" presetClass="entr" presetSubtype="0" fill="hold" nodeType="withEffect">
                                  <p:stCondLst>
                                    <p:cond delay="0"/>
                                  </p:stCondLst>
                                  <p:childTnLst>
                                    <p:set>
                                      <p:cBhvr>
                                        <p:cTn id="64" dur="1" fill="hold">
                                          <p:stCondLst>
                                            <p:cond delay="0"/>
                                          </p:stCondLst>
                                        </p:cTn>
                                        <p:tgtEl>
                                          <p:spTgt spid="86"/>
                                        </p:tgtEl>
                                        <p:attrNameLst>
                                          <p:attrName>style.visibility</p:attrName>
                                        </p:attrNameLst>
                                      </p:cBhvr>
                                      <p:to>
                                        <p:strVal val="visible"/>
                                      </p:to>
                                    </p:set>
                                    <p:animEffect transition="in" filter="fade">
                                      <p:cBhvr>
                                        <p:cTn id="65" dur="1000"/>
                                        <p:tgtEl>
                                          <p:spTgt spid="86"/>
                                        </p:tgtEl>
                                      </p:cBhvr>
                                    </p:animEffect>
                                  </p:childTnLst>
                                </p:cTn>
                              </p:par>
                              <p:par>
                                <p:cTn id="66" presetID="10" presetClass="entr" presetSubtype="0" fill="hold" nodeType="withEffect">
                                  <p:stCondLst>
                                    <p:cond delay="0"/>
                                  </p:stCondLst>
                                  <p:childTnLst>
                                    <p:set>
                                      <p:cBhvr>
                                        <p:cTn id="67" dur="1" fill="hold">
                                          <p:stCondLst>
                                            <p:cond delay="0"/>
                                          </p:stCondLst>
                                        </p:cTn>
                                        <p:tgtEl>
                                          <p:spTgt spid="87"/>
                                        </p:tgtEl>
                                        <p:attrNameLst>
                                          <p:attrName>style.visibility</p:attrName>
                                        </p:attrNameLst>
                                      </p:cBhvr>
                                      <p:to>
                                        <p:strVal val="visible"/>
                                      </p:to>
                                    </p:set>
                                    <p:animEffect transition="in" filter="fade">
                                      <p:cBhvr>
                                        <p:cTn id="68" dur="1000"/>
                                        <p:tgtEl>
                                          <p:spTgt spid="87"/>
                                        </p:tgtEl>
                                      </p:cBhvr>
                                    </p:animEffect>
                                  </p:childTnLst>
                                </p:cTn>
                              </p:par>
                              <p:par>
                                <p:cTn id="69" presetID="10" presetClass="entr" presetSubtype="0" fill="hold" nodeType="withEffect">
                                  <p:stCondLst>
                                    <p:cond delay="0"/>
                                  </p:stCondLst>
                                  <p:childTnLst>
                                    <p:set>
                                      <p:cBhvr>
                                        <p:cTn id="70" dur="1" fill="hold">
                                          <p:stCondLst>
                                            <p:cond delay="0"/>
                                          </p:stCondLst>
                                        </p:cTn>
                                        <p:tgtEl>
                                          <p:spTgt spid="89"/>
                                        </p:tgtEl>
                                        <p:attrNameLst>
                                          <p:attrName>style.visibility</p:attrName>
                                        </p:attrNameLst>
                                      </p:cBhvr>
                                      <p:to>
                                        <p:strVal val="visible"/>
                                      </p:to>
                                    </p:set>
                                    <p:animEffect transition="in" filter="fade">
                                      <p:cBhvr>
                                        <p:cTn id="71" dur="1000"/>
                                        <p:tgtEl>
                                          <p:spTgt spid="89"/>
                                        </p:tgtEl>
                                      </p:cBhvr>
                                    </p:animEffect>
                                  </p:childTnLst>
                                </p:cTn>
                              </p:par>
                              <p:par>
                                <p:cTn id="72" presetID="10" presetClass="entr" presetSubtype="0" fill="hold" nodeType="withEffect">
                                  <p:stCondLst>
                                    <p:cond delay="0"/>
                                  </p:stCondLst>
                                  <p:childTnLst>
                                    <p:set>
                                      <p:cBhvr>
                                        <p:cTn id="73" dur="1" fill="hold">
                                          <p:stCondLst>
                                            <p:cond delay="0"/>
                                          </p:stCondLst>
                                        </p:cTn>
                                        <p:tgtEl>
                                          <p:spTgt spid="90"/>
                                        </p:tgtEl>
                                        <p:attrNameLst>
                                          <p:attrName>style.visibility</p:attrName>
                                        </p:attrNameLst>
                                      </p:cBhvr>
                                      <p:to>
                                        <p:strVal val="visible"/>
                                      </p:to>
                                    </p:set>
                                    <p:animEffect transition="in" filter="fade">
                                      <p:cBhvr>
                                        <p:cTn id="74" dur="1000"/>
                                        <p:tgtEl>
                                          <p:spTgt spid="90"/>
                                        </p:tgtEl>
                                      </p:cBhvr>
                                    </p:animEffect>
                                  </p:childTnLst>
                                </p:cTn>
                              </p:par>
                              <p:par>
                                <p:cTn id="75" presetID="10" presetClass="entr" presetSubtype="0" fill="hold" nodeType="withEffect">
                                  <p:stCondLst>
                                    <p:cond delay="0"/>
                                  </p:stCondLst>
                                  <p:childTnLst>
                                    <p:set>
                                      <p:cBhvr>
                                        <p:cTn id="76" dur="1" fill="hold">
                                          <p:stCondLst>
                                            <p:cond delay="0"/>
                                          </p:stCondLst>
                                        </p:cTn>
                                        <p:tgtEl>
                                          <p:spTgt spid="101"/>
                                        </p:tgtEl>
                                        <p:attrNameLst>
                                          <p:attrName>style.visibility</p:attrName>
                                        </p:attrNameLst>
                                      </p:cBhvr>
                                      <p:to>
                                        <p:strVal val="visible"/>
                                      </p:to>
                                    </p:set>
                                    <p:animEffect transition="in" filter="fade">
                                      <p:cBhvr>
                                        <p:cTn id="77" dur="1000"/>
                                        <p:tgtEl>
                                          <p:spTgt spid="101"/>
                                        </p:tgtEl>
                                      </p:cBhvr>
                                    </p:animEffect>
                                  </p:childTnLst>
                                </p:cTn>
                              </p:par>
                              <p:par>
                                <p:cTn id="78" presetID="10" presetClass="entr" presetSubtype="0" fill="hold" nodeType="withEffect">
                                  <p:stCondLst>
                                    <p:cond delay="0"/>
                                  </p:stCondLst>
                                  <p:childTnLst>
                                    <p:set>
                                      <p:cBhvr>
                                        <p:cTn id="79" dur="1" fill="hold">
                                          <p:stCondLst>
                                            <p:cond delay="0"/>
                                          </p:stCondLst>
                                        </p:cTn>
                                        <p:tgtEl>
                                          <p:spTgt spid="102"/>
                                        </p:tgtEl>
                                        <p:attrNameLst>
                                          <p:attrName>style.visibility</p:attrName>
                                        </p:attrNameLst>
                                      </p:cBhvr>
                                      <p:to>
                                        <p:strVal val="visible"/>
                                      </p:to>
                                    </p:set>
                                    <p:animEffect transition="in" filter="fade">
                                      <p:cBhvr>
                                        <p:cTn id="80" dur="1000"/>
                                        <p:tgtEl>
                                          <p:spTgt spid="102"/>
                                        </p:tgtEl>
                                      </p:cBhvr>
                                    </p:animEffect>
                                  </p:childTnLst>
                                </p:cTn>
                              </p:par>
                              <p:par>
                                <p:cTn id="81" presetID="10" presetClass="entr" presetSubtype="0" fill="hold" nodeType="withEffect">
                                  <p:stCondLst>
                                    <p:cond delay="0"/>
                                  </p:stCondLst>
                                  <p:childTnLst>
                                    <p:set>
                                      <p:cBhvr>
                                        <p:cTn id="82" dur="1" fill="hold">
                                          <p:stCondLst>
                                            <p:cond delay="0"/>
                                          </p:stCondLst>
                                        </p:cTn>
                                        <p:tgtEl>
                                          <p:spTgt spid="103"/>
                                        </p:tgtEl>
                                        <p:attrNameLst>
                                          <p:attrName>style.visibility</p:attrName>
                                        </p:attrNameLst>
                                      </p:cBhvr>
                                      <p:to>
                                        <p:strVal val="visible"/>
                                      </p:to>
                                    </p:set>
                                    <p:animEffect transition="in" filter="fade">
                                      <p:cBhvr>
                                        <p:cTn id="83" dur="10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20789-4B1D-DF95-FD9E-C88A62D69E8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8FC3ADC4-F1A0-D956-CF5C-AC151E7E8A3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76403002"/>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2347730" y="1196018"/>
            <a:ext cx="4378938" cy="4378938"/>
          </a:xfrm>
          <a:prstGeom prst="rect">
            <a:avLst/>
          </a:prstGeom>
          <a:noFill/>
          <a:ln>
            <a:noFill/>
          </a:ln>
        </p:spPr>
      </p:pic>
      <p:pic>
        <p:nvPicPr>
          <p:cNvPr id="55" name="Google Shape;55;p13"/>
          <p:cNvPicPr preferRelativeResize="0"/>
          <p:nvPr/>
        </p:nvPicPr>
        <p:blipFill>
          <a:blip r:embed="rId4">
            <a:alphaModFix/>
          </a:blip>
          <a:stretch>
            <a:fillRect/>
          </a:stretch>
        </p:blipFill>
        <p:spPr>
          <a:xfrm>
            <a:off x="149225" y="1457576"/>
            <a:ext cx="1727813" cy="1727813"/>
          </a:xfrm>
          <a:prstGeom prst="rect">
            <a:avLst/>
          </a:prstGeom>
          <a:noFill/>
          <a:ln>
            <a:noFill/>
          </a:ln>
        </p:spPr>
      </p:pic>
      <p:pic>
        <p:nvPicPr>
          <p:cNvPr id="56" name="Google Shape;56;p13"/>
          <p:cNvPicPr preferRelativeResize="0"/>
          <p:nvPr/>
        </p:nvPicPr>
        <p:blipFill>
          <a:blip r:embed="rId5">
            <a:alphaModFix/>
          </a:blip>
          <a:stretch>
            <a:fillRect/>
          </a:stretch>
        </p:blipFill>
        <p:spPr>
          <a:xfrm>
            <a:off x="3645425" y="2452460"/>
            <a:ext cx="732925" cy="732925"/>
          </a:xfrm>
          <a:prstGeom prst="rect">
            <a:avLst/>
          </a:prstGeom>
          <a:noFill/>
          <a:ln>
            <a:noFill/>
          </a:ln>
        </p:spPr>
      </p:pic>
      <p:sp>
        <p:nvSpPr>
          <p:cNvPr id="57" name="Google Shape;57;p13"/>
          <p:cNvSpPr/>
          <p:nvPr/>
        </p:nvSpPr>
        <p:spPr>
          <a:xfrm>
            <a:off x="4029294" y="3389038"/>
            <a:ext cx="1085400" cy="1085400"/>
          </a:xfrm>
          <a:prstGeom prst="rect">
            <a:avLst/>
          </a:prstGeom>
          <a:solidFill>
            <a:srgbClr val="FFFFFF"/>
          </a:solidFill>
          <a:ln>
            <a:noFill/>
          </a:ln>
        </p:spPr>
        <p:txBody>
          <a:bodyPr spcFirstLastPara="1" wrap="square" lIns="45713" tIns="45713" rIns="45713" bIns="45713" anchor="ctr" anchorCtr="0">
            <a:noAutofit/>
          </a:bodyPr>
          <a:lstStyle/>
          <a:p>
            <a:pPr algn="ctr"/>
            <a:r>
              <a:rPr lang="en" sz="1500"/>
              <a:t>CPU</a:t>
            </a:r>
            <a:endParaRPr sz="1500"/>
          </a:p>
        </p:txBody>
      </p:sp>
      <p:sp>
        <p:nvSpPr>
          <p:cNvPr id="58" name="Google Shape;58;p13"/>
          <p:cNvSpPr/>
          <p:nvPr/>
        </p:nvSpPr>
        <p:spPr>
          <a:xfrm>
            <a:off x="4628550" y="2573000"/>
            <a:ext cx="835200" cy="49185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UART Buffer</a:t>
            </a:r>
            <a:endParaRPr sz="1500"/>
          </a:p>
        </p:txBody>
      </p:sp>
      <p:cxnSp>
        <p:nvCxnSpPr>
          <p:cNvPr id="59" name="Google Shape;59;p13"/>
          <p:cNvCxnSpPr/>
          <p:nvPr/>
        </p:nvCxnSpPr>
        <p:spPr>
          <a:xfrm>
            <a:off x="1818363" y="2510300"/>
            <a:ext cx="0" cy="1319850"/>
          </a:xfrm>
          <a:prstGeom prst="straightConnector1">
            <a:avLst/>
          </a:prstGeom>
          <a:noFill/>
          <a:ln w="76200" cap="flat" cmpd="sng">
            <a:solidFill>
              <a:srgbClr val="000000"/>
            </a:solidFill>
            <a:prstDash val="solid"/>
            <a:round/>
            <a:headEnd type="none" w="med" len="med"/>
            <a:tailEnd type="none" w="med" len="med"/>
          </a:ln>
        </p:spPr>
      </p:cxnSp>
      <p:cxnSp>
        <p:nvCxnSpPr>
          <p:cNvPr id="60" name="Google Shape;60;p13"/>
          <p:cNvCxnSpPr/>
          <p:nvPr/>
        </p:nvCxnSpPr>
        <p:spPr>
          <a:xfrm rot="10800000">
            <a:off x="1818375" y="3826100"/>
            <a:ext cx="600300" cy="0"/>
          </a:xfrm>
          <a:prstGeom prst="straightConnector1">
            <a:avLst/>
          </a:prstGeom>
          <a:noFill/>
          <a:ln w="76200" cap="flat" cmpd="sng">
            <a:solidFill>
              <a:srgbClr val="000000"/>
            </a:solidFill>
            <a:prstDash val="solid"/>
            <a:round/>
            <a:headEnd type="none" w="med" len="med"/>
            <a:tailEnd type="none" w="med" len="med"/>
          </a:ln>
        </p:spPr>
      </p:cxnSp>
      <p:cxnSp>
        <p:nvCxnSpPr>
          <p:cNvPr id="61" name="Google Shape;61;p13"/>
          <p:cNvCxnSpPr/>
          <p:nvPr/>
        </p:nvCxnSpPr>
        <p:spPr>
          <a:xfrm rot="10800000">
            <a:off x="6949463" y="2757463"/>
            <a:ext cx="1167900" cy="0"/>
          </a:xfrm>
          <a:prstGeom prst="straightConnector1">
            <a:avLst/>
          </a:prstGeom>
          <a:noFill/>
          <a:ln w="76200" cap="flat" cmpd="sng">
            <a:solidFill>
              <a:srgbClr val="000000"/>
            </a:solidFill>
            <a:prstDash val="solid"/>
            <a:round/>
            <a:headEnd type="none" w="med" len="med"/>
            <a:tailEnd type="triangle" w="med" len="med"/>
          </a:ln>
        </p:spPr>
      </p:cxnSp>
      <p:sp>
        <p:nvSpPr>
          <p:cNvPr id="62" name="Google Shape;62;p13"/>
          <p:cNvSpPr txBox="1"/>
          <p:nvPr/>
        </p:nvSpPr>
        <p:spPr>
          <a:xfrm>
            <a:off x="7084313" y="2203363"/>
            <a:ext cx="1033050" cy="553984"/>
          </a:xfrm>
          <a:prstGeom prst="rect">
            <a:avLst/>
          </a:prstGeom>
          <a:noFill/>
          <a:ln>
            <a:noFill/>
          </a:ln>
        </p:spPr>
        <p:txBody>
          <a:bodyPr spcFirstLastPara="1" wrap="square" lIns="45713" tIns="45713" rIns="45713" bIns="45713" anchor="t" anchorCtr="0">
            <a:spAutoFit/>
          </a:bodyPr>
          <a:lstStyle/>
          <a:p>
            <a:pPr algn="ctr"/>
            <a:r>
              <a:rPr lang="en" sz="1500"/>
              <a:t>UART Comms</a:t>
            </a:r>
            <a:endParaRPr sz="1500"/>
          </a:p>
        </p:txBody>
      </p:sp>
      <p:cxnSp>
        <p:nvCxnSpPr>
          <p:cNvPr id="63" name="Google Shape;63;p13"/>
          <p:cNvCxnSpPr/>
          <p:nvPr/>
        </p:nvCxnSpPr>
        <p:spPr>
          <a:xfrm rot="10800000">
            <a:off x="2352525" y="3826100"/>
            <a:ext cx="1686150" cy="0"/>
          </a:xfrm>
          <a:prstGeom prst="straightConnector1">
            <a:avLst/>
          </a:prstGeom>
          <a:noFill/>
          <a:ln w="76200" cap="flat" cmpd="sng">
            <a:solidFill>
              <a:srgbClr val="FFFFFF"/>
            </a:solidFill>
            <a:prstDash val="solid"/>
            <a:round/>
            <a:headEnd type="none" w="med" len="med"/>
            <a:tailEnd type="none" w="med" len="med"/>
          </a:ln>
        </p:spPr>
      </p:cxnSp>
      <p:cxnSp>
        <p:nvCxnSpPr>
          <p:cNvPr id="64" name="Google Shape;64;p13"/>
          <p:cNvCxnSpPr/>
          <p:nvPr/>
        </p:nvCxnSpPr>
        <p:spPr>
          <a:xfrm rot="10800000">
            <a:off x="2723363" y="3826100"/>
            <a:ext cx="151650" cy="0"/>
          </a:xfrm>
          <a:prstGeom prst="straightConnector1">
            <a:avLst/>
          </a:prstGeom>
          <a:noFill/>
          <a:ln w="76200" cap="flat" cmpd="sng">
            <a:solidFill>
              <a:srgbClr val="000000"/>
            </a:solidFill>
            <a:prstDash val="solid"/>
            <a:round/>
            <a:headEnd type="none" w="med" len="med"/>
            <a:tailEnd type="none" w="med" len="med"/>
          </a:ln>
        </p:spPr>
      </p:cxnSp>
      <p:cxnSp>
        <p:nvCxnSpPr>
          <p:cNvPr id="65" name="Google Shape;65;p13"/>
          <p:cNvCxnSpPr/>
          <p:nvPr/>
        </p:nvCxnSpPr>
        <p:spPr>
          <a:xfrm rot="10800000">
            <a:off x="3153338" y="3826100"/>
            <a:ext cx="208200" cy="0"/>
          </a:xfrm>
          <a:prstGeom prst="straightConnector1">
            <a:avLst/>
          </a:prstGeom>
          <a:noFill/>
          <a:ln w="76200" cap="flat" cmpd="sng">
            <a:solidFill>
              <a:srgbClr val="000000"/>
            </a:solidFill>
            <a:prstDash val="solid"/>
            <a:round/>
            <a:headEnd type="none" w="med" len="med"/>
            <a:tailEnd type="none" w="med" len="med"/>
          </a:ln>
        </p:spPr>
      </p:cxnSp>
      <p:cxnSp>
        <p:nvCxnSpPr>
          <p:cNvPr id="66" name="Google Shape;66;p13"/>
          <p:cNvCxnSpPr/>
          <p:nvPr/>
        </p:nvCxnSpPr>
        <p:spPr>
          <a:xfrm rot="10800000">
            <a:off x="4171425" y="3122663"/>
            <a:ext cx="0" cy="322800"/>
          </a:xfrm>
          <a:prstGeom prst="straightConnector1">
            <a:avLst/>
          </a:prstGeom>
          <a:noFill/>
          <a:ln w="76200" cap="flat" cmpd="sng">
            <a:solidFill>
              <a:srgbClr val="FFFFFF"/>
            </a:solidFill>
            <a:prstDash val="solid"/>
            <a:round/>
            <a:headEnd type="none" w="med" len="med"/>
            <a:tailEnd type="none" w="med" len="med"/>
          </a:ln>
        </p:spPr>
      </p:cxnSp>
      <p:cxnSp>
        <p:nvCxnSpPr>
          <p:cNvPr id="67" name="Google Shape;67;p13"/>
          <p:cNvCxnSpPr/>
          <p:nvPr/>
        </p:nvCxnSpPr>
        <p:spPr>
          <a:xfrm rot="10800000">
            <a:off x="4933425" y="3046438"/>
            <a:ext cx="0" cy="394800"/>
          </a:xfrm>
          <a:prstGeom prst="straightConnector1">
            <a:avLst/>
          </a:prstGeom>
          <a:noFill/>
          <a:ln w="76200" cap="flat" cmpd="sng">
            <a:solidFill>
              <a:srgbClr val="FFFFFF"/>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10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fade">
                                      <p:cBhvr>
                                        <p:cTn id="12" dur="1000"/>
                                        <p:tgtEl>
                                          <p:spTgt spid="55"/>
                                        </p:tgtEl>
                                      </p:cBhvr>
                                    </p:animEffect>
                                  </p:childTnLst>
                                </p:cTn>
                              </p:par>
                              <p:par>
                                <p:cTn id="13" presetID="10" presetClass="entr" presetSubtype="0" fill="hold" nodeType="withEffect">
                                  <p:stCondLst>
                                    <p:cond delay="0"/>
                                  </p:stCondLst>
                                  <p:childTnLst>
                                    <p:set>
                                      <p:cBhvr>
                                        <p:cTn id="14" dur="1" fill="hold">
                                          <p:stCondLst>
                                            <p:cond delay="0"/>
                                          </p:stCondLst>
                                        </p:cTn>
                                        <p:tgtEl>
                                          <p:spTgt spid="59"/>
                                        </p:tgtEl>
                                        <p:attrNameLst>
                                          <p:attrName>style.visibility</p:attrName>
                                        </p:attrNameLst>
                                      </p:cBhvr>
                                      <p:to>
                                        <p:strVal val="visible"/>
                                      </p:to>
                                    </p:set>
                                    <p:animEffect transition="in" filter="fade">
                                      <p:cBhvr>
                                        <p:cTn id="15" dur="1000"/>
                                        <p:tgtEl>
                                          <p:spTgt spid="59"/>
                                        </p:tgtEl>
                                      </p:cBhvr>
                                    </p:animEffect>
                                  </p:childTnLst>
                                </p:cTn>
                              </p:par>
                              <p:par>
                                <p:cTn id="16" presetID="10" presetClass="entr" presetSubtype="0" fill="hold" nodeType="withEffect">
                                  <p:stCondLst>
                                    <p:cond delay="0"/>
                                  </p:stCondLst>
                                  <p:childTnLst>
                                    <p:set>
                                      <p:cBhvr>
                                        <p:cTn id="17" dur="1" fill="hold">
                                          <p:stCondLst>
                                            <p:cond delay="0"/>
                                          </p:stCondLst>
                                        </p:cTn>
                                        <p:tgtEl>
                                          <p:spTgt spid="60"/>
                                        </p:tgtEl>
                                        <p:attrNameLst>
                                          <p:attrName>style.visibility</p:attrName>
                                        </p:attrNameLst>
                                      </p:cBhvr>
                                      <p:to>
                                        <p:strVal val="visible"/>
                                      </p:to>
                                    </p:set>
                                    <p:animEffect transition="in" filter="fade">
                                      <p:cBhvr>
                                        <p:cTn id="18" dur="1000"/>
                                        <p:tgtEl>
                                          <p:spTgt spid="6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61"/>
                                        </p:tgtEl>
                                        <p:attrNameLst>
                                          <p:attrName>style.visibility</p:attrName>
                                        </p:attrNameLst>
                                      </p:cBhvr>
                                      <p:to>
                                        <p:strVal val="visible"/>
                                      </p:to>
                                    </p:set>
                                    <p:animEffect transition="in" filter="fade">
                                      <p:cBhvr>
                                        <p:cTn id="23" dur="1000"/>
                                        <p:tgtEl>
                                          <p:spTgt spid="61"/>
                                        </p:tgtEl>
                                      </p:cBhvr>
                                    </p:animEffect>
                                  </p:childTnLst>
                                </p:cTn>
                              </p:par>
                              <p:par>
                                <p:cTn id="24" presetID="10" presetClass="entr" presetSubtype="0" fill="hold" nodeType="withEffect">
                                  <p:stCondLst>
                                    <p:cond delay="0"/>
                                  </p:stCondLst>
                                  <p:childTnLst>
                                    <p:set>
                                      <p:cBhvr>
                                        <p:cTn id="25" dur="1" fill="hold">
                                          <p:stCondLst>
                                            <p:cond delay="0"/>
                                          </p:stCondLst>
                                        </p:cTn>
                                        <p:tgtEl>
                                          <p:spTgt spid="62"/>
                                        </p:tgtEl>
                                        <p:attrNameLst>
                                          <p:attrName>style.visibility</p:attrName>
                                        </p:attrNameLst>
                                      </p:cBhvr>
                                      <p:to>
                                        <p:strVal val="visible"/>
                                      </p:to>
                                    </p:set>
                                    <p:animEffect transition="in" filter="fade">
                                      <p:cBhvr>
                                        <p:cTn id="26" dur="1000"/>
                                        <p:tgtEl>
                                          <p:spTgt spid="62"/>
                                        </p:tgtEl>
                                      </p:cBhvr>
                                    </p:animEffect>
                                  </p:childTnLst>
                                </p:cTn>
                              </p:par>
                              <p:par>
                                <p:cTn id="27" presetID="10" presetClass="entr" presetSubtype="0" fill="hold" nodeType="withEffect">
                                  <p:stCondLst>
                                    <p:cond delay="0"/>
                                  </p:stCondLst>
                                  <p:childTnLst>
                                    <p:set>
                                      <p:cBhvr>
                                        <p:cTn id="28" dur="1" fill="hold">
                                          <p:stCondLst>
                                            <p:cond delay="0"/>
                                          </p:stCondLst>
                                        </p:cTn>
                                        <p:tgtEl>
                                          <p:spTgt spid="58"/>
                                        </p:tgtEl>
                                        <p:attrNameLst>
                                          <p:attrName>style.visibility</p:attrName>
                                        </p:attrNameLst>
                                      </p:cBhvr>
                                      <p:to>
                                        <p:strVal val="visible"/>
                                      </p:to>
                                    </p:set>
                                    <p:animEffect transition="in" filter="fade">
                                      <p:cBhvr>
                                        <p:cTn id="29" dur="1000"/>
                                        <p:tgtEl>
                                          <p:spTgt spid="5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63"/>
                                        </p:tgtEl>
                                        <p:attrNameLst>
                                          <p:attrName>style.visibility</p:attrName>
                                        </p:attrNameLst>
                                      </p:cBhvr>
                                      <p:to>
                                        <p:strVal val="visible"/>
                                      </p:to>
                                    </p:set>
                                    <p:animEffect transition="in" filter="fade">
                                      <p:cBhvr>
                                        <p:cTn id="34" dur="1000"/>
                                        <p:tgtEl>
                                          <p:spTgt spid="63"/>
                                        </p:tgtEl>
                                      </p:cBhvr>
                                    </p:animEffect>
                                  </p:childTnLst>
                                </p:cTn>
                              </p:par>
                              <p:par>
                                <p:cTn id="35" presetID="10" presetClass="entr" presetSubtype="0" fill="hold" nodeType="withEffect">
                                  <p:stCondLst>
                                    <p:cond delay="0"/>
                                  </p:stCondLst>
                                  <p:childTnLst>
                                    <p:set>
                                      <p:cBhvr>
                                        <p:cTn id="36" dur="1" fill="hold">
                                          <p:stCondLst>
                                            <p:cond delay="0"/>
                                          </p:stCondLst>
                                        </p:cTn>
                                        <p:tgtEl>
                                          <p:spTgt spid="64"/>
                                        </p:tgtEl>
                                        <p:attrNameLst>
                                          <p:attrName>style.visibility</p:attrName>
                                        </p:attrNameLst>
                                      </p:cBhvr>
                                      <p:to>
                                        <p:strVal val="visible"/>
                                      </p:to>
                                    </p:set>
                                    <p:animEffect transition="in" filter="fade">
                                      <p:cBhvr>
                                        <p:cTn id="37" dur="1000"/>
                                        <p:tgtEl>
                                          <p:spTgt spid="64"/>
                                        </p:tgtEl>
                                      </p:cBhvr>
                                    </p:animEffect>
                                  </p:childTnLst>
                                </p:cTn>
                              </p:par>
                              <p:par>
                                <p:cTn id="38" presetID="10" presetClass="entr" presetSubtype="0" fill="hold" nodeType="withEffect">
                                  <p:stCondLst>
                                    <p:cond delay="0"/>
                                  </p:stCondLst>
                                  <p:childTnLst>
                                    <p:set>
                                      <p:cBhvr>
                                        <p:cTn id="39" dur="1" fill="hold">
                                          <p:stCondLst>
                                            <p:cond delay="0"/>
                                          </p:stCondLst>
                                        </p:cTn>
                                        <p:tgtEl>
                                          <p:spTgt spid="65"/>
                                        </p:tgtEl>
                                        <p:attrNameLst>
                                          <p:attrName>style.visibility</p:attrName>
                                        </p:attrNameLst>
                                      </p:cBhvr>
                                      <p:to>
                                        <p:strVal val="visible"/>
                                      </p:to>
                                    </p:set>
                                    <p:animEffect transition="in" filter="fade">
                                      <p:cBhvr>
                                        <p:cTn id="40" dur="1000"/>
                                        <p:tgtEl>
                                          <p:spTgt spid="65"/>
                                        </p:tgtEl>
                                      </p:cBhvr>
                                    </p:animEffect>
                                  </p:childTnLst>
                                </p:cTn>
                              </p:par>
                              <p:par>
                                <p:cTn id="41" presetID="10" presetClass="entr" presetSubtype="0" fill="hold" nodeType="withEffect">
                                  <p:stCondLst>
                                    <p:cond delay="0"/>
                                  </p:stCondLst>
                                  <p:childTnLst>
                                    <p:set>
                                      <p:cBhvr>
                                        <p:cTn id="42" dur="1" fill="hold">
                                          <p:stCondLst>
                                            <p:cond delay="0"/>
                                          </p:stCondLst>
                                        </p:cTn>
                                        <p:tgtEl>
                                          <p:spTgt spid="66"/>
                                        </p:tgtEl>
                                        <p:attrNameLst>
                                          <p:attrName>style.visibility</p:attrName>
                                        </p:attrNameLst>
                                      </p:cBhvr>
                                      <p:to>
                                        <p:strVal val="visible"/>
                                      </p:to>
                                    </p:set>
                                    <p:animEffect transition="in" filter="fade">
                                      <p:cBhvr>
                                        <p:cTn id="43" dur="1000"/>
                                        <p:tgtEl>
                                          <p:spTgt spid="66"/>
                                        </p:tgtEl>
                                      </p:cBhvr>
                                    </p:animEffect>
                                  </p:childTnLst>
                                </p:cTn>
                              </p:par>
                              <p:par>
                                <p:cTn id="44" presetID="10" presetClass="entr" presetSubtype="0" fill="hold" nodeType="withEffect">
                                  <p:stCondLst>
                                    <p:cond delay="0"/>
                                  </p:stCondLst>
                                  <p:childTnLst>
                                    <p:set>
                                      <p:cBhvr>
                                        <p:cTn id="45" dur="1" fill="hold">
                                          <p:stCondLst>
                                            <p:cond delay="0"/>
                                          </p:stCondLst>
                                        </p:cTn>
                                        <p:tgtEl>
                                          <p:spTgt spid="67"/>
                                        </p:tgtEl>
                                        <p:attrNameLst>
                                          <p:attrName>style.visibility</p:attrName>
                                        </p:attrNameLst>
                                      </p:cBhvr>
                                      <p:to>
                                        <p:strVal val="visible"/>
                                      </p:to>
                                    </p:set>
                                    <p:animEffect transition="in" filter="fade">
                                      <p:cBhvr>
                                        <p:cTn id="46" dur="1000"/>
                                        <p:tgtEl>
                                          <p:spTgt spid="6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xit" presetSubtype="0" fill="hold" nodeType="clickEffect">
                                  <p:stCondLst>
                                    <p:cond delay="0"/>
                                  </p:stCondLst>
                                  <p:childTnLst>
                                    <p:animEffect transition="out" filter="fade">
                                      <p:cBhvr>
                                        <p:cTn id="50" dur="1000"/>
                                        <p:tgtEl>
                                          <p:spTgt spid="55"/>
                                        </p:tgtEl>
                                      </p:cBhvr>
                                    </p:animEffect>
                                    <p:set>
                                      <p:cBhvr>
                                        <p:cTn id="51" dur="1" fill="hold">
                                          <p:stCondLst>
                                            <p:cond delay="1000"/>
                                          </p:stCondLst>
                                        </p:cTn>
                                        <p:tgtEl>
                                          <p:spTgt spid="55"/>
                                        </p:tgtEl>
                                        <p:attrNameLst>
                                          <p:attrName>style.visibility</p:attrName>
                                        </p:attrNameLst>
                                      </p:cBhvr>
                                      <p:to>
                                        <p:strVal val="hidden"/>
                                      </p:to>
                                    </p:set>
                                  </p:childTnLst>
                                </p:cTn>
                              </p:par>
                              <p:par>
                                <p:cTn id="52" presetID="10" presetClass="exit" presetSubtype="0" fill="hold" nodeType="withEffect">
                                  <p:stCondLst>
                                    <p:cond delay="0"/>
                                  </p:stCondLst>
                                  <p:childTnLst>
                                    <p:animEffect transition="out" filter="fade">
                                      <p:cBhvr>
                                        <p:cTn id="53" dur="1000"/>
                                        <p:tgtEl>
                                          <p:spTgt spid="58"/>
                                        </p:tgtEl>
                                      </p:cBhvr>
                                    </p:animEffect>
                                    <p:set>
                                      <p:cBhvr>
                                        <p:cTn id="54" dur="1" fill="hold">
                                          <p:stCondLst>
                                            <p:cond delay="1000"/>
                                          </p:stCondLst>
                                        </p:cTn>
                                        <p:tgtEl>
                                          <p:spTgt spid="58"/>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1000"/>
                                        <p:tgtEl>
                                          <p:spTgt spid="59"/>
                                        </p:tgtEl>
                                      </p:cBhvr>
                                    </p:animEffect>
                                    <p:set>
                                      <p:cBhvr>
                                        <p:cTn id="57" dur="1" fill="hold">
                                          <p:stCondLst>
                                            <p:cond delay="1000"/>
                                          </p:stCondLst>
                                        </p:cTn>
                                        <p:tgtEl>
                                          <p:spTgt spid="59"/>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1000"/>
                                        <p:tgtEl>
                                          <p:spTgt spid="60"/>
                                        </p:tgtEl>
                                      </p:cBhvr>
                                    </p:animEffect>
                                    <p:set>
                                      <p:cBhvr>
                                        <p:cTn id="60" dur="1" fill="hold">
                                          <p:stCondLst>
                                            <p:cond delay="1000"/>
                                          </p:stCondLst>
                                        </p:cTn>
                                        <p:tgtEl>
                                          <p:spTgt spid="60"/>
                                        </p:tgtEl>
                                        <p:attrNameLst>
                                          <p:attrName>style.visibility</p:attrName>
                                        </p:attrNameLst>
                                      </p:cBhvr>
                                      <p:to>
                                        <p:strVal val="hidden"/>
                                      </p:to>
                                    </p:set>
                                  </p:childTnLst>
                                </p:cTn>
                              </p:par>
                              <p:par>
                                <p:cTn id="61" presetID="10" presetClass="exit" presetSubtype="0" fill="hold" nodeType="withEffect">
                                  <p:stCondLst>
                                    <p:cond delay="0"/>
                                  </p:stCondLst>
                                  <p:childTnLst>
                                    <p:animEffect transition="out" filter="fade">
                                      <p:cBhvr>
                                        <p:cTn id="62" dur="1000"/>
                                        <p:tgtEl>
                                          <p:spTgt spid="62"/>
                                        </p:tgtEl>
                                      </p:cBhvr>
                                    </p:animEffect>
                                    <p:set>
                                      <p:cBhvr>
                                        <p:cTn id="63" dur="1" fill="hold">
                                          <p:stCondLst>
                                            <p:cond delay="1000"/>
                                          </p:stCondLst>
                                        </p:cTn>
                                        <p:tgtEl>
                                          <p:spTgt spid="62"/>
                                        </p:tgtEl>
                                        <p:attrNameLst>
                                          <p:attrName>style.visibility</p:attrName>
                                        </p:attrNameLst>
                                      </p:cBhvr>
                                      <p:to>
                                        <p:strVal val="hidden"/>
                                      </p:to>
                                    </p:set>
                                  </p:childTnLst>
                                </p:cTn>
                              </p:par>
                              <p:par>
                                <p:cTn id="64" presetID="10" presetClass="exit" presetSubtype="0" fill="hold" nodeType="withEffect">
                                  <p:stCondLst>
                                    <p:cond delay="0"/>
                                  </p:stCondLst>
                                  <p:childTnLst>
                                    <p:animEffect transition="out" filter="fade">
                                      <p:cBhvr>
                                        <p:cTn id="65" dur="1000"/>
                                        <p:tgtEl>
                                          <p:spTgt spid="63"/>
                                        </p:tgtEl>
                                      </p:cBhvr>
                                    </p:animEffect>
                                    <p:set>
                                      <p:cBhvr>
                                        <p:cTn id="66" dur="1" fill="hold">
                                          <p:stCondLst>
                                            <p:cond delay="1000"/>
                                          </p:stCondLst>
                                        </p:cTn>
                                        <p:tgtEl>
                                          <p:spTgt spid="63"/>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1000"/>
                                        <p:tgtEl>
                                          <p:spTgt spid="64"/>
                                        </p:tgtEl>
                                      </p:cBhvr>
                                    </p:animEffect>
                                    <p:set>
                                      <p:cBhvr>
                                        <p:cTn id="69" dur="1" fill="hold">
                                          <p:stCondLst>
                                            <p:cond delay="1000"/>
                                          </p:stCondLst>
                                        </p:cTn>
                                        <p:tgtEl>
                                          <p:spTgt spid="64"/>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1000"/>
                                        <p:tgtEl>
                                          <p:spTgt spid="65"/>
                                        </p:tgtEl>
                                      </p:cBhvr>
                                    </p:animEffect>
                                    <p:set>
                                      <p:cBhvr>
                                        <p:cTn id="72" dur="1" fill="hold">
                                          <p:stCondLst>
                                            <p:cond delay="1000"/>
                                          </p:stCondLst>
                                        </p:cTn>
                                        <p:tgtEl>
                                          <p:spTgt spid="65"/>
                                        </p:tgtEl>
                                        <p:attrNameLst>
                                          <p:attrName>style.visibility</p:attrName>
                                        </p:attrNameLst>
                                      </p:cBhvr>
                                      <p:to>
                                        <p:strVal val="hidden"/>
                                      </p:to>
                                    </p:set>
                                  </p:childTnLst>
                                </p:cTn>
                              </p:par>
                              <p:par>
                                <p:cTn id="73" presetID="10" presetClass="exit" presetSubtype="0" fill="hold" nodeType="withEffect">
                                  <p:stCondLst>
                                    <p:cond delay="0"/>
                                  </p:stCondLst>
                                  <p:childTnLst>
                                    <p:animEffect transition="out" filter="fade">
                                      <p:cBhvr>
                                        <p:cTn id="74" dur="1000"/>
                                        <p:tgtEl>
                                          <p:spTgt spid="67"/>
                                        </p:tgtEl>
                                      </p:cBhvr>
                                    </p:animEffect>
                                    <p:set>
                                      <p:cBhvr>
                                        <p:cTn id="75" dur="1" fill="hold">
                                          <p:stCondLst>
                                            <p:cond delay="1000"/>
                                          </p:stCondLst>
                                        </p:cTn>
                                        <p:tgtEl>
                                          <p:spTgt spid="67"/>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1000"/>
                                        <p:tgtEl>
                                          <p:spTgt spid="61"/>
                                        </p:tgtEl>
                                      </p:cBhvr>
                                    </p:animEffect>
                                    <p:set>
                                      <p:cBhvr>
                                        <p:cTn id="78" dur="1" fill="hold">
                                          <p:stCondLst>
                                            <p:cond delay="1000"/>
                                          </p:stCondLst>
                                        </p:cTn>
                                        <p:tgtEl>
                                          <p:spTgt spid="6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cxnSp>
        <p:nvCxnSpPr>
          <p:cNvPr id="72" name="Google Shape;72;p14"/>
          <p:cNvCxnSpPr/>
          <p:nvPr/>
        </p:nvCxnSpPr>
        <p:spPr>
          <a:xfrm>
            <a:off x="1104900" y="5108550"/>
            <a:ext cx="7543800" cy="0"/>
          </a:xfrm>
          <a:prstGeom prst="straightConnector1">
            <a:avLst/>
          </a:prstGeom>
          <a:noFill/>
          <a:ln w="38100" cap="flat" cmpd="sng">
            <a:solidFill>
              <a:srgbClr val="595959"/>
            </a:solidFill>
            <a:prstDash val="solid"/>
            <a:round/>
            <a:headEnd type="none" w="med" len="med"/>
            <a:tailEnd type="triangle" w="med" len="med"/>
          </a:ln>
        </p:spPr>
      </p:cxnSp>
      <p:cxnSp>
        <p:nvCxnSpPr>
          <p:cNvPr id="73" name="Google Shape;73;p14"/>
          <p:cNvCxnSpPr/>
          <p:nvPr/>
        </p:nvCxnSpPr>
        <p:spPr>
          <a:xfrm>
            <a:off x="1866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74" name="Google Shape;74;p14"/>
          <p:cNvCxnSpPr/>
          <p:nvPr/>
        </p:nvCxnSpPr>
        <p:spPr>
          <a:xfrm>
            <a:off x="2628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75" name="Google Shape;75;p14"/>
          <p:cNvCxnSpPr/>
          <p:nvPr/>
        </p:nvCxnSpPr>
        <p:spPr>
          <a:xfrm>
            <a:off x="3390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76" name="Google Shape;76;p14"/>
          <p:cNvCxnSpPr/>
          <p:nvPr/>
        </p:nvCxnSpPr>
        <p:spPr>
          <a:xfrm>
            <a:off x="4152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77" name="Google Shape;77;p14"/>
          <p:cNvCxnSpPr/>
          <p:nvPr/>
        </p:nvCxnSpPr>
        <p:spPr>
          <a:xfrm>
            <a:off x="4914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78" name="Google Shape;78;p14"/>
          <p:cNvCxnSpPr/>
          <p:nvPr/>
        </p:nvCxnSpPr>
        <p:spPr>
          <a:xfrm>
            <a:off x="5676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79" name="Google Shape;79;p14"/>
          <p:cNvCxnSpPr/>
          <p:nvPr/>
        </p:nvCxnSpPr>
        <p:spPr>
          <a:xfrm>
            <a:off x="6438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80" name="Google Shape;80;p14"/>
          <p:cNvCxnSpPr/>
          <p:nvPr/>
        </p:nvCxnSpPr>
        <p:spPr>
          <a:xfrm>
            <a:off x="7200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81" name="Google Shape;81;p14"/>
          <p:cNvCxnSpPr/>
          <p:nvPr/>
        </p:nvCxnSpPr>
        <p:spPr>
          <a:xfrm>
            <a:off x="7962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82" name="Google Shape;82;p14"/>
          <p:cNvCxnSpPr/>
          <p:nvPr/>
        </p:nvCxnSpPr>
        <p:spPr>
          <a:xfrm>
            <a:off x="2628900" y="5375250"/>
            <a:ext cx="762000" cy="0"/>
          </a:xfrm>
          <a:prstGeom prst="straightConnector1">
            <a:avLst/>
          </a:prstGeom>
          <a:noFill/>
          <a:ln w="38100" cap="flat" cmpd="sng">
            <a:solidFill>
              <a:srgbClr val="595959"/>
            </a:solidFill>
            <a:prstDash val="solid"/>
            <a:round/>
            <a:headEnd type="triangle" w="med" len="med"/>
            <a:tailEnd type="triangle" w="med" len="med"/>
          </a:ln>
        </p:spPr>
      </p:cxnSp>
      <p:sp>
        <p:nvSpPr>
          <p:cNvPr id="83" name="Google Shape;83;p14"/>
          <p:cNvSpPr txBox="1"/>
          <p:nvPr/>
        </p:nvSpPr>
        <p:spPr>
          <a:xfrm>
            <a:off x="2628900" y="5375250"/>
            <a:ext cx="762000" cy="266700"/>
          </a:xfrm>
          <a:prstGeom prst="rect">
            <a:avLst/>
          </a:prstGeom>
          <a:noFill/>
          <a:ln>
            <a:noFill/>
          </a:ln>
        </p:spPr>
        <p:txBody>
          <a:bodyPr spcFirstLastPara="1" wrap="square" lIns="45713" tIns="45713" rIns="45713" bIns="45713" anchor="ctr" anchorCtr="0">
            <a:noAutofit/>
          </a:bodyPr>
          <a:lstStyle/>
          <a:p>
            <a:pPr algn="ctr"/>
            <a:r>
              <a:rPr lang="en" sz="1200"/>
              <a:t>1 ms</a:t>
            </a:r>
            <a:endParaRPr sz="1200"/>
          </a:p>
        </p:txBody>
      </p:sp>
      <p:sp>
        <p:nvSpPr>
          <p:cNvPr id="84" name="Google Shape;84;p14"/>
          <p:cNvSpPr txBox="1"/>
          <p:nvPr/>
        </p:nvSpPr>
        <p:spPr>
          <a:xfrm>
            <a:off x="457200" y="4460850"/>
            <a:ext cx="495300" cy="419100"/>
          </a:xfrm>
          <a:prstGeom prst="rect">
            <a:avLst/>
          </a:prstGeom>
          <a:noFill/>
          <a:ln>
            <a:noFill/>
          </a:ln>
        </p:spPr>
        <p:txBody>
          <a:bodyPr spcFirstLastPara="1" wrap="square" lIns="45713" tIns="45713" rIns="45713" bIns="45713" anchor="ctr" anchorCtr="0">
            <a:noAutofit/>
          </a:bodyPr>
          <a:lstStyle/>
          <a:p>
            <a:pPr algn="r"/>
            <a:r>
              <a:rPr lang="en" sz="1200"/>
              <a:t>OS</a:t>
            </a:r>
            <a:endParaRPr sz="1200"/>
          </a:p>
        </p:txBody>
      </p:sp>
      <p:sp>
        <p:nvSpPr>
          <p:cNvPr id="85" name="Google Shape;85;p14"/>
          <p:cNvSpPr/>
          <p:nvPr/>
        </p:nvSpPr>
        <p:spPr>
          <a:xfrm>
            <a:off x="1943100" y="3813150"/>
            <a:ext cx="586800" cy="34290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buClr>
                <a:srgbClr val="000000"/>
              </a:buClr>
              <a:buSzPts val="1100"/>
            </a:pPr>
            <a:r>
              <a:rPr lang="en" sz="1200">
                <a:solidFill>
                  <a:srgbClr val="000000"/>
                </a:solidFill>
              </a:rPr>
              <a:t>Task A</a:t>
            </a:r>
            <a:endParaRPr sz="1200">
              <a:solidFill>
                <a:srgbClr val="000000"/>
              </a:solidFill>
            </a:endParaRPr>
          </a:p>
        </p:txBody>
      </p:sp>
      <p:sp>
        <p:nvSpPr>
          <p:cNvPr id="86" name="Google Shape;86;p14"/>
          <p:cNvSpPr/>
          <p:nvPr/>
        </p:nvSpPr>
        <p:spPr>
          <a:xfrm>
            <a:off x="1181100" y="3813150"/>
            <a:ext cx="685800" cy="34290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Task A</a:t>
            </a:r>
            <a:endParaRPr sz="1200"/>
          </a:p>
        </p:txBody>
      </p:sp>
      <p:sp>
        <p:nvSpPr>
          <p:cNvPr id="87" name="Google Shape;87;p14"/>
          <p:cNvSpPr txBox="1"/>
          <p:nvPr/>
        </p:nvSpPr>
        <p:spPr>
          <a:xfrm>
            <a:off x="8077200" y="5146650"/>
            <a:ext cx="762000" cy="266700"/>
          </a:xfrm>
          <a:prstGeom prst="rect">
            <a:avLst/>
          </a:prstGeom>
          <a:noFill/>
          <a:ln>
            <a:noFill/>
          </a:ln>
        </p:spPr>
        <p:txBody>
          <a:bodyPr spcFirstLastPara="1" wrap="square" lIns="45713" tIns="45713" rIns="45713" bIns="45713" anchor="ctr" anchorCtr="0">
            <a:noAutofit/>
          </a:bodyPr>
          <a:lstStyle/>
          <a:p>
            <a:pPr algn="ctr"/>
            <a:r>
              <a:rPr lang="en" sz="1200"/>
              <a:t>time</a:t>
            </a:r>
            <a:endParaRPr sz="1200"/>
          </a:p>
        </p:txBody>
      </p:sp>
      <p:sp>
        <p:nvSpPr>
          <p:cNvPr id="88" name="Google Shape;88;p14"/>
          <p:cNvSpPr txBox="1"/>
          <p:nvPr/>
        </p:nvSpPr>
        <p:spPr>
          <a:xfrm>
            <a:off x="457200" y="3775050"/>
            <a:ext cx="495300" cy="419100"/>
          </a:xfrm>
          <a:prstGeom prst="rect">
            <a:avLst/>
          </a:prstGeom>
          <a:noFill/>
          <a:ln>
            <a:noFill/>
          </a:ln>
        </p:spPr>
        <p:txBody>
          <a:bodyPr spcFirstLastPara="1" wrap="square" lIns="45713" tIns="45713" rIns="45713" bIns="45713" anchor="ctr" anchorCtr="0">
            <a:noAutofit/>
          </a:bodyPr>
          <a:lstStyle/>
          <a:p>
            <a:pPr algn="r"/>
            <a:r>
              <a:rPr lang="en" sz="1200"/>
              <a:t>0</a:t>
            </a:r>
            <a:endParaRPr sz="1200"/>
          </a:p>
        </p:txBody>
      </p:sp>
      <p:sp>
        <p:nvSpPr>
          <p:cNvPr id="89" name="Google Shape;89;p14"/>
          <p:cNvSpPr/>
          <p:nvPr/>
        </p:nvSpPr>
        <p:spPr>
          <a:xfrm>
            <a:off x="18669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90" name="Google Shape;90;p14"/>
          <p:cNvSpPr/>
          <p:nvPr/>
        </p:nvSpPr>
        <p:spPr>
          <a:xfrm>
            <a:off x="11049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91" name="Google Shape;91;p14"/>
          <p:cNvSpPr txBox="1"/>
          <p:nvPr/>
        </p:nvSpPr>
        <p:spPr>
          <a:xfrm>
            <a:off x="457200" y="3089250"/>
            <a:ext cx="495300" cy="419100"/>
          </a:xfrm>
          <a:prstGeom prst="rect">
            <a:avLst/>
          </a:prstGeom>
          <a:noFill/>
          <a:ln>
            <a:noFill/>
          </a:ln>
        </p:spPr>
        <p:txBody>
          <a:bodyPr spcFirstLastPara="1" wrap="square" lIns="45713" tIns="45713" rIns="45713" bIns="45713" anchor="ctr" anchorCtr="0">
            <a:noAutofit/>
          </a:bodyPr>
          <a:lstStyle/>
          <a:p>
            <a:pPr algn="r"/>
            <a:r>
              <a:rPr lang="en" sz="1200"/>
              <a:t>1</a:t>
            </a:r>
            <a:endParaRPr sz="1200"/>
          </a:p>
        </p:txBody>
      </p:sp>
      <p:sp>
        <p:nvSpPr>
          <p:cNvPr id="92" name="Google Shape;92;p14"/>
          <p:cNvSpPr txBox="1"/>
          <p:nvPr/>
        </p:nvSpPr>
        <p:spPr>
          <a:xfrm rot="-5400000">
            <a:off x="600075" y="2790825"/>
            <a:ext cx="438150" cy="419100"/>
          </a:xfrm>
          <a:prstGeom prst="rect">
            <a:avLst/>
          </a:prstGeom>
          <a:noFill/>
          <a:ln>
            <a:noFill/>
          </a:ln>
        </p:spPr>
        <p:txBody>
          <a:bodyPr spcFirstLastPara="1" wrap="square" lIns="45713" tIns="45713" rIns="45713" bIns="45713" anchor="ctr" anchorCtr="0">
            <a:noAutofit/>
          </a:bodyPr>
          <a:lstStyle/>
          <a:p>
            <a:pPr algn="ctr"/>
            <a:r>
              <a:rPr lang="en" sz="1200"/>
              <a:t>...</a:t>
            </a:r>
            <a:endParaRPr sz="1200"/>
          </a:p>
        </p:txBody>
      </p:sp>
      <p:sp>
        <p:nvSpPr>
          <p:cNvPr id="93" name="Google Shape;93;p14"/>
          <p:cNvSpPr/>
          <p:nvPr/>
        </p:nvSpPr>
        <p:spPr>
          <a:xfrm>
            <a:off x="2529900" y="4498950"/>
            <a:ext cx="937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Idle</a:t>
            </a:r>
            <a:endParaRPr sz="1200"/>
          </a:p>
        </p:txBody>
      </p:sp>
      <p:sp>
        <p:nvSpPr>
          <p:cNvPr id="94" name="Google Shape;94;p14"/>
          <p:cNvSpPr/>
          <p:nvPr/>
        </p:nvSpPr>
        <p:spPr>
          <a:xfrm>
            <a:off x="3467100" y="3813150"/>
            <a:ext cx="685800" cy="34290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rgbClr val="000000"/>
                </a:solidFill>
              </a:rPr>
              <a:t>Task A</a:t>
            </a:r>
            <a:endParaRPr sz="1200">
              <a:solidFill>
                <a:srgbClr val="000000"/>
              </a:solidFill>
            </a:endParaRPr>
          </a:p>
        </p:txBody>
      </p:sp>
      <p:sp>
        <p:nvSpPr>
          <p:cNvPr id="95" name="Google Shape;95;p14"/>
          <p:cNvSpPr/>
          <p:nvPr/>
        </p:nvSpPr>
        <p:spPr>
          <a:xfrm>
            <a:off x="4229100" y="3127350"/>
            <a:ext cx="685800" cy="34290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rgbClr val="000000"/>
                </a:solidFill>
              </a:rPr>
              <a:t>Task B</a:t>
            </a:r>
            <a:endParaRPr sz="1200">
              <a:solidFill>
                <a:srgbClr val="000000"/>
              </a:solidFill>
            </a:endParaRPr>
          </a:p>
        </p:txBody>
      </p:sp>
      <p:sp>
        <p:nvSpPr>
          <p:cNvPr id="96" name="Google Shape;96;p14"/>
          <p:cNvSpPr/>
          <p:nvPr/>
        </p:nvSpPr>
        <p:spPr>
          <a:xfrm>
            <a:off x="41529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97" name="Google Shape;97;p14"/>
          <p:cNvSpPr/>
          <p:nvPr/>
        </p:nvSpPr>
        <p:spPr>
          <a:xfrm>
            <a:off x="4991100" y="3127350"/>
            <a:ext cx="685800" cy="34290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rgbClr val="000000"/>
                </a:solidFill>
              </a:rPr>
              <a:t>Task C</a:t>
            </a:r>
            <a:endParaRPr sz="1200">
              <a:solidFill>
                <a:srgbClr val="000000"/>
              </a:solidFill>
            </a:endParaRPr>
          </a:p>
        </p:txBody>
      </p:sp>
      <p:sp>
        <p:nvSpPr>
          <p:cNvPr id="98" name="Google Shape;98;p14"/>
          <p:cNvSpPr/>
          <p:nvPr/>
        </p:nvSpPr>
        <p:spPr>
          <a:xfrm>
            <a:off x="49149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99" name="Google Shape;99;p14"/>
          <p:cNvSpPr/>
          <p:nvPr/>
        </p:nvSpPr>
        <p:spPr>
          <a:xfrm>
            <a:off x="5753100" y="3127350"/>
            <a:ext cx="228600" cy="34290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solidFill>
                <a:srgbClr val="000000"/>
              </a:solidFill>
            </a:endParaRPr>
          </a:p>
        </p:txBody>
      </p:sp>
      <p:sp>
        <p:nvSpPr>
          <p:cNvPr id="100" name="Google Shape;100;p14"/>
          <p:cNvSpPr/>
          <p:nvPr/>
        </p:nvSpPr>
        <p:spPr>
          <a:xfrm>
            <a:off x="56769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101" name="Google Shape;101;p14"/>
          <p:cNvSpPr/>
          <p:nvPr/>
        </p:nvSpPr>
        <p:spPr>
          <a:xfrm>
            <a:off x="6515100" y="3127350"/>
            <a:ext cx="685800" cy="34290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rgbClr val="000000"/>
                </a:solidFill>
              </a:rPr>
              <a:t>Task C</a:t>
            </a:r>
            <a:endParaRPr sz="1200">
              <a:solidFill>
                <a:srgbClr val="000000"/>
              </a:solidFill>
            </a:endParaRPr>
          </a:p>
        </p:txBody>
      </p:sp>
      <p:sp>
        <p:nvSpPr>
          <p:cNvPr id="102" name="Google Shape;102;p14"/>
          <p:cNvSpPr/>
          <p:nvPr/>
        </p:nvSpPr>
        <p:spPr>
          <a:xfrm>
            <a:off x="64389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103" name="Google Shape;103;p14"/>
          <p:cNvSpPr/>
          <p:nvPr/>
        </p:nvSpPr>
        <p:spPr>
          <a:xfrm>
            <a:off x="72009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104" name="Google Shape;104;p14"/>
          <p:cNvSpPr/>
          <p:nvPr/>
        </p:nvSpPr>
        <p:spPr>
          <a:xfrm>
            <a:off x="7277100" y="3813150"/>
            <a:ext cx="685800" cy="34290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rgbClr val="000000"/>
                </a:solidFill>
              </a:rPr>
              <a:t>Task A</a:t>
            </a:r>
            <a:endParaRPr sz="1200">
              <a:solidFill>
                <a:srgbClr val="000000"/>
              </a:solidFill>
            </a:endParaRPr>
          </a:p>
        </p:txBody>
      </p:sp>
      <p:sp>
        <p:nvSpPr>
          <p:cNvPr id="105" name="Google Shape;105;p14"/>
          <p:cNvSpPr txBox="1"/>
          <p:nvPr/>
        </p:nvSpPr>
        <p:spPr>
          <a:xfrm>
            <a:off x="228600" y="2380625"/>
            <a:ext cx="723900" cy="495900"/>
          </a:xfrm>
          <a:prstGeom prst="rect">
            <a:avLst/>
          </a:prstGeom>
          <a:noFill/>
          <a:ln>
            <a:noFill/>
          </a:ln>
        </p:spPr>
        <p:txBody>
          <a:bodyPr spcFirstLastPara="1" wrap="square" lIns="45713" tIns="45713" rIns="45713" bIns="45713" anchor="ctr" anchorCtr="0">
            <a:noAutofit/>
          </a:bodyPr>
          <a:lstStyle/>
          <a:p>
            <a:pPr algn="r"/>
            <a:r>
              <a:rPr lang="en" sz="1500"/>
              <a:t>Priority (S/W)</a:t>
            </a:r>
            <a:endParaRPr sz="1500"/>
          </a:p>
        </p:txBody>
      </p:sp>
      <p:sp>
        <p:nvSpPr>
          <p:cNvPr id="106" name="Google Shape;106;p14"/>
          <p:cNvSpPr txBox="1"/>
          <p:nvPr/>
        </p:nvSpPr>
        <p:spPr>
          <a:xfrm>
            <a:off x="0" y="857250"/>
            <a:ext cx="9144000" cy="706200"/>
          </a:xfrm>
          <a:prstGeom prst="rect">
            <a:avLst/>
          </a:prstGeom>
          <a:noFill/>
          <a:ln>
            <a:noFill/>
          </a:ln>
        </p:spPr>
        <p:txBody>
          <a:bodyPr spcFirstLastPara="1" wrap="square" lIns="45713" tIns="45713" rIns="45713" bIns="45713" anchor="ctr" anchorCtr="0">
            <a:noAutofit/>
          </a:bodyPr>
          <a:lstStyle/>
          <a:p>
            <a:pPr algn="ctr"/>
            <a:r>
              <a:rPr lang="en" sz="2400"/>
              <a:t>What actually happens*</a:t>
            </a:r>
            <a:endParaRPr sz="2400"/>
          </a:p>
        </p:txBody>
      </p:sp>
      <p:sp>
        <p:nvSpPr>
          <p:cNvPr id="107" name="Google Shape;107;p14"/>
          <p:cNvSpPr/>
          <p:nvPr/>
        </p:nvSpPr>
        <p:spPr>
          <a:xfrm>
            <a:off x="5981700" y="1924050"/>
            <a:ext cx="76200" cy="342900"/>
          </a:xfrm>
          <a:prstGeom prst="rect">
            <a:avLst/>
          </a:prstGeom>
          <a:solidFill>
            <a:srgbClr val="F4CC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solidFill>
                <a:srgbClr val="000000"/>
              </a:solidFill>
            </a:endParaRPr>
          </a:p>
        </p:txBody>
      </p:sp>
      <p:sp>
        <p:nvSpPr>
          <p:cNvPr id="108" name="Google Shape;108;p14"/>
          <p:cNvSpPr/>
          <p:nvPr/>
        </p:nvSpPr>
        <p:spPr>
          <a:xfrm>
            <a:off x="6057900" y="3127350"/>
            <a:ext cx="381000" cy="34290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solidFill>
                <a:srgbClr val="000000"/>
              </a:solidFill>
            </a:endParaRPr>
          </a:p>
        </p:txBody>
      </p:sp>
      <p:sp>
        <p:nvSpPr>
          <p:cNvPr id="109" name="Google Shape;109;p14"/>
          <p:cNvSpPr txBox="1"/>
          <p:nvPr/>
        </p:nvSpPr>
        <p:spPr>
          <a:xfrm>
            <a:off x="228600" y="1809750"/>
            <a:ext cx="723900" cy="533400"/>
          </a:xfrm>
          <a:prstGeom prst="rect">
            <a:avLst/>
          </a:prstGeom>
          <a:noFill/>
          <a:ln>
            <a:noFill/>
          </a:ln>
        </p:spPr>
        <p:txBody>
          <a:bodyPr spcFirstLastPara="1" wrap="square" lIns="45713" tIns="45713" rIns="45713" bIns="45713" anchor="ctr" anchorCtr="0">
            <a:noAutofit/>
          </a:bodyPr>
          <a:lstStyle/>
          <a:p>
            <a:pPr algn="r"/>
            <a:r>
              <a:rPr lang="en" sz="1500"/>
              <a:t>ISR</a:t>
            </a:r>
            <a:endParaRPr sz="1500"/>
          </a:p>
          <a:p>
            <a:pPr algn="r"/>
            <a:r>
              <a:rPr lang="en" sz="1500"/>
              <a:t>(H/W)</a:t>
            </a:r>
            <a:endParaRPr sz="1500"/>
          </a:p>
        </p:txBody>
      </p:sp>
      <p:sp>
        <p:nvSpPr>
          <p:cNvPr id="110" name="Google Shape;110;p14"/>
          <p:cNvSpPr txBox="1"/>
          <p:nvPr/>
        </p:nvSpPr>
        <p:spPr>
          <a:xfrm>
            <a:off x="7101900" y="1296750"/>
            <a:ext cx="2042100" cy="266700"/>
          </a:xfrm>
          <a:prstGeom prst="rect">
            <a:avLst/>
          </a:prstGeom>
          <a:noFill/>
          <a:ln>
            <a:noFill/>
          </a:ln>
        </p:spPr>
        <p:txBody>
          <a:bodyPr spcFirstLastPara="1" wrap="square" lIns="45713" tIns="45713" rIns="45713" bIns="45713" anchor="ctr" anchorCtr="0">
            <a:noAutofit/>
          </a:bodyPr>
          <a:lstStyle/>
          <a:p>
            <a:pPr algn="ctr"/>
            <a:r>
              <a:rPr lang="en" sz="900"/>
              <a:t>*assuming single-core processor</a:t>
            </a:r>
            <a:endParaRPr sz="900"/>
          </a:p>
        </p:txBody>
      </p:sp>
      <p:sp>
        <p:nvSpPr>
          <p:cNvPr id="111" name="Google Shape;111;p14"/>
          <p:cNvSpPr txBox="1"/>
          <p:nvPr/>
        </p:nvSpPr>
        <p:spPr>
          <a:xfrm>
            <a:off x="2700675" y="5146650"/>
            <a:ext cx="618450" cy="228600"/>
          </a:xfrm>
          <a:prstGeom prst="rect">
            <a:avLst/>
          </a:prstGeom>
          <a:noFill/>
          <a:ln>
            <a:noFill/>
          </a:ln>
        </p:spPr>
        <p:txBody>
          <a:bodyPr spcFirstLastPara="1" wrap="square" lIns="45713" tIns="45713" rIns="45713" bIns="45713" anchor="ctr" anchorCtr="0">
            <a:noAutofit/>
          </a:bodyPr>
          <a:lstStyle/>
          <a:p>
            <a:pPr algn="ctr"/>
            <a:r>
              <a:rPr lang="en" sz="1200"/>
              <a:t>“tick”</a:t>
            </a:r>
            <a:endParaRPr sz="1200"/>
          </a:p>
        </p:txBody>
      </p:sp>
      <p:sp>
        <p:nvSpPr>
          <p:cNvPr id="112" name="Google Shape;112;p14"/>
          <p:cNvSpPr txBox="1"/>
          <p:nvPr/>
        </p:nvSpPr>
        <p:spPr>
          <a:xfrm>
            <a:off x="3390900" y="1610400"/>
            <a:ext cx="2214300" cy="228600"/>
          </a:xfrm>
          <a:prstGeom prst="rect">
            <a:avLst/>
          </a:prstGeom>
          <a:noFill/>
          <a:ln>
            <a:noFill/>
          </a:ln>
        </p:spPr>
        <p:txBody>
          <a:bodyPr spcFirstLastPara="1" wrap="square" lIns="45713" tIns="45713" rIns="45713" bIns="45713" anchor="ctr" anchorCtr="0">
            <a:noAutofit/>
          </a:bodyPr>
          <a:lstStyle/>
          <a:p>
            <a:pPr algn="ctr"/>
            <a:r>
              <a:rPr lang="en" sz="1200"/>
              <a:t>“preemptive scheduling”</a:t>
            </a:r>
            <a:endParaRPr sz="1200"/>
          </a:p>
        </p:txBody>
      </p:sp>
      <p:sp>
        <p:nvSpPr>
          <p:cNvPr id="113" name="Google Shape;113;p14"/>
          <p:cNvSpPr/>
          <p:nvPr/>
        </p:nvSpPr>
        <p:spPr>
          <a:xfrm>
            <a:off x="5739150" y="1814850"/>
            <a:ext cx="561300" cy="561300"/>
          </a:xfrm>
          <a:prstGeom prst="ellipse">
            <a:avLst/>
          </a:prstGeom>
          <a:noFill/>
          <a:ln w="38100" cap="flat" cmpd="sng">
            <a:solidFill>
              <a:srgbClr val="FF000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114" name="Google Shape;114;p14"/>
          <p:cNvSpPr txBox="1"/>
          <p:nvPr/>
        </p:nvSpPr>
        <p:spPr>
          <a:xfrm>
            <a:off x="5529538" y="1515800"/>
            <a:ext cx="3238350" cy="323151"/>
          </a:xfrm>
          <a:prstGeom prst="rect">
            <a:avLst/>
          </a:prstGeom>
          <a:noFill/>
          <a:ln>
            <a:noFill/>
          </a:ln>
        </p:spPr>
        <p:txBody>
          <a:bodyPr spcFirstLastPara="1" wrap="square" lIns="45713" tIns="45713" rIns="45713" bIns="45713" anchor="ctr" anchorCtr="0">
            <a:spAutoFit/>
          </a:bodyPr>
          <a:lstStyle/>
          <a:p>
            <a:r>
              <a:rPr lang="en" sz="1500"/>
              <a:t>Interrupt Service Routine (ISR)</a:t>
            </a:r>
            <a:endParaRPr sz="1500"/>
          </a:p>
        </p:txBody>
      </p:sp>
      <p:cxnSp>
        <p:nvCxnSpPr>
          <p:cNvPr id="115" name="Google Shape;115;p14"/>
          <p:cNvCxnSpPr/>
          <p:nvPr/>
        </p:nvCxnSpPr>
        <p:spPr>
          <a:xfrm flipH="1">
            <a:off x="6056625" y="1823413"/>
            <a:ext cx="314850" cy="214800"/>
          </a:xfrm>
          <a:prstGeom prst="straightConnector1">
            <a:avLst/>
          </a:prstGeom>
          <a:noFill/>
          <a:ln w="38100" cap="flat" cmpd="sng">
            <a:solidFill>
              <a:schemeClr val="dk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fade">
                                      <p:cBhvr>
                                        <p:cTn id="7" dur="1000"/>
                                        <p:tgtEl>
                                          <p:spTgt spid="1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4"/>
                                        </p:tgtEl>
                                        <p:attrNameLst>
                                          <p:attrName>style.visibility</p:attrName>
                                        </p:attrNameLst>
                                      </p:cBhvr>
                                      <p:to>
                                        <p:strVal val="visible"/>
                                      </p:to>
                                    </p:set>
                                    <p:animEffect transition="in" filter="fade">
                                      <p:cBhvr>
                                        <p:cTn id="12" dur="1000"/>
                                        <p:tgtEl>
                                          <p:spTgt spid="114"/>
                                        </p:tgtEl>
                                      </p:cBhvr>
                                    </p:animEffect>
                                  </p:childTnLst>
                                </p:cTn>
                              </p:par>
                              <p:par>
                                <p:cTn id="13" presetID="10" presetClass="entr" presetSubtype="0" fill="hold" nodeType="withEffect">
                                  <p:stCondLst>
                                    <p:cond delay="0"/>
                                  </p:stCondLst>
                                  <p:childTnLst>
                                    <p:set>
                                      <p:cBhvr>
                                        <p:cTn id="14" dur="1" fill="hold">
                                          <p:stCondLst>
                                            <p:cond delay="0"/>
                                          </p:stCondLst>
                                        </p:cTn>
                                        <p:tgtEl>
                                          <p:spTgt spid="115"/>
                                        </p:tgtEl>
                                        <p:attrNameLst>
                                          <p:attrName>style.visibility</p:attrName>
                                        </p:attrNameLst>
                                      </p:cBhvr>
                                      <p:to>
                                        <p:strVal val="visible"/>
                                      </p:to>
                                    </p:set>
                                    <p:animEffect transition="in" filter="fade">
                                      <p:cBhvr>
                                        <p:cTn id="15" dur="10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cxnSp>
        <p:nvCxnSpPr>
          <p:cNvPr id="120" name="Google Shape;120;p15"/>
          <p:cNvCxnSpPr/>
          <p:nvPr/>
        </p:nvCxnSpPr>
        <p:spPr>
          <a:xfrm>
            <a:off x="1104900" y="5108550"/>
            <a:ext cx="7543800" cy="0"/>
          </a:xfrm>
          <a:prstGeom prst="straightConnector1">
            <a:avLst/>
          </a:prstGeom>
          <a:noFill/>
          <a:ln w="38100" cap="flat" cmpd="sng">
            <a:solidFill>
              <a:srgbClr val="595959"/>
            </a:solidFill>
            <a:prstDash val="solid"/>
            <a:round/>
            <a:headEnd type="none" w="med" len="med"/>
            <a:tailEnd type="triangle" w="med" len="med"/>
          </a:ln>
        </p:spPr>
      </p:cxnSp>
      <p:cxnSp>
        <p:nvCxnSpPr>
          <p:cNvPr id="121" name="Google Shape;121;p15"/>
          <p:cNvCxnSpPr/>
          <p:nvPr/>
        </p:nvCxnSpPr>
        <p:spPr>
          <a:xfrm>
            <a:off x="1866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122" name="Google Shape;122;p15"/>
          <p:cNvCxnSpPr/>
          <p:nvPr/>
        </p:nvCxnSpPr>
        <p:spPr>
          <a:xfrm>
            <a:off x="2628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123" name="Google Shape;123;p15"/>
          <p:cNvCxnSpPr/>
          <p:nvPr/>
        </p:nvCxnSpPr>
        <p:spPr>
          <a:xfrm>
            <a:off x="3390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124" name="Google Shape;124;p15"/>
          <p:cNvCxnSpPr/>
          <p:nvPr/>
        </p:nvCxnSpPr>
        <p:spPr>
          <a:xfrm>
            <a:off x="4152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125" name="Google Shape;125;p15"/>
          <p:cNvCxnSpPr/>
          <p:nvPr/>
        </p:nvCxnSpPr>
        <p:spPr>
          <a:xfrm>
            <a:off x="4914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126" name="Google Shape;126;p15"/>
          <p:cNvCxnSpPr/>
          <p:nvPr/>
        </p:nvCxnSpPr>
        <p:spPr>
          <a:xfrm>
            <a:off x="5676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127" name="Google Shape;127;p15"/>
          <p:cNvCxnSpPr/>
          <p:nvPr/>
        </p:nvCxnSpPr>
        <p:spPr>
          <a:xfrm>
            <a:off x="6438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128" name="Google Shape;128;p15"/>
          <p:cNvCxnSpPr/>
          <p:nvPr/>
        </p:nvCxnSpPr>
        <p:spPr>
          <a:xfrm>
            <a:off x="7200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129" name="Google Shape;129;p15"/>
          <p:cNvCxnSpPr/>
          <p:nvPr/>
        </p:nvCxnSpPr>
        <p:spPr>
          <a:xfrm>
            <a:off x="7962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130" name="Google Shape;130;p15"/>
          <p:cNvCxnSpPr/>
          <p:nvPr/>
        </p:nvCxnSpPr>
        <p:spPr>
          <a:xfrm>
            <a:off x="2628900" y="5375250"/>
            <a:ext cx="762000" cy="0"/>
          </a:xfrm>
          <a:prstGeom prst="straightConnector1">
            <a:avLst/>
          </a:prstGeom>
          <a:noFill/>
          <a:ln w="38100" cap="flat" cmpd="sng">
            <a:solidFill>
              <a:srgbClr val="595959"/>
            </a:solidFill>
            <a:prstDash val="solid"/>
            <a:round/>
            <a:headEnd type="triangle" w="med" len="med"/>
            <a:tailEnd type="triangle" w="med" len="med"/>
          </a:ln>
        </p:spPr>
      </p:cxnSp>
      <p:sp>
        <p:nvSpPr>
          <p:cNvPr id="131" name="Google Shape;131;p15"/>
          <p:cNvSpPr txBox="1"/>
          <p:nvPr/>
        </p:nvSpPr>
        <p:spPr>
          <a:xfrm>
            <a:off x="2628900" y="5375250"/>
            <a:ext cx="762000" cy="266700"/>
          </a:xfrm>
          <a:prstGeom prst="rect">
            <a:avLst/>
          </a:prstGeom>
          <a:noFill/>
          <a:ln>
            <a:noFill/>
          </a:ln>
        </p:spPr>
        <p:txBody>
          <a:bodyPr spcFirstLastPara="1" wrap="square" lIns="45713" tIns="45713" rIns="45713" bIns="45713" anchor="ctr" anchorCtr="0">
            <a:noAutofit/>
          </a:bodyPr>
          <a:lstStyle/>
          <a:p>
            <a:pPr algn="ctr"/>
            <a:r>
              <a:rPr lang="en" sz="1200"/>
              <a:t>1 ms</a:t>
            </a:r>
            <a:endParaRPr sz="1200"/>
          </a:p>
        </p:txBody>
      </p:sp>
      <p:sp>
        <p:nvSpPr>
          <p:cNvPr id="132" name="Google Shape;132;p15"/>
          <p:cNvSpPr txBox="1"/>
          <p:nvPr/>
        </p:nvSpPr>
        <p:spPr>
          <a:xfrm>
            <a:off x="457200" y="4460850"/>
            <a:ext cx="495300" cy="419100"/>
          </a:xfrm>
          <a:prstGeom prst="rect">
            <a:avLst/>
          </a:prstGeom>
          <a:noFill/>
          <a:ln>
            <a:noFill/>
          </a:ln>
        </p:spPr>
        <p:txBody>
          <a:bodyPr spcFirstLastPara="1" wrap="square" lIns="45713" tIns="45713" rIns="45713" bIns="45713" anchor="ctr" anchorCtr="0">
            <a:noAutofit/>
          </a:bodyPr>
          <a:lstStyle/>
          <a:p>
            <a:pPr algn="r"/>
            <a:r>
              <a:rPr lang="en" sz="1200"/>
              <a:t>OS</a:t>
            </a:r>
            <a:endParaRPr sz="1200"/>
          </a:p>
        </p:txBody>
      </p:sp>
      <p:sp>
        <p:nvSpPr>
          <p:cNvPr id="133" name="Google Shape;133;p15"/>
          <p:cNvSpPr/>
          <p:nvPr/>
        </p:nvSpPr>
        <p:spPr>
          <a:xfrm>
            <a:off x="1943100" y="3813150"/>
            <a:ext cx="586800" cy="34290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buClr>
                <a:srgbClr val="000000"/>
              </a:buClr>
              <a:buSzPts val="1100"/>
            </a:pPr>
            <a:r>
              <a:rPr lang="en" sz="1200">
                <a:solidFill>
                  <a:srgbClr val="000000"/>
                </a:solidFill>
              </a:rPr>
              <a:t>Task A</a:t>
            </a:r>
            <a:endParaRPr sz="1200">
              <a:solidFill>
                <a:srgbClr val="000000"/>
              </a:solidFill>
            </a:endParaRPr>
          </a:p>
        </p:txBody>
      </p:sp>
      <p:sp>
        <p:nvSpPr>
          <p:cNvPr id="134" name="Google Shape;134;p15"/>
          <p:cNvSpPr/>
          <p:nvPr/>
        </p:nvSpPr>
        <p:spPr>
          <a:xfrm>
            <a:off x="1181100" y="3813150"/>
            <a:ext cx="685800" cy="34290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Task A</a:t>
            </a:r>
            <a:endParaRPr sz="1200"/>
          </a:p>
        </p:txBody>
      </p:sp>
      <p:sp>
        <p:nvSpPr>
          <p:cNvPr id="135" name="Google Shape;135;p15"/>
          <p:cNvSpPr txBox="1"/>
          <p:nvPr/>
        </p:nvSpPr>
        <p:spPr>
          <a:xfrm>
            <a:off x="8077200" y="5146650"/>
            <a:ext cx="762000" cy="266700"/>
          </a:xfrm>
          <a:prstGeom prst="rect">
            <a:avLst/>
          </a:prstGeom>
          <a:noFill/>
          <a:ln>
            <a:noFill/>
          </a:ln>
        </p:spPr>
        <p:txBody>
          <a:bodyPr spcFirstLastPara="1" wrap="square" lIns="45713" tIns="45713" rIns="45713" bIns="45713" anchor="ctr" anchorCtr="0">
            <a:noAutofit/>
          </a:bodyPr>
          <a:lstStyle/>
          <a:p>
            <a:pPr algn="ctr"/>
            <a:r>
              <a:rPr lang="en" sz="1200"/>
              <a:t>time</a:t>
            </a:r>
            <a:endParaRPr sz="1200"/>
          </a:p>
        </p:txBody>
      </p:sp>
      <p:sp>
        <p:nvSpPr>
          <p:cNvPr id="136" name="Google Shape;136;p15"/>
          <p:cNvSpPr txBox="1"/>
          <p:nvPr/>
        </p:nvSpPr>
        <p:spPr>
          <a:xfrm>
            <a:off x="457200" y="3775050"/>
            <a:ext cx="495300" cy="419100"/>
          </a:xfrm>
          <a:prstGeom prst="rect">
            <a:avLst/>
          </a:prstGeom>
          <a:noFill/>
          <a:ln>
            <a:noFill/>
          </a:ln>
        </p:spPr>
        <p:txBody>
          <a:bodyPr spcFirstLastPara="1" wrap="square" lIns="45713" tIns="45713" rIns="45713" bIns="45713" anchor="ctr" anchorCtr="0">
            <a:noAutofit/>
          </a:bodyPr>
          <a:lstStyle/>
          <a:p>
            <a:pPr algn="r"/>
            <a:r>
              <a:rPr lang="en" sz="1200"/>
              <a:t>1</a:t>
            </a:r>
            <a:endParaRPr sz="1200"/>
          </a:p>
        </p:txBody>
      </p:sp>
      <p:sp>
        <p:nvSpPr>
          <p:cNvPr id="137" name="Google Shape;137;p15"/>
          <p:cNvSpPr/>
          <p:nvPr/>
        </p:nvSpPr>
        <p:spPr>
          <a:xfrm>
            <a:off x="18669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138" name="Google Shape;138;p15"/>
          <p:cNvSpPr/>
          <p:nvPr/>
        </p:nvSpPr>
        <p:spPr>
          <a:xfrm>
            <a:off x="11049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139" name="Google Shape;139;p15"/>
          <p:cNvSpPr txBox="1"/>
          <p:nvPr/>
        </p:nvSpPr>
        <p:spPr>
          <a:xfrm>
            <a:off x="457200" y="3089250"/>
            <a:ext cx="495300" cy="419100"/>
          </a:xfrm>
          <a:prstGeom prst="rect">
            <a:avLst/>
          </a:prstGeom>
          <a:noFill/>
          <a:ln>
            <a:noFill/>
          </a:ln>
        </p:spPr>
        <p:txBody>
          <a:bodyPr spcFirstLastPara="1" wrap="square" lIns="45713" tIns="45713" rIns="45713" bIns="45713" anchor="ctr" anchorCtr="0">
            <a:noAutofit/>
          </a:bodyPr>
          <a:lstStyle/>
          <a:p>
            <a:pPr algn="r"/>
            <a:r>
              <a:rPr lang="en" sz="1200"/>
              <a:t>2</a:t>
            </a:r>
            <a:endParaRPr sz="1200"/>
          </a:p>
        </p:txBody>
      </p:sp>
      <p:sp>
        <p:nvSpPr>
          <p:cNvPr id="140" name="Google Shape;140;p15"/>
          <p:cNvSpPr txBox="1"/>
          <p:nvPr/>
        </p:nvSpPr>
        <p:spPr>
          <a:xfrm rot="-5400000">
            <a:off x="600075" y="2790825"/>
            <a:ext cx="438150" cy="419100"/>
          </a:xfrm>
          <a:prstGeom prst="rect">
            <a:avLst/>
          </a:prstGeom>
          <a:noFill/>
          <a:ln>
            <a:noFill/>
          </a:ln>
        </p:spPr>
        <p:txBody>
          <a:bodyPr spcFirstLastPara="1" wrap="square" lIns="45713" tIns="45713" rIns="45713" bIns="45713" anchor="ctr" anchorCtr="0">
            <a:noAutofit/>
          </a:bodyPr>
          <a:lstStyle/>
          <a:p>
            <a:pPr algn="ctr"/>
            <a:r>
              <a:rPr lang="en" sz="1200"/>
              <a:t>...</a:t>
            </a:r>
            <a:endParaRPr sz="1200"/>
          </a:p>
        </p:txBody>
      </p:sp>
      <p:sp>
        <p:nvSpPr>
          <p:cNvPr id="141" name="Google Shape;141;p15"/>
          <p:cNvSpPr/>
          <p:nvPr/>
        </p:nvSpPr>
        <p:spPr>
          <a:xfrm>
            <a:off x="2529900" y="4498950"/>
            <a:ext cx="937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Idle</a:t>
            </a:r>
            <a:endParaRPr sz="1200"/>
          </a:p>
        </p:txBody>
      </p:sp>
      <p:sp>
        <p:nvSpPr>
          <p:cNvPr id="142" name="Google Shape;142;p15"/>
          <p:cNvSpPr/>
          <p:nvPr/>
        </p:nvSpPr>
        <p:spPr>
          <a:xfrm>
            <a:off x="3467100" y="3813150"/>
            <a:ext cx="685800" cy="34290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rgbClr val="000000"/>
                </a:solidFill>
              </a:rPr>
              <a:t>Task A</a:t>
            </a:r>
            <a:endParaRPr sz="1200">
              <a:solidFill>
                <a:srgbClr val="000000"/>
              </a:solidFill>
            </a:endParaRPr>
          </a:p>
        </p:txBody>
      </p:sp>
      <p:sp>
        <p:nvSpPr>
          <p:cNvPr id="143" name="Google Shape;143;p15"/>
          <p:cNvSpPr/>
          <p:nvPr/>
        </p:nvSpPr>
        <p:spPr>
          <a:xfrm>
            <a:off x="41529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144" name="Google Shape;144;p15"/>
          <p:cNvSpPr/>
          <p:nvPr/>
        </p:nvSpPr>
        <p:spPr>
          <a:xfrm>
            <a:off x="49149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145" name="Google Shape;145;p15"/>
          <p:cNvSpPr/>
          <p:nvPr/>
        </p:nvSpPr>
        <p:spPr>
          <a:xfrm>
            <a:off x="4229100" y="3127350"/>
            <a:ext cx="228600" cy="34290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B</a:t>
            </a:r>
            <a:endParaRPr sz="1200">
              <a:solidFill>
                <a:srgbClr val="000000"/>
              </a:solidFill>
            </a:endParaRPr>
          </a:p>
        </p:txBody>
      </p:sp>
      <p:sp>
        <p:nvSpPr>
          <p:cNvPr id="146" name="Google Shape;146;p15"/>
          <p:cNvSpPr/>
          <p:nvPr/>
        </p:nvSpPr>
        <p:spPr>
          <a:xfrm>
            <a:off x="56769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147" name="Google Shape;147;p15"/>
          <p:cNvSpPr/>
          <p:nvPr/>
        </p:nvSpPr>
        <p:spPr>
          <a:xfrm>
            <a:off x="64389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148" name="Google Shape;148;p15"/>
          <p:cNvSpPr/>
          <p:nvPr/>
        </p:nvSpPr>
        <p:spPr>
          <a:xfrm>
            <a:off x="72009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149" name="Google Shape;149;p15"/>
          <p:cNvSpPr/>
          <p:nvPr/>
        </p:nvSpPr>
        <p:spPr>
          <a:xfrm>
            <a:off x="7277100" y="3813150"/>
            <a:ext cx="685800" cy="34290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rgbClr val="000000"/>
                </a:solidFill>
              </a:rPr>
              <a:t>Task A</a:t>
            </a:r>
            <a:endParaRPr sz="1200">
              <a:solidFill>
                <a:srgbClr val="000000"/>
              </a:solidFill>
            </a:endParaRPr>
          </a:p>
        </p:txBody>
      </p:sp>
      <p:sp>
        <p:nvSpPr>
          <p:cNvPr id="150" name="Google Shape;150;p15"/>
          <p:cNvSpPr txBox="1"/>
          <p:nvPr/>
        </p:nvSpPr>
        <p:spPr>
          <a:xfrm>
            <a:off x="228600" y="2380625"/>
            <a:ext cx="723900" cy="495900"/>
          </a:xfrm>
          <a:prstGeom prst="rect">
            <a:avLst/>
          </a:prstGeom>
          <a:noFill/>
          <a:ln>
            <a:noFill/>
          </a:ln>
        </p:spPr>
        <p:txBody>
          <a:bodyPr spcFirstLastPara="1" wrap="square" lIns="45713" tIns="45713" rIns="45713" bIns="45713" anchor="ctr" anchorCtr="0">
            <a:noAutofit/>
          </a:bodyPr>
          <a:lstStyle/>
          <a:p>
            <a:pPr algn="r"/>
            <a:r>
              <a:rPr lang="en" sz="1500"/>
              <a:t>Priority (S/W)</a:t>
            </a:r>
            <a:endParaRPr sz="1500"/>
          </a:p>
        </p:txBody>
      </p:sp>
      <p:sp>
        <p:nvSpPr>
          <p:cNvPr id="151" name="Google Shape;151;p15"/>
          <p:cNvSpPr/>
          <p:nvPr/>
        </p:nvSpPr>
        <p:spPr>
          <a:xfrm>
            <a:off x="6040350" y="3127350"/>
            <a:ext cx="156300" cy="34290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solidFill>
                <a:srgbClr val="000000"/>
              </a:solidFill>
            </a:endParaRPr>
          </a:p>
        </p:txBody>
      </p:sp>
      <p:sp>
        <p:nvSpPr>
          <p:cNvPr id="152" name="Google Shape;152;p15"/>
          <p:cNvSpPr txBox="1"/>
          <p:nvPr/>
        </p:nvSpPr>
        <p:spPr>
          <a:xfrm>
            <a:off x="228600" y="1809750"/>
            <a:ext cx="723900" cy="533400"/>
          </a:xfrm>
          <a:prstGeom prst="rect">
            <a:avLst/>
          </a:prstGeom>
          <a:noFill/>
          <a:ln>
            <a:noFill/>
          </a:ln>
        </p:spPr>
        <p:txBody>
          <a:bodyPr spcFirstLastPara="1" wrap="square" lIns="45713" tIns="45713" rIns="45713" bIns="45713" anchor="ctr" anchorCtr="0">
            <a:noAutofit/>
          </a:bodyPr>
          <a:lstStyle/>
          <a:p>
            <a:pPr algn="r"/>
            <a:r>
              <a:rPr lang="en" sz="1500"/>
              <a:t>ISR</a:t>
            </a:r>
            <a:endParaRPr sz="1500"/>
          </a:p>
          <a:p>
            <a:pPr algn="r"/>
            <a:r>
              <a:rPr lang="en" sz="1500"/>
              <a:t>(H/W)</a:t>
            </a:r>
            <a:endParaRPr sz="1500"/>
          </a:p>
        </p:txBody>
      </p:sp>
      <p:sp>
        <p:nvSpPr>
          <p:cNvPr id="153" name="Google Shape;153;p15"/>
          <p:cNvSpPr txBox="1"/>
          <p:nvPr/>
        </p:nvSpPr>
        <p:spPr>
          <a:xfrm>
            <a:off x="2700675" y="5146650"/>
            <a:ext cx="618450" cy="228600"/>
          </a:xfrm>
          <a:prstGeom prst="rect">
            <a:avLst/>
          </a:prstGeom>
          <a:noFill/>
          <a:ln>
            <a:noFill/>
          </a:ln>
        </p:spPr>
        <p:txBody>
          <a:bodyPr spcFirstLastPara="1" wrap="square" lIns="45713" tIns="45713" rIns="45713" bIns="45713" anchor="ctr" anchorCtr="0">
            <a:noAutofit/>
          </a:bodyPr>
          <a:lstStyle/>
          <a:p>
            <a:pPr algn="ctr"/>
            <a:r>
              <a:rPr lang="en" sz="1200"/>
              <a:t>“tick”</a:t>
            </a:r>
            <a:endParaRPr sz="1200"/>
          </a:p>
        </p:txBody>
      </p:sp>
      <p:sp>
        <p:nvSpPr>
          <p:cNvPr id="154" name="Google Shape;154;p15"/>
          <p:cNvSpPr txBox="1"/>
          <p:nvPr/>
        </p:nvSpPr>
        <p:spPr>
          <a:xfrm>
            <a:off x="0" y="857250"/>
            <a:ext cx="9144000" cy="706200"/>
          </a:xfrm>
          <a:prstGeom prst="rect">
            <a:avLst/>
          </a:prstGeom>
          <a:noFill/>
          <a:ln>
            <a:noFill/>
          </a:ln>
        </p:spPr>
        <p:txBody>
          <a:bodyPr spcFirstLastPara="1" wrap="square" lIns="45713" tIns="45713" rIns="45713" bIns="45713" anchor="ctr" anchorCtr="0">
            <a:noAutofit/>
          </a:bodyPr>
          <a:lstStyle/>
          <a:p>
            <a:pPr algn="ctr"/>
            <a:r>
              <a:rPr lang="en" sz="2400"/>
              <a:t>Deferred Interrupt</a:t>
            </a:r>
            <a:endParaRPr sz="2400"/>
          </a:p>
        </p:txBody>
      </p:sp>
      <p:sp>
        <p:nvSpPr>
          <p:cNvPr id="155" name="Google Shape;155;p15"/>
          <p:cNvSpPr/>
          <p:nvPr/>
        </p:nvSpPr>
        <p:spPr>
          <a:xfrm>
            <a:off x="4534050" y="3813150"/>
            <a:ext cx="381000" cy="34290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solidFill>
                <a:srgbClr val="000000"/>
              </a:solidFill>
            </a:endParaRPr>
          </a:p>
        </p:txBody>
      </p:sp>
      <p:sp>
        <p:nvSpPr>
          <p:cNvPr id="156" name="Google Shape;156;p15"/>
          <p:cNvSpPr/>
          <p:nvPr/>
        </p:nvSpPr>
        <p:spPr>
          <a:xfrm>
            <a:off x="4991100" y="3813150"/>
            <a:ext cx="685800" cy="34290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rgbClr val="000000"/>
                </a:solidFill>
              </a:rPr>
              <a:t>Task A</a:t>
            </a:r>
            <a:endParaRPr sz="1200">
              <a:solidFill>
                <a:srgbClr val="000000"/>
              </a:solidFill>
            </a:endParaRPr>
          </a:p>
        </p:txBody>
      </p:sp>
      <p:sp>
        <p:nvSpPr>
          <p:cNvPr id="157" name="Google Shape;157;p15"/>
          <p:cNvSpPr/>
          <p:nvPr/>
        </p:nvSpPr>
        <p:spPr>
          <a:xfrm>
            <a:off x="44577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158" name="Google Shape;158;p15"/>
          <p:cNvSpPr txBox="1"/>
          <p:nvPr/>
        </p:nvSpPr>
        <p:spPr>
          <a:xfrm>
            <a:off x="2366988" y="1503550"/>
            <a:ext cx="2214300" cy="228600"/>
          </a:xfrm>
          <a:prstGeom prst="rect">
            <a:avLst/>
          </a:prstGeom>
          <a:noFill/>
          <a:ln>
            <a:noFill/>
          </a:ln>
        </p:spPr>
        <p:txBody>
          <a:bodyPr spcFirstLastPara="1" wrap="square" lIns="45713" tIns="45713" rIns="45713" bIns="45713" anchor="ctr" anchorCtr="0">
            <a:noAutofit/>
          </a:bodyPr>
          <a:lstStyle/>
          <a:p>
            <a:pPr algn="ctr"/>
            <a:r>
              <a:rPr lang="en" sz="1200"/>
              <a:t>Blocked waiting for semaphore</a:t>
            </a:r>
            <a:endParaRPr sz="1200"/>
          </a:p>
        </p:txBody>
      </p:sp>
      <p:sp>
        <p:nvSpPr>
          <p:cNvPr id="159" name="Google Shape;159;p15"/>
          <p:cNvSpPr/>
          <p:nvPr/>
        </p:nvSpPr>
        <p:spPr>
          <a:xfrm>
            <a:off x="5753100" y="3813150"/>
            <a:ext cx="134850" cy="34290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solidFill>
                <a:srgbClr val="000000"/>
              </a:solidFill>
            </a:endParaRPr>
          </a:p>
        </p:txBody>
      </p:sp>
      <p:sp>
        <p:nvSpPr>
          <p:cNvPr id="160" name="Google Shape;160;p15"/>
          <p:cNvSpPr/>
          <p:nvPr/>
        </p:nvSpPr>
        <p:spPr>
          <a:xfrm>
            <a:off x="5887950" y="1924050"/>
            <a:ext cx="76200" cy="342900"/>
          </a:xfrm>
          <a:prstGeom prst="rect">
            <a:avLst/>
          </a:prstGeom>
          <a:solidFill>
            <a:srgbClr val="F4CC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solidFill>
                <a:srgbClr val="000000"/>
              </a:solidFill>
            </a:endParaRPr>
          </a:p>
        </p:txBody>
      </p:sp>
      <p:sp>
        <p:nvSpPr>
          <p:cNvPr id="161" name="Google Shape;161;p15"/>
          <p:cNvSpPr/>
          <p:nvPr/>
        </p:nvSpPr>
        <p:spPr>
          <a:xfrm>
            <a:off x="596415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162" name="Google Shape;162;p15"/>
          <p:cNvSpPr/>
          <p:nvPr/>
        </p:nvSpPr>
        <p:spPr>
          <a:xfrm>
            <a:off x="619665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163" name="Google Shape;163;p15"/>
          <p:cNvSpPr/>
          <p:nvPr/>
        </p:nvSpPr>
        <p:spPr>
          <a:xfrm>
            <a:off x="6272850" y="3813150"/>
            <a:ext cx="166200" cy="34290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solidFill>
                <a:srgbClr val="000000"/>
              </a:solidFill>
            </a:endParaRPr>
          </a:p>
        </p:txBody>
      </p:sp>
      <p:cxnSp>
        <p:nvCxnSpPr>
          <p:cNvPr id="164" name="Google Shape;164;p15"/>
          <p:cNvCxnSpPr/>
          <p:nvPr/>
        </p:nvCxnSpPr>
        <p:spPr>
          <a:xfrm>
            <a:off x="4182913" y="1710213"/>
            <a:ext cx="264450" cy="1417200"/>
          </a:xfrm>
          <a:prstGeom prst="straightConnector1">
            <a:avLst/>
          </a:prstGeom>
          <a:noFill/>
          <a:ln w="38100" cap="flat" cmpd="sng">
            <a:solidFill>
              <a:schemeClr val="dk2"/>
            </a:solidFill>
            <a:prstDash val="solid"/>
            <a:round/>
            <a:headEnd type="none" w="med" len="med"/>
            <a:tailEnd type="triangle" w="med" len="med"/>
          </a:ln>
        </p:spPr>
      </p:cxnSp>
      <p:sp>
        <p:nvSpPr>
          <p:cNvPr id="165" name="Google Shape;165;p15"/>
          <p:cNvSpPr txBox="1"/>
          <p:nvPr/>
        </p:nvSpPr>
        <p:spPr>
          <a:xfrm>
            <a:off x="4182913" y="1361088"/>
            <a:ext cx="2214300" cy="228600"/>
          </a:xfrm>
          <a:prstGeom prst="rect">
            <a:avLst/>
          </a:prstGeom>
          <a:noFill/>
          <a:ln>
            <a:noFill/>
          </a:ln>
        </p:spPr>
        <p:txBody>
          <a:bodyPr spcFirstLastPara="1" wrap="square" lIns="45713" tIns="45713" rIns="45713" bIns="45713" anchor="ctr" anchorCtr="0">
            <a:noAutofit/>
          </a:bodyPr>
          <a:lstStyle/>
          <a:p>
            <a:pPr algn="ctr"/>
            <a:r>
              <a:rPr lang="en" sz="1200"/>
              <a:t>ISR gives semaphore</a:t>
            </a:r>
            <a:endParaRPr sz="1200"/>
          </a:p>
        </p:txBody>
      </p:sp>
      <p:cxnSp>
        <p:nvCxnSpPr>
          <p:cNvPr id="166" name="Google Shape;166;p15"/>
          <p:cNvCxnSpPr/>
          <p:nvPr/>
        </p:nvCxnSpPr>
        <p:spPr>
          <a:xfrm>
            <a:off x="5964150" y="1547275"/>
            <a:ext cx="0" cy="365100"/>
          </a:xfrm>
          <a:prstGeom prst="straightConnector1">
            <a:avLst/>
          </a:prstGeom>
          <a:noFill/>
          <a:ln w="38100" cap="flat" cmpd="sng">
            <a:solidFill>
              <a:schemeClr val="dk2"/>
            </a:solidFill>
            <a:prstDash val="solid"/>
            <a:round/>
            <a:headEnd type="none" w="med" len="med"/>
            <a:tailEnd type="triangle" w="med" len="med"/>
          </a:ln>
        </p:spPr>
      </p:cxnSp>
      <p:sp>
        <p:nvSpPr>
          <p:cNvPr id="167" name="Google Shape;167;p15"/>
          <p:cNvSpPr txBox="1"/>
          <p:nvPr/>
        </p:nvSpPr>
        <p:spPr>
          <a:xfrm>
            <a:off x="6112200" y="1313850"/>
            <a:ext cx="1965000" cy="495900"/>
          </a:xfrm>
          <a:prstGeom prst="rect">
            <a:avLst/>
          </a:prstGeom>
          <a:noFill/>
          <a:ln>
            <a:noFill/>
          </a:ln>
        </p:spPr>
        <p:txBody>
          <a:bodyPr spcFirstLastPara="1" wrap="square" lIns="45713" tIns="45713" rIns="45713" bIns="45713" anchor="ctr" anchorCtr="0">
            <a:noAutofit/>
          </a:bodyPr>
          <a:lstStyle/>
          <a:p>
            <a:pPr algn="ctr"/>
            <a:r>
              <a:rPr lang="en" sz="1200"/>
              <a:t>Scheduler called to run newly unblocked task</a:t>
            </a:r>
            <a:endParaRPr sz="1200"/>
          </a:p>
        </p:txBody>
      </p:sp>
      <p:cxnSp>
        <p:nvCxnSpPr>
          <p:cNvPr id="168" name="Google Shape;168;p15"/>
          <p:cNvCxnSpPr/>
          <p:nvPr/>
        </p:nvCxnSpPr>
        <p:spPr>
          <a:xfrm flipH="1">
            <a:off x="6040225" y="1729800"/>
            <a:ext cx="316950" cy="1406700"/>
          </a:xfrm>
          <a:prstGeom prst="straightConnector1">
            <a:avLst/>
          </a:prstGeom>
          <a:noFill/>
          <a:ln w="38100" cap="flat" cmpd="sng">
            <a:solidFill>
              <a:schemeClr val="dk2"/>
            </a:solidFill>
            <a:prstDash val="solid"/>
            <a:round/>
            <a:headEnd type="none" w="med" len="med"/>
            <a:tailEnd type="triangle" w="med" len="med"/>
          </a:ln>
        </p:spPr>
      </p:cxnSp>
      <p:sp>
        <p:nvSpPr>
          <p:cNvPr id="169" name="Google Shape;169;p15"/>
          <p:cNvSpPr/>
          <p:nvPr/>
        </p:nvSpPr>
        <p:spPr>
          <a:xfrm>
            <a:off x="6515175" y="3813150"/>
            <a:ext cx="685800" cy="34290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rgbClr val="000000"/>
                </a:solidFill>
              </a:rPr>
              <a:t>Task A</a:t>
            </a:r>
            <a:endParaRPr sz="1200">
              <a:solidFill>
                <a:srgbClr val="000000"/>
              </a:solidFill>
            </a:endParaRPr>
          </a:p>
        </p:txBody>
      </p:sp>
      <p:cxnSp>
        <p:nvCxnSpPr>
          <p:cNvPr id="170" name="Google Shape;170;p15"/>
          <p:cNvCxnSpPr/>
          <p:nvPr/>
        </p:nvCxnSpPr>
        <p:spPr>
          <a:xfrm>
            <a:off x="5753100" y="1885950"/>
            <a:ext cx="0" cy="3527400"/>
          </a:xfrm>
          <a:prstGeom prst="straightConnector1">
            <a:avLst/>
          </a:prstGeom>
          <a:noFill/>
          <a:ln w="19050" cap="flat" cmpd="sng">
            <a:solidFill>
              <a:srgbClr val="595959"/>
            </a:solidFill>
            <a:prstDash val="dash"/>
            <a:round/>
            <a:headEnd type="none" w="med" len="med"/>
            <a:tailEnd type="none" w="med" len="med"/>
          </a:ln>
        </p:spPr>
      </p:cxnSp>
      <p:cxnSp>
        <p:nvCxnSpPr>
          <p:cNvPr id="171" name="Google Shape;171;p15"/>
          <p:cNvCxnSpPr/>
          <p:nvPr/>
        </p:nvCxnSpPr>
        <p:spPr>
          <a:xfrm>
            <a:off x="5891625" y="1885950"/>
            <a:ext cx="0" cy="3527400"/>
          </a:xfrm>
          <a:prstGeom prst="straightConnector1">
            <a:avLst/>
          </a:prstGeom>
          <a:noFill/>
          <a:ln w="19050" cap="flat" cmpd="sng">
            <a:solidFill>
              <a:srgbClr val="595959"/>
            </a:solidFill>
            <a:prstDash val="dash"/>
            <a:round/>
            <a:headEnd type="none" w="med" len="med"/>
            <a:tailEnd type="none" w="med" len="med"/>
          </a:ln>
        </p:spPr>
      </p:cxnSp>
      <p:cxnSp>
        <p:nvCxnSpPr>
          <p:cNvPr id="172" name="Google Shape;172;p15"/>
          <p:cNvCxnSpPr/>
          <p:nvPr/>
        </p:nvCxnSpPr>
        <p:spPr>
          <a:xfrm>
            <a:off x="5967825" y="1885950"/>
            <a:ext cx="0" cy="3527400"/>
          </a:xfrm>
          <a:prstGeom prst="straightConnector1">
            <a:avLst/>
          </a:prstGeom>
          <a:noFill/>
          <a:ln w="19050" cap="flat" cmpd="sng">
            <a:solidFill>
              <a:srgbClr val="595959"/>
            </a:solidFill>
            <a:prstDash val="dash"/>
            <a:round/>
            <a:headEnd type="none" w="med" len="med"/>
            <a:tailEnd type="none" w="med" len="med"/>
          </a:ln>
        </p:spPr>
      </p:cxnSp>
      <p:cxnSp>
        <p:nvCxnSpPr>
          <p:cNvPr id="173" name="Google Shape;173;p15"/>
          <p:cNvCxnSpPr/>
          <p:nvPr/>
        </p:nvCxnSpPr>
        <p:spPr>
          <a:xfrm>
            <a:off x="6044025" y="1885950"/>
            <a:ext cx="0" cy="3527400"/>
          </a:xfrm>
          <a:prstGeom prst="straightConnector1">
            <a:avLst/>
          </a:prstGeom>
          <a:noFill/>
          <a:ln w="19050" cap="flat" cmpd="sng">
            <a:solidFill>
              <a:srgbClr val="595959"/>
            </a:solidFill>
            <a:prstDash val="dash"/>
            <a:round/>
            <a:headEnd type="none" w="med" len="med"/>
            <a:tailEnd type="none" w="med" len="med"/>
          </a:ln>
        </p:spPr>
      </p:cxnSp>
      <p:cxnSp>
        <p:nvCxnSpPr>
          <p:cNvPr id="174" name="Google Shape;174;p15"/>
          <p:cNvCxnSpPr/>
          <p:nvPr/>
        </p:nvCxnSpPr>
        <p:spPr>
          <a:xfrm>
            <a:off x="6196425" y="1885950"/>
            <a:ext cx="0" cy="3527400"/>
          </a:xfrm>
          <a:prstGeom prst="straightConnector1">
            <a:avLst/>
          </a:prstGeom>
          <a:noFill/>
          <a:ln w="19050" cap="flat" cmpd="sng">
            <a:solidFill>
              <a:srgbClr val="595959"/>
            </a:solidFill>
            <a:prstDash val="dash"/>
            <a:round/>
            <a:headEnd type="none" w="med" len="med"/>
            <a:tailEnd type="none" w="med" len="med"/>
          </a:ln>
        </p:spPr>
      </p:cxnSp>
      <p:cxnSp>
        <p:nvCxnSpPr>
          <p:cNvPr id="175" name="Google Shape;175;p15"/>
          <p:cNvCxnSpPr/>
          <p:nvPr/>
        </p:nvCxnSpPr>
        <p:spPr>
          <a:xfrm>
            <a:off x="6272625" y="1885950"/>
            <a:ext cx="0" cy="3527400"/>
          </a:xfrm>
          <a:prstGeom prst="straightConnector1">
            <a:avLst/>
          </a:prstGeom>
          <a:noFill/>
          <a:ln w="19050" cap="flat" cmpd="sng">
            <a:solidFill>
              <a:srgbClr val="595959"/>
            </a:solidFill>
            <a:prstDash val="dash"/>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5"/>
                                        </p:tgtEl>
                                        <p:attrNameLst>
                                          <p:attrName>style.visibility</p:attrName>
                                        </p:attrNameLst>
                                      </p:cBhvr>
                                      <p:to>
                                        <p:strVal val="visible"/>
                                      </p:to>
                                    </p:set>
                                    <p:animEffect transition="in" filter="fade">
                                      <p:cBhvr>
                                        <p:cTn id="7" dur="1000"/>
                                        <p:tgtEl>
                                          <p:spTgt spid="14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8"/>
                                        </p:tgtEl>
                                        <p:attrNameLst>
                                          <p:attrName>style.visibility</p:attrName>
                                        </p:attrNameLst>
                                      </p:cBhvr>
                                      <p:to>
                                        <p:strVal val="visible"/>
                                      </p:to>
                                    </p:set>
                                    <p:animEffect transition="in" filter="fade">
                                      <p:cBhvr>
                                        <p:cTn id="12" dur="1000"/>
                                        <p:tgtEl>
                                          <p:spTgt spid="158"/>
                                        </p:tgtEl>
                                      </p:cBhvr>
                                    </p:animEffect>
                                  </p:childTnLst>
                                </p:cTn>
                              </p:par>
                              <p:par>
                                <p:cTn id="13" presetID="10" presetClass="entr" presetSubtype="0" fill="hold" nodeType="withEffect">
                                  <p:stCondLst>
                                    <p:cond delay="0"/>
                                  </p:stCondLst>
                                  <p:childTnLst>
                                    <p:set>
                                      <p:cBhvr>
                                        <p:cTn id="14" dur="1" fill="hold">
                                          <p:stCondLst>
                                            <p:cond delay="0"/>
                                          </p:stCondLst>
                                        </p:cTn>
                                        <p:tgtEl>
                                          <p:spTgt spid="164"/>
                                        </p:tgtEl>
                                        <p:attrNameLst>
                                          <p:attrName>style.visibility</p:attrName>
                                        </p:attrNameLst>
                                      </p:cBhvr>
                                      <p:to>
                                        <p:strVal val="visible"/>
                                      </p:to>
                                    </p:set>
                                    <p:animEffect transition="in" filter="fade">
                                      <p:cBhvr>
                                        <p:cTn id="15" dur="1000"/>
                                        <p:tgtEl>
                                          <p:spTgt spid="16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57"/>
                                        </p:tgtEl>
                                        <p:attrNameLst>
                                          <p:attrName>style.visibility</p:attrName>
                                        </p:attrNameLst>
                                      </p:cBhvr>
                                      <p:to>
                                        <p:strVal val="visible"/>
                                      </p:to>
                                    </p:set>
                                    <p:animEffect transition="in" filter="fade">
                                      <p:cBhvr>
                                        <p:cTn id="20" dur="1000"/>
                                        <p:tgtEl>
                                          <p:spTgt spid="15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55"/>
                                        </p:tgtEl>
                                        <p:attrNameLst>
                                          <p:attrName>style.visibility</p:attrName>
                                        </p:attrNameLst>
                                      </p:cBhvr>
                                      <p:to>
                                        <p:strVal val="visible"/>
                                      </p:to>
                                    </p:set>
                                    <p:animEffect transition="in" filter="fade">
                                      <p:cBhvr>
                                        <p:cTn id="25" dur="1000"/>
                                        <p:tgtEl>
                                          <p:spTgt spid="15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44"/>
                                        </p:tgtEl>
                                        <p:attrNameLst>
                                          <p:attrName>style.visibility</p:attrName>
                                        </p:attrNameLst>
                                      </p:cBhvr>
                                      <p:to>
                                        <p:strVal val="visible"/>
                                      </p:to>
                                    </p:set>
                                    <p:animEffect transition="in" filter="fade">
                                      <p:cBhvr>
                                        <p:cTn id="30" dur="1000"/>
                                        <p:tgtEl>
                                          <p:spTgt spid="144"/>
                                        </p:tgtEl>
                                      </p:cBhvr>
                                    </p:animEffect>
                                  </p:childTnLst>
                                </p:cTn>
                              </p:par>
                              <p:par>
                                <p:cTn id="31" presetID="10" presetClass="entr" presetSubtype="0" fill="hold" nodeType="withEffect">
                                  <p:stCondLst>
                                    <p:cond delay="0"/>
                                  </p:stCondLst>
                                  <p:childTnLst>
                                    <p:set>
                                      <p:cBhvr>
                                        <p:cTn id="32" dur="1" fill="hold">
                                          <p:stCondLst>
                                            <p:cond delay="0"/>
                                          </p:stCondLst>
                                        </p:cTn>
                                        <p:tgtEl>
                                          <p:spTgt spid="156"/>
                                        </p:tgtEl>
                                        <p:attrNameLst>
                                          <p:attrName>style.visibility</p:attrName>
                                        </p:attrNameLst>
                                      </p:cBhvr>
                                      <p:to>
                                        <p:strVal val="visible"/>
                                      </p:to>
                                    </p:set>
                                    <p:animEffect transition="in" filter="fade">
                                      <p:cBhvr>
                                        <p:cTn id="33" dur="1000"/>
                                        <p:tgtEl>
                                          <p:spTgt spid="156"/>
                                        </p:tgtEl>
                                      </p:cBhvr>
                                    </p:animEffect>
                                  </p:childTnLst>
                                </p:cTn>
                              </p:par>
                              <p:par>
                                <p:cTn id="34" presetID="10" presetClass="entr" presetSubtype="0" fill="hold" nodeType="withEffect">
                                  <p:stCondLst>
                                    <p:cond delay="0"/>
                                  </p:stCondLst>
                                  <p:childTnLst>
                                    <p:set>
                                      <p:cBhvr>
                                        <p:cTn id="35" dur="1" fill="hold">
                                          <p:stCondLst>
                                            <p:cond delay="0"/>
                                          </p:stCondLst>
                                        </p:cTn>
                                        <p:tgtEl>
                                          <p:spTgt spid="159"/>
                                        </p:tgtEl>
                                        <p:attrNameLst>
                                          <p:attrName>style.visibility</p:attrName>
                                        </p:attrNameLst>
                                      </p:cBhvr>
                                      <p:to>
                                        <p:strVal val="visible"/>
                                      </p:to>
                                    </p:set>
                                    <p:animEffect transition="in" filter="fade">
                                      <p:cBhvr>
                                        <p:cTn id="36" dur="1000"/>
                                        <p:tgtEl>
                                          <p:spTgt spid="159"/>
                                        </p:tgtEl>
                                      </p:cBhvr>
                                    </p:animEffect>
                                  </p:childTnLst>
                                </p:cTn>
                              </p:par>
                              <p:par>
                                <p:cTn id="37" presetID="10" presetClass="entr" presetSubtype="0" fill="hold" nodeType="withEffect">
                                  <p:stCondLst>
                                    <p:cond delay="0"/>
                                  </p:stCondLst>
                                  <p:childTnLst>
                                    <p:set>
                                      <p:cBhvr>
                                        <p:cTn id="38" dur="1" fill="hold">
                                          <p:stCondLst>
                                            <p:cond delay="0"/>
                                          </p:stCondLst>
                                        </p:cTn>
                                        <p:tgtEl>
                                          <p:spTgt spid="146"/>
                                        </p:tgtEl>
                                        <p:attrNameLst>
                                          <p:attrName>style.visibility</p:attrName>
                                        </p:attrNameLst>
                                      </p:cBhvr>
                                      <p:to>
                                        <p:strVal val="visible"/>
                                      </p:to>
                                    </p:set>
                                    <p:animEffect transition="in" filter="fade">
                                      <p:cBhvr>
                                        <p:cTn id="39" dur="1000"/>
                                        <p:tgtEl>
                                          <p:spTgt spid="146"/>
                                        </p:tgtEl>
                                      </p:cBhvr>
                                    </p:animEffect>
                                  </p:childTnLst>
                                </p:cTn>
                              </p:par>
                              <p:par>
                                <p:cTn id="40" presetID="10" presetClass="entr" presetSubtype="0" fill="hold" nodeType="withEffect">
                                  <p:stCondLst>
                                    <p:cond delay="0"/>
                                  </p:stCondLst>
                                  <p:childTnLst>
                                    <p:set>
                                      <p:cBhvr>
                                        <p:cTn id="41" dur="1" fill="hold">
                                          <p:stCondLst>
                                            <p:cond delay="0"/>
                                          </p:stCondLst>
                                        </p:cTn>
                                        <p:tgtEl>
                                          <p:spTgt spid="170"/>
                                        </p:tgtEl>
                                        <p:attrNameLst>
                                          <p:attrName>style.visibility</p:attrName>
                                        </p:attrNameLst>
                                      </p:cBhvr>
                                      <p:to>
                                        <p:strVal val="visible"/>
                                      </p:to>
                                    </p:set>
                                    <p:animEffect transition="in" filter="fade">
                                      <p:cBhvr>
                                        <p:cTn id="42" dur="1000"/>
                                        <p:tgtEl>
                                          <p:spTgt spid="17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71"/>
                                        </p:tgtEl>
                                        <p:attrNameLst>
                                          <p:attrName>style.visibility</p:attrName>
                                        </p:attrNameLst>
                                      </p:cBhvr>
                                      <p:to>
                                        <p:strVal val="visible"/>
                                      </p:to>
                                    </p:set>
                                    <p:animEffect transition="in" filter="fade">
                                      <p:cBhvr>
                                        <p:cTn id="47" dur="1000"/>
                                        <p:tgtEl>
                                          <p:spTgt spid="171"/>
                                        </p:tgtEl>
                                      </p:cBhvr>
                                    </p:animEffect>
                                  </p:childTnLst>
                                </p:cTn>
                              </p:par>
                              <p:par>
                                <p:cTn id="48" presetID="10" presetClass="entr" presetSubtype="0" fill="hold" nodeType="withEffect">
                                  <p:stCondLst>
                                    <p:cond delay="0"/>
                                  </p:stCondLst>
                                  <p:childTnLst>
                                    <p:set>
                                      <p:cBhvr>
                                        <p:cTn id="49" dur="1" fill="hold">
                                          <p:stCondLst>
                                            <p:cond delay="0"/>
                                          </p:stCondLst>
                                        </p:cTn>
                                        <p:tgtEl>
                                          <p:spTgt spid="160"/>
                                        </p:tgtEl>
                                        <p:attrNameLst>
                                          <p:attrName>style.visibility</p:attrName>
                                        </p:attrNameLst>
                                      </p:cBhvr>
                                      <p:to>
                                        <p:strVal val="visible"/>
                                      </p:to>
                                    </p:set>
                                    <p:animEffect transition="in" filter="fade">
                                      <p:cBhvr>
                                        <p:cTn id="50" dur="1000"/>
                                        <p:tgtEl>
                                          <p:spTgt spid="160"/>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65"/>
                                        </p:tgtEl>
                                        <p:attrNameLst>
                                          <p:attrName>style.visibility</p:attrName>
                                        </p:attrNameLst>
                                      </p:cBhvr>
                                      <p:to>
                                        <p:strVal val="visible"/>
                                      </p:to>
                                    </p:set>
                                    <p:animEffect transition="in" filter="fade">
                                      <p:cBhvr>
                                        <p:cTn id="55" dur="1000"/>
                                        <p:tgtEl>
                                          <p:spTgt spid="165"/>
                                        </p:tgtEl>
                                      </p:cBhvr>
                                    </p:animEffect>
                                  </p:childTnLst>
                                </p:cTn>
                              </p:par>
                              <p:par>
                                <p:cTn id="56" presetID="10" presetClass="entr" presetSubtype="0" fill="hold" nodeType="withEffect">
                                  <p:stCondLst>
                                    <p:cond delay="0"/>
                                  </p:stCondLst>
                                  <p:childTnLst>
                                    <p:set>
                                      <p:cBhvr>
                                        <p:cTn id="57" dur="1" fill="hold">
                                          <p:stCondLst>
                                            <p:cond delay="0"/>
                                          </p:stCondLst>
                                        </p:cTn>
                                        <p:tgtEl>
                                          <p:spTgt spid="166"/>
                                        </p:tgtEl>
                                        <p:attrNameLst>
                                          <p:attrName>style.visibility</p:attrName>
                                        </p:attrNameLst>
                                      </p:cBhvr>
                                      <p:to>
                                        <p:strVal val="visible"/>
                                      </p:to>
                                    </p:set>
                                    <p:animEffect transition="in" filter="fade">
                                      <p:cBhvr>
                                        <p:cTn id="58" dur="1000"/>
                                        <p:tgtEl>
                                          <p:spTgt spid="166"/>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72"/>
                                        </p:tgtEl>
                                        <p:attrNameLst>
                                          <p:attrName>style.visibility</p:attrName>
                                        </p:attrNameLst>
                                      </p:cBhvr>
                                      <p:to>
                                        <p:strVal val="visible"/>
                                      </p:to>
                                    </p:set>
                                    <p:animEffect transition="in" filter="fade">
                                      <p:cBhvr>
                                        <p:cTn id="63" dur="1000"/>
                                        <p:tgtEl>
                                          <p:spTgt spid="172"/>
                                        </p:tgtEl>
                                      </p:cBhvr>
                                    </p:animEffect>
                                  </p:childTnLst>
                                </p:cTn>
                              </p:par>
                              <p:par>
                                <p:cTn id="64" presetID="10" presetClass="entr" presetSubtype="0" fill="hold" nodeType="withEffect">
                                  <p:stCondLst>
                                    <p:cond delay="0"/>
                                  </p:stCondLst>
                                  <p:childTnLst>
                                    <p:set>
                                      <p:cBhvr>
                                        <p:cTn id="65" dur="1" fill="hold">
                                          <p:stCondLst>
                                            <p:cond delay="0"/>
                                          </p:stCondLst>
                                        </p:cTn>
                                        <p:tgtEl>
                                          <p:spTgt spid="161"/>
                                        </p:tgtEl>
                                        <p:attrNameLst>
                                          <p:attrName>style.visibility</p:attrName>
                                        </p:attrNameLst>
                                      </p:cBhvr>
                                      <p:to>
                                        <p:strVal val="visible"/>
                                      </p:to>
                                    </p:set>
                                    <p:animEffect transition="in" filter="fade">
                                      <p:cBhvr>
                                        <p:cTn id="66" dur="1000"/>
                                        <p:tgtEl>
                                          <p:spTgt spid="161"/>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51"/>
                                        </p:tgtEl>
                                        <p:attrNameLst>
                                          <p:attrName>style.visibility</p:attrName>
                                        </p:attrNameLst>
                                      </p:cBhvr>
                                      <p:to>
                                        <p:strVal val="visible"/>
                                      </p:to>
                                    </p:set>
                                    <p:animEffect transition="in" filter="fade">
                                      <p:cBhvr>
                                        <p:cTn id="71" dur="1000"/>
                                        <p:tgtEl>
                                          <p:spTgt spid="151"/>
                                        </p:tgtEl>
                                      </p:cBhvr>
                                    </p:animEffect>
                                  </p:childTnLst>
                                </p:cTn>
                              </p:par>
                              <p:par>
                                <p:cTn id="72" presetID="10" presetClass="entr" presetSubtype="0" fill="hold" nodeType="withEffect">
                                  <p:stCondLst>
                                    <p:cond delay="0"/>
                                  </p:stCondLst>
                                  <p:childTnLst>
                                    <p:set>
                                      <p:cBhvr>
                                        <p:cTn id="73" dur="1" fill="hold">
                                          <p:stCondLst>
                                            <p:cond delay="0"/>
                                          </p:stCondLst>
                                        </p:cTn>
                                        <p:tgtEl>
                                          <p:spTgt spid="168"/>
                                        </p:tgtEl>
                                        <p:attrNameLst>
                                          <p:attrName>style.visibility</p:attrName>
                                        </p:attrNameLst>
                                      </p:cBhvr>
                                      <p:to>
                                        <p:strVal val="visible"/>
                                      </p:to>
                                    </p:set>
                                    <p:animEffect transition="in" filter="fade">
                                      <p:cBhvr>
                                        <p:cTn id="74" dur="1000"/>
                                        <p:tgtEl>
                                          <p:spTgt spid="168"/>
                                        </p:tgtEl>
                                      </p:cBhvr>
                                    </p:animEffect>
                                  </p:childTnLst>
                                </p:cTn>
                              </p:par>
                              <p:par>
                                <p:cTn id="75" presetID="10" presetClass="entr" presetSubtype="0" fill="hold" nodeType="withEffect">
                                  <p:stCondLst>
                                    <p:cond delay="0"/>
                                  </p:stCondLst>
                                  <p:childTnLst>
                                    <p:set>
                                      <p:cBhvr>
                                        <p:cTn id="76" dur="1" fill="hold">
                                          <p:stCondLst>
                                            <p:cond delay="0"/>
                                          </p:stCondLst>
                                        </p:cTn>
                                        <p:tgtEl>
                                          <p:spTgt spid="173"/>
                                        </p:tgtEl>
                                        <p:attrNameLst>
                                          <p:attrName>style.visibility</p:attrName>
                                        </p:attrNameLst>
                                      </p:cBhvr>
                                      <p:to>
                                        <p:strVal val="visible"/>
                                      </p:to>
                                    </p:set>
                                    <p:animEffect transition="in" filter="fade">
                                      <p:cBhvr>
                                        <p:cTn id="77" dur="1000"/>
                                        <p:tgtEl>
                                          <p:spTgt spid="173"/>
                                        </p:tgtEl>
                                      </p:cBhvr>
                                    </p:animEffect>
                                  </p:childTnLst>
                                </p:cTn>
                              </p:par>
                              <p:par>
                                <p:cTn id="78" presetID="10" presetClass="entr" presetSubtype="0" fill="hold" nodeType="withEffect">
                                  <p:stCondLst>
                                    <p:cond delay="0"/>
                                  </p:stCondLst>
                                  <p:childTnLst>
                                    <p:set>
                                      <p:cBhvr>
                                        <p:cTn id="79" dur="1" fill="hold">
                                          <p:stCondLst>
                                            <p:cond delay="0"/>
                                          </p:stCondLst>
                                        </p:cTn>
                                        <p:tgtEl>
                                          <p:spTgt spid="167"/>
                                        </p:tgtEl>
                                        <p:attrNameLst>
                                          <p:attrName>style.visibility</p:attrName>
                                        </p:attrNameLst>
                                      </p:cBhvr>
                                      <p:to>
                                        <p:strVal val="visible"/>
                                      </p:to>
                                    </p:set>
                                    <p:animEffect transition="in" filter="fade">
                                      <p:cBhvr>
                                        <p:cTn id="80" dur="1000"/>
                                        <p:tgtEl>
                                          <p:spTgt spid="167"/>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174"/>
                                        </p:tgtEl>
                                        <p:attrNameLst>
                                          <p:attrName>style.visibility</p:attrName>
                                        </p:attrNameLst>
                                      </p:cBhvr>
                                      <p:to>
                                        <p:strVal val="visible"/>
                                      </p:to>
                                    </p:set>
                                    <p:animEffect transition="in" filter="fade">
                                      <p:cBhvr>
                                        <p:cTn id="85" dur="1000"/>
                                        <p:tgtEl>
                                          <p:spTgt spid="174"/>
                                        </p:tgtEl>
                                      </p:cBhvr>
                                    </p:animEffect>
                                  </p:childTnLst>
                                </p:cTn>
                              </p:par>
                              <p:par>
                                <p:cTn id="86" presetID="10" presetClass="entr" presetSubtype="0" fill="hold" nodeType="withEffect">
                                  <p:stCondLst>
                                    <p:cond delay="0"/>
                                  </p:stCondLst>
                                  <p:childTnLst>
                                    <p:set>
                                      <p:cBhvr>
                                        <p:cTn id="87" dur="1" fill="hold">
                                          <p:stCondLst>
                                            <p:cond delay="0"/>
                                          </p:stCondLst>
                                        </p:cTn>
                                        <p:tgtEl>
                                          <p:spTgt spid="162"/>
                                        </p:tgtEl>
                                        <p:attrNameLst>
                                          <p:attrName>style.visibility</p:attrName>
                                        </p:attrNameLst>
                                      </p:cBhvr>
                                      <p:to>
                                        <p:strVal val="visible"/>
                                      </p:to>
                                    </p:set>
                                    <p:animEffect transition="in" filter="fade">
                                      <p:cBhvr>
                                        <p:cTn id="88" dur="1000"/>
                                        <p:tgtEl>
                                          <p:spTgt spid="162"/>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147"/>
                                        </p:tgtEl>
                                        <p:attrNameLst>
                                          <p:attrName>style.visibility</p:attrName>
                                        </p:attrNameLst>
                                      </p:cBhvr>
                                      <p:to>
                                        <p:strVal val="visible"/>
                                      </p:to>
                                    </p:set>
                                    <p:animEffect transition="in" filter="fade">
                                      <p:cBhvr>
                                        <p:cTn id="93" dur="1000"/>
                                        <p:tgtEl>
                                          <p:spTgt spid="147"/>
                                        </p:tgtEl>
                                      </p:cBhvr>
                                    </p:animEffect>
                                  </p:childTnLst>
                                </p:cTn>
                              </p:par>
                              <p:par>
                                <p:cTn id="94" presetID="10" presetClass="entr" presetSubtype="0" fill="hold" nodeType="withEffect">
                                  <p:stCondLst>
                                    <p:cond delay="0"/>
                                  </p:stCondLst>
                                  <p:childTnLst>
                                    <p:set>
                                      <p:cBhvr>
                                        <p:cTn id="95" dur="1" fill="hold">
                                          <p:stCondLst>
                                            <p:cond delay="0"/>
                                          </p:stCondLst>
                                        </p:cTn>
                                        <p:tgtEl>
                                          <p:spTgt spid="148"/>
                                        </p:tgtEl>
                                        <p:attrNameLst>
                                          <p:attrName>style.visibility</p:attrName>
                                        </p:attrNameLst>
                                      </p:cBhvr>
                                      <p:to>
                                        <p:strVal val="visible"/>
                                      </p:to>
                                    </p:set>
                                    <p:animEffect transition="in" filter="fade">
                                      <p:cBhvr>
                                        <p:cTn id="96" dur="1000"/>
                                        <p:tgtEl>
                                          <p:spTgt spid="148"/>
                                        </p:tgtEl>
                                      </p:cBhvr>
                                    </p:animEffect>
                                  </p:childTnLst>
                                </p:cTn>
                              </p:par>
                              <p:par>
                                <p:cTn id="97" presetID="10" presetClass="entr" presetSubtype="0" fill="hold" nodeType="withEffect">
                                  <p:stCondLst>
                                    <p:cond delay="0"/>
                                  </p:stCondLst>
                                  <p:childTnLst>
                                    <p:set>
                                      <p:cBhvr>
                                        <p:cTn id="98" dur="1" fill="hold">
                                          <p:stCondLst>
                                            <p:cond delay="0"/>
                                          </p:stCondLst>
                                        </p:cTn>
                                        <p:tgtEl>
                                          <p:spTgt spid="163"/>
                                        </p:tgtEl>
                                        <p:attrNameLst>
                                          <p:attrName>style.visibility</p:attrName>
                                        </p:attrNameLst>
                                      </p:cBhvr>
                                      <p:to>
                                        <p:strVal val="visible"/>
                                      </p:to>
                                    </p:set>
                                    <p:animEffect transition="in" filter="fade">
                                      <p:cBhvr>
                                        <p:cTn id="99" dur="1000"/>
                                        <p:tgtEl>
                                          <p:spTgt spid="163"/>
                                        </p:tgtEl>
                                      </p:cBhvr>
                                    </p:animEffect>
                                  </p:childTnLst>
                                </p:cTn>
                              </p:par>
                              <p:par>
                                <p:cTn id="100" presetID="10" presetClass="entr" presetSubtype="0" fill="hold" nodeType="withEffect">
                                  <p:stCondLst>
                                    <p:cond delay="0"/>
                                  </p:stCondLst>
                                  <p:childTnLst>
                                    <p:set>
                                      <p:cBhvr>
                                        <p:cTn id="101" dur="1" fill="hold">
                                          <p:stCondLst>
                                            <p:cond delay="0"/>
                                          </p:stCondLst>
                                        </p:cTn>
                                        <p:tgtEl>
                                          <p:spTgt spid="169"/>
                                        </p:tgtEl>
                                        <p:attrNameLst>
                                          <p:attrName>style.visibility</p:attrName>
                                        </p:attrNameLst>
                                      </p:cBhvr>
                                      <p:to>
                                        <p:strVal val="visible"/>
                                      </p:to>
                                    </p:set>
                                    <p:animEffect transition="in" filter="fade">
                                      <p:cBhvr>
                                        <p:cTn id="102" dur="1000"/>
                                        <p:tgtEl>
                                          <p:spTgt spid="169"/>
                                        </p:tgtEl>
                                      </p:cBhvr>
                                    </p:animEffect>
                                  </p:childTnLst>
                                </p:cTn>
                              </p:par>
                              <p:par>
                                <p:cTn id="103" presetID="10" presetClass="entr" presetSubtype="0" fill="hold" nodeType="withEffect">
                                  <p:stCondLst>
                                    <p:cond delay="0"/>
                                  </p:stCondLst>
                                  <p:childTnLst>
                                    <p:set>
                                      <p:cBhvr>
                                        <p:cTn id="104" dur="1" fill="hold">
                                          <p:stCondLst>
                                            <p:cond delay="0"/>
                                          </p:stCondLst>
                                        </p:cTn>
                                        <p:tgtEl>
                                          <p:spTgt spid="175"/>
                                        </p:tgtEl>
                                        <p:attrNameLst>
                                          <p:attrName>style.visibility</p:attrName>
                                        </p:attrNameLst>
                                      </p:cBhvr>
                                      <p:to>
                                        <p:strVal val="visible"/>
                                      </p:to>
                                    </p:set>
                                    <p:animEffect transition="in" filter="fade">
                                      <p:cBhvr>
                                        <p:cTn id="105" dur="1000"/>
                                        <p:tgtEl>
                                          <p:spTgt spid="175"/>
                                        </p:tgtEl>
                                      </p:cBhvr>
                                    </p:animEffect>
                                  </p:childTnLst>
                                </p:cTn>
                              </p:par>
                              <p:par>
                                <p:cTn id="106" presetID="10" presetClass="entr" presetSubtype="0" fill="hold" nodeType="withEffect">
                                  <p:stCondLst>
                                    <p:cond delay="0"/>
                                  </p:stCondLst>
                                  <p:childTnLst>
                                    <p:set>
                                      <p:cBhvr>
                                        <p:cTn id="107" dur="1" fill="hold">
                                          <p:stCondLst>
                                            <p:cond delay="0"/>
                                          </p:stCondLst>
                                        </p:cTn>
                                        <p:tgtEl>
                                          <p:spTgt spid="149"/>
                                        </p:tgtEl>
                                        <p:attrNameLst>
                                          <p:attrName>style.visibility</p:attrName>
                                        </p:attrNameLst>
                                      </p:cBhvr>
                                      <p:to>
                                        <p:strVal val="visible"/>
                                      </p:to>
                                    </p:set>
                                    <p:animEffect transition="in" filter="fade">
                                      <p:cBhvr>
                                        <p:cTn id="108" dur="100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6"/>
          <p:cNvSpPr/>
          <p:nvPr/>
        </p:nvSpPr>
        <p:spPr>
          <a:xfrm>
            <a:off x="5948544" y="2108107"/>
            <a:ext cx="1217550" cy="36525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A</a:t>
            </a:r>
            <a:endParaRPr sz="1500"/>
          </a:p>
        </p:txBody>
      </p:sp>
      <p:sp>
        <p:nvSpPr>
          <p:cNvPr id="181" name="Google Shape;181;p16"/>
          <p:cNvSpPr/>
          <p:nvPr/>
        </p:nvSpPr>
        <p:spPr>
          <a:xfrm>
            <a:off x="5948544" y="3301694"/>
            <a:ext cx="1217550" cy="36525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B</a:t>
            </a:r>
            <a:endParaRPr sz="1500"/>
          </a:p>
        </p:txBody>
      </p:sp>
      <p:sp>
        <p:nvSpPr>
          <p:cNvPr id="182" name="Google Shape;182;p16"/>
          <p:cNvSpPr/>
          <p:nvPr/>
        </p:nvSpPr>
        <p:spPr>
          <a:xfrm>
            <a:off x="1021994" y="2704900"/>
            <a:ext cx="1217550" cy="365250"/>
          </a:xfrm>
          <a:prstGeom prst="rect">
            <a:avLst/>
          </a:prstGeom>
          <a:solidFill>
            <a:srgbClr val="F4CC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Timer ISR</a:t>
            </a:r>
            <a:endParaRPr sz="1500"/>
          </a:p>
        </p:txBody>
      </p:sp>
      <p:sp>
        <p:nvSpPr>
          <p:cNvPr id="183" name="Google Shape;183;p16"/>
          <p:cNvSpPr/>
          <p:nvPr/>
        </p:nvSpPr>
        <p:spPr>
          <a:xfrm rot="-5400000">
            <a:off x="4701390" y="2486263"/>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84" name="Google Shape;184;p16"/>
          <p:cNvSpPr/>
          <p:nvPr/>
        </p:nvSpPr>
        <p:spPr>
          <a:xfrm rot="-5400000">
            <a:off x="4503030" y="2486263"/>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85" name="Google Shape;185;p16"/>
          <p:cNvSpPr/>
          <p:nvPr/>
        </p:nvSpPr>
        <p:spPr>
          <a:xfrm rot="-5400000">
            <a:off x="4106310" y="2486263"/>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86" name="Google Shape;186;p16"/>
          <p:cNvSpPr/>
          <p:nvPr/>
        </p:nvSpPr>
        <p:spPr>
          <a:xfrm rot="-5400000">
            <a:off x="3907950" y="2486263"/>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87" name="Google Shape;187;p16"/>
          <p:cNvSpPr/>
          <p:nvPr/>
        </p:nvSpPr>
        <p:spPr>
          <a:xfrm rot="-5400000">
            <a:off x="4503030" y="2486263"/>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88" name="Google Shape;188;p16"/>
          <p:cNvSpPr/>
          <p:nvPr/>
        </p:nvSpPr>
        <p:spPr>
          <a:xfrm rot="-5400000">
            <a:off x="4701390" y="2486263"/>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89" name="Google Shape;189;p16"/>
          <p:cNvSpPr/>
          <p:nvPr/>
        </p:nvSpPr>
        <p:spPr>
          <a:xfrm rot="-5400000">
            <a:off x="4304670" y="2486263"/>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90" name="Google Shape;190;p16"/>
          <p:cNvSpPr/>
          <p:nvPr/>
        </p:nvSpPr>
        <p:spPr>
          <a:xfrm rot="-5400000">
            <a:off x="4701390" y="3090488"/>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91" name="Google Shape;191;p16"/>
          <p:cNvSpPr/>
          <p:nvPr/>
        </p:nvSpPr>
        <p:spPr>
          <a:xfrm rot="-5400000">
            <a:off x="4503030" y="3090488"/>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92" name="Google Shape;192;p16"/>
          <p:cNvSpPr/>
          <p:nvPr/>
        </p:nvSpPr>
        <p:spPr>
          <a:xfrm rot="-5400000">
            <a:off x="4106310" y="3090488"/>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93" name="Google Shape;193;p16"/>
          <p:cNvSpPr/>
          <p:nvPr/>
        </p:nvSpPr>
        <p:spPr>
          <a:xfrm rot="-5400000">
            <a:off x="3907950" y="3090488"/>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94" name="Google Shape;194;p16"/>
          <p:cNvSpPr/>
          <p:nvPr/>
        </p:nvSpPr>
        <p:spPr>
          <a:xfrm rot="-5400000">
            <a:off x="4503030" y="3090488"/>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95" name="Google Shape;195;p16"/>
          <p:cNvSpPr/>
          <p:nvPr/>
        </p:nvSpPr>
        <p:spPr>
          <a:xfrm rot="-5400000">
            <a:off x="4701390" y="3090488"/>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96" name="Google Shape;196;p16"/>
          <p:cNvSpPr/>
          <p:nvPr/>
        </p:nvSpPr>
        <p:spPr>
          <a:xfrm rot="-5400000">
            <a:off x="4304670" y="3090488"/>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197" name="Google Shape;197;p16"/>
          <p:cNvSpPr/>
          <p:nvPr/>
        </p:nvSpPr>
        <p:spPr>
          <a:xfrm>
            <a:off x="5689500" y="4147100"/>
            <a:ext cx="1735650" cy="1484250"/>
          </a:xfrm>
          <a:prstGeom prst="rect">
            <a:avLst/>
          </a:prstGeom>
          <a:solidFill>
            <a:srgbClr val="000000"/>
          </a:solidFill>
          <a:ln>
            <a:noFill/>
          </a:ln>
        </p:spPr>
        <p:txBody>
          <a:bodyPr spcFirstLastPara="1" wrap="square" lIns="45713" tIns="45713" rIns="45713" bIns="45713" anchor="t" anchorCtr="0">
            <a:noAutofit/>
          </a:bodyPr>
          <a:lstStyle/>
          <a:p>
            <a:pPr algn="ctr"/>
            <a:r>
              <a:rPr lang="en" sz="1200">
                <a:solidFill>
                  <a:srgbClr val="FFFFFF"/>
                </a:solidFill>
              </a:rPr>
              <a:t>Serial Terminal</a:t>
            </a:r>
            <a:endParaRPr sz="1200">
              <a:solidFill>
                <a:srgbClr val="FFFFFF"/>
              </a:solidFill>
            </a:endParaRPr>
          </a:p>
          <a:p>
            <a:pPr algn="ctr"/>
            <a:endParaRPr sz="1200">
              <a:solidFill>
                <a:srgbClr val="FFFFFF"/>
              </a:solidFill>
            </a:endParaRPr>
          </a:p>
          <a:p>
            <a:r>
              <a:rPr lang="en" sz="1200">
                <a:solidFill>
                  <a:srgbClr val="00FF00"/>
                </a:solidFill>
              </a:rPr>
              <a:t>&gt; hello</a:t>
            </a:r>
            <a:endParaRPr sz="1200">
              <a:solidFill>
                <a:srgbClr val="00FF00"/>
              </a:solidFill>
            </a:endParaRPr>
          </a:p>
          <a:p>
            <a:r>
              <a:rPr lang="en" sz="1200">
                <a:solidFill>
                  <a:srgbClr val="00FF00"/>
                </a:solidFill>
              </a:rPr>
              <a:t>&gt; avg</a:t>
            </a:r>
            <a:endParaRPr sz="1200">
              <a:solidFill>
                <a:srgbClr val="00FF00"/>
              </a:solidFill>
            </a:endParaRPr>
          </a:p>
          <a:p>
            <a:r>
              <a:rPr lang="en" sz="1200">
                <a:solidFill>
                  <a:srgbClr val="00FF00"/>
                </a:solidFill>
              </a:rPr>
              <a:t>Average: 59.2</a:t>
            </a:r>
            <a:endParaRPr sz="1200">
              <a:solidFill>
                <a:srgbClr val="00FF00"/>
              </a:solidFill>
            </a:endParaRPr>
          </a:p>
          <a:p>
            <a:r>
              <a:rPr lang="en" sz="1200">
                <a:solidFill>
                  <a:srgbClr val="00FF00"/>
                </a:solidFill>
              </a:rPr>
              <a:t>&gt; blah</a:t>
            </a:r>
            <a:endParaRPr sz="1200">
              <a:solidFill>
                <a:srgbClr val="00FF00"/>
              </a:solidFill>
            </a:endParaRPr>
          </a:p>
          <a:p>
            <a:r>
              <a:rPr lang="en" sz="1200">
                <a:solidFill>
                  <a:srgbClr val="00FF00"/>
                </a:solidFill>
              </a:rPr>
              <a:t>&gt;</a:t>
            </a:r>
            <a:endParaRPr sz="1200">
              <a:solidFill>
                <a:srgbClr val="00FF00"/>
              </a:solidFill>
            </a:endParaRPr>
          </a:p>
        </p:txBody>
      </p:sp>
      <p:sp>
        <p:nvSpPr>
          <p:cNvPr id="198" name="Google Shape;198;p16"/>
          <p:cNvSpPr/>
          <p:nvPr/>
        </p:nvSpPr>
        <p:spPr>
          <a:xfrm>
            <a:off x="7861075" y="2461688"/>
            <a:ext cx="991800" cy="991800"/>
          </a:xfrm>
          <a:prstGeom prst="ellipse">
            <a:avLst/>
          </a:prstGeom>
          <a:solidFill>
            <a:schemeClr val="lt2"/>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200"/>
              <a:t>Global:</a:t>
            </a:r>
            <a:endParaRPr sz="1200"/>
          </a:p>
          <a:p>
            <a:pPr algn="ctr"/>
            <a:r>
              <a:rPr lang="en" sz="1200"/>
              <a:t>Average (float)</a:t>
            </a:r>
            <a:endParaRPr sz="1200"/>
          </a:p>
        </p:txBody>
      </p:sp>
      <p:sp>
        <p:nvSpPr>
          <p:cNvPr id="199" name="Google Shape;199;p16"/>
          <p:cNvSpPr/>
          <p:nvPr/>
        </p:nvSpPr>
        <p:spPr>
          <a:xfrm rot="-5400000">
            <a:off x="3709603" y="2486263"/>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00" name="Google Shape;200;p16"/>
          <p:cNvSpPr/>
          <p:nvPr/>
        </p:nvSpPr>
        <p:spPr>
          <a:xfrm rot="-5400000">
            <a:off x="3511243" y="2486263"/>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01" name="Google Shape;201;p16"/>
          <p:cNvSpPr/>
          <p:nvPr/>
        </p:nvSpPr>
        <p:spPr>
          <a:xfrm rot="-5400000">
            <a:off x="3114523" y="2486263"/>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02" name="Google Shape;202;p16"/>
          <p:cNvSpPr/>
          <p:nvPr/>
        </p:nvSpPr>
        <p:spPr>
          <a:xfrm rot="-5400000">
            <a:off x="2916163" y="2486263"/>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03" name="Google Shape;203;p16"/>
          <p:cNvSpPr/>
          <p:nvPr/>
        </p:nvSpPr>
        <p:spPr>
          <a:xfrm rot="-5400000">
            <a:off x="3511243" y="2486263"/>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04" name="Google Shape;204;p16"/>
          <p:cNvSpPr/>
          <p:nvPr/>
        </p:nvSpPr>
        <p:spPr>
          <a:xfrm rot="-5400000">
            <a:off x="3709603" y="2486263"/>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05" name="Google Shape;205;p16"/>
          <p:cNvSpPr/>
          <p:nvPr/>
        </p:nvSpPr>
        <p:spPr>
          <a:xfrm rot="-5400000">
            <a:off x="3312883" y="2486263"/>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06" name="Google Shape;206;p16"/>
          <p:cNvSpPr/>
          <p:nvPr/>
        </p:nvSpPr>
        <p:spPr>
          <a:xfrm rot="-5400000">
            <a:off x="3709603" y="3090488"/>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07" name="Google Shape;207;p16"/>
          <p:cNvSpPr/>
          <p:nvPr/>
        </p:nvSpPr>
        <p:spPr>
          <a:xfrm rot="-5400000">
            <a:off x="3511243" y="3090488"/>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08" name="Google Shape;208;p16"/>
          <p:cNvSpPr/>
          <p:nvPr/>
        </p:nvSpPr>
        <p:spPr>
          <a:xfrm rot="-5400000">
            <a:off x="3114523" y="3090488"/>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09" name="Google Shape;209;p16"/>
          <p:cNvSpPr/>
          <p:nvPr/>
        </p:nvSpPr>
        <p:spPr>
          <a:xfrm rot="-5400000">
            <a:off x="2916163" y="3090488"/>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10" name="Google Shape;210;p16"/>
          <p:cNvSpPr/>
          <p:nvPr/>
        </p:nvSpPr>
        <p:spPr>
          <a:xfrm rot="-5400000">
            <a:off x="3511243" y="3090488"/>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11" name="Google Shape;211;p16"/>
          <p:cNvSpPr/>
          <p:nvPr/>
        </p:nvSpPr>
        <p:spPr>
          <a:xfrm rot="-5400000">
            <a:off x="3709603" y="3090488"/>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212" name="Google Shape;212;p16"/>
          <p:cNvSpPr/>
          <p:nvPr/>
        </p:nvSpPr>
        <p:spPr>
          <a:xfrm rot="-5400000">
            <a:off x="3312883" y="3090488"/>
            <a:ext cx="527700" cy="19830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cxnSp>
        <p:nvCxnSpPr>
          <p:cNvPr id="213" name="Google Shape;213;p16"/>
          <p:cNvCxnSpPr>
            <a:stCxn id="182" idx="3"/>
            <a:endCxn id="202" idx="0"/>
          </p:cNvCxnSpPr>
          <p:nvPr/>
        </p:nvCxnSpPr>
        <p:spPr>
          <a:xfrm rot="10800000" flipH="1">
            <a:off x="2239544" y="2585425"/>
            <a:ext cx="841350" cy="302100"/>
          </a:xfrm>
          <a:prstGeom prst="straightConnector1">
            <a:avLst/>
          </a:prstGeom>
          <a:noFill/>
          <a:ln w="38100" cap="flat" cmpd="sng">
            <a:solidFill>
              <a:schemeClr val="dk2"/>
            </a:solidFill>
            <a:prstDash val="solid"/>
            <a:round/>
            <a:headEnd type="none" w="med" len="med"/>
            <a:tailEnd type="triangle" w="med" len="med"/>
          </a:ln>
        </p:spPr>
      </p:cxnSp>
      <p:cxnSp>
        <p:nvCxnSpPr>
          <p:cNvPr id="214" name="Google Shape;214;p16"/>
          <p:cNvCxnSpPr>
            <a:stCxn id="195" idx="2"/>
            <a:endCxn id="180" idx="1"/>
          </p:cNvCxnSpPr>
          <p:nvPr/>
        </p:nvCxnSpPr>
        <p:spPr>
          <a:xfrm rot="10800000" flipH="1">
            <a:off x="5064390" y="2290688"/>
            <a:ext cx="884100" cy="898950"/>
          </a:xfrm>
          <a:prstGeom prst="straightConnector1">
            <a:avLst/>
          </a:prstGeom>
          <a:noFill/>
          <a:ln w="38100" cap="flat" cmpd="sng">
            <a:solidFill>
              <a:schemeClr val="dk2"/>
            </a:solidFill>
            <a:prstDash val="solid"/>
            <a:round/>
            <a:headEnd type="none" w="med" len="med"/>
            <a:tailEnd type="triangle" w="med" len="med"/>
          </a:ln>
        </p:spPr>
      </p:cxnSp>
      <p:cxnSp>
        <p:nvCxnSpPr>
          <p:cNvPr id="215" name="Google Shape;215;p16"/>
          <p:cNvCxnSpPr>
            <a:stCxn id="180" idx="3"/>
            <a:endCxn id="198" idx="1"/>
          </p:cNvCxnSpPr>
          <p:nvPr/>
        </p:nvCxnSpPr>
        <p:spPr>
          <a:xfrm>
            <a:off x="7166094" y="2290732"/>
            <a:ext cx="840300" cy="316200"/>
          </a:xfrm>
          <a:prstGeom prst="straightConnector1">
            <a:avLst/>
          </a:prstGeom>
          <a:noFill/>
          <a:ln w="38100" cap="flat" cmpd="sng">
            <a:solidFill>
              <a:schemeClr val="dk2"/>
            </a:solidFill>
            <a:prstDash val="solid"/>
            <a:round/>
            <a:headEnd type="none" w="med" len="med"/>
            <a:tailEnd type="triangle" w="med" len="med"/>
          </a:ln>
        </p:spPr>
      </p:cxnSp>
      <p:cxnSp>
        <p:nvCxnSpPr>
          <p:cNvPr id="216" name="Google Shape;216;p16"/>
          <p:cNvCxnSpPr>
            <a:stCxn id="198" idx="3"/>
            <a:endCxn id="181" idx="3"/>
          </p:cNvCxnSpPr>
          <p:nvPr/>
        </p:nvCxnSpPr>
        <p:spPr>
          <a:xfrm flipH="1">
            <a:off x="7166021" y="3308242"/>
            <a:ext cx="840300" cy="176100"/>
          </a:xfrm>
          <a:prstGeom prst="straightConnector1">
            <a:avLst/>
          </a:prstGeom>
          <a:noFill/>
          <a:ln w="38100" cap="flat" cmpd="sng">
            <a:solidFill>
              <a:schemeClr val="dk2"/>
            </a:solidFill>
            <a:prstDash val="solid"/>
            <a:round/>
            <a:headEnd type="none" w="med" len="med"/>
            <a:tailEnd type="triangle" w="med" len="med"/>
          </a:ln>
        </p:spPr>
      </p:cxnSp>
      <p:cxnSp>
        <p:nvCxnSpPr>
          <p:cNvPr id="217" name="Google Shape;217;p16"/>
          <p:cNvCxnSpPr>
            <a:stCxn id="181" idx="2"/>
            <a:endCxn id="197" idx="0"/>
          </p:cNvCxnSpPr>
          <p:nvPr/>
        </p:nvCxnSpPr>
        <p:spPr>
          <a:xfrm>
            <a:off x="6557319" y="3666944"/>
            <a:ext cx="0" cy="480150"/>
          </a:xfrm>
          <a:prstGeom prst="straightConnector1">
            <a:avLst/>
          </a:prstGeom>
          <a:noFill/>
          <a:ln w="38100" cap="flat" cmpd="sng">
            <a:solidFill>
              <a:schemeClr val="dk2"/>
            </a:solidFill>
            <a:prstDash val="solid"/>
            <a:round/>
            <a:headEnd type="triangle" w="med" len="med"/>
            <a:tailEnd type="triangle" w="med" len="med"/>
          </a:ln>
        </p:spPr>
      </p:cxnSp>
      <p:sp>
        <p:nvSpPr>
          <p:cNvPr id="218" name="Google Shape;218;p16"/>
          <p:cNvSpPr txBox="1"/>
          <p:nvPr/>
        </p:nvSpPr>
        <p:spPr>
          <a:xfrm>
            <a:off x="3080900" y="1767463"/>
            <a:ext cx="1983450" cy="553984"/>
          </a:xfrm>
          <a:prstGeom prst="rect">
            <a:avLst/>
          </a:prstGeom>
          <a:noFill/>
          <a:ln>
            <a:noFill/>
          </a:ln>
        </p:spPr>
        <p:txBody>
          <a:bodyPr spcFirstLastPara="1" wrap="square" lIns="45713" tIns="45713" rIns="45713" bIns="45713" anchor="t" anchorCtr="0">
            <a:spAutoFit/>
          </a:bodyPr>
          <a:lstStyle/>
          <a:p>
            <a:pPr algn="ctr"/>
            <a:r>
              <a:rPr lang="en" sz="1500"/>
              <a:t>Double Buffer or Circular Buffer</a:t>
            </a:r>
            <a:endParaRPr sz="1500"/>
          </a:p>
        </p:txBody>
      </p:sp>
      <p:sp>
        <p:nvSpPr>
          <p:cNvPr id="219" name="Google Shape;219;p16"/>
          <p:cNvSpPr txBox="1"/>
          <p:nvPr/>
        </p:nvSpPr>
        <p:spPr>
          <a:xfrm>
            <a:off x="1022000" y="3070150"/>
            <a:ext cx="1217550" cy="461651"/>
          </a:xfrm>
          <a:prstGeom prst="rect">
            <a:avLst/>
          </a:prstGeom>
          <a:noFill/>
          <a:ln>
            <a:noFill/>
          </a:ln>
        </p:spPr>
        <p:txBody>
          <a:bodyPr spcFirstLastPara="1" wrap="square" lIns="45713" tIns="45713" rIns="45713" bIns="45713" anchor="t" anchorCtr="0">
            <a:spAutoFit/>
          </a:bodyPr>
          <a:lstStyle/>
          <a:p>
            <a:r>
              <a:rPr lang="en" sz="1200"/>
              <a:t>Samples from ADC (10 Hz)</a:t>
            </a:r>
            <a:endParaRPr sz="1200"/>
          </a:p>
        </p:txBody>
      </p:sp>
      <p:sp>
        <p:nvSpPr>
          <p:cNvPr id="220" name="Google Shape;220;p16"/>
          <p:cNvSpPr txBox="1"/>
          <p:nvPr/>
        </p:nvSpPr>
        <p:spPr>
          <a:xfrm>
            <a:off x="5646675" y="1226650"/>
            <a:ext cx="1821300" cy="646317"/>
          </a:xfrm>
          <a:prstGeom prst="rect">
            <a:avLst/>
          </a:prstGeom>
          <a:noFill/>
          <a:ln>
            <a:noFill/>
          </a:ln>
        </p:spPr>
        <p:txBody>
          <a:bodyPr spcFirstLastPara="1" wrap="square" lIns="45713" tIns="45713" rIns="45713" bIns="45713" anchor="t" anchorCtr="0">
            <a:spAutoFit/>
          </a:bodyPr>
          <a:lstStyle/>
          <a:p>
            <a:r>
              <a:rPr lang="en" sz="1200"/>
              <a:t>After 10 samples have been read, Task A will wake up and compute the average.</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0"/>
                                        </p:tgtEl>
                                        <p:attrNameLst>
                                          <p:attrName>style.visibility</p:attrName>
                                        </p:attrNameLst>
                                      </p:cBhvr>
                                      <p:to>
                                        <p:strVal val="visible"/>
                                      </p:to>
                                    </p:set>
                                    <p:animEffect transition="in" filter="fade">
                                      <p:cBhvr>
                                        <p:cTn id="7" dur="1000"/>
                                        <p:tgtEl>
                                          <p:spTgt spid="180"/>
                                        </p:tgtEl>
                                      </p:cBhvr>
                                    </p:animEffect>
                                  </p:childTnLst>
                                </p:cTn>
                              </p:par>
                              <p:par>
                                <p:cTn id="8" presetID="10" presetClass="entr" presetSubtype="0" fill="hold" nodeType="withEffect">
                                  <p:stCondLst>
                                    <p:cond delay="0"/>
                                  </p:stCondLst>
                                  <p:childTnLst>
                                    <p:set>
                                      <p:cBhvr>
                                        <p:cTn id="9" dur="1" fill="hold">
                                          <p:stCondLst>
                                            <p:cond delay="0"/>
                                          </p:stCondLst>
                                        </p:cTn>
                                        <p:tgtEl>
                                          <p:spTgt spid="214"/>
                                        </p:tgtEl>
                                        <p:attrNameLst>
                                          <p:attrName>style.visibility</p:attrName>
                                        </p:attrNameLst>
                                      </p:cBhvr>
                                      <p:to>
                                        <p:strVal val="visible"/>
                                      </p:to>
                                    </p:set>
                                    <p:animEffect transition="in" filter="fade">
                                      <p:cBhvr>
                                        <p:cTn id="10" dur="1000"/>
                                        <p:tgtEl>
                                          <p:spTgt spid="214"/>
                                        </p:tgtEl>
                                      </p:cBhvr>
                                    </p:animEffect>
                                  </p:childTnLst>
                                </p:cTn>
                              </p:par>
                              <p:par>
                                <p:cTn id="11" presetID="10" presetClass="entr" presetSubtype="0" fill="hold" nodeType="withEffect">
                                  <p:stCondLst>
                                    <p:cond delay="0"/>
                                  </p:stCondLst>
                                  <p:childTnLst>
                                    <p:set>
                                      <p:cBhvr>
                                        <p:cTn id="12" dur="1" fill="hold">
                                          <p:stCondLst>
                                            <p:cond delay="0"/>
                                          </p:stCondLst>
                                        </p:cTn>
                                        <p:tgtEl>
                                          <p:spTgt spid="220"/>
                                        </p:tgtEl>
                                        <p:attrNameLst>
                                          <p:attrName>style.visibility</p:attrName>
                                        </p:attrNameLst>
                                      </p:cBhvr>
                                      <p:to>
                                        <p:strVal val="visible"/>
                                      </p:to>
                                    </p:set>
                                    <p:animEffect transition="in" filter="fade">
                                      <p:cBhvr>
                                        <p:cTn id="13" dur="1000"/>
                                        <p:tgtEl>
                                          <p:spTgt spid="22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98"/>
                                        </p:tgtEl>
                                        <p:attrNameLst>
                                          <p:attrName>style.visibility</p:attrName>
                                        </p:attrNameLst>
                                      </p:cBhvr>
                                      <p:to>
                                        <p:strVal val="visible"/>
                                      </p:to>
                                    </p:set>
                                    <p:animEffect transition="in" filter="fade">
                                      <p:cBhvr>
                                        <p:cTn id="18" dur="1000"/>
                                        <p:tgtEl>
                                          <p:spTgt spid="198"/>
                                        </p:tgtEl>
                                      </p:cBhvr>
                                    </p:animEffect>
                                  </p:childTnLst>
                                </p:cTn>
                              </p:par>
                              <p:par>
                                <p:cTn id="19" presetID="10" presetClass="entr" presetSubtype="0" fill="hold" nodeType="withEffect">
                                  <p:stCondLst>
                                    <p:cond delay="0"/>
                                  </p:stCondLst>
                                  <p:childTnLst>
                                    <p:set>
                                      <p:cBhvr>
                                        <p:cTn id="20" dur="1" fill="hold">
                                          <p:stCondLst>
                                            <p:cond delay="0"/>
                                          </p:stCondLst>
                                        </p:cTn>
                                        <p:tgtEl>
                                          <p:spTgt spid="215"/>
                                        </p:tgtEl>
                                        <p:attrNameLst>
                                          <p:attrName>style.visibility</p:attrName>
                                        </p:attrNameLst>
                                      </p:cBhvr>
                                      <p:to>
                                        <p:strVal val="visible"/>
                                      </p:to>
                                    </p:set>
                                    <p:animEffect transition="in" filter="fade">
                                      <p:cBhvr>
                                        <p:cTn id="21" dur="1000"/>
                                        <p:tgtEl>
                                          <p:spTgt spid="21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81"/>
                                        </p:tgtEl>
                                        <p:attrNameLst>
                                          <p:attrName>style.visibility</p:attrName>
                                        </p:attrNameLst>
                                      </p:cBhvr>
                                      <p:to>
                                        <p:strVal val="visible"/>
                                      </p:to>
                                    </p:set>
                                    <p:animEffect transition="in" filter="fade">
                                      <p:cBhvr>
                                        <p:cTn id="26" dur="1000"/>
                                        <p:tgtEl>
                                          <p:spTgt spid="181"/>
                                        </p:tgtEl>
                                      </p:cBhvr>
                                    </p:animEffect>
                                  </p:childTnLst>
                                </p:cTn>
                              </p:par>
                              <p:par>
                                <p:cTn id="27" presetID="10" presetClass="entr" presetSubtype="0" fill="hold" nodeType="withEffect">
                                  <p:stCondLst>
                                    <p:cond delay="0"/>
                                  </p:stCondLst>
                                  <p:childTnLst>
                                    <p:set>
                                      <p:cBhvr>
                                        <p:cTn id="28" dur="1" fill="hold">
                                          <p:stCondLst>
                                            <p:cond delay="0"/>
                                          </p:stCondLst>
                                        </p:cTn>
                                        <p:tgtEl>
                                          <p:spTgt spid="197"/>
                                        </p:tgtEl>
                                        <p:attrNameLst>
                                          <p:attrName>style.visibility</p:attrName>
                                        </p:attrNameLst>
                                      </p:cBhvr>
                                      <p:to>
                                        <p:strVal val="visible"/>
                                      </p:to>
                                    </p:set>
                                    <p:animEffect transition="in" filter="fade">
                                      <p:cBhvr>
                                        <p:cTn id="29" dur="1000"/>
                                        <p:tgtEl>
                                          <p:spTgt spid="197"/>
                                        </p:tgtEl>
                                      </p:cBhvr>
                                    </p:animEffect>
                                  </p:childTnLst>
                                </p:cTn>
                              </p:par>
                              <p:par>
                                <p:cTn id="30" presetID="10" presetClass="entr" presetSubtype="0" fill="hold" nodeType="withEffect">
                                  <p:stCondLst>
                                    <p:cond delay="0"/>
                                  </p:stCondLst>
                                  <p:childTnLst>
                                    <p:set>
                                      <p:cBhvr>
                                        <p:cTn id="31" dur="1" fill="hold">
                                          <p:stCondLst>
                                            <p:cond delay="0"/>
                                          </p:stCondLst>
                                        </p:cTn>
                                        <p:tgtEl>
                                          <p:spTgt spid="216"/>
                                        </p:tgtEl>
                                        <p:attrNameLst>
                                          <p:attrName>style.visibility</p:attrName>
                                        </p:attrNameLst>
                                      </p:cBhvr>
                                      <p:to>
                                        <p:strVal val="visible"/>
                                      </p:to>
                                    </p:set>
                                    <p:animEffect transition="in" filter="fade">
                                      <p:cBhvr>
                                        <p:cTn id="32" dur="1000"/>
                                        <p:tgtEl>
                                          <p:spTgt spid="216"/>
                                        </p:tgtEl>
                                      </p:cBhvr>
                                    </p:animEffect>
                                  </p:childTnLst>
                                </p:cTn>
                              </p:par>
                              <p:par>
                                <p:cTn id="33" presetID="10" presetClass="entr" presetSubtype="0" fill="hold" nodeType="withEffect">
                                  <p:stCondLst>
                                    <p:cond delay="0"/>
                                  </p:stCondLst>
                                  <p:childTnLst>
                                    <p:set>
                                      <p:cBhvr>
                                        <p:cTn id="34" dur="1" fill="hold">
                                          <p:stCondLst>
                                            <p:cond delay="0"/>
                                          </p:stCondLst>
                                        </p:cTn>
                                        <p:tgtEl>
                                          <p:spTgt spid="217"/>
                                        </p:tgtEl>
                                        <p:attrNameLst>
                                          <p:attrName>style.visibility</p:attrName>
                                        </p:attrNameLst>
                                      </p:cBhvr>
                                      <p:to>
                                        <p:strVal val="visible"/>
                                      </p:to>
                                    </p:set>
                                    <p:animEffect transition="in" filter="fade">
                                      <p:cBhvr>
                                        <p:cTn id="35" dur="1000"/>
                                        <p:tgtEl>
                                          <p:spTgt spid="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BCF0A-DFDE-9F09-D477-9F7F05405AD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F263F4EE-97FD-6594-32AB-97277B68BA0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24091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3389862" y="2035757"/>
            <a:ext cx="2364300" cy="2364300"/>
          </a:xfrm>
          <a:prstGeom prst="ellipse">
            <a:avLst/>
          </a:prstGeom>
          <a:solidFill>
            <a:srgbClr val="783F04"/>
          </a:solidFill>
          <a:ln>
            <a:noFill/>
          </a:ln>
        </p:spPr>
        <p:txBody>
          <a:bodyPr spcFirstLastPara="1" wrap="square" lIns="45713" tIns="45713" rIns="45713" bIns="45713" anchor="ctr" anchorCtr="0">
            <a:noAutofit/>
          </a:bodyPr>
          <a:lstStyle/>
          <a:p>
            <a:endParaRPr sz="900"/>
          </a:p>
        </p:txBody>
      </p:sp>
      <p:pic>
        <p:nvPicPr>
          <p:cNvPr id="55" name="Google Shape;55;p13"/>
          <p:cNvPicPr preferRelativeResize="0"/>
          <p:nvPr/>
        </p:nvPicPr>
        <p:blipFill>
          <a:blip r:embed="rId3">
            <a:alphaModFix/>
          </a:blip>
          <a:stretch>
            <a:fillRect/>
          </a:stretch>
        </p:blipFill>
        <p:spPr>
          <a:xfrm>
            <a:off x="5100038" y="1243400"/>
            <a:ext cx="1219200" cy="1219200"/>
          </a:xfrm>
          <a:prstGeom prst="rect">
            <a:avLst/>
          </a:prstGeom>
          <a:noFill/>
          <a:ln>
            <a:noFill/>
          </a:ln>
        </p:spPr>
      </p:pic>
      <p:pic>
        <p:nvPicPr>
          <p:cNvPr id="56" name="Google Shape;56;p13"/>
          <p:cNvPicPr preferRelativeResize="0"/>
          <p:nvPr/>
        </p:nvPicPr>
        <p:blipFill>
          <a:blip r:embed="rId4">
            <a:alphaModFix/>
          </a:blip>
          <a:stretch>
            <a:fillRect/>
          </a:stretch>
        </p:blipFill>
        <p:spPr>
          <a:xfrm>
            <a:off x="3962394" y="4395400"/>
            <a:ext cx="1219200" cy="1219200"/>
          </a:xfrm>
          <a:prstGeom prst="rect">
            <a:avLst/>
          </a:prstGeom>
          <a:noFill/>
          <a:ln>
            <a:noFill/>
          </a:ln>
        </p:spPr>
      </p:pic>
      <p:pic>
        <p:nvPicPr>
          <p:cNvPr id="57" name="Google Shape;57;p13"/>
          <p:cNvPicPr preferRelativeResize="0"/>
          <p:nvPr/>
        </p:nvPicPr>
        <p:blipFill>
          <a:blip r:embed="rId5">
            <a:alphaModFix/>
          </a:blip>
          <a:stretch>
            <a:fillRect/>
          </a:stretch>
        </p:blipFill>
        <p:spPr>
          <a:xfrm>
            <a:off x="2292325" y="3217875"/>
            <a:ext cx="1219200" cy="1219200"/>
          </a:xfrm>
          <a:prstGeom prst="rect">
            <a:avLst/>
          </a:prstGeom>
          <a:noFill/>
          <a:ln>
            <a:noFill/>
          </a:ln>
        </p:spPr>
      </p:pic>
      <p:pic>
        <p:nvPicPr>
          <p:cNvPr id="58" name="Google Shape;58;p13"/>
          <p:cNvPicPr preferRelativeResize="0"/>
          <p:nvPr/>
        </p:nvPicPr>
        <p:blipFill>
          <a:blip r:embed="rId6">
            <a:alphaModFix/>
          </a:blip>
          <a:stretch>
            <a:fillRect/>
          </a:stretch>
        </p:blipFill>
        <p:spPr>
          <a:xfrm>
            <a:off x="5632475" y="3217875"/>
            <a:ext cx="1219200" cy="1219200"/>
          </a:xfrm>
          <a:prstGeom prst="rect">
            <a:avLst/>
          </a:prstGeom>
          <a:noFill/>
          <a:ln>
            <a:noFill/>
          </a:ln>
        </p:spPr>
      </p:pic>
      <p:pic>
        <p:nvPicPr>
          <p:cNvPr id="59" name="Google Shape;59;p13"/>
          <p:cNvPicPr preferRelativeResize="0"/>
          <p:nvPr/>
        </p:nvPicPr>
        <p:blipFill>
          <a:blip r:embed="rId7">
            <a:alphaModFix/>
          </a:blip>
          <a:stretch>
            <a:fillRect/>
          </a:stretch>
        </p:blipFill>
        <p:spPr>
          <a:xfrm>
            <a:off x="2824757" y="1243400"/>
            <a:ext cx="1219200" cy="1219200"/>
          </a:xfrm>
          <a:prstGeom prst="rect">
            <a:avLst/>
          </a:prstGeom>
          <a:noFill/>
          <a:ln>
            <a:noFill/>
          </a:ln>
        </p:spPr>
      </p:pic>
      <p:sp>
        <p:nvSpPr>
          <p:cNvPr id="60" name="Google Shape;60;p13"/>
          <p:cNvSpPr/>
          <p:nvPr/>
        </p:nvSpPr>
        <p:spPr>
          <a:xfrm rot="-6485262" flipH="1">
            <a:off x="5341176"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61" name="Google Shape;61;p13"/>
          <p:cNvSpPr/>
          <p:nvPr/>
        </p:nvSpPr>
        <p:spPr>
          <a:xfrm rot="6485262">
            <a:off x="3763714"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62" name="Google Shape;62;p13"/>
          <p:cNvSpPr/>
          <p:nvPr/>
        </p:nvSpPr>
        <p:spPr>
          <a:xfrm rot="10800000">
            <a:off x="4552435" y="2168746"/>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63" name="Google Shape;63;p13"/>
          <p:cNvSpPr/>
          <p:nvPr/>
        </p:nvSpPr>
        <p:spPr>
          <a:xfrm rot="2167448">
            <a:off x="4087053"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64" name="Google Shape;64;p13"/>
          <p:cNvSpPr/>
          <p:nvPr/>
        </p:nvSpPr>
        <p:spPr>
          <a:xfrm rot="-2167448" flipH="1">
            <a:off x="5017778"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grpSp>
        <p:nvGrpSpPr>
          <p:cNvPr id="65" name="Google Shape;65;p13"/>
          <p:cNvGrpSpPr/>
          <p:nvPr/>
        </p:nvGrpSpPr>
        <p:grpSpPr>
          <a:xfrm>
            <a:off x="4157202" y="2803111"/>
            <a:ext cx="829600" cy="829600"/>
            <a:chOff x="8314403" y="3891721"/>
            <a:chExt cx="1659199" cy="1659199"/>
          </a:xfrm>
        </p:grpSpPr>
        <p:sp>
          <p:nvSpPr>
            <p:cNvPr id="66" name="Google Shape;66;p13"/>
            <p:cNvSpPr/>
            <p:nvPr/>
          </p:nvSpPr>
          <p:spPr>
            <a:xfrm>
              <a:off x="8314403" y="3891721"/>
              <a:ext cx="1659199" cy="1659199"/>
            </a:xfrm>
            <a:prstGeom prst="ellipse">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7" name="Google Shape;67;p13"/>
            <p:cNvSpPr/>
            <p:nvPr/>
          </p:nvSpPr>
          <p:spPr>
            <a:xfrm>
              <a:off x="8711673" y="4477117"/>
              <a:ext cx="516492" cy="774394"/>
            </a:xfrm>
            <a:custGeom>
              <a:avLst/>
              <a:gdLst/>
              <a:ahLst/>
              <a:cxnLst/>
              <a:rect l="l" t="t" r="r" b="b"/>
              <a:pathLst>
                <a:path w="11255" h="16875" extrusionOk="0">
                  <a:moveTo>
                    <a:pt x="0" y="1985"/>
                  </a:moveTo>
                  <a:cubicBezTo>
                    <a:pt x="3409" y="525"/>
                    <a:pt x="10171" y="-1599"/>
                    <a:pt x="11126" y="1985"/>
                  </a:cubicBezTo>
                  <a:cubicBezTo>
                    <a:pt x="11977" y="5177"/>
                    <a:pt x="7498" y="7599"/>
                    <a:pt x="5042" y="9808"/>
                  </a:cubicBezTo>
                  <a:cubicBezTo>
                    <a:pt x="3517" y="11179"/>
                    <a:pt x="7922" y="12750"/>
                    <a:pt x="9562" y="13980"/>
                  </a:cubicBezTo>
                  <a:cubicBezTo>
                    <a:pt x="10372" y="14587"/>
                    <a:pt x="11636" y="16225"/>
                    <a:pt x="10778" y="16762"/>
                  </a:cubicBezTo>
                  <a:cubicBezTo>
                    <a:pt x="9613" y="17490"/>
                    <a:pt x="7707" y="13849"/>
                    <a:pt x="8866" y="13111"/>
                  </a:cubicBezTo>
                </a:path>
              </a:pathLst>
            </a:custGeom>
            <a:noFill/>
            <a:ln w="38100" cap="flat" cmpd="sng">
              <a:solidFill>
                <a:srgbClr val="F1C232"/>
              </a:solidFill>
              <a:prstDash val="solid"/>
              <a:round/>
              <a:headEnd type="none" w="med" len="med"/>
              <a:tailEnd type="none" w="med" len="med"/>
            </a:ln>
          </p:spPr>
        </p:sp>
        <p:sp>
          <p:nvSpPr>
            <p:cNvPr id="68" name="Google Shape;68;p13"/>
            <p:cNvSpPr/>
            <p:nvPr/>
          </p:nvSpPr>
          <p:spPr>
            <a:xfrm>
              <a:off x="8900232" y="4193265"/>
              <a:ext cx="500843" cy="837630"/>
            </a:xfrm>
            <a:custGeom>
              <a:avLst/>
              <a:gdLst/>
              <a:ahLst/>
              <a:cxnLst/>
              <a:rect l="l" t="t" r="r" b="b"/>
              <a:pathLst>
                <a:path w="10914" h="18253" extrusionOk="0">
                  <a:moveTo>
                    <a:pt x="4236" y="0"/>
                  </a:moveTo>
                  <a:cubicBezTo>
                    <a:pt x="1862" y="3263"/>
                    <a:pt x="-1710" y="8598"/>
                    <a:pt x="933" y="11647"/>
                  </a:cubicBezTo>
                  <a:cubicBezTo>
                    <a:pt x="3470" y="14574"/>
                    <a:pt x="12913" y="15228"/>
                    <a:pt x="10494" y="18253"/>
                  </a:cubicBezTo>
                </a:path>
              </a:pathLst>
            </a:custGeom>
            <a:noFill/>
            <a:ln w="38100" cap="flat" cmpd="sng">
              <a:solidFill>
                <a:srgbClr val="F1C232"/>
              </a:solidFill>
              <a:prstDash val="solid"/>
              <a:round/>
              <a:headEnd type="none" w="med" len="med"/>
              <a:tailEnd type="none" w="med" len="med"/>
            </a:ln>
          </p:spPr>
        </p:sp>
        <p:sp>
          <p:nvSpPr>
            <p:cNvPr id="69" name="Google Shape;69;p13"/>
            <p:cNvSpPr/>
            <p:nvPr/>
          </p:nvSpPr>
          <p:spPr>
            <a:xfrm>
              <a:off x="9101156" y="4400687"/>
              <a:ext cx="408283" cy="654162"/>
            </a:xfrm>
            <a:custGeom>
              <a:avLst/>
              <a:gdLst/>
              <a:ahLst/>
              <a:cxnLst/>
              <a:rect l="l" t="t" r="r" b="b"/>
              <a:pathLst>
                <a:path w="8897" h="14255" extrusionOk="0">
                  <a:moveTo>
                    <a:pt x="8897" y="0"/>
                  </a:moveTo>
                  <a:cubicBezTo>
                    <a:pt x="5700" y="999"/>
                    <a:pt x="1621" y="2006"/>
                    <a:pt x="205" y="5041"/>
                  </a:cubicBezTo>
                  <a:cubicBezTo>
                    <a:pt x="-1089" y="7814"/>
                    <a:pt x="5221" y="8570"/>
                    <a:pt x="7507" y="10604"/>
                  </a:cubicBezTo>
                  <a:cubicBezTo>
                    <a:pt x="8600" y="11576"/>
                    <a:pt x="6516" y="14014"/>
                    <a:pt x="5073" y="14255"/>
                  </a:cubicBezTo>
                </a:path>
              </a:pathLst>
            </a:custGeom>
            <a:noFill/>
            <a:ln w="38100" cap="flat" cmpd="sng">
              <a:solidFill>
                <a:srgbClr val="F1C232"/>
              </a:solidFill>
              <a:prstDash val="solid"/>
              <a:round/>
              <a:headEnd type="none" w="med" len="med"/>
              <a:tailEnd type="none" w="med" len="med"/>
            </a:ln>
          </p:spPr>
        </p:sp>
        <p:sp>
          <p:nvSpPr>
            <p:cNvPr id="70" name="Google Shape;70;p13"/>
            <p:cNvSpPr/>
            <p:nvPr/>
          </p:nvSpPr>
          <p:spPr>
            <a:xfrm>
              <a:off x="8743612" y="4304961"/>
              <a:ext cx="952447" cy="590329"/>
            </a:xfrm>
            <a:custGeom>
              <a:avLst/>
              <a:gdLst/>
              <a:ahLst/>
              <a:cxnLst/>
              <a:rect l="l" t="t" r="r" b="b"/>
              <a:pathLst>
                <a:path w="20755" h="12864" extrusionOk="0">
                  <a:moveTo>
                    <a:pt x="0" y="0"/>
                  </a:moveTo>
                  <a:cubicBezTo>
                    <a:pt x="5394" y="897"/>
                    <a:pt x="12760" y="-760"/>
                    <a:pt x="15993" y="3650"/>
                  </a:cubicBezTo>
                  <a:cubicBezTo>
                    <a:pt x="17475" y="5672"/>
                    <a:pt x="22372" y="8719"/>
                    <a:pt x="20165" y="9908"/>
                  </a:cubicBezTo>
                  <a:cubicBezTo>
                    <a:pt x="14587" y="12912"/>
                    <a:pt x="1390" y="6529"/>
                    <a:pt x="1390" y="12864"/>
                  </a:cubicBezTo>
                </a:path>
              </a:pathLst>
            </a:custGeom>
            <a:noFill/>
            <a:ln w="38100" cap="flat" cmpd="sng">
              <a:solidFill>
                <a:srgbClr val="F1C232"/>
              </a:solidFill>
              <a:prstDash val="solid"/>
              <a:round/>
              <a:headEnd type="none" w="med" len="med"/>
              <a:tailEnd type="none" w="med" len="med"/>
            </a:ln>
          </p:spPr>
        </p:sp>
        <p:sp>
          <p:nvSpPr>
            <p:cNvPr id="71" name="Google Shape;71;p13"/>
            <p:cNvSpPr/>
            <p:nvPr/>
          </p:nvSpPr>
          <p:spPr>
            <a:xfrm>
              <a:off x="8593690" y="4153386"/>
              <a:ext cx="756221" cy="877509"/>
            </a:xfrm>
            <a:custGeom>
              <a:avLst/>
              <a:gdLst/>
              <a:ahLst/>
              <a:cxnLst/>
              <a:rect l="l" t="t" r="r" b="b"/>
              <a:pathLst>
                <a:path w="16479" h="19122" extrusionOk="0">
                  <a:moveTo>
                    <a:pt x="16479" y="0"/>
                  </a:moveTo>
                  <a:cubicBezTo>
                    <a:pt x="9984" y="1946"/>
                    <a:pt x="3470" y="6343"/>
                    <a:pt x="311" y="12342"/>
                  </a:cubicBezTo>
                  <a:cubicBezTo>
                    <a:pt x="-872" y="14589"/>
                    <a:pt x="1757" y="17597"/>
                    <a:pt x="3788" y="19122"/>
                  </a:cubicBezTo>
                </a:path>
              </a:pathLst>
            </a:custGeom>
            <a:noFill/>
            <a:ln w="38100" cap="flat" cmpd="sng">
              <a:solidFill>
                <a:srgbClr val="F1C232"/>
              </a:solidFill>
              <a:prstDash val="solid"/>
              <a:round/>
              <a:headEnd type="none" w="med" len="med"/>
              <a:tailEnd type="none" w="med" len="med"/>
            </a:ln>
          </p:spPr>
        </p:sp>
        <p:sp>
          <p:nvSpPr>
            <p:cNvPr id="72" name="Google Shape;72;p13"/>
            <p:cNvSpPr/>
            <p:nvPr/>
          </p:nvSpPr>
          <p:spPr>
            <a:xfrm>
              <a:off x="8879217" y="4161325"/>
              <a:ext cx="731303" cy="1077910"/>
            </a:xfrm>
            <a:custGeom>
              <a:avLst/>
              <a:gdLst/>
              <a:ahLst/>
              <a:cxnLst/>
              <a:rect l="l" t="t" r="r" b="b"/>
              <a:pathLst>
                <a:path w="15936" h="23489" extrusionOk="0">
                  <a:moveTo>
                    <a:pt x="0" y="0"/>
                  </a:moveTo>
                  <a:cubicBezTo>
                    <a:pt x="0" y="8167"/>
                    <a:pt x="2230" y="20746"/>
                    <a:pt x="10257" y="22252"/>
                  </a:cubicBezTo>
                  <a:cubicBezTo>
                    <a:pt x="12203" y="22617"/>
                    <a:pt x="15960" y="18191"/>
                    <a:pt x="15819" y="20166"/>
                  </a:cubicBezTo>
                  <a:cubicBezTo>
                    <a:pt x="15703" y="21786"/>
                    <a:pt x="15565" y="21792"/>
                    <a:pt x="14950" y="23295"/>
                  </a:cubicBezTo>
                  <a:cubicBezTo>
                    <a:pt x="14596" y="24160"/>
                    <a:pt x="13200" y="21724"/>
                    <a:pt x="13559" y="20861"/>
                  </a:cubicBezTo>
                  <a:cubicBezTo>
                    <a:pt x="14532" y="18524"/>
                    <a:pt x="16694" y="15864"/>
                    <a:pt x="15646" y="13560"/>
                  </a:cubicBezTo>
                  <a:cubicBezTo>
                    <a:pt x="15040" y="12229"/>
                    <a:pt x="13029" y="12161"/>
                    <a:pt x="11995" y="11126"/>
                  </a:cubicBezTo>
                </a:path>
              </a:pathLst>
            </a:custGeom>
            <a:noFill/>
            <a:ln w="38100" cap="flat" cmpd="sng">
              <a:solidFill>
                <a:srgbClr val="F1C232"/>
              </a:solidFill>
              <a:prstDash val="solid"/>
              <a:round/>
              <a:headEnd type="none" w="med" len="med"/>
              <a:tailEnd type="none" w="med" len="med"/>
            </a:ln>
          </p:spPr>
        </p:sp>
        <p:sp>
          <p:nvSpPr>
            <p:cNvPr id="73" name="Google Shape;73;p13"/>
            <p:cNvSpPr/>
            <p:nvPr/>
          </p:nvSpPr>
          <p:spPr>
            <a:xfrm>
              <a:off x="8560098" y="4464474"/>
              <a:ext cx="781828" cy="819228"/>
            </a:xfrm>
            <a:custGeom>
              <a:avLst/>
              <a:gdLst/>
              <a:ahLst/>
              <a:cxnLst/>
              <a:rect l="l" t="t" r="r" b="b"/>
              <a:pathLst>
                <a:path w="17037" h="17852" extrusionOk="0">
                  <a:moveTo>
                    <a:pt x="0" y="0"/>
                  </a:moveTo>
                  <a:cubicBezTo>
                    <a:pt x="4491" y="817"/>
                    <a:pt x="6830" y="6955"/>
                    <a:pt x="7475" y="11474"/>
                  </a:cubicBezTo>
                  <a:cubicBezTo>
                    <a:pt x="7713" y="13138"/>
                    <a:pt x="6322" y="15483"/>
                    <a:pt x="7649" y="16515"/>
                  </a:cubicBezTo>
                  <a:cubicBezTo>
                    <a:pt x="10121" y="18437"/>
                    <a:pt x="14632" y="18173"/>
                    <a:pt x="17037" y="16167"/>
                  </a:cubicBezTo>
                </a:path>
              </a:pathLst>
            </a:custGeom>
            <a:noFill/>
            <a:ln w="38100" cap="flat" cmpd="sng">
              <a:solidFill>
                <a:srgbClr val="F1C232"/>
              </a:solidFill>
              <a:prstDash val="solid"/>
              <a:round/>
              <a:headEnd type="none" w="med" len="med"/>
              <a:tailEnd type="none" w="med" len="med"/>
            </a:ln>
          </p:spPr>
        </p:sp>
        <p:sp>
          <p:nvSpPr>
            <p:cNvPr id="74" name="Google Shape;74;p13"/>
            <p:cNvSpPr/>
            <p:nvPr/>
          </p:nvSpPr>
          <p:spPr>
            <a:xfrm>
              <a:off x="8913449" y="4273021"/>
              <a:ext cx="587989" cy="837630"/>
            </a:xfrm>
            <a:custGeom>
              <a:avLst/>
              <a:gdLst/>
              <a:ahLst/>
              <a:cxnLst/>
              <a:rect l="l" t="t" r="r" b="b"/>
              <a:pathLst>
                <a:path w="12813" h="18253" extrusionOk="0">
                  <a:moveTo>
                    <a:pt x="12813" y="0"/>
                  </a:moveTo>
                  <a:cubicBezTo>
                    <a:pt x="7242" y="2181"/>
                    <a:pt x="-861" y="6790"/>
                    <a:pt x="123" y="12691"/>
                  </a:cubicBezTo>
                  <a:cubicBezTo>
                    <a:pt x="746" y="16427"/>
                    <a:pt x="8084" y="15004"/>
                    <a:pt x="10032" y="18253"/>
                  </a:cubicBezTo>
                </a:path>
              </a:pathLst>
            </a:custGeom>
            <a:noFill/>
            <a:ln w="38100" cap="flat" cmpd="sng">
              <a:solidFill>
                <a:srgbClr val="F1C232"/>
              </a:solidFill>
              <a:prstDash val="solid"/>
              <a:round/>
              <a:headEnd type="none" w="med" len="med"/>
              <a:tailEnd type="none" w="med" len="med"/>
            </a:ln>
          </p:spPr>
        </p:sp>
        <p:sp>
          <p:nvSpPr>
            <p:cNvPr id="75" name="Google Shape;75;p13"/>
            <p:cNvSpPr/>
            <p:nvPr/>
          </p:nvSpPr>
          <p:spPr>
            <a:xfrm>
              <a:off x="8663809" y="4376733"/>
              <a:ext cx="789170" cy="311134"/>
            </a:xfrm>
            <a:custGeom>
              <a:avLst/>
              <a:gdLst/>
              <a:ahLst/>
              <a:cxnLst/>
              <a:rect l="l" t="t" r="r" b="b"/>
              <a:pathLst>
                <a:path w="17197" h="6780" extrusionOk="0">
                  <a:moveTo>
                    <a:pt x="0" y="0"/>
                  </a:moveTo>
                  <a:cubicBezTo>
                    <a:pt x="3914" y="4695"/>
                    <a:pt x="10925" y="6780"/>
                    <a:pt x="17037" y="6780"/>
                  </a:cubicBezTo>
                  <a:cubicBezTo>
                    <a:pt x="17504" y="6780"/>
                    <a:pt x="16799" y="5655"/>
                    <a:pt x="16341" y="5563"/>
                  </a:cubicBezTo>
                </a:path>
              </a:pathLst>
            </a:custGeom>
            <a:noFill/>
            <a:ln w="38100" cap="flat" cmpd="sng">
              <a:solidFill>
                <a:srgbClr val="F1C232"/>
              </a:solidFill>
              <a:prstDash val="solid"/>
              <a:round/>
              <a:headEnd type="none" w="med" len="med"/>
              <a:tailEnd type="none" w="med" len="med"/>
            </a:ln>
          </p:spPr>
        </p:sp>
        <p:sp>
          <p:nvSpPr>
            <p:cNvPr id="76" name="Google Shape;76;p13"/>
            <p:cNvSpPr/>
            <p:nvPr/>
          </p:nvSpPr>
          <p:spPr>
            <a:xfrm>
              <a:off x="8683538" y="4313553"/>
              <a:ext cx="1025320" cy="867734"/>
            </a:xfrm>
            <a:custGeom>
              <a:avLst/>
              <a:gdLst/>
              <a:ahLst/>
              <a:cxnLst/>
              <a:rect l="l" t="t" r="r" b="b"/>
              <a:pathLst>
                <a:path w="22343" h="18909" extrusionOk="0">
                  <a:moveTo>
                    <a:pt x="22343" y="4332"/>
                  </a:moveTo>
                  <a:cubicBezTo>
                    <a:pt x="16437" y="38"/>
                    <a:pt x="3704" y="-2547"/>
                    <a:pt x="439" y="3985"/>
                  </a:cubicBezTo>
                  <a:cubicBezTo>
                    <a:pt x="-1508" y="7881"/>
                    <a:pt x="3832" y="12696"/>
                    <a:pt x="7567" y="14937"/>
                  </a:cubicBezTo>
                  <a:cubicBezTo>
                    <a:pt x="9340" y="16001"/>
                    <a:pt x="12081" y="14808"/>
                    <a:pt x="13651" y="16154"/>
                  </a:cubicBezTo>
                  <a:cubicBezTo>
                    <a:pt x="15785" y="17983"/>
                    <a:pt x="7730" y="19926"/>
                    <a:pt x="5481" y="18240"/>
                  </a:cubicBezTo>
                </a:path>
              </a:pathLst>
            </a:custGeom>
            <a:noFill/>
            <a:ln w="38100" cap="flat" cmpd="sng">
              <a:solidFill>
                <a:srgbClr val="F1C232"/>
              </a:solidFill>
              <a:prstDash val="solid"/>
              <a:round/>
              <a:headEnd type="none" w="med" len="med"/>
              <a:tailEnd type="none" w="med" len="med"/>
            </a:ln>
          </p:spPr>
        </p:sp>
        <p:sp>
          <p:nvSpPr>
            <p:cNvPr id="77" name="Google Shape;77;p13"/>
            <p:cNvSpPr/>
            <p:nvPr/>
          </p:nvSpPr>
          <p:spPr>
            <a:xfrm>
              <a:off x="8636736" y="4279391"/>
              <a:ext cx="1072128" cy="663753"/>
            </a:xfrm>
            <a:custGeom>
              <a:avLst/>
              <a:gdLst/>
              <a:ahLst/>
              <a:cxnLst/>
              <a:rect l="l" t="t" r="r" b="b"/>
              <a:pathLst>
                <a:path w="23363" h="14464" extrusionOk="0">
                  <a:moveTo>
                    <a:pt x="23363" y="14464"/>
                  </a:moveTo>
                  <a:cubicBezTo>
                    <a:pt x="21432" y="9632"/>
                    <a:pt x="15255" y="7928"/>
                    <a:pt x="11021" y="4903"/>
                  </a:cubicBezTo>
                  <a:cubicBezTo>
                    <a:pt x="8043" y="2775"/>
                    <a:pt x="3984" y="-1473"/>
                    <a:pt x="938" y="557"/>
                  </a:cubicBezTo>
                  <a:cubicBezTo>
                    <a:pt x="-2526" y="2866"/>
                    <a:pt x="4896" y="8744"/>
                    <a:pt x="8761" y="10292"/>
                  </a:cubicBezTo>
                </a:path>
              </a:pathLst>
            </a:custGeom>
            <a:noFill/>
            <a:ln w="38100" cap="flat" cmpd="sng">
              <a:solidFill>
                <a:srgbClr val="F1C232"/>
              </a:solidFill>
              <a:prstDash val="solid"/>
              <a:round/>
              <a:headEnd type="none" w="med" len="med"/>
              <a:tailEnd type="none" w="med" len="med"/>
            </a:ln>
          </p:spPr>
        </p:sp>
        <p:sp>
          <p:nvSpPr>
            <p:cNvPr id="78" name="Google Shape;78;p13"/>
            <p:cNvSpPr/>
            <p:nvPr/>
          </p:nvSpPr>
          <p:spPr>
            <a:xfrm>
              <a:off x="8744593" y="4185280"/>
              <a:ext cx="677107" cy="901463"/>
            </a:xfrm>
            <a:custGeom>
              <a:avLst/>
              <a:gdLst/>
              <a:ahLst/>
              <a:cxnLst/>
              <a:rect l="l" t="t" r="r" b="b"/>
              <a:pathLst>
                <a:path w="14755" h="19644" extrusionOk="0">
                  <a:moveTo>
                    <a:pt x="14755" y="0"/>
                  </a:moveTo>
                  <a:cubicBezTo>
                    <a:pt x="14495" y="609"/>
                    <a:pt x="14636" y="691"/>
                    <a:pt x="14234" y="1217"/>
                  </a:cubicBezTo>
                  <a:cubicBezTo>
                    <a:pt x="10836" y="5660"/>
                    <a:pt x="3616" y="6081"/>
                    <a:pt x="326" y="10604"/>
                  </a:cubicBezTo>
                  <a:cubicBezTo>
                    <a:pt x="-1501" y="13116"/>
                    <a:pt x="5071" y="17780"/>
                    <a:pt x="2586" y="19644"/>
                  </a:cubicBezTo>
                </a:path>
              </a:pathLst>
            </a:custGeom>
            <a:noFill/>
            <a:ln w="38100" cap="flat" cmpd="sng">
              <a:solidFill>
                <a:srgbClr val="F1C232"/>
              </a:solidFill>
              <a:prstDash val="solid"/>
              <a:round/>
              <a:headEnd type="none" w="med" len="med"/>
              <a:tailEnd type="none" w="med" len="med"/>
            </a:ln>
          </p:spPr>
        </p:sp>
        <p:sp>
          <p:nvSpPr>
            <p:cNvPr id="79" name="Google Shape;79;p13"/>
            <p:cNvSpPr/>
            <p:nvPr/>
          </p:nvSpPr>
          <p:spPr>
            <a:xfrm>
              <a:off x="8783490" y="4400687"/>
              <a:ext cx="885493" cy="622223"/>
            </a:xfrm>
            <a:custGeom>
              <a:avLst/>
              <a:gdLst/>
              <a:ahLst/>
              <a:cxnLst/>
              <a:rect l="l" t="t" r="r" b="b"/>
              <a:pathLst>
                <a:path w="19296" h="13559" extrusionOk="0">
                  <a:moveTo>
                    <a:pt x="19296" y="13559"/>
                  </a:moveTo>
                  <a:cubicBezTo>
                    <a:pt x="13760" y="11712"/>
                    <a:pt x="8516" y="8736"/>
                    <a:pt x="3998" y="5041"/>
                  </a:cubicBezTo>
                  <a:cubicBezTo>
                    <a:pt x="2338" y="3683"/>
                    <a:pt x="2116" y="351"/>
                    <a:pt x="0" y="0"/>
                  </a:cubicBezTo>
                </a:path>
              </a:pathLst>
            </a:custGeom>
            <a:noFill/>
            <a:ln w="38100" cap="flat" cmpd="sng">
              <a:solidFill>
                <a:srgbClr val="F1C232"/>
              </a:solidFill>
              <a:prstDash val="solid"/>
              <a:round/>
              <a:headEnd type="none" w="med" len="med"/>
              <a:tailEnd type="none" w="med" len="med"/>
            </a:ln>
          </p:spPr>
        </p:sp>
        <p:sp>
          <p:nvSpPr>
            <p:cNvPr id="80" name="Google Shape;80;p13"/>
            <p:cNvSpPr/>
            <p:nvPr/>
          </p:nvSpPr>
          <p:spPr>
            <a:xfrm>
              <a:off x="8600022" y="4628502"/>
              <a:ext cx="917387" cy="458258"/>
            </a:xfrm>
            <a:custGeom>
              <a:avLst/>
              <a:gdLst/>
              <a:ahLst/>
              <a:cxnLst/>
              <a:rect l="l" t="t" r="r" b="b"/>
              <a:pathLst>
                <a:path w="19991" h="9986" extrusionOk="0">
                  <a:moveTo>
                    <a:pt x="0" y="9986"/>
                  </a:moveTo>
                  <a:cubicBezTo>
                    <a:pt x="3478" y="7899"/>
                    <a:pt x="5064" y="3283"/>
                    <a:pt x="8692" y="1468"/>
                  </a:cubicBezTo>
                  <a:cubicBezTo>
                    <a:pt x="12086" y="-230"/>
                    <a:pt x="16196" y="77"/>
                    <a:pt x="19991" y="77"/>
                  </a:cubicBezTo>
                </a:path>
              </a:pathLst>
            </a:custGeom>
            <a:noFill/>
            <a:ln w="38100" cap="flat" cmpd="sng">
              <a:solidFill>
                <a:srgbClr val="F1C232"/>
              </a:solidFill>
              <a:prstDash val="solid"/>
              <a:round/>
              <a:headEnd type="none" w="med" len="med"/>
              <a:tailEnd type="none" w="med" len="med"/>
            </a:ln>
          </p:spPr>
        </p:sp>
        <p:sp>
          <p:nvSpPr>
            <p:cNvPr id="81" name="Google Shape;81;p13"/>
            <p:cNvSpPr/>
            <p:nvPr/>
          </p:nvSpPr>
          <p:spPr>
            <a:xfrm>
              <a:off x="8584053" y="4497365"/>
              <a:ext cx="1212597" cy="297000"/>
            </a:xfrm>
            <a:custGeom>
              <a:avLst/>
              <a:gdLst/>
              <a:ahLst/>
              <a:cxnLst/>
              <a:rect l="l" t="t" r="r" b="b"/>
              <a:pathLst>
                <a:path w="26424" h="6472" extrusionOk="0">
                  <a:moveTo>
                    <a:pt x="26424" y="6411"/>
                  </a:moveTo>
                  <a:cubicBezTo>
                    <a:pt x="18961" y="6652"/>
                    <a:pt x="11684" y="3823"/>
                    <a:pt x="4520" y="1717"/>
                  </a:cubicBezTo>
                  <a:cubicBezTo>
                    <a:pt x="4232" y="1632"/>
                    <a:pt x="0" y="-572"/>
                    <a:pt x="0" y="153"/>
                  </a:cubicBezTo>
                  <a:cubicBezTo>
                    <a:pt x="0" y="1294"/>
                    <a:pt x="584" y="2475"/>
                    <a:pt x="1391" y="3282"/>
                  </a:cubicBezTo>
                </a:path>
              </a:pathLst>
            </a:custGeom>
            <a:noFill/>
            <a:ln w="38100" cap="flat" cmpd="sng">
              <a:solidFill>
                <a:srgbClr val="F1C232"/>
              </a:solidFill>
              <a:prstDash val="solid"/>
              <a:round/>
              <a:headEnd type="none" w="med" len="med"/>
              <a:tailEnd type="none" w="med" len="med"/>
            </a:ln>
          </p:spPr>
        </p:sp>
        <p:sp>
          <p:nvSpPr>
            <p:cNvPr id="82" name="Google Shape;82;p13"/>
            <p:cNvSpPr/>
            <p:nvPr/>
          </p:nvSpPr>
          <p:spPr>
            <a:xfrm>
              <a:off x="8769502" y="4352824"/>
              <a:ext cx="827718" cy="725934"/>
            </a:xfrm>
            <a:custGeom>
              <a:avLst/>
              <a:gdLst/>
              <a:ahLst/>
              <a:cxnLst/>
              <a:rect l="l" t="t" r="r" b="b"/>
              <a:pathLst>
                <a:path w="18037" h="15819" extrusionOk="0">
                  <a:moveTo>
                    <a:pt x="18037" y="0"/>
                  </a:moveTo>
                  <a:cubicBezTo>
                    <a:pt x="15708" y="1293"/>
                    <a:pt x="13491" y="3180"/>
                    <a:pt x="12300" y="5562"/>
                  </a:cubicBezTo>
                  <a:cubicBezTo>
                    <a:pt x="11338" y="7485"/>
                    <a:pt x="12524" y="10628"/>
                    <a:pt x="10735" y="11821"/>
                  </a:cubicBezTo>
                  <a:cubicBezTo>
                    <a:pt x="7637" y="13887"/>
                    <a:pt x="-1612" y="12627"/>
                    <a:pt x="305" y="15819"/>
                  </a:cubicBezTo>
                </a:path>
              </a:pathLst>
            </a:custGeom>
            <a:noFill/>
            <a:ln w="38100" cap="flat" cmpd="sng">
              <a:solidFill>
                <a:srgbClr val="F1C232"/>
              </a:solidFill>
              <a:prstDash val="solid"/>
              <a:round/>
              <a:headEnd type="none" w="med" len="med"/>
              <a:tailEnd type="none" w="med" len="med"/>
            </a:ln>
          </p:spPr>
        </p:sp>
        <p:sp>
          <p:nvSpPr>
            <p:cNvPr id="83" name="Google Shape;83;p13"/>
            <p:cNvSpPr/>
            <p:nvPr/>
          </p:nvSpPr>
          <p:spPr>
            <a:xfrm>
              <a:off x="9022807" y="4153386"/>
              <a:ext cx="686055" cy="861539"/>
            </a:xfrm>
            <a:custGeom>
              <a:avLst/>
              <a:gdLst/>
              <a:ahLst/>
              <a:cxnLst/>
              <a:rect l="l" t="t" r="r" b="b"/>
              <a:pathLst>
                <a:path w="14950" h="18774" extrusionOk="0">
                  <a:moveTo>
                    <a:pt x="0" y="0"/>
                  </a:moveTo>
                  <a:cubicBezTo>
                    <a:pt x="1571" y="7844"/>
                    <a:pt x="11377" y="11617"/>
                    <a:pt x="14950" y="18774"/>
                  </a:cubicBezTo>
                </a:path>
              </a:pathLst>
            </a:custGeom>
            <a:noFill/>
            <a:ln w="38100" cap="flat" cmpd="sng">
              <a:solidFill>
                <a:srgbClr val="F1C232"/>
              </a:solidFill>
              <a:prstDash val="solid"/>
              <a:round/>
              <a:headEnd type="none" w="med" len="med"/>
              <a:tailEnd type="none" w="med" len="med"/>
            </a:ln>
          </p:spPr>
        </p:sp>
        <p:sp>
          <p:nvSpPr>
            <p:cNvPr id="84" name="Google Shape;84;p13"/>
            <p:cNvSpPr/>
            <p:nvPr/>
          </p:nvSpPr>
          <p:spPr>
            <a:xfrm>
              <a:off x="8759536" y="4376733"/>
              <a:ext cx="635393" cy="797752"/>
            </a:xfrm>
            <a:custGeom>
              <a:avLst/>
              <a:gdLst/>
              <a:ahLst/>
              <a:cxnLst/>
              <a:rect l="l" t="t" r="r" b="b"/>
              <a:pathLst>
                <a:path w="13846" h="17384" extrusionOk="0">
                  <a:moveTo>
                    <a:pt x="0" y="17384"/>
                  </a:moveTo>
                  <a:cubicBezTo>
                    <a:pt x="1561" y="14266"/>
                    <a:pt x="813" y="9404"/>
                    <a:pt x="3825" y="7649"/>
                  </a:cubicBezTo>
                  <a:cubicBezTo>
                    <a:pt x="6452" y="6118"/>
                    <a:pt x="10432" y="8256"/>
                    <a:pt x="12865" y="6432"/>
                  </a:cubicBezTo>
                  <a:cubicBezTo>
                    <a:pt x="14596" y="5134"/>
                    <a:pt x="13756" y="1257"/>
                    <a:pt x="11995" y="0"/>
                  </a:cubicBezTo>
                </a:path>
              </a:pathLst>
            </a:custGeom>
            <a:noFill/>
            <a:ln w="38100" cap="flat" cmpd="sng">
              <a:solidFill>
                <a:srgbClr val="F1C232"/>
              </a:solidFill>
              <a:prstDash val="solid"/>
              <a:round/>
              <a:headEnd type="none" w="med" len="med"/>
              <a:tailEnd type="none" w="med" len="med"/>
            </a:ln>
          </p:spPr>
        </p:sp>
        <p:sp>
          <p:nvSpPr>
            <p:cNvPr id="85" name="Google Shape;85;p13"/>
            <p:cNvSpPr/>
            <p:nvPr/>
          </p:nvSpPr>
          <p:spPr>
            <a:xfrm>
              <a:off x="8833525" y="4578100"/>
              <a:ext cx="840125" cy="578325"/>
            </a:xfrm>
            <a:custGeom>
              <a:avLst/>
              <a:gdLst/>
              <a:ahLst/>
              <a:cxnLst/>
              <a:rect l="l" t="t" r="r" b="b"/>
              <a:pathLst>
                <a:path w="33605" h="23133" extrusionOk="0">
                  <a:moveTo>
                    <a:pt x="0" y="23133"/>
                  </a:moveTo>
                  <a:cubicBezTo>
                    <a:pt x="2435" y="19075"/>
                    <a:pt x="4127" y="14465"/>
                    <a:pt x="7305" y="10958"/>
                  </a:cubicBezTo>
                  <a:cubicBezTo>
                    <a:pt x="13683" y="3921"/>
                    <a:pt x="24540" y="2832"/>
                    <a:pt x="33605" y="0"/>
                  </a:cubicBezTo>
                </a:path>
              </a:pathLst>
            </a:custGeom>
            <a:noFill/>
            <a:ln w="38100" cap="flat" cmpd="sng">
              <a:solidFill>
                <a:srgbClr val="F1C232"/>
              </a:solidFill>
              <a:prstDash val="solid"/>
              <a:round/>
              <a:headEnd type="none" w="med" len="med"/>
              <a:tailEnd type="none" w="med" len="med"/>
            </a:ln>
          </p:spPr>
        </p:sp>
        <p:sp>
          <p:nvSpPr>
            <p:cNvPr id="86" name="Google Shape;86;p13"/>
            <p:cNvSpPr/>
            <p:nvPr/>
          </p:nvSpPr>
          <p:spPr>
            <a:xfrm>
              <a:off x="8827425" y="4218900"/>
              <a:ext cx="547925" cy="827950"/>
            </a:xfrm>
            <a:custGeom>
              <a:avLst/>
              <a:gdLst/>
              <a:ahLst/>
              <a:cxnLst/>
              <a:rect l="l" t="t" r="r" b="b"/>
              <a:pathLst>
                <a:path w="21917" h="33118" extrusionOk="0">
                  <a:moveTo>
                    <a:pt x="0" y="0"/>
                  </a:moveTo>
                  <a:cubicBezTo>
                    <a:pt x="2209" y="4416"/>
                    <a:pt x="6510" y="8222"/>
                    <a:pt x="6819" y="13150"/>
                  </a:cubicBezTo>
                  <a:cubicBezTo>
                    <a:pt x="7095" y="17561"/>
                    <a:pt x="2967" y="22436"/>
                    <a:pt x="5114" y="26300"/>
                  </a:cubicBezTo>
                  <a:cubicBezTo>
                    <a:pt x="8050" y="31584"/>
                    <a:pt x="16181" y="31211"/>
                    <a:pt x="21917" y="33118"/>
                  </a:cubicBezTo>
                </a:path>
              </a:pathLst>
            </a:custGeom>
            <a:noFill/>
            <a:ln w="38100" cap="flat" cmpd="sng">
              <a:solidFill>
                <a:srgbClr val="F1C232"/>
              </a:solidFill>
              <a:prstDash val="solid"/>
              <a:round/>
              <a:headEnd type="none" w="med" len="med"/>
              <a:tailEnd type="none" w="med" len="med"/>
            </a:ln>
          </p:spPr>
        </p:sp>
        <p:sp>
          <p:nvSpPr>
            <p:cNvPr id="87" name="Google Shape;87;p13"/>
            <p:cNvSpPr/>
            <p:nvPr/>
          </p:nvSpPr>
          <p:spPr>
            <a:xfrm>
              <a:off x="8727682" y="4485171"/>
              <a:ext cx="854650" cy="671250"/>
            </a:xfrm>
            <a:custGeom>
              <a:avLst/>
              <a:gdLst/>
              <a:ahLst/>
              <a:cxnLst/>
              <a:rect l="l" t="t" r="r" b="b"/>
              <a:pathLst>
                <a:path w="34186" h="26850" extrusionOk="0">
                  <a:moveTo>
                    <a:pt x="34186" y="7369"/>
                  </a:moveTo>
                  <a:cubicBezTo>
                    <a:pt x="26609" y="7875"/>
                    <a:pt x="18987" y="9107"/>
                    <a:pt x="11783" y="11509"/>
                  </a:cubicBezTo>
                  <a:cubicBezTo>
                    <a:pt x="8958" y="12451"/>
                    <a:pt x="6190" y="14721"/>
                    <a:pt x="3260" y="14188"/>
                  </a:cubicBezTo>
                  <a:cubicBezTo>
                    <a:pt x="100" y="13613"/>
                    <a:pt x="-612" y="7915"/>
                    <a:pt x="581" y="4934"/>
                  </a:cubicBezTo>
                  <a:cubicBezTo>
                    <a:pt x="2999" y="-1107"/>
                    <a:pt x="16358" y="-1632"/>
                    <a:pt x="20062" y="3717"/>
                  </a:cubicBezTo>
                  <a:cubicBezTo>
                    <a:pt x="23302" y="8396"/>
                    <a:pt x="18572" y="15095"/>
                    <a:pt x="19088" y="20763"/>
                  </a:cubicBezTo>
                  <a:cubicBezTo>
                    <a:pt x="19370" y="23858"/>
                    <a:pt x="23042" y="26850"/>
                    <a:pt x="26150" y="26850"/>
                  </a:cubicBezTo>
                </a:path>
              </a:pathLst>
            </a:custGeom>
            <a:noFill/>
            <a:ln w="38100" cap="flat" cmpd="sng">
              <a:solidFill>
                <a:srgbClr val="F1C232"/>
              </a:solidFill>
              <a:prstDash val="solid"/>
              <a:round/>
              <a:headEnd type="none" w="med" len="med"/>
              <a:tailEnd type="none" w="med" len="med"/>
            </a:ln>
          </p:spPr>
        </p:sp>
        <p:sp>
          <p:nvSpPr>
            <p:cNvPr id="88" name="Google Shape;88;p13"/>
            <p:cNvSpPr/>
            <p:nvPr/>
          </p:nvSpPr>
          <p:spPr>
            <a:xfrm>
              <a:off x="8730025" y="4170200"/>
              <a:ext cx="907350" cy="829450"/>
            </a:xfrm>
            <a:custGeom>
              <a:avLst/>
              <a:gdLst/>
              <a:ahLst/>
              <a:cxnLst/>
              <a:rect l="l" t="t" r="r" b="b"/>
              <a:pathLst>
                <a:path w="36294" h="33178" extrusionOk="0">
                  <a:moveTo>
                    <a:pt x="16072" y="0"/>
                  </a:moveTo>
                  <a:cubicBezTo>
                    <a:pt x="18478" y="5415"/>
                    <a:pt x="25652" y="7856"/>
                    <a:pt x="27761" y="13393"/>
                  </a:cubicBezTo>
                  <a:cubicBezTo>
                    <a:pt x="29698" y="18478"/>
                    <a:pt x="25844" y="24459"/>
                    <a:pt x="27274" y="29709"/>
                  </a:cubicBezTo>
                  <a:cubicBezTo>
                    <a:pt x="27905" y="32023"/>
                    <a:pt x="32028" y="34192"/>
                    <a:pt x="33849" y="32631"/>
                  </a:cubicBezTo>
                  <a:cubicBezTo>
                    <a:pt x="36931" y="29989"/>
                    <a:pt x="37353" y="22015"/>
                    <a:pt x="33605" y="20455"/>
                  </a:cubicBezTo>
                  <a:cubicBezTo>
                    <a:pt x="25042" y="16890"/>
                    <a:pt x="14673" y="21082"/>
                    <a:pt x="6088" y="24595"/>
                  </a:cubicBezTo>
                  <a:cubicBezTo>
                    <a:pt x="3268" y="25749"/>
                    <a:pt x="2891" y="30452"/>
                    <a:pt x="0" y="31413"/>
                  </a:cubicBezTo>
                </a:path>
              </a:pathLst>
            </a:custGeom>
            <a:noFill/>
            <a:ln w="38100" cap="flat" cmpd="sng">
              <a:solidFill>
                <a:srgbClr val="F1C232"/>
              </a:solidFill>
              <a:prstDash val="solid"/>
              <a:round/>
              <a:headEnd type="none" w="med" len="med"/>
              <a:tailEnd type="none" w="med" len="med"/>
            </a:ln>
          </p:spPr>
        </p:sp>
        <p:sp>
          <p:nvSpPr>
            <p:cNvPr id="89" name="Google Shape;89;p13"/>
            <p:cNvSpPr/>
            <p:nvPr/>
          </p:nvSpPr>
          <p:spPr>
            <a:xfrm>
              <a:off x="8681325" y="4230927"/>
              <a:ext cx="882700" cy="1020850"/>
            </a:xfrm>
            <a:custGeom>
              <a:avLst/>
              <a:gdLst/>
              <a:ahLst/>
              <a:cxnLst/>
              <a:rect l="l" t="t" r="r" b="b"/>
              <a:pathLst>
                <a:path w="35308" h="40834" extrusionOk="0">
                  <a:moveTo>
                    <a:pt x="0" y="21923"/>
                  </a:moveTo>
                  <a:cubicBezTo>
                    <a:pt x="4868" y="17746"/>
                    <a:pt x="16935" y="15448"/>
                    <a:pt x="19238" y="21435"/>
                  </a:cubicBezTo>
                  <a:cubicBezTo>
                    <a:pt x="21093" y="26256"/>
                    <a:pt x="14339" y="32377"/>
                    <a:pt x="17046" y="36777"/>
                  </a:cubicBezTo>
                  <a:cubicBezTo>
                    <a:pt x="19515" y="40790"/>
                    <a:pt x="26930" y="41953"/>
                    <a:pt x="30926" y="39456"/>
                  </a:cubicBezTo>
                  <a:cubicBezTo>
                    <a:pt x="37891" y="35105"/>
                    <a:pt x="35821" y="20062"/>
                    <a:pt x="29465" y="14861"/>
                  </a:cubicBezTo>
                  <a:cubicBezTo>
                    <a:pt x="22888" y="9480"/>
                    <a:pt x="7178" y="12602"/>
                    <a:pt x="6331" y="4146"/>
                  </a:cubicBezTo>
                  <a:cubicBezTo>
                    <a:pt x="5675" y="-2396"/>
                    <a:pt x="21107" y="-183"/>
                    <a:pt x="26056" y="4146"/>
                  </a:cubicBezTo>
                  <a:cubicBezTo>
                    <a:pt x="35321" y="12251"/>
                    <a:pt x="17470" y="28073"/>
                    <a:pt x="8766" y="36777"/>
                  </a:cubicBezTo>
                </a:path>
              </a:pathLst>
            </a:custGeom>
            <a:noFill/>
            <a:ln w="38100" cap="flat" cmpd="sng">
              <a:solidFill>
                <a:srgbClr val="F1C232"/>
              </a:solidFill>
              <a:prstDash val="solid"/>
              <a:round/>
              <a:headEnd type="none" w="med" len="med"/>
              <a:tailEnd type="none" w="med" len="med"/>
            </a:ln>
          </p:spPr>
        </p:sp>
        <p:sp>
          <p:nvSpPr>
            <p:cNvPr id="90" name="Google Shape;90;p13"/>
            <p:cNvSpPr/>
            <p:nvPr/>
          </p:nvSpPr>
          <p:spPr>
            <a:xfrm>
              <a:off x="8673257" y="4194550"/>
              <a:ext cx="896900" cy="1025975"/>
            </a:xfrm>
            <a:custGeom>
              <a:avLst/>
              <a:gdLst/>
              <a:ahLst/>
              <a:cxnLst/>
              <a:rect l="l" t="t" r="r" b="b"/>
              <a:pathLst>
                <a:path w="35876" h="41039" extrusionOk="0">
                  <a:moveTo>
                    <a:pt x="35876" y="12176"/>
                  </a:moveTo>
                  <a:cubicBezTo>
                    <a:pt x="33278" y="13474"/>
                    <a:pt x="30137" y="14019"/>
                    <a:pt x="28084" y="16072"/>
                  </a:cubicBezTo>
                  <a:cubicBezTo>
                    <a:pt x="24741" y="19415"/>
                    <a:pt x="24638" y="25253"/>
                    <a:pt x="25161" y="29952"/>
                  </a:cubicBezTo>
                  <a:cubicBezTo>
                    <a:pt x="25573" y="33653"/>
                    <a:pt x="31860" y="39489"/>
                    <a:pt x="28327" y="40667"/>
                  </a:cubicBezTo>
                  <a:cubicBezTo>
                    <a:pt x="23195" y="42378"/>
                    <a:pt x="17049" y="37559"/>
                    <a:pt x="13960" y="33118"/>
                  </a:cubicBezTo>
                  <a:cubicBezTo>
                    <a:pt x="10617" y="28313"/>
                    <a:pt x="9699" y="20564"/>
                    <a:pt x="4219" y="18507"/>
                  </a:cubicBezTo>
                  <a:cubicBezTo>
                    <a:pt x="680" y="17179"/>
                    <a:pt x="-1376" y="26792"/>
                    <a:pt x="1297" y="29465"/>
                  </a:cubicBezTo>
                  <a:cubicBezTo>
                    <a:pt x="5492" y="33660"/>
                    <a:pt x="15463" y="29538"/>
                    <a:pt x="18343" y="24352"/>
                  </a:cubicBezTo>
                  <a:cubicBezTo>
                    <a:pt x="21498" y="18671"/>
                    <a:pt x="15329" y="10954"/>
                    <a:pt x="17612" y="4870"/>
                  </a:cubicBezTo>
                  <a:cubicBezTo>
                    <a:pt x="18786" y="1740"/>
                    <a:pt x="23036" y="0"/>
                    <a:pt x="26379" y="0"/>
                  </a:cubicBezTo>
                </a:path>
              </a:pathLst>
            </a:custGeom>
            <a:noFill/>
            <a:ln w="38100" cap="flat" cmpd="sng">
              <a:solidFill>
                <a:srgbClr val="F1C232"/>
              </a:solidFill>
              <a:prstDash val="solid"/>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1000"/>
                                        <p:tgtEl>
                                          <p:spTgt spid="55"/>
                                        </p:tgtEl>
                                      </p:cBhvr>
                                    </p:animEffect>
                                  </p:childTnLst>
                                </p:cTn>
                              </p:par>
                              <p:par>
                                <p:cTn id="8" presetID="10" presetClass="entr" presetSubtype="0" fill="hold" nodeType="withEffect">
                                  <p:stCondLst>
                                    <p:cond delay="0"/>
                                  </p:stCondLst>
                                  <p:childTnLst>
                                    <p:set>
                                      <p:cBhvr>
                                        <p:cTn id="9" dur="1" fill="hold">
                                          <p:stCondLst>
                                            <p:cond delay="0"/>
                                          </p:stCondLst>
                                        </p:cTn>
                                        <p:tgtEl>
                                          <p:spTgt spid="56"/>
                                        </p:tgtEl>
                                        <p:attrNameLst>
                                          <p:attrName>style.visibility</p:attrName>
                                        </p:attrNameLst>
                                      </p:cBhvr>
                                      <p:to>
                                        <p:strVal val="visible"/>
                                      </p:to>
                                    </p:set>
                                    <p:animEffect transition="in" filter="fade">
                                      <p:cBhvr>
                                        <p:cTn id="10" dur="1000"/>
                                        <p:tgtEl>
                                          <p:spTgt spid="56"/>
                                        </p:tgtEl>
                                      </p:cBhvr>
                                    </p:animEffect>
                                  </p:childTnLst>
                                </p:cTn>
                              </p:par>
                              <p:par>
                                <p:cTn id="11" presetID="10" presetClass="entr" presetSubtype="0" fill="hold" nodeType="withEffect">
                                  <p:stCondLst>
                                    <p:cond delay="0"/>
                                  </p:stCondLst>
                                  <p:childTnLst>
                                    <p:set>
                                      <p:cBhvr>
                                        <p:cTn id="12" dur="1" fill="hold">
                                          <p:stCondLst>
                                            <p:cond delay="0"/>
                                          </p:stCondLst>
                                        </p:cTn>
                                        <p:tgtEl>
                                          <p:spTgt spid="58"/>
                                        </p:tgtEl>
                                        <p:attrNameLst>
                                          <p:attrName>style.visibility</p:attrName>
                                        </p:attrNameLst>
                                      </p:cBhvr>
                                      <p:to>
                                        <p:strVal val="visible"/>
                                      </p:to>
                                    </p:set>
                                    <p:animEffect transition="in" filter="fade">
                                      <p:cBhvr>
                                        <p:cTn id="13" dur="1000"/>
                                        <p:tgtEl>
                                          <p:spTgt spid="58"/>
                                        </p:tgtEl>
                                      </p:cBhvr>
                                    </p:animEffect>
                                  </p:childTnLst>
                                </p:cTn>
                              </p:par>
                              <p:par>
                                <p:cTn id="14" presetID="10" presetClass="entr" presetSubtype="0" fill="hold" nodeType="withEffect">
                                  <p:stCondLst>
                                    <p:cond delay="0"/>
                                  </p:stCondLst>
                                  <p:childTnLst>
                                    <p:set>
                                      <p:cBhvr>
                                        <p:cTn id="15" dur="1" fill="hold">
                                          <p:stCondLst>
                                            <p:cond delay="0"/>
                                          </p:stCondLst>
                                        </p:cTn>
                                        <p:tgtEl>
                                          <p:spTgt spid="59"/>
                                        </p:tgtEl>
                                        <p:attrNameLst>
                                          <p:attrName>style.visibility</p:attrName>
                                        </p:attrNameLst>
                                      </p:cBhvr>
                                      <p:to>
                                        <p:strVal val="visible"/>
                                      </p:to>
                                    </p:set>
                                    <p:animEffect transition="in" filter="fade">
                                      <p:cBhvr>
                                        <p:cTn id="16" dur="1000"/>
                                        <p:tgtEl>
                                          <p:spTgt spid="59"/>
                                        </p:tgtEl>
                                      </p:cBhvr>
                                    </p:animEffect>
                                  </p:childTnLst>
                                </p:cTn>
                              </p:par>
                              <p:par>
                                <p:cTn id="17" presetID="10" presetClass="entr" presetSubtype="0" fill="hold" nodeType="with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fade">
                                      <p:cBhvr>
                                        <p:cTn id="19" dur="1000"/>
                                        <p:tgtEl>
                                          <p:spTgt spid="5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65"/>
                                        </p:tgtEl>
                                        <p:attrNameLst>
                                          <p:attrName>style.visibility</p:attrName>
                                        </p:attrNameLst>
                                      </p:cBhvr>
                                      <p:to>
                                        <p:strVal val="visible"/>
                                      </p:to>
                                    </p:set>
                                    <p:animEffect transition="in" filter="fade">
                                      <p:cBhvr>
                                        <p:cTn id="24" dur="1000"/>
                                        <p:tgtEl>
                                          <p:spTgt spid="6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60"/>
                                        </p:tgtEl>
                                        <p:attrNameLst>
                                          <p:attrName>style.visibility</p:attrName>
                                        </p:attrNameLst>
                                      </p:cBhvr>
                                      <p:to>
                                        <p:strVal val="visible"/>
                                      </p:to>
                                    </p:set>
                                    <p:animEffect transition="in" filter="fade">
                                      <p:cBhvr>
                                        <p:cTn id="29" dur="1000"/>
                                        <p:tgtEl>
                                          <p:spTgt spid="60"/>
                                        </p:tgtEl>
                                      </p:cBhvr>
                                    </p:animEffect>
                                  </p:childTnLst>
                                </p:cTn>
                              </p:par>
                              <p:par>
                                <p:cTn id="30" presetID="10" presetClass="entr" presetSubtype="0" fill="hold" nodeType="withEffect">
                                  <p:stCondLst>
                                    <p:cond delay="0"/>
                                  </p:stCondLst>
                                  <p:childTnLst>
                                    <p:set>
                                      <p:cBhvr>
                                        <p:cTn id="31" dur="1" fill="hold">
                                          <p:stCondLst>
                                            <p:cond delay="0"/>
                                          </p:stCondLst>
                                        </p:cTn>
                                        <p:tgtEl>
                                          <p:spTgt spid="62"/>
                                        </p:tgtEl>
                                        <p:attrNameLst>
                                          <p:attrName>style.visibility</p:attrName>
                                        </p:attrNameLst>
                                      </p:cBhvr>
                                      <p:to>
                                        <p:strVal val="visible"/>
                                      </p:to>
                                    </p:set>
                                    <p:animEffect transition="in" filter="fade">
                                      <p:cBhvr>
                                        <p:cTn id="32" dur="1000"/>
                                        <p:tgtEl>
                                          <p:spTgt spid="62"/>
                                        </p:tgtEl>
                                      </p:cBhvr>
                                    </p:animEffect>
                                  </p:childTnLst>
                                </p:cTn>
                              </p:par>
                              <p:par>
                                <p:cTn id="33" presetID="10" presetClass="entr" presetSubtype="0" fill="hold" nodeType="withEffect">
                                  <p:stCondLst>
                                    <p:cond delay="0"/>
                                  </p:stCondLst>
                                  <p:childTnLst>
                                    <p:set>
                                      <p:cBhvr>
                                        <p:cTn id="34" dur="1" fill="hold">
                                          <p:stCondLst>
                                            <p:cond delay="0"/>
                                          </p:stCondLst>
                                        </p:cTn>
                                        <p:tgtEl>
                                          <p:spTgt spid="63"/>
                                        </p:tgtEl>
                                        <p:attrNameLst>
                                          <p:attrName>style.visibility</p:attrName>
                                        </p:attrNameLst>
                                      </p:cBhvr>
                                      <p:to>
                                        <p:strVal val="visible"/>
                                      </p:to>
                                    </p:set>
                                    <p:animEffect transition="in" filter="fade">
                                      <p:cBhvr>
                                        <p:cTn id="35" dur="1000"/>
                                        <p:tgtEl>
                                          <p:spTgt spid="63"/>
                                        </p:tgtEl>
                                      </p:cBhvr>
                                    </p:animEffect>
                                  </p:childTnLst>
                                </p:cTn>
                              </p:par>
                              <p:par>
                                <p:cTn id="36" presetID="10" presetClass="entr" presetSubtype="0" fill="hold" nodeType="withEffect">
                                  <p:stCondLst>
                                    <p:cond delay="0"/>
                                  </p:stCondLst>
                                  <p:childTnLst>
                                    <p:set>
                                      <p:cBhvr>
                                        <p:cTn id="37" dur="1" fill="hold">
                                          <p:stCondLst>
                                            <p:cond delay="0"/>
                                          </p:stCondLst>
                                        </p:cTn>
                                        <p:tgtEl>
                                          <p:spTgt spid="64"/>
                                        </p:tgtEl>
                                        <p:attrNameLst>
                                          <p:attrName>style.visibility</p:attrName>
                                        </p:attrNameLst>
                                      </p:cBhvr>
                                      <p:to>
                                        <p:strVal val="visible"/>
                                      </p:to>
                                    </p:set>
                                    <p:animEffect transition="in" filter="fade">
                                      <p:cBhvr>
                                        <p:cTn id="38" dur="1000"/>
                                        <p:tgtEl>
                                          <p:spTgt spid="64"/>
                                        </p:tgtEl>
                                      </p:cBhvr>
                                    </p:animEffect>
                                  </p:childTnLst>
                                </p:cTn>
                              </p:par>
                              <p:par>
                                <p:cTn id="39" presetID="10" presetClass="entr" presetSubtype="0" fill="hold" nodeType="withEffect">
                                  <p:stCondLst>
                                    <p:cond delay="0"/>
                                  </p:stCondLst>
                                  <p:childTnLst>
                                    <p:set>
                                      <p:cBhvr>
                                        <p:cTn id="40" dur="1" fill="hold">
                                          <p:stCondLst>
                                            <p:cond delay="0"/>
                                          </p:stCondLst>
                                        </p:cTn>
                                        <p:tgtEl>
                                          <p:spTgt spid="61"/>
                                        </p:tgtEl>
                                        <p:attrNameLst>
                                          <p:attrName>style.visibility</p:attrName>
                                        </p:attrNameLst>
                                      </p:cBhvr>
                                      <p:to>
                                        <p:strVal val="visible"/>
                                      </p:to>
                                    </p:set>
                                    <p:animEffect transition="in" filter="fade">
                                      <p:cBhvr>
                                        <p:cTn id="41" dur="1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4"/>
          <p:cNvSpPr/>
          <p:nvPr/>
        </p:nvSpPr>
        <p:spPr>
          <a:xfrm>
            <a:off x="3389862" y="2035757"/>
            <a:ext cx="2364300" cy="2364300"/>
          </a:xfrm>
          <a:prstGeom prst="ellipse">
            <a:avLst/>
          </a:prstGeom>
          <a:solidFill>
            <a:srgbClr val="783F04"/>
          </a:solidFill>
          <a:ln>
            <a:noFill/>
          </a:ln>
        </p:spPr>
        <p:txBody>
          <a:bodyPr spcFirstLastPara="1" wrap="square" lIns="45713" tIns="45713" rIns="45713" bIns="45713" anchor="ctr" anchorCtr="0">
            <a:noAutofit/>
          </a:bodyPr>
          <a:lstStyle/>
          <a:p>
            <a:endParaRPr sz="900"/>
          </a:p>
        </p:txBody>
      </p:sp>
      <p:pic>
        <p:nvPicPr>
          <p:cNvPr id="96" name="Google Shape;96;p14"/>
          <p:cNvPicPr preferRelativeResize="0"/>
          <p:nvPr/>
        </p:nvPicPr>
        <p:blipFill>
          <a:blip r:embed="rId3">
            <a:alphaModFix/>
          </a:blip>
          <a:stretch>
            <a:fillRect/>
          </a:stretch>
        </p:blipFill>
        <p:spPr>
          <a:xfrm>
            <a:off x="5100038" y="1243400"/>
            <a:ext cx="1219200" cy="1219200"/>
          </a:xfrm>
          <a:prstGeom prst="rect">
            <a:avLst/>
          </a:prstGeom>
          <a:noFill/>
          <a:ln>
            <a:noFill/>
          </a:ln>
        </p:spPr>
      </p:pic>
      <p:pic>
        <p:nvPicPr>
          <p:cNvPr id="97" name="Google Shape;97;p14"/>
          <p:cNvPicPr preferRelativeResize="0"/>
          <p:nvPr/>
        </p:nvPicPr>
        <p:blipFill>
          <a:blip r:embed="rId4">
            <a:alphaModFix/>
          </a:blip>
          <a:stretch>
            <a:fillRect/>
          </a:stretch>
        </p:blipFill>
        <p:spPr>
          <a:xfrm>
            <a:off x="3962394" y="4395400"/>
            <a:ext cx="1219200" cy="1219200"/>
          </a:xfrm>
          <a:prstGeom prst="rect">
            <a:avLst/>
          </a:prstGeom>
          <a:noFill/>
          <a:ln>
            <a:noFill/>
          </a:ln>
        </p:spPr>
      </p:pic>
      <p:pic>
        <p:nvPicPr>
          <p:cNvPr id="98" name="Google Shape;98;p14"/>
          <p:cNvPicPr preferRelativeResize="0"/>
          <p:nvPr/>
        </p:nvPicPr>
        <p:blipFill>
          <a:blip r:embed="rId5">
            <a:alphaModFix/>
          </a:blip>
          <a:stretch>
            <a:fillRect/>
          </a:stretch>
        </p:blipFill>
        <p:spPr>
          <a:xfrm>
            <a:off x="2292325" y="3217875"/>
            <a:ext cx="1219200" cy="1219200"/>
          </a:xfrm>
          <a:prstGeom prst="rect">
            <a:avLst/>
          </a:prstGeom>
          <a:noFill/>
          <a:ln>
            <a:noFill/>
          </a:ln>
        </p:spPr>
      </p:pic>
      <p:pic>
        <p:nvPicPr>
          <p:cNvPr id="99" name="Google Shape;99;p14"/>
          <p:cNvPicPr preferRelativeResize="0"/>
          <p:nvPr/>
        </p:nvPicPr>
        <p:blipFill>
          <a:blip r:embed="rId6">
            <a:alphaModFix/>
          </a:blip>
          <a:stretch>
            <a:fillRect/>
          </a:stretch>
        </p:blipFill>
        <p:spPr>
          <a:xfrm>
            <a:off x="5632475" y="3217875"/>
            <a:ext cx="1219200" cy="1219200"/>
          </a:xfrm>
          <a:prstGeom prst="rect">
            <a:avLst/>
          </a:prstGeom>
          <a:noFill/>
          <a:ln>
            <a:noFill/>
          </a:ln>
        </p:spPr>
      </p:pic>
      <p:pic>
        <p:nvPicPr>
          <p:cNvPr id="100" name="Google Shape;100;p14"/>
          <p:cNvPicPr preferRelativeResize="0"/>
          <p:nvPr/>
        </p:nvPicPr>
        <p:blipFill>
          <a:blip r:embed="rId7">
            <a:alphaModFix/>
          </a:blip>
          <a:stretch>
            <a:fillRect/>
          </a:stretch>
        </p:blipFill>
        <p:spPr>
          <a:xfrm>
            <a:off x="2824757" y="1243400"/>
            <a:ext cx="1219200" cy="1219200"/>
          </a:xfrm>
          <a:prstGeom prst="rect">
            <a:avLst/>
          </a:prstGeom>
          <a:noFill/>
          <a:ln>
            <a:noFill/>
          </a:ln>
        </p:spPr>
      </p:pic>
      <p:grpSp>
        <p:nvGrpSpPr>
          <p:cNvPr id="101" name="Google Shape;101;p14"/>
          <p:cNvGrpSpPr/>
          <p:nvPr/>
        </p:nvGrpSpPr>
        <p:grpSpPr>
          <a:xfrm>
            <a:off x="4157195" y="2803111"/>
            <a:ext cx="829600" cy="829600"/>
            <a:chOff x="7509900" y="2868375"/>
            <a:chExt cx="903900" cy="903900"/>
          </a:xfrm>
        </p:grpSpPr>
        <p:sp>
          <p:nvSpPr>
            <p:cNvPr id="102" name="Google Shape;102;p14"/>
            <p:cNvSpPr/>
            <p:nvPr/>
          </p:nvSpPr>
          <p:spPr>
            <a:xfrm>
              <a:off x="7509900" y="2868375"/>
              <a:ext cx="903900" cy="903900"/>
            </a:xfrm>
            <a:prstGeom prst="ellipse">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103" name="Google Shape;103;p14"/>
            <p:cNvSpPr/>
            <p:nvPr/>
          </p:nvSpPr>
          <p:spPr>
            <a:xfrm>
              <a:off x="7726325" y="3187287"/>
              <a:ext cx="281375" cy="421875"/>
            </a:xfrm>
            <a:custGeom>
              <a:avLst/>
              <a:gdLst/>
              <a:ahLst/>
              <a:cxnLst/>
              <a:rect l="l" t="t" r="r" b="b"/>
              <a:pathLst>
                <a:path w="11255" h="16875" extrusionOk="0">
                  <a:moveTo>
                    <a:pt x="0" y="1985"/>
                  </a:moveTo>
                  <a:cubicBezTo>
                    <a:pt x="3409" y="525"/>
                    <a:pt x="10171" y="-1599"/>
                    <a:pt x="11126" y="1985"/>
                  </a:cubicBezTo>
                  <a:cubicBezTo>
                    <a:pt x="11977" y="5177"/>
                    <a:pt x="7498" y="7599"/>
                    <a:pt x="5042" y="9808"/>
                  </a:cubicBezTo>
                  <a:cubicBezTo>
                    <a:pt x="3517" y="11179"/>
                    <a:pt x="7922" y="12750"/>
                    <a:pt x="9562" y="13980"/>
                  </a:cubicBezTo>
                  <a:cubicBezTo>
                    <a:pt x="10372" y="14587"/>
                    <a:pt x="11636" y="16225"/>
                    <a:pt x="10778" y="16762"/>
                  </a:cubicBezTo>
                  <a:cubicBezTo>
                    <a:pt x="9613" y="17490"/>
                    <a:pt x="7707" y="13849"/>
                    <a:pt x="8866" y="13111"/>
                  </a:cubicBezTo>
                </a:path>
              </a:pathLst>
            </a:custGeom>
            <a:noFill/>
            <a:ln w="38100" cap="flat" cmpd="sng">
              <a:solidFill>
                <a:srgbClr val="F1C232"/>
              </a:solidFill>
              <a:prstDash val="solid"/>
              <a:round/>
              <a:headEnd type="none" w="med" len="med"/>
              <a:tailEnd type="none" w="med" len="med"/>
            </a:ln>
          </p:spPr>
        </p:sp>
        <p:sp>
          <p:nvSpPr>
            <p:cNvPr id="104" name="Google Shape;104;p14"/>
            <p:cNvSpPr/>
            <p:nvPr/>
          </p:nvSpPr>
          <p:spPr>
            <a:xfrm>
              <a:off x="7829049" y="3032650"/>
              <a:ext cx="272850" cy="456325"/>
            </a:xfrm>
            <a:custGeom>
              <a:avLst/>
              <a:gdLst/>
              <a:ahLst/>
              <a:cxnLst/>
              <a:rect l="l" t="t" r="r" b="b"/>
              <a:pathLst>
                <a:path w="10914" h="18253" extrusionOk="0">
                  <a:moveTo>
                    <a:pt x="4236" y="0"/>
                  </a:moveTo>
                  <a:cubicBezTo>
                    <a:pt x="1862" y="3263"/>
                    <a:pt x="-1710" y="8598"/>
                    <a:pt x="933" y="11647"/>
                  </a:cubicBezTo>
                  <a:cubicBezTo>
                    <a:pt x="3470" y="14574"/>
                    <a:pt x="12913" y="15228"/>
                    <a:pt x="10494" y="18253"/>
                  </a:cubicBezTo>
                </a:path>
              </a:pathLst>
            </a:custGeom>
            <a:noFill/>
            <a:ln w="38100" cap="flat" cmpd="sng">
              <a:solidFill>
                <a:srgbClr val="F1C232"/>
              </a:solidFill>
              <a:prstDash val="solid"/>
              <a:round/>
              <a:headEnd type="none" w="med" len="med"/>
              <a:tailEnd type="none" w="med" len="med"/>
            </a:ln>
          </p:spPr>
        </p:sp>
        <p:sp>
          <p:nvSpPr>
            <p:cNvPr id="105" name="Google Shape;105;p14"/>
            <p:cNvSpPr/>
            <p:nvPr/>
          </p:nvSpPr>
          <p:spPr>
            <a:xfrm>
              <a:off x="7938508" y="3145650"/>
              <a:ext cx="222425" cy="356375"/>
            </a:xfrm>
            <a:custGeom>
              <a:avLst/>
              <a:gdLst/>
              <a:ahLst/>
              <a:cxnLst/>
              <a:rect l="l" t="t" r="r" b="b"/>
              <a:pathLst>
                <a:path w="8897" h="14255" extrusionOk="0">
                  <a:moveTo>
                    <a:pt x="8897" y="0"/>
                  </a:moveTo>
                  <a:cubicBezTo>
                    <a:pt x="5700" y="999"/>
                    <a:pt x="1621" y="2006"/>
                    <a:pt x="205" y="5041"/>
                  </a:cubicBezTo>
                  <a:cubicBezTo>
                    <a:pt x="-1089" y="7814"/>
                    <a:pt x="5221" y="8570"/>
                    <a:pt x="7507" y="10604"/>
                  </a:cubicBezTo>
                  <a:cubicBezTo>
                    <a:pt x="8600" y="11576"/>
                    <a:pt x="6516" y="14014"/>
                    <a:pt x="5073" y="14255"/>
                  </a:cubicBezTo>
                </a:path>
              </a:pathLst>
            </a:custGeom>
            <a:noFill/>
            <a:ln w="38100" cap="flat" cmpd="sng">
              <a:solidFill>
                <a:srgbClr val="F1C232"/>
              </a:solidFill>
              <a:prstDash val="solid"/>
              <a:round/>
              <a:headEnd type="none" w="med" len="med"/>
              <a:tailEnd type="none" w="med" len="med"/>
            </a:ln>
          </p:spPr>
        </p:sp>
        <p:sp>
          <p:nvSpPr>
            <p:cNvPr id="106" name="Google Shape;106;p14"/>
            <p:cNvSpPr/>
            <p:nvPr/>
          </p:nvSpPr>
          <p:spPr>
            <a:xfrm>
              <a:off x="7743725" y="3093500"/>
              <a:ext cx="518875" cy="321600"/>
            </a:xfrm>
            <a:custGeom>
              <a:avLst/>
              <a:gdLst/>
              <a:ahLst/>
              <a:cxnLst/>
              <a:rect l="l" t="t" r="r" b="b"/>
              <a:pathLst>
                <a:path w="20755" h="12864" extrusionOk="0">
                  <a:moveTo>
                    <a:pt x="0" y="0"/>
                  </a:moveTo>
                  <a:cubicBezTo>
                    <a:pt x="5394" y="897"/>
                    <a:pt x="12760" y="-760"/>
                    <a:pt x="15993" y="3650"/>
                  </a:cubicBezTo>
                  <a:cubicBezTo>
                    <a:pt x="17475" y="5672"/>
                    <a:pt x="22372" y="8719"/>
                    <a:pt x="20165" y="9908"/>
                  </a:cubicBezTo>
                  <a:cubicBezTo>
                    <a:pt x="14587" y="12912"/>
                    <a:pt x="1390" y="6529"/>
                    <a:pt x="1390" y="12864"/>
                  </a:cubicBezTo>
                </a:path>
              </a:pathLst>
            </a:custGeom>
            <a:noFill/>
            <a:ln w="38100" cap="flat" cmpd="sng">
              <a:solidFill>
                <a:srgbClr val="F1C232"/>
              </a:solidFill>
              <a:prstDash val="solid"/>
              <a:round/>
              <a:headEnd type="none" w="med" len="med"/>
              <a:tailEnd type="none" w="med" len="med"/>
            </a:ln>
          </p:spPr>
        </p:sp>
        <p:sp>
          <p:nvSpPr>
            <p:cNvPr id="107" name="Google Shape;107;p14"/>
            <p:cNvSpPr/>
            <p:nvPr/>
          </p:nvSpPr>
          <p:spPr>
            <a:xfrm>
              <a:off x="7662050" y="3010925"/>
              <a:ext cx="411975" cy="478050"/>
            </a:xfrm>
            <a:custGeom>
              <a:avLst/>
              <a:gdLst/>
              <a:ahLst/>
              <a:cxnLst/>
              <a:rect l="l" t="t" r="r" b="b"/>
              <a:pathLst>
                <a:path w="16479" h="19122" extrusionOk="0">
                  <a:moveTo>
                    <a:pt x="16479" y="0"/>
                  </a:moveTo>
                  <a:cubicBezTo>
                    <a:pt x="9984" y="1946"/>
                    <a:pt x="3470" y="6343"/>
                    <a:pt x="311" y="12342"/>
                  </a:cubicBezTo>
                  <a:cubicBezTo>
                    <a:pt x="-872" y="14589"/>
                    <a:pt x="1757" y="17597"/>
                    <a:pt x="3788" y="19122"/>
                  </a:cubicBezTo>
                </a:path>
              </a:pathLst>
            </a:custGeom>
            <a:noFill/>
            <a:ln w="38100" cap="flat" cmpd="sng">
              <a:solidFill>
                <a:srgbClr val="F1C232"/>
              </a:solidFill>
              <a:prstDash val="solid"/>
              <a:round/>
              <a:headEnd type="none" w="med" len="med"/>
              <a:tailEnd type="none" w="med" len="med"/>
            </a:ln>
          </p:spPr>
        </p:sp>
        <p:sp>
          <p:nvSpPr>
            <p:cNvPr id="108" name="Google Shape;108;p14"/>
            <p:cNvSpPr/>
            <p:nvPr/>
          </p:nvSpPr>
          <p:spPr>
            <a:xfrm>
              <a:off x="7817600" y="3015250"/>
              <a:ext cx="398400" cy="587225"/>
            </a:xfrm>
            <a:custGeom>
              <a:avLst/>
              <a:gdLst/>
              <a:ahLst/>
              <a:cxnLst/>
              <a:rect l="l" t="t" r="r" b="b"/>
              <a:pathLst>
                <a:path w="15936" h="23489" extrusionOk="0">
                  <a:moveTo>
                    <a:pt x="0" y="0"/>
                  </a:moveTo>
                  <a:cubicBezTo>
                    <a:pt x="0" y="8167"/>
                    <a:pt x="2230" y="20746"/>
                    <a:pt x="10257" y="22252"/>
                  </a:cubicBezTo>
                  <a:cubicBezTo>
                    <a:pt x="12203" y="22617"/>
                    <a:pt x="15960" y="18191"/>
                    <a:pt x="15819" y="20166"/>
                  </a:cubicBezTo>
                  <a:cubicBezTo>
                    <a:pt x="15703" y="21786"/>
                    <a:pt x="15565" y="21792"/>
                    <a:pt x="14950" y="23295"/>
                  </a:cubicBezTo>
                  <a:cubicBezTo>
                    <a:pt x="14596" y="24160"/>
                    <a:pt x="13200" y="21724"/>
                    <a:pt x="13559" y="20861"/>
                  </a:cubicBezTo>
                  <a:cubicBezTo>
                    <a:pt x="14532" y="18524"/>
                    <a:pt x="16694" y="15864"/>
                    <a:pt x="15646" y="13560"/>
                  </a:cubicBezTo>
                  <a:cubicBezTo>
                    <a:pt x="15040" y="12229"/>
                    <a:pt x="13029" y="12161"/>
                    <a:pt x="11995" y="11126"/>
                  </a:cubicBezTo>
                </a:path>
              </a:pathLst>
            </a:custGeom>
            <a:noFill/>
            <a:ln w="38100" cap="flat" cmpd="sng">
              <a:solidFill>
                <a:srgbClr val="F1C232"/>
              </a:solidFill>
              <a:prstDash val="solid"/>
              <a:round/>
              <a:headEnd type="none" w="med" len="med"/>
              <a:tailEnd type="none" w="med" len="med"/>
            </a:ln>
          </p:spPr>
        </p:sp>
        <p:sp>
          <p:nvSpPr>
            <p:cNvPr id="109" name="Google Shape;109;p14"/>
            <p:cNvSpPr/>
            <p:nvPr/>
          </p:nvSpPr>
          <p:spPr>
            <a:xfrm>
              <a:off x="7643750" y="3180400"/>
              <a:ext cx="425925" cy="446300"/>
            </a:xfrm>
            <a:custGeom>
              <a:avLst/>
              <a:gdLst/>
              <a:ahLst/>
              <a:cxnLst/>
              <a:rect l="l" t="t" r="r" b="b"/>
              <a:pathLst>
                <a:path w="17037" h="17852" extrusionOk="0">
                  <a:moveTo>
                    <a:pt x="0" y="0"/>
                  </a:moveTo>
                  <a:cubicBezTo>
                    <a:pt x="4491" y="817"/>
                    <a:pt x="6830" y="6955"/>
                    <a:pt x="7475" y="11474"/>
                  </a:cubicBezTo>
                  <a:cubicBezTo>
                    <a:pt x="7713" y="13138"/>
                    <a:pt x="6322" y="15483"/>
                    <a:pt x="7649" y="16515"/>
                  </a:cubicBezTo>
                  <a:cubicBezTo>
                    <a:pt x="10121" y="18437"/>
                    <a:pt x="14632" y="18173"/>
                    <a:pt x="17037" y="16167"/>
                  </a:cubicBezTo>
                </a:path>
              </a:pathLst>
            </a:custGeom>
            <a:noFill/>
            <a:ln w="38100" cap="flat" cmpd="sng">
              <a:solidFill>
                <a:srgbClr val="F1C232"/>
              </a:solidFill>
              <a:prstDash val="solid"/>
              <a:round/>
              <a:headEnd type="none" w="med" len="med"/>
              <a:tailEnd type="none" w="med" len="med"/>
            </a:ln>
          </p:spPr>
        </p:sp>
        <p:sp>
          <p:nvSpPr>
            <p:cNvPr id="110" name="Google Shape;110;p14"/>
            <p:cNvSpPr/>
            <p:nvPr/>
          </p:nvSpPr>
          <p:spPr>
            <a:xfrm>
              <a:off x="7836249" y="3076100"/>
              <a:ext cx="320325" cy="456325"/>
            </a:xfrm>
            <a:custGeom>
              <a:avLst/>
              <a:gdLst/>
              <a:ahLst/>
              <a:cxnLst/>
              <a:rect l="l" t="t" r="r" b="b"/>
              <a:pathLst>
                <a:path w="12813" h="18253" extrusionOk="0">
                  <a:moveTo>
                    <a:pt x="12813" y="0"/>
                  </a:moveTo>
                  <a:cubicBezTo>
                    <a:pt x="7242" y="2181"/>
                    <a:pt x="-861" y="6790"/>
                    <a:pt x="123" y="12691"/>
                  </a:cubicBezTo>
                  <a:cubicBezTo>
                    <a:pt x="746" y="16427"/>
                    <a:pt x="8084" y="15004"/>
                    <a:pt x="10032" y="18253"/>
                  </a:cubicBezTo>
                </a:path>
              </a:pathLst>
            </a:custGeom>
            <a:noFill/>
            <a:ln w="38100" cap="flat" cmpd="sng">
              <a:solidFill>
                <a:srgbClr val="F1C232"/>
              </a:solidFill>
              <a:prstDash val="solid"/>
              <a:round/>
              <a:headEnd type="none" w="med" len="med"/>
              <a:tailEnd type="none" w="med" len="med"/>
            </a:ln>
          </p:spPr>
        </p:sp>
        <p:sp>
          <p:nvSpPr>
            <p:cNvPr id="111" name="Google Shape;111;p14"/>
            <p:cNvSpPr/>
            <p:nvPr/>
          </p:nvSpPr>
          <p:spPr>
            <a:xfrm>
              <a:off x="7700250" y="3132600"/>
              <a:ext cx="429925" cy="169500"/>
            </a:xfrm>
            <a:custGeom>
              <a:avLst/>
              <a:gdLst/>
              <a:ahLst/>
              <a:cxnLst/>
              <a:rect l="l" t="t" r="r" b="b"/>
              <a:pathLst>
                <a:path w="17197" h="6780" extrusionOk="0">
                  <a:moveTo>
                    <a:pt x="0" y="0"/>
                  </a:moveTo>
                  <a:cubicBezTo>
                    <a:pt x="3914" y="4695"/>
                    <a:pt x="10925" y="6780"/>
                    <a:pt x="17037" y="6780"/>
                  </a:cubicBezTo>
                  <a:cubicBezTo>
                    <a:pt x="17504" y="6780"/>
                    <a:pt x="16799" y="5655"/>
                    <a:pt x="16341" y="5563"/>
                  </a:cubicBezTo>
                </a:path>
              </a:pathLst>
            </a:custGeom>
            <a:noFill/>
            <a:ln w="38100" cap="flat" cmpd="sng">
              <a:solidFill>
                <a:srgbClr val="F1C232"/>
              </a:solidFill>
              <a:prstDash val="solid"/>
              <a:round/>
              <a:headEnd type="none" w="med" len="med"/>
              <a:tailEnd type="none" w="med" len="med"/>
            </a:ln>
          </p:spPr>
        </p:sp>
        <p:sp>
          <p:nvSpPr>
            <p:cNvPr id="112" name="Google Shape;112;p14"/>
            <p:cNvSpPr/>
            <p:nvPr/>
          </p:nvSpPr>
          <p:spPr>
            <a:xfrm>
              <a:off x="7710998" y="3098181"/>
              <a:ext cx="558575" cy="472725"/>
            </a:xfrm>
            <a:custGeom>
              <a:avLst/>
              <a:gdLst/>
              <a:ahLst/>
              <a:cxnLst/>
              <a:rect l="l" t="t" r="r" b="b"/>
              <a:pathLst>
                <a:path w="22343" h="18909" extrusionOk="0">
                  <a:moveTo>
                    <a:pt x="22343" y="4332"/>
                  </a:moveTo>
                  <a:cubicBezTo>
                    <a:pt x="16437" y="38"/>
                    <a:pt x="3704" y="-2547"/>
                    <a:pt x="439" y="3985"/>
                  </a:cubicBezTo>
                  <a:cubicBezTo>
                    <a:pt x="-1508" y="7881"/>
                    <a:pt x="3832" y="12696"/>
                    <a:pt x="7567" y="14937"/>
                  </a:cubicBezTo>
                  <a:cubicBezTo>
                    <a:pt x="9340" y="16001"/>
                    <a:pt x="12081" y="14808"/>
                    <a:pt x="13651" y="16154"/>
                  </a:cubicBezTo>
                  <a:cubicBezTo>
                    <a:pt x="15785" y="17983"/>
                    <a:pt x="7730" y="19926"/>
                    <a:pt x="5481" y="18240"/>
                  </a:cubicBezTo>
                </a:path>
              </a:pathLst>
            </a:custGeom>
            <a:noFill/>
            <a:ln w="38100" cap="flat" cmpd="sng">
              <a:solidFill>
                <a:srgbClr val="F1C232"/>
              </a:solidFill>
              <a:prstDash val="solid"/>
              <a:round/>
              <a:headEnd type="none" w="med" len="med"/>
              <a:tailEnd type="none" w="med" len="med"/>
            </a:ln>
          </p:spPr>
        </p:sp>
        <p:sp>
          <p:nvSpPr>
            <p:cNvPr id="113" name="Google Shape;113;p14"/>
            <p:cNvSpPr/>
            <p:nvPr/>
          </p:nvSpPr>
          <p:spPr>
            <a:xfrm>
              <a:off x="7685501" y="3079570"/>
              <a:ext cx="584075" cy="361600"/>
            </a:xfrm>
            <a:custGeom>
              <a:avLst/>
              <a:gdLst/>
              <a:ahLst/>
              <a:cxnLst/>
              <a:rect l="l" t="t" r="r" b="b"/>
              <a:pathLst>
                <a:path w="23363" h="14464" extrusionOk="0">
                  <a:moveTo>
                    <a:pt x="23363" y="14464"/>
                  </a:moveTo>
                  <a:cubicBezTo>
                    <a:pt x="21432" y="9632"/>
                    <a:pt x="15255" y="7928"/>
                    <a:pt x="11021" y="4903"/>
                  </a:cubicBezTo>
                  <a:cubicBezTo>
                    <a:pt x="8043" y="2775"/>
                    <a:pt x="3984" y="-1473"/>
                    <a:pt x="938" y="557"/>
                  </a:cubicBezTo>
                  <a:cubicBezTo>
                    <a:pt x="-2526" y="2866"/>
                    <a:pt x="4896" y="8744"/>
                    <a:pt x="8761" y="10292"/>
                  </a:cubicBezTo>
                </a:path>
              </a:pathLst>
            </a:custGeom>
            <a:noFill/>
            <a:ln w="38100" cap="flat" cmpd="sng">
              <a:solidFill>
                <a:srgbClr val="F1C232"/>
              </a:solidFill>
              <a:prstDash val="solid"/>
              <a:round/>
              <a:headEnd type="none" w="med" len="med"/>
              <a:tailEnd type="none" w="med" len="med"/>
            </a:ln>
          </p:spPr>
        </p:sp>
        <p:sp>
          <p:nvSpPr>
            <p:cNvPr id="114" name="Google Shape;114;p14"/>
            <p:cNvSpPr/>
            <p:nvPr/>
          </p:nvSpPr>
          <p:spPr>
            <a:xfrm>
              <a:off x="7744259" y="3028300"/>
              <a:ext cx="368875" cy="491100"/>
            </a:xfrm>
            <a:custGeom>
              <a:avLst/>
              <a:gdLst/>
              <a:ahLst/>
              <a:cxnLst/>
              <a:rect l="l" t="t" r="r" b="b"/>
              <a:pathLst>
                <a:path w="14755" h="19644" extrusionOk="0">
                  <a:moveTo>
                    <a:pt x="14755" y="0"/>
                  </a:moveTo>
                  <a:cubicBezTo>
                    <a:pt x="14495" y="609"/>
                    <a:pt x="14636" y="691"/>
                    <a:pt x="14234" y="1217"/>
                  </a:cubicBezTo>
                  <a:cubicBezTo>
                    <a:pt x="10836" y="5660"/>
                    <a:pt x="3616" y="6081"/>
                    <a:pt x="326" y="10604"/>
                  </a:cubicBezTo>
                  <a:cubicBezTo>
                    <a:pt x="-1501" y="13116"/>
                    <a:pt x="5071" y="17780"/>
                    <a:pt x="2586" y="19644"/>
                  </a:cubicBezTo>
                </a:path>
              </a:pathLst>
            </a:custGeom>
            <a:noFill/>
            <a:ln w="38100" cap="flat" cmpd="sng">
              <a:solidFill>
                <a:srgbClr val="F1C232"/>
              </a:solidFill>
              <a:prstDash val="solid"/>
              <a:round/>
              <a:headEnd type="none" w="med" len="med"/>
              <a:tailEnd type="none" w="med" len="med"/>
            </a:ln>
          </p:spPr>
        </p:sp>
        <p:sp>
          <p:nvSpPr>
            <p:cNvPr id="115" name="Google Shape;115;p14"/>
            <p:cNvSpPr/>
            <p:nvPr/>
          </p:nvSpPr>
          <p:spPr>
            <a:xfrm>
              <a:off x="7765450" y="3145650"/>
              <a:ext cx="482400" cy="338975"/>
            </a:xfrm>
            <a:custGeom>
              <a:avLst/>
              <a:gdLst/>
              <a:ahLst/>
              <a:cxnLst/>
              <a:rect l="l" t="t" r="r" b="b"/>
              <a:pathLst>
                <a:path w="19296" h="13559" extrusionOk="0">
                  <a:moveTo>
                    <a:pt x="19296" y="13559"/>
                  </a:moveTo>
                  <a:cubicBezTo>
                    <a:pt x="13760" y="11712"/>
                    <a:pt x="8516" y="8736"/>
                    <a:pt x="3998" y="5041"/>
                  </a:cubicBezTo>
                  <a:cubicBezTo>
                    <a:pt x="2338" y="3683"/>
                    <a:pt x="2116" y="351"/>
                    <a:pt x="0" y="0"/>
                  </a:cubicBezTo>
                </a:path>
              </a:pathLst>
            </a:custGeom>
            <a:noFill/>
            <a:ln w="38100" cap="flat" cmpd="sng">
              <a:solidFill>
                <a:srgbClr val="F1C232"/>
              </a:solidFill>
              <a:prstDash val="solid"/>
              <a:round/>
              <a:headEnd type="none" w="med" len="med"/>
              <a:tailEnd type="none" w="med" len="med"/>
            </a:ln>
          </p:spPr>
        </p:sp>
        <p:sp>
          <p:nvSpPr>
            <p:cNvPr id="116" name="Google Shape;116;p14"/>
            <p:cNvSpPr/>
            <p:nvPr/>
          </p:nvSpPr>
          <p:spPr>
            <a:xfrm>
              <a:off x="7665500" y="3269759"/>
              <a:ext cx="499775" cy="249650"/>
            </a:xfrm>
            <a:custGeom>
              <a:avLst/>
              <a:gdLst/>
              <a:ahLst/>
              <a:cxnLst/>
              <a:rect l="l" t="t" r="r" b="b"/>
              <a:pathLst>
                <a:path w="19991" h="9986" extrusionOk="0">
                  <a:moveTo>
                    <a:pt x="0" y="9986"/>
                  </a:moveTo>
                  <a:cubicBezTo>
                    <a:pt x="3478" y="7899"/>
                    <a:pt x="5064" y="3283"/>
                    <a:pt x="8692" y="1468"/>
                  </a:cubicBezTo>
                  <a:cubicBezTo>
                    <a:pt x="12086" y="-230"/>
                    <a:pt x="16196" y="77"/>
                    <a:pt x="19991" y="77"/>
                  </a:cubicBezTo>
                </a:path>
              </a:pathLst>
            </a:custGeom>
            <a:noFill/>
            <a:ln w="38100" cap="flat" cmpd="sng">
              <a:solidFill>
                <a:srgbClr val="F1C232"/>
              </a:solidFill>
              <a:prstDash val="solid"/>
              <a:round/>
              <a:headEnd type="none" w="med" len="med"/>
              <a:tailEnd type="none" w="med" len="med"/>
            </a:ln>
          </p:spPr>
        </p:sp>
        <p:sp>
          <p:nvSpPr>
            <p:cNvPr id="117" name="Google Shape;117;p14"/>
            <p:cNvSpPr/>
            <p:nvPr/>
          </p:nvSpPr>
          <p:spPr>
            <a:xfrm>
              <a:off x="7656800" y="3198318"/>
              <a:ext cx="660600" cy="161800"/>
            </a:xfrm>
            <a:custGeom>
              <a:avLst/>
              <a:gdLst/>
              <a:ahLst/>
              <a:cxnLst/>
              <a:rect l="l" t="t" r="r" b="b"/>
              <a:pathLst>
                <a:path w="26424" h="6472" extrusionOk="0">
                  <a:moveTo>
                    <a:pt x="26424" y="6411"/>
                  </a:moveTo>
                  <a:cubicBezTo>
                    <a:pt x="18961" y="6652"/>
                    <a:pt x="11684" y="3823"/>
                    <a:pt x="4520" y="1717"/>
                  </a:cubicBezTo>
                  <a:cubicBezTo>
                    <a:pt x="4232" y="1632"/>
                    <a:pt x="0" y="-572"/>
                    <a:pt x="0" y="153"/>
                  </a:cubicBezTo>
                  <a:cubicBezTo>
                    <a:pt x="0" y="1294"/>
                    <a:pt x="584" y="2475"/>
                    <a:pt x="1391" y="3282"/>
                  </a:cubicBezTo>
                </a:path>
              </a:pathLst>
            </a:custGeom>
            <a:noFill/>
            <a:ln w="38100" cap="flat" cmpd="sng">
              <a:solidFill>
                <a:srgbClr val="F1C232"/>
              </a:solidFill>
              <a:prstDash val="solid"/>
              <a:round/>
              <a:headEnd type="none" w="med" len="med"/>
              <a:tailEnd type="none" w="med" len="med"/>
            </a:ln>
          </p:spPr>
        </p:sp>
        <p:sp>
          <p:nvSpPr>
            <p:cNvPr id="118" name="Google Shape;118;p14"/>
            <p:cNvSpPr/>
            <p:nvPr/>
          </p:nvSpPr>
          <p:spPr>
            <a:xfrm>
              <a:off x="7757829" y="3119575"/>
              <a:ext cx="450925" cy="395475"/>
            </a:xfrm>
            <a:custGeom>
              <a:avLst/>
              <a:gdLst/>
              <a:ahLst/>
              <a:cxnLst/>
              <a:rect l="l" t="t" r="r" b="b"/>
              <a:pathLst>
                <a:path w="18037" h="15819" extrusionOk="0">
                  <a:moveTo>
                    <a:pt x="18037" y="0"/>
                  </a:moveTo>
                  <a:cubicBezTo>
                    <a:pt x="15708" y="1293"/>
                    <a:pt x="13491" y="3180"/>
                    <a:pt x="12300" y="5562"/>
                  </a:cubicBezTo>
                  <a:cubicBezTo>
                    <a:pt x="11338" y="7485"/>
                    <a:pt x="12524" y="10628"/>
                    <a:pt x="10735" y="11821"/>
                  </a:cubicBezTo>
                  <a:cubicBezTo>
                    <a:pt x="7637" y="13887"/>
                    <a:pt x="-1612" y="12627"/>
                    <a:pt x="305" y="15819"/>
                  </a:cubicBezTo>
                </a:path>
              </a:pathLst>
            </a:custGeom>
            <a:noFill/>
            <a:ln w="38100" cap="flat" cmpd="sng">
              <a:solidFill>
                <a:srgbClr val="F1C232"/>
              </a:solidFill>
              <a:prstDash val="solid"/>
              <a:round/>
              <a:headEnd type="none" w="med" len="med"/>
              <a:tailEnd type="none" w="med" len="med"/>
            </a:ln>
          </p:spPr>
        </p:sp>
        <p:sp>
          <p:nvSpPr>
            <p:cNvPr id="119" name="Google Shape;119;p14"/>
            <p:cNvSpPr/>
            <p:nvPr/>
          </p:nvSpPr>
          <p:spPr>
            <a:xfrm>
              <a:off x="7895825" y="3010925"/>
              <a:ext cx="373750" cy="469350"/>
            </a:xfrm>
            <a:custGeom>
              <a:avLst/>
              <a:gdLst/>
              <a:ahLst/>
              <a:cxnLst/>
              <a:rect l="l" t="t" r="r" b="b"/>
              <a:pathLst>
                <a:path w="14950" h="18774" extrusionOk="0">
                  <a:moveTo>
                    <a:pt x="0" y="0"/>
                  </a:moveTo>
                  <a:cubicBezTo>
                    <a:pt x="1571" y="7844"/>
                    <a:pt x="11377" y="11617"/>
                    <a:pt x="14950" y="18774"/>
                  </a:cubicBezTo>
                </a:path>
              </a:pathLst>
            </a:custGeom>
            <a:noFill/>
            <a:ln w="38100" cap="flat" cmpd="sng">
              <a:solidFill>
                <a:srgbClr val="F1C232"/>
              </a:solidFill>
              <a:prstDash val="solid"/>
              <a:round/>
              <a:headEnd type="none" w="med" len="med"/>
              <a:tailEnd type="none" w="med" len="med"/>
            </a:ln>
          </p:spPr>
        </p:sp>
        <p:sp>
          <p:nvSpPr>
            <p:cNvPr id="120" name="Google Shape;120;p14"/>
            <p:cNvSpPr/>
            <p:nvPr/>
          </p:nvSpPr>
          <p:spPr>
            <a:xfrm>
              <a:off x="7752400" y="3132600"/>
              <a:ext cx="346150" cy="434600"/>
            </a:xfrm>
            <a:custGeom>
              <a:avLst/>
              <a:gdLst/>
              <a:ahLst/>
              <a:cxnLst/>
              <a:rect l="l" t="t" r="r" b="b"/>
              <a:pathLst>
                <a:path w="13846" h="17384" extrusionOk="0">
                  <a:moveTo>
                    <a:pt x="0" y="17384"/>
                  </a:moveTo>
                  <a:cubicBezTo>
                    <a:pt x="1561" y="14266"/>
                    <a:pt x="813" y="9404"/>
                    <a:pt x="3825" y="7649"/>
                  </a:cubicBezTo>
                  <a:cubicBezTo>
                    <a:pt x="6452" y="6118"/>
                    <a:pt x="10432" y="8256"/>
                    <a:pt x="12865" y="6432"/>
                  </a:cubicBezTo>
                  <a:cubicBezTo>
                    <a:pt x="14596" y="5134"/>
                    <a:pt x="13756" y="1257"/>
                    <a:pt x="11995" y="0"/>
                  </a:cubicBezTo>
                </a:path>
              </a:pathLst>
            </a:custGeom>
            <a:noFill/>
            <a:ln w="38100" cap="flat" cmpd="sng">
              <a:solidFill>
                <a:srgbClr val="F1C232"/>
              </a:solidFill>
              <a:prstDash val="solid"/>
              <a:round/>
              <a:headEnd type="none" w="med" len="med"/>
              <a:tailEnd type="none" w="med" len="med"/>
            </a:ln>
          </p:spPr>
        </p:sp>
      </p:grpSp>
      <p:sp>
        <p:nvSpPr>
          <p:cNvPr id="121" name="Google Shape;121;p14"/>
          <p:cNvSpPr/>
          <p:nvPr/>
        </p:nvSpPr>
        <p:spPr>
          <a:xfrm rot="-6485262" flipH="1">
            <a:off x="5341176"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122" name="Google Shape;122;p14"/>
          <p:cNvSpPr/>
          <p:nvPr/>
        </p:nvSpPr>
        <p:spPr>
          <a:xfrm rot="6485262">
            <a:off x="3763714"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123" name="Google Shape;123;p14"/>
          <p:cNvSpPr/>
          <p:nvPr/>
        </p:nvSpPr>
        <p:spPr>
          <a:xfrm rot="10800000">
            <a:off x="4552435" y="2168746"/>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124" name="Google Shape;124;p14"/>
          <p:cNvSpPr/>
          <p:nvPr/>
        </p:nvSpPr>
        <p:spPr>
          <a:xfrm rot="2167448">
            <a:off x="4087053"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125" name="Google Shape;125;p14"/>
          <p:cNvSpPr/>
          <p:nvPr/>
        </p:nvSpPr>
        <p:spPr>
          <a:xfrm rot="-2167448" flipH="1">
            <a:off x="5017778"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126" name="Google Shape;126;p14"/>
          <p:cNvSpPr/>
          <p:nvPr/>
        </p:nvSpPr>
        <p:spPr>
          <a:xfrm>
            <a:off x="4416763" y="3146300"/>
            <a:ext cx="420063" cy="289163"/>
          </a:xfrm>
          <a:custGeom>
            <a:avLst/>
            <a:gdLst/>
            <a:ahLst/>
            <a:cxnLst/>
            <a:rect l="l" t="t" r="r" b="b"/>
            <a:pathLst>
              <a:path w="33605" h="23133" extrusionOk="0">
                <a:moveTo>
                  <a:pt x="0" y="23133"/>
                </a:moveTo>
                <a:cubicBezTo>
                  <a:pt x="2435" y="19075"/>
                  <a:pt x="4127" y="14465"/>
                  <a:pt x="7305" y="10958"/>
                </a:cubicBezTo>
                <a:cubicBezTo>
                  <a:pt x="13683" y="3921"/>
                  <a:pt x="24540" y="2832"/>
                  <a:pt x="33605" y="0"/>
                </a:cubicBezTo>
              </a:path>
            </a:pathLst>
          </a:custGeom>
          <a:noFill/>
          <a:ln w="38100" cap="flat" cmpd="sng">
            <a:solidFill>
              <a:srgbClr val="F1C232"/>
            </a:solidFill>
            <a:prstDash val="solid"/>
            <a:round/>
            <a:headEnd type="none" w="med" len="med"/>
            <a:tailEnd type="none" w="med" len="med"/>
          </a:ln>
        </p:spPr>
      </p:sp>
      <p:sp>
        <p:nvSpPr>
          <p:cNvPr id="127" name="Google Shape;127;p14"/>
          <p:cNvSpPr/>
          <p:nvPr/>
        </p:nvSpPr>
        <p:spPr>
          <a:xfrm>
            <a:off x="4413713" y="2966700"/>
            <a:ext cx="273963" cy="413975"/>
          </a:xfrm>
          <a:custGeom>
            <a:avLst/>
            <a:gdLst/>
            <a:ahLst/>
            <a:cxnLst/>
            <a:rect l="l" t="t" r="r" b="b"/>
            <a:pathLst>
              <a:path w="21917" h="33118" extrusionOk="0">
                <a:moveTo>
                  <a:pt x="0" y="0"/>
                </a:moveTo>
                <a:cubicBezTo>
                  <a:pt x="2209" y="4416"/>
                  <a:pt x="6510" y="8222"/>
                  <a:pt x="6819" y="13150"/>
                </a:cubicBezTo>
                <a:cubicBezTo>
                  <a:pt x="7095" y="17561"/>
                  <a:pt x="2967" y="22436"/>
                  <a:pt x="5114" y="26300"/>
                </a:cubicBezTo>
                <a:cubicBezTo>
                  <a:pt x="8050" y="31584"/>
                  <a:pt x="16181" y="31211"/>
                  <a:pt x="21917" y="33118"/>
                </a:cubicBezTo>
              </a:path>
            </a:pathLst>
          </a:custGeom>
          <a:noFill/>
          <a:ln w="38100" cap="flat" cmpd="sng">
            <a:solidFill>
              <a:srgbClr val="F1C232"/>
            </a:solidFill>
            <a:prstDash val="solid"/>
            <a:round/>
            <a:headEnd type="none" w="med" len="med"/>
            <a:tailEnd type="none" w="med" len="med"/>
          </a:ln>
        </p:spPr>
      </p:sp>
      <p:sp>
        <p:nvSpPr>
          <p:cNvPr id="128" name="Google Shape;128;p14"/>
          <p:cNvSpPr/>
          <p:nvPr/>
        </p:nvSpPr>
        <p:spPr>
          <a:xfrm>
            <a:off x="4363841" y="3099836"/>
            <a:ext cx="427325" cy="335625"/>
          </a:xfrm>
          <a:custGeom>
            <a:avLst/>
            <a:gdLst/>
            <a:ahLst/>
            <a:cxnLst/>
            <a:rect l="l" t="t" r="r" b="b"/>
            <a:pathLst>
              <a:path w="34186" h="26850" extrusionOk="0">
                <a:moveTo>
                  <a:pt x="34186" y="7369"/>
                </a:moveTo>
                <a:cubicBezTo>
                  <a:pt x="26609" y="7875"/>
                  <a:pt x="18987" y="9107"/>
                  <a:pt x="11783" y="11509"/>
                </a:cubicBezTo>
                <a:cubicBezTo>
                  <a:pt x="8958" y="12451"/>
                  <a:pt x="6190" y="14721"/>
                  <a:pt x="3260" y="14188"/>
                </a:cubicBezTo>
                <a:cubicBezTo>
                  <a:pt x="100" y="13613"/>
                  <a:pt x="-612" y="7915"/>
                  <a:pt x="581" y="4934"/>
                </a:cubicBezTo>
                <a:cubicBezTo>
                  <a:pt x="2999" y="-1107"/>
                  <a:pt x="16358" y="-1632"/>
                  <a:pt x="20062" y="3717"/>
                </a:cubicBezTo>
                <a:cubicBezTo>
                  <a:pt x="23302" y="8396"/>
                  <a:pt x="18572" y="15095"/>
                  <a:pt x="19088" y="20763"/>
                </a:cubicBezTo>
                <a:cubicBezTo>
                  <a:pt x="19370" y="23858"/>
                  <a:pt x="23042" y="26850"/>
                  <a:pt x="26150" y="26850"/>
                </a:cubicBezTo>
              </a:path>
            </a:pathLst>
          </a:custGeom>
          <a:noFill/>
          <a:ln w="38100" cap="flat" cmpd="sng">
            <a:solidFill>
              <a:srgbClr val="F1C232"/>
            </a:solidFill>
            <a:prstDash val="solid"/>
            <a:round/>
            <a:headEnd type="none" w="med" len="med"/>
            <a:tailEnd type="none" w="med" len="med"/>
          </a:ln>
        </p:spPr>
      </p:sp>
      <p:sp>
        <p:nvSpPr>
          <p:cNvPr id="129" name="Google Shape;129;p14"/>
          <p:cNvSpPr/>
          <p:nvPr/>
        </p:nvSpPr>
        <p:spPr>
          <a:xfrm>
            <a:off x="4365013" y="2942350"/>
            <a:ext cx="453675" cy="414725"/>
          </a:xfrm>
          <a:custGeom>
            <a:avLst/>
            <a:gdLst/>
            <a:ahLst/>
            <a:cxnLst/>
            <a:rect l="l" t="t" r="r" b="b"/>
            <a:pathLst>
              <a:path w="36294" h="33178" extrusionOk="0">
                <a:moveTo>
                  <a:pt x="16072" y="0"/>
                </a:moveTo>
                <a:cubicBezTo>
                  <a:pt x="18478" y="5415"/>
                  <a:pt x="25652" y="7856"/>
                  <a:pt x="27761" y="13393"/>
                </a:cubicBezTo>
                <a:cubicBezTo>
                  <a:pt x="29698" y="18478"/>
                  <a:pt x="25844" y="24459"/>
                  <a:pt x="27274" y="29709"/>
                </a:cubicBezTo>
                <a:cubicBezTo>
                  <a:pt x="27905" y="32023"/>
                  <a:pt x="32028" y="34192"/>
                  <a:pt x="33849" y="32631"/>
                </a:cubicBezTo>
                <a:cubicBezTo>
                  <a:pt x="36931" y="29989"/>
                  <a:pt x="37353" y="22015"/>
                  <a:pt x="33605" y="20455"/>
                </a:cubicBezTo>
                <a:cubicBezTo>
                  <a:pt x="25042" y="16890"/>
                  <a:pt x="14673" y="21082"/>
                  <a:pt x="6088" y="24595"/>
                </a:cubicBezTo>
                <a:cubicBezTo>
                  <a:pt x="3268" y="25749"/>
                  <a:pt x="2891" y="30452"/>
                  <a:pt x="0" y="31413"/>
                </a:cubicBezTo>
              </a:path>
            </a:pathLst>
          </a:custGeom>
          <a:noFill/>
          <a:ln w="38100" cap="flat" cmpd="sng">
            <a:solidFill>
              <a:srgbClr val="F1C232"/>
            </a:solidFill>
            <a:prstDash val="solid"/>
            <a:round/>
            <a:headEnd type="none" w="med" len="med"/>
            <a:tailEnd type="none" w="med" len="med"/>
          </a:ln>
        </p:spPr>
      </p:sp>
      <p:sp>
        <p:nvSpPr>
          <p:cNvPr id="130" name="Google Shape;130;p14"/>
          <p:cNvSpPr/>
          <p:nvPr/>
        </p:nvSpPr>
        <p:spPr>
          <a:xfrm>
            <a:off x="4340663" y="2972714"/>
            <a:ext cx="441350" cy="510425"/>
          </a:xfrm>
          <a:custGeom>
            <a:avLst/>
            <a:gdLst/>
            <a:ahLst/>
            <a:cxnLst/>
            <a:rect l="l" t="t" r="r" b="b"/>
            <a:pathLst>
              <a:path w="35308" h="40834" extrusionOk="0">
                <a:moveTo>
                  <a:pt x="0" y="21923"/>
                </a:moveTo>
                <a:cubicBezTo>
                  <a:pt x="4868" y="17746"/>
                  <a:pt x="16935" y="15448"/>
                  <a:pt x="19238" y="21435"/>
                </a:cubicBezTo>
                <a:cubicBezTo>
                  <a:pt x="21093" y="26256"/>
                  <a:pt x="14339" y="32377"/>
                  <a:pt x="17046" y="36777"/>
                </a:cubicBezTo>
                <a:cubicBezTo>
                  <a:pt x="19515" y="40790"/>
                  <a:pt x="26930" y="41953"/>
                  <a:pt x="30926" y="39456"/>
                </a:cubicBezTo>
                <a:cubicBezTo>
                  <a:pt x="37891" y="35105"/>
                  <a:pt x="35821" y="20062"/>
                  <a:pt x="29465" y="14861"/>
                </a:cubicBezTo>
                <a:cubicBezTo>
                  <a:pt x="22888" y="9480"/>
                  <a:pt x="7178" y="12602"/>
                  <a:pt x="6331" y="4146"/>
                </a:cubicBezTo>
                <a:cubicBezTo>
                  <a:pt x="5675" y="-2396"/>
                  <a:pt x="21107" y="-183"/>
                  <a:pt x="26056" y="4146"/>
                </a:cubicBezTo>
                <a:cubicBezTo>
                  <a:pt x="35321" y="12251"/>
                  <a:pt x="17470" y="28073"/>
                  <a:pt x="8766" y="36777"/>
                </a:cubicBezTo>
              </a:path>
            </a:pathLst>
          </a:custGeom>
          <a:noFill/>
          <a:ln w="38100" cap="flat" cmpd="sng">
            <a:solidFill>
              <a:srgbClr val="F1C232"/>
            </a:solidFill>
            <a:prstDash val="solid"/>
            <a:round/>
            <a:headEnd type="none" w="med" len="med"/>
            <a:tailEnd type="none" w="med" len="med"/>
          </a:ln>
        </p:spPr>
      </p:sp>
      <p:sp>
        <p:nvSpPr>
          <p:cNvPr id="131" name="Google Shape;131;p14"/>
          <p:cNvSpPr/>
          <p:nvPr/>
        </p:nvSpPr>
        <p:spPr>
          <a:xfrm>
            <a:off x="4336629" y="2954525"/>
            <a:ext cx="448450" cy="512988"/>
          </a:xfrm>
          <a:custGeom>
            <a:avLst/>
            <a:gdLst/>
            <a:ahLst/>
            <a:cxnLst/>
            <a:rect l="l" t="t" r="r" b="b"/>
            <a:pathLst>
              <a:path w="35876" h="41039" extrusionOk="0">
                <a:moveTo>
                  <a:pt x="35876" y="12176"/>
                </a:moveTo>
                <a:cubicBezTo>
                  <a:pt x="33278" y="13474"/>
                  <a:pt x="30137" y="14019"/>
                  <a:pt x="28084" y="16072"/>
                </a:cubicBezTo>
                <a:cubicBezTo>
                  <a:pt x="24741" y="19415"/>
                  <a:pt x="24638" y="25253"/>
                  <a:pt x="25161" y="29952"/>
                </a:cubicBezTo>
                <a:cubicBezTo>
                  <a:pt x="25573" y="33653"/>
                  <a:pt x="31860" y="39489"/>
                  <a:pt x="28327" y="40667"/>
                </a:cubicBezTo>
                <a:cubicBezTo>
                  <a:pt x="23195" y="42378"/>
                  <a:pt x="17049" y="37559"/>
                  <a:pt x="13960" y="33118"/>
                </a:cubicBezTo>
                <a:cubicBezTo>
                  <a:pt x="10617" y="28313"/>
                  <a:pt x="9699" y="20564"/>
                  <a:pt x="4219" y="18507"/>
                </a:cubicBezTo>
                <a:cubicBezTo>
                  <a:pt x="680" y="17179"/>
                  <a:pt x="-1376" y="26792"/>
                  <a:pt x="1297" y="29465"/>
                </a:cubicBezTo>
                <a:cubicBezTo>
                  <a:pt x="5492" y="33660"/>
                  <a:pt x="15463" y="29538"/>
                  <a:pt x="18343" y="24352"/>
                </a:cubicBezTo>
                <a:cubicBezTo>
                  <a:pt x="21498" y="18671"/>
                  <a:pt x="15329" y="10954"/>
                  <a:pt x="17612" y="4870"/>
                </a:cubicBezTo>
                <a:cubicBezTo>
                  <a:pt x="18786" y="1740"/>
                  <a:pt x="23036" y="0"/>
                  <a:pt x="26379" y="0"/>
                </a:cubicBezTo>
              </a:path>
            </a:pathLst>
          </a:custGeom>
          <a:noFill/>
          <a:ln w="38100" cap="flat" cmpd="sng">
            <a:solidFill>
              <a:srgbClr val="F1C232"/>
            </a:solidFill>
            <a:prstDash val="solid"/>
            <a:round/>
            <a:headEnd type="none" w="med" len="med"/>
            <a:tailEnd type="none" w="med" len="med"/>
          </a:ln>
        </p:spPr>
      </p:sp>
      <p:sp>
        <p:nvSpPr>
          <p:cNvPr id="132" name="Google Shape;132;p14"/>
          <p:cNvSpPr txBox="1"/>
          <p:nvPr/>
        </p:nvSpPr>
        <p:spPr>
          <a:xfrm>
            <a:off x="998413" y="1271225"/>
            <a:ext cx="770400" cy="323151"/>
          </a:xfrm>
          <a:prstGeom prst="rect">
            <a:avLst/>
          </a:prstGeom>
          <a:noFill/>
          <a:ln>
            <a:noFill/>
          </a:ln>
        </p:spPr>
        <p:txBody>
          <a:bodyPr spcFirstLastPara="1" wrap="square" lIns="45713" tIns="45713" rIns="45713" bIns="45713" anchor="t" anchorCtr="0">
            <a:spAutoFit/>
          </a:bodyPr>
          <a:lstStyle/>
          <a:p>
            <a:pPr algn="ctr"/>
            <a:r>
              <a:rPr lang="en" sz="1500">
                <a:solidFill>
                  <a:srgbClr val="FFFFFF"/>
                </a:solidFill>
              </a:rPr>
              <a:t>Thread</a:t>
            </a:r>
            <a:endParaRPr sz="1500">
              <a:solidFill>
                <a:srgbClr val="FFFFFF"/>
              </a:solidFill>
            </a:endParaRPr>
          </a:p>
        </p:txBody>
      </p:sp>
      <p:sp>
        <p:nvSpPr>
          <p:cNvPr id="133" name="Google Shape;133;p14"/>
          <p:cNvSpPr txBox="1"/>
          <p:nvPr/>
        </p:nvSpPr>
        <p:spPr>
          <a:xfrm>
            <a:off x="1476400" y="4783450"/>
            <a:ext cx="1086900" cy="553984"/>
          </a:xfrm>
          <a:prstGeom prst="rect">
            <a:avLst/>
          </a:prstGeom>
          <a:noFill/>
          <a:ln>
            <a:noFill/>
          </a:ln>
        </p:spPr>
        <p:txBody>
          <a:bodyPr spcFirstLastPara="1" wrap="square" lIns="45713" tIns="45713" rIns="45713" bIns="45713" anchor="t" anchorCtr="0">
            <a:spAutoFit/>
          </a:bodyPr>
          <a:lstStyle/>
          <a:p>
            <a:pPr algn="ctr"/>
            <a:r>
              <a:rPr lang="en" sz="1500">
                <a:solidFill>
                  <a:srgbClr val="FFFFFF"/>
                </a:solidFill>
              </a:rPr>
              <a:t>Mutex or semaphore</a:t>
            </a:r>
            <a:endParaRPr sz="1500">
              <a:solidFill>
                <a:srgbClr val="FFFFFF"/>
              </a:solidFill>
            </a:endParaRPr>
          </a:p>
        </p:txBody>
      </p:sp>
      <p:sp>
        <p:nvSpPr>
          <p:cNvPr id="134" name="Google Shape;134;p14"/>
          <p:cNvSpPr txBox="1"/>
          <p:nvPr/>
        </p:nvSpPr>
        <p:spPr>
          <a:xfrm>
            <a:off x="7202163" y="1749800"/>
            <a:ext cx="1086900" cy="553984"/>
          </a:xfrm>
          <a:prstGeom prst="rect">
            <a:avLst/>
          </a:prstGeom>
          <a:noFill/>
          <a:ln>
            <a:noFill/>
          </a:ln>
        </p:spPr>
        <p:txBody>
          <a:bodyPr spcFirstLastPara="1" wrap="square" lIns="45713" tIns="45713" rIns="45713" bIns="45713" anchor="t" anchorCtr="0">
            <a:spAutoFit/>
          </a:bodyPr>
          <a:lstStyle/>
          <a:p>
            <a:pPr algn="ctr"/>
            <a:r>
              <a:rPr lang="en" sz="1500">
                <a:solidFill>
                  <a:srgbClr val="FFFFFF"/>
                </a:solidFill>
              </a:rPr>
              <a:t>Shared resource</a:t>
            </a:r>
            <a:endParaRPr sz="1500">
              <a:solidFill>
                <a:srgbClr val="FFFFFF"/>
              </a:solidFill>
            </a:endParaRPr>
          </a:p>
        </p:txBody>
      </p:sp>
      <p:cxnSp>
        <p:nvCxnSpPr>
          <p:cNvPr id="135" name="Google Shape;135;p14"/>
          <p:cNvCxnSpPr>
            <a:stCxn id="132" idx="3"/>
          </p:cNvCxnSpPr>
          <p:nvPr/>
        </p:nvCxnSpPr>
        <p:spPr>
          <a:xfrm>
            <a:off x="1768813" y="1432801"/>
            <a:ext cx="1068150" cy="264649"/>
          </a:xfrm>
          <a:prstGeom prst="straightConnector1">
            <a:avLst/>
          </a:prstGeom>
          <a:noFill/>
          <a:ln w="38100" cap="flat" cmpd="sng">
            <a:solidFill>
              <a:srgbClr val="FFFFFF"/>
            </a:solidFill>
            <a:prstDash val="solid"/>
            <a:round/>
            <a:headEnd type="none" w="med" len="med"/>
            <a:tailEnd type="triangle" w="med" len="med"/>
          </a:ln>
        </p:spPr>
      </p:cxnSp>
      <p:cxnSp>
        <p:nvCxnSpPr>
          <p:cNvPr id="136" name="Google Shape;136;p14"/>
          <p:cNvCxnSpPr>
            <a:stCxn id="133" idx="3"/>
            <a:endCxn id="124" idx="2"/>
          </p:cNvCxnSpPr>
          <p:nvPr/>
        </p:nvCxnSpPr>
        <p:spPr>
          <a:xfrm flipV="1">
            <a:off x="2563300" y="4113304"/>
            <a:ext cx="1389044" cy="947138"/>
          </a:xfrm>
          <a:prstGeom prst="straightConnector1">
            <a:avLst/>
          </a:prstGeom>
          <a:noFill/>
          <a:ln w="38100" cap="flat" cmpd="sng">
            <a:solidFill>
              <a:srgbClr val="FFFFFF"/>
            </a:solidFill>
            <a:prstDash val="solid"/>
            <a:round/>
            <a:headEnd type="none" w="med" len="med"/>
            <a:tailEnd type="triangle" w="med" len="med"/>
          </a:ln>
        </p:spPr>
      </p:cxnSp>
      <p:cxnSp>
        <p:nvCxnSpPr>
          <p:cNvPr id="137" name="Google Shape;137;p14"/>
          <p:cNvCxnSpPr>
            <a:stCxn id="134" idx="1"/>
          </p:cNvCxnSpPr>
          <p:nvPr/>
        </p:nvCxnSpPr>
        <p:spPr>
          <a:xfrm flipH="1">
            <a:off x="4943313" y="2026792"/>
            <a:ext cx="2258850" cy="961258"/>
          </a:xfrm>
          <a:prstGeom prst="straightConnector1">
            <a:avLst/>
          </a:prstGeom>
          <a:noFill/>
          <a:ln w="38100" cap="flat" cmpd="sng">
            <a:solidFill>
              <a:srgbClr val="FFFFFF"/>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2"/>
                                        </p:tgtEl>
                                        <p:attrNameLst>
                                          <p:attrName>style.visibility</p:attrName>
                                        </p:attrNameLst>
                                      </p:cBhvr>
                                      <p:to>
                                        <p:strVal val="visible"/>
                                      </p:to>
                                    </p:set>
                                    <p:animEffect transition="in" filter="fade">
                                      <p:cBhvr>
                                        <p:cTn id="7" dur="1000"/>
                                        <p:tgtEl>
                                          <p:spTgt spid="132"/>
                                        </p:tgtEl>
                                      </p:cBhvr>
                                    </p:animEffect>
                                  </p:childTnLst>
                                </p:cTn>
                              </p:par>
                              <p:par>
                                <p:cTn id="8" presetID="10" presetClass="entr" presetSubtype="0" fill="hold" nodeType="withEffect">
                                  <p:stCondLst>
                                    <p:cond delay="0"/>
                                  </p:stCondLst>
                                  <p:childTnLst>
                                    <p:set>
                                      <p:cBhvr>
                                        <p:cTn id="9" dur="1" fill="hold">
                                          <p:stCondLst>
                                            <p:cond delay="0"/>
                                          </p:stCondLst>
                                        </p:cTn>
                                        <p:tgtEl>
                                          <p:spTgt spid="135"/>
                                        </p:tgtEl>
                                        <p:attrNameLst>
                                          <p:attrName>style.visibility</p:attrName>
                                        </p:attrNameLst>
                                      </p:cBhvr>
                                      <p:to>
                                        <p:strVal val="visible"/>
                                      </p:to>
                                    </p:set>
                                    <p:animEffect transition="in" filter="fade">
                                      <p:cBhvr>
                                        <p:cTn id="10" dur="1000"/>
                                        <p:tgtEl>
                                          <p:spTgt spid="13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3"/>
                                        </p:tgtEl>
                                        <p:attrNameLst>
                                          <p:attrName>style.visibility</p:attrName>
                                        </p:attrNameLst>
                                      </p:cBhvr>
                                      <p:to>
                                        <p:strVal val="visible"/>
                                      </p:to>
                                    </p:set>
                                    <p:animEffect transition="in" filter="fade">
                                      <p:cBhvr>
                                        <p:cTn id="15" dur="1000"/>
                                        <p:tgtEl>
                                          <p:spTgt spid="133"/>
                                        </p:tgtEl>
                                      </p:cBhvr>
                                    </p:animEffect>
                                  </p:childTnLst>
                                </p:cTn>
                              </p:par>
                              <p:par>
                                <p:cTn id="16" presetID="10" presetClass="entr" presetSubtype="0" fill="hold" nodeType="withEffect">
                                  <p:stCondLst>
                                    <p:cond delay="0"/>
                                  </p:stCondLst>
                                  <p:childTnLst>
                                    <p:set>
                                      <p:cBhvr>
                                        <p:cTn id="17" dur="1" fill="hold">
                                          <p:stCondLst>
                                            <p:cond delay="0"/>
                                          </p:stCondLst>
                                        </p:cTn>
                                        <p:tgtEl>
                                          <p:spTgt spid="136"/>
                                        </p:tgtEl>
                                        <p:attrNameLst>
                                          <p:attrName>style.visibility</p:attrName>
                                        </p:attrNameLst>
                                      </p:cBhvr>
                                      <p:to>
                                        <p:strVal val="visible"/>
                                      </p:to>
                                    </p:set>
                                    <p:animEffect transition="in" filter="fade">
                                      <p:cBhvr>
                                        <p:cTn id="18" dur="1000"/>
                                        <p:tgtEl>
                                          <p:spTgt spid="1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34"/>
                                        </p:tgtEl>
                                        <p:attrNameLst>
                                          <p:attrName>style.visibility</p:attrName>
                                        </p:attrNameLst>
                                      </p:cBhvr>
                                      <p:to>
                                        <p:strVal val="visible"/>
                                      </p:to>
                                    </p:set>
                                    <p:animEffect transition="in" filter="fade">
                                      <p:cBhvr>
                                        <p:cTn id="23" dur="1000"/>
                                        <p:tgtEl>
                                          <p:spTgt spid="134"/>
                                        </p:tgtEl>
                                      </p:cBhvr>
                                    </p:animEffect>
                                  </p:childTnLst>
                                </p:cTn>
                              </p:par>
                              <p:par>
                                <p:cTn id="24" presetID="10" presetClass="entr" presetSubtype="0" fill="hold" nodeType="withEffect">
                                  <p:stCondLst>
                                    <p:cond delay="0"/>
                                  </p:stCondLst>
                                  <p:childTnLst>
                                    <p:set>
                                      <p:cBhvr>
                                        <p:cTn id="25" dur="1" fill="hold">
                                          <p:stCondLst>
                                            <p:cond delay="0"/>
                                          </p:stCondLst>
                                        </p:cTn>
                                        <p:tgtEl>
                                          <p:spTgt spid="137"/>
                                        </p:tgtEl>
                                        <p:attrNameLst>
                                          <p:attrName>style.visibility</p:attrName>
                                        </p:attrNameLst>
                                      </p:cBhvr>
                                      <p:to>
                                        <p:strVal val="visible"/>
                                      </p:to>
                                    </p:set>
                                    <p:animEffect transition="in" filter="fade">
                                      <p:cBhvr>
                                        <p:cTn id="26" dur="1000"/>
                                        <p:tgtEl>
                                          <p:spTgt spid="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5"/>
          <p:cNvSpPr/>
          <p:nvPr/>
        </p:nvSpPr>
        <p:spPr>
          <a:xfrm>
            <a:off x="3389862" y="2035757"/>
            <a:ext cx="2364300" cy="2364300"/>
          </a:xfrm>
          <a:prstGeom prst="ellipse">
            <a:avLst/>
          </a:prstGeom>
          <a:solidFill>
            <a:srgbClr val="783F04"/>
          </a:solidFill>
          <a:ln>
            <a:noFill/>
          </a:ln>
        </p:spPr>
        <p:txBody>
          <a:bodyPr spcFirstLastPara="1" wrap="square" lIns="45713" tIns="45713" rIns="45713" bIns="45713" anchor="ctr" anchorCtr="0">
            <a:noAutofit/>
          </a:bodyPr>
          <a:lstStyle/>
          <a:p>
            <a:endParaRPr sz="900"/>
          </a:p>
        </p:txBody>
      </p:sp>
      <p:pic>
        <p:nvPicPr>
          <p:cNvPr id="143" name="Google Shape;143;p15"/>
          <p:cNvPicPr preferRelativeResize="0"/>
          <p:nvPr/>
        </p:nvPicPr>
        <p:blipFill>
          <a:blip r:embed="rId3">
            <a:alphaModFix/>
          </a:blip>
          <a:stretch>
            <a:fillRect/>
          </a:stretch>
        </p:blipFill>
        <p:spPr>
          <a:xfrm>
            <a:off x="5100038" y="1243400"/>
            <a:ext cx="1219200" cy="1219200"/>
          </a:xfrm>
          <a:prstGeom prst="rect">
            <a:avLst/>
          </a:prstGeom>
          <a:noFill/>
          <a:ln>
            <a:noFill/>
          </a:ln>
        </p:spPr>
      </p:pic>
      <p:pic>
        <p:nvPicPr>
          <p:cNvPr id="144" name="Google Shape;144;p15"/>
          <p:cNvPicPr preferRelativeResize="0"/>
          <p:nvPr/>
        </p:nvPicPr>
        <p:blipFill>
          <a:blip r:embed="rId4">
            <a:alphaModFix/>
          </a:blip>
          <a:stretch>
            <a:fillRect/>
          </a:stretch>
        </p:blipFill>
        <p:spPr>
          <a:xfrm>
            <a:off x="3962394" y="4395400"/>
            <a:ext cx="1219200" cy="1219200"/>
          </a:xfrm>
          <a:prstGeom prst="rect">
            <a:avLst/>
          </a:prstGeom>
          <a:noFill/>
          <a:ln>
            <a:noFill/>
          </a:ln>
        </p:spPr>
      </p:pic>
      <p:pic>
        <p:nvPicPr>
          <p:cNvPr id="145" name="Google Shape;145;p15"/>
          <p:cNvPicPr preferRelativeResize="0"/>
          <p:nvPr/>
        </p:nvPicPr>
        <p:blipFill>
          <a:blip r:embed="rId5">
            <a:alphaModFix/>
          </a:blip>
          <a:stretch>
            <a:fillRect/>
          </a:stretch>
        </p:blipFill>
        <p:spPr>
          <a:xfrm>
            <a:off x="2292325" y="3217875"/>
            <a:ext cx="1219200" cy="1219200"/>
          </a:xfrm>
          <a:prstGeom prst="rect">
            <a:avLst/>
          </a:prstGeom>
          <a:noFill/>
          <a:ln>
            <a:noFill/>
          </a:ln>
        </p:spPr>
      </p:pic>
      <p:pic>
        <p:nvPicPr>
          <p:cNvPr id="146" name="Google Shape;146;p15"/>
          <p:cNvPicPr preferRelativeResize="0"/>
          <p:nvPr/>
        </p:nvPicPr>
        <p:blipFill>
          <a:blip r:embed="rId6">
            <a:alphaModFix/>
          </a:blip>
          <a:stretch>
            <a:fillRect/>
          </a:stretch>
        </p:blipFill>
        <p:spPr>
          <a:xfrm>
            <a:off x="5632475" y="3217875"/>
            <a:ext cx="1219200" cy="1219200"/>
          </a:xfrm>
          <a:prstGeom prst="rect">
            <a:avLst/>
          </a:prstGeom>
          <a:noFill/>
          <a:ln>
            <a:noFill/>
          </a:ln>
        </p:spPr>
      </p:pic>
      <p:pic>
        <p:nvPicPr>
          <p:cNvPr id="147" name="Google Shape;147;p15"/>
          <p:cNvPicPr preferRelativeResize="0"/>
          <p:nvPr/>
        </p:nvPicPr>
        <p:blipFill>
          <a:blip r:embed="rId7">
            <a:alphaModFix/>
          </a:blip>
          <a:stretch>
            <a:fillRect/>
          </a:stretch>
        </p:blipFill>
        <p:spPr>
          <a:xfrm>
            <a:off x="2824757" y="1243400"/>
            <a:ext cx="1219200" cy="1219200"/>
          </a:xfrm>
          <a:prstGeom prst="rect">
            <a:avLst/>
          </a:prstGeom>
          <a:noFill/>
          <a:ln>
            <a:noFill/>
          </a:ln>
        </p:spPr>
      </p:pic>
      <p:grpSp>
        <p:nvGrpSpPr>
          <p:cNvPr id="148" name="Google Shape;148;p15"/>
          <p:cNvGrpSpPr/>
          <p:nvPr/>
        </p:nvGrpSpPr>
        <p:grpSpPr>
          <a:xfrm>
            <a:off x="4157195" y="2803111"/>
            <a:ext cx="829600" cy="829600"/>
            <a:chOff x="7509900" y="2868375"/>
            <a:chExt cx="903900" cy="903900"/>
          </a:xfrm>
        </p:grpSpPr>
        <p:sp>
          <p:nvSpPr>
            <p:cNvPr id="149" name="Google Shape;149;p15"/>
            <p:cNvSpPr/>
            <p:nvPr/>
          </p:nvSpPr>
          <p:spPr>
            <a:xfrm>
              <a:off x="7509900" y="2868375"/>
              <a:ext cx="903900" cy="903900"/>
            </a:xfrm>
            <a:prstGeom prst="ellipse">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150" name="Google Shape;150;p15"/>
            <p:cNvSpPr/>
            <p:nvPr/>
          </p:nvSpPr>
          <p:spPr>
            <a:xfrm>
              <a:off x="7726325" y="3187287"/>
              <a:ext cx="281375" cy="421875"/>
            </a:xfrm>
            <a:custGeom>
              <a:avLst/>
              <a:gdLst/>
              <a:ahLst/>
              <a:cxnLst/>
              <a:rect l="l" t="t" r="r" b="b"/>
              <a:pathLst>
                <a:path w="11255" h="16875" extrusionOk="0">
                  <a:moveTo>
                    <a:pt x="0" y="1985"/>
                  </a:moveTo>
                  <a:cubicBezTo>
                    <a:pt x="3409" y="525"/>
                    <a:pt x="10171" y="-1599"/>
                    <a:pt x="11126" y="1985"/>
                  </a:cubicBezTo>
                  <a:cubicBezTo>
                    <a:pt x="11977" y="5177"/>
                    <a:pt x="7498" y="7599"/>
                    <a:pt x="5042" y="9808"/>
                  </a:cubicBezTo>
                  <a:cubicBezTo>
                    <a:pt x="3517" y="11179"/>
                    <a:pt x="7922" y="12750"/>
                    <a:pt x="9562" y="13980"/>
                  </a:cubicBezTo>
                  <a:cubicBezTo>
                    <a:pt x="10372" y="14587"/>
                    <a:pt x="11636" y="16225"/>
                    <a:pt x="10778" y="16762"/>
                  </a:cubicBezTo>
                  <a:cubicBezTo>
                    <a:pt x="9613" y="17490"/>
                    <a:pt x="7707" y="13849"/>
                    <a:pt x="8866" y="13111"/>
                  </a:cubicBezTo>
                </a:path>
              </a:pathLst>
            </a:custGeom>
            <a:noFill/>
            <a:ln w="38100" cap="flat" cmpd="sng">
              <a:solidFill>
                <a:srgbClr val="F1C232"/>
              </a:solidFill>
              <a:prstDash val="solid"/>
              <a:round/>
              <a:headEnd type="none" w="med" len="med"/>
              <a:tailEnd type="none" w="med" len="med"/>
            </a:ln>
          </p:spPr>
        </p:sp>
        <p:sp>
          <p:nvSpPr>
            <p:cNvPr id="151" name="Google Shape;151;p15"/>
            <p:cNvSpPr/>
            <p:nvPr/>
          </p:nvSpPr>
          <p:spPr>
            <a:xfrm>
              <a:off x="7829049" y="3032650"/>
              <a:ext cx="272850" cy="456325"/>
            </a:xfrm>
            <a:custGeom>
              <a:avLst/>
              <a:gdLst/>
              <a:ahLst/>
              <a:cxnLst/>
              <a:rect l="l" t="t" r="r" b="b"/>
              <a:pathLst>
                <a:path w="10914" h="18253" extrusionOk="0">
                  <a:moveTo>
                    <a:pt x="4236" y="0"/>
                  </a:moveTo>
                  <a:cubicBezTo>
                    <a:pt x="1862" y="3263"/>
                    <a:pt x="-1710" y="8598"/>
                    <a:pt x="933" y="11647"/>
                  </a:cubicBezTo>
                  <a:cubicBezTo>
                    <a:pt x="3470" y="14574"/>
                    <a:pt x="12913" y="15228"/>
                    <a:pt x="10494" y="18253"/>
                  </a:cubicBezTo>
                </a:path>
              </a:pathLst>
            </a:custGeom>
            <a:noFill/>
            <a:ln w="38100" cap="flat" cmpd="sng">
              <a:solidFill>
                <a:srgbClr val="F1C232"/>
              </a:solidFill>
              <a:prstDash val="solid"/>
              <a:round/>
              <a:headEnd type="none" w="med" len="med"/>
              <a:tailEnd type="none" w="med" len="med"/>
            </a:ln>
          </p:spPr>
        </p:sp>
        <p:sp>
          <p:nvSpPr>
            <p:cNvPr id="152" name="Google Shape;152;p15"/>
            <p:cNvSpPr/>
            <p:nvPr/>
          </p:nvSpPr>
          <p:spPr>
            <a:xfrm>
              <a:off x="7938508" y="3145650"/>
              <a:ext cx="222425" cy="356375"/>
            </a:xfrm>
            <a:custGeom>
              <a:avLst/>
              <a:gdLst/>
              <a:ahLst/>
              <a:cxnLst/>
              <a:rect l="l" t="t" r="r" b="b"/>
              <a:pathLst>
                <a:path w="8897" h="14255" extrusionOk="0">
                  <a:moveTo>
                    <a:pt x="8897" y="0"/>
                  </a:moveTo>
                  <a:cubicBezTo>
                    <a:pt x="5700" y="999"/>
                    <a:pt x="1621" y="2006"/>
                    <a:pt x="205" y="5041"/>
                  </a:cubicBezTo>
                  <a:cubicBezTo>
                    <a:pt x="-1089" y="7814"/>
                    <a:pt x="5221" y="8570"/>
                    <a:pt x="7507" y="10604"/>
                  </a:cubicBezTo>
                  <a:cubicBezTo>
                    <a:pt x="8600" y="11576"/>
                    <a:pt x="6516" y="14014"/>
                    <a:pt x="5073" y="14255"/>
                  </a:cubicBezTo>
                </a:path>
              </a:pathLst>
            </a:custGeom>
            <a:noFill/>
            <a:ln w="38100" cap="flat" cmpd="sng">
              <a:solidFill>
                <a:srgbClr val="F1C232"/>
              </a:solidFill>
              <a:prstDash val="solid"/>
              <a:round/>
              <a:headEnd type="none" w="med" len="med"/>
              <a:tailEnd type="none" w="med" len="med"/>
            </a:ln>
          </p:spPr>
        </p:sp>
        <p:sp>
          <p:nvSpPr>
            <p:cNvPr id="153" name="Google Shape;153;p15"/>
            <p:cNvSpPr/>
            <p:nvPr/>
          </p:nvSpPr>
          <p:spPr>
            <a:xfrm>
              <a:off x="7743725" y="3093500"/>
              <a:ext cx="518875" cy="321600"/>
            </a:xfrm>
            <a:custGeom>
              <a:avLst/>
              <a:gdLst/>
              <a:ahLst/>
              <a:cxnLst/>
              <a:rect l="l" t="t" r="r" b="b"/>
              <a:pathLst>
                <a:path w="20755" h="12864" extrusionOk="0">
                  <a:moveTo>
                    <a:pt x="0" y="0"/>
                  </a:moveTo>
                  <a:cubicBezTo>
                    <a:pt x="5394" y="897"/>
                    <a:pt x="12760" y="-760"/>
                    <a:pt x="15993" y="3650"/>
                  </a:cubicBezTo>
                  <a:cubicBezTo>
                    <a:pt x="17475" y="5672"/>
                    <a:pt x="22372" y="8719"/>
                    <a:pt x="20165" y="9908"/>
                  </a:cubicBezTo>
                  <a:cubicBezTo>
                    <a:pt x="14587" y="12912"/>
                    <a:pt x="1390" y="6529"/>
                    <a:pt x="1390" y="12864"/>
                  </a:cubicBezTo>
                </a:path>
              </a:pathLst>
            </a:custGeom>
            <a:noFill/>
            <a:ln w="38100" cap="flat" cmpd="sng">
              <a:solidFill>
                <a:srgbClr val="F1C232"/>
              </a:solidFill>
              <a:prstDash val="solid"/>
              <a:round/>
              <a:headEnd type="none" w="med" len="med"/>
              <a:tailEnd type="none" w="med" len="med"/>
            </a:ln>
          </p:spPr>
        </p:sp>
        <p:sp>
          <p:nvSpPr>
            <p:cNvPr id="154" name="Google Shape;154;p15"/>
            <p:cNvSpPr/>
            <p:nvPr/>
          </p:nvSpPr>
          <p:spPr>
            <a:xfrm>
              <a:off x="7662050" y="3010925"/>
              <a:ext cx="411975" cy="478050"/>
            </a:xfrm>
            <a:custGeom>
              <a:avLst/>
              <a:gdLst/>
              <a:ahLst/>
              <a:cxnLst/>
              <a:rect l="l" t="t" r="r" b="b"/>
              <a:pathLst>
                <a:path w="16479" h="19122" extrusionOk="0">
                  <a:moveTo>
                    <a:pt x="16479" y="0"/>
                  </a:moveTo>
                  <a:cubicBezTo>
                    <a:pt x="9984" y="1946"/>
                    <a:pt x="3470" y="6343"/>
                    <a:pt x="311" y="12342"/>
                  </a:cubicBezTo>
                  <a:cubicBezTo>
                    <a:pt x="-872" y="14589"/>
                    <a:pt x="1757" y="17597"/>
                    <a:pt x="3788" y="19122"/>
                  </a:cubicBezTo>
                </a:path>
              </a:pathLst>
            </a:custGeom>
            <a:noFill/>
            <a:ln w="38100" cap="flat" cmpd="sng">
              <a:solidFill>
                <a:srgbClr val="F1C232"/>
              </a:solidFill>
              <a:prstDash val="solid"/>
              <a:round/>
              <a:headEnd type="none" w="med" len="med"/>
              <a:tailEnd type="none" w="med" len="med"/>
            </a:ln>
          </p:spPr>
        </p:sp>
        <p:sp>
          <p:nvSpPr>
            <p:cNvPr id="155" name="Google Shape;155;p15"/>
            <p:cNvSpPr/>
            <p:nvPr/>
          </p:nvSpPr>
          <p:spPr>
            <a:xfrm>
              <a:off x="7817600" y="3015250"/>
              <a:ext cx="398400" cy="587225"/>
            </a:xfrm>
            <a:custGeom>
              <a:avLst/>
              <a:gdLst/>
              <a:ahLst/>
              <a:cxnLst/>
              <a:rect l="l" t="t" r="r" b="b"/>
              <a:pathLst>
                <a:path w="15936" h="23489" extrusionOk="0">
                  <a:moveTo>
                    <a:pt x="0" y="0"/>
                  </a:moveTo>
                  <a:cubicBezTo>
                    <a:pt x="0" y="8167"/>
                    <a:pt x="2230" y="20746"/>
                    <a:pt x="10257" y="22252"/>
                  </a:cubicBezTo>
                  <a:cubicBezTo>
                    <a:pt x="12203" y="22617"/>
                    <a:pt x="15960" y="18191"/>
                    <a:pt x="15819" y="20166"/>
                  </a:cubicBezTo>
                  <a:cubicBezTo>
                    <a:pt x="15703" y="21786"/>
                    <a:pt x="15565" y="21792"/>
                    <a:pt x="14950" y="23295"/>
                  </a:cubicBezTo>
                  <a:cubicBezTo>
                    <a:pt x="14596" y="24160"/>
                    <a:pt x="13200" y="21724"/>
                    <a:pt x="13559" y="20861"/>
                  </a:cubicBezTo>
                  <a:cubicBezTo>
                    <a:pt x="14532" y="18524"/>
                    <a:pt x="16694" y="15864"/>
                    <a:pt x="15646" y="13560"/>
                  </a:cubicBezTo>
                  <a:cubicBezTo>
                    <a:pt x="15040" y="12229"/>
                    <a:pt x="13029" y="12161"/>
                    <a:pt x="11995" y="11126"/>
                  </a:cubicBezTo>
                </a:path>
              </a:pathLst>
            </a:custGeom>
            <a:noFill/>
            <a:ln w="38100" cap="flat" cmpd="sng">
              <a:solidFill>
                <a:srgbClr val="F1C232"/>
              </a:solidFill>
              <a:prstDash val="solid"/>
              <a:round/>
              <a:headEnd type="none" w="med" len="med"/>
              <a:tailEnd type="none" w="med" len="med"/>
            </a:ln>
          </p:spPr>
        </p:sp>
        <p:sp>
          <p:nvSpPr>
            <p:cNvPr id="156" name="Google Shape;156;p15"/>
            <p:cNvSpPr/>
            <p:nvPr/>
          </p:nvSpPr>
          <p:spPr>
            <a:xfrm>
              <a:off x="7643750" y="3180400"/>
              <a:ext cx="425925" cy="446300"/>
            </a:xfrm>
            <a:custGeom>
              <a:avLst/>
              <a:gdLst/>
              <a:ahLst/>
              <a:cxnLst/>
              <a:rect l="l" t="t" r="r" b="b"/>
              <a:pathLst>
                <a:path w="17037" h="17852" extrusionOk="0">
                  <a:moveTo>
                    <a:pt x="0" y="0"/>
                  </a:moveTo>
                  <a:cubicBezTo>
                    <a:pt x="4491" y="817"/>
                    <a:pt x="6830" y="6955"/>
                    <a:pt x="7475" y="11474"/>
                  </a:cubicBezTo>
                  <a:cubicBezTo>
                    <a:pt x="7713" y="13138"/>
                    <a:pt x="6322" y="15483"/>
                    <a:pt x="7649" y="16515"/>
                  </a:cubicBezTo>
                  <a:cubicBezTo>
                    <a:pt x="10121" y="18437"/>
                    <a:pt x="14632" y="18173"/>
                    <a:pt x="17037" y="16167"/>
                  </a:cubicBezTo>
                </a:path>
              </a:pathLst>
            </a:custGeom>
            <a:noFill/>
            <a:ln w="38100" cap="flat" cmpd="sng">
              <a:solidFill>
                <a:srgbClr val="F1C232"/>
              </a:solidFill>
              <a:prstDash val="solid"/>
              <a:round/>
              <a:headEnd type="none" w="med" len="med"/>
              <a:tailEnd type="none" w="med" len="med"/>
            </a:ln>
          </p:spPr>
        </p:sp>
        <p:sp>
          <p:nvSpPr>
            <p:cNvPr id="157" name="Google Shape;157;p15"/>
            <p:cNvSpPr/>
            <p:nvPr/>
          </p:nvSpPr>
          <p:spPr>
            <a:xfrm>
              <a:off x="7836249" y="3076100"/>
              <a:ext cx="320325" cy="456325"/>
            </a:xfrm>
            <a:custGeom>
              <a:avLst/>
              <a:gdLst/>
              <a:ahLst/>
              <a:cxnLst/>
              <a:rect l="l" t="t" r="r" b="b"/>
              <a:pathLst>
                <a:path w="12813" h="18253" extrusionOk="0">
                  <a:moveTo>
                    <a:pt x="12813" y="0"/>
                  </a:moveTo>
                  <a:cubicBezTo>
                    <a:pt x="7242" y="2181"/>
                    <a:pt x="-861" y="6790"/>
                    <a:pt x="123" y="12691"/>
                  </a:cubicBezTo>
                  <a:cubicBezTo>
                    <a:pt x="746" y="16427"/>
                    <a:pt x="8084" y="15004"/>
                    <a:pt x="10032" y="18253"/>
                  </a:cubicBezTo>
                </a:path>
              </a:pathLst>
            </a:custGeom>
            <a:noFill/>
            <a:ln w="38100" cap="flat" cmpd="sng">
              <a:solidFill>
                <a:srgbClr val="F1C232"/>
              </a:solidFill>
              <a:prstDash val="solid"/>
              <a:round/>
              <a:headEnd type="none" w="med" len="med"/>
              <a:tailEnd type="none" w="med" len="med"/>
            </a:ln>
          </p:spPr>
        </p:sp>
        <p:sp>
          <p:nvSpPr>
            <p:cNvPr id="158" name="Google Shape;158;p15"/>
            <p:cNvSpPr/>
            <p:nvPr/>
          </p:nvSpPr>
          <p:spPr>
            <a:xfrm>
              <a:off x="7700250" y="3132600"/>
              <a:ext cx="429925" cy="169500"/>
            </a:xfrm>
            <a:custGeom>
              <a:avLst/>
              <a:gdLst/>
              <a:ahLst/>
              <a:cxnLst/>
              <a:rect l="l" t="t" r="r" b="b"/>
              <a:pathLst>
                <a:path w="17197" h="6780" extrusionOk="0">
                  <a:moveTo>
                    <a:pt x="0" y="0"/>
                  </a:moveTo>
                  <a:cubicBezTo>
                    <a:pt x="3914" y="4695"/>
                    <a:pt x="10925" y="6780"/>
                    <a:pt x="17037" y="6780"/>
                  </a:cubicBezTo>
                  <a:cubicBezTo>
                    <a:pt x="17504" y="6780"/>
                    <a:pt x="16799" y="5655"/>
                    <a:pt x="16341" y="5563"/>
                  </a:cubicBezTo>
                </a:path>
              </a:pathLst>
            </a:custGeom>
            <a:noFill/>
            <a:ln w="38100" cap="flat" cmpd="sng">
              <a:solidFill>
                <a:srgbClr val="F1C232"/>
              </a:solidFill>
              <a:prstDash val="solid"/>
              <a:round/>
              <a:headEnd type="none" w="med" len="med"/>
              <a:tailEnd type="none" w="med" len="med"/>
            </a:ln>
          </p:spPr>
        </p:sp>
        <p:sp>
          <p:nvSpPr>
            <p:cNvPr id="159" name="Google Shape;159;p15"/>
            <p:cNvSpPr/>
            <p:nvPr/>
          </p:nvSpPr>
          <p:spPr>
            <a:xfrm>
              <a:off x="7710998" y="3098181"/>
              <a:ext cx="558575" cy="472725"/>
            </a:xfrm>
            <a:custGeom>
              <a:avLst/>
              <a:gdLst/>
              <a:ahLst/>
              <a:cxnLst/>
              <a:rect l="l" t="t" r="r" b="b"/>
              <a:pathLst>
                <a:path w="22343" h="18909" extrusionOk="0">
                  <a:moveTo>
                    <a:pt x="22343" y="4332"/>
                  </a:moveTo>
                  <a:cubicBezTo>
                    <a:pt x="16437" y="38"/>
                    <a:pt x="3704" y="-2547"/>
                    <a:pt x="439" y="3985"/>
                  </a:cubicBezTo>
                  <a:cubicBezTo>
                    <a:pt x="-1508" y="7881"/>
                    <a:pt x="3832" y="12696"/>
                    <a:pt x="7567" y="14937"/>
                  </a:cubicBezTo>
                  <a:cubicBezTo>
                    <a:pt x="9340" y="16001"/>
                    <a:pt x="12081" y="14808"/>
                    <a:pt x="13651" y="16154"/>
                  </a:cubicBezTo>
                  <a:cubicBezTo>
                    <a:pt x="15785" y="17983"/>
                    <a:pt x="7730" y="19926"/>
                    <a:pt x="5481" y="18240"/>
                  </a:cubicBezTo>
                </a:path>
              </a:pathLst>
            </a:custGeom>
            <a:noFill/>
            <a:ln w="38100" cap="flat" cmpd="sng">
              <a:solidFill>
                <a:srgbClr val="F1C232"/>
              </a:solidFill>
              <a:prstDash val="solid"/>
              <a:round/>
              <a:headEnd type="none" w="med" len="med"/>
              <a:tailEnd type="none" w="med" len="med"/>
            </a:ln>
          </p:spPr>
        </p:sp>
        <p:sp>
          <p:nvSpPr>
            <p:cNvPr id="160" name="Google Shape;160;p15"/>
            <p:cNvSpPr/>
            <p:nvPr/>
          </p:nvSpPr>
          <p:spPr>
            <a:xfrm>
              <a:off x="7685501" y="3079570"/>
              <a:ext cx="584075" cy="361600"/>
            </a:xfrm>
            <a:custGeom>
              <a:avLst/>
              <a:gdLst/>
              <a:ahLst/>
              <a:cxnLst/>
              <a:rect l="l" t="t" r="r" b="b"/>
              <a:pathLst>
                <a:path w="23363" h="14464" extrusionOk="0">
                  <a:moveTo>
                    <a:pt x="23363" y="14464"/>
                  </a:moveTo>
                  <a:cubicBezTo>
                    <a:pt x="21432" y="9632"/>
                    <a:pt x="15255" y="7928"/>
                    <a:pt x="11021" y="4903"/>
                  </a:cubicBezTo>
                  <a:cubicBezTo>
                    <a:pt x="8043" y="2775"/>
                    <a:pt x="3984" y="-1473"/>
                    <a:pt x="938" y="557"/>
                  </a:cubicBezTo>
                  <a:cubicBezTo>
                    <a:pt x="-2526" y="2866"/>
                    <a:pt x="4896" y="8744"/>
                    <a:pt x="8761" y="10292"/>
                  </a:cubicBezTo>
                </a:path>
              </a:pathLst>
            </a:custGeom>
            <a:noFill/>
            <a:ln w="38100" cap="flat" cmpd="sng">
              <a:solidFill>
                <a:srgbClr val="F1C232"/>
              </a:solidFill>
              <a:prstDash val="solid"/>
              <a:round/>
              <a:headEnd type="none" w="med" len="med"/>
              <a:tailEnd type="none" w="med" len="med"/>
            </a:ln>
          </p:spPr>
        </p:sp>
        <p:sp>
          <p:nvSpPr>
            <p:cNvPr id="161" name="Google Shape;161;p15"/>
            <p:cNvSpPr/>
            <p:nvPr/>
          </p:nvSpPr>
          <p:spPr>
            <a:xfrm>
              <a:off x="7744259" y="3028300"/>
              <a:ext cx="368875" cy="491100"/>
            </a:xfrm>
            <a:custGeom>
              <a:avLst/>
              <a:gdLst/>
              <a:ahLst/>
              <a:cxnLst/>
              <a:rect l="l" t="t" r="r" b="b"/>
              <a:pathLst>
                <a:path w="14755" h="19644" extrusionOk="0">
                  <a:moveTo>
                    <a:pt x="14755" y="0"/>
                  </a:moveTo>
                  <a:cubicBezTo>
                    <a:pt x="14495" y="609"/>
                    <a:pt x="14636" y="691"/>
                    <a:pt x="14234" y="1217"/>
                  </a:cubicBezTo>
                  <a:cubicBezTo>
                    <a:pt x="10836" y="5660"/>
                    <a:pt x="3616" y="6081"/>
                    <a:pt x="326" y="10604"/>
                  </a:cubicBezTo>
                  <a:cubicBezTo>
                    <a:pt x="-1501" y="13116"/>
                    <a:pt x="5071" y="17780"/>
                    <a:pt x="2586" y="19644"/>
                  </a:cubicBezTo>
                </a:path>
              </a:pathLst>
            </a:custGeom>
            <a:noFill/>
            <a:ln w="38100" cap="flat" cmpd="sng">
              <a:solidFill>
                <a:srgbClr val="F1C232"/>
              </a:solidFill>
              <a:prstDash val="solid"/>
              <a:round/>
              <a:headEnd type="none" w="med" len="med"/>
              <a:tailEnd type="none" w="med" len="med"/>
            </a:ln>
          </p:spPr>
        </p:sp>
        <p:sp>
          <p:nvSpPr>
            <p:cNvPr id="162" name="Google Shape;162;p15"/>
            <p:cNvSpPr/>
            <p:nvPr/>
          </p:nvSpPr>
          <p:spPr>
            <a:xfrm>
              <a:off x="7765450" y="3145650"/>
              <a:ext cx="482400" cy="338975"/>
            </a:xfrm>
            <a:custGeom>
              <a:avLst/>
              <a:gdLst/>
              <a:ahLst/>
              <a:cxnLst/>
              <a:rect l="l" t="t" r="r" b="b"/>
              <a:pathLst>
                <a:path w="19296" h="13559" extrusionOk="0">
                  <a:moveTo>
                    <a:pt x="19296" y="13559"/>
                  </a:moveTo>
                  <a:cubicBezTo>
                    <a:pt x="13760" y="11712"/>
                    <a:pt x="8516" y="8736"/>
                    <a:pt x="3998" y="5041"/>
                  </a:cubicBezTo>
                  <a:cubicBezTo>
                    <a:pt x="2338" y="3683"/>
                    <a:pt x="2116" y="351"/>
                    <a:pt x="0" y="0"/>
                  </a:cubicBezTo>
                </a:path>
              </a:pathLst>
            </a:custGeom>
            <a:noFill/>
            <a:ln w="38100" cap="flat" cmpd="sng">
              <a:solidFill>
                <a:srgbClr val="F1C232"/>
              </a:solidFill>
              <a:prstDash val="solid"/>
              <a:round/>
              <a:headEnd type="none" w="med" len="med"/>
              <a:tailEnd type="none" w="med" len="med"/>
            </a:ln>
          </p:spPr>
        </p:sp>
        <p:sp>
          <p:nvSpPr>
            <p:cNvPr id="163" name="Google Shape;163;p15"/>
            <p:cNvSpPr/>
            <p:nvPr/>
          </p:nvSpPr>
          <p:spPr>
            <a:xfrm>
              <a:off x="7665500" y="3269759"/>
              <a:ext cx="499775" cy="249650"/>
            </a:xfrm>
            <a:custGeom>
              <a:avLst/>
              <a:gdLst/>
              <a:ahLst/>
              <a:cxnLst/>
              <a:rect l="l" t="t" r="r" b="b"/>
              <a:pathLst>
                <a:path w="19991" h="9986" extrusionOk="0">
                  <a:moveTo>
                    <a:pt x="0" y="9986"/>
                  </a:moveTo>
                  <a:cubicBezTo>
                    <a:pt x="3478" y="7899"/>
                    <a:pt x="5064" y="3283"/>
                    <a:pt x="8692" y="1468"/>
                  </a:cubicBezTo>
                  <a:cubicBezTo>
                    <a:pt x="12086" y="-230"/>
                    <a:pt x="16196" y="77"/>
                    <a:pt x="19991" y="77"/>
                  </a:cubicBezTo>
                </a:path>
              </a:pathLst>
            </a:custGeom>
            <a:noFill/>
            <a:ln w="38100" cap="flat" cmpd="sng">
              <a:solidFill>
                <a:srgbClr val="F1C232"/>
              </a:solidFill>
              <a:prstDash val="solid"/>
              <a:round/>
              <a:headEnd type="none" w="med" len="med"/>
              <a:tailEnd type="none" w="med" len="med"/>
            </a:ln>
          </p:spPr>
        </p:sp>
        <p:sp>
          <p:nvSpPr>
            <p:cNvPr id="164" name="Google Shape;164;p15"/>
            <p:cNvSpPr/>
            <p:nvPr/>
          </p:nvSpPr>
          <p:spPr>
            <a:xfrm>
              <a:off x="7656800" y="3198318"/>
              <a:ext cx="660600" cy="161800"/>
            </a:xfrm>
            <a:custGeom>
              <a:avLst/>
              <a:gdLst/>
              <a:ahLst/>
              <a:cxnLst/>
              <a:rect l="l" t="t" r="r" b="b"/>
              <a:pathLst>
                <a:path w="26424" h="6472" extrusionOk="0">
                  <a:moveTo>
                    <a:pt x="26424" y="6411"/>
                  </a:moveTo>
                  <a:cubicBezTo>
                    <a:pt x="18961" y="6652"/>
                    <a:pt x="11684" y="3823"/>
                    <a:pt x="4520" y="1717"/>
                  </a:cubicBezTo>
                  <a:cubicBezTo>
                    <a:pt x="4232" y="1632"/>
                    <a:pt x="0" y="-572"/>
                    <a:pt x="0" y="153"/>
                  </a:cubicBezTo>
                  <a:cubicBezTo>
                    <a:pt x="0" y="1294"/>
                    <a:pt x="584" y="2475"/>
                    <a:pt x="1391" y="3282"/>
                  </a:cubicBezTo>
                </a:path>
              </a:pathLst>
            </a:custGeom>
            <a:noFill/>
            <a:ln w="38100" cap="flat" cmpd="sng">
              <a:solidFill>
                <a:srgbClr val="F1C232"/>
              </a:solidFill>
              <a:prstDash val="solid"/>
              <a:round/>
              <a:headEnd type="none" w="med" len="med"/>
              <a:tailEnd type="none" w="med" len="med"/>
            </a:ln>
          </p:spPr>
        </p:sp>
        <p:sp>
          <p:nvSpPr>
            <p:cNvPr id="165" name="Google Shape;165;p15"/>
            <p:cNvSpPr/>
            <p:nvPr/>
          </p:nvSpPr>
          <p:spPr>
            <a:xfrm>
              <a:off x="7757829" y="3119575"/>
              <a:ext cx="450925" cy="395475"/>
            </a:xfrm>
            <a:custGeom>
              <a:avLst/>
              <a:gdLst/>
              <a:ahLst/>
              <a:cxnLst/>
              <a:rect l="l" t="t" r="r" b="b"/>
              <a:pathLst>
                <a:path w="18037" h="15819" extrusionOk="0">
                  <a:moveTo>
                    <a:pt x="18037" y="0"/>
                  </a:moveTo>
                  <a:cubicBezTo>
                    <a:pt x="15708" y="1293"/>
                    <a:pt x="13491" y="3180"/>
                    <a:pt x="12300" y="5562"/>
                  </a:cubicBezTo>
                  <a:cubicBezTo>
                    <a:pt x="11338" y="7485"/>
                    <a:pt x="12524" y="10628"/>
                    <a:pt x="10735" y="11821"/>
                  </a:cubicBezTo>
                  <a:cubicBezTo>
                    <a:pt x="7637" y="13887"/>
                    <a:pt x="-1612" y="12627"/>
                    <a:pt x="305" y="15819"/>
                  </a:cubicBezTo>
                </a:path>
              </a:pathLst>
            </a:custGeom>
            <a:noFill/>
            <a:ln w="38100" cap="flat" cmpd="sng">
              <a:solidFill>
                <a:srgbClr val="F1C232"/>
              </a:solidFill>
              <a:prstDash val="solid"/>
              <a:round/>
              <a:headEnd type="none" w="med" len="med"/>
              <a:tailEnd type="none" w="med" len="med"/>
            </a:ln>
          </p:spPr>
        </p:sp>
        <p:sp>
          <p:nvSpPr>
            <p:cNvPr id="166" name="Google Shape;166;p15"/>
            <p:cNvSpPr/>
            <p:nvPr/>
          </p:nvSpPr>
          <p:spPr>
            <a:xfrm>
              <a:off x="7895825" y="3010925"/>
              <a:ext cx="373750" cy="469350"/>
            </a:xfrm>
            <a:custGeom>
              <a:avLst/>
              <a:gdLst/>
              <a:ahLst/>
              <a:cxnLst/>
              <a:rect l="l" t="t" r="r" b="b"/>
              <a:pathLst>
                <a:path w="14950" h="18774" extrusionOk="0">
                  <a:moveTo>
                    <a:pt x="0" y="0"/>
                  </a:moveTo>
                  <a:cubicBezTo>
                    <a:pt x="1571" y="7844"/>
                    <a:pt x="11377" y="11617"/>
                    <a:pt x="14950" y="18774"/>
                  </a:cubicBezTo>
                </a:path>
              </a:pathLst>
            </a:custGeom>
            <a:noFill/>
            <a:ln w="38100" cap="flat" cmpd="sng">
              <a:solidFill>
                <a:srgbClr val="F1C232"/>
              </a:solidFill>
              <a:prstDash val="solid"/>
              <a:round/>
              <a:headEnd type="none" w="med" len="med"/>
              <a:tailEnd type="none" w="med" len="med"/>
            </a:ln>
          </p:spPr>
        </p:sp>
        <p:sp>
          <p:nvSpPr>
            <p:cNvPr id="167" name="Google Shape;167;p15"/>
            <p:cNvSpPr/>
            <p:nvPr/>
          </p:nvSpPr>
          <p:spPr>
            <a:xfrm>
              <a:off x="7752400" y="3132600"/>
              <a:ext cx="346150" cy="434600"/>
            </a:xfrm>
            <a:custGeom>
              <a:avLst/>
              <a:gdLst/>
              <a:ahLst/>
              <a:cxnLst/>
              <a:rect l="l" t="t" r="r" b="b"/>
              <a:pathLst>
                <a:path w="13846" h="17384" extrusionOk="0">
                  <a:moveTo>
                    <a:pt x="0" y="17384"/>
                  </a:moveTo>
                  <a:cubicBezTo>
                    <a:pt x="1561" y="14266"/>
                    <a:pt x="813" y="9404"/>
                    <a:pt x="3825" y="7649"/>
                  </a:cubicBezTo>
                  <a:cubicBezTo>
                    <a:pt x="6452" y="6118"/>
                    <a:pt x="10432" y="8256"/>
                    <a:pt x="12865" y="6432"/>
                  </a:cubicBezTo>
                  <a:cubicBezTo>
                    <a:pt x="14596" y="5134"/>
                    <a:pt x="13756" y="1257"/>
                    <a:pt x="11995" y="0"/>
                  </a:cubicBezTo>
                </a:path>
              </a:pathLst>
            </a:custGeom>
            <a:noFill/>
            <a:ln w="38100" cap="flat" cmpd="sng">
              <a:solidFill>
                <a:srgbClr val="F1C232"/>
              </a:solidFill>
              <a:prstDash val="solid"/>
              <a:round/>
              <a:headEnd type="none" w="med" len="med"/>
              <a:tailEnd type="none" w="med" len="med"/>
            </a:ln>
          </p:spPr>
        </p:sp>
      </p:grpSp>
      <p:sp>
        <p:nvSpPr>
          <p:cNvPr id="168" name="Google Shape;168;p15"/>
          <p:cNvSpPr/>
          <p:nvPr/>
        </p:nvSpPr>
        <p:spPr>
          <a:xfrm rot="-6485262" flipH="1">
            <a:off x="5341176"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169" name="Google Shape;169;p15"/>
          <p:cNvSpPr/>
          <p:nvPr/>
        </p:nvSpPr>
        <p:spPr>
          <a:xfrm rot="6485262">
            <a:off x="3763714"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170" name="Google Shape;170;p15"/>
          <p:cNvSpPr/>
          <p:nvPr/>
        </p:nvSpPr>
        <p:spPr>
          <a:xfrm rot="10800000">
            <a:off x="4552435" y="2168746"/>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171" name="Google Shape;171;p15"/>
          <p:cNvSpPr/>
          <p:nvPr/>
        </p:nvSpPr>
        <p:spPr>
          <a:xfrm rot="2167448">
            <a:off x="4087053"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172" name="Google Shape;172;p15"/>
          <p:cNvSpPr/>
          <p:nvPr/>
        </p:nvSpPr>
        <p:spPr>
          <a:xfrm rot="-2167448" flipH="1">
            <a:off x="5017778"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173" name="Google Shape;173;p15"/>
          <p:cNvSpPr/>
          <p:nvPr/>
        </p:nvSpPr>
        <p:spPr>
          <a:xfrm>
            <a:off x="4416763" y="3146300"/>
            <a:ext cx="420063" cy="289163"/>
          </a:xfrm>
          <a:custGeom>
            <a:avLst/>
            <a:gdLst/>
            <a:ahLst/>
            <a:cxnLst/>
            <a:rect l="l" t="t" r="r" b="b"/>
            <a:pathLst>
              <a:path w="33605" h="23133" extrusionOk="0">
                <a:moveTo>
                  <a:pt x="0" y="23133"/>
                </a:moveTo>
                <a:cubicBezTo>
                  <a:pt x="2435" y="19075"/>
                  <a:pt x="4127" y="14465"/>
                  <a:pt x="7305" y="10958"/>
                </a:cubicBezTo>
                <a:cubicBezTo>
                  <a:pt x="13683" y="3921"/>
                  <a:pt x="24540" y="2832"/>
                  <a:pt x="33605" y="0"/>
                </a:cubicBezTo>
              </a:path>
            </a:pathLst>
          </a:custGeom>
          <a:noFill/>
          <a:ln w="38100" cap="flat" cmpd="sng">
            <a:solidFill>
              <a:srgbClr val="F1C232"/>
            </a:solidFill>
            <a:prstDash val="solid"/>
            <a:round/>
            <a:headEnd type="none" w="med" len="med"/>
            <a:tailEnd type="none" w="med" len="med"/>
          </a:ln>
        </p:spPr>
      </p:sp>
      <p:sp>
        <p:nvSpPr>
          <p:cNvPr id="174" name="Google Shape;174;p15"/>
          <p:cNvSpPr/>
          <p:nvPr/>
        </p:nvSpPr>
        <p:spPr>
          <a:xfrm>
            <a:off x="4413713" y="2966700"/>
            <a:ext cx="273963" cy="413975"/>
          </a:xfrm>
          <a:custGeom>
            <a:avLst/>
            <a:gdLst/>
            <a:ahLst/>
            <a:cxnLst/>
            <a:rect l="l" t="t" r="r" b="b"/>
            <a:pathLst>
              <a:path w="21917" h="33118" extrusionOk="0">
                <a:moveTo>
                  <a:pt x="0" y="0"/>
                </a:moveTo>
                <a:cubicBezTo>
                  <a:pt x="2209" y="4416"/>
                  <a:pt x="6510" y="8222"/>
                  <a:pt x="6819" y="13150"/>
                </a:cubicBezTo>
                <a:cubicBezTo>
                  <a:pt x="7095" y="17561"/>
                  <a:pt x="2967" y="22436"/>
                  <a:pt x="5114" y="26300"/>
                </a:cubicBezTo>
                <a:cubicBezTo>
                  <a:pt x="8050" y="31584"/>
                  <a:pt x="16181" y="31211"/>
                  <a:pt x="21917" y="33118"/>
                </a:cubicBezTo>
              </a:path>
            </a:pathLst>
          </a:custGeom>
          <a:noFill/>
          <a:ln w="38100" cap="flat" cmpd="sng">
            <a:solidFill>
              <a:srgbClr val="F1C232"/>
            </a:solidFill>
            <a:prstDash val="solid"/>
            <a:round/>
            <a:headEnd type="none" w="med" len="med"/>
            <a:tailEnd type="none" w="med" len="med"/>
          </a:ln>
        </p:spPr>
      </p:sp>
      <p:sp>
        <p:nvSpPr>
          <p:cNvPr id="175" name="Google Shape;175;p15"/>
          <p:cNvSpPr/>
          <p:nvPr/>
        </p:nvSpPr>
        <p:spPr>
          <a:xfrm>
            <a:off x="4363841" y="3099836"/>
            <a:ext cx="427325" cy="335625"/>
          </a:xfrm>
          <a:custGeom>
            <a:avLst/>
            <a:gdLst/>
            <a:ahLst/>
            <a:cxnLst/>
            <a:rect l="l" t="t" r="r" b="b"/>
            <a:pathLst>
              <a:path w="34186" h="26850" extrusionOk="0">
                <a:moveTo>
                  <a:pt x="34186" y="7369"/>
                </a:moveTo>
                <a:cubicBezTo>
                  <a:pt x="26609" y="7875"/>
                  <a:pt x="18987" y="9107"/>
                  <a:pt x="11783" y="11509"/>
                </a:cubicBezTo>
                <a:cubicBezTo>
                  <a:pt x="8958" y="12451"/>
                  <a:pt x="6190" y="14721"/>
                  <a:pt x="3260" y="14188"/>
                </a:cubicBezTo>
                <a:cubicBezTo>
                  <a:pt x="100" y="13613"/>
                  <a:pt x="-612" y="7915"/>
                  <a:pt x="581" y="4934"/>
                </a:cubicBezTo>
                <a:cubicBezTo>
                  <a:pt x="2999" y="-1107"/>
                  <a:pt x="16358" y="-1632"/>
                  <a:pt x="20062" y="3717"/>
                </a:cubicBezTo>
                <a:cubicBezTo>
                  <a:pt x="23302" y="8396"/>
                  <a:pt x="18572" y="15095"/>
                  <a:pt x="19088" y="20763"/>
                </a:cubicBezTo>
                <a:cubicBezTo>
                  <a:pt x="19370" y="23858"/>
                  <a:pt x="23042" y="26850"/>
                  <a:pt x="26150" y="26850"/>
                </a:cubicBezTo>
              </a:path>
            </a:pathLst>
          </a:custGeom>
          <a:noFill/>
          <a:ln w="38100" cap="flat" cmpd="sng">
            <a:solidFill>
              <a:srgbClr val="F1C232"/>
            </a:solidFill>
            <a:prstDash val="solid"/>
            <a:round/>
            <a:headEnd type="none" w="med" len="med"/>
            <a:tailEnd type="none" w="med" len="med"/>
          </a:ln>
        </p:spPr>
      </p:sp>
      <p:sp>
        <p:nvSpPr>
          <p:cNvPr id="176" name="Google Shape;176;p15"/>
          <p:cNvSpPr/>
          <p:nvPr/>
        </p:nvSpPr>
        <p:spPr>
          <a:xfrm>
            <a:off x="4365013" y="2942350"/>
            <a:ext cx="453675" cy="414725"/>
          </a:xfrm>
          <a:custGeom>
            <a:avLst/>
            <a:gdLst/>
            <a:ahLst/>
            <a:cxnLst/>
            <a:rect l="l" t="t" r="r" b="b"/>
            <a:pathLst>
              <a:path w="36294" h="33178" extrusionOk="0">
                <a:moveTo>
                  <a:pt x="16072" y="0"/>
                </a:moveTo>
                <a:cubicBezTo>
                  <a:pt x="18478" y="5415"/>
                  <a:pt x="25652" y="7856"/>
                  <a:pt x="27761" y="13393"/>
                </a:cubicBezTo>
                <a:cubicBezTo>
                  <a:pt x="29698" y="18478"/>
                  <a:pt x="25844" y="24459"/>
                  <a:pt x="27274" y="29709"/>
                </a:cubicBezTo>
                <a:cubicBezTo>
                  <a:pt x="27905" y="32023"/>
                  <a:pt x="32028" y="34192"/>
                  <a:pt x="33849" y="32631"/>
                </a:cubicBezTo>
                <a:cubicBezTo>
                  <a:pt x="36931" y="29989"/>
                  <a:pt x="37353" y="22015"/>
                  <a:pt x="33605" y="20455"/>
                </a:cubicBezTo>
                <a:cubicBezTo>
                  <a:pt x="25042" y="16890"/>
                  <a:pt x="14673" y="21082"/>
                  <a:pt x="6088" y="24595"/>
                </a:cubicBezTo>
                <a:cubicBezTo>
                  <a:pt x="3268" y="25749"/>
                  <a:pt x="2891" y="30452"/>
                  <a:pt x="0" y="31413"/>
                </a:cubicBezTo>
              </a:path>
            </a:pathLst>
          </a:custGeom>
          <a:noFill/>
          <a:ln w="38100" cap="flat" cmpd="sng">
            <a:solidFill>
              <a:srgbClr val="F1C232"/>
            </a:solidFill>
            <a:prstDash val="solid"/>
            <a:round/>
            <a:headEnd type="none" w="med" len="med"/>
            <a:tailEnd type="none" w="med" len="med"/>
          </a:ln>
        </p:spPr>
      </p:sp>
      <p:sp>
        <p:nvSpPr>
          <p:cNvPr id="177" name="Google Shape;177;p15"/>
          <p:cNvSpPr/>
          <p:nvPr/>
        </p:nvSpPr>
        <p:spPr>
          <a:xfrm>
            <a:off x="4340663" y="2972714"/>
            <a:ext cx="441350" cy="510425"/>
          </a:xfrm>
          <a:custGeom>
            <a:avLst/>
            <a:gdLst/>
            <a:ahLst/>
            <a:cxnLst/>
            <a:rect l="l" t="t" r="r" b="b"/>
            <a:pathLst>
              <a:path w="35308" h="40834" extrusionOk="0">
                <a:moveTo>
                  <a:pt x="0" y="21923"/>
                </a:moveTo>
                <a:cubicBezTo>
                  <a:pt x="4868" y="17746"/>
                  <a:pt x="16935" y="15448"/>
                  <a:pt x="19238" y="21435"/>
                </a:cubicBezTo>
                <a:cubicBezTo>
                  <a:pt x="21093" y="26256"/>
                  <a:pt x="14339" y="32377"/>
                  <a:pt x="17046" y="36777"/>
                </a:cubicBezTo>
                <a:cubicBezTo>
                  <a:pt x="19515" y="40790"/>
                  <a:pt x="26930" y="41953"/>
                  <a:pt x="30926" y="39456"/>
                </a:cubicBezTo>
                <a:cubicBezTo>
                  <a:pt x="37891" y="35105"/>
                  <a:pt x="35821" y="20062"/>
                  <a:pt x="29465" y="14861"/>
                </a:cubicBezTo>
                <a:cubicBezTo>
                  <a:pt x="22888" y="9480"/>
                  <a:pt x="7178" y="12602"/>
                  <a:pt x="6331" y="4146"/>
                </a:cubicBezTo>
                <a:cubicBezTo>
                  <a:pt x="5675" y="-2396"/>
                  <a:pt x="21107" y="-183"/>
                  <a:pt x="26056" y="4146"/>
                </a:cubicBezTo>
                <a:cubicBezTo>
                  <a:pt x="35321" y="12251"/>
                  <a:pt x="17470" y="28073"/>
                  <a:pt x="8766" y="36777"/>
                </a:cubicBezTo>
              </a:path>
            </a:pathLst>
          </a:custGeom>
          <a:noFill/>
          <a:ln w="38100" cap="flat" cmpd="sng">
            <a:solidFill>
              <a:srgbClr val="F1C232"/>
            </a:solidFill>
            <a:prstDash val="solid"/>
            <a:round/>
            <a:headEnd type="none" w="med" len="med"/>
            <a:tailEnd type="none" w="med" len="med"/>
          </a:ln>
        </p:spPr>
      </p:sp>
      <p:sp>
        <p:nvSpPr>
          <p:cNvPr id="178" name="Google Shape;178;p15"/>
          <p:cNvSpPr/>
          <p:nvPr/>
        </p:nvSpPr>
        <p:spPr>
          <a:xfrm>
            <a:off x="4336629" y="2954525"/>
            <a:ext cx="448450" cy="512988"/>
          </a:xfrm>
          <a:custGeom>
            <a:avLst/>
            <a:gdLst/>
            <a:ahLst/>
            <a:cxnLst/>
            <a:rect l="l" t="t" r="r" b="b"/>
            <a:pathLst>
              <a:path w="35876" h="41039" extrusionOk="0">
                <a:moveTo>
                  <a:pt x="35876" y="12176"/>
                </a:moveTo>
                <a:cubicBezTo>
                  <a:pt x="33278" y="13474"/>
                  <a:pt x="30137" y="14019"/>
                  <a:pt x="28084" y="16072"/>
                </a:cubicBezTo>
                <a:cubicBezTo>
                  <a:pt x="24741" y="19415"/>
                  <a:pt x="24638" y="25253"/>
                  <a:pt x="25161" y="29952"/>
                </a:cubicBezTo>
                <a:cubicBezTo>
                  <a:pt x="25573" y="33653"/>
                  <a:pt x="31860" y="39489"/>
                  <a:pt x="28327" y="40667"/>
                </a:cubicBezTo>
                <a:cubicBezTo>
                  <a:pt x="23195" y="42378"/>
                  <a:pt x="17049" y="37559"/>
                  <a:pt x="13960" y="33118"/>
                </a:cubicBezTo>
                <a:cubicBezTo>
                  <a:pt x="10617" y="28313"/>
                  <a:pt x="9699" y="20564"/>
                  <a:pt x="4219" y="18507"/>
                </a:cubicBezTo>
                <a:cubicBezTo>
                  <a:pt x="680" y="17179"/>
                  <a:pt x="-1376" y="26792"/>
                  <a:pt x="1297" y="29465"/>
                </a:cubicBezTo>
                <a:cubicBezTo>
                  <a:pt x="5492" y="33660"/>
                  <a:pt x="15463" y="29538"/>
                  <a:pt x="18343" y="24352"/>
                </a:cubicBezTo>
                <a:cubicBezTo>
                  <a:pt x="21498" y="18671"/>
                  <a:pt x="15329" y="10954"/>
                  <a:pt x="17612" y="4870"/>
                </a:cubicBezTo>
                <a:cubicBezTo>
                  <a:pt x="18786" y="1740"/>
                  <a:pt x="23036" y="0"/>
                  <a:pt x="26379" y="0"/>
                </a:cubicBezTo>
              </a:path>
            </a:pathLst>
          </a:custGeom>
          <a:noFill/>
          <a:ln w="38100" cap="flat" cmpd="sng">
            <a:solidFill>
              <a:srgbClr val="F1C232"/>
            </a:solidFill>
            <a:prstDash val="solid"/>
            <a:round/>
            <a:headEnd type="none" w="med" len="med"/>
            <a:tailEnd type="none" w="med" len="med"/>
          </a:ln>
        </p:spPr>
      </p:sp>
      <p:sp>
        <p:nvSpPr>
          <p:cNvPr id="179" name="Google Shape;179;p15"/>
          <p:cNvSpPr txBox="1"/>
          <p:nvPr/>
        </p:nvSpPr>
        <p:spPr>
          <a:xfrm>
            <a:off x="1716713" y="1691375"/>
            <a:ext cx="1108050" cy="323151"/>
          </a:xfrm>
          <a:prstGeom prst="rect">
            <a:avLst/>
          </a:prstGeom>
          <a:noFill/>
          <a:ln>
            <a:noFill/>
          </a:ln>
        </p:spPr>
        <p:txBody>
          <a:bodyPr spcFirstLastPara="1" wrap="square" lIns="45713" tIns="45713" rIns="45713" bIns="45713" anchor="t" anchorCtr="0">
            <a:spAutoFit/>
          </a:bodyPr>
          <a:lstStyle/>
          <a:p>
            <a:pPr algn="ctr"/>
            <a:r>
              <a:rPr lang="en" sz="1500">
                <a:solidFill>
                  <a:srgbClr val="FFFFFF"/>
                </a:solidFill>
              </a:rPr>
              <a:t>Priority 2</a:t>
            </a:r>
            <a:endParaRPr sz="1500">
              <a:solidFill>
                <a:srgbClr val="FFFFFF"/>
              </a:solidFill>
            </a:endParaRPr>
          </a:p>
        </p:txBody>
      </p:sp>
      <p:sp>
        <p:nvSpPr>
          <p:cNvPr id="180" name="Google Shape;180;p15"/>
          <p:cNvSpPr txBox="1"/>
          <p:nvPr/>
        </p:nvSpPr>
        <p:spPr>
          <a:xfrm>
            <a:off x="5155613" y="5192350"/>
            <a:ext cx="1108050" cy="323151"/>
          </a:xfrm>
          <a:prstGeom prst="rect">
            <a:avLst/>
          </a:prstGeom>
          <a:noFill/>
          <a:ln>
            <a:noFill/>
          </a:ln>
        </p:spPr>
        <p:txBody>
          <a:bodyPr spcFirstLastPara="1" wrap="square" lIns="45713" tIns="45713" rIns="45713" bIns="45713" anchor="t" anchorCtr="0">
            <a:spAutoFit/>
          </a:bodyPr>
          <a:lstStyle/>
          <a:p>
            <a:pPr algn="ctr"/>
            <a:r>
              <a:rPr lang="en" sz="1500">
                <a:solidFill>
                  <a:srgbClr val="FFFFFF"/>
                </a:solidFill>
              </a:rPr>
              <a:t>Priority 2</a:t>
            </a:r>
            <a:endParaRPr sz="1500">
              <a:solidFill>
                <a:srgbClr val="FFFFFF"/>
              </a:solidFill>
            </a:endParaRPr>
          </a:p>
        </p:txBody>
      </p:sp>
      <p:sp>
        <p:nvSpPr>
          <p:cNvPr id="181" name="Google Shape;181;p15"/>
          <p:cNvSpPr txBox="1"/>
          <p:nvPr/>
        </p:nvSpPr>
        <p:spPr>
          <a:xfrm>
            <a:off x="6619850" y="3012063"/>
            <a:ext cx="1108050" cy="323151"/>
          </a:xfrm>
          <a:prstGeom prst="rect">
            <a:avLst/>
          </a:prstGeom>
          <a:noFill/>
          <a:ln>
            <a:noFill/>
          </a:ln>
        </p:spPr>
        <p:txBody>
          <a:bodyPr spcFirstLastPara="1" wrap="square" lIns="45713" tIns="45713" rIns="45713" bIns="45713" anchor="t" anchorCtr="0">
            <a:spAutoFit/>
          </a:bodyPr>
          <a:lstStyle/>
          <a:p>
            <a:pPr algn="ctr"/>
            <a:r>
              <a:rPr lang="en" sz="1500">
                <a:solidFill>
                  <a:srgbClr val="FFFFFF"/>
                </a:solidFill>
              </a:rPr>
              <a:t>Priority 1</a:t>
            </a:r>
            <a:endParaRPr sz="1500">
              <a:solidFill>
                <a:srgbClr val="FFFFFF"/>
              </a:solidFill>
            </a:endParaRPr>
          </a:p>
        </p:txBody>
      </p:sp>
      <p:sp>
        <p:nvSpPr>
          <p:cNvPr id="182" name="Google Shape;182;p15"/>
          <p:cNvSpPr txBox="1"/>
          <p:nvPr/>
        </p:nvSpPr>
        <p:spPr>
          <a:xfrm>
            <a:off x="6319238" y="1691375"/>
            <a:ext cx="1108050" cy="323151"/>
          </a:xfrm>
          <a:prstGeom prst="rect">
            <a:avLst/>
          </a:prstGeom>
          <a:noFill/>
          <a:ln>
            <a:noFill/>
          </a:ln>
        </p:spPr>
        <p:txBody>
          <a:bodyPr spcFirstLastPara="1" wrap="square" lIns="45713" tIns="45713" rIns="45713" bIns="45713" anchor="t" anchorCtr="0">
            <a:spAutoFit/>
          </a:bodyPr>
          <a:lstStyle/>
          <a:p>
            <a:pPr algn="ctr"/>
            <a:r>
              <a:rPr lang="en" sz="1500">
                <a:solidFill>
                  <a:srgbClr val="FFFFFF"/>
                </a:solidFill>
              </a:rPr>
              <a:t>Priority 1</a:t>
            </a:r>
            <a:endParaRPr sz="1500">
              <a:solidFill>
                <a:srgbClr val="FFFFFF"/>
              </a:solidFill>
            </a:endParaRPr>
          </a:p>
        </p:txBody>
      </p:sp>
      <p:sp>
        <p:nvSpPr>
          <p:cNvPr id="183" name="Google Shape;183;p15"/>
          <p:cNvSpPr txBox="1"/>
          <p:nvPr/>
        </p:nvSpPr>
        <p:spPr>
          <a:xfrm>
            <a:off x="1639963" y="2988088"/>
            <a:ext cx="1108050" cy="323151"/>
          </a:xfrm>
          <a:prstGeom prst="rect">
            <a:avLst/>
          </a:prstGeom>
          <a:noFill/>
          <a:ln>
            <a:noFill/>
          </a:ln>
        </p:spPr>
        <p:txBody>
          <a:bodyPr spcFirstLastPara="1" wrap="square" lIns="45713" tIns="45713" rIns="45713" bIns="45713" anchor="t" anchorCtr="0">
            <a:spAutoFit/>
          </a:bodyPr>
          <a:lstStyle/>
          <a:p>
            <a:pPr algn="ctr"/>
            <a:r>
              <a:rPr lang="en" sz="1500">
                <a:solidFill>
                  <a:srgbClr val="FFFFFF"/>
                </a:solidFill>
              </a:rPr>
              <a:t>Priority 1</a:t>
            </a:r>
            <a:endParaRPr sz="1500">
              <a:solidFill>
                <a:srgbClr val="FFFFFF"/>
              </a:solidFill>
            </a:endParaRPr>
          </a:p>
        </p:txBody>
      </p:sp>
      <p:sp>
        <p:nvSpPr>
          <p:cNvPr id="184" name="Google Shape;184;p15"/>
          <p:cNvSpPr/>
          <p:nvPr/>
        </p:nvSpPr>
        <p:spPr>
          <a:xfrm rot="6485262">
            <a:off x="3329326" y="2280337"/>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185" name="Google Shape;185;p15"/>
          <p:cNvSpPr/>
          <p:nvPr/>
        </p:nvSpPr>
        <p:spPr>
          <a:xfrm rot="10800000">
            <a:off x="4118048" y="1691371"/>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186" name="Google Shape;186;p15"/>
          <p:cNvSpPr/>
          <p:nvPr/>
        </p:nvSpPr>
        <p:spPr>
          <a:xfrm rot="2167448">
            <a:off x="4087047" y="4250645"/>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187" name="Google Shape;187;p15"/>
          <p:cNvSpPr/>
          <p:nvPr/>
        </p:nvSpPr>
        <p:spPr>
          <a:xfrm rot="-2167448" flipH="1">
            <a:off x="5017772" y="4250645"/>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188" name="Google Shape;188;p15"/>
          <p:cNvSpPr txBox="1"/>
          <p:nvPr/>
        </p:nvSpPr>
        <p:spPr>
          <a:xfrm>
            <a:off x="352650" y="4638250"/>
            <a:ext cx="2121450" cy="553984"/>
          </a:xfrm>
          <a:prstGeom prst="rect">
            <a:avLst/>
          </a:prstGeom>
          <a:noFill/>
          <a:ln>
            <a:noFill/>
          </a:ln>
        </p:spPr>
        <p:txBody>
          <a:bodyPr spcFirstLastPara="1" wrap="square" lIns="45713" tIns="45713" rIns="45713" bIns="45713" anchor="t" anchorCtr="0">
            <a:spAutoFit/>
          </a:bodyPr>
          <a:lstStyle/>
          <a:p>
            <a:pPr algn="ctr"/>
            <a:r>
              <a:rPr lang="en" sz="3000">
                <a:solidFill>
                  <a:srgbClr val="FFFFFF"/>
                </a:solidFill>
              </a:rPr>
              <a:t>Starvation</a:t>
            </a:r>
            <a:endParaRPr sz="300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1000"/>
                                        <p:tgtEl>
                                          <p:spTgt spid="179"/>
                                        </p:tgtEl>
                                      </p:cBhvr>
                                    </p:animEffect>
                                  </p:childTnLst>
                                </p:cTn>
                              </p:par>
                              <p:par>
                                <p:cTn id="8" presetID="10" presetClass="entr" presetSubtype="0" fill="hold" nodeType="withEffect">
                                  <p:stCondLst>
                                    <p:cond delay="0"/>
                                  </p:stCondLst>
                                  <p:childTnLst>
                                    <p:set>
                                      <p:cBhvr>
                                        <p:cTn id="9" dur="1" fill="hold">
                                          <p:stCondLst>
                                            <p:cond delay="0"/>
                                          </p:stCondLst>
                                        </p:cTn>
                                        <p:tgtEl>
                                          <p:spTgt spid="181"/>
                                        </p:tgtEl>
                                        <p:attrNameLst>
                                          <p:attrName>style.visibility</p:attrName>
                                        </p:attrNameLst>
                                      </p:cBhvr>
                                      <p:to>
                                        <p:strVal val="visible"/>
                                      </p:to>
                                    </p:set>
                                    <p:animEffect transition="in" filter="fade">
                                      <p:cBhvr>
                                        <p:cTn id="10" dur="1000"/>
                                        <p:tgtEl>
                                          <p:spTgt spid="181"/>
                                        </p:tgtEl>
                                      </p:cBhvr>
                                    </p:animEffect>
                                  </p:childTnLst>
                                </p:cTn>
                              </p:par>
                              <p:par>
                                <p:cTn id="11" presetID="10" presetClass="entr" presetSubtype="0" fill="hold" nodeType="withEffect">
                                  <p:stCondLst>
                                    <p:cond delay="0"/>
                                  </p:stCondLst>
                                  <p:childTnLst>
                                    <p:set>
                                      <p:cBhvr>
                                        <p:cTn id="12" dur="1" fill="hold">
                                          <p:stCondLst>
                                            <p:cond delay="0"/>
                                          </p:stCondLst>
                                        </p:cTn>
                                        <p:tgtEl>
                                          <p:spTgt spid="182"/>
                                        </p:tgtEl>
                                        <p:attrNameLst>
                                          <p:attrName>style.visibility</p:attrName>
                                        </p:attrNameLst>
                                      </p:cBhvr>
                                      <p:to>
                                        <p:strVal val="visible"/>
                                      </p:to>
                                    </p:set>
                                    <p:animEffect transition="in" filter="fade">
                                      <p:cBhvr>
                                        <p:cTn id="13" dur="1000"/>
                                        <p:tgtEl>
                                          <p:spTgt spid="182"/>
                                        </p:tgtEl>
                                      </p:cBhvr>
                                    </p:animEffect>
                                  </p:childTnLst>
                                </p:cTn>
                              </p:par>
                              <p:par>
                                <p:cTn id="14" presetID="10" presetClass="entr" presetSubtype="0" fill="hold" nodeType="withEffect">
                                  <p:stCondLst>
                                    <p:cond delay="0"/>
                                  </p:stCondLst>
                                  <p:childTnLst>
                                    <p:set>
                                      <p:cBhvr>
                                        <p:cTn id="15" dur="1" fill="hold">
                                          <p:stCondLst>
                                            <p:cond delay="0"/>
                                          </p:stCondLst>
                                        </p:cTn>
                                        <p:tgtEl>
                                          <p:spTgt spid="183"/>
                                        </p:tgtEl>
                                        <p:attrNameLst>
                                          <p:attrName>style.visibility</p:attrName>
                                        </p:attrNameLst>
                                      </p:cBhvr>
                                      <p:to>
                                        <p:strVal val="visible"/>
                                      </p:to>
                                    </p:set>
                                    <p:animEffect transition="in" filter="fade">
                                      <p:cBhvr>
                                        <p:cTn id="16" dur="1000"/>
                                        <p:tgtEl>
                                          <p:spTgt spid="183"/>
                                        </p:tgtEl>
                                      </p:cBhvr>
                                    </p:animEffect>
                                  </p:childTnLst>
                                </p:cTn>
                              </p:par>
                              <p:par>
                                <p:cTn id="17" presetID="10" presetClass="entr" presetSubtype="0" fill="hold" nodeType="withEffect">
                                  <p:stCondLst>
                                    <p:cond delay="0"/>
                                  </p:stCondLst>
                                  <p:childTnLst>
                                    <p:set>
                                      <p:cBhvr>
                                        <p:cTn id="18" dur="1" fill="hold">
                                          <p:stCondLst>
                                            <p:cond delay="0"/>
                                          </p:stCondLst>
                                        </p:cTn>
                                        <p:tgtEl>
                                          <p:spTgt spid="180"/>
                                        </p:tgtEl>
                                        <p:attrNameLst>
                                          <p:attrName>style.visibility</p:attrName>
                                        </p:attrNameLst>
                                      </p:cBhvr>
                                      <p:to>
                                        <p:strVal val="visible"/>
                                      </p:to>
                                    </p:set>
                                    <p:animEffect transition="in" filter="fade">
                                      <p:cBhvr>
                                        <p:cTn id="19" dur="1000"/>
                                        <p:tgtEl>
                                          <p:spTgt spid="18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nodeType="clickEffect">
                                  <p:stCondLst>
                                    <p:cond delay="0"/>
                                  </p:stCondLst>
                                  <p:childTnLst>
                                    <p:animEffect transition="out" filter="fade">
                                      <p:cBhvr>
                                        <p:cTn id="23" dur="1000"/>
                                        <p:tgtEl>
                                          <p:spTgt spid="169"/>
                                        </p:tgtEl>
                                      </p:cBhvr>
                                    </p:animEffect>
                                    <p:set>
                                      <p:cBhvr>
                                        <p:cTn id="24" dur="1" fill="hold">
                                          <p:stCondLst>
                                            <p:cond delay="1000"/>
                                          </p:stCondLst>
                                        </p:cTn>
                                        <p:tgtEl>
                                          <p:spTgt spid="169"/>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26" dur="1000"/>
                                        <p:tgtEl>
                                          <p:spTgt spid="170"/>
                                        </p:tgtEl>
                                      </p:cBhvr>
                                    </p:animEffect>
                                    <p:set>
                                      <p:cBhvr>
                                        <p:cTn id="27" dur="1" fill="hold">
                                          <p:stCondLst>
                                            <p:cond delay="1000"/>
                                          </p:stCondLst>
                                        </p:cTn>
                                        <p:tgtEl>
                                          <p:spTgt spid="170"/>
                                        </p:tgtEl>
                                        <p:attrNameLst>
                                          <p:attrName>style.visibility</p:attrName>
                                        </p:attrNameLst>
                                      </p:cBhvr>
                                      <p:to>
                                        <p:strVal val="hidden"/>
                                      </p:to>
                                    </p:set>
                                  </p:childTnLst>
                                </p:cTn>
                              </p:par>
                              <p:par>
                                <p:cTn id="28" presetID="10" presetClass="exit" presetSubtype="0" fill="hold" nodeType="withEffect">
                                  <p:stCondLst>
                                    <p:cond delay="0"/>
                                  </p:stCondLst>
                                  <p:childTnLst>
                                    <p:animEffect transition="out" filter="fade">
                                      <p:cBhvr>
                                        <p:cTn id="29" dur="1000"/>
                                        <p:tgtEl>
                                          <p:spTgt spid="171"/>
                                        </p:tgtEl>
                                      </p:cBhvr>
                                    </p:animEffect>
                                    <p:set>
                                      <p:cBhvr>
                                        <p:cTn id="30" dur="1" fill="hold">
                                          <p:stCondLst>
                                            <p:cond delay="1000"/>
                                          </p:stCondLst>
                                        </p:cTn>
                                        <p:tgtEl>
                                          <p:spTgt spid="171"/>
                                        </p:tgtEl>
                                        <p:attrNameLst>
                                          <p:attrName>style.visibility</p:attrName>
                                        </p:attrNameLst>
                                      </p:cBhvr>
                                      <p:to>
                                        <p:strVal val="hidden"/>
                                      </p:to>
                                    </p:set>
                                  </p:childTnLst>
                                </p:cTn>
                              </p:par>
                              <p:par>
                                <p:cTn id="31" presetID="10" presetClass="exit" presetSubtype="0" fill="hold" nodeType="withEffect">
                                  <p:stCondLst>
                                    <p:cond delay="0"/>
                                  </p:stCondLst>
                                  <p:childTnLst>
                                    <p:animEffect transition="out" filter="fade">
                                      <p:cBhvr>
                                        <p:cTn id="32" dur="1000"/>
                                        <p:tgtEl>
                                          <p:spTgt spid="172"/>
                                        </p:tgtEl>
                                      </p:cBhvr>
                                    </p:animEffect>
                                    <p:set>
                                      <p:cBhvr>
                                        <p:cTn id="33" dur="1" fill="hold">
                                          <p:stCondLst>
                                            <p:cond delay="1000"/>
                                          </p:stCondLst>
                                        </p:cTn>
                                        <p:tgtEl>
                                          <p:spTgt spid="172"/>
                                        </p:tgtEl>
                                        <p:attrNameLst>
                                          <p:attrName>style.visibility</p:attrName>
                                        </p:attrNameLst>
                                      </p:cBhvr>
                                      <p:to>
                                        <p:strVal val="hidden"/>
                                      </p:to>
                                    </p:set>
                                  </p:childTnLst>
                                </p:cTn>
                              </p:par>
                              <p:par>
                                <p:cTn id="34" presetID="10" presetClass="entr" presetSubtype="0" fill="hold" nodeType="withEffect">
                                  <p:stCondLst>
                                    <p:cond delay="0"/>
                                  </p:stCondLst>
                                  <p:childTnLst>
                                    <p:set>
                                      <p:cBhvr>
                                        <p:cTn id="35" dur="1" fill="hold">
                                          <p:stCondLst>
                                            <p:cond delay="0"/>
                                          </p:stCondLst>
                                        </p:cTn>
                                        <p:tgtEl>
                                          <p:spTgt spid="185"/>
                                        </p:tgtEl>
                                        <p:attrNameLst>
                                          <p:attrName>style.visibility</p:attrName>
                                        </p:attrNameLst>
                                      </p:cBhvr>
                                      <p:to>
                                        <p:strVal val="visible"/>
                                      </p:to>
                                    </p:set>
                                    <p:animEffect transition="in" filter="fade">
                                      <p:cBhvr>
                                        <p:cTn id="36" dur="1000"/>
                                        <p:tgtEl>
                                          <p:spTgt spid="185"/>
                                        </p:tgtEl>
                                      </p:cBhvr>
                                    </p:animEffect>
                                  </p:childTnLst>
                                </p:cTn>
                              </p:par>
                              <p:par>
                                <p:cTn id="37" presetID="10" presetClass="entr" presetSubtype="0" fill="hold" nodeType="withEffect">
                                  <p:stCondLst>
                                    <p:cond delay="0"/>
                                  </p:stCondLst>
                                  <p:childTnLst>
                                    <p:set>
                                      <p:cBhvr>
                                        <p:cTn id="38" dur="1" fill="hold">
                                          <p:stCondLst>
                                            <p:cond delay="0"/>
                                          </p:stCondLst>
                                        </p:cTn>
                                        <p:tgtEl>
                                          <p:spTgt spid="184"/>
                                        </p:tgtEl>
                                        <p:attrNameLst>
                                          <p:attrName>style.visibility</p:attrName>
                                        </p:attrNameLst>
                                      </p:cBhvr>
                                      <p:to>
                                        <p:strVal val="visible"/>
                                      </p:to>
                                    </p:set>
                                    <p:animEffect transition="in" filter="fade">
                                      <p:cBhvr>
                                        <p:cTn id="39" dur="1000"/>
                                        <p:tgtEl>
                                          <p:spTgt spid="184"/>
                                        </p:tgtEl>
                                      </p:cBhvr>
                                    </p:animEffect>
                                  </p:childTnLst>
                                </p:cTn>
                              </p:par>
                              <p:par>
                                <p:cTn id="40" presetID="10" presetClass="entr" presetSubtype="0" fill="hold" nodeType="withEffect">
                                  <p:stCondLst>
                                    <p:cond delay="0"/>
                                  </p:stCondLst>
                                  <p:childTnLst>
                                    <p:set>
                                      <p:cBhvr>
                                        <p:cTn id="41" dur="1" fill="hold">
                                          <p:stCondLst>
                                            <p:cond delay="0"/>
                                          </p:stCondLst>
                                        </p:cTn>
                                        <p:tgtEl>
                                          <p:spTgt spid="186"/>
                                        </p:tgtEl>
                                        <p:attrNameLst>
                                          <p:attrName>style.visibility</p:attrName>
                                        </p:attrNameLst>
                                      </p:cBhvr>
                                      <p:to>
                                        <p:strVal val="visible"/>
                                      </p:to>
                                    </p:set>
                                    <p:animEffect transition="in" filter="fade">
                                      <p:cBhvr>
                                        <p:cTn id="42" dur="1000"/>
                                        <p:tgtEl>
                                          <p:spTgt spid="186"/>
                                        </p:tgtEl>
                                      </p:cBhvr>
                                    </p:animEffect>
                                  </p:childTnLst>
                                </p:cTn>
                              </p:par>
                              <p:par>
                                <p:cTn id="43" presetID="10" presetClass="entr" presetSubtype="0" fill="hold" nodeType="withEffect">
                                  <p:stCondLst>
                                    <p:cond delay="0"/>
                                  </p:stCondLst>
                                  <p:childTnLst>
                                    <p:set>
                                      <p:cBhvr>
                                        <p:cTn id="44" dur="1" fill="hold">
                                          <p:stCondLst>
                                            <p:cond delay="0"/>
                                          </p:stCondLst>
                                        </p:cTn>
                                        <p:tgtEl>
                                          <p:spTgt spid="187"/>
                                        </p:tgtEl>
                                        <p:attrNameLst>
                                          <p:attrName>style.visibility</p:attrName>
                                        </p:attrNameLst>
                                      </p:cBhvr>
                                      <p:to>
                                        <p:strVal val="visible"/>
                                      </p:to>
                                    </p:set>
                                    <p:animEffect transition="in" filter="fade">
                                      <p:cBhvr>
                                        <p:cTn id="45" dur="1000"/>
                                        <p:tgtEl>
                                          <p:spTgt spid="18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88"/>
                                        </p:tgtEl>
                                        <p:attrNameLst>
                                          <p:attrName>style.visibility</p:attrName>
                                        </p:attrNameLst>
                                      </p:cBhvr>
                                      <p:to>
                                        <p:strVal val="visible"/>
                                      </p:to>
                                    </p:set>
                                    <p:animEffect transition="in" filter="fade">
                                      <p:cBhvr>
                                        <p:cTn id="50" dur="1000"/>
                                        <p:tgtEl>
                                          <p:spTgt spid="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cxnSp>
        <p:nvCxnSpPr>
          <p:cNvPr id="193" name="Google Shape;193;p16"/>
          <p:cNvCxnSpPr/>
          <p:nvPr/>
        </p:nvCxnSpPr>
        <p:spPr>
          <a:xfrm>
            <a:off x="1104900" y="5108550"/>
            <a:ext cx="7543800" cy="0"/>
          </a:xfrm>
          <a:prstGeom prst="straightConnector1">
            <a:avLst/>
          </a:prstGeom>
          <a:noFill/>
          <a:ln w="38100" cap="flat" cmpd="sng">
            <a:solidFill>
              <a:srgbClr val="595959"/>
            </a:solidFill>
            <a:prstDash val="solid"/>
            <a:round/>
            <a:headEnd type="none" w="med" len="med"/>
            <a:tailEnd type="triangle" w="med" len="med"/>
          </a:ln>
        </p:spPr>
      </p:cxnSp>
      <p:cxnSp>
        <p:nvCxnSpPr>
          <p:cNvPr id="194" name="Google Shape;194;p16"/>
          <p:cNvCxnSpPr/>
          <p:nvPr/>
        </p:nvCxnSpPr>
        <p:spPr>
          <a:xfrm>
            <a:off x="1866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195" name="Google Shape;195;p16"/>
          <p:cNvCxnSpPr/>
          <p:nvPr/>
        </p:nvCxnSpPr>
        <p:spPr>
          <a:xfrm>
            <a:off x="2628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196" name="Google Shape;196;p16"/>
          <p:cNvCxnSpPr/>
          <p:nvPr/>
        </p:nvCxnSpPr>
        <p:spPr>
          <a:xfrm>
            <a:off x="3390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197" name="Google Shape;197;p16"/>
          <p:cNvCxnSpPr/>
          <p:nvPr/>
        </p:nvCxnSpPr>
        <p:spPr>
          <a:xfrm>
            <a:off x="4152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198" name="Google Shape;198;p16"/>
          <p:cNvCxnSpPr/>
          <p:nvPr/>
        </p:nvCxnSpPr>
        <p:spPr>
          <a:xfrm>
            <a:off x="4914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199" name="Google Shape;199;p16"/>
          <p:cNvCxnSpPr/>
          <p:nvPr/>
        </p:nvCxnSpPr>
        <p:spPr>
          <a:xfrm>
            <a:off x="5676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200" name="Google Shape;200;p16"/>
          <p:cNvCxnSpPr/>
          <p:nvPr/>
        </p:nvCxnSpPr>
        <p:spPr>
          <a:xfrm>
            <a:off x="6438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201" name="Google Shape;201;p16"/>
          <p:cNvCxnSpPr/>
          <p:nvPr/>
        </p:nvCxnSpPr>
        <p:spPr>
          <a:xfrm>
            <a:off x="7200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202" name="Google Shape;202;p16"/>
          <p:cNvCxnSpPr/>
          <p:nvPr/>
        </p:nvCxnSpPr>
        <p:spPr>
          <a:xfrm>
            <a:off x="7962900" y="18859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203" name="Google Shape;203;p16"/>
          <p:cNvCxnSpPr/>
          <p:nvPr/>
        </p:nvCxnSpPr>
        <p:spPr>
          <a:xfrm>
            <a:off x="2628900" y="5375250"/>
            <a:ext cx="762000" cy="0"/>
          </a:xfrm>
          <a:prstGeom prst="straightConnector1">
            <a:avLst/>
          </a:prstGeom>
          <a:noFill/>
          <a:ln w="38100" cap="flat" cmpd="sng">
            <a:solidFill>
              <a:srgbClr val="595959"/>
            </a:solidFill>
            <a:prstDash val="solid"/>
            <a:round/>
            <a:headEnd type="triangle" w="med" len="med"/>
            <a:tailEnd type="triangle" w="med" len="med"/>
          </a:ln>
        </p:spPr>
      </p:cxnSp>
      <p:sp>
        <p:nvSpPr>
          <p:cNvPr id="204" name="Google Shape;204;p16"/>
          <p:cNvSpPr txBox="1"/>
          <p:nvPr/>
        </p:nvSpPr>
        <p:spPr>
          <a:xfrm>
            <a:off x="2628900" y="5375250"/>
            <a:ext cx="762000" cy="266700"/>
          </a:xfrm>
          <a:prstGeom prst="rect">
            <a:avLst/>
          </a:prstGeom>
          <a:noFill/>
          <a:ln>
            <a:noFill/>
          </a:ln>
        </p:spPr>
        <p:txBody>
          <a:bodyPr spcFirstLastPara="1" wrap="square" lIns="45713" tIns="45713" rIns="45713" bIns="45713" anchor="ctr" anchorCtr="0">
            <a:noAutofit/>
          </a:bodyPr>
          <a:lstStyle/>
          <a:p>
            <a:pPr algn="ctr"/>
            <a:r>
              <a:rPr lang="en" sz="1200"/>
              <a:t>1 ms</a:t>
            </a:r>
            <a:endParaRPr sz="1200"/>
          </a:p>
        </p:txBody>
      </p:sp>
      <p:sp>
        <p:nvSpPr>
          <p:cNvPr id="205" name="Google Shape;205;p16"/>
          <p:cNvSpPr txBox="1"/>
          <p:nvPr/>
        </p:nvSpPr>
        <p:spPr>
          <a:xfrm>
            <a:off x="457200" y="4460850"/>
            <a:ext cx="495300" cy="419100"/>
          </a:xfrm>
          <a:prstGeom prst="rect">
            <a:avLst/>
          </a:prstGeom>
          <a:noFill/>
          <a:ln>
            <a:noFill/>
          </a:ln>
        </p:spPr>
        <p:txBody>
          <a:bodyPr spcFirstLastPara="1" wrap="square" lIns="45713" tIns="45713" rIns="45713" bIns="45713" anchor="ctr" anchorCtr="0">
            <a:noAutofit/>
          </a:bodyPr>
          <a:lstStyle/>
          <a:p>
            <a:pPr algn="r"/>
            <a:r>
              <a:rPr lang="en" sz="1200"/>
              <a:t>OS</a:t>
            </a:r>
            <a:endParaRPr sz="1200"/>
          </a:p>
        </p:txBody>
      </p:sp>
      <p:sp>
        <p:nvSpPr>
          <p:cNvPr id="206" name="Google Shape;206;p16"/>
          <p:cNvSpPr/>
          <p:nvPr/>
        </p:nvSpPr>
        <p:spPr>
          <a:xfrm>
            <a:off x="1943100" y="3813150"/>
            <a:ext cx="586800" cy="34290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buClr>
                <a:srgbClr val="000000"/>
              </a:buClr>
              <a:buSzPts val="1100"/>
            </a:pPr>
            <a:r>
              <a:rPr lang="en" sz="1200">
                <a:solidFill>
                  <a:srgbClr val="000000"/>
                </a:solidFill>
              </a:rPr>
              <a:t>Task A</a:t>
            </a:r>
            <a:endParaRPr sz="1200">
              <a:solidFill>
                <a:srgbClr val="000000"/>
              </a:solidFill>
            </a:endParaRPr>
          </a:p>
        </p:txBody>
      </p:sp>
      <p:sp>
        <p:nvSpPr>
          <p:cNvPr id="207" name="Google Shape;207;p16"/>
          <p:cNvSpPr/>
          <p:nvPr/>
        </p:nvSpPr>
        <p:spPr>
          <a:xfrm>
            <a:off x="1181100" y="3813150"/>
            <a:ext cx="685800" cy="34290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Task A</a:t>
            </a:r>
            <a:endParaRPr sz="1200"/>
          </a:p>
        </p:txBody>
      </p:sp>
      <p:sp>
        <p:nvSpPr>
          <p:cNvPr id="208" name="Google Shape;208;p16"/>
          <p:cNvSpPr txBox="1"/>
          <p:nvPr/>
        </p:nvSpPr>
        <p:spPr>
          <a:xfrm>
            <a:off x="8077200" y="5146650"/>
            <a:ext cx="762000" cy="266700"/>
          </a:xfrm>
          <a:prstGeom prst="rect">
            <a:avLst/>
          </a:prstGeom>
          <a:noFill/>
          <a:ln>
            <a:noFill/>
          </a:ln>
        </p:spPr>
        <p:txBody>
          <a:bodyPr spcFirstLastPara="1" wrap="square" lIns="45713" tIns="45713" rIns="45713" bIns="45713" anchor="ctr" anchorCtr="0">
            <a:noAutofit/>
          </a:bodyPr>
          <a:lstStyle/>
          <a:p>
            <a:pPr algn="ctr"/>
            <a:r>
              <a:rPr lang="en" sz="1200"/>
              <a:t>time</a:t>
            </a:r>
            <a:endParaRPr sz="1200"/>
          </a:p>
        </p:txBody>
      </p:sp>
      <p:sp>
        <p:nvSpPr>
          <p:cNvPr id="209" name="Google Shape;209;p16"/>
          <p:cNvSpPr txBox="1"/>
          <p:nvPr/>
        </p:nvSpPr>
        <p:spPr>
          <a:xfrm>
            <a:off x="457200" y="3775050"/>
            <a:ext cx="495300" cy="419100"/>
          </a:xfrm>
          <a:prstGeom prst="rect">
            <a:avLst/>
          </a:prstGeom>
          <a:noFill/>
          <a:ln>
            <a:noFill/>
          </a:ln>
        </p:spPr>
        <p:txBody>
          <a:bodyPr spcFirstLastPara="1" wrap="square" lIns="45713" tIns="45713" rIns="45713" bIns="45713" anchor="ctr" anchorCtr="0">
            <a:noAutofit/>
          </a:bodyPr>
          <a:lstStyle/>
          <a:p>
            <a:pPr algn="r"/>
            <a:r>
              <a:rPr lang="en" sz="1200"/>
              <a:t>1</a:t>
            </a:r>
            <a:endParaRPr sz="1200"/>
          </a:p>
        </p:txBody>
      </p:sp>
      <p:sp>
        <p:nvSpPr>
          <p:cNvPr id="210" name="Google Shape;210;p16"/>
          <p:cNvSpPr/>
          <p:nvPr/>
        </p:nvSpPr>
        <p:spPr>
          <a:xfrm>
            <a:off x="18669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211" name="Google Shape;211;p16"/>
          <p:cNvSpPr/>
          <p:nvPr/>
        </p:nvSpPr>
        <p:spPr>
          <a:xfrm>
            <a:off x="11049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212" name="Google Shape;212;p16"/>
          <p:cNvSpPr txBox="1"/>
          <p:nvPr/>
        </p:nvSpPr>
        <p:spPr>
          <a:xfrm>
            <a:off x="457200" y="3089250"/>
            <a:ext cx="495300" cy="419100"/>
          </a:xfrm>
          <a:prstGeom prst="rect">
            <a:avLst/>
          </a:prstGeom>
          <a:noFill/>
          <a:ln>
            <a:noFill/>
          </a:ln>
        </p:spPr>
        <p:txBody>
          <a:bodyPr spcFirstLastPara="1" wrap="square" lIns="45713" tIns="45713" rIns="45713" bIns="45713" anchor="ctr" anchorCtr="0">
            <a:noAutofit/>
          </a:bodyPr>
          <a:lstStyle/>
          <a:p>
            <a:pPr algn="r"/>
            <a:r>
              <a:rPr lang="en" sz="1200"/>
              <a:t>2</a:t>
            </a:r>
            <a:endParaRPr sz="1200"/>
          </a:p>
        </p:txBody>
      </p:sp>
      <p:sp>
        <p:nvSpPr>
          <p:cNvPr id="213" name="Google Shape;213;p16"/>
          <p:cNvSpPr txBox="1"/>
          <p:nvPr/>
        </p:nvSpPr>
        <p:spPr>
          <a:xfrm rot="-5400000">
            <a:off x="600075" y="2790825"/>
            <a:ext cx="438150" cy="419100"/>
          </a:xfrm>
          <a:prstGeom prst="rect">
            <a:avLst/>
          </a:prstGeom>
          <a:noFill/>
          <a:ln>
            <a:noFill/>
          </a:ln>
        </p:spPr>
        <p:txBody>
          <a:bodyPr spcFirstLastPara="1" wrap="square" lIns="45713" tIns="45713" rIns="45713" bIns="45713" anchor="ctr" anchorCtr="0">
            <a:noAutofit/>
          </a:bodyPr>
          <a:lstStyle/>
          <a:p>
            <a:pPr algn="ctr"/>
            <a:r>
              <a:rPr lang="en" sz="1200"/>
              <a:t>...</a:t>
            </a:r>
            <a:endParaRPr sz="1200"/>
          </a:p>
        </p:txBody>
      </p:sp>
      <p:sp>
        <p:nvSpPr>
          <p:cNvPr id="214" name="Google Shape;214;p16"/>
          <p:cNvSpPr/>
          <p:nvPr/>
        </p:nvSpPr>
        <p:spPr>
          <a:xfrm>
            <a:off x="2529900" y="4498950"/>
            <a:ext cx="937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Idle</a:t>
            </a:r>
            <a:endParaRPr sz="1200"/>
          </a:p>
        </p:txBody>
      </p:sp>
      <p:sp>
        <p:nvSpPr>
          <p:cNvPr id="215" name="Google Shape;215;p16"/>
          <p:cNvSpPr/>
          <p:nvPr/>
        </p:nvSpPr>
        <p:spPr>
          <a:xfrm>
            <a:off x="3467100" y="3813150"/>
            <a:ext cx="685800" cy="34290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rgbClr val="000000"/>
                </a:solidFill>
              </a:rPr>
              <a:t>Task A</a:t>
            </a:r>
            <a:endParaRPr sz="1200">
              <a:solidFill>
                <a:srgbClr val="000000"/>
              </a:solidFill>
            </a:endParaRPr>
          </a:p>
        </p:txBody>
      </p:sp>
      <p:sp>
        <p:nvSpPr>
          <p:cNvPr id="216" name="Google Shape;216;p16"/>
          <p:cNvSpPr/>
          <p:nvPr/>
        </p:nvSpPr>
        <p:spPr>
          <a:xfrm>
            <a:off x="41529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217" name="Google Shape;217;p16"/>
          <p:cNvSpPr/>
          <p:nvPr/>
        </p:nvSpPr>
        <p:spPr>
          <a:xfrm>
            <a:off x="49149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218" name="Google Shape;218;p16"/>
          <p:cNvSpPr/>
          <p:nvPr/>
        </p:nvSpPr>
        <p:spPr>
          <a:xfrm>
            <a:off x="4229100" y="3127350"/>
            <a:ext cx="228600" cy="34290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B</a:t>
            </a:r>
            <a:endParaRPr sz="1200">
              <a:solidFill>
                <a:srgbClr val="000000"/>
              </a:solidFill>
            </a:endParaRPr>
          </a:p>
        </p:txBody>
      </p:sp>
      <p:sp>
        <p:nvSpPr>
          <p:cNvPr id="219" name="Google Shape;219;p16"/>
          <p:cNvSpPr/>
          <p:nvPr/>
        </p:nvSpPr>
        <p:spPr>
          <a:xfrm>
            <a:off x="56769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220" name="Google Shape;220;p16"/>
          <p:cNvSpPr/>
          <p:nvPr/>
        </p:nvSpPr>
        <p:spPr>
          <a:xfrm>
            <a:off x="64389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221" name="Google Shape;221;p16"/>
          <p:cNvSpPr/>
          <p:nvPr/>
        </p:nvSpPr>
        <p:spPr>
          <a:xfrm>
            <a:off x="72009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222" name="Google Shape;222;p16"/>
          <p:cNvSpPr/>
          <p:nvPr/>
        </p:nvSpPr>
        <p:spPr>
          <a:xfrm>
            <a:off x="7277100" y="3813150"/>
            <a:ext cx="685800" cy="34290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rgbClr val="000000"/>
                </a:solidFill>
              </a:rPr>
              <a:t>Task A</a:t>
            </a:r>
            <a:endParaRPr sz="1200">
              <a:solidFill>
                <a:srgbClr val="000000"/>
              </a:solidFill>
            </a:endParaRPr>
          </a:p>
        </p:txBody>
      </p:sp>
      <p:sp>
        <p:nvSpPr>
          <p:cNvPr id="223" name="Google Shape;223;p16"/>
          <p:cNvSpPr txBox="1"/>
          <p:nvPr/>
        </p:nvSpPr>
        <p:spPr>
          <a:xfrm>
            <a:off x="228600" y="2380625"/>
            <a:ext cx="723900" cy="495900"/>
          </a:xfrm>
          <a:prstGeom prst="rect">
            <a:avLst/>
          </a:prstGeom>
          <a:noFill/>
          <a:ln>
            <a:noFill/>
          </a:ln>
        </p:spPr>
        <p:txBody>
          <a:bodyPr spcFirstLastPara="1" wrap="square" lIns="45713" tIns="45713" rIns="45713" bIns="45713" anchor="ctr" anchorCtr="0">
            <a:noAutofit/>
          </a:bodyPr>
          <a:lstStyle/>
          <a:p>
            <a:pPr algn="r"/>
            <a:r>
              <a:rPr lang="en" sz="1500"/>
              <a:t>Priority (S/W)</a:t>
            </a:r>
            <a:endParaRPr sz="1500"/>
          </a:p>
        </p:txBody>
      </p:sp>
      <p:sp>
        <p:nvSpPr>
          <p:cNvPr id="224" name="Google Shape;224;p16"/>
          <p:cNvSpPr/>
          <p:nvPr/>
        </p:nvSpPr>
        <p:spPr>
          <a:xfrm>
            <a:off x="6040350" y="3127350"/>
            <a:ext cx="156300" cy="34290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solidFill>
                <a:srgbClr val="000000"/>
              </a:solidFill>
            </a:endParaRPr>
          </a:p>
        </p:txBody>
      </p:sp>
      <p:sp>
        <p:nvSpPr>
          <p:cNvPr id="225" name="Google Shape;225;p16"/>
          <p:cNvSpPr txBox="1"/>
          <p:nvPr/>
        </p:nvSpPr>
        <p:spPr>
          <a:xfrm>
            <a:off x="228600" y="1809750"/>
            <a:ext cx="723900" cy="533400"/>
          </a:xfrm>
          <a:prstGeom prst="rect">
            <a:avLst/>
          </a:prstGeom>
          <a:noFill/>
          <a:ln>
            <a:noFill/>
          </a:ln>
        </p:spPr>
        <p:txBody>
          <a:bodyPr spcFirstLastPara="1" wrap="square" lIns="45713" tIns="45713" rIns="45713" bIns="45713" anchor="ctr" anchorCtr="0">
            <a:noAutofit/>
          </a:bodyPr>
          <a:lstStyle/>
          <a:p>
            <a:pPr algn="r"/>
            <a:r>
              <a:rPr lang="en" sz="1500"/>
              <a:t>ISR</a:t>
            </a:r>
            <a:endParaRPr sz="1500"/>
          </a:p>
          <a:p>
            <a:pPr algn="r"/>
            <a:r>
              <a:rPr lang="en" sz="1500"/>
              <a:t>(H/W)</a:t>
            </a:r>
            <a:endParaRPr sz="1500"/>
          </a:p>
        </p:txBody>
      </p:sp>
      <p:sp>
        <p:nvSpPr>
          <p:cNvPr id="226" name="Google Shape;226;p16"/>
          <p:cNvSpPr txBox="1"/>
          <p:nvPr/>
        </p:nvSpPr>
        <p:spPr>
          <a:xfrm>
            <a:off x="2700675" y="5146650"/>
            <a:ext cx="618450" cy="228600"/>
          </a:xfrm>
          <a:prstGeom prst="rect">
            <a:avLst/>
          </a:prstGeom>
          <a:noFill/>
          <a:ln>
            <a:noFill/>
          </a:ln>
        </p:spPr>
        <p:txBody>
          <a:bodyPr spcFirstLastPara="1" wrap="square" lIns="45713" tIns="45713" rIns="45713" bIns="45713" anchor="ctr" anchorCtr="0">
            <a:noAutofit/>
          </a:bodyPr>
          <a:lstStyle/>
          <a:p>
            <a:pPr algn="ctr"/>
            <a:r>
              <a:rPr lang="en" sz="1200"/>
              <a:t>“tick”</a:t>
            </a:r>
            <a:endParaRPr sz="1200"/>
          </a:p>
        </p:txBody>
      </p:sp>
      <p:sp>
        <p:nvSpPr>
          <p:cNvPr id="227" name="Google Shape;227;p16"/>
          <p:cNvSpPr txBox="1"/>
          <p:nvPr/>
        </p:nvSpPr>
        <p:spPr>
          <a:xfrm>
            <a:off x="0" y="857250"/>
            <a:ext cx="9144000" cy="706200"/>
          </a:xfrm>
          <a:prstGeom prst="rect">
            <a:avLst/>
          </a:prstGeom>
          <a:noFill/>
          <a:ln>
            <a:noFill/>
          </a:ln>
        </p:spPr>
        <p:txBody>
          <a:bodyPr spcFirstLastPara="1" wrap="square" lIns="45713" tIns="45713" rIns="45713" bIns="45713" anchor="ctr" anchorCtr="0">
            <a:noAutofit/>
          </a:bodyPr>
          <a:lstStyle/>
          <a:p>
            <a:pPr algn="ctr"/>
            <a:r>
              <a:rPr lang="en" sz="2400"/>
              <a:t>Deferred Interrupt</a:t>
            </a:r>
            <a:endParaRPr sz="2400"/>
          </a:p>
        </p:txBody>
      </p:sp>
      <p:sp>
        <p:nvSpPr>
          <p:cNvPr id="228" name="Google Shape;228;p16"/>
          <p:cNvSpPr/>
          <p:nvPr/>
        </p:nvSpPr>
        <p:spPr>
          <a:xfrm>
            <a:off x="4534050" y="3813150"/>
            <a:ext cx="381000" cy="34290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solidFill>
                <a:srgbClr val="000000"/>
              </a:solidFill>
            </a:endParaRPr>
          </a:p>
        </p:txBody>
      </p:sp>
      <p:sp>
        <p:nvSpPr>
          <p:cNvPr id="229" name="Google Shape;229;p16"/>
          <p:cNvSpPr/>
          <p:nvPr/>
        </p:nvSpPr>
        <p:spPr>
          <a:xfrm>
            <a:off x="4991100" y="3813150"/>
            <a:ext cx="685800" cy="34290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rgbClr val="000000"/>
                </a:solidFill>
              </a:rPr>
              <a:t>Task A</a:t>
            </a:r>
            <a:endParaRPr sz="1200">
              <a:solidFill>
                <a:srgbClr val="000000"/>
              </a:solidFill>
            </a:endParaRPr>
          </a:p>
        </p:txBody>
      </p:sp>
      <p:sp>
        <p:nvSpPr>
          <p:cNvPr id="230" name="Google Shape;230;p16"/>
          <p:cNvSpPr/>
          <p:nvPr/>
        </p:nvSpPr>
        <p:spPr>
          <a:xfrm>
            <a:off x="445770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231" name="Google Shape;231;p16"/>
          <p:cNvSpPr txBox="1"/>
          <p:nvPr/>
        </p:nvSpPr>
        <p:spPr>
          <a:xfrm>
            <a:off x="2366988" y="1503550"/>
            <a:ext cx="2214300" cy="228600"/>
          </a:xfrm>
          <a:prstGeom prst="rect">
            <a:avLst/>
          </a:prstGeom>
          <a:noFill/>
          <a:ln>
            <a:noFill/>
          </a:ln>
        </p:spPr>
        <p:txBody>
          <a:bodyPr spcFirstLastPara="1" wrap="square" lIns="45713" tIns="45713" rIns="45713" bIns="45713" anchor="ctr" anchorCtr="0">
            <a:noAutofit/>
          </a:bodyPr>
          <a:lstStyle/>
          <a:p>
            <a:pPr algn="ctr"/>
            <a:r>
              <a:rPr lang="en" sz="1200"/>
              <a:t>Blocked waiting for semaphore</a:t>
            </a:r>
            <a:endParaRPr sz="1200"/>
          </a:p>
        </p:txBody>
      </p:sp>
      <p:sp>
        <p:nvSpPr>
          <p:cNvPr id="232" name="Google Shape;232;p16"/>
          <p:cNvSpPr/>
          <p:nvPr/>
        </p:nvSpPr>
        <p:spPr>
          <a:xfrm>
            <a:off x="5753100" y="3813150"/>
            <a:ext cx="134850" cy="34290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solidFill>
                <a:srgbClr val="000000"/>
              </a:solidFill>
            </a:endParaRPr>
          </a:p>
        </p:txBody>
      </p:sp>
      <p:sp>
        <p:nvSpPr>
          <p:cNvPr id="233" name="Google Shape;233;p16"/>
          <p:cNvSpPr/>
          <p:nvPr/>
        </p:nvSpPr>
        <p:spPr>
          <a:xfrm>
            <a:off x="5887950" y="1924050"/>
            <a:ext cx="76200" cy="342900"/>
          </a:xfrm>
          <a:prstGeom prst="rect">
            <a:avLst/>
          </a:prstGeom>
          <a:solidFill>
            <a:srgbClr val="F4CC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solidFill>
                <a:srgbClr val="000000"/>
              </a:solidFill>
            </a:endParaRPr>
          </a:p>
        </p:txBody>
      </p:sp>
      <p:sp>
        <p:nvSpPr>
          <p:cNvPr id="234" name="Google Shape;234;p16"/>
          <p:cNvSpPr/>
          <p:nvPr/>
        </p:nvSpPr>
        <p:spPr>
          <a:xfrm>
            <a:off x="596415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235" name="Google Shape;235;p16"/>
          <p:cNvSpPr/>
          <p:nvPr/>
        </p:nvSpPr>
        <p:spPr>
          <a:xfrm>
            <a:off x="6196650" y="4498950"/>
            <a:ext cx="762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236" name="Google Shape;236;p16"/>
          <p:cNvSpPr/>
          <p:nvPr/>
        </p:nvSpPr>
        <p:spPr>
          <a:xfrm>
            <a:off x="6272850" y="3813150"/>
            <a:ext cx="166200" cy="34290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solidFill>
                <a:srgbClr val="000000"/>
              </a:solidFill>
            </a:endParaRPr>
          </a:p>
        </p:txBody>
      </p:sp>
      <p:cxnSp>
        <p:nvCxnSpPr>
          <p:cNvPr id="237" name="Google Shape;237;p16"/>
          <p:cNvCxnSpPr/>
          <p:nvPr/>
        </p:nvCxnSpPr>
        <p:spPr>
          <a:xfrm>
            <a:off x="4182913" y="1710213"/>
            <a:ext cx="264450" cy="1417200"/>
          </a:xfrm>
          <a:prstGeom prst="straightConnector1">
            <a:avLst/>
          </a:prstGeom>
          <a:noFill/>
          <a:ln w="38100" cap="flat" cmpd="sng">
            <a:solidFill>
              <a:schemeClr val="dk2"/>
            </a:solidFill>
            <a:prstDash val="solid"/>
            <a:round/>
            <a:headEnd type="none" w="med" len="med"/>
            <a:tailEnd type="triangle" w="med" len="med"/>
          </a:ln>
        </p:spPr>
      </p:cxnSp>
      <p:sp>
        <p:nvSpPr>
          <p:cNvPr id="238" name="Google Shape;238;p16"/>
          <p:cNvSpPr txBox="1"/>
          <p:nvPr/>
        </p:nvSpPr>
        <p:spPr>
          <a:xfrm>
            <a:off x="4182913" y="1361088"/>
            <a:ext cx="2214300" cy="228600"/>
          </a:xfrm>
          <a:prstGeom prst="rect">
            <a:avLst/>
          </a:prstGeom>
          <a:noFill/>
          <a:ln>
            <a:noFill/>
          </a:ln>
        </p:spPr>
        <p:txBody>
          <a:bodyPr spcFirstLastPara="1" wrap="square" lIns="45713" tIns="45713" rIns="45713" bIns="45713" anchor="ctr" anchorCtr="0">
            <a:noAutofit/>
          </a:bodyPr>
          <a:lstStyle/>
          <a:p>
            <a:pPr algn="ctr"/>
            <a:r>
              <a:rPr lang="en" sz="1200"/>
              <a:t>ISR gives semaphore</a:t>
            </a:r>
            <a:endParaRPr sz="1200"/>
          </a:p>
        </p:txBody>
      </p:sp>
      <p:cxnSp>
        <p:nvCxnSpPr>
          <p:cNvPr id="239" name="Google Shape;239;p16"/>
          <p:cNvCxnSpPr/>
          <p:nvPr/>
        </p:nvCxnSpPr>
        <p:spPr>
          <a:xfrm>
            <a:off x="5964150" y="1547275"/>
            <a:ext cx="0" cy="365100"/>
          </a:xfrm>
          <a:prstGeom prst="straightConnector1">
            <a:avLst/>
          </a:prstGeom>
          <a:noFill/>
          <a:ln w="38100" cap="flat" cmpd="sng">
            <a:solidFill>
              <a:schemeClr val="dk2"/>
            </a:solidFill>
            <a:prstDash val="solid"/>
            <a:round/>
            <a:headEnd type="none" w="med" len="med"/>
            <a:tailEnd type="triangle" w="med" len="med"/>
          </a:ln>
        </p:spPr>
      </p:cxnSp>
      <p:sp>
        <p:nvSpPr>
          <p:cNvPr id="240" name="Google Shape;240;p16"/>
          <p:cNvSpPr txBox="1"/>
          <p:nvPr/>
        </p:nvSpPr>
        <p:spPr>
          <a:xfrm>
            <a:off x="6112200" y="1313850"/>
            <a:ext cx="1965000" cy="495900"/>
          </a:xfrm>
          <a:prstGeom prst="rect">
            <a:avLst/>
          </a:prstGeom>
          <a:noFill/>
          <a:ln>
            <a:noFill/>
          </a:ln>
        </p:spPr>
        <p:txBody>
          <a:bodyPr spcFirstLastPara="1" wrap="square" lIns="45713" tIns="45713" rIns="45713" bIns="45713" anchor="ctr" anchorCtr="0">
            <a:noAutofit/>
          </a:bodyPr>
          <a:lstStyle/>
          <a:p>
            <a:pPr algn="ctr"/>
            <a:r>
              <a:rPr lang="en" sz="1200"/>
              <a:t>Scheduler called to run newly unblocked task</a:t>
            </a:r>
            <a:endParaRPr sz="1200"/>
          </a:p>
        </p:txBody>
      </p:sp>
      <p:cxnSp>
        <p:nvCxnSpPr>
          <p:cNvPr id="241" name="Google Shape;241;p16"/>
          <p:cNvCxnSpPr/>
          <p:nvPr/>
        </p:nvCxnSpPr>
        <p:spPr>
          <a:xfrm flipH="1">
            <a:off x="6040225" y="1729800"/>
            <a:ext cx="316950" cy="1406700"/>
          </a:xfrm>
          <a:prstGeom prst="straightConnector1">
            <a:avLst/>
          </a:prstGeom>
          <a:noFill/>
          <a:ln w="38100" cap="flat" cmpd="sng">
            <a:solidFill>
              <a:schemeClr val="dk2"/>
            </a:solidFill>
            <a:prstDash val="solid"/>
            <a:round/>
            <a:headEnd type="none" w="med" len="med"/>
            <a:tailEnd type="triangle" w="med" len="med"/>
          </a:ln>
        </p:spPr>
      </p:cxnSp>
      <p:sp>
        <p:nvSpPr>
          <p:cNvPr id="242" name="Google Shape;242;p16"/>
          <p:cNvSpPr/>
          <p:nvPr/>
        </p:nvSpPr>
        <p:spPr>
          <a:xfrm>
            <a:off x="6515175" y="3813150"/>
            <a:ext cx="685800" cy="342900"/>
          </a:xfrm>
          <a:prstGeom prst="rect">
            <a:avLst/>
          </a:prstGeom>
          <a:solidFill>
            <a:srgbClr val="FFF2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rgbClr val="000000"/>
                </a:solidFill>
              </a:rPr>
              <a:t>Task A</a:t>
            </a:r>
            <a:endParaRPr sz="1200">
              <a:solidFill>
                <a:srgbClr val="000000"/>
              </a:solidFill>
            </a:endParaRPr>
          </a:p>
        </p:txBody>
      </p:sp>
      <p:cxnSp>
        <p:nvCxnSpPr>
          <p:cNvPr id="243" name="Google Shape;243;p16"/>
          <p:cNvCxnSpPr/>
          <p:nvPr/>
        </p:nvCxnSpPr>
        <p:spPr>
          <a:xfrm>
            <a:off x="5753100" y="1885950"/>
            <a:ext cx="0" cy="3527400"/>
          </a:xfrm>
          <a:prstGeom prst="straightConnector1">
            <a:avLst/>
          </a:prstGeom>
          <a:noFill/>
          <a:ln w="19050" cap="flat" cmpd="sng">
            <a:solidFill>
              <a:srgbClr val="595959"/>
            </a:solidFill>
            <a:prstDash val="dash"/>
            <a:round/>
            <a:headEnd type="none" w="med" len="med"/>
            <a:tailEnd type="none" w="med" len="med"/>
          </a:ln>
        </p:spPr>
      </p:cxnSp>
      <p:cxnSp>
        <p:nvCxnSpPr>
          <p:cNvPr id="244" name="Google Shape;244;p16"/>
          <p:cNvCxnSpPr/>
          <p:nvPr/>
        </p:nvCxnSpPr>
        <p:spPr>
          <a:xfrm>
            <a:off x="5891625" y="1885950"/>
            <a:ext cx="0" cy="3527400"/>
          </a:xfrm>
          <a:prstGeom prst="straightConnector1">
            <a:avLst/>
          </a:prstGeom>
          <a:noFill/>
          <a:ln w="19050" cap="flat" cmpd="sng">
            <a:solidFill>
              <a:srgbClr val="595959"/>
            </a:solidFill>
            <a:prstDash val="dash"/>
            <a:round/>
            <a:headEnd type="none" w="med" len="med"/>
            <a:tailEnd type="none" w="med" len="med"/>
          </a:ln>
        </p:spPr>
      </p:cxnSp>
      <p:cxnSp>
        <p:nvCxnSpPr>
          <p:cNvPr id="245" name="Google Shape;245;p16"/>
          <p:cNvCxnSpPr/>
          <p:nvPr/>
        </p:nvCxnSpPr>
        <p:spPr>
          <a:xfrm>
            <a:off x="5967825" y="1885950"/>
            <a:ext cx="0" cy="3527400"/>
          </a:xfrm>
          <a:prstGeom prst="straightConnector1">
            <a:avLst/>
          </a:prstGeom>
          <a:noFill/>
          <a:ln w="19050" cap="flat" cmpd="sng">
            <a:solidFill>
              <a:srgbClr val="595959"/>
            </a:solidFill>
            <a:prstDash val="dash"/>
            <a:round/>
            <a:headEnd type="none" w="med" len="med"/>
            <a:tailEnd type="none" w="med" len="med"/>
          </a:ln>
        </p:spPr>
      </p:cxnSp>
      <p:cxnSp>
        <p:nvCxnSpPr>
          <p:cNvPr id="246" name="Google Shape;246;p16"/>
          <p:cNvCxnSpPr/>
          <p:nvPr/>
        </p:nvCxnSpPr>
        <p:spPr>
          <a:xfrm>
            <a:off x="6044025" y="1885950"/>
            <a:ext cx="0" cy="3527400"/>
          </a:xfrm>
          <a:prstGeom prst="straightConnector1">
            <a:avLst/>
          </a:prstGeom>
          <a:noFill/>
          <a:ln w="19050" cap="flat" cmpd="sng">
            <a:solidFill>
              <a:srgbClr val="595959"/>
            </a:solidFill>
            <a:prstDash val="dash"/>
            <a:round/>
            <a:headEnd type="none" w="med" len="med"/>
            <a:tailEnd type="none" w="med" len="med"/>
          </a:ln>
        </p:spPr>
      </p:cxnSp>
      <p:cxnSp>
        <p:nvCxnSpPr>
          <p:cNvPr id="247" name="Google Shape;247;p16"/>
          <p:cNvCxnSpPr/>
          <p:nvPr/>
        </p:nvCxnSpPr>
        <p:spPr>
          <a:xfrm>
            <a:off x="6196425" y="1885950"/>
            <a:ext cx="0" cy="3527400"/>
          </a:xfrm>
          <a:prstGeom prst="straightConnector1">
            <a:avLst/>
          </a:prstGeom>
          <a:noFill/>
          <a:ln w="19050" cap="flat" cmpd="sng">
            <a:solidFill>
              <a:srgbClr val="595959"/>
            </a:solidFill>
            <a:prstDash val="dash"/>
            <a:round/>
            <a:headEnd type="none" w="med" len="med"/>
            <a:tailEnd type="none" w="med" len="med"/>
          </a:ln>
        </p:spPr>
      </p:cxnSp>
      <p:cxnSp>
        <p:nvCxnSpPr>
          <p:cNvPr id="248" name="Google Shape;248;p16"/>
          <p:cNvCxnSpPr/>
          <p:nvPr/>
        </p:nvCxnSpPr>
        <p:spPr>
          <a:xfrm>
            <a:off x="6272625" y="1885950"/>
            <a:ext cx="0" cy="3527400"/>
          </a:xfrm>
          <a:prstGeom prst="straightConnector1">
            <a:avLst/>
          </a:prstGeom>
          <a:noFill/>
          <a:ln w="19050" cap="flat" cmpd="sng">
            <a:solidFill>
              <a:srgbClr val="595959"/>
            </a:solidFill>
            <a:prstDash val="dash"/>
            <a:round/>
            <a:headEnd type="none" w="med" len="med"/>
            <a:tailEnd type="none" w="med" len="med"/>
          </a:ln>
        </p:spPr>
      </p:cxn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7"/>
          <p:cNvSpPr txBox="1"/>
          <p:nvPr/>
        </p:nvSpPr>
        <p:spPr>
          <a:xfrm>
            <a:off x="0" y="857250"/>
            <a:ext cx="9144000" cy="706200"/>
          </a:xfrm>
          <a:prstGeom prst="rect">
            <a:avLst/>
          </a:prstGeom>
          <a:noFill/>
          <a:ln>
            <a:noFill/>
          </a:ln>
        </p:spPr>
        <p:txBody>
          <a:bodyPr spcFirstLastPara="1" wrap="square" lIns="45713" tIns="45713" rIns="45713" bIns="45713" anchor="ctr" anchorCtr="0">
            <a:noAutofit/>
          </a:bodyPr>
          <a:lstStyle/>
          <a:p>
            <a:pPr algn="ctr"/>
            <a:r>
              <a:rPr lang="en" sz="2400"/>
              <a:t>Aging</a:t>
            </a:r>
            <a:endParaRPr sz="2400"/>
          </a:p>
        </p:txBody>
      </p:sp>
      <p:cxnSp>
        <p:nvCxnSpPr>
          <p:cNvPr id="254" name="Google Shape;254;p17"/>
          <p:cNvCxnSpPr/>
          <p:nvPr/>
        </p:nvCxnSpPr>
        <p:spPr>
          <a:xfrm rot="10800000">
            <a:off x="1545175" y="2189138"/>
            <a:ext cx="0" cy="3090450"/>
          </a:xfrm>
          <a:prstGeom prst="straightConnector1">
            <a:avLst/>
          </a:prstGeom>
          <a:noFill/>
          <a:ln w="38100" cap="flat" cmpd="sng">
            <a:solidFill>
              <a:schemeClr val="dk2"/>
            </a:solidFill>
            <a:prstDash val="solid"/>
            <a:round/>
            <a:headEnd type="none" w="med" len="med"/>
            <a:tailEnd type="triangle" w="med" len="med"/>
          </a:ln>
        </p:spPr>
      </p:cxnSp>
      <p:cxnSp>
        <p:nvCxnSpPr>
          <p:cNvPr id="255" name="Google Shape;255;p17"/>
          <p:cNvCxnSpPr/>
          <p:nvPr/>
        </p:nvCxnSpPr>
        <p:spPr>
          <a:xfrm>
            <a:off x="1290750" y="5070075"/>
            <a:ext cx="6562500" cy="0"/>
          </a:xfrm>
          <a:prstGeom prst="straightConnector1">
            <a:avLst/>
          </a:prstGeom>
          <a:noFill/>
          <a:ln w="38100" cap="flat" cmpd="sng">
            <a:solidFill>
              <a:schemeClr val="dk2"/>
            </a:solidFill>
            <a:prstDash val="solid"/>
            <a:round/>
            <a:headEnd type="none" w="med" len="med"/>
            <a:tailEnd type="triangle" w="med" len="med"/>
          </a:ln>
        </p:spPr>
      </p:cxnSp>
      <p:cxnSp>
        <p:nvCxnSpPr>
          <p:cNvPr id="256" name="Google Shape;256;p17"/>
          <p:cNvCxnSpPr/>
          <p:nvPr/>
        </p:nvCxnSpPr>
        <p:spPr>
          <a:xfrm>
            <a:off x="1545175" y="4689075"/>
            <a:ext cx="749100" cy="0"/>
          </a:xfrm>
          <a:prstGeom prst="straightConnector1">
            <a:avLst/>
          </a:prstGeom>
          <a:noFill/>
          <a:ln w="76200" cap="flat" cmpd="sng">
            <a:solidFill>
              <a:srgbClr val="0000FF"/>
            </a:solidFill>
            <a:prstDash val="dot"/>
            <a:round/>
            <a:headEnd type="none" w="med" len="med"/>
            <a:tailEnd type="none" w="med" len="med"/>
          </a:ln>
        </p:spPr>
      </p:cxnSp>
      <p:cxnSp>
        <p:nvCxnSpPr>
          <p:cNvPr id="257" name="Google Shape;257;p17"/>
          <p:cNvCxnSpPr/>
          <p:nvPr/>
        </p:nvCxnSpPr>
        <p:spPr>
          <a:xfrm>
            <a:off x="2307175" y="4308075"/>
            <a:ext cx="749100" cy="0"/>
          </a:xfrm>
          <a:prstGeom prst="straightConnector1">
            <a:avLst/>
          </a:prstGeom>
          <a:noFill/>
          <a:ln w="76200" cap="flat" cmpd="sng">
            <a:solidFill>
              <a:srgbClr val="0000FF"/>
            </a:solidFill>
            <a:prstDash val="dot"/>
            <a:round/>
            <a:headEnd type="none" w="med" len="med"/>
            <a:tailEnd type="none" w="med" len="med"/>
          </a:ln>
        </p:spPr>
      </p:cxnSp>
      <p:cxnSp>
        <p:nvCxnSpPr>
          <p:cNvPr id="258" name="Google Shape;258;p17"/>
          <p:cNvCxnSpPr/>
          <p:nvPr/>
        </p:nvCxnSpPr>
        <p:spPr>
          <a:xfrm>
            <a:off x="3069175" y="3927075"/>
            <a:ext cx="749100" cy="0"/>
          </a:xfrm>
          <a:prstGeom prst="straightConnector1">
            <a:avLst/>
          </a:prstGeom>
          <a:noFill/>
          <a:ln w="76200" cap="flat" cmpd="sng">
            <a:solidFill>
              <a:srgbClr val="0000FF"/>
            </a:solidFill>
            <a:prstDash val="dot"/>
            <a:round/>
            <a:headEnd type="none" w="med" len="med"/>
            <a:tailEnd type="none" w="med" len="med"/>
          </a:ln>
        </p:spPr>
      </p:cxnSp>
      <p:cxnSp>
        <p:nvCxnSpPr>
          <p:cNvPr id="259" name="Google Shape;259;p17"/>
          <p:cNvCxnSpPr/>
          <p:nvPr/>
        </p:nvCxnSpPr>
        <p:spPr>
          <a:xfrm>
            <a:off x="3831175" y="3546075"/>
            <a:ext cx="749100" cy="0"/>
          </a:xfrm>
          <a:prstGeom prst="straightConnector1">
            <a:avLst/>
          </a:prstGeom>
          <a:noFill/>
          <a:ln w="76200" cap="flat" cmpd="sng">
            <a:solidFill>
              <a:srgbClr val="0000FF"/>
            </a:solidFill>
            <a:prstDash val="solid"/>
            <a:round/>
            <a:headEnd type="none" w="med" len="med"/>
            <a:tailEnd type="none" w="med" len="med"/>
          </a:ln>
        </p:spPr>
      </p:cxnSp>
      <p:cxnSp>
        <p:nvCxnSpPr>
          <p:cNvPr id="260" name="Google Shape;260;p17"/>
          <p:cNvCxnSpPr/>
          <p:nvPr/>
        </p:nvCxnSpPr>
        <p:spPr>
          <a:xfrm>
            <a:off x="4593175" y="3546075"/>
            <a:ext cx="749100" cy="0"/>
          </a:xfrm>
          <a:prstGeom prst="straightConnector1">
            <a:avLst/>
          </a:prstGeom>
          <a:noFill/>
          <a:ln w="76200" cap="flat" cmpd="sng">
            <a:solidFill>
              <a:srgbClr val="FF9900"/>
            </a:solidFill>
            <a:prstDash val="solid"/>
            <a:round/>
            <a:headEnd type="none" w="med" len="med"/>
            <a:tailEnd type="none" w="med" len="med"/>
          </a:ln>
        </p:spPr>
      </p:cxnSp>
      <p:cxnSp>
        <p:nvCxnSpPr>
          <p:cNvPr id="261" name="Google Shape;261;p17"/>
          <p:cNvCxnSpPr/>
          <p:nvPr/>
        </p:nvCxnSpPr>
        <p:spPr>
          <a:xfrm>
            <a:off x="5355175" y="3546075"/>
            <a:ext cx="749100" cy="0"/>
          </a:xfrm>
          <a:prstGeom prst="straightConnector1">
            <a:avLst/>
          </a:prstGeom>
          <a:noFill/>
          <a:ln w="76200" cap="flat" cmpd="sng">
            <a:solidFill>
              <a:srgbClr val="0000FF"/>
            </a:solidFill>
            <a:prstDash val="solid"/>
            <a:round/>
            <a:headEnd type="none" w="med" len="med"/>
            <a:tailEnd type="none" w="med" len="med"/>
          </a:ln>
        </p:spPr>
      </p:cxnSp>
      <p:cxnSp>
        <p:nvCxnSpPr>
          <p:cNvPr id="262" name="Google Shape;262;p17"/>
          <p:cNvCxnSpPr/>
          <p:nvPr/>
        </p:nvCxnSpPr>
        <p:spPr>
          <a:xfrm>
            <a:off x="6117175" y="3546075"/>
            <a:ext cx="1406700" cy="0"/>
          </a:xfrm>
          <a:prstGeom prst="straightConnector1">
            <a:avLst/>
          </a:prstGeom>
          <a:noFill/>
          <a:ln w="76200" cap="flat" cmpd="sng">
            <a:solidFill>
              <a:srgbClr val="FF9900"/>
            </a:solidFill>
            <a:prstDash val="solid"/>
            <a:round/>
            <a:headEnd type="none" w="med" len="med"/>
            <a:tailEnd type="none" w="med" len="med"/>
          </a:ln>
        </p:spPr>
      </p:cxnSp>
      <p:cxnSp>
        <p:nvCxnSpPr>
          <p:cNvPr id="263" name="Google Shape;263;p17"/>
          <p:cNvCxnSpPr/>
          <p:nvPr/>
        </p:nvCxnSpPr>
        <p:spPr>
          <a:xfrm>
            <a:off x="6117175" y="4689075"/>
            <a:ext cx="749100" cy="0"/>
          </a:xfrm>
          <a:prstGeom prst="straightConnector1">
            <a:avLst/>
          </a:prstGeom>
          <a:noFill/>
          <a:ln w="76200" cap="flat" cmpd="sng">
            <a:solidFill>
              <a:srgbClr val="0000FF"/>
            </a:solidFill>
            <a:prstDash val="dot"/>
            <a:round/>
            <a:headEnd type="none" w="med" len="med"/>
            <a:tailEnd type="none" w="med" len="med"/>
          </a:ln>
        </p:spPr>
      </p:cxnSp>
      <p:cxnSp>
        <p:nvCxnSpPr>
          <p:cNvPr id="264" name="Google Shape;264;p17"/>
          <p:cNvCxnSpPr/>
          <p:nvPr/>
        </p:nvCxnSpPr>
        <p:spPr>
          <a:xfrm>
            <a:off x="6879175" y="4308075"/>
            <a:ext cx="749100" cy="0"/>
          </a:xfrm>
          <a:prstGeom prst="straightConnector1">
            <a:avLst/>
          </a:prstGeom>
          <a:noFill/>
          <a:ln w="76200" cap="flat" cmpd="sng">
            <a:solidFill>
              <a:srgbClr val="0000FF"/>
            </a:solidFill>
            <a:prstDash val="dot"/>
            <a:round/>
            <a:headEnd type="none" w="med" len="med"/>
            <a:tailEnd type="none" w="med" len="med"/>
          </a:ln>
        </p:spPr>
      </p:cxnSp>
      <p:cxnSp>
        <p:nvCxnSpPr>
          <p:cNvPr id="265" name="Google Shape;265;p17"/>
          <p:cNvCxnSpPr/>
          <p:nvPr/>
        </p:nvCxnSpPr>
        <p:spPr>
          <a:xfrm>
            <a:off x="1560138" y="3536100"/>
            <a:ext cx="2258100" cy="10050"/>
          </a:xfrm>
          <a:prstGeom prst="straightConnector1">
            <a:avLst/>
          </a:prstGeom>
          <a:noFill/>
          <a:ln w="76200" cap="flat" cmpd="sng">
            <a:solidFill>
              <a:srgbClr val="FF9900"/>
            </a:solidFill>
            <a:prstDash val="solid"/>
            <a:round/>
            <a:headEnd type="none" w="med" len="med"/>
            <a:tailEnd type="none" w="med" len="med"/>
          </a:ln>
        </p:spPr>
      </p:cxnSp>
      <p:sp>
        <p:nvSpPr>
          <p:cNvPr id="266" name="Google Shape;266;p17"/>
          <p:cNvSpPr txBox="1"/>
          <p:nvPr/>
        </p:nvSpPr>
        <p:spPr>
          <a:xfrm>
            <a:off x="602338" y="2189138"/>
            <a:ext cx="845550" cy="553984"/>
          </a:xfrm>
          <a:prstGeom prst="rect">
            <a:avLst/>
          </a:prstGeom>
          <a:noFill/>
          <a:ln>
            <a:noFill/>
          </a:ln>
        </p:spPr>
        <p:txBody>
          <a:bodyPr spcFirstLastPara="1" wrap="square" lIns="45713" tIns="45713" rIns="45713" bIns="45713" anchor="t" anchorCtr="0">
            <a:spAutoFit/>
          </a:bodyPr>
          <a:lstStyle/>
          <a:p>
            <a:pPr algn="r"/>
            <a:r>
              <a:rPr lang="en" sz="1500"/>
              <a:t>Task</a:t>
            </a:r>
            <a:endParaRPr sz="1500"/>
          </a:p>
          <a:p>
            <a:pPr algn="r"/>
            <a:r>
              <a:rPr lang="en" sz="1500"/>
              <a:t>Priority</a:t>
            </a:r>
            <a:endParaRPr sz="1500"/>
          </a:p>
        </p:txBody>
      </p:sp>
      <p:sp>
        <p:nvSpPr>
          <p:cNvPr id="267" name="Google Shape;267;p17"/>
          <p:cNvSpPr txBox="1"/>
          <p:nvPr/>
        </p:nvSpPr>
        <p:spPr>
          <a:xfrm>
            <a:off x="6925400" y="5070075"/>
            <a:ext cx="845550" cy="323151"/>
          </a:xfrm>
          <a:prstGeom prst="rect">
            <a:avLst/>
          </a:prstGeom>
          <a:noFill/>
          <a:ln>
            <a:noFill/>
          </a:ln>
        </p:spPr>
        <p:txBody>
          <a:bodyPr spcFirstLastPara="1" wrap="square" lIns="45713" tIns="45713" rIns="45713" bIns="45713" anchor="t" anchorCtr="0">
            <a:spAutoFit/>
          </a:bodyPr>
          <a:lstStyle/>
          <a:p>
            <a:pPr algn="r"/>
            <a:r>
              <a:rPr lang="en" sz="1500"/>
              <a:t>Time</a:t>
            </a:r>
            <a:endParaRPr sz="1500"/>
          </a:p>
        </p:txBody>
      </p:sp>
      <p:sp>
        <p:nvSpPr>
          <p:cNvPr id="268" name="Google Shape;268;p17"/>
          <p:cNvSpPr txBox="1"/>
          <p:nvPr/>
        </p:nvSpPr>
        <p:spPr>
          <a:xfrm>
            <a:off x="1545175" y="4365825"/>
            <a:ext cx="689700" cy="323151"/>
          </a:xfrm>
          <a:prstGeom prst="rect">
            <a:avLst/>
          </a:prstGeom>
          <a:noFill/>
          <a:ln>
            <a:noFill/>
          </a:ln>
        </p:spPr>
        <p:txBody>
          <a:bodyPr spcFirstLastPara="1" wrap="square" lIns="45713" tIns="45713" rIns="45713" bIns="45713" anchor="t" anchorCtr="0">
            <a:spAutoFit/>
          </a:bodyPr>
          <a:lstStyle/>
          <a:p>
            <a:pPr algn="ctr"/>
            <a:r>
              <a:rPr lang="en" sz="1500"/>
              <a:t>Task B</a:t>
            </a:r>
            <a:endParaRPr sz="1500"/>
          </a:p>
        </p:txBody>
      </p:sp>
      <p:sp>
        <p:nvSpPr>
          <p:cNvPr id="269" name="Google Shape;269;p17"/>
          <p:cNvSpPr txBox="1"/>
          <p:nvPr/>
        </p:nvSpPr>
        <p:spPr>
          <a:xfrm>
            <a:off x="1545175" y="3222825"/>
            <a:ext cx="689700" cy="323151"/>
          </a:xfrm>
          <a:prstGeom prst="rect">
            <a:avLst/>
          </a:prstGeom>
          <a:noFill/>
          <a:ln>
            <a:noFill/>
          </a:ln>
        </p:spPr>
        <p:txBody>
          <a:bodyPr spcFirstLastPara="1" wrap="square" lIns="45713" tIns="45713" rIns="45713" bIns="45713" anchor="t" anchorCtr="0">
            <a:spAutoFit/>
          </a:bodyPr>
          <a:lstStyle/>
          <a:p>
            <a:pPr algn="ctr"/>
            <a:r>
              <a:rPr lang="en" sz="1500"/>
              <a:t>Task A</a:t>
            </a:r>
            <a:endParaRPr sz="1500"/>
          </a:p>
        </p:txBody>
      </p:sp>
      <p:sp>
        <p:nvSpPr>
          <p:cNvPr id="270" name="Google Shape;270;p17"/>
          <p:cNvSpPr txBox="1"/>
          <p:nvPr/>
        </p:nvSpPr>
        <p:spPr>
          <a:xfrm>
            <a:off x="919025" y="4527450"/>
            <a:ext cx="581250" cy="323151"/>
          </a:xfrm>
          <a:prstGeom prst="rect">
            <a:avLst/>
          </a:prstGeom>
          <a:noFill/>
          <a:ln>
            <a:noFill/>
          </a:ln>
        </p:spPr>
        <p:txBody>
          <a:bodyPr spcFirstLastPara="1" wrap="square" lIns="45713" tIns="45713" rIns="45713" bIns="45713" anchor="t" anchorCtr="0">
            <a:spAutoFit/>
          </a:bodyPr>
          <a:lstStyle/>
          <a:p>
            <a:pPr algn="r"/>
            <a:r>
              <a:rPr lang="en" sz="1500"/>
              <a:t>1</a:t>
            </a:r>
            <a:endParaRPr sz="1500"/>
          </a:p>
        </p:txBody>
      </p:sp>
      <p:sp>
        <p:nvSpPr>
          <p:cNvPr id="271" name="Google Shape;271;p17"/>
          <p:cNvSpPr txBox="1"/>
          <p:nvPr/>
        </p:nvSpPr>
        <p:spPr>
          <a:xfrm>
            <a:off x="919025" y="5060850"/>
            <a:ext cx="581250" cy="323151"/>
          </a:xfrm>
          <a:prstGeom prst="rect">
            <a:avLst/>
          </a:prstGeom>
          <a:noFill/>
          <a:ln>
            <a:noFill/>
          </a:ln>
        </p:spPr>
        <p:txBody>
          <a:bodyPr spcFirstLastPara="1" wrap="square" lIns="45713" tIns="45713" rIns="45713" bIns="45713" anchor="t" anchorCtr="0">
            <a:spAutoFit/>
          </a:bodyPr>
          <a:lstStyle/>
          <a:p>
            <a:pPr algn="r"/>
            <a:r>
              <a:rPr lang="en" sz="1500"/>
              <a:t>0</a:t>
            </a:r>
            <a:endParaRPr sz="1500"/>
          </a:p>
        </p:txBody>
      </p:sp>
      <p:sp>
        <p:nvSpPr>
          <p:cNvPr id="272" name="Google Shape;272;p17"/>
          <p:cNvSpPr txBox="1"/>
          <p:nvPr/>
        </p:nvSpPr>
        <p:spPr>
          <a:xfrm>
            <a:off x="919025" y="4146450"/>
            <a:ext cx="581250" cy="323151"/>
          </a:xfrm>
          <a:prstGeom prst="rect">
            <a:avLst/>
          </a:prstGeom>
          <a:noFill/>
          <a:ln>
            <a:noFill/>
          </a:ln>
        </p:spPr>
        <p:txBody>
          <a:bodyPr spcFirstLastPara="1" wrap="square" lIns="45713" tIns="45713" rIns="45713" bIns="45713" anchor="t" anchorCtr="0">
            <a:spAutoFit/>
          </a:bodyPr>
          <a:lstStyle/>
          <a:p>
            <a:pPr algn="r"/>
            <a:r>
              <a:rPr lang="en" sz="1500"/>
              <a:t>2</a:t>
            </a:r>
            <a:endParaRPr sz="1500"/>
          </a:p>
        </p:txBody>
      </p:sp>
      <p:sp>
        <p:nvSpPr>
          <p:cNvPr id="273" name="Google Shape;273;p17"/>
          <p:cNvSpPr txBox="1"/>
          <p:nvPr/>
        </p:nvSpPr>
        <p:spPr>
          <a:xfrm>
            <a:off x="919025" y="3765450"/>
            <a:ext cx="581250" cy="323151"/>
          </a:xfrm>
          <a:prstGeom prst="rect">
            <a:avLst/>
          </a:prstGeom>
          <a:noFill/>
          <a:ln>
            <a:noFill/>
          </a:ln>
        </p:spPr>
        <p:txBody>
          <a:bodyPr spcFirstLastPara="1" wrap="square" lIns="45713" tIns="45713" rIns="45713" bIns="45713" anchor="t" anchorCtr="0">
            <a:spAutoFit/>
          </a:bodyPr>
          <a:lstStyle/>
          <a:p>
            <a:pPr algn="r"/>
            <a:r>
              <a:rPr lang="en" sz="1500"/>
              <a:t>3</a:t>
            </a:r>
            <a:endParaRPr sz="1500"/>
          </a:p>
        </p:txBody>
      </p:sp>
      <p:sp>
        <p:nvSpPr>
          <p:cNvPr id="274" name="Google Shape;274;p17"/>
          <p:cNvSpPr txBox="1"/>
          <p:nvPr/>
        </p:nvSpPr>
        <p:spPr>
          <a:xfrm>
            <a:off x="919025" y="3384450"/>
            <a:ext cx="581250" cy="323151"/>
          </a:xfrm>
          <a:prstGeom prst="rect">
            <a:avLst/>
          </a:prstGeom>
          <a:noFill/>
          <a:ln>
            <a:noFill/>
          </a:ln>
        </p:spPr>
        <p:txBody>
          <a:bodyPr spcFirstLastPara="1" wrap="square" lIns="45713" tIns="45713" rIns="45713" bIns="45713" anchor="t" anchorCtr="0">
            <a:spAutoFit/>
          </a:bodyPr>
          <a:lstStyle/>
          <a:p>
            <a:pPr algn="r"/>
            <a:r>
              <a:rPr lang="en" sz="1500"/>
              <a:t>4</a:t>
            </a:r>
            <a:endParaRPr sz="1500"/>
          </a:p>
        </p:txBody>
      </p:sp>
      <p:sp>
        <p:nvSpPr>
          <p:cNvPr id="275" name="Google Shape;275;p17"/>
          <p:cNvSpPr txBox="1"/>
          <p:nvPr/>
        </p:nvSpPr>
        <p:spPr>
          <a:xfrm rot="-5400000">
            <a:off x="1149950" y="3034175"/>
            <a:ext cx="377400" cy="323151"/>
          </a:xfrm>
          <a:prstGeom prst="rect">
            <a:avLst/>
          </a:prstGeom>
          <a:noFill/>
          <a:ln>
            <a:noFill/>
          </a:ln>
        </p:spPr>
        <p:txBody>
          <a:bodyPr spcFirstLastPara="1" wrap="square" lIns="45713" tIns="45713" rIns="45713" bIns="45713" anchor="t" anchorCtr="0">
            <a:spAutoFit/>
          </a:bodyPr>
          <a:lstStyle/>
          <a:p>
            <a:pPr algn="ctr"/>
            <a:r>
              <a:rPr lang="en" sz="1500"/>
              <a:t>...</a:t>
            </a:r>
            <a:endParaRPr sz="15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6"/>
                                        </p:tgtEl>
                                        <p:attrNameLst>
                                          <p:attrName>style.visibility</p:attrName>
                                        </p:attrNameLst>
                                      </p:cBhvr>
                                      <p:to>
                                        <p:strVal val="visible"/>
                                      </p:to>
                                    </p:set>
                                    <p:animEffect transition="in" filter="fade">
                                      <p:cBhvr>
                                        <p:cTn id="7" dur="1000"/>
                                        <p:tgtEl>
                                          <p:spTgt spid="256"/>
                                        </p:tgtEl>
                                      </p:cBhvr>
                                    </p:animEffect>
                                  </p:childTnLst>
                                </p:cTn>
                              </p:par>
                              <p:par>
                                <p:cTn id="8" presetID="10" presetClass="entr" presetSubtype="0" fill="hold" nodeType="withEffect">
                                  <p:stCondLst>
                                    <p:cond delay="0"/>
                                  </p:stCondLst>
                                  <p:childTnLst>
                                    <p:set>
                                      <p:cBhvr>
                                        <p:cTn id="9" dur="1" fill="hold">
                                          <p:stCondLst>
                                            <p:cond delay="0"/>
                                          </p:stCondLst>
                                        </p:cTn>
                                        <p:tgtEl>
                                          <p:spTgt spid="265"/>
                                        </p:tgtEl>
                                        <p:attrNameLst>
                                          <p:attrName>style.visibility</p:attrName>
                                        </p:attrNameLst>
                                      </p:cBhvr>
                                      <p:to>
                                        <p:strVal val="visible"/>
                                      </p:to>
                                    </p:set>
                                    <p:animEffect transition="in" filter="fade">
                                      <p:cBhvr>
                                        <p:cTn id="10" dur="1000"/>
                                        <p:tgtEl>
                                          <p:spTgt spid="265"/>
                                        </p:tgtEl>
                                      </p:cBhvr>
                                    </p:animEffect>
                                  </p:childTnLst>
                                </p:cTn>
                              </p:par>
                              <p:par>
                                <p:cTn id="11" presetID="10" presetClass="entr" presetSubtype="0" fill="hold" nodeType="withEffect">
                                  <p:stCondLst>
                                    <p:cond delay="0"/>
                                  </p:stCondLst>
                                  <p:childTnLst>
                                    <p:set>
                                      <p:cBhvr>
                                        <p:cTn id="12" dur="1" fill="hold">
                                          <p:stCondLst>
                                            <p:cond delay="0"/>
                                          </p:stCondLst>
                                        </p:cTn>
                                        <p:tgtEl>
                                          <p:spTgt spid="268"/>
                                        </p:tgtEl>
                                        <p:attrNameLst>
                                          <p:attrName>style.visibility</p:attrName>
                                        </p:attrNameLst>
                                      </p:cBhvr>
                                      <p:to>
                                        <p:strVal val="visible"/>
                                      </p:to>
                                    </p:set>
                                    <p:animEffect transition="in" filter="fade">
                                      <p:cBhvr>
                                        <p:cTn id="13" dur="1000"/>
                                        <p:tgtEl>
                                          <p:spTgt spid="268"/>
                                        </p:tgtEl>
                                      </p:cBhvr>
                                    </p:animEffect>
                                  </p:childTnLst>
                                </p:cTn>
                              </p:par>
                              <p:par>
                                <p:cTn id="14" presetID="10" presetClass="entr" presetSubtype="0" fill="hold" nodeType="withEffect">
                                  <p:stCondLst>
                                    <p:cond delay="0"/>
                                  </p:stCondLst>
                                  <p:childTnLst>
                                    <p:set>
                                      <p:cBhvr>
                                        <p:cTn id="15" dur="1" fill="hold">
                                          <p:stCondLst>
                                            <p:cond delay="0"/>
                                          </p:stCondLst>
                                        </p:cTn>
                                        <p:tgtEl>
                                          <p:spTgt spid="269"/>
                                        </p:tgtEl>
                                        <p:attrNameLst>
                                          <p:attrName>style.visibility</p:attrName>
                                        </p:attrNameLst>
                                      </p:cBhvr>
                                      <p:to>
                                        <p:strVal val="visible"/>
                                      </p:to>
                                    </p:set>
                                    <p:animEffect transition="in" filter="fade">
                                      <p:cBhvr>
                                        <p:cTn id="16" dur="1000"/>
                                        <p:tgtEl>
                                          <p:spTgt spid="26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57"/>
                                        </p:tgtEl>
                                        <p:attrNameLst>
                                          <p:attrName>style.visibility</p:attrName>
                                        </p:attrNameLst>
                                      </p:cBhvr>
                                      <p:to>
                                        <p:strVal val="visible"/>
                                      </p:to>
                                    </p:set>
                                    <p:animEffect transition="in" filter="fade">
                                      <p:cBhvr>
                                        <p:cTn id="21" dur="1000"/>
                                        <p:tgtEl>
                                          <p:spTgt spid="25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58"/>
                                        </p:tgtEl>
                                        <p:attrNameLst>
                                          <p:attrName>style.visibility</p:attrName>
                                        </p:attrNameLst>
                                      </p:cBhvr>
                                      <p:to>
                                        <p:strVal val="visible"/>
                                      </p:to>
                                    </p:set>
                                    <p:animEffect transition="in" filter="fade">
                                      <p:cBhvr>
                                        <p:cTn id="26" dur="1000"/>
                                        <p:tgtEl>
                                          <p:spTgt spid="25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59"/>
                                        </p:tgtEl>
                                        <p:attrNameLst>
                                          <p:attrName>style.visibility</p:attrName>
                                        </p:attrNameLst>
                                      </p:cBhvr>
                                      <p:to>
                                        <p:strVal val="visible"/>
                                      </p:to>
                                    </p:set>
                                    <p:animEffect transition="in" filter="fade">
                                      <p:cBhvr>
                                        <p:cTn id="31" dur="1000"/>
                                        <p:tgtEl>
                                          <p:spTgt spid="259"/>
                                        </p:tgtEl>
                                      </p:cBhvr>
                                    </p:animEffect>
                                  </p:childTnLst>
                                </p:cTn>
                              </p:par>
                              <p:par>
                                <p:cTn id="32" presetID="10" presetClass="entr" presetSubtype="0" fill="hold" nodeType="withEffect">
                                  <p:stCondLst>
                                    <p:cond delay="0"/>
                                  </p:stCondLst>
                                  <p:childTnLst>
                                    <p:set>
                                      <p:cBhvr>
                                        <p:cTn id="33" dur="1" fill="hold">
                                          <p:stCondLst>
                                            <p:cond delay="0"/>
                                          </p:stCondLst>
                                        </p:cTn>
                                        <p:tgtEl>
                                          <p:spTgt spid="260"/>
                                        </p:tgtEl>
                                        <p:attrNameLst>
                                          <p:attrName>style.visibility</p:attrName>
                                        </p:attrNameLst>
                                      </p:cBhvr>
                                      <p:to>
                                        <p:strVal val="visible"/>
                                      </p:to>
                                    </p:set>
                                    <p:animEffect transition="in" filter="fade">
                                      <p:cBhvr>
                                        <p:cTn id="34" dur="1000"/>
                                        <p:tgtEl>
                                          <p:spTgt spid="260"/>
                                        </p:tgtEl>
                                      </p:cBhvr>
                                    </p:animEffect>
                                  </p:childTnLst>
                                </p:cTn>
                              </p:par>
                              <p:par>
                                <p:cTn id="35" presetID="10" presetClass="entr" presetSubtype="0" fill="hold" nodeType="withEffect">
                                  <p:stCondLst>
                                    <p:cond delay="0"/>
                                  </p:stCondLst>
                                  <p:childTnLst>
                                    <p:set>
                                      <p:cBhvr>
                                        <p:cTn id="36" dur="1" fill="hold">
                                          <p:stCondLst>
                                            <p:cond delay="0"/>
                                          </p:stCondLst>
                                        </p:cTn>
                                        <p:tgtEl>
                                          <p:spTgt spid="261"/>
                                        </p:tgtEl>
                                        <p:attrNameLst>
                                          <p:attrName>style.visibility</p:attrName>
                                        </p:attrNameLst>
                                      </p:cBhvr>
                                      <p:to>
                                        <p:strVal val="visible"/>
                                      </p:to>
                                    </p:set>
                                    <p:animEffect transition="in" filter="fade">
                                      <p:cBhvr>
                                        <p:cTn id="37" dur="1000"/>
                                        <p:tgtEl>
                                          <p:spTgt spid="26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62"/>
                                        </p:tgtEl>
                                        <p:attrNameLst>
                                          <p:attrName>style.visibility</p:attrName>
                                        </p:attrNameLst>
                                      </p:cBhvr>
                                      <p:to>
                                        <p:strVal val="visible"/>
                                      </p:to>
                                    </p:set>
                                    <p:animEffect transition="in" filter="fade">
                                      <p:cBhvr>
                                        <p:cTn id="42" dur="1000"/>
                                        <p:tgtEl>
                                          <p:spTgt spid="262"/>
                                        </p:tgtEl>
                                      </p:cBhvr>
                                    </p:animEffect>
                                  </p:childTnLst>
                                </p:cTn>
                              </p:par>
                              <p:par>
                                <p:cTn id="43" presetID="10" presetClass="entr" presetSubtype="0" fill="hold" nodeType="withEffect">
                                  <p:stCondLst>
                                    <p:cond delay="0"/>
                                  </p:stCondLst>
                                  <p:childTnLst>
                                    <p:set>
                                      <p:cBhvr>
                                        <p:cTn id="44" dur="1" fill="hold">
                                          <p:stCondLst>
                                            <p:cond delay="0"/>
                                          </p:stCondLst>
                                        </p:cTn>
                                        <p:tgtEl>
                                          <p:spTgt spid="263"/>
                                        </p:tgtEl>
                                        <p:attrNameLst>
                                          <p:attrName>style.visibility</p:attrName>
                                        </p:attrNameLst>
                                      </p:cBhvr>
                                      <p:to>
                                        <p:strVal val="visible"/>
                                      </p:to>
                                    </p:set>
                                    <p:animEffect transition="in" filter="fade">
                                      <p:cBhvr>
                                        <p:cTn id="45" dur="1000"/>
                                        <p:tgtEl>
                                          <p:spTgt spid="263"/>
                                        </p:tgtEl>
                                      </p:cBhvr>
                                    </p:animEffect>
                                  </p:childTnLst>
                                </p:cTn>
                              </p:par>
                              <p:par>
                                <p:cTn id="46" presetID="10" presetClass="entr" presetSubtype="0" fill="hold" nodeType="withEffect">
                                  <p:stCondLst>
                                    <p:cond delay="0"/>
                                  </p:stCondLst>
                                  <p:childTnLst>
                                    <p:set>
                                      <p:cBhvr>
                                        <p:cTn id="47" dur="1" fill="hold">
                                          <p:stCondLst>
                                            <p:cond delay="0"/>
                                          </p:stCondLst>
                                        </p:cTn>
                                        <p:tgtEl>
                                          <p:spTgt spid="264"/>
                                        </p:tgtEl>
                                        <p:attrNameLst>
                                          <p:attrName>style.visibility</p:attrName>
                                        </p:attrNameLst>
                                      </p:cBhvr>
                                      <p:to>
                                        <p:strVal val="visible"/>
                                      </p:to>
                                    </p:set>
                                    <p:animEffect transition="in" filter="fade">
                                      <p:cBhvr>
                                        <p:cTn id="48" dur="1000"/>
                                        <p:tgtEl>
                                          <p:spTgt spid="2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18"/>
          <p:cNvSpPr/>
          <p:nvPr/>
        </p:nvSpPr>
        <p:spPr>
          <a:xfrm>
            <a:off x="3389862" y="2035757"/>
            <a:ext cx="2364300" cy="2364300"/>
          </a:xfrm>
          <a:prstGeom prst="ellipse">
            <a:avLst/>
          </a:prstGeom>
          <a:solidFill>
            <a:srgbClr val="783F04"/>
          </a:solidFill>
          <a:ln>
            <a:noFill/>
          </a:ln>
        </p:spPr>
        <p:txBody>
          <a:bodyPr spcFirstLastPara="1" wrap="square" lIns="45713" tIns="45713" rIns="45713" bIns="45713" anchor="ctr" anchorCtr="0">
            <a:noAutofit/>
          </a:bodyPr>
          <a:lstStyle/>
          <a:p>
            <a:endParaRPr sz="900"/>
          </a:p>
        </p:txBody>
      </p:sp>
      <p:pic>
        <p:nvPicPr>
          <p:cNvPr id="281" name="Google Shape;281;p18"/>
          <p:cNvPicPr preferRelativeResize="0"/>
          <p:nvPr/>
        </p:nvPicPr>
        <p:blipFill>
          <a:blip r:embed="rId3">
            <a:alphaModFix/>
          </a:blip>
          <a:stretch>
            <a:fillRect/>
          </a:stretch>
        </p:blipFill>
        <p:spPr>
          <a:xfrm>
            <a:off x="5100038" y="1243400"/>
            <a:ext cx="1219200" cy="1219200"/>
          </a:xfrm>
          <a:prstGeom prst="rect">
            <a:avLst/>
          </a:prstGeom>
          <a:noFill/>
          <a:ln>
            <a:noFill/>
          </a:ln>
        </p:spPr>
      </p:pic>
      <p:pic>
        <p:nvPicPr>
          <p:cNvPr id="282" name="Google Shape;282;p18"/>
          <p:cNvPicPr preferRelativeResize="0"/>
          <p:nvPr/>
        </p:nvPicPr>
        <p:blipFill>
          <a:blip r:embed="rId4">
            <a:alphaModFix/>
          </a:blip>
          <a:stretch>
            <a:fillRect/>
          </a:stretch>
        </p:blipFill>
        <p:spPr>
          <a:xfrm>
            <a:off x="3962394" y="4395400"/>
            <a:ext cx="1219200" cy="1219200"/>
          </a:xfrm>
          <a:prstGeom prst="rect">
            <a:avLst/>
          </a:prstGeom>
          <a:noFill/>
          <a:ln>
            <a:noFill/>
          </a:ln>
        </p:spPr>
      </p:pic>
      <p:pic>
        <p:nvPicPr>
          <p:cNvPr id="283" name="Google Shape;283;p18"/>
          <p:cNvPicPr preferRelativeResize="0"/>
          <p:nvPr/>
        </p:nvPicPr>
        <p:blipFill>
          <a:blip r:embed="rId5">
            <a:alphaModFix/>
          </a:blip>
          <a:stretch>
            <a:fillRect/>
          </a:stretch>
        </p:blipFill>
        <p:spPr>
          <a:xfrm>
            <a:off x="2292325" y="3217875"/>
            <a:ext cx="1219200" cy="1219200"/>
          </a:xfrm>
          <a:prstGeom prst="rect">
            <a:avLst/>
          </a:prstGeom>
          <a:noFill/>
          <a:ln>
            <a:noFill/>
          </a:ln>
        </p:spPr>
      </p:pic>
      <p:pic>
        <p:nvPicPr>
          <p:cNvPr id="284" name="Google Shape;284;p18"/>
          <p:cNvPicPr preferRelativeResize="0"/>
          <p:nvPr/>
        </p:nvPicPr>
        <p:blipFill>
          <a:blip r:embed="rId6">
            <a:alphaModFix/>
          </a:blip>
          <a:stretch>
            <a:fillRect/>
          </a:stretch>
        </p:blipFill>
        <p:spPr>
          <a:xfrm>
            <a:off x="5632475" y="3217875"/>
            <a:ext cx="1219200" cy="1219200"/>
          </a:xfrm>
          <a:prstGeom prst="rect">
            <a:avLst/>
          </a:prstGeom>
          <a:noFill/>
          <a:ln>
            <a:noFill/>
          </a:ln>
        </p:spPr>
      </p:pic>
      <p:pic>
        <p:nvPicPr>
          <p:cNvPr id="285" name="Google Shape;285;p18"/>
          <p:cNvPicPr preferRelativeResize="0"/>
          <p:nvPr/>
        </p:nvPicPr>
        <p:blipFill>
          <a:blip r:embed="rId7">
            <a:alphaModFix/>
          </a:blip>
          <a:stretch>
            <a:fillRect/>
          </a:stretch>
        </p:blipFill>
        <p:spPr>
          <a:xfrm>
            <a:off x="2824757" y="1243400"/>
            <a:ext cx="1219200" cy="1219200"/>
          </a:xfrm>
          <a:prstGeom prst="rect">
            <a:avLst/>
          </a:prstGeom>
          <a:noFill/>
          <a:ln>
            <a:noFill/>
          </a:ln>
        </p:spPr>
      </p:pic>
      <p:grpSp>
        <p:nvGrpSpPr>
          <p:cNvPr id="286" name="Google Shape;286;p18"/>
          <p:cNvGrpSpPr/>
          <p:nvPr/>
        </p:nvGrpSpPr>
        <p:grpSpPr>
          <a:xfrm>
            <a:off x="4157195" y="2803111"/>
            <a:ext cx="829600" cy="829600"/>
            <a:chOff x="7509900" y="2868375"/>
            <a:chExt cx="903900" cy="903900"/>
          </a:xfrm>
        </p:grpSpPr>
        <p:sp>
          <p:nvSpPr>
            <p:cNvPr id="287" name="Google Shape;287;p18"/>
            <p:cNvSpPr/>
            <p:nvPr/>
          </p:nvSpPr>
          <p:spPr>
            <a:xfrm>
              <a:off x="7509900" y="2868375"/>
              <a:ext cx="903900" cy="903900"/>
            </a:xfrm>
            <a:prstGeom prst="ellipse">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288" name="Google Shape;288;p18"/>
            <p:cNvSpPr/>
            <p:nvPr/>
          </p:nvSpPr>
          <p:spPr>
            <a:xfrm>
              <a:off x="7726325" y="3187287"/>
              <a:ext cx="281375" cy="421875"/>
            </a:xfrm>
            <a:custGeom>
              <a:avLst/>
              <a:gdLst/>
              <a:ahLst/>
              <a:cxnLst/>
              <a:rect l="l" t="t" r="r" b="b"/>
              <a:pathLst>
                <a:path w="11255" h="16875" extrusionOk="0">
                  <a:moveTo>
                    <a:pt x="0" y="1985"/>
                  </a:moveTo>
                  <a:cubicBezTo>
                    <a:pt x="3409" y="525"/>
                    <a:pt x="10171" y="-1599"/>
                    <a:pt x="11126" y="1985"/>
                  </a:cubicBezTo>
                  <a:cubicBezTo>
                    <a:pt x="11977" y="5177"/>
                    <a:pt x="7498" y="7599"/>
                    <a:pt x="5042" y="9808"/>
                  </a:cubicBezTo>
                  <a:cubicBezTo>
                    <a:pt x="3517" y="11179"/>
                    <a:pt x="7922" y="12750"/>
                    <a:pt x="9562" y="13980"/>
                  </a:cubicBezTo>
                  <a:cubicBezTo>
                    <a:pt x="10372" y="14587"/>
                    <a:pt x="11636" y="16225"/>
                    <a:pt x="10778" y="16762"/>
                  </a:cubicBezTo>
                  <a:cubicBezTo>
                    <a:pt x="9613" y="17490"/>
                    <a:pt x="7707" y="13849"/>
                    <a:pt x="8866" y="13111"/>
                  </a:cubicBezTo>
                </a:path>
              </a:pathLst>
            </a:custGeom>
            <a:noFill/>
            <a:ln w="38100" cap="flat" cmpd="sng">
              <a:solidFill>
                <a:srgbClr val="F1C232"/>
              </a:solidFill>
              <a:prstDash val="solid"/>
              <a:round/>
              <a:headEnd type="none" w="med" len="med"/>
              <a:tailEnd type="none" w="med" len="med"/>
            </a:ln>
          </p:spPr>
        </p:sp>
        <p:sp>
          <p:nvSpPr>
            <p:cNvPr id="289" name="Google Shape;289;p18"/>
            <p:cNvSpPr/>
            <p:nvPr/>
          </p:nvSpPr>
          <p:spPr>
            <a:xfrm>
              <a:off x="7829049" y="3032650"/>
              <a:ext cx="272850" cy="456325"/>
            </a:xfrm>
            <a:custGeom>
              <a:avLst/>
              <a:gdLst/>
              <a:ahLst/>
              <a:cxnLst/>
              <a:rect l="l" t="t" r="r" b="b"/>
              <a:pathLst>
                <a:path w="10914" h="18253" extrusionOk="0">
                  <a:moveTo>
                    <a:pt x="4236" y="0"/>
                  </a:moveTo>
                  <a:cubicBezTo>
                    <a:pt x="1862" y="3263"/>
                    <a:pt x="-1710" y="8598"/>
                    <a:pt x="933" y="11647"/>
                  </a:cubicBezTo>
                  <a:cubicBezTo>
                    <a:pt x="3470" y="14574"/>
                    <a:pt x="12913" y="15228"/>
                    <a:pt x="10494" y="18253"/>
                  </a:cubicBezTo>
                </a:path>
              </a:pathLst>
            </a:custGeom>
            <a:noFill/>
            <a:ln w="38100" cap="flat" cmpd="sng">
              <a:solidFill>
                <a:srgbClr val="F1C232"/>
              </a:solidFill>
              <a:prstDash val="solid"/>
              <a:round/>
              <a:headEnd type="none" w="med" len="med"/>
              <a:tailEnd type="none" w="med" len="med"/>
            </a:ln>
          </p:spPr>
        </p:sp>
        <p:sp>
          <p:nvSpPr>
            <p:cNvPr id="290" name="Google Shape;290;p18"/>
            <p:cNvSpPr/>
            <p:nvPr/>
          </p:nvSpPr>
          <p:spPr>
            <a:xfrm>
              <a:off x="7938508" y="3145650"/>
              <a:ext cx="222425" cy="356375"/>
            </a:xfrm>
            <a:custGeom>
              <a:avLst/>
              <a:gdLst/>
              <a:ahLst/>
              <a:cxnLst/>
              <a:rect l="l" t="t" r="r" b="b"/>
              <a:pathLst>
                <a:path w="8897" h="14255" extrusionOk="0">
                  <a:moveTo>
                    <a:pt x="8897" y="0"/>
                  </a:moveTo>
                  <a:cubicBezTo>
                    <a:pt x="5700" y="999"/>
                    <a:pt x="1621" y="2006"/>
                    <a:pt x="205" y="5041"/>
                  </a:cubicBezTo>
                  <a:cubicBezTo>
                    <a:pt x="-1089" y="7814"/>
                    <a:pt x="5221" y="8570"/>
                    <a:pt x="7507" y="10604"/>
                  </a:cubicBezTo>
                  <a:cubicBezTo>
                    <a:pt x="8600" y="11576"/>
                    <a:pt x="6516" y="14014"/>
                    <a:pt x="5073" y="14255"/>
                  </a:cubicBezTo>
                </a:path>
              </a:pathLst>
            </a:custGeom>
            <a:noFill/>
            <a:ln w="38100" cap="flat" cmpd="sng">
              <a:solidFill>
                <a:srgbClr val="F1C232"/>
              </a:solidFill>
              <a:prstDash val="solid"/>
              <a:round/>
              <a:headEnd type="none" w="med" len="med"/>
              <a:tailEnd type="none" w="med" len="med"/>
            </a:ln>
          </p:spPr>
        </p:sp>
        <p:sp>
          <p:nvSpPr>
            <p:cNvPr id="291" name="Google Shape;291;p18"/>
            <p:cNvSpPr/>
            <p:nvPr/>
          </p:nvSpPr>
          <p:spPr>
            <a:xfrm>
              <a:off x="7743725" y="3093500"/>
              <a:ext cx="518875" cy="321600"/>
            </a:xfrm>
            <a:custGeom>
              <a:avLst/>
              <a:gdLst/>
              <a:ahLst/>
              <a:cxnLst/>
              <a:rect l="l" t="t" r="r" b="b"/>
              <a:pathLst>
                <a:path w="20755" h="12864" extrusionOk="0">
                  <a:moveTo>
                    <a:pt x="0" y="0"/>
                  </a:moveTo>
                  <a:cubicBezTo>
                    <a:pt x="5394" y="897"/>
                    <a:pt x="12760" y="-760"/>
                    <a:pt x="15993" y="3650"/>
                  </a:cubicBezTo>
                  <a:cubicBezTo>
                    <a:pt x="17475" y="5672"/>
                    <a:pt x="22372" y="8719"/>
                    <a:pt x="20165" y="9908"/>
                  </a:cubicBezTo>
                  <a:cubicBezTo>
                    <a:pt x="14587" y="12912"/>
                    <a:pt x="1390" y="6529"/>
                    <a:pt x="1390" y="12864"/>
                  </a:cubicBezTo>
                </a:path>
              </a:pathLst>
            </a:custGeom>
            <a:noFill/>
            <a:ln w="38100" cap="flat" cmpd="sng">
              <a:solidFill>
                <a:srgbClr val="F1C232"/>
              </a:solidFill>
              <a:prstDash val="solid"/>
              <a:round/>
              <a:headEnd type="none" w="med" len="med"/>
              <a:tailEnd type="none" w="med" len="med"/>
            </a:ln>
          </p:spPr>
        </p:sp>
        <p:sp>
          <p:nvSpPr>
            <p:cNvPr id="292" name="Google Shape;292;p18"/>
            <p:cNvSpPr/>
            <p:nvPr/>
          </p:nvSpPr>
          <p:spPr>
            <a:xfrm>
              <a:off x="7662050" y="3010925"/>
              <a:ext cx="411975" cy="478050"/>
            </a:xfrm>
            <a:custGeom>
              <a:avLst/>
              <a:gdLst/>
              <a:ahLst/>
              <a:cxnLst/>
              <a:rect l="l" t="t" r="r" b="b"/>
              <a:pathLst>
                <a:path w="16479" h="19122" extrusionOk="0">
                  <a:moveTo>
                    <a:pt x="16479" y="0"/>
                  </a:moveTo>
                  <a:cubicBezTo>
                    <a:pt x="9984" y="1946"/>
                    <a:pt x="3470" y="6343"/>
                    <a:pt x="311" y="12342"/>
                  </a:cubicBezTo>
                  <a:cubicBezTo>
                    <a:pt x="-872" y="14589"/>
                    <a:pt x="1757" y="17597"/>
                    <a:pt x="3788" y="19122"/>
                  </a:cubicBezTo>
                </a:path>
              </a:pathLst>
            </a:custGeom>
            <a:noFill/>
            <a:ln w="38100" cap="flat" cmpd="sng">
              <a:solidFill>
                <a:srgbClr val="F1C232"/>
              </a:solidFill>
              <a:prstDash val="solid"/>
              <a:round/>
              <a:headEnd type="none" w="med" len="med"/>
              <a:tailEnd type="none" w="med" len="med"/>
            </a:ln>
          </p:spPr>
        </p:sp>
        <p:sp>
          <p:nvSpPr>
            <p:cNvPr id="293" name="Google Shape;293;p18"/>
            <p:cNvSpPr/>
            <p:nvPr/>
          </p:nvSpPr>
          <p:spPr>
            <a:xfrm>
              <a:off x="7817600" y="3015250"/>
              <a:ext cx="398400" cy="587225"/>
            </a:xfrm>
            <a:custGeom>
              <a:avLst/>
              <a:gdLst/>
              <a:ahLst/>
              <a:cxnLst/>
              <a:rect l="l" t="t" r="r" b="b"/>
              <a:pathLst>
                <a:path w="15936" h="23489" extrusionOk="0">
                  <a:moveTo>
                    <a:pt x="0" y="0"/>
                  </a:moveTo>
                  <a:cubicBezTo>
                    <a:pt x="0" y="8167"/>
                    <a:pt x="2230" y="20746"/>
                    <a:pt x="10257" y="22252"/>
                  </a:cubicBezTo>
                  <a:cubicBezTo>
                    <a:pt x="12203" y="22617"/>
                    <a:pt x="15960" y="18191"/>
                    <a:pt x="15819" y="20166"/>
                  </a:cubicBezTo>
                  <a:cubicBezTo>
                    <a:pt x="15703" y="21786"/>
                    <a:pt x="15565" y="21792"/>
                    <a:pt x="14950" y="23295"/>
                  </a:cubicBezTo>
                  <a:cubicBezTo>
                    <a:pt x="14596" y="24160"/>
                    <a:pt x="13200" y="21724"/>
                    <a:pt x="13559" y="20861"/>
                  </a:cubicBezTo>
                  <a:cubicBezTo>
                    <a:pt x="14532" y="18524"/>
                    <a:pt x="16694" y="15864"/>
                    <a:pt x="15646" y="13560"/>
                  </a:cubicBezTo>
                  <a:cubicBezTo>
                    <a:pt x="15040" y="12229"/>
                    <a:pt x="13029" y="12161"/>
                    <a:pt x="11995" y="11126"/>
                  </a:cubicBezTo>
                </a:path>
              </a:pathLst>
            </a:custGeom>
            <a:noFill/>
            <a:ln w="38100" cap="flat" cmpd="sng">
              <a:solidFill>
                <a:srgbClr val="F1C232"/>
              </a:solidFill>
              <a:prstDash val="solid"/>
              <a:round/>
              <a:headEnd type="none" w="med" len="med"/>
              <a:tailEnd type="none" w="med" len="med"/>
            </a:ln>
          </p:spPr>
        </p:sp>
        <p:sp>
          <p:nvSpPr>
            <p:cNvPr id="294" name="Google Shape;294;p18"/>
            <p:cNvSpPr/>
            <p:nvPr/>
          </p:nvSpPr>
          <p:spPr>
            <a:xfrm>
              <a:off x="7643750" y="3180400"/>
              <a:ext cx="425925" cy="446300"/>
            </a:xfrm>
            <a:custGeom>
              <a:avLst/>
              <a:gdLst/>
              <a:ahLst/>
              <a:cxnLst/>
              <a:rect l="l" t="t" r="r" b="b"/>
              <a:pathLst>
                <a:path w="17037" h="17852" extrusionOk="0">
                  <a:moveTo>
                    <a:pt x="0" y="0"/>
                  </a:moveTo>
                  <a:cubicBezTo>
                    <a:pt x="4491" y="817"/>
                    <a:pt x="6830" y="6955"/>
                    <a:pt x="7475" y="11474"/>
                  </a:cubicBezTo>
                  <a:cubicBezTo>
                    <a:pt x="7713" y="13138"/>
                    <a:pt x="6322" y="15483"/>
                    <a:pt x="7649" y="16515"/>
                  </a:cubicBezTo>
                  <a:cubicBezTo>
                    <a:pt x="10121" y="18437"/>
                    <a:pt x="14632" y="18173"/>
                    <a:pt x="17037" y="16167"/>
                  </a:cubicBezTo>
                </a:path>
              </a:pathLst>
            </a:custGeom>
            <a:noFill/>
            <a:ln w="38100" cap="flat" cmpd="sng">
              <a:solidFill>
                <a:srgbClr val="F1C232"/>
              </a:solidFill>
              <a:prstDash val="solid"/>
              <a:round/>
              <a:headEnd type="none" w="med" len="med"/>
              <a:tailEnd type="none" w="med" len="med"/>
            </a:ln>
          </p:spPr>
        </p:sp>
        <p:sp>
          <p:nvSpPr>
            <p:cNvPr id="295" name="Google Shape;295;p18"/>
            <p:cNvSpPr/>
            <p:nvPr/>
          </p:nvSpPr>
          <p:spPr>
            <a:xfrm>
              <a:off x="7836249" y="3076100"/>
              <a:ext cx="320325" cy="456325"/>
            </a:xfrm>
            <a:custGeom>
              <a:avLst/>
              <a:gdLst/>
              <a:ahLst/>
              <a:cxnLst/>
              <a:rect l="l" t="t" r="r" b="b"/>
              <a:pathLst>
                <a:path w="12813" h="18253" extrusionOk="0">
                  <a:moveTo>
                    <a:pt x="12813" y="0"/>
                  </a:moveTo>
                  <a:cubicBezTo>
                    <a:pt x="7242" y="2181"/>
                    <a:pt x="-861" y="6790"/>
                    <a:pt x="123" y="12691"/>
                  </a:cubicBezTo>
                  <a:cubicBezTo>
                    <a:pt x="746" y="16427"/>
                    <a:pt x="8084" y="15004"/>
                    <a:pt x="10032" y="18253"/>
                  </a:cubicBezTo>
                </a:path>
              </a:pathLst>
            </a:custGeom>
            <a:noFill/>
            <a:ln w="38100" cap="flat" cmpd="sng">
              <a:solidFill>
                <a:srgbClr val="F1C232"/>
              </a:solidFill>
              <a:prstDash val="solid"/>
              <a:round/>
              <a:headEnd type="none" w="med" len="med"/>
              <a:tailEnd type="none" w="med" len="med"/>
            </a:ln>
          </p:spPr>
        </p:sp>
        <p:sp>
          <p:nvSpPr>
            <p:cNvPr id="296" name="Google Shape;296;p18"/>
            <p:cNvSpPr/>
            <p:nvPr/>
          </p:nvSpPr>
          <p:spPr>
            <a:xfrm>
              <a:off x="7700250" y="3132600"/>
              <a:ext cx="429925" cy="169500"/>
            </a:xfrm>
            <a:custGeom>
              <a:avLst/>
              <a:gdLst/>
              <a:ahLst/>
              <a:cxnLst/>
              <a:rect l="l" t="t" r="r" b="b"/>
              <a:pathLst>
                <a:path w="17197" h="6780" extrusionOk="0">
                  <a:moveTo>
                    <a:pt x="0" y="0"/>
                  </a:moveTo>
                  <a:cubicBezTo>
                    <a:pt x="3914" y="4695"/>
                    <a:pt x="10925" y="6780"/>
                    <a:pt x="17037" y="6780"/>
                  </a:cubicBezTo>
                  <a:cubicBezTo>
                    <a:pt x="17504" y="6780"/>
                    <a:pt x="16799" y="5655"/>
                    <a:pt x="16341" y="5563"/>
                  </a:cubicBezTo>
                </a:path>
              </a:pathLst>
            </a:custGeom>
            <a:noFill/>
            <a:ln w="38100" cap="flat" cmpd="sng">
              <a:solidFill>
                <a:srgbClr val="F1C232"/>
              </a:solidFill>
              <a:prstDash val="solid"/>
              <a:round/>
              <a:headEnd type="none" w="med" len="med"/>
              <a:tailEnd type="none" w="med" len="med"/>
            </a:ln>
          </p:spPr>
        </p:sp>
        <p:sp>
          <p:nvSpPr>
            <p:cNvPr id="297" name="Google Shape;297;p18"/>
            <p:cNvSpPr/>
            <p:nvPr/>
          </p:nvSpPr>
          <p:spPr>
            <a:xfrm>
              <a:off x="7710998" y="3098181"/>
              <a:ext cx="558575" cy="472725"/>
            </a:xfrm>
            <a:custGeom>
              <a:avLst/>
              <a:gdLst/>
              <a:ahLst/>
              <a:cxnLst/>
              <a:rect l="l" t="t" r="r" b="b"/>
              <a:pathLst>
                <a:path w="22343" h="18909" extrusionOk="0">
                  <a:moveTo>
                    <a:pt x="22343" y="4332"/>
                  </a:moveTo>
                  <a:cubicBezTo>
                    <a:pt x="16437" y="38"/>
                    <a:pt x="3704" y="-2547"/>
                    <a:pt x="439" y="3985"/>
                  </a:cubicBezTo>
                  <a:cubicBezTo>
                    <a:pt x="-1508" y="7881"/>
                    <a:pt x="3832" y="12696"/>
                    <a:pt x="7567" y="14937"/>
                  </a:cubicBezTo>
                  <a:cubicBezTo>
                    <a:pt x="9340" y="16001"/>
                    <a:pt x="12081" y="14808"/>
                    <a:pt x="13651" y="16154"/>
                  </a:cubicBezTo>
                  <a:cubicBezTo>
                    <a:pt x="15785" y="17983"/>
                    <a:pt x="7730" y="19926"/>
                    <a:pt x="5481" y="18240"/>
                  </a:cubicBezTo>
                </a:path>
              </a:pathLst>
            </a:custGeom>
            <a:noFill/>
            <a:ln w="38100" cap="flat" cmpd="sng">
              <a:solidFill>
                <a:srgbClr val="F1C232"/>
              </a:solidFill>
              <a:prstDash val="solid"/>
              <a:round/>
              <a:headEnd type="none" w="med" len="med"/>
              <a:tailEnd type="none" w="med" len="med"/>
            </a:ln>
          </p:spPr>
        </p:sp>
        <p:sp>
          <p:nvSpPr>
            <p:cNvPr id="298" name="Google Shape;298;p18"/>
            <p:cNvSpPr/>
            <p:nvPr/>
          </p:nvSpPr>
          <p:spPr>
            <a:xfrm>
              <a:off x="7685501" y="3079570"/>
              <a:ext cx="584075" cy="361600"/>
            </a:xfrm>
            <a:custGeom>
              <a:avLst/>
              <a:gdLst/>
              <a:ahLst/>
              <a:cxnLst/>
              <a:rect l="l" t="t" r="r" b="b"/>
              <a:pathLst>
                <a:path w="23363" h="14464" extrusionOk="0">
                  <a:moveTo>
                    <a:pt x="23363" y="14464"/>
                  </a:moveTo>
                  <a:cubicBezTo>
                    <a:pt x="21432" y="9632"/>
                    <a:pt x="15255" y="7928"/>
                    <a:pt x="11021" y="4903"/>
                  </a:cubicBezTo>
                  <a:cubicBezTo>
                    <a:pt x="8043" y="2775"/>
                    <a:pt x="3984" y="-1473"/>
                    <a:pt x="938" y="557"/>
                  </a:cubicBezTo>
                  <a:cubicBezTo>
                    <a:pt x="-2526" y="2866"/>
                    <a:pt x="4896" y="8744"/>
                    <a:pt x="8761" y="10292"/>
                  </a:cubicBezTo>
                </a:path>
              </a:pathLst>
            </a:custGeom>
            <a:noFill/>
            <a:ln w="38100" cap="flat" cmpd="sng">
              <a:solidFill>
                <a:srgbClr val="F1C232"/>
              </a:solidFill>
              <a:prstDash val="solid"/>
              <a:round/>
              <a:headEnd type="none" w="med" len="med"/>
              <a:tailEnd type="none" w="med" len="med"/>
            </a:ln>
          </p:spPr>
        </p:sp>
        <p:sp>
          <p:nvSpPr>
            <p:cNvPr id="299" name="Google Shape;299;p18"/>
            <p:cNvSpPr/>
            <p:nvPr/>
          </p:nvSpPr>
          <p:spPr>
            <a:xfrm>
              <a:off x="7744259" y="3028300"/>
              <a:ext cx="368875" cy="491100"/>
            </a:xfrm>
            <a:custGeom>
              <a:avLst/>
              <a:gdLst/>
              <a:ahLst/>
              <a:cxnLst/>
              <a:rect l="l" t="t" r="r" b="b"/>
              <a:pathLst>
                <a:path w="14755" h="19644" extrusionOk="0">
                  <a:moveTo>
                    <a:pt x="14755" y="0"/>
                  </a:moveTo>
                  <a:cubicBezTo>
                    <a:pt x="14495" y="609"/>
                    <a:pt x="14636" y="691"/>
                    <a:pt x="14234" y="1217"/>
                  </a:cubicBezTo>
                  <a:cubicBezTo>
                    <a:pt x="10836" y="5660"/>
                    <a:pt x="3616" y="6081"/>
                    <a:pt x="326" y="10604"/>
                  </a:cubicBezTo>
                  <a:cubicBezTo>
                    <a:pt x="-1501" y="13116"/>
                    <a:pt x="5071" y="17780"/>
                    <a:pt x="2586" y="19644"/>
                  </a:cubicBezTo>
                </a:path>
              </a:pathLst>
            </a:custGeom>
            <a:noFill/>
            <a:ln w="38100" cap="flat" cmpd="sng">
              <a:solidFill>
                <a:srgbClr val="F1C232"/>
              </a:solidFill>
              <a:prstDash val="solid"/>
              <a:round/>
              <a:headEnd type="none" w="med" len="med"/>
              <a:tailEnd type="none" w="med" len="med"/>
            </a:ln>
          </p:spPr>
        </p:sp>
        <p:sp>
          <p:nvSpPr>
            <p:cNvPr id="300" name="Google Shape;300;p18"/>
            <p:cNvSpPr/>
            <p:nvPr/>
          </p:nvSpPr>
          <p:spPr>
            <a:xfrm>
              <a:off x="7765450" y="3145650"/>
              <a:ext cx="482400" cy="338975"/>
            </a:xfrm>
            <a:custGeom>
              <a:avLst/>
              <a:gdLst/>
              <a:ahLst/>
              <a:cxnLst/>
              <a:rect l="l" t="t" r="r" b="b"/>
              <a:pathLst>
                <a:path w="19296" h="13559" extrusionOk="0">
                  <a:moveTo>
                    <a:pt x="19296" y="13559"/>
                  </a:moveTo>
                  <a:cubicBezTo>
                    <a:pt x="13760" y="11712"/>
                    <a:pt x="8516" y="8736"/>
                    <a:pt x="3998" y="5041"/>
                  </a:cubicBezTo>
                  <a:cubicBezTo>
                    <a:pt x="2338" y="3683"/>
                    <a:pt x="2116" y="351"/>
                    <a:pt x="0" y="0"/>
                  </a:cubicBezTo>
                </a:path>
              </a:pathLst>
            </a:custGeom>
            <a:noFill/>
            <a:ln w="38100" cap="flat" cmpd="sng">
              <a:solidFill>
                <a:srgbClr val="F1C232"/>
              </a:solidFill>
              <a:prstDash val="solid"/>
              <a:round/>
              <a:headEnd type="none" w="med" len="med"/>
              <a:tailEnd type="none" w="med" len="med"/>
            </a:ln>
          </p:spPr>
        </p:sp>
        <p:sp>
          <p:nvSpPr>
            <p:cNvPr id="301" name="Google Shape;301;p18"/>
            <p:cNvSpPr/>
            <p:nvPr/>
          </p:nvSpPr>
          <p:spPr>
            <a:xfrm>
              <a:off x="7665500" y="3269759"/>
              <a:ext cx="499775" cy="249650"/>
            </a:xfrm>
            <a:custGeom>
              <a:avLst/>
              <a:gdLst/>
              <a:ahLst/>
              <a:cxnLst/>
              <a:rect l="l" t="t" r="r" b="b"/>
              <a:pathLst>
                <a:path w="19991" h="9986" extrusionOk="0">
                  <a:moveTo>
                    <a:pt x="0" y="9986"/>
                  </a:moveTo>
                  <a:cubicBezTo>
                    <a:pt x="3478" y="7899"/>
                    <a:pt x="5064" y="3283"/>
                    <a:pt x="8692" y="1468"/>
                  </a:cubicBezTo>
                  <a:cubicBezTo>
                    <a:pt x="12086" y="-230"/>
                    <a:pt x="16196" y="77"/>
                    <a:pt x="19991" y="77"/>
                  </a:cubicBezTo>
                </a:path>
              </a:pathLst>
            </a:custGeom>
            <a:noFill/>
            <a:ln w="38100" cap="flat" cmpd="sng">
              <a:solidFill>
                <a:srgbClr val="F1C232"/>
              </a:solidFill>
              <a:prstDash val="solid"/>
              <a:round/>
              <a:headEnd type="none" w="med" len="med"/>
              <a:tailEnd type="none" w="med" len="med"/>
            </a:ln>
          </p:spPr>
        </p:sp>
        <p:sp>
          <p:nvSpPr>
            <p:cNvPr id="302" name="Google Shape;302;p18"/>
            <p:cNvSpPr/>
            <p:nvPr/>
          </p:nvSpPr>
          <p:spPr>
            <a:xfrm>
              <a:off x="7656800" y="3198318"/>
              <a:ext cx="660600" cy="161800"/>
            </a:xfrm>
            <a:custGeom>
              <a:avLst/>
              <a:gdLst/>
              <a:ahLst/>
              <a:cxnLst/>
              <a:rect l="l" t="t" r="r" b="b"/>
              <a:pathLst>
                <a:path w="26424" h="6472" extrusionOk="0">
                  <a:moveTo>
                    <a:pt x="26424" y="6411"/>
                  </a:moveTo>
                  <a:cubicBezTo>
                    <a:pt x="18961" y="6652"/>
                    <a:pt x="11684" y="3823"/>
                    <a:pt x="4520" y="1717"/>
                  </a:cubicBezTo>
                  <a:cubicBezTo>
                    <a:pt x="4232" y="1632"/>
                    <a:pt x="0" y="-572"/>
                    <a:pt x="0" y="153"/>
                  </a:cubicBezTo>
                  <a:cubicBezTo>
                    <a:pt x="0" y="1294"/>
                    <a:pt x="584" y="2475"/>
                    <a:pt x="1391" y="3282"/>
                  </a:cubicBezTo>
                </a:path>
              </a:pathLst>
            </a:custGeom>
            <a:noFill/>
            <a:ln w="38100" cap="flat" cmpd="sng">
              <a:solidFill>
                <a:srgbClr val="F1C232"/>
              </a:solidFill>
              <a:prstDash val="solid"/>
              <a:round/>
              <a:headEnd type="none" w="med" len="med"/>
              <a:tailEnd type="none" w="med" len="med"/>
            </a:ln>
          </p:spPr>
        </p:sp>
        <p:sp>
          <p:nvSpPr>
            <p:cNvPr id="303" name="Google Shape;303;p18"/>
            <p:cNvSpPr/>
            <p:nvPr/>
          </p:nvSpPr>
          <p:spPr>
            <a:xfrm>
              <a:off x="7757829" y="3119575"/>
              <a:ext cx="450925" cy="395475"/>
            </a:xfrm>
            <a:custGeom>
              <a:avLst/>
              <a:gdLst/>
              <a:ahLst/>
              <a:cxnLst/>
              <a:rect l="l" t="t" r="r" b="b"/>
              <a:pathLst>
                <a:path w="18037" h="15819" extrusionOk="0">
                  <a:moveTo>
                    <a:pt x="18037" y="0"/>
                  </a:moveTo>
                  <a:cubicBezTo>
                    <a:pt x="15708" y="1293"/>
                    <a:pt x="13491" y="3180"/>
                    <a:pt x="12300" y="5562"/>
                  </a:cubicBezTo>
                  <a:cubicBezTo>
                    <a:pt x="11338" y="7485"/>
                    <a:pt x="12524" y="10628"/>
                    <a:pt x="10735" y="11821"/>
                  </a:cubicBezTo>
                  <a:cubicBezTo>
                    <a:pt x="7637" y="13887"/>
                    <a:pt x="-1612" y="12627"/>
                    <a:pt x="305" y="15819"/>
                  </a:cubicBezTo>
                </a:path>
              </a:pathLst>
            </a:custGeom>
            <a:noFill/>
            <a:ln w="38100" cap="flat" cmpd="sng">
              <a:solidFill>
                <a:srgbClr val="F1C232"/>
              </a:solidFill>
              <a:prstDash val="solid"/>
              <a:round/>
              <a:headEnd type="none" w="med" len="med"/>
              <a:tailEnd type="none" w="med" len="med"/>
            </a:ln>
          </p:spPr>
        </p:sp>
        <p:sp>
          <p:nvSpPr>
            <p:cNvPr id="304" name="Google Shape;304;p18"/>
            <p:cNvSpPr/>
            <p:nvPr/>
          </p:nvSpPr>
          <p:spPr>
            <a:xfrm>
              <a:off x="7895825" y="3010925"/>
              <a:ext cx="373750" cy="469350"/>
            </a:xfrm>
            <a:custGeom>
              <a:avLst/>
              <a:gdLst/>
              <a:ahLst/>
              <a:cxnLst/>
              <a:rect l="l" t="t" r="r" b="b"/>
              <a:pathLst>
                <a:path w="14950" h="18774" extrusionOk="0">
                  <a:moveTo>
                    <a:pt x="0" y="0"/>
                  </a:moveTo>
                  <a:cubicBezTo>
                    <a:pt x="1571" y="7844"/>
                    <a:pt x="11377" y="11617"/>
                    <a:pt x="14950" y="18774"/>
                  </a:cubicBezTo>
                </a:path>
              </a:pathLst>
            </a:custGeom>
            <a:noFill/>
            <a:ln w="38100" cap="flat" cmpd="sng">
              <a:solidFill>
                <a:srgbClr val="F1C232"/>
              </a:solidFill>
              <a:prstDash val="solid"/>
              <a:round/>
              <a:headEnd type="none" w="med" len="med"/>
              <a:tailEnd type="none" w="med" len="med"/>
            </a:ln>
          </p:spPr>
        </p:sp>
        <p:sp>
          <p:nvSpPr>
            <p:cNvPr id="305" name="Google Shape;305;p18"/>
            <p:cNvSpPr/>
            <p:nvPr/>
          </p:nvSpPr>
          <p:spPr>
            <a:xfrm>
              <a:off x="7752400" y="3132600"/>
              <a:ext cx="346150" cy="434600"/>
            </a:xfrm>
            <a:custGeom>
              <a:avLst/>
              <a:gdLst/>
              <a:ahLst/>
              <a:cxnLst/>
              <a:rect l="l" t="t" r="r" b="b"/>
              <a:pathLst>
                <a:path w="13846" h="17384" extrusionOk="0">
                  <a:moveTo>
                    <a:pt x="0" y="17384"/>
                  </a:moveTo>
                  <a:cubicBezTo>
                    <a:pt x="1561" y="14266"/>
                    <a:pt x="813" y="9404"/>
                    <a:pt x="3825" y="7649"/>
                  </a:cubicBezTo>
                  <a:cubicBezTo>
                    <a:pt x="6452" y="6118"/>
                    <a:pt x="10432" y="8256"/>
                    <a:pt x="12865" y="6432"/>
                  </a:cubicBezTo>
                  <a:cubicBezTo>
                    <a:pt x="14596" y="5134"/>
                    <a:pt x="13756" y="1257"/>
                    <a:pt x="11995" y="0"/>
                  </a:cubicBezTo>
                </a:path>
              </a:pathLst>
            </a:custGeom>
            <a:noFill/>
            <a:ln w="38100" cap="flat" cmpd="sng">
              <a:solidFill>
                <a:srgbClr val="F1C232"/>
              </a:solidFill>
              <a:prstDash val="solid"/>
              <a:round/>
              <a:headEnd type="none" w="med" len="med"/>
              <a:tailEnd type="none" w="med" len="med"/>
            </a:ln>
          </p:spPr>
        </p:sp>
      </p:grpSp>
      <p:sp>
        <p:nvSpPr>
          <p:cNvPr id="306" name="Google Shape;306;p18"/>
          <p:cNvSpPr/>
          <p:nvPr/>
        </p:nvSpPr>
        <p:spPr>
          <a:xfrm rot="-6485262" flipH="1">
            <a:off x="5341176"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307" name="Google Shape;307;p18"/>
          <p:cNvSpPr/>
          <p:nvPr/>
        </p:nvSpPr>
        <p:spPr>
          <a:xfrm rot="6485262">
            <a:off x="3763714"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308" name="Google Shape;308;p18"/>
          <p:cNvSpPr/>
          <p:nvPr/>
        </p:nvSpPr>
        <p:spPr>
          <a:xfrm rot="10800000">
            <a:off x="4552435" y="2168746"/>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309" name="Google Shape;309;p18"/>
          <p:cNvSpPr/>
          <p:nvPr/>
        </p:nvSpPr>
        <p:spPr>
          <a:xfrm rot="2167448">
            <a:off x="4087053"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310" name="Google Shape;310;p18"/>
          <p:cNvSpPr/>
          <p:nvPr/>
        </p:nvSpPr>
        <p:spPr>
          <a:xfrm rot="-2167448" flipH="1">
            <a:off x="5017778"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311" name="Google Shape;311;p18"/>
          <p:cNvSpPr/>
          <p:nvPr/>
        </p:nvSpPr>
        <p:spPr>
          <a:xfrm>
            <a:off x="4416763" y="3146300"/>
            <a:ext cx="420063" cy="289163"/>
          </a:xfrm>
          <a:custGeom>
            <a:avLst/>
            <a:gdLst/>
            <a:ahLst/>
            <a:cxnLst/>
            <a:rect l="l" t="t" r="r" b="b"/>
            <a:pathLst>
              <a:path w="33605" h="23133" extrusionOk="0">
                <a:moveTo>
                  <a:pt x="0" y="23133"/>
                </a:moveTo>
                <a:cubicBezTo>
                  <a:pt x="2435" y="19075"/>
                  <a:pt x="4127" y="14465"/>
                  <a:pt x="7305" y="10958"/>
                </a:cubicBezTo>
                <a:cubicBezTo>
                  <a:pt x="13683" y="3921"/>
                  <a:pt x="24540" y="2832"/>
                  <a:pt x="33605" y="0"/>
                </a:cubicBezTo>
              </a:path>
            </a:pathLst>
          </a:custGeom>
          <a:noFill/>
          <a:ln w="38100" cap="flat" cmpd="sng">
            <a:solidFill>
              <a:srgbClr val="F1C232"/>
            </a:solidFill>
            <a:prstDash val="solid"/>
            <a:round/>
            <a:headEnd type="none" w="med" len="med"/>
            <a:tailEnd type="none" w="med" len="med"/>
          </a:ln>
        </p:spPr>
      </p:sp>
      <p:sp>
        <p:nvSpPr>
          <p:cNvPr id="312" name="Google Shape;312;p18"/>
          <p:cNvSpPr/>
          <p:nvPr/>
        </p:nvSpPr>
        <p:spPr>
          <a:xfrm>
            <a:off x="4413713" y="2966700"/>
            <a:ext cx="273963" cy="413975"/>
          </a:xfrm>
          <a:custGeom>
            <a:avLst/>
            <a:gdLst/>
            <a:ahLst/>
            <a:cxnLst/>
            <a:rect l="l" t="t" r="r" b="b"/>
            <a:pathLst>
              <a:path w="21917" h="33118" extrusionOk="0">
                <a:moveTo>
                  <a:pt x="0" y="0"/>
                </a:moveTo>
                <a:cubicBezTo>
                  <a:pt x="2209" y="4416"/>
                  <a:pt x="6510" y="8222"/>
                  <a:pt x="6819" y="13150"/>
                </a:cubicBezTo>
                <a:cubicBezTo>
                  <a:pt x="7095" y="17561"/>
                  <a:pt x="2967" y="22436"/>
                  <a:pt x="5114" y="26300"/>
                </a:cubicBezTo>
                <a:cubicBezTo>
                  <a:pt x="8050" y="31584"/>
                  <a:pt x="16181" y="31211"/>
                  <a:pt x="21917" y="33118"/>
                </a:cubicBezTo>
              </a:path>
            </a:pathLst>
          </a:custGeom>
          <a:noFill/>
          <a:ln w="38100" cap="flat" cmpd="sng">
            <a:solidFill>
              <a:srgbClr val="F1C232"/>
            </a:solidFill>
            <a:prstDash val="solid"/>
            <a:round/>
            <a:headEnd type="none" w="med" len="med"/>
            <a:tailEnd type="none" w="med" len="med"/>
          </a:ln>
        </p:spPr>
      </p:sp>
      <p:sp>
        <p:nvSpPr>
          <p:cNvPr id="313" name="Google Shape;313;p18"/>
          <p:cNvSpPr/>
          <p:nvPr/>
        </p:nvSpPr>
        <p:spPr>
          <a:xfrm>
            <a:off x="4363841" y="3099836"/>
            <a:ext cx="427325" cy="335625"/>
          </a:xfrm>
          <a:custGeom>
            <a:avLst/>
            <a:gdLst/>
            <a:ahLst/>
            <a:cxnLst/>
            <a:rect l="l" t="t" r="r" b="b"/>
            <a:pathLst>
              <a:path w="34186" h="26850" extrusionOk="0">
                <a:moveTo>
                  <a:pt x="34186" y="7369"/>
                </a:moveTo>
                <a:cubicBezTo>
                  <a:pt x="26609" y="7875"/>
                  <a:pt x="18987" y="9107"/>
                  <a:pt x="11783" y="11509"/>
                </a:cubicBezTo>
                <a:cubicBezTo>
                  <a:pt x="8958" y="12451"/>
                  <a:pt x="6190" y="14721"/>
                  <a:pt x="3260" y="14188"/>
                </a:cubicBezTo>
                <a:cubicBezTo>
                  <a:pt x="100" y="13613"/>
                  <a:pt x="-612" y="7915"/>
                  <a:pt x="581" y="4934"/>
                </a:cubicBezTo>
                <a:cubicBezTo>
                  <a:pt x="2999" y="-1107"/>
                  <a:pt x="16358" y="-1632"/>
                  <a:pt x="20062" y="3717"/>
                </a:cubicBezTo>
                <a:cubicBezTo>
                  <a:pt x="23302" y="8396"/>
                  <a:pt x="18572" y="15095"/>
                  <a:pt x="19088" y="20763"/>
                </a:cubicBezTo>
                <a:cubicBezTo>
                  <a:pt x="19370" y="23858"/>
                  <a:pt x="23042" y="26850"/>
                  <a:pt x="26150" y="26850"/>
                </a:cubicBezTo>
              </a:path>
            </a:pathLst>
          </a:custGeom>
          <a:noFill/>
          <a:ln w="38100" cap="flat" cmpd="sng">
            <a:solidFill>
              <a:srgbClr val="F1C232"/>
            </a:solidFill>
            <a:prstDash val="solid"/>
            <a:round/>
            <a:headEnd type="none" w="med" len="med"/>
            <a:tailEnd type="none" w="med" len="med"/>
          </a:ln>
        </p:spPr>
      </p:sp>
      <p:sp>
        <p:nvSpPr>
          <p:cNvPr id="314" name="Google Shape;314;p18"/>
          <p:cNvSpPr/>
          <p:nvPr/>
        </p:nvSpPr>
        <p:spPr>
          <a:xfrm>
            <a:off x="4365013" y="2942350"/>
            <a:ext cx="453675" cy="414725"/>
          </a:xfrm>
          <a:custGeom>
            <a:avLst/>
            <a:gdLst/>
            <a:ahLst/>
            <a:cxnLst/>
            <a:rect l="l" t="t" r="r" b="b"/>
            <a:pathLst>
              <a:path w="36294" h="33178" extrusionOk="0">
                <a:moveTo>
                  <a:pt x="16072" y="0"/>
                </a:moveTo>
                <a:cubicBezTo>
                  <a:pt x="18478" y="5415"/>
                  <a:pt x="25652" y="7856"/>
                  <a:pt x="27761" y="13393"/>
                </a:cubicBezTo>
                <a:cubicBezTo>
                  <a:pt x="29698" y="18478"/>
                  <a:pt x="25844" y="24459"/>
                  <a:pt x="27274" y="29709"/>
                </a:cubicBezTo>
                <a:cubicBezTo>
                  <a:pt x="27905" y="32023"/>
                  <a:pt x="32028" y="34192"/>
                  <a:pt x="33849" y="32631"/>
                </a:cubicBezTo>
                <a:cubicBezTo>
                  <a:pt x="36931" y="29989"/>
                  <a:pt x="37353" y="22015"/>
                  <a:pt x="33605" y="20455"/>
                </a:cubicBezTo>
                <a:cubicBezTo>
                  <a:pt x="25042" y="16890"/>
                  <a:pt x="14673" y="21082"/>
                  <a:pt x="6088" y="24595"/>
                </a:cubicBezTo>
                <a:cubicBezTo>
                  <a:pt x="3268" y="25749"/>
                  <a:pt x="2891" y="30452"/>
                  <a:pt x="0" y="31413"/>
                </a:cubicBezTo>
              </a:path>
            </a:pathLst>
          </a:custGeom>
          <a:noFill/>
          <a:ln w="38100" cap="flat" cmpd="sng">
            <a:solidFill>
              <a:srgbClr val="F1C232"/>
            </a:solidFill>
            <a:prstDash val="solid"/>
            <a:round/>
            <a:headEnd type="none" w="med" len="med"/>
            <a:tailEnd type="none" w="med" len="med"/>
          </a:ln>
        </p:spPr>
      </p:sp>
      <p:sp>
        <p:nvSpPr>
          <p:cNvPr id="315" name="Google Shape;315;p18"/>
          <p:cNvSpPr/>
          <p:nvPr/>
        </p:nvSpPr>
        <p:spPr>
          <a:xfrm>
            <a:off x="4340663" y="2972714"/>
            <a:ext cx="441350" cy="510425"/>
          </a:xfrm>
          <a:custGeom>
            <a:avLst/>
            <a:gdLst/>
            <a:ahLst/>
            <a:cxnLst/>
            <a:rect l="l" t="t" r="r" b="b"/>
            <a:pathLst>
              <a:path w="35308" h="40834" extrusionOk="0">
                <a:moveTo>
                  <a:pt x="0" y="21923"/>
                </a:moveTo>
                <a:cubicBezTo>
                  <a:pt x="4868" y="17746"/>
                  <a:pt x="16935" y="15448"/>
                  <a:pt x="19238" y="21435"/>
                </a:cubicBezTo>
                <a:cubicBezTo>
                  <a:pt x="21093" y="26256"/>
                  <a:pt x="14339" y="32377"/>
                  <a:pt x="17046" y="36777"/>
                </a:cubicBezTo>
                <a:cubicBezTo>
                  <a:pt x="19515" y="40790"/>
                  <a:pt x="26930" y="41953"/>
                  <a:pt x="30926" y="39456"/>
                </a:cubicBezTo>
                <a:cubicBezTo>
                  <a:pt x="37891" y="35105"/>
                  <a:pt x="35821" y="20062"/>
                  <a:pt x="29465" y="14861"/>
                </a:cubicBezTo>
                <a:cubicBezTo>
                  <a:pt x="22888" y="9480"/>
                  <a:pt x="7178" y="12602"/>
                  <a:pt x="6331" y="4146"/>
                </a:cubicBezTo>
                <a:cubicBezTo>
                  <a:pt x="5675" y="-2396"/>
                  <a:pt x="21107" y="-183"/>
                  <a:pt x="26056" y="4146"/>
                </a:cubicBezTo>
                <a:cubicBezTo>
                  <a:pt x="35321" y="12251"/>
                  <a:pt x="17470" y="28073"/>
                  <a:pt x="8766" y="36777"/>
                </a:cubicBezTo>
              </a:path>
            </a:pathLst>
          </a:custGeom>
          <a:noFill/>
          <a:ln w="38100" cap="flat" cmpd="sng">
            <a:solidFill>
              <a:srgbClr val="F1C232"/>
            </a:solidFill>
            <a:prstDash val="solid"/>
            <a:round/>
            <a:headEnd type="none" w="med" len="med"/>
            <a:tailEnd type="none" w="med" len="med"/>
          </a:ln>
        </p:spPr>
      </p:sp>
      <p:sp>
        <p:nvSpPr>
          <p:cNvPr id="316" name="Google Shape;316;p18"/>
          <p:cNvSpPr/>
          <p:nvPr/>
        </p:nvSpPr>
        <p:spPr>
          <a:xfrm>
            <a:off x="4336629" y="2954525"/>
            <a:ext cx="448450" cy="512988"/>
          </a:xfrm>
          <a:custGeom>
            <a:avLst/>
            <a:gdLst/>
            <a:ahLst/>
            <a:cxnLst/>
            <a:rect l="l" t="t" r="r" b="b"/>
            <a:pathLst>
              <a:path w="35876" h="41039" extrusionOk="0">
                <a:moveTo>
                  <a:pt x="35876" y="12176"/>
                </a:moveTo>
                <a:cubicBezTo>
                  <a:pt x="33278" y="13474"/>
                  <a:pt x="30137" y="14019"/>
                  <a:pt x="28084" y="16072"/>
                </a:cubicBezTo>
                <a:cubicBezTo>
                  <a:pt x="24741" y="19415"/>
                  <a:pt x="24638" y="25253"/>
                  <a:pt x="25161" y="29952"/>
                </a:cubicBezTo>
                <a:cubicBezTo>
                  <a:pt x="25573" y="33653"/>
                  <a:pt x="31860" y="39489"/>
                  <a:pt x="28327" y="40667"/>
                </a:cubicBezTo>
                <a:cubicBezTo>
                  <a:pt x="23195" y="42378"/>
                  <a:pt x="17049" y="37559"/>
                  <a:pt x="13960" y="33118"/>
                </a:cubicBezTo>
                <a:cubicBezTo>
                  <a:pt x="10617" y="28313"/>
                  <a:pt x="9699" y="20564"/>
                  <a:pt x="4219" y="18507"/>
                </a:cubicBezTo>
                <a:cubicBezTo>
                  <a:pt x="680" y="17179"/>
                  <a:pt x="-1376" y="26792"/>
                  <a:pt x="1297" y="29465"/>
                </a:cubicBezTo>
                <a:cubicBezTo>
                  <a:pt x="5492" y="33660"/>
                  <a:pt x="15463" y="29538"/>
                  <a:pt x="18343" y="24352"/>
                </a:cubicBezTo>
                <a:cubicBezTo>
                  <a:pt x="21498" y="18671"/>
                  <a:pt x="15329" y="10954"/>
                  <a:pt x="17612" y="4870"/>
                </a:cubicBezTo>
                <a:cubicBezTo>
                  <a:pt x="18786" y="1740"/>
                  <a:pt x="23036" y="0"/>
                  <a:pt x="26379" y="0"/>
                </a:cubicBezTo>
              </a:path>
            </a:pathLst>
          </a:custGeom>
          <a:noFill/>
          <a:ln w="38100" cap="flat" cmpd="sng">
            <a:solidFill>
              <a:srgbClr val="F1C232"/>
            </a:solidFill>
            <a:prstDash val="solid"/>
            <a:round/>
            <a:headEnd type="none" w="med" len="med"/>
            <a:tailEnd type="none" w="med" len="med"/>
          </a:ln>
        </p:spPr>
      </p:sp>
      <p:sp>
        <p:nvSpPr>
          <p:cNvPr id="317" name="Google Shape;317;p18"/>
          <p:cNvSpPr/>
          <p:nvPr/>
        </p:nvSpPr>
        <p:spPr>
          <a:xfrm rot="6485262">
            <a:off x="3414801" y="2242687"/>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318" name="Google Shape;318;p18"/>
          <p:cNvSpPr/>
          <p:nvPr/>
        </p:nvSpPr>
        <p:spPr>
          <a:xfrm rot="10800000">
            <a:off x="4043960" y="1739783"/>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1000"/>
                                        <p:tgtEl>
                                          <p:spTgt spid="308"/>
                                        </p:tgtEl>
                                      </p:cBhvr>
                                    </p:animEffect>
                                    <p:set>
                                      <p:cBhvr>
                                        <p:cTn id="7" dur="1" fill="hold">
                                          <p:stCondLst>
                                            <p:cond delay="1000"/>
                                          </p:stCondLst>
                                        </p:cTn>
                                        <p:tgtEl>
                                          <p:spTgt spid="308"/>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318"/>
                                        </p:tgtEl>
                                        <p:attrNameLst>
                                          <p:attrName>style.visibility</p:attrName>
                                        </p:attrNameLst>
                                      </p:cBhvr>
                                      <p:to>
                                        <p:strVal val="visible"/>
                                      </p:to>
                                    </p:set>
                                    <p:animEffect transition="in" filter="fade">
                                      <p:cBhvr>
                                        <p:cTn id="10" dur="1000"/>
                                        <p:tgtEl>
                                          <p:spTgt spid="3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1000"/>
                                        <p:tgtEl>
                                          <p:spTgt spid="307"/>
                                        </p:tgtEl>
                                      </p:cBhvr>
                                    </p:animEffect>
                                    <p:set>
                                      <p:cBhvr>
                                        <p:cTn id="15" dur="1" fill="hold">
                                          <p:stCondLst>
                                            <p:cond delay="1000"/>
                                          </p:stCondLst>
                                        </p:cTn>
                                        <p:tgtEl>
                                          <p:spTgt spid="307"/>
                                        </p:tgtEl>
                                        <p:attrNameLst>
                                          <p:attrName>style.visibility</p:attrName>
                                        </p:attrNameLst>
                                      </p:cBhvr>
                                      <p:to>
                                        <p:strVal val="hidden"/>
                                      </p:to>
                                    </p:set>
                                  </p:childTnLst>
                                </p:cTn>
                              </p:par>
                              <p:par>
                                <p:cTn id="16" presetID="10" presetClass="entr" presetSubtype="0" fill="hold" nodeType="withEffect">
                                  <p:stCondLst>
                                    <p:cond delay="0"/>
                                  </p:stCondLst>
                                  <p:childTnLst>
                                    <p:set>
                                      <p:cBhvr>
                                        <p:cTn id="17" dur="1" fill="hold">
                                          <p:stCondLst>
                                            <p:cond delay="0"/>
                                          </p:stCondLst>
                                        </p:cTn>
                                        <p:tgtEl>
                                          <p:spTgt spid="317"/>
                                        </p:tgtEl>
                                        <p:attrNameLst>
                                          <p:attrName>style.visibility</p:attrName>
                                        </p:attrNameLst>
                                      </p:cBhvr>
                                      <p:to>
                                        <p:strVal val="visible"/>
                                      </p:to>
                                    </p:set>
                                    <p:animEffect transition="in" filter="fade">
                                      <p:cBhvr>
                                        <p:cTn id="18" dur="1000"/>
                                        <p:tgtEl>
                                          <p:spTgt spid="3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08"/>
                                        </p:tgtEl>
                                        <p:attrNameLst>
                                          <p:attrName>style.visibility</p:attrName>
                                        </p:attrNameLst>
                                      </p:cBhvr>
                                      <p:to>
                                        <p:strVal val="visible"/>
                                      </p:to>
                                    </p:set>
                                    <p:animEffect transition="in" filter="fade">
                                      <p:cBhvr>
                                        <p:cTn id="23" dur="1000"/>
                                        <p:tgtEl>
                                          <p:spTgt spid="308"/>
                                        </p:tgtEl>
                                      </p:cBhvr>
                                    </p:animEffect>
                                  </p:childTnLst>
                                </p:cTn>
                              </p:par>
                              <p:par>
                                <p:cTn id="24" presetID="10" presetClass="exit" presetSubtype="0" fill="hold" nodeType="withEffect">
                                  <p:stCondLst>
                                    <p:cond delay="0"/>
                                  </p:stCondLst>
                                  <p:childTnLst>
                                    <p:animEffect transition="out" filter="fade">
                                      <p:cBhvr>
                                        <p:cTn id="25" dur="1000"/>
                                        <p:tgtEl>
                                          <p:spTgt spid="318"/>
                                        </p:tgtEl>
                                      </p:cBhvr>
                                    </p:animEffect>
                                    <p:set>
                                      <p:cBhvr>
                                        <p:cTn id="26" dur="1" fill="hold">
                                          <p:stCondLst>
                                            <p:cond delay="1000"/>
                                          </p:stCondLst>
                                        </p:cTn>
                                        <p:tgtEl>
                                          <p:spTgt spid="31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07"/>
                                        </p:tgtEl>
                                        <p:attrNameLst>
                                          <p:attrName>style.visibility</p:attrName>
                                        </p:attrNameLst>
                                      </p:cBhvr>
                                      <p:to>
                                        <p:strVal val="visible"/>
                                      </p:to>
                                    </p:set>
                                    <p:animEffect transition="in" filter="fade">
                                      <p:cBhvr>
                                        <p:cTn id="31" dur="1000"/>
                                        <p:tgtEl>
                                          <p:spTgt spid="307"/>
                                        </p:tgtEl>
                                      </p:cBhvr>
                                    </p:animEffect>
                                  </p:childTnLst>
                                </p:cTn>
                              </p:par>
                              <p:par>
                                <p:cTn id="32" presetID="10" presetClass="exit" presetSubtype="0" fill="hold" nodeType="withEffect">
                                  <p:stCondLst>
                                    <p:cond delay="0"/>
                                  </p:stCondLst>
                                  <p:childTnLst>
                                    <p:animEffect transition="out" filter="fade">
                                      <p:cBhvr>
                                        <p:cTn id="33" dur="1000"/>
                                        <p:tgtEl>
                                          <p:spTgt spid="317"/>
                                        </p:tgtEl>
                                      </p:cBhvr>
                                    </p:animEffect>
                                    <p:set>
                                      <p:cBhvr>
                                        <p:cTn id="34" dur="1" fill="hold">
                                          <p:stCondLst>
                                            <p:cond delay="1000"/>
                                          </p:stCondLst>
                                        </p:cTn>
                                        <p:tgtEl>
                                          <p:spTgt spid="3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19"/>
          <p:cNvSpPr/>
          <p:nvPr/>
        </p:nvSpPr>
        <p:spPr>
          <a:xfrm>
            <a:off x="3389862" y="2035757"/>
            <a:ext cx="2364300" cy="2364300"/>
          </a:xfrm>
          <a:prstGeom prst="ellipse">
            <a:avLst/>
          </a:prstGeom>
          <a:solidFill>
            <a:srgbClr val="783F04"/>
          </a:solidFill>
          <a:ln>
            <a:noFill/>
          </a:ln>
        </p:spPr>
        <p:txBody>
          <a:bodyPr spcFirstLastPara="1" wrap="square" lIns="45713" tIns="45713" rIns="45713" bIns="45713" anchor="ctr" anchorCtr="0">
            <a:noAutofit/>
          </a:bodyPr>
          <a:lstStyle/>
          <a:p>
            <a:endParaRPr sz="900"/>
          </a:p>
        </p:txBody>
      </p:sp>
      <p:pic>
        <p:nvPicPr>
          <p:cNvPr id="324" name="Google Shape;324;p19"/>
          <p:cNvPicPr preferRelativeResize="0"/>
          <p:nvPr/>
        </p:nvPicPr>
        <p:blipFill>
          <a:blip r:embed="rId3">
            <a:alphaModFix/>
          </a:blip>
          <a:stretch>
            <a:fillRect/>
          </a:stretch>
        </p:blipFill>
        <p:spPr>
          <a:xfrm>
            <a:off x="5100038" y="1243400"/>
            <a:ext cx="1219200" cy="1219200"/>
          </a:xfrm>
          <a:prstGeom prst="rect">
            <a:avLst/>
          </a:prstGeom>
          <a:noFill/>
          <a:ln>
            <a:noFill/>
          </a:ln>
        </p:spPr>
      </p:pic>
      <p:pic>
        <p:nvPicPr>
          <p:cNvPr id="325" name="Google Shape;325;p19"/>
          <p:cNvPicPr preferRelativeResize="0"/>
          <p:nvPr/>
        </p:nvPicPr>
        <p:blipFill>
          <a:blip r:embed="rId4">
            <a:alphaModFix/>
          </a:blip>
          <a:stretch>
            <a:fillRect/>
          </a:stretch>
        </p:blipFill>
        <p:spPr>
          <a:xfrm>
            <a:off x="3962394" y="4395400"/>
            <a:ext cx="1219200" cy="1219200"/>
          </a:xfrm>
          <a:prstGeom prst="rect">
            <a:avLst/>
          </a:prstGeom>
          <a:noFill/>
          <a:ln>
            <a:noFill/>
          </a:ln>
        </p:spPr>
      </p:pic>
      <p:pic>
        <p:nvPicPr>
          <p:cNvPr id="326" name="Google Shape;326;p19"/>
          <p:cNvPicPr preferRelativeResize="0"/>
          <p:nvPr/>
        </p:nvPicPr>
        <p:blipFill>
          <a:blip r:embed="rId5">
            <a:alphaModFix/>
          </a:blip>
          <a:stretch>
            <a:fillRect/>
          </a:stretch>
        </p:blipFill>
        <p:spPr>
          <a:xfrm>
            <a:off x="2292325" y="3217875"/>
            <a:ext cx="1219200" cy="1219200"/>
          </a:xfrm>
          <a:prstGeom prst="rect">
            <a:avLst/>
          </a:prstGeom>
          <a:noFill/>
          <a:ln>
            <a:noFill/>
          </a:ln>
        </p:spPr>
      </p:pic>
      <p:pic>
        <p:nvPicPr>
          <p:cNvPr id="327" name="Google Shape;327;p19"/>
          <p:cNvPicPr preferRelativeResize="0"/>
          <p:nvPr/>
        </p:nvPicPr>
        <p:blipFill>
          <a:blip r:embed="rId6">
            <a:alphaModFix/>
          </a:blip>
          <a:stretch>
            <a:fillRect/>
          </a:stretch>
        </p:blipFill>
        <p:spPr>
          <a:xfrm>
            <a:off x="5632475" y="3217875"/>
            <a:ext cx="1219200" cy="1219200"/>
          </a:xfrm>
          <a:prstGeom prst="rect">
            <a:avLst/>
          </a:prstGeom>
          <a:noFill/>
          <a:ln>
            <a:noFill/>
          </a:ln>
        </p:spPr>
      </p:pic>
      <p:pic>
        <p:nvPicPr>
          <p:cNvPr id="328" name="Google Shape;328;p19"/>
          <p:cNvPicPr preferRelativeResize="0"/>
          <p:nvPr/>
        </p:nvPicPr>
        <p:blipFill>
          <a:blip r:embed="rId7">
            <a:alphaModFix/>
          </a:blip>
          <a:stretch>
            <a:fillRect/>
          </a:stretch>
        </p:blipFill>
        <p:spPr>
          <a:xfrm>
            <a:off x="2824757" y="1243400"/>
            <a:ext cx="1219200" cy="1219200"/>
          </a:xfrm>
          <a:prstGeom prst="rect">
            <a:avLst/>
          </a:prstGeom>
          <a:noFill/>
          <a:ln>
            <a:noFill/>
          </a:ln>
        </p:spPr>
      </p:pic>
      <p:grpSp>
        <p:nvGrpSpPr>
          <p:cNvPr id="329" name="Google Shape;329;p19"/>
          <p:cNvGrpSpPr/>
          <p:nvPr/>
        </p:nvGrpSpPr>
        <p:grpSpPr>
          <a:xfrm>
            <a:off x="4157195" y="2803111"/>
            <a:ext cx="829600" cy="829600"/>
            <a:chOff x="7509900" y="2868375"/>
            <a:chExt cx="903900" cy="903900"/>
          </a:xfrm>
        </p:grpSpPr>
        <p:sp>
          <p:nvSpPr>
            <p:cNvPr id="330" name="Google Shape;330;p19"/>
            <p:cNvSpPr/>
            <p:nvPr/>
          </p:nvSpPr>
          <p:spPr>
            <a:xfrm>
              <a:off x="7509900" y="2868375"/>
              <a:ext cx="903900" cy="903900"/>
            </a:xfrm>
            <a:prstGeom prst="ellipse">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331" name="Google Shape;331;p19"/>
            <p:cNvSpPr/>
            <p:nvPr/>
          </p:nvSpPr>
          <p:spPr>
            <a:xfrm>
              <a:off x="7726325" y="3187287"/>
              <a:ext cx="281375" cy="421875"/>
            </a:xfrm>
            <a:custGeom>
              <a:avLst/>
              <a:gdLst/>
              <a:ahLst/>
              <a:cxnLst/>
              <a:rect l="l" t="t" r="r" b="b"/>
              <a:pathLst>
                <a:path w="11255" h="16875" extrusionOk="0">
                  <a:moveTo>
                    <a:pt x="0" y="1985"/>
                  </a:moveTo>
                  <a:cubicBezTo>
                    <a:pt x="3409" y="525"/>
                    <a:pt x="10171" y="-1599"/>
                    <a:pt x="11126" y="1985"/>
                  </a:cubicBezTo>
                  <a:cubicBezTo>
                    <a:pt x="11977" y="5177"/>
                    <a:pt x="7498" y="7599"/>
                    <a:pt x="5042" y="9808"/>
                  </a:cubicBezTo>
                  <a:cubicBezTo>
                    <a:pt x="3517" y="11179"/>
                    <a:pt x="7922" y="12750"/>
                    <a:pt x="9562" y="13980"/>
                  </a:cubicBezTo>
                  <a:cubicBezTo>
                    <a:pt x="10372" y="14587"/>
                    <a:pt x="11636" y="16225"/>
                    <a:pt x="10778" y="16762"/>
                  </a:cubicBezTo>
                  <a:cubicBezTo>
                    <a:pt x="9613" y="17490"/>
                    <a:pt x="7707" y="13849"/>
                    <a:pt x="8866" y="13111"/>
                  </a:cubicBezTo>
                </a:path>
              </a:pathLst>
            </a:custGeom>
            <a:noFill/>
            <a:ln w="38100" cap="flat" cmpd="sng">
              <a:solidFill>
                <a:srgbClr val="F1C232"/>
              </a:solidFill>
              <a:prstDash val="solid"/>
              <a:round/>
              <a:headEnd type="none" w="med" len="med"/>
              <a:tailEnd type="none" w="med" len="med"/>
            </a:ln>
          </p:spPr>
        </p:sp>
        <p:sp>
          <p:nvSpPr>
            <p:cNvPr id="332" name="Google Shape;332;p19"/>
            <p:cNvSpPr/>
            <p:nvPr/>
          </p:nvSpPr>
          <p:spPr>
            <a:xfrm>
              <a:off x="7829049" y="3032650"/>
              <a:ext cx="272850" cy="456325"/>
            </a:xfrm>
            <a:custGeom>
              <a:avLst/>
              <a:gdLst/>
              <a:ahLst/>
              <a:cxnLst/>
              <a:rect l="l" t="t" r="r" b="b"/>
              <a:pathLst>
                <a:path w="10914" h="18253" extrusionOk="0">
                  <a:moveTo>
                    <a:pt x="4236" y="0"/>
                  </a:moveTo>
                  <a:cubicBezTo>
                    <a:pt x="1862" y="3263"/>
                    <a:pt x="-1710" y="8598"/>
                    <a:pt x="933" y="11647"/>
                  </a:cubicBezTo>
                  <a:cubicBezTo>
                    <a:pt x="3470" y="14574"/>
                    <a:pt x="12913" y="15228"/>
                    <a:pt x="10494" y="18253"/>
                  </a:cubicBezTo>
                </a:path>
              </a:pathLst>
            </a:custGeom>
            <a:noFill/>
            <a:ln w="38100" cap="flat" cmpd="sng">
              <a:solidFill>
                <a:srgbClr val="F1C232"/>
              </a:solidFill>
              <a:prstDash val="solid"/>
              <a:round/>
              <a:headEnd type="none" w="med" len="med"/>
              <a:tailEnd type="none" w="med" len="med"/>
            </a:ln>
          </p:spPr>
        </p:sp>
        <p:sp>
          <p:nvSpPr>
            <p:cNvPr id="333" name="Google Shape;333;p19"/>
            <p:cNvSpPr/>
            <p:nvPr/>
          </p:nvSpPr>
          <p:spPr>
            <a:xfrm>
              <a:off x="7938508" y="3145650"/>
              <a:ext cx="222425" cy="356375"/>
            </a:xfrm>
            <a:custGeom>
              <a:avLst/>
              <a:gdLst/>
              <a:ahLst/>
              <a:cxnLst/>
              <a:rect l="l" t="t" r="r" b="b"/>
              <a:pathLst>
                <a:path w="8897" h="14255" extrusionOk="0">
                  <a:moveTo>
                    <a:pt x="8897" y="0"/>
                  </a:moveTo>
                  <a:cubicBezTo>
                    <a:pt x="5700" y="999"/>
                    <a:pt x="1621" y="2006"/>
                    <a:pt x="205" y="5041"/>
                  </a:cubicBezTo>
                  <a:cubicBezTo>
                    <a:pt x="-1089" y="7814"/>
                    <a:pt x="5221" y="8570"/>
                    <a:pt x="7507" y="10604"/>
                  </a:cubicBezTo>
                  <a:cubicBezTo>
                    <a:pt x="8600" y="11576"/>
                    <a:pt x="6516" y="14014"/>
                    <a:pt x="5073" y="14255"/>
                  </a:cubicBezTo>
                </a:path>
              </a:pathLst>
            </a:custGeom>
            <a:noFill/>
            <a:ln w="38100" cap="flat" cmpd="sng">
              <a:solidFill>
                <a:srgbClr val="F1C232"/>
              </a:solidFill>
              <a:prstDash val="solid"/>
              <a:round/>
              <a:headEnd type="none" w="med" len="med"/>
              <a:tailEnd type="none" w="med" len="med"/>
            </a:ln>
          </p:spPr>
        </p:sp>
        <p:sp>
          <p:nvSpPr>
            <p:cNvPr id="334" name="Google Shape;334;p19"/>
            <p:cNvSpPr/>
            <p:nvPr/>
          </p:nvSpPr>
          <p:spPr>
            <a:xfrm>
              <a:off x="7743725" y="3093500"/>
              <a:ext cx="518875" cy="321600"/>
            </a:xfrm>
            <a:custGeom>
              <a:avLst/>
              <a:gdLst/>
              <a:ahLst/>
              <a:cxnLst/>
              <a:rect l="l" t="t" r="r" b="b"/>
              <a:pathLst>
                <a:path w="20755" h="12864" extrusionOk="0">
                  <a:moveTo>
                    <a:pt x="0" y="0"/>
                  </a:moveTo>
                  <a:cubicBezTo>
                    <a:pt x="5394" y="897"/>
                    <a:pt x="12760" y="-760"/>
                    <a:pt x="15993" y="3650"/>
                  </a:cubicBezTo>
                  <a:cubicBezTo>
                    <a:pt x="17475" y="5672"/>
                    <a:pt x="22372" y="8719"/>
                    <a:pt x="20165" y="9908"/>
                  </a:cubicBezTo>
                  <a:cubicBezTo>
                    <a:pt x="14587" y="12912"/>
                    <a:pt x="1390" y="6529"/>
                    <a:pt x="1390" y="12864"/>
                  </a:cubicBezTo>
                </a:path>
              </a:pathLst>
            </a:custGeom>
            <a:noFill/>
            <a:ln w="38100" cap="flat" cmpd="sng">
              <a:solidFill>
                <a:srgbClr val="F1C232"/>
              </a:solidFill>
              <a:prstDash val="solid"/>
              <a:round/>
              <a:headEnd type="none" w="med" len="med"/>
              <a:tailEnd type="none" w="med" len="med"/>
            </a:ln>
          </p:spPr>
        </p:sp>
        <p:sp>
          <p:nvSpPr>
            <p:cNvPr id="335" name="Google Shape;335;p19"/>
            <p:cNvSpPr/>
            <p:nvPr/>
          </p:nvSpPr>
          <p:spPr>
            <a:xfrm>
              <a:off x="7662050" y="3010925"/>
              <a:ext cx="411975" cy="478050"/>
            </a:xfrm>
            <a:custGeom>
              <a:avLst/>
              <a:gdLst/>
              <a:ahLst/>
              <a:cxnLst/>
              <a:rect l="l" t="t" r="r" b="b"/>
              <a:pathLst>
                <a:path w="16479" h="19122" extrusionOk="0">
                  <a:moveTo>
                    <a:pt x="16479" y="0"/>
                  </a:moveTo>
                  <a:cubicBezTo>
                    <a:pt x="9984" y="1946"/>
                    <a:pt x="3470" y="6343"/>
                    <a:pt x="311" y="12342"/>
                  </a:cubicBezTo>
                  <a:cubicBezTo>
                    <a:pt x="-872" y="14589"/>
                    <a:pt x="1757" y="17597"/>
                    <a:pt x="3788" y="19122"/>
                  </a:cubicBezTo>
                </a:path>
              </a:pathLst>
            </a:custGeom>
            <a:noFill/>
            <a:ln w="38100" cap="flat" cmpd="sng">
              <a:solidFill>
                <a:srgbClr val="F1C232"/>
              </a:solidFill>
              <a:prstDash val="solid"/>
              <a:round/>
              <a:headEnd type="none" w="med" len="med"/>
              <a:tailEnd type="none" w="med" len="med"/>
            </a:ln>
          </p:spPr>
        </p:sp>
        <p:sp>
          <p:nvSpPr>
            <p:cNvPr id="336" name="Google Shape;336;p19"/>
            <p:cNvSpPr/>
            <p:nvPr/>
          </p:nvSpPr>
          <p:spPr>
            <a:xfrm>
              <a:off x="7817600" y="3015250"/>
              <a:ext cx="398400" cy="587225"/>
            </a:xfrm>
            <a:custGeom>
              <a:avLst/>
              <a:gdLst/>
              <a:ahLst/>
              <a:cxnLst/>
              <a:rect l="l" t="t" r="r" b="b"/>
              <a:pathLst>
                <a:path w="15936" h="23489" extrusionOk="0">
                  <a:moveTo>
                    <a:pt x="0" y="0"/>
                  </a:moveTo>
                  <a:cubicBezTo>
                    <a:pt x="0" y="8167"/>
                    <a:pt x="2230" y="20746"/>
                    <a:pt x="10257" y="22252"/>
                  </a:cubicBezTo>
                  <a:cubicBezTo>
                    <a:pt x="12203" y="22617"/>
                    <a:pt x="15960" y="18191"/>
                    <a:pt x="15819" y="20166"/>
                  </a:cubicBezTo>
                  <a:cubicBezTo>
                    <a:pt x="15703" y="21786"/>
                    <a:pt x="15565" y="21792"/>
                    <a:pt x="14950" y="23295"/>
                  </a:cubicBezTo>
                  <a:cubicBezTo>
                    <a:pt x="14596" y="24160"/>
                    <a:pt x="13200" y="21724"/>
                    <a:pt x="13559" y="20861"/>
                  </a:cubicBezTo>
                  <a:cubicBezTo>
                    <a:pt x="14532" y="18524"/>
                    <a:pt x="16694" y="15864"/>
                    <a:pt x="15646" y="13560"/>
                  </a:cubicBezTo>
                  <a:cubicBezTo>
                    <a:pt x="15040" y="12229"/>
                    <a:pt x="13029" y="12161"/>
                    <a:pt x="11995" y="11126"/>
                  </a:cubicBezTo>
                </a:path>
              </a:pathLst>
            </a:custGeom>
            <a:noFill/>
            <a:ln w="38100" cap="flat" cmpd="sng">
              <a:solidFill>
                <a:srgbClr val="F1C232"/>
              </a:solidFill>
              <a:prstDash val="solid"/>
              <a:round/>
              <a:headEnd type="none" w="med" len="med"/>
              <a:tailEnd type="none" w="med" len="med"/>
            </a:ln>
          </p:spPr>
        </p:sp>
        <p:sp>
          <p:nvSpPr>
            <p:cNvPr id="337" name="Google Shape;337;p19"/>
            <p:cNvSpPr/>
            <p:nvPr/>
          </p:nvSpPr>
          <p:spPr>
            <a:xfrm>
              <a:off x="7643750" y="3180400"/>
              <a:ext cx="425925" cy="446300"/>
            </a:xfrm>
            <a:custGeom>
              <a:avLst/>
              <a:gdLst/>
              <a:ahLst/>
              <a:cxnLst/>
              <a:rect l="l" t="t" r="r" b="b"/>
              <a:pathLst>
                <a:path w="17037" h="17852" extrusionOk="0">
                  <a:moveTo>
                    <a:pt x="0" y="0"/>
                  </a:moveTo>
                  <a:cubicBezTo>
                    <a:pt x="4491" y="817"/>
                    <a:pt x="6830" y="6955"/>
                    <a:pt x="7475" y="11474"/>
                  </a:cubicBezTo>
                  <a:cubicBezTo>
                    <a:pt x="7713" y="13138"/>
                    <a:pt x="6322" y="15483"/>
                    <a:pt x="7649" y="16515"/>
                  </a:cubicBezTo>
                  <a:cubicBezTo>
                    <a:pt x="10121" y="18437"/>
                    <a:pt x="14632" y="18173"/>
                    <a:pt x="17037" y="16167"/>
                  </a:cubicBezTo>
                </a:path>
              </a:pathLst>
            </a:custGeom>
            <a:noFill/>
            <a:ln w="38100" cap="flat" cmpd="sng">
              <a:solidFill>
                <a:srgbClr val="F1C232"/>
              </a:solidFill>
              <a:prstDash val="solid"/>
              <a:round/>
              <a:headEnd type="none" w="med" len="med"/>
              <a:tailEnd type="none" w="med" len="med"/>
            </a:ln>
          </p:spPr>
        </p:sp>
        <p:sp>
          <p:nvSpPr>
            <p:cNvPr id="338" name="Google Shape;338;p19"/>
            <p:cNvSpPr/>
            <p:nvPr/>
          </p:nvSpPr>
          <p:spPr>
            <a:xfrm>
              <a:off x="7836249" y="3076100"/>
              <a:ext cx="320325" cy="456325"/>
            </a:xfrm>
            <a:custGeom>
              <a:avLst/>
              <a:gdLst/>
              <a:ahLst/>
              <a:cxnLst/>
              <a:rect l="l" t="t" r="r" b="b"/>
              <a:pathLst>
                <a:path w="12813" h="18253" extrusionOk="0">
                  <a:moveTo>
                    <a:pt x="12813" y="0"/>
                  </a:moveTo>
                  <a:cubicBezTo>
                    <a:pt x="7242" y="2181"/>
                    <a:pt x="-861" y="6790"/>
                    <a:pt x="123" y="12691"/>
                  </a:cubicBezTo>
                  <a:cubicBezTo>
                    <a:pt x="746" y="16427"/>
                    <a:pt x="8084" y="15004"/>
                    <a:pt x="10032" y="18253"/>
                  </a:cubicBezTo>
                </a:path>
              </a:pathLst>
            </a:custGeom>
            <a:noFill/>
            <a:ln w="38100" cap="flat" cmpd="sng">
              <a:solidFill>
                <a:srgbClr val="F1C232"/>
              </a:solidFill>
              <a:prstDash val="solid"/>
              <a:round/>
              <a:headEnd type="none" w="med" len="med"/>
              <a:tailEnd type="none" w="med" len="med"/>
            </a:ln>
          </p:spPr>
        </p:sp>
        <p:sp>
          <p:nvSpPr>
            <p:cNvPr id="339" name="Google Shape;339;p19"/>
            <p:cNvSpPr/>
            <p:nvPr/>
          </p:nvSpPr>
          <p:spPr>
            <a:xfrm>
              <a:off x="7700250" y="3132600"/>
              <a:ext cx="429925" cy="169500"/>
            </a:xfrm>
            <a:custGeom>
              <a:avLst/>
              <a:gdLst/>
              <a:ahLst/>
              <a:cxnLst/>
              <a:rect l="l" t="t" r="r" b="b"/>
              <a:pathLst>
                <a:path w="17197" h="6780" extrusionOk="0">
                  <a:moveTo>
                    <a:pt x="0" y="0"/>
                  </a:moveTo>
                  <a:cubicBezTo>
                    <a:pt x="3914" y="4695"/>
                    <a:pt x="10925" y="6780"/>
                    <a:pt x="17037" y="6780"/>
                  </a:cubicBezTo>
                  <a:cubicBezTo>
                    <a:pt x="17504" y="6780"/>
                    <a:pt x="16799" y="5655"/>
                    <a:pt x="16341" y="5563"/>
                  </a:cubicBezTo>
                </a:path>
              </a:pathLst>
            </a:custGeom>
            <a:noFill/>
            <a:ln w="38100" cap="flat" cmpd="sng">
              <a:solidFill>
                <a:srgbClr val="F1C232"/>
              </a:solidFill>
              <a:prstDash val="solid"/>
              <a:round/>
              <a:headEnd type="none" w="med" len="med"/>
              <a:tailEnd type="none" w="med" len="med"/>
            </a:ln>
          </p:spPr>
        </p:sp>
        <p:sp>
          <p:nvSpPr>
            <p:cNvPr id="340" name="Google Shape;340;p19"/>
            <p:cNvSpPr/>
            <p:nvPr/>
          </p:nvSpPr>
          <p:spPr>
            <a:xfrm>
              <a:off x="7710998" y="3098181"/>
              <a:ext cx="558575" cy="472725"/>
            </a:xfrm>
            <a:custGeom>
              <a:avLst/>
              <a:gdLst/>
              <a:ahLst/>
              <a:cxnLst/>
              <a:rect l="l" t="t" r="r" b="b"/>
              <a:pathLst>
                <a:path w="22343" h="18909" extrusionOk="0">
                  <a:moveTo>
                    <a:pt x="22343" y="4332"/>
                  </a:moveTo>
                  <a:cubicBezTo>
                    <a:pt x="16437" y="38"/>
                    <a:pt x="3704" y="-2547"/>
                    <a:pt x="439" y="3985"/>
                  </a:cubicBezTo>
                  <a:cubicBezTo>
                    <a:pt x="-1508" y="7881"/>
                    <a:pt x="3832" y="12696"/>
                    <a:pt x="7567" y="14937"/>
                  </a:cubicBezTo>
                  <a:cubicBezTo>
                    <a:pt x="9340" y="16001"/>
                    <a:pt x="12081" y="14808"/>
                    <a:pt x="13651" y="16154"/>
                  </a:cubicBezTo>
                  <a:cubicBezTo>
                    <a:pt x="15785" y="17983"/>
                    <a:pt x="7730" y="19926"/>
                    <a:pt x="5481" y="18240"/>
                  </a:cubicBezTo>
                </a:path>
              </a:pathLst>
            </a:custGeom>
            <a:noFill/>
            <a:ln w="38100" cap="flat" cmpd="sng">
              <a:solidFill>
                <a:srgbClr val="F1C232"/>
              </a:solidFill>
              <a:prstDash val="solid"/>
              <a:round/>
              <a:headEnd type="none" w="med" len="med"/>
              <a:tailEnd type="none" w="med" len="med"/>
            </a:ln>
          </p:spPr>
        </p:sp>
        <p:sp>
          <p:nvSpPr>
            <p:cNvPr id="341" name="Google Shape;341;p19"/>
            <p:cNvSpPr/>
            <p:nvPr/>
          </p:nvSpPr>
          <p:spPr>
            <a:xfrm>
              <a:off x="7685501" y="3079570"/>
              <a:ext cx="584075" cy="361600"/>
            </a:xfrm>
            <a:custGeom>
              <a:avLst/>
              <a:gdLst/>
              <a:ahLst/>
              <a:cxnLst/>
              <a:rect l="l" t="t" r="r" b="b"/>
              <a:pathLst>
                <a:path w="23363" h="14464" extrusionOk="0">
                  <a:moveTo>
                    <a:pt x="23363" y="14464"/>
                  </a:moveTo>
                  <a:cubicBezTo>
                    <a:pt x="21432" y="9632"/>
                    <a:pt x="15255" y="7928"/>
                    <a:pt x="11021" y="4903"/>
                  </a:cubicBezTo>
                  <a:cubicBezTo>
                    <a:pt x="8043" y="2775"/>
                    <a:pt x="3984" y="-1473"/>
                    <a:pt x="938" y="557"/>
                  </a:cubicBezTo>
                  <a:cubicBezTo>
                    <a:pt x="-2526" y="2866"/>
                    <a:pt x="4896" y="8744"/>
                    <a:pt x="8761" y="10292"/>
                  </a:cubicBezTo>
                </a:path>
              </a:pathLst>
            </a:custGeom>
            <a:noFill/>
            <a:ln w="38100" cap="flat" cmpd="sng">
              <a:solidFill>
                <a:srgbClr val="F1C232"/>
              </a:solidFill>
              <a:prstDash val="solid"/>
              <a:round/>
              <a:headEnd type="none" w="med" len="med"/>
              <a:tailEnd type="none" w="med" len="med"/>
            </a:ln>
          </p:spPr>
        </p:sp>
        <p:sp>
          <p:nvSpPr>
            <p:cNvPr id="342" name="Google Shape;342;p19"/>
            <p:cNvSpPr/>
            <p:nvPr/>
          </p:nvSpPr>
          <p:spPr>
            <a:xfrm>
              <a:off x="7744259" y="3028300"/>
              <a:ext cx="368875" cy="491100"/>
            </a:xfrm>
            <a:custGeom>
              <a:avLst/>
              <a:gdLst/>
              <a:ahLst/>
              <a:cxnLst/>
              <a:rect l="l" t="t" r="r" b="b"/>
              <a:pathLst>
                <a:path w="14755" h="19644" extrusionOk="0">
                  <a:moveTo>
                    <a:pt x="14755" y="0"/>
                  </a:moveTo>
                  <a:cubicBezTo>
                    <a:pt x="14495" y="609"/>
                    <a:pt x="14636" y="691"/>
                    <a:pt x="14234" y="1217"/>
                  </a:cubicBezTo>
                  <a:cubicBezTo>
                    <a:pt x="10836" y="5660"/>
                    <a:pt x="3616" y="6081"/>
                    <a:pt x="326" y="10604"/>
                  </a:cubicBezTo>
                  <a:cubicBezTo>
                    <a:pt x="-1501" y="13116"/>
                    <a:pt x="5071" y="17780"/>
                    <a:pt x="2586" y="19644"/>
                  </a:cubicBezTo>
                </a:path>
              </a:pathLst>
            </a:custGeom>
            <a:noFill/>
            <a:ln w="38100" cap="flat" cmpd="sng">
              <a:solidFill>
                <a:srgbClr val="F1C232"/>
              </a:solidFill>
              <a:prstDash val="solid"/>
              <a:round/>
              <a:headEnd type="none" w="med" len="med"/>
              <a:tailEnd type="none" w="med" len="med"/>
            </a:ln>
          </p:spPr>
        </p:sp>
        <p:sp>
          <p:nvSpPr>
            <p:cNvPr id="343" name="Google Shape;343;p19"/>
            <p:cNvSpPr/>
            <p:nvPr/>
          </p:nvSpPr>
          <p:spPr>
            <a:xfrm>
              <a:off x="7765450" y="3145650"/>
              <a:ext cx="482400" cy="338975"/>
            </a:xfrm>
            <a:custGeom>
              <a:avLst/>
              <a:gdLst/>
              <a:ahLst/>
              <a:cxnLst/>
              <a:rect l="l" t="t" r="r" b="b"/>
              <a:pathLst>
                <a:path w="19296" h="13559" extrusionOk="0">
                  <a:moveTo>
                    <a:pt x="19296" y="13559"/>
                  </a:moveTo>
                  <a:cubicBezTo>
                    <a:pt x="13760" y="11712"/>
                    <a:pt x="8516" y="8736"/>
                    <a:pt x="3998" y="5041"/>
                  </a:cubicBezTo>
                  <a:cubicBezTo>
                    <a:pt x="2338" y="3683"/>
                    <a:pt x="2116" y="351"/>
                    <a:pt x="0" y="0"/>
                  </a:cubicBezTo>
                </a:path>
              </a:pathLst>
            </a:custGeom>
            <a:noFill/>
            <a:ln w="38100" cap="flat" cmpd="sng">
              <a:solidFill>
                <a:srgbClr val="F1C232"/>
              </a:solidFill>
              <a:prstDash val="solid"/>
              <a:round/>
              <a:headEnd type="none" w="med" len="med"/>
              <a:tailEnd type="none" w="med" len="med"/>
            </a:ln>
          </p:spPr>
        </p:sp>
        <p:sp>
          <p:nvSpPr>
            <p:cNvPr id="344" name="Google Shape;344;p19"/>
            <p:cNvSpPr/>
            <p:nvPr/>
          </p:nvSpPr>
          <p:spPr>
            <a:xfrm>
              <a:off x="7665500" y="3269759"/>
              <a:ext cx="499775" cy="249650"/>
            </a:xfrm>
            <a:custGeom>
              <a:avLst/>
              <a:gdLst/>
              <a:ahLst/>
              <a:cxnLst/>
              <a:rect l="l" t="t" r="r" b="b"/>
              <a:pathLst>
                <a:path w="19991" h="9986" extrusionOk="0">
                  <a:moveTo>
                    <a:pt x="0" y="9986"/>
                  </a:moveTo>
                  <a:cubicBezTo>
                    <a:pt x="3478" y="7899"/>
                    <a:pt x="5064" y="3283"/>
                    <a:pt x="8692" y="1468"/>
                  </a:cubicBezTo>
                  <a:cubicBezTo>
                    <a:pt x="12086" y="-230"/>
                    <a:pt x="16196" y="77"/>
                    <a:pt x="19991" y="77"/>
                  </a:cubicBezTo>
                </a:path>
              </a:pathLst>
            </a:custGeom>
            <a:noFill/>
            <a:ln w="38100" cap="flat" cmpd="sng">
              <a:solidFill>
                <a:srgbClr val="F1C232"/>
              </a:solidFill>
              <a:prstDash val="solid"/>
              <a:round/>
              <a:headEnd type="none" w="med" len="med"/>
              <a:tailEnd type="none" w="med" len="med"/>
            </a:ln>
          </p:spPr>
        </p:sp>
        <p:sp>
          <p:nvSpPr>
            <p:cNvPr id="345" name="Google Shape;345;p19"/>
            <p:cNvSpPr/>
            <p:nvPr/>
          </p:nvSpPr>
          <p:spPr>
            <a:xfrm>
              <a:off x="7656800" y="3198318"/>
              <a:ext cx="660600" cy="161800"/>
            </a:xfrm>
            <a:custGeom>
              <a:avLst/>
              <a:gdLst/>
              <a:ahLst/>
              <a:cxnLst/>
              <a:rect l="l" t="t" r="r" b="b"/>
              <a:pathLst>
                <a:path w="26424" h="6472" extrusionOk="0">
                  <a:moveTo>
                    <a:pt x="26424" y="6411"/>
                  </a:moveTo>
                  <a:cubicBezTo>
                    <a:pt x="18961" y="6652"/>
                    <a:pt x="11684" y="3823"/>
                    <a:pt x="4520" y="1717"/>
                  </a:cubicBezTo>
                  <a:cubicBezTo>
                    <a:pt x="4232" y="1632"/>
                    <a:pt x="0" y="-572"/>
                    <a:pt x="0" y="153"/>
                  </a:cubicBezTo>
                  <a:cubicBezTo>
                    <a:pt x="0" y="1294"/>
                    <a:pt x="584" y="2475"/>
                    <a:pt x="1391" y="3282"/>
                  </a:cubicBezTo>
                </a:path>
              </a:pathLst>
            </a:custGeom>
            <a:noFill/>
            <a:ln w="38100" cap="flat" cmpd="sng">
              <a:solidFill>
                <a:srgbClr val="F1C232"/>
              </a:solidFill>
              <a:prstDash val="solid"/>
              <a:round/>
              <a:headEnd type="none" w="med" len="med"/>
              <a:tailEnd type="none" w="med" len="med"/>
            </a:ln>
          </p:spPr>
        </p:sp>
        <p:sp>
          <p:nvSpPr>
            <p:cNvPr id="346" name="Google Shape;346;p19"/>
            <p:cNvSpPr/>
            <p:nvPr/>
          </p:nvSpPr>
          <p:spPr>
            <a:xfrm>
              <a:off x="7757829" y="3119575"/>
              <a:ext cx="450925" cy="395475"/>
            </a:xfrm>
            <a:custGeom>
              <a:avLst/>
              <a:gdLst/>
              <a:ahLst/>
              <a:cxnLst/>
              <a:rect l="l" t="t" r="r" b="b"/>
              <a:pathLst>
                <a:path w="18037" h="15819" extrusionOk="0">
                  <a:moveTo>
                    <a:pt x="18037" y="0"/>
                  </a:moveTo>
                  <a:cubicBezTo>
                    <a:pt x="15708" y="1293"/>
                    <a:pt x="13491" y="3180"/>
                    <a:pt x="12300" y="5562"/>
                  </a:cubicBezTo>
                  <a:cubicBezTo>
                    <a:pt x="11338" y="7485"/>
                    <a:pt x="12524" y="10628"/>
                    <a:pt x="10735" y="11821"/>
                  </a:cubicBezTo>
                  <a:cubicBezTo>
                    <a:pt x="7637" y="13887"/>
                    <a:pt x="-1612" y="12627"/>
                    <a:pt x="305" y="15819"/>
                  </a:cubicBezTo>
                </a:path>
              </a:pathLst>
            </a:custGeom>
            <a:noFill/>
            <a:ln w="38100" cap="flat" cmpd="sng">
              <a:solidFill>
                <a:srgbClr val="F1C232"/>
              </a:solidFill>
              <a:prstDash val="solid"/>
              <a:round/>
              <a:headEnd type="none" w="med" len="med"/>
              <a:tailEnd type="none" w="med" len="med"/>
            </a:ln>
          </p:spPr>
        </p:sp>
        <p:sp>
          <p:nvSpPr>
            <p:cNvPr id="347" name="Google Shape;347;p19"/>
            <p:cNvSpPr/>
            <p:nvPr/>
          </p:nvSpPr>
          <p:spPr>
            <a:xfrm>
              <a:off x="7895825" y="3010925"/>
              <a:ext cx="373750" cy="469350"/>
            </a:xfrm>
            <a:custGeom>
              <a:avLst/>
              <a:gdLst/>
              <a:ahLst/>
              <a:cxnLst/>
              <a:rect l="l" t="t" r="r" b="b"/>
              <a:pathLst>
                <a:path w="14950" h="18774" extrusionOk="0">
                  <a:moveTo>
                    <a:pt x="0" y="0"/>
                  </a:moveTo>
                  <a:cubicBezTo>
                    <a:pt x="1571" y="7844"/>
                    <a:pt x="11377" y="11617"/>
                    <a:pt x="14950" y="18774"/>
                  </a:cubicBezTo>
                </a:path>
              </a:pathLst>
            </a:custGeom>
            <a:noFill/>
            <a:ln w="38100" cap="flat" cmpd="sng">
              <a:solidFill>
                <a:srgbClr val="F1C232"/>
              </a:solidFill>
              <a:prstDash val="solid"/>
              <a:round/>
              <a:headEnd type="none" w="med" len="med"/>
              <a:tailEnd type="none" w="med" len="med"/>
            </a:ln>
          </p:spPr>
        </p:sp>
        <p:sp>
          <p:nvSpPr>
            <p:cNvPr id="348" name="Google Shape;348;p19"/>
            <p:cNvSpPr/>
            <p:nvPr/>
          </p:nvSpPr>
          <p:spPr>
            <a:xfrm>
              <a:off x="7752400" y="3132600"/>
              <a:ext cx="346150" cy="434600"/>
            </a:xfrm>
            <a:custGeom>
              <a:avLst/>
              <a:gdLst/>
              <a:ahLst/>
              <a:cxnLst/>
              <a:rect l="l" t="t" r="r" b="b"/>
              <a:pathLst>
                <a:path w="13846" h="17384" extrusionOk="0">
                  <a:moveTo>
                    <a:pt x="0" y="17384"/>
                  </a:moveTo>
                  <a:cubicBezTo>
                    <a:pt x="1561" y="14266"/>
                    <a:pt x="813" y="9404"/>
                    <a:pt x="3825" y="7649"/>
                  </a:cubicBezTo>
                  <a:cubicBezTo>
                    <a:pt x="6452" y="6118"/>
                    <a:pt x="10432" y="8256"/>
                    <a:pt x="12865" y="6432"/>
                  </a:cubicBezTo>
                  <a:cubicBezTo>
                    <a:pt x="14596" y="5134"/>
                    <a:pt x="13756" y="1257"/>
                    <a:pt x="11995" y="0"/>
                  </a:cubicBezTo>
                </a:path>
              </a:pathLst>
            </a:custGeom>
            <a:noFill/>
            <a:ln w="38100" cap="flat" cmpd="sng">
              <a:solidFill>
                <a:srgbClr val="F1C232"/>
              </a:solidFill>
              <a:prstDash val="solid"/>
              <a:round/>
              <a:headEnd type="none" w="med" len="med"/>
              <a:tailEnd type="none" w="med" len="med"/>
            </a:ln>
          </p:spPr>
        </p:sp>
      </p:grpSp>
      <p:sp>
        <p:nvSpPr>
          <p:cNvPr id="349" name="Google Shape;349;p19"/>
          <p:cNvSpPr/>
          <p:nvPr/>
        </p:nvSpPr>
        <p:spPr>
          <a:xfrm rot="-6485262" flipH="1">
            <a:off x="5341176"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350" name="Google Shape;350;p19"/>
          <p:cNvSpPr/>
          <p:nvPr/>
        </p:nvSpPr>
        <p:spPr>
          <a:xfrm rot="6485262">
            <a:off x="3763714"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351" name="Google Shape;351;p19"/>
          <p:cNvSpPr/>
          <p:nvPr/>
        </p:nvSpPr>
        <p:spPr>
          <a:xfrm rot="10800000">
            <a:off x="4552435" y="2168746"/>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352" name="Google Shape;352;p19"/>
          <p:cNvSpPr/>
          <p:nvPr/>
        </p:nvSpPr>
        <p:spPr>
          <a:xfrm rot="2167448">
            <a:off x="4087053"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353" name="Google Shape;353;p19"/>
          <p:cNvSpPr/>
          <p:nvPr/>
        </p:nvSpPr>
        <p:spPr>
          <a:xfrm rot="-2167448" flipH="1">
            <a:off x="5017778"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354" name="Google Shape;354;p19"/>
          <p:cNvSpPr/>
          <p:nvPr/>
        </p:nvSpPr>
        <p:spPr>
          <a:xfrm>
            <a:off x="4416763" y="3146300"/>
            <a:ext cx="420063" cy="289163"/>
          </a:xfrm>
          <a:custGeom>
            <a:avLst/>
            <a:gdLst/>
            <a:ahLst/>
            <a:cxnLst/>
            <a:rect l="l" t="t" r="r" b="b"/>
            <a:pathLst>
              <a:path w="33605" h="23133" extrusionOk="0">
                <a:moveTo>
                  <a:pt x="0" y="23133"/>
                </a:moveTo>
                <a:cubicBezTo>
                  <a:pt x="2435" y="19075"/>
                  <a:pt x="4127" y="14465"/>
                  <a:pt x="7305" y="10958"/>
                </a:cubicBezTo>
                <a:cubicBezTo>
                  <a:pt x="13683" y="3921"/>
                  <a:pt x="24540" y="2832"/>
                  <a:pt x="33605" y="0"/>
                </a:cubicBezTo>
              </a:path>
            </a:pathLst>
          </a:custGeom>
          <a:noFill/>
          <a:ln w="38100" cap="flat" cmpd="sng">
            <a:solidFill>
              <a:srgbClr val="F1C232"/>
            </a:solidFill>
            <a:prstDash val="solid"/>
            <a:round/>
            <a:headEnd type="none" w="med" len="med"/>
            <a:tailEnd type="none" w="med" len="med"/>
          </a:ln>
        </p:spPr>
      </p:sp>
      <p:sp>
        <p:nvSpPr>
          <p:cNvPr id="355" name="Google Shape;355;p19"/>
          <p:cNvSpPr/>
          <p:nvPr/>
        </p:nvSpPr>
        <p:spPr>
          <a:xfrm>
            <a:off x="4413713" y="2966700"/>
            <a:ext cx="273963" cy="413975"/>
          </a:xfrm>
          <a:custGeom>
            <a:avLst/>
            <a:gdLst/>
            <a:ahLst/>
            <a:cxnLst/>
            <a:rect l="l" t="t" r="r" b="b"/>
            <a:pathLst>
              <a:path w="21917" h="33118" extrusionOk="0">
                <a:moveTo>
                  <a:pt x="0" y="0"/>
                </a:moveTo>
                <a:cubicBezTo>
                  <a:pt x="2209" y="4416"/>
                  <a:pt x="6510" y="8222"/>
                  <a:pt x="6819" y="13150"/>
                </a:cubicBezTo>
                <a:cubicBezTo>
                  <a:pt x="7095" y="17561"/>
                  <a:pt x="2967" y="22436"/>
                  <a:pt x="5114" y="26300"/>
                </a:cubicBezTo>
                <a:cubicBezTo>
                  <a:pt x="8050" y="31584"/>
                  <a:pt x="16181" y="31211"/>
                  <a:pt x="21917" y="33118"/>
                </a:cubicBezTo>
              </a:path>
            </a:pathLst>
          </a:custGeom>
          <a:noFill/>
          <a:ln w="38100" cap="flat" cmpd="sng">
            <a:solidFill>
              <a:srgbClr val="F1C232"/>
            </a:solidFill>
            <a:prstDash val="solid"/>
            <a:round/>
            <a:headEnd type="none" w="med" len="med"/>
            <a:tailEnd type="none" w="med" len="med"/>
          </a:ln>
        </p:spPr>
      </p:sp>
      <p:sp>
        <p:nvSpPr>
          <p:cNvPr id="356" name="Google Shape;356;p19"/>
          <p:cNvSpPr/>
          <p:nvPr/>
        </p:nvSpPr>
        <p:spPr>
          <a:xfrm>
            <a:off x="4363841" y="3099836"/>
            <a:ext cx="427325" cy="335625"/>
          </a:xfrm>
          <a:custGeom>
            <a:avLst/>
            <a:gdLst/>
            <a:ahLst/>
            <a:cxnLst/>
            <a:rect l="l" t="t" r="r" b="b"/>
            <a:pathLst>
              <a:path w="34186" h="26850" extrusionOk="0">
                <a:moveTo>
                  <a:pt x="34186" y="7369"/>
                </a:moveTo>
                <a:cubicBezTo>
                  <a:pt x="26609" y="7875"/>
                  <a:pt x="18987" y="9107"/>
                  <a:pt x="11783" y="11509"/>
                </a:cubicBezTo>
                <a:cubicBezTo>
                  <a:pt x="8958" y="12451"/>
                  <a:pt x="6190" y="14721"/>
                  <a:pt x="3260" y="14188"/>
                </a:cubicBezTo>
                <a:cubicBezTo>
                  <a:pt x="100" y="13613"/>
                  <a:pt x="-612" y="7915"/>
                  <a:pt x="581" y="4934"/>
                </a:cubicBezTo>
                <a:cubicBezTo>
                  <a:pt x="2999" y="-1107"/>
                  <a:pt x="16358" y="-1632"/>
                  <a:pt x="20062" y="3717"/>
                </a:cubicBezTo>
                <a:cubicBezTo>
                  <a:pt x="23302" y="8396"/>
                  <a:pt x="18572" y="15095"/>
                  <a:pt x="19088" y="20763"/>
                </a:cubicBezTo>
                <a:cubicBezTo>
                  <a:pt x="19370" y="23858"/>
                  <a:pt x="23042" y="26850"/>
                  <a:pt x="26150" y="26850"/>
                </a:cubicBezTo>
              </a:path>
            </a:pathLst>
          </a:custGeom>
          <a:noFill/>
          <a:ln w="38100" cap="flat" cmpd="sng">
            <a:solidFill>
              <a:srgbClr val="F1C232"/>
            </a:solidFill>
            <a:prstDash val="solid"/>
            <a:round/>
            <a:headEnd type="none" w="med" len="med"/>
            <a:tailEnd type="none" w="med" len="med"/>
          </a:ln>
        </p:spPr>
      </p:sp>
      <p:sp>
        <p:nvSpPr>
          <p:cNvPr id="357" name="Google Shape;357;p19"/>
          <p:cNvSpPr/>
          <p:nvPr/>
        </p:nvSpPr>
        <p:spPr>
          <a:xfrm>
            <a:off x="4365013" y="2942350"/>
            <a:ext cx="453675" cy="414725"/>
          </a:xfrm>
          <a:custGeom>
            <a:avLst/>
            <a:gdLst/>
            <a:ahLst/>
            <a:cxnLst/>
            <a:rect l="l" t="t" r="r" b="b"/>
            <a:pathLst>
              <a:path w="36294" h="33178" extrusionOk="0">
                <a:moveTo>
                  <a:pt x="16072" y="0"/>
                </a:moveTo>
                <a:cubicBezTo>
                  <a:pt x="18478" y="5415"/>
                  <a:pt x="25652" y="7856"/>
                  <a:pt x="27761" y="13393"/>
                </a:cubicBezTo>
                <a:cubicBezTo>
                  <a:pt x="29698" y="18478"/>
                  <a:pt x="25844" y="24459"/>
                  <a:pt x="27274" y="29709"/>
                </a:cubicBezTo>
                <a:cubicBezTo>
                  <a:pt x="27905" y="32023"/>
                  <a:pt x="32028" y="34192"/>
                  <a:pt x="33849" y="32631"/>
                </a:cubicBezTo>
                <a:cubicBezTo>
                  <a:pt x="36931" y="29989"/>
                  <a:pt x="37353" y="22015"/>
                  <a:pt x="33605" y="20455"/>
                </a:cubicBezTo>
                <a:cubicBezTo>
                  <a:pt x="25042" y="16890"/>
                  <a:pt x="14673" y="21082"/>
                  <a:pt x="6088" y="24595"/>
                </a:cubicBezTo>
                <a:cubicBezTo>
                  <a:pt x="3268" y="25749"/>
                  <a:pt x="2891" y="30452"/>
                  <a:pt x="0" y="31413"/>
                </a:cubicBezTo>
              </a:path>
            </a:pathLst>
          </a:custGeom>
          <a:noFill/>
          <a:ln w="38100" cap="flat" cmpd="sng">
            <a:solidFill>
              <a:srgbClr val="F1C232"/>
            </a:solidFill>
            <a:prstDash val="solid"/>
            <a:round/>
            <a:headEnd type="none" w="med" len="med"/>
            <a:tailEnd type="none" w="med" len="med"/>
          </a:ln>
        </p:spPr>
      </p:sp>
      <p:sp>
        <p:nvSpPr>
          <p:cNvPr id="358" name="Google Shape;358;p19"/>
          <p:cNvSpPr/>
          <p:nvPr/>
        </p:nvSpPr>
        <p:spPr>
          <a:xfrm>
            <a:off x="4340663" y="2972714"/>
            <a:ext cx="441350" cy="510425"/>
          </a:xfrm>
          <a:custGeom>
            <a:avLst/>
            <a:gdLst/>
            <a:ahLst/>
            <a:cxnLst/>
            <a:rect l="l" t="t" r="r" b="b"/>
            <a:pathLst>
              <a:path w="35308" h="40834" extrusionOk="0">
                <a:moveTo>
                  <a:pt x="0" y="21923"/>
                </a:moveTo>
                <a:cubicBezTo>
                  <a:pt x="4868" y="17746"/>
                  <a:pt x="16935" y="15448"/>
                  <a:pt x="19238" y="21435"/>
                </a:cubicBezTo>
                <a:cubicBezTo>
                  <a:pt x="21093" y="26256"/>
                  <a:pt x="14339" y="32377"/>
                  <a:pt x="17046" y="36777"/>
                </a:cubicBezTo>
                <a:cubicBezTo>
                  <a:pt x="19515" y="40790"/>
                  <a:pt x="26930" y="41953"/>
                  <a:pt x="30926" y="39456"/>
                </a:cubicBezTo>
                <a:cubicBezTo>
                  <a:pt x="37891" y="35105"/>
                  <a:pt x="35821" y="20062"/>
                  <a:pt x="29465" y="14861"/>
                </a:cubicBezTo>
                <a:cubicBezTo>
                  <a:pt x="22888" y="9480"/>
                  <a:pt x="7178" y="12602"/>
                  <a:pt x="6331" y="4146"/>
                </a:cubicBezTo>
                <a:cubicBezTo>
                  <a:pt x="5675" y="-2396"/>
                  <a:pt x="21107" y="-183"/>
                  <a:pt x="26056" y="4146"/>
                </a:cubicBezTo>
                <a:cubicBezTo>
                  <a:pt x="35321" y="12251"/>
                  <a:pt x="17470" y="28073"/>
                  <a:pt x="8766" y="36777"/>
                </a:cubicBezTo>
              </a:path>
            </a:pathLst>
          </a:custGeom>
          <a:noFill/>
          <a:ln w="38100" cap="flat" cmpd="sng">
            <a:solidFill>
              <a:srgbClr val="F1C232"/>
            </a:solidFill>
            <a:prstDash val="solid"/>
            <a:round/>
            <a:headEnd type="none" w="med" len="med"/>
            <a:tailEnd type="none" w="med" len="med"/>
          </a:ln>
        </p:spPr>
      </p:sp>
      <p:sp>
        <p:nvSpPr>
          <p:cNvPr id="359" name="Google Shape;359;p19"/>
          <p:cNvSpPr/>
          <p:nvPr/>
        </p:nvSpPr>
        <p:spPr>
          <a:xfrm>
            <a:off x="4336629" y="2954525"/>
            <a:ext cx="448450" cy="512988"/>
          </a:xfrm>
          <a:custGeom>
            <a:avLst/>
            <a:gdLst/>
            <a:ahLst/>
            <a:cxnLst/>
            <a:rect l="l" t="t" r="r" b="b"/>
            <a:pathLst>
              <a:path w="35876" h="41039" extrusionOk="0">
                <a:moveTo>
                  <a:pt x="35876" y="12176"/>
                </a:moveTo>
                <a:cubicBezTo>
                  <a:pt x="33278" y="13474"/>
                  <a:pt x="30137" y="14019"/>
                  <a:pt x="28084" y="16072"/>
                </a:cubicBezTo>
                <a:cubicBezTo>
                  <a:pt x="24741" y="19415"/>
                  <a:pt x="24638" y="25253"/>
                  <a:pt x="25161" y="29952"/>
                </a:cubicBezTo>
                <a:cubicBezTo>
                  <a:pt x="25573" y="33653"/>
                  <a:pt x="31860" y="39489"/>
                  <a:pt x="28327" y="40667"/>
                </a:cubicBezTo>
                <a:cubicBezTo>
                  <a:pt x="23195" y="42378"/>
                  <a:pt x="17049" y="37559"/>
                  <a:pt x="13960" y="33118"/>
                </a:cubicBezTo>
                <a:cubicBezTo>
                  <a:pt x="10617" y="28313"/>
                  <a:pt x="9699" y="20564"/>
                  <a:pt x="4219" y="18507"/>
                </a:cubicBezTo>
                <a:cubicBezTo>
                  <a:pt x="680" y="17179"/>
                  <a:pt x="-1376" y="26792"/>
                  <a:pt x="1297" y="29465"/>
                </a:cubicBezTo>
                <a:cubicBezTo>
                  <a:pt x="5492" y="33660"/>
                  <a:pt x="15463" y="29538"/>
                  <a:pt x="18343" y="24352"/>
                </a:cubicBezTo>
                <a:cubicBezTo>
                  <a:pt x="21498" y="18671"/>
                  <a:pt x="15329" y="10954"/>
                  <a:pt x="17612" y="4870"/>
                </a:cubicBezTo>
                <a:cubicBezTo>
                  <a:pt x="18786" y="1740"/>
                  <a:pt x="23036" y="0"/>
                  <a:pt x="26379" y="0"/>
                </a:cubicBezTo>
              </a:path>
            </a:pathLst>
          </a:custGeom>
          <a:noFill/>
          <a:ln w="38100" cap="flat" cmpd="sng">
            <a:solidFill>
              <a:srgbClr val="F1C232"/>
            </a:solidFill>
            <a:prstDash val="solid"/>
            <a:round/>
            <a:headEnd type="none" w="med" len="med"/>
            <a:tailEnd type="none" w="med" len="med"/>
          </a:ln>
        </p:spPr>
      </p:sp>
      <p:sp>
        <p:nvSpPr>
          <p:cNvPr id="360" name="Google Shape;360;p19"/>
          <p:cNvSpPr/>
          <p:nvPr/>
        </p:nvSpPr>
        <p:spPr>
          <a:xfrm rot="6485262">
            <a:off x="3236964" y="3041437"/>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361" name="Google Shape;361;p19"/>
          <p:cNvSpPr/>
          <p:nvPr/>
        </p:nvSpPr>
        <p:spPr>
          <a:xfrm rot="10800000">
            <a:off x="4021235" y="1726333"/>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362" name="Google Shape;362;p19"/>
          <p:cNvSpPr/>
          <p:nvPr/>
        </p:nvSpPr>
        <p:spPr>
          <a:xfrm rot="2167448">
            <a:off x="4169953" y="4226445"/>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363" name="Google Shape;363;p19"/>
          <p:cNvSpPr/>
          <p:nvPr/>
        </p:nvSpPr>
        <p:spPr>
          <a:xfrm rot="-2167448" flipH="1">
            <a:off x="5626360" y="3780045"/>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364" name="Google Shape;364;p19"/>
          <p:cNvSpPr txBox="1"/>
          <p:nvPr/>
        </p:nvSpPr>
        <p:spPr>
          <a:xfrm>
            <a:off x="352650" y="4638250"/>
            <a:ext cx="2121450" cy="553984"/>
          </a:xfrm>
          <a:prstGeom prst="rect">
            <a:avLst/>
          </a:prstGeom>
          <a:noFill/>
          <a:ln>
            <a:noFill/>
          </a:ln>
        </p:spPr>
        <p:txBody>
          <a:bodyPr spcFirstLastPara="1" wrap="square" lIns="45713" tIns="45713" rIns="45713" bIns="45713" anchor="t" anchorCtr="0">
            <a:spAutoFit/>
          </a:bodyPr>
          <a:lstStyle/>
          <a:p>
            <a:pPr algn="ctr"/>
            <a:r>
              <a:rPr lang="en" sz="3000">
                <a:solidFill>
                  <a:srgbClr val="FFFFFF"/>
                </a:solidFill>
              </a:rPr>
              <a:t>Deadlock</a:t>
            </a:r>
            <a:endParaRPr sz="3000">
              <a:solidFill>
                <a:srgbClr val="FFFFFF"/>
              </a:solidFill>
            </a:endParaRPr>
          </a:p>
        </p:txBody>
      </p:sp>
      <p:sp>
        <p:nvSpPr>
          <p:cNvPr id="365" name="Google Shape;365;p19"/>
          <p:cNvSpPr/>
          <p:nvPr/>
        </p:nvSpPr>
        <p:spPr>
          <a:xfrm rot="-6485262" flipH="1">
            <a:off x="5733114" y="22234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1000"/>
                                        <p:tgtEl>
                                          <p:spTgt spid="349"/>
                                        </p:tgtEl>
                                      </p:cBhvr>
                                    </p:animEffect>
                                    <p:set>
                                      <p:cBhvr>
                                        <p:cTn id="7" dur="1" fill="hold">
                                          <p:stCondLst>
                                            <p:cond delay="1000"/>
                                          </p:stCondLst>
                                        </p:cTn>
                                        <p:tgtEl>
                                          <p:spTgt spid="349"/>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1000"/>
                                        <p:tgtEl>
                                          <p:spTgt spid="350"/>
                                        </p:tgtEl>
                                      </p:cBhvr>
                                    </p:animEffect>
                                    <p:set>
                                      <p:cBhvr>
                                        <p:cTn id="10" dur="1" fill="hold">
                                          <p:stCondLst>
                                            <p:cond delay="1000"/>
                                          </p:stCondLst>
                                        </p:cTn>
                                        <p:tgtEl>
                                          <p:spTgt spid="350"/>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1000"/>
                                        <p:tgtEl>
                                          <p:spTgt spid="351"/>
                                        </p:tgtEl>
                                      </p:cBhvr>
                                    </p:animEffect>
                                    <p:set>
                                      <p:cBhvr>
                                        <p:cTn id="13" dur="1" fill="hold">
                                          <p:stCondLst>
                                            <p:cond delay="1000"/>
                                          </p:stCondLst>
                                        </p:cTn>
                                        <p:tgtEl>
                                          <p:spTgt spid="351"/>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1000"/>
                                        <p:tgtEl>
                                          <p:spTgt spid="353"/>
                                        </p:tgtEl>
                                      </p:cBhvr>
                                    </p:animEffect>
                                    <p:set>
                                      <p:cBhvr>
                                        <p:cTn id="16" dur="1" fill="hold">
                                          <p:stCondLst>
                                            <p:cond delay="1000"/>
                                          </p:stCondLst>
                                        </p:cTn>
                                        <p:tgtEl>
                                          <p:spTgt spid="353"/>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1000"/>
                                        <p:tgtEl>
                                          <p:spTgt spid="352"/>
                                        </p:tgtEl>
                                      </p:cBhvr>
                                    </p:animEffect>
                                    <p:set>
                                      <p:cBhvr>
                                        <p:cTn id="19" dur="1" fill="hold">
                                          <p:stCondLst>
                                            <p:cond delay="1000"/>
                                          </p:stCondLst>
                                        </p:cTn>
                                        <p:tgtEl>
                                          <p:spTgt spid="352"/>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360"/>
                                        </p:tgtEl>
                                        <p:attrNameLst>
                                          <p:attrName>style.visibility</p:attrName>
                                        </p:attrNameLst>
                                      </p:cBhvr>
                                      <p:to>
                                        <p:strVal val="visible"/>
                                      </p:to>
                                    </p:set>
                                    <p:animEffect transition="in" filter="fade">
                                      <p:cBhvr>
                                        <p:cTn id="22" dur="1000"/>
                                        <p:tgtEl>
                                          <p:spTgt spid="360"/>
                                        </p:tgtEl>
                                      </p:cBhvr>
                                    </p:animEffect>
                                  </p:childTnLst>
                                </p:cTn>
                              </p:par>
                              <p:par>
                                <p:cTn id="23" presetID="10" presetClass="entr" presetSubtype="0" fill="hold" nodeType="withEffect">
                                  <p:stCondLst>
                                    <p:cond delay="0"/>
                                  </p:stCondLst>
                                  <p:childTnLst>
                                    <p:set>
                                      <p:cBhvr>
                                        <p:cTn id="24" dur="1" fill="hold">
                                          <p:stCondLst>
                                            <p:cond delay="0"/>
                                          </p:stCondLst>
                                        </p:cTn>
                                        <p:tgtEl>
                                          <p:spTgt spid="361"/>
                                        </p:tgtEl>
                                        <p:attrNameLst>
                                          <p:attrName>style.visibility</p:attrName>
                                        </p:attrNameLst>
                                      </p:cBhvr>
                                      <p:to>
                                        <p:strVal val="visible"/>
                                      </p:to>
                                    </p:set>
                                    <p:animEffect transition="in" filter="fade">
                                      <p:cBhvr>
                                        <p:cTn id="25" dur="1000"/>
                                        <p:tgtEl>
                                          <p:spTgt spid="361"/>
                                        </p:tgtEl>
                                      </p:cBhvr>
                                    </p:animEffect>
                                  </p:childTnLst>
                                </p:cTn>
                              </p:par>
                              <p:par>
                                <p:cTn id="26" presetID="10" presetClass="entr" presetSubtype="0" fill="hold" nodeType="withEffect">
                                  <p:stCondLst>
                                    <p:cond delay="0"/>
                                  </p:stCondLst>
                                  <p:childTnLst>
                                    <p:set>
                                      <p:cBhvr>
                                        <p:cTn id="27" dur="1" fill="hold">
                                          <p:stCondLst>
                                            <p:cond delay="0"/>
                                          </p:stCondLst>
                                        </p:cTn>
                                        <p:tgtEl>
                                          <p:spTgt spid="363"/>
                                        </p:tgtEl>
                                        <p:attrNameLst>
                                          <p:attrName>style.visibility</p:attrName>
                                        </p:attrNameLst>
                                      </p:cBhvr>
                                      <p:to>
                                        <p:strVal val="visible"/>
                                      </p:to>
                                    </p:set>
                                    <p:animEffect transition="in" filter="fade">
                                      <p:cBhvr>
                                        <p:cTn id="28" dur="1000"/>
                                        <p:tgtEl>
                                          <p:spTgt spid="363"/>
                                        </p:tgtEl>
                                      </p:cBhvr>
                                    </p:animEffect>
                                  </p:childTnLst>
                                </p:cTn>
                              </p:par>
                              <p:par>
                                <p:cTn id="29" presetID="10" presetClass="entr" presetSubtype="0" fill="hold" nodeType="withEffect">
                                  <p:stCondLst>
                                    <p:cond delay="0"/>
                                  </p:stCondLst>
                                  <p:childTnLst>
                                    <p:set>
                                      <p:cBhvr>
                                        <p:cTn id="30" dur="1" fill="hold">
                                          <p:stCondLst>
                                            <p:cond delay="0"/>
                                          </p:stCondLst>
                                        </p:cTn>
                                        <p:tgtEl>
                                          <p:spTgt spid="365"/>
                                        </p:tgtEl>
                                        <p:attrNameLst>
                                          <p:attrName>style.visibility</p:attrName>
                                        </p:attrNameLst>
                                      </p:cBhvr>
                                      <p:to>
                                        <p:strVal val="visible"/>
                                      </p:to>
                                    </p:set>
                                    <p:animEffect transition="in" filter="fade">
                                      <p:cBhvr>
                                        <p:cTn id="31" dur="1000"/>
                                        <p:tgtEl>
                                          <p:spTgt spid="365"/>
                                        </p:tgtEl>
                                      </p:cBhvr>
                                    </p:animEffect>
                                  </p:childTnLst>
                                </p:cTn>
                              </p:par>
                              <p:par>
                                <p:cTn id="32" presetID="10" presetClass="entr" presetSubtype="0" fill="hold" nodeType="withEffect">
                                  <p:stCondLst>
                                    <p:cond delay="0"/>
                                  </p:stCondLst>
                                  <p:childTnLst>
                                    <p:set>
                                      <p:cBhvr>
                                        <p:cTn id="33" dur="1" fill="hold">
                                          <p:stCondLst>
                                            <p:cond delay="0"/>
                                          </p:stCondLst>
                                        </p:cTn>
                                        <p:tgtEl>
                                          <p:spTgt spid="362"/>
                                        </p:tgtEl>
                                        <p:attrNameLst>
                                          <p:attrName>style.visibility</p:attrName>
                                        </p:attrNameLst>
                                      </p:cBhvr>
                                      <p:to>
                                        <p:strVal val="visible"/>
                                      </p:to>
                                    </p:set>
                                    <p:animEffect transition="in" filter="fade">
                                      <p:cBhvr>
                                        <p:cTn id="34" dur="1000"/>
                                        <p:tgtEl>
                                          <p:spTgt spid="36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64"/>
                                        </p:tgtEl>
                                        <p:attrNameLst>
                                          <p:attrName>style.visibility</p:attrName>
                                        </p:attrNameLst>
                                      </p:cBhvr>
                                      <p:to>
                                        <p:strVal val="visible"/>
                                      </p:to>
                                    </p:set>
                                    <p:animEffect transition="in" filter="fade">
                                      <p:cBhvr>
                                        <p:cTn id="39" dur="1000"/>
                                        <p:tgtEl>
                                          <p:spTgt spid="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20"/>
          <p:cNvSpPr/>
          <p:nvPr/>
        </p:nvSpPr>
        <p:spPr>
          <a:xfrm>
            <a:off x="3389862" y="2035757"/>
            <a:ext cx="2364300" cy="2364300"/>
          </a:xfrm>
          <a:prstGeom prst="ellipse">
            <a:avLst/>
          </a:prstGeom>
          <a:solidFill>
            <a:srgbClr val="783F04"/>
          </a:solidFill>
          <a:ln>
            <a:noFill/>
          </a:ln>
        </p:spPr>
        <p:txBody>
          <a:bodyPr spcFirstLastPara="1" wrap="square" lIns="45713" tIns="45713" rIns="45713" bIns="45713" anchor="ctr" anchorCtr="0">
            <a:noAutofit/>
          </a:bodyPr>
          <a:lstStyle/>
          <a:p>
            <a:endParaRPr sz="900"/>
          </a:p>
        </p:txBody>
      </p:sp>
      <p:pic>
        <p:nvPicPr>
          <p:cNvPr id="371" name="Google Shape;371;p20"/>
          <p:cNvPicPr preferRelativeResize="0"/>
          <p:nvPr/>
        </p:nvPicPr>
        <p:blipFill>
          <a:blip r:embed="rId3">
            <a:alphaModFix/>
          </a:blip>
          <a:stretch>
            <a:fillRect/>
          </a:stretch>
        </p:blipFill>
        <p:spPr>
          <a:xfrm>
            <a:off x="5100038" y="1243400"/>
            <a:ext cx="1219200" cy="1219200"/>
          </a:xfrm>
          <a:prstGeom prst="rect">
            <a:avLst/>
          </a:prstGeom>
          <a:noFill/>
          <a:ln>
            <a:noFill/>
          </a:ln>
        </p:spPr>
      </p:pic>
      <p:pic>
        <p:nvPicPr>
          <p:cNvPr id="372" name="Google Shape;372;p20"/>
          <p:cNvPicPr preferRelativeResize="0"/>
          <p:nvPr/>
        </p:nvPicPr>
        <p:blipFill>
          <a:blip r:embed="rId4">
            <a:alphaModFix/>
          </a:blip>
          <a:stretch>
            <a:fillRect/>
          </a:stretch>
        </p:blipFill>
        <p:spPr>
          <a:xfrm>
            <a:off x="3962394" y="4395400"/>
            <a:ext cx="1219200" cy="1219200"/>
          </a:xfrm>
          <a:prstGeom prst="rect">
            <a:avLst/>
          </a:prstGeom>
          <a:noFill/>
          <a:ln>
            <a:noFill/>
          </a:ln>
        </p:spPr>
      </p:pic>
      <p:pic>
        <p:nvPicPr>
          <p:cNvPr id="373" name="Google Shape;373;p20"/>
          <p:cNvPicPr preferRelativeResize="0"/>
          <p:nvPr/>
        </p:nvPicPr>
        <p:blipFill>
          <a:blip r:embed="rId5">
            <a:alphaModFix/>
          </a:blip>
          <a:stretch>
            <a:fillRect/>
          </a:stretch>
        </p:blipFill>
        <p:spPr>
          <a:xfrm>
            <a:off x="2292325" y="3217875"/>
            <a:ext cx="1219200" cy="1219200"/>
          </a:xfrm>
          <a:prstGeom prst="rect">
            <a:avLst/>
          </a:prstGeom>
          <a:noFill/>
          <a:ln>
            <a:noFill/>
          </a:ln>
        </p:spPr>
      </p:pic>
      <p:pic>
        <p:nvPicPr>
          <p:cNvPr id="374" name="Google Shape;374;p20"/>
          <p:cNvPicPr preferRelativeResize="0"/>
          <p:nvPr/>
        </p:nvPicPr>
        <p:blipFill>
          <a:blip r:embed="rId6">
            <a:alphaModFix/>
          </a:blip>
          <a:stretch>
            <a:fillRect/>
          </a:stretch>
        </p:blipFill>
        <p:spPr>
          <a:xfrm>
            <a:off x="5632475" y="3217875"/>
            <a:ext cx="1219200" cy="1219200"/>
          </a:xfrm>
          <a:prstGeom prst="rect">
            <a:avLst/>
          </a:prstGeom>
          <a:noFill/>
          <a:ln>
            <a:noFill/>
          </a:ln>
        </p:spPr>
      </p:pic>
      <p:pic>
        <p:nvPicPr>
          <p:cNvPr id="375" name="Google Shape;375;p20"/>
          <p:cNvPicPr preferRelativeResize="0"/>
          <p:nvPr/>
        </p:nvPicPr>
        <p:blipFill>
          <a:blip r:embed="rId7">
            <a:alphaModFix/>
          </a:blip>
          <a:stretch>
            <a:fillRect/>
          </a:stretch>
        </p:blipFill>
        <p:spPr>
          <a:xfrm>
            <a:off x="2824757" y="1243400"/>
            <a:ext cx="1219200" cy="1219200"/>
          </a:xfrm>
          <a:prstGeom prst="rect">
            <a:avLst/>
          </a:prstGeom>
          <a:noFill/>
          <a:ln>
            <a:noFill/>
          </a:ln>
        </p:spPr>
      </p:pic>
      <p:grpSp>
        <p:nvGrpSpPr>
          <p:cNvPr id="376" name="Google Shape;376;p20"/>
          <p:cNvGrpSpPr/>
          <p:nvPr/>
        </p:nvGrpSpPr>
        <p:grpSpPr>
          <a:xfrm>
            <a:off x="4157195" y="2803111"/>
            <a:ext cx="829600" cy="829600"/>
            <a:chOff x="7509900" y="2868375"/>
            <a:chExt cx="903900" cy="903900"/>
          </a:xfrm>
        </p:grpSpPr>
        <p:sp>
          <p:nvSpPr>
            <p:cNvPr id="377" name="Google Shape;377;p20"/>
            <p:cNvSpPr/>
            <p:nvPr/>
          </p:nvSpPr>
          <p:spPr>
            <a:xfrm>
              <a:off x="7509900" y="2868375"/>
              <a:ext cx="903900" cy="903900"/>
            </a:xfrm>
            <a:prstGeom prst="ellipse">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378" name="Google Shape;378;p20"/>
            <p:cNvSpPr/>
            <p:nvPr/>
          </p:nvSpPr>
          <p:spPr>
            <a:xfrm>
              <a:off x="7726325" y="3187287"/>
              <a:ext cx="281375" cy="421875"/>
            </a:xfrm>
            <a:custGeom>
              <a:avLst/>
              <a:gdLst/>
              <a:ahLst/>
              <a:cxnLst/>
              <a:rect l="l" t="t" r="r" b="b"/>
              <a:pathLst>
                <a:path w="11255" h="16875" extrusionOk="0">
                  <a:moveTo>
                    <a:pt x="0" y="1985"/>
                  </a:moveTo>
                  <a:cubicBezTo>
                    <a:pt x="3409" y="525"/>
                    <a:pt x="10171" y="-1599"/>
                    <a:pt x="11126" y="1985"/>
                  </a:cubicBezTo>
                  <a:cubicBezTo>
                    <a:pt x="11977" y="5177"/>
                    <a:pt x="7498" y="7599"/>
                    <a:pt x="5042" y="9808"/>
                  </a:cubicBezTo>
                  <a:cubicBezTo>
                    <a:pt x="3517" y="11179"/>
                    <a:pt x="7922" y="12750"/>
                    <a:pt x="9562" y="13980"/>
                  </a:cubicBezTo>
                  <a:cubicBezTo>
                    <a:pt x="10372" y="14587"/>
                    <a:pt x="11636" y="16225"/>
                    <a:pt x="10778" y="16762"/>
                  </a:cubicBezTo>
                  <a:cubicBezTo>
                    <a:pt x="9613" y="17490"/>
                    <a:pt x="7707" y="13849"/>
                    <a:pt x="8866" y="13111"/>
                  </a:cubicBezTo>
                </a:path>
              </a:pathLst>
            </a:custGeom>
            <a:noFill/>
            <a:ln w="38100" cap="flat" cmpd="sng">
              <a:solidFill>
                <a:srgbClr val="F1C232"/>
              </a:solidFill>
              <a:prstDash val="solid"/>
              <a:round/>
              <a:headEnd type="none" w="med" len="med"/>
              <a:tailEnd type="none" w="med" len="med"/>
            </a:ln>
          </p:spPr>
        </p:sp>
        <p:sp>
          <p:nvSpPr>
            <p:cNvPr id="379" name="Google Shape;379;p20"/>
            <p:cNvSpPr/>
            <p:nvPr/>
          </p:nvSpPr>
          <p:spPr>
            <a:xfrm>
              <a:off x="7829049" y="3032650"/>
              <a:ext cx="272850" cy="456325"/>
            </a:xfrm>
            <a:custGeom>
              <a:avLst/>
              <a:gdLst/>
              <a:ahLst/>
              <a:cxnLst/>
              <a:rect l="l" t="t" r="r" b="b"/>
              <a:pathLst>
                <a:path w="10914" h="18253" extrusionOk="0">
                  <a:moveTo>
                    <a:pt x="4236" y="0"/>
                  </a:moveTo>
                  <a:cubicBezTo>
                    <a:pt x="1862" y="3263"/>
                    <a:pt x="-1710" y="8598"/>
                    <a:pt x="933" y="11647"/>
                  </a:cubicBezTo>
                  <a:cubicBezTo>
                    <a:pt x="3470" y="14574"/>
                    <a:pt x="12913" y="15228"/>
                    <a:pt x="10494" y="18253"/>
                  </a:cubicBezTo>
                </a:path>
              </a:pathLst>
            </a:custGeom>
            <a:noFill/>
            <a:ln w="38100" cap="flat" cmpd="sng">
              <a:solidFill>
                <a:srgbClr val="F1C232"/>
              </a:solidFill>
              <a:prstDash val="solid"/>
              <a:round/>
              <a:headEnd type="none" w="med" len="med"/>
              <a:tailEnd type="none" w="med" len="med"/>
            </a:ln>
          </p:spPr>
        </p:sp>
        <p:sp>
          <p:nvSpPr>
            <p:cNvPr id="380" name="Google Shape;380;p20"/>
            <p:cNvSpPr/>
            <p:nvPr/>
          </p:nvSpPr>
          <p:spPr>
            <a:xfrm>
              <a:off x="7938508" y="3145650"/>
              <a:ext cx="222425" cy="356375"/>
            </a:xfrm>
            <a:custGeom>
              <a:avLst/>
              <a:gdLst/>
              <a:ahLst/>
              <a:cxnLst/>
              <a:rect l="l" t="t" r="r" b="b"/>
              <a:pathLst>
                <a:path w="8897" h="14255" extrusionOk="0">
                  <a:moveTo>
                    <a:pt x="8897" y="0"/>
                  </a:moveTo>
                  <a:cubicBezTo>
                    <a:pt x="5700" y="999"/>
                    <a:pt x="1621" y="2006"/>
                    <a:pt x="205" y="5041"/>
                  </a:cubicBezTo>
                  <a:cubicBezTo>
                    <a:pt x="-1089" y="7814"/>
                    <a:pt x="5221" y="8570"/>
                    <a:pt x="7507" y="10604"/>
                  </a:cubicBezTo>
                  <a:cubicBezTo>
                    <a:pt x="8600" y="11576"/>
                    <a:pt x="6516" y="14014"/>
                    <a:pt x="5073" y="14255"/>
                  </a:cubicBezTo>
                </a:path>
              </a:pathLst>
            </a:custGeom>
            <a:noFill/>
            <a:ln w="38100" cap="flat" cmpd="sng">
              <a:solidFill>
                <a:srgbClr val="F1C232"/>
              </a:solidFill>
              <a:prstDash val="solid"/>
              <a:round/>
              <a:headEnd type="none" w="med" len="med"/>
              <a:tailEnd type="none" w="med" len="med"/>
            </a:ln>
          </p:spPr>
        </p:sp>
        <p:sp>
          <p:nvSpPr>
            <p:cNvPr id="381" name="Google Shape;381;p20"/>
            <p:cNvSpPr/>
            <p:nvPr/>
          </p:nvSpPr>
          <p:spPr>
            <a:xfrm>
              <a:off x="7743725" y="3093500"/>
              <a:ext cx="518875" cy="321600"/>
            </a:xfrm>
            <a:custGeom>
              <a:avLst/>
              <a:gdLst/>
              <a:ahLst/>
              <a:cxnLst/>
              <a:rect l="l" t="t" r="r" b="b"/>
              <a:pathLst>
                <a:path w="20755" h="12864" extrusionOk="0">
                  <a:moveTo>
                    <a:pt x="0" y="0"/>
                  </a:moveTo>
                  <a:cubicBezTo>
                    <a:pt x="5394" y="897"/>
                    <a:pt x="12760" y="-760"/>
                    <a:pt x="15993" y="3650"/>
                  </a:cubicBezTo>
                  <a:cubicBezTo>
                    <a:pt x="17475" y="5672"/>
                    <a:pt x="22372" y="8719"/>
                    <a:pt x="20165" y="9908"/>
                  </a:cubicBezTo>
                  <a:cubicBezTo>
                    <a:pt x="14587" y="12912"/>
                    <a:pt x="1390" y="6529"/>
                    <a:pt x="1390" y="12864"/>
                  </a:cubicBezTo>
                </a:path>
              </a:pathLst>
            </a:custGeom>
            <a:noFill/>
            <a:ln w="38100" cap="flat" cmpd="sng">
              <a:solidFill>
                <a:srgbClr val="F1C232"/>
              </a:solidFill>
              <a:prstDash val="solid"/>
              <a:round/>
              <a:headEnd type="none" w="med" len="med"/>
              <a:tailEnd type="none" w="med" len="med"/>
            </a:ln>
          </p:spPr>
        </p:sp>
        <p:sp>
          <p:nvSpPr>
            <p:cNvPr id="382" name="Google Shape;382;p20"/>
            <p:cNvSpPr/>
            <p:nvPr/>
          </p:nvSpPr>
          <p:spPr>
            <a:xfrm>
              <a:off x="7662050" y="3010925"/>
              <a:ext cx="411975" cy="478050"/>
            </a:xfrm>
            <a:custGeom>
              <a:avLst/>
              <a:gdLst/>
              <a:ahLst/>
              <a:cxnLst/>
              <a:rect l="l" t="t" r="r" b="b"/>
              <a:pathLst>
                <a:path w="16479" h="19122" extrusionOk="0">
                  <a:moveTo>
                    <a:pt x="16479" y="0"/>
                  </a:moveTo>
                  <a:cubicBezTo>
                    <a:pt x="9984" y="1946"/>
                    <a:pt x="3470" y="6343"/>
                    <a:pt x="311" y="12342"/>
                  </a:cubicBezTo>
                  <a:cubicBezTo>
                    <a:pt x="-872" y="14589"/>
                    <a:pt x="1757" y="17597"/>
                    <a:pt x="3788" y="19122"/>
                  </a:cubicBezTo>
                </a:path>
              </a:pathLst>
            </a:custGeom>
            <a:noFill/>
            <a:ln w="38100" cap="flat" cmpd="sng">
              <a:solidFill>
                <a:srgbClr val="F1C232"/>
              </a:solidFill>
              <a:prstDash val="solid"/>
              <a:round/>
              <a:headEnd type="none" w="med" len="med"/>
              <a:tailEnd type="none" w="med" len="med"/>
            </a:ln>
          </p:spPr>
        </p:sp>
        <p:sp>
          <p:nvSpPr>
            <p:cNvPr id="383" name="Google Shape;383;p20"/>
            <p:cNvSpPr/>
            <p:nvPr/>
          </p:nvSpPr>
          <p:spPr>
            <a:xfrm>
              <a:off x="7817600" y="3015250"/>
              <a:ext cx="398400" cy="587225"/>
            </a:xfrm>
            <a:custGeom>
              <a:avLst/>
              <a:gdLst/>
              <a:ahLst/>
              <a:cxnLst/>
              <a:rect l="l" t="t" r="r" b="b"/>
              <a:pathLst>
                <a:path w="15936" h="23489" extrusionOk="0">
                  <a:moveTo>
                    <a:pt x="0" y="0"/>
                  </a:moveTo>
                  <a:cubicBezTo>
                    <a:pt x="0" y="8167"/>
                    <a:pt x="2230" y="20746"/>
                    <a:pt x="10257" y="22252"/>
                  </a:cubicBezTo>
                  <a:cubicBezTo>
                    <a:pt x="12203" y="22617"/>
                    <a:pt x="15960" y="18191"/>
                    <a:pt x="15819" y="20166"/>
                  </a:cubicBezTo>
                  <a:cubicBezTo>
                    <a:pt x="15703" y="21786"/>
                    <a:pt x="15565" y="21792"/>
                    <a:pt x="14950" y="23295"/>
                  </a:cubicBezTo>
                  <a:cubicBezTo>
                    <a:pt x="14596" y="24160"/>
                    <a:pt x="13200" y="21724"/>
                    <a:pt x="13559" y="20861"/>
                  </a:cubicBezTo>
                  <a:cubicBezTo>
                    <a:pt x="14532" y="18524"/>
                    <a:pt x="16694" y="15864"/>
                    <a:pt x="15646" y="13560"/>
                  </a:cubicBezTo>
                  <a:cubicBezTo>
                    <a:pt x="15040" y="12229"/>
                    <a:pt x="13029" y="12161"/>
                    <a:pt x="11995" y="11126"/>
                  </a:cubicBezTo>
                </a:path>
              </a:pathLst>
            </a:custGeom>
            <a:noFill/>
            <a:ln w="38100" cap="flat" cmpd="sng">
              <a:solidFill>
                <a:srgbClr val="F1C232"/>
              </a:solidFill>
              <a:prstDash val="solid"/>
              <a:round/>
              <a:headEnd type="none" w="med" len="med"/>
              <a:tailEnd type="none" w="med" len="med"/>
            </a:ln>
          </p:spPr>
        </p:sp>
        <p:sp>
          <p:nvSpPr>
            <p:cNvPr id="384" name="Google Shape;384;p20"/>
            <p:cNvSpPr/>
            <p:nvPr/>
          </p:nvSpPr>
          <p:spPr>
            <a:xfrm>
              <a:off x="7643750" y="3180400"/>
              <a:ext cx="425925" cy="446300"/>
            </a:xfrm>
            <a:custGeom>
              <a:avLst/>
              <a:gdLst/>
              <a:ahLst/>
              <a:cxnLst/>
              <a:rect l="l" t="t" r="r" b="b"/>
              <a:pathLst>
                <a:path w="17037" h="17852" extrusionOk="0">
                  <a:moveTo>
                    <a:pt x="0" y="0"/>
                  </a:moveTo>
                  <a:cubicBezTo>
                    <a:pt x="4491" y="817"/>
                    <a:pt x="6830" y="6955"/>
                    <a:pt x="7475" y="11474"/>
                  </a:cubicBezTo>
                  <a:cubicBezTo>
                    <a:pt x="7713" y="13138"/>
                    <a:pt x="6322" y="15483"/>
                    <a:pt x="7649" y="16515"/>
                  </a:cubicBezTo>
                  <a:cubicBezTo>
                    <a:pt x="10121" y="18437"/>
                    <a:pt x="14632" y="18173"/>
                    <a:pt x="17037" y="16167"/>
                  </a:cubicBezTo>
                </a:path>
              </a:pathLst>
            </a:custGeom>
            <a:noFill/>
            <a:ln w="38100" cap="flat" cmpd="sng">
              <a:solidFill>
                <a:srgbClr val="F1C232"/>
              </a:solidFill>
              <a:prstDash val="solid"/>
              <a:round/>
              <a:headEnd type="none" w="med" len="med"/>
              <a:tailEnd type="none" w="med" len="med"/>
            </a:ln>
          </p:spPr>
        </p:sp>
        <p:sp>
          <p:nvSpPr>
            <p:cNvPr id="385" name="Google Shape;385;p20"/>
            <p:cNvSpPr/>
            <p:nvPr/>
          </p:nvSpPr>
          <p:spPr>
            <a:xfrm>
              <a:off x="7836249" y="3076100"/>
              <a:ext cx="320325" cy="456325"/>
            </a:xfrm>
            <a:custGeom>
              <a:avLst/>
              <a:gdLst/>
              <a:ahLst/>
              <a:cxnLst/>
              <a:rect l="l" t="t" r="r" b="b"/>
              <a:pathLst>
                <a:path w="12813" h="18253" extrusionOk="0">
                  <a:moveTo>
                    <a:pt x="12813" y="0"/>
                  </a:moveTo>
                  <a:cubicBezTo>
                    <a:pt x="7242" y="2181"/>
                    <a:pt x="-861" y="6790"/>
                    <a:pt x="123" y="12691"/>
                  </a:cubicBezTo>
                  <a:cubicBezTo>
                    <a:pt x="746" y="16427"/>
                    <a:pt x="8084" y="15004"/>
                    <a:pt x="10032" y="18253"/>
                  </a:cubicBezTo>
                </a:path>
              </a:pathLst>
            </a:custGeom>
            <a:noFill/>
            <a:ln w="38100" cap="flat" cmpd="sng">
              <a:solidFill>
                <a:srgbClr val="F1C232"/>
              </a:solidFill>
              <a:prstDash val="solid"/>
              <a:round/>
              <a:headEnd type="none" w="med" len="med"/>
              <a:tailEnd type="none" w="med" len="med"/>
            </a:ln>
          </p:spPr>
        </p:sp>
        <p:sp>
          <p:nvSpPr>
            <p:cNvPr id="386" name="Google Shape;386;p20"/>
            <p:cNvSpPr/>
            <p:nvPr/>
          </p:nvSpPr>
          <p:spPr>
            <a:xfrm>
              <a:off x="7700250" y="3132600"/>
              <a:ext cx="429925" cy="169500"/>
            </a:xfrm>
            <a:custGeom>
              <a:avLst/>
              <a:gdLst/>
              <a:ahLst/>
              <a:cxnLst/>
              <a:rect l="l" t="t" r="r" b="b"/>
              <a:pathLst>
                <a:path w="17197" h="6780" extrusionOk="0">
                  <a:moveTo>
                    <a:pt x="0" y="0"/>
                  </a:moveTo>
                  <a:cubicBezTo>
                    <a:pt x="3914" y="4695"/>
                    <a:pt x="10925" y="6780"/>
                    <a:pt x="17037" y="6780"/>
                  </a:cubicBezTo>
                  <a:cubicBezTo>
                    <a:pt x="17504" y="6780"/>
                    <a:pt x="16799" y="5655"/>
                    <a:pt x="16341" y="5563"/>
                  </a:cubicBezTo>
                </a:path>
              </a:pathLst>
            </a:custGeom>
            <a:noFill/>
            <a:ln w="38100" cap="flat" cmpd="sng">
              <a:solidFill>
                <a:srgbClr val="F1C232"/>
              </a:solidFill>
              <a:prstDash val="solid"/>
              <a:round/>
              <a:headEnd type="none" w="med" len="med"/>
              <a:tailEnd type="none" w="med" len="med"/>
            </a:ln>
          </p:spPr>
        </p:sp>
        <p:sp>
          <p:nvSpPr>
            <p:cNvPr id="387" name="Google Shape;387;p20"/>
            <p:cNvSpPr/>
            <p:nvPr/>
          </p:nvSpPr>
          <p:spPr>
            <a:xfrm>
              <a:off x="7710998" y="3098181"/>
              <a:ext cx="558575" cy="472725"/>
            </a:xfrm>
            <a:custGeom>
              <a:avLst/>
              <a:gdLst/>
              <a:ahLst/>
              <a:cxnLst/>
              <a:rect l="l" t="t" r="r" b="b"/>
              <a:pathLst>
                <a:path w="22343" h="18909" extrusionOk="0">
                  <a:moveTo>
                    <a:pt x="22343" y="4332"/>
                  </a:moveTo>
                  <a:cubicBezTo>
                    <a:pt x="16437" y="38"/>
                    <a:pt x="3704" y="-2547"/>
                    <a:pt x="439" y="3985"/>
                  </a:cubicBezTo>
                  <a:cubicBezTo>
                    <a:pt x="-1508" y="7881"/>
                    <a:pt x="3832" y="12696"/>
                    <a:pt x="7567" y="14937"/>
                  </a:cubicBezTo>
                  <a:cubicBezTo>
                    <a:pt x="9340" y="16001"/>
                    <a:pt x="12081" y="14808"/>
                    <a:pt x="13651" y="16154"/>
                  </a:cubicBezTo>
                  <a:cubicBezTo>
                    <a:pt x="15785" y="17983"/>
                    <a:pt x="7730" y="19926"/>
                    <a:pt x="5481" y="18240"/>
                  </a:cubicBezTo>
                </a:path>
              </a:pathLst>
            </a:custGeom>
            <a:noFill/>
            <a:ln w="38100" cap="flat" cmpd="sng">
              <a:solidFill>
                <a:srgbClr val="F1C232"/>
              </a:solidFill>
              <a:prstDash val="solid"/>
              <a:round/>
              <a:headEnd type="none" w="med" len="med"/>
              <a:tailEnd type="none" w="med" len="med"/>
            </a:ln>
          </p:spPr>
        </p:sp>
        <p:sp>
          <p:nvSpPr>
            <p:cNvPr id="388" name="Google Shape;388;p20"/>
            <p:cNvSpPr/>
            <p:nvPr/>
          </p:nvSpPr>
          <p:spPr>
            <a:xfrm>
              <a:off x="7685501" y="3079570"/>
              <a:ext cx="584075" cy="361600"/>
            </a:xfrm>
            <a:custGeom>
              <a:avLst/>
              <a:gdLst/>
              <a:ahLst/>
              <a:cxnLst/>
              <a:rect l="l" t="t" r="r" b="b"/>
              <a:pathLst>
                <a:path w="23363" h="14464" extrusionOk="0">
                  <a:moveTo>
                    <a:pt x="23363" y="14464"/>
                  </a:moveTo>
                  <a:cubicBezTo>
                    <a:pt x="21432" y="9632"/>
                    <a:pt x="15255" y="7928"/>
                    <a:pt x="11021" y="4903"/>
                  </a:cubicBezTo>
                  <a:cubicBezTo>
                    <a:pt x="8043" y="2775"/>
                    <a:pt x="3984" y="-1473"/>
                    <a:pt x="938" y="557"/>
                  </a:cubicBezTo>
                  <a:cubicBezTo>
                    <a:pt x="-2526" y="2866"/>
                    <a:pt x="4896" y="8744"/>
                    <a:pt x="8761" y="10292"/>
                  </a:cubicBezTo>
                </a:path>
              </a:pathLst>
            </a:custGeom>
            <a:noFill/>
            <a:ln w="38100" cap="flat" cmpd="sng">
              <a:solidFill>
                <a:srgbClr val="F1C232"/>
              </a:solidFill>
              <a:prstDash val="solid"/>
              <a:round/>
              <a:headEnd type="none" w="med" len="med"/>
              <a:tailEnd type="none" w="med" len="med"/>
            </a:ln>
          </p:spPr>
        </p:sp>
        <p:sp>
          <p:nvSpPr>
            <p:cNvPr id="389" name="Google Shape;389;p20"/>
            <p:cNvSpPr/>
            <p:nvPr/>
          </p:nvSpPr>
          <p:spPr>
            <a:xfrm>
              <a:off x="7744259" y="3028300"/>
              <a:ext cx="368875" cy="491100"/>
            </a:xfrm>
            <a:custGeom>
              <a:avLst/>
              <a:gdLst/>
              <a:ahLst/>
              <a:cxnLst/>
              <a:rect l="l" t="t" r="r" b="b"/>
              <a:pathLst>
                <a:path w="14755" h="19644" extrusionOk="0">
                  <a:moveTo>
                    <a:pt x="14755" y="0"/>
                  </a:moveTo>
                  <a:cubicBezTo>
                    <a:pt x="14495" y="609"/>
                    <a:pt x="14636" y="691"/>
                    <a:pt x="14234" y="1217"/>
                  </a:cubicBezTo>
                  <a:cubicBezTo>
                    <a:pt x="10836" y="5660"/>
                    <a:pt x="3616" y="6081"/>
                    <a:pt x="326" y="10604"/>
                  </a:cubicBezTo>
                  <a:cubicBezTo>
                    <a:pt x="-1501" y="13116"/>
                    <a:pt x="5071" y="17780"/>
                    <a:pt x="2586" y="19644"/>
                  </a:cubicBezTo>
                </a:path>
              </a:pathLst>
            </a:custGeom>
            <a:noFill/>
            <a:ln w="38100" cap="flat" cmpd="sng">
              <a:solidFill>
                <a:srgbClr val="F1C232"/>
              </a:solidFill>
              <a:prstDash val="solid"/>
              <a:round/>
              <a:headEnd type="none" w="med" len="med"/>
              <a:tailEnd type="none" w="med" len="med"/>
            </a:ln>
          </p:spPr>
        </p:sp>
        <p:sp>
          <p:nvSpPr>
            <p:cNvPr id="390" name="Google Shape;390;p20"/>
            <p:cNvSpPr/>
            <p:nvPr/>
          </p:nvSpPr>
          <p:spPr>
            <a:xfrm>
              <a:off x="7765450" y="3145650"/>
              <a:ext cx="482400" cy="338975"/>
            </a:xfrm>
            <a:custGeom>
              <a:avLst/>
              <a:gdLst/>
              <a:ahLst/>
              <a:cxnLst/>
              <a:rect l="l" t="t" r="r" b="b"/>
              <a:pathLst>
                <a:path w="19296" h="13559" extrusionOk="0">
                  <a:moveTo>
                    <a:pt x="19296" y="13559"/>
                  </a:moveTo>
                  <a:cubicBezTo>
                    <a:pt x="13760" y="11712"/>
                    <a:pt x="8516" y="8736"/>
                    <a:pt x="3998" y="5041"/>
                  </a:cubicBezTo>
                  <a:cubicBezTo>
                    <a:pt x="2338" y="3683"/>
                    <a:pt x="2116" y="351"/>
                    <a:pt x="0" y="0"/>
                  </a:cubicBezTo>
                </a:path>
              </a:pathLst>
            </a:custGeom>
            <a:noFill/>
            <a:ln w="38100" cap="flat" cmpd="sng">
              <a:solidFill>
                <a:srgbClr val="F1C232"/>
              </a:solidFill>
              <a:prstDash val="solid"/>
              <a:round/>
              <a:headEnd type="none" w="med" len="med"/>
              <a:tailEnd type="none" w="med" len="med"/>
            </a:ln>
          </p:spPr>
        </p:sp>
        <p:sp>
          <p:nvSpPr>
            <p:cNvPr id="391" name="Google Shape;391;p20"/>
            <p:cNvSpPr/>
            <p:nvPr/>
          </p:nvSpPr>
          <p:spPr>
            <a:xfrm>
              <a:off x="7665500" y="3269759"/>
              <a:ext cx="499775" cy="249650"/>
            </a:xfrm>
            <a:custGeom>
              <a:avLst/>
              <a:gdLst/>
              <a:ahLst/>
              <a:cxnLst/>
              <a:rect l="l" t="t" r="r" b="b"/>
              <a:pathLst>
                <a:path w="19991" h="9986" extrusionOk="0">
                  <a:moveTo>
                    <a:pt x="0" y="9986"/>
                  </a:moveTo>
                  <a:cubicBezTo>
                    <a:pt x="3478" y="7899"/>
                    <a:pt x="5064" y="3283"/>
                    <a:pt x="8692" y="1468"/>
                  </a:cubicBezTo>
                  <a:cubicBezTo>
                    <a:pt x="12086" y="-230"/>
                    <a:pt x="16196" y="77"/>
                    <a:pt x="19991" y="77"/>
                  </a:cubicBezTo>
                </a:path>
              </a:pathLst>
            </a:custGeom>
            <a:noFill/>
            <a:ln w="38100" cap="flat" cmpd="sng">
              <a:solidFill>
                <a:srgbClr val="F1C232"/>
              </a:solidFill>
              <a:prstDash val="solid"/>
              <a:round/>
              <a:headEnd type="none" w="med" len="med"/>
              <a:tailEnd type="none" w="med" len="med"/>
            </a:ln>
          </p:spPr>
        </p:sp>
        <p:sp>
          <p:nvSpPr>
            <p:cNvPr id="392" name="Google Shape;392;p20"/>
            <p:cNvSpPr/>
            <p:nvPr/>
          </p:nvSpPr>
          <p:spPr>
            <a:xfrm>
              <a:off x="7656800" y="3198318"/>
              <a:ext cx="660600" cy="161800"/>
            </a:xfrm>
            <a:custGeom>
              <a:avLst/>
              <a:gdLst/>
              <a:ahLst/>
              <a:cxnLst/>
              <a:rect l="l" t="t" r="r" b="b"/>
              <a:pathLst>
                <a:path w="26424" h="6472" extrusionOk="0">
                  <a:moveTo>
                    <a:pt x="26424" y="6411"/>
                  </a:moveTo>
                  <a:cubicBezTo>
                    <a:pt x="18961" y="6652"/>
                    <a:pt x="11684" y="3823"/>
                    <a:pt x="4520" y="1717"/>
                  </a:cubicBezTo>
                  <a:cubicBezTo>
                    <a:pt x="4232" y="1632"/>
                    <a:pt x="0" y="-572"/>
                    <a:pt x="0" y="153"/>
                  </a:cubicBezTo>
                  <a:cubicBezTo>
                    <a:pt x="0" y="1294"/>
                    <a:pt x="584" y="2475"/>
                    <a:pt x="1391" y="3282"/>
                  </a:cubicBezTo>
                </a:path>
              </a:pathLst>
            </a:custGeom>
            <a:noFill/>
            <a:ln w="38100" cap="flat" cmpd="sng">
              <a:solidFill>
                <a:srgbClr val="F1C232"/>
              </a:solidFill>
              <a:prstDash val="solid"/>
              <a:round/>
              <a:headEnd type="none" w="med" len="med"/>
              <a:tailEnd type="none" w="med" len="med"/>
            </a:ln>
          </p:spPr>
        </p:sp>
        <p:sp>
          <p:nvSpPr>
            <p:cNvPr id="393" name="Google Shape;393;p20"/>
            <p:cNvSpPr/>
            <p:nvPr/>
          </p:nvSpPr>
          <p:spPr>
            <a:xfrm>
              <a:off x="7757829" y="3119575"/>
              <a:ext cx="450925" cy="395475"/>
            </a:xfrm>
            <a:custGeom>
              <a:avLst/>
              <a:gdLst/>
              <a:ahLst/>
              <a:cxnLst/>
              <a:rect l="l" t="t" r="r" b="b"/>
              <a:pathLst>
                <a:path w="18037" h="15819" extrusionOk="0">
                  <a:moveTo>
                    <a:pt x="18037" y="0"/>
                  </a:moveTo>
                  <a:cubicBezTo>
                    <a:pt x="15708" y="1293"/>
                    <a:pt x="13491" y="3180"/>
                    <a:pt x="12300" y="5562"/>
                  </a:cubicBezTo>
                  <a:cubicBezTo>
                    <a:pt x="11338" y="7485"/>
                    <a:pt x="12524" y="10628"/>
                    <a:pt x="10735" y="11821"/>
                  </a:cubicBezTo>
                  <a:cubicBezTo>
                    <a:pt x="7637" y="13887"/>
                    <a:pt x="-1612" y="12627"/>
                    <a:pt x="305" y="15819"/>
                  </a:cubicBezTo>
                </a:path>
              </a:pathLst>
            </a:custGeom>
            <a:noFill/>
            <a:ln w="38100" cap="flat" cmpd="sng">
              <a:solidFill>
                <a:srgbClr val="F1C232"/>
              </a:solidFill>
              <a:prstDash val="solid"/>
              <a:round/>
              <a:headEnd type="none" w="med" len="med"/>
              <a:tailEnd type="none" w="med" len="med"/>
            </a:ln>
          </p:spPr>
        </p:sp>
        <p:sp>
          <p:nvSpPr>
            <p:cNvPr id="394" name="Google Shape;394;p20"/>
            <p:cNvSpPr/>
            <p:nvPr/>
          </p:nvSpPr>
          <p:spPr>
            <a:xfrm>
              <a:off x="7895825" y="3010925"/>
              <a:ext cx="373750" cy="469350"/>
            </a:xfrm>
            <a:custGeom>
              <a:avLst/>
              <a:gdLst/>
              <a:ahLst/>
              <a:cxnLst/>
              <a:rect l="l" t="t" r="r" b="b"/>
              <a:pathLst>
                <a:path w="14950" h="18774" extrusionOk="0">
                  <a:moveTo>
                    <a:pt x="0" y="0"/>
                  </a:moveTo>
                  <a:cubicBezTo>
                    <a:pt x="1571" y="7844"/>
                    <a:pt x="11377" y="11617"/>
                    <a:pt x="14950" y="18774"/>
                  </a:cubicBezTo>
                </a:path>
              </a:pathLst>
            </a:custGeom>
            <a:noFill/>
            <a:ln w="38100" cap="flat" cmpd="sng">
              <a:solidFill>
                <a:srgbClr val="F1C232"/>
              </a:solidFill>
              <a:prstDash val="solid"/>
              <a:round/>
              <a:headEnd type="none" w="med" len="med"/>
              <a:tailEnd type="none" w="med" len="med"/>
            </a:ln>
          </p:spPr>
        </p:sp>
        <p:sp>
          <p:nvSpPr>
            <p:cNvPr id="395" name="Google Shape;395;p20"/>
            <p:cNvSpPr/>
            <p:nvPr/>
          </p:nvSpPr>
          <p:spPr>
            <a:xfrm>
              <a:off x="7752400" y="3132600"/>
              <a:ext cx="346150" cy="434600"/>
            </a:xfrm>
            <a:custGeom>
              <a:avLst/>
              <a:gdLst/>
              <a:ahLst/>
              <a:cxnLst/>
              <a:rect l="l" t="t" r="r" b="b"/>
              <a:pathLst>
                <a:path w="13846" h="17384" extrusionOk="0">
                  <a:moveTo>
                    <a:pt x="0" y="17384"/>
                  </a:moveTo>
                  <a:cubicBezTo>
                    <a:pt x="1561" y="14266"/>
                    <a:pt x="813" y="9404"/>
                    <a:pt x="3825" y="7649"/>
                  </a:cubicBezTo>
                  <a:cubicBezTo>
                    <a:pt x="6452" y="6118"/>
                    <a:pt x="10432" y="8256"/>
                    <a:pt x="12865" y="6432"/>
                  </a:cubicBezTo>
                  <a:cubicBezTo>
                    <a:pt x="14596" y="5134"/>
                    <a:pt x="13756" y="1257"/>
                    <a:pt x="11995" y="0"/>
                  </a:cubicBezTo>
                </a:path>
              </a:pathLst>
            </a:custGeom>
            <a:noFill/>
            <a:ln w="38100" cap="flat" cmpd="sng">
              <a:solidFill>
                <a:srgbClr val="F1C232"/>
              </a:solidFill>
              <a:prstDash val="solid"/>
              <a:round/>
              <a:headEnd type="none" w="med" len="med"/>
              <a:tailEnd type="none" w="med" len="med"/>
            </a:ln>
          </p:spPr>
        </p:sp>
      </p:grpSp>
      <p:sp>
        <p:nvSpPr>
          <p:cNvPr id="396" name="Google Shape;396;p20"/>
          <p:cNvSpPr/>
          <p:nvPr/>
        </p:nvSpPr>
        <p:spPr>
          <a:xfrm rot="-6485262" flipH="1">
            <a:off x="5341176"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397" name="Google Shape;397;p20"/>
          <p:cNvSpPr/>
          <p:nvPr/>
        </p:nvSpPr>
        <p:spPr>
          <a:xfrm rot="6485262">
            <a:off x="3763714"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398" name="Google Shape;398;p20"/>
          <p:cNvSpPr/>
          <p:nvPr/>
        </p:nvSpPr>
        <p:spPr>
          <a:xfrm rot="10800000">
            <a:off x="4552435" y="2168746"/>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399" name="Google Shape;399;p20"/>
          <p:cNvSpPr/>
          <p:nvPr/>
        </p:nvSpPr>
        <p:spPr>
          <a:xfrm rot="2167448">
            <a:off x="4087053"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400" name="Google Shape;400;p20"/>
          <p:cNvSpPr/>
          <p:nvPr/>
        </p:nvSpPr>
        <p:spPr>
          <a:xfrm rot="-2167448" flipH="1">
            <a:off x="5017778"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401" name="Google Shape;401;p20"/>
          <p:cNvSpPr/>
          <p:nvPr/>
        </p:nvSpPr>
        <p:spPr>
          <a:xfrm>
            <a:off x="4416763" y="3146300"/>
            <a:ext cx="420063" cy="289163"/>
          </a:xfrm>
          <a:custGeom>
            <a:avLst/>
            <a:gdLst/>
            <a:ahLst/>
            <a:cxnLst/>
            <a:rect l="l" t="t" r="r" b="b"/>
            <a:pathLst>
              <a:path w="33605" h="23133" extrusionOk="0">
                <a:moveTo>
                  <a:pt x="0" y="23133"/>
                </a:moveTo>
                <a:cubicBezTo>
                  <a:pt x="2435" y="19075"/>
                  <a:pt x="4127" y="14465"/>
                  <a:pt x="7305" y="10958"/>
                </a:cubicBezTo>
                <a:cubicBezTo>
                  <a:pt x="13683" y="3921"/>
                  <a:pt x="24540" y="2832"/>
                  <a:pt x="33605" y="0"/>
                </a:cubicBezTo>
              </a:path>
            </a:pathLst>
          </a:custGeom>
          <a:noFill/>
          <a:ln w="38100" cap="flat" cmpd="sng">
            <a:solidFill>
              <a:srgbClr val="F1C232"/>
            </a:solidFill>
            <a:prstDash val="solid"/>
            <a:round/>
            <a:headEnd type="none" w="med" len="med"/>
            <a:tailEnd type="none" w="med" len="med"/>
          </a:ln>
        </p:spPr>
      </p:sp>
      <p:sp>
        <p:nvSpPr>
          <p:cNvPr id="402" name="Google Shape;402;p20"/>
          <p:cNvSpPr/>
          <p:nvPr/>
        </p:nvSpPr>
        <p:spPr>
          <a:xfrm>
            <a:off x="4413713" y="2966700"/>
            <a:ext cx="273963" cy="413975"/>
          </a:xfrm>
          <a:custGeom>
            <a:avLst/>
            <a:gdLst/>
            <a:ahLst/>
            <a:cxnLst/>
            <a:rect l="l" t="t" r="r" b="b"/>
            <a:pathLst>
              <a:path w="21917" h="33118" extrusionOk="0">
                <a:moveTo>
                  <a:pt x="0" y="0"/>
                </a:moveTo>
                <a:cubicBezTo>
                  <a:pt x="2209" y="4416"/>
                  <a:pt x="6510" y="8222"/>
                  <a:pt x="6819" y="13150"/>
                </a:cubicBezTo>
                <a:cubicBezTo>
                  <a:pt x="7095" y="17561"/>
                  <a:pt x="2967" y="22436"/>
                  <a:pt x="5114" y="26300"/>
                </a:cubicBezTo>
                <a:cubicBezTo>
                  <a:pt x="8050" y="31584"/>
                  <a:pt x="16181" y="31211"/>
                  <a:pt x="21917" y="33118"/>
                </a:cubicBezTo>
              </a:path>
            </a:pathLst>
          </a:custGeom>
          <a:noFill/>
          <a:ln w="38100" cap="flat" cmpd="sng">
            <a:solidFill>
              <a:srgbClr val="F1C232"/>
            </a:solidFill>
            <a:prstDash val="solid"/>
            <a:round/>
            <a:headEnd type="none" w="med" len="med"/>
            <a:tailEnd type="none" w="med" len="med"/>
          </a:ln>
        </p:spPr>
      </p:sp>
      <p:sp>
        <p:nvSpPr>
          <p:cNvPr id="403" name="Google Shape;403;p20"/>
          <p:cNvSpPr/>
          <p:nvPr/>
        </p:nvSpPr>
        <p:spPr>
          <a:xfrm>
            <a:off x="4363841" y="3099836"/>
            <a:ext cx="427325" cy="335625"/>
          </a:xfrm>
          <a:custGeom>
            <a:avLst/>
            <a:gdLst/>
            <a:ahLst/>
            <a:cxnLst/>
            <a:rect l="l" t="t" r="r" b="b"/>
            <a:pathLst>
              <a:path w="34186" h="26850" extrusionOk="0">
                <a:moveTo>
                  <a:pt x="34186" y="7369"/>
                </a:moveTo>
                <a:cubicBezTo>
                  <a:pt x="26609" y="7875"/>
                  <a:pt x="18987" y="9107"/>
                  <a:pt x="11783" y="11509"/>
                </a:cubicBezTo>
                <a:cubicBezTo>
                  <a:pt x="8958" y="12451"/>
                  <a:pt x="6190" y="14721"/>
                  <a:pt x="3260" y="14188"/>
                </a:cubicBezTo>
                <a:cubicBezTo>
                  <a:pt x="100" y="13613"/>
                  <a:pt x="-612" y="7915"/>
                  <a:pt x="581" y="4934"/>
                </a:cubicBezTo>
                <a:cubicBezTo>
                  <a:pt x="2999" y="-1107"/>
                  <a:pt x="16358" y="-1632"/>
                  <a:pt x="20062" y="3717"/>
                </a:cubicBezTo>
                <a:cubicBezTo>
                  <a:pt x="23302" y="8396"/>
                  <a:pt x="18572" y="15095"/>
                  <a:pt x="19088" y="20763"/>
                </a:cubicBezTo>
                <a:cubicBezTo>
                  <a:pt x="19370" y="23858"/>
                  <a:pt x="23042" y="26850"/>
                  <a:pt x="26150" y="26850"/>
                </a:cubicBezTo>
              </a:path>
            </a:pathLst>
          </a:custGeom>
          <a:noFill/>
          <a:ln w="38100" cap="flat" cmpd="sng">
            <a:solidFill>
              <a:srgbClr val="F1C232"/>
            </a:solidFill>
            <a:prstDash val="solid"/>
            <a:round/>
            <a:headEnd type="none" w="med" len="med"/>
            <a:tailEnd type="none" w="med" len="med"/>
          </a:ln>
        </p:spPr>
      </p:sp>
      <p:sp>
        <p:nvSpPr>
          <p:cNvPr id="404" name="Google Shape;404;p20"/>
          <p:cNvSpPr/>
          <p:nvPr/>
        </p:nvSpPr>
        <p:spPr>
          <a:xfrm>
            <a:off x="4365013" y="2942350"/>
            <a:ext cx="453675" cy="414725"/>
          </a:xfrm>
          <a:custGeom>
            <a:avLst/>
            <a:gdLst/>
            <a:ahLst/>
            <a:cxnLst/>
            <a:rect l="l" t="t" r="r" b="b"/>
            <a:pathLst>
              <a:path w="36294" h="33178" extrusionOk="0">
                <a:moveTo>
                  <a:pt x="16072" y="0"/>
                </a:moveTo>
                <a:cubicBezTo>
                  <a:pt x="18478" y="5415"/>
                  <a:pt x="25652" y="7856"/>
                  <a:pt x="27761" y="13393"/>
                </a:cubicBezTo>
                <a:cubicBezTo>
                  <a:pt x="29698" y="18478"/>
                  <a:pt x="25844" y="24459"/>
                  <a:pt x="27274" y="29709"/>
                </a:cubicBezTo>
                <a:cubicBezTo>
                  <a:pt x="27905" y="32023"/>
                  <a:pt x="32028" y="34192"/>
                  <a:pt x="33849" y="32631"/>
                </a:cubicBezTo>
                <a:cubicBezTo>
                  <a:pt x="36931" y="29989"/>
                  <a:pt x="37353" y="22015"/>
                  <a:pt x="33605" y="20455"/>
                </a:cubicBezTo>
                <a:cubicBezTo>
                  <a:pt x="25042" y="16890"/>
                  <a:pt x="14673" y="21082"/>
                  <a:pt x="6088" y="24595"/>
                </a:cubicBezTo>
                <a:cubicBezTo>
                  <a:pt x="3268" y="25749"/>
                  <a:pt x="2891" y="30452"/>
                  <a:pt x="0" y="31413"/>
                </a:cubicBezTo>
              </a:path>
            </a:pathLst>
          </a:custGeom>
          <a:noFill/>
          <a:ln w="38100" cap="flat" cmpd="sng">
            <a:solidFill>
              <a:srgbClr val="F1C232"/>
            </a:solidFill>
            <a:prstDash val="solid"/>
            <a:round/>
            <a:headEnd type="none" w="med" len="med"/>
            <a:tailEnd type="none" w="med" len="med"/>
          </a:ln>
        </p:spPr>
      </p:sp>
      <p:sp>
        <p:nvSpPr>
          <p:cNvPr id="405" name="Google Shape;405;p20"/>
          <p:cNvSpPr/>
          <p:nvPr/>
        </p:nvSpPr>
        <p:spPr>
          <a:xfrm>
            <a:off x="4340663" y="2972714"/>
            <a:ext cx="441350" cy="510425"/>
          </a:xfrm>
          <a:custGeom>
            <a:avLst/>
            <a:gdLst/>
            <a:ahLst/>
            <a:cxnLst/>
            <a:rect l="l" t="t" r="r" b="b"/>
            <a:pathLst>
              <a:path w="35308" h="40834" extrusionOk="0">
                <a:moveTo>
                  <a:pt x="0" y="21923"/>
                </a:moveTo>
                <a:cubicBezTo>
                  <a:pt x="4868" y="17746"/>
                  <a:pt x="16935" y="15448"/>
                  <a:pt x="19238" y="21435"/>
                </a:cubicBezTo>
                <a:cubicBezTo>
                  <a:pt x="21093" y="26256"/>
                  <a:pt x="14339" y="32377"/>
                  <a:pt x="17046" y="36777"/>
                </a:cubicBezTo>
                <a:cubicBezTo>
                  <a:pt x="19515" y="40790"/>
                  <a:pt x="26930" y="41953"/>
                  <a:pt x="30926" y="39456"/>
                </a:cubicBezTo>
                <a:cubicBezTo>
                  <a:pt x="37891" y="35105"/>
                  <a:pt x="35821" y="20062"/>
                  <a:pt x="29465" y="14861"/>
                </a:cubicBezTo>
                <a:cubicBezTo>
                  <a:pt x="22888" y="9480"/>
                  <a:pt x="7178" y="12602"/>
                  <a:pt x="6331" y="4146"/>
                </a:cubicBezTo>
                <a:cubicBezTo>
                  <a:pt x="5675" y="-2396"/>
                  <a:pt x="21107" y="-183"/>
                  <a:pt x="26056" y="4146"/>
                </a:cubicBezTo>
                <a:cubicBezTo>
                  <a:pt x="35321" y="12251"/>
                  <a:pt x="17470" y="28073"/>
                  <a:pt x="8766" y="36777"/>
                </a:cubicBezTo>
              </a:path>
            </a:pathLst>
          </a:custGeom>
          <a:noFill/>
          <a:ln w="38100" cap="flat" cmpd="sng">
            <a:solidFill>
              <a:srgbClr val="F1C232"/>
            </a:solidFill>
            <a:prstDash val="solid"/>
            <a:round/>
            <a:headEnd type="none" w="med" len="med"/>
            <a:tailEnd type="none" w="med" len="med"/>
          </a:ln>
        </p:spPr>
      </p:sp>
      <p:sp>
        <p:nvSpPr>
          <p:cNvPr id="406" name="Google Shape;406;p20"/>
          <p:cNvSpPr/>
          <p:nvPr/>
        </p:nvSpPr>
        <p:spPr>
          <a:xfrm>
            <a:off x="4336629" y="2954525"/>
            <a:ext cx="448450" cy="512988"/>
          </a:xfrm>
          <a:custGeom>
            <a:avLst/>
            <a:gdLst/>
            <a:ahLst/>
            <a:cxnLst/>
            <a:rect l="l" t="t" r="r" b="b"/>
            <a:pathLst>
              <a:path w="35876" h="41039" extrusionOk="0">
                <a:moveTo>
                  <a:pt x="35876" y="12176"/>
                </a:moveTo>
                <a:cubicBezTo>
                  <a:pt x="33278" y="13474"/>
                  <a:pt x="30137" y="14019"/>
                  <a:pt x="28084" y="16072"/>
                </a:cubicBezTo>
                <a:cubicBezTo>
                  <a:pt x="24741" y="19415"/>
                  <a:pt x="24638" y="25253"/>
                  <a:pt x="25161" y="29952"/>
                </a:cubicBezTo>
                <a:cubicBezTo>
                  <a:pt x="25573" y="33653"/>
                  <a:pt x="31860" y="39489"/>
                  <a:pt x="28327" y="40667"/>
                </a:cubicBezTo>
                <a:cubicBezTo>
                  <a:pt x="23195" y="42378"/>
                  <a:pt x="17049" y="37559"/>
                  <a:pt x="13960" y="33118"/>
                </a:cubicBezTo>
                <a:cubicBezTo>
                  <a:pt x="10617" y="28313"/>
                  <a:pt x="9699" y="20564"/>
                  <a:pt x="4219" y="18507"/>
                </a:cubicBezTo>
                <a:cubicBezTo>
                  <a:pt x="680" y="17179"/>
                  <a:pt x="-1376" y="26792"/>
                  <a:pt x="1297" y="29465"/>
                </a:cubicBezTo>
                <a:cubicBezTo>
                  <a:pt x="5492" y="33660"/>
                  <a:pt x="15463" y="29538"/>
                  <a:pt x="18343" y="24352"/>
                </a:cubicBezTo>
                <a:cubicBezTo>
                  <a:pt x="21498" y="18671"/>
                  <a:pt x="15329" y="10954"/>
                  <a:pt x="17612" y="4870"/>
                </a:cubicBezTo>
                <a:cubicBezTo>
                  <a:pt x="18786" y="1740"/>
                  <a:pt x="23036" y="0"/>
                  <a:pt x="26379" y="0"/>
                </a:cubicBezTo>
              </a:path>
            </a:pathLst>
          </a:custGeom>
          <a:noFill/>
          <a:ln w="38100" cap="flat" cmpd="sng">
            <a:solidFill>
              <a:srgbClr val="F1C232"/>
            </a:solidFill>
            <a:prstDash val="solid"/>
            <a:round/>
            <a:headEnd type="none" w="med" len="med"/>
            <a:tailEnd type="none" w="med" len="med"/>
          </a:ln>
        </p:spPr>
      </p:sp>
      <p:sp>
        <p:nvSpPr>
          <p:cNvPr id="407" name="Google Shape;407;p20"/>
          <p:cNvSpPr/>
          <p:nvPr/>
        </p:nvSpPr>
        <p:spPr>
          <a:xfrm rot="6485262">
            <a:off x="3236964" y="3041437"/>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408" name="Google Shape;408;p20"/>
          <p:cNvSpPr/>
          <p:nvPr/>
        </p:nvSpPr>
        <p:spPr>
          <a:xfrm rot="10800000">
            <a:off x="4021235" y="1726333"/>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409" name="Google Shape;409;p20"/>
          <p:cNvSpPr/>
          <p:nvPr/>
        </p:nvSpPr>
        <p:spPr>
          <a:xfrm rot="2167448">
            <a:off x="4169953" y="4226445"/>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410" name="Google Shape;410;p20"/>
          <p:cNvSpPr/>
          <p:nvPr/>
        </p:nvSpPr>
        <p:spPr>
          <a:xfrm rot="-2167448" flipH="1">
            <a:off x="5626360" y="3780045"/>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411" name="Google Shape;411;p20"/>
          <p:cNvSpPr/>
          <p:nvPr/>
        </p:nvSpPr>
        <p:spPr>
          <a:xfrm rot="-6485262" flipH="1">
            <a:off x="5733114" y="22234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1000"/>
                                        <p:tgtEl>
                                          <p:spTgt spid="396"/>
                                        </p:tgtEl>
                                      </p:cBhvr>
                                    </p:animEffect>
                                    <p:set>
                                      <p:cBhvr>
                                        <p:cTn id="7" dur="1" fill="hold">
                                          <p:stCondLst>
                                            <p:cond delay="1000"/>
                                          </p:stCondLst>
                                        </p:cTn>
                                        <p:tgtEl>
                                          <p:spTgt spid="396"/>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1000"/>
                                        <p:tgtEl>
                                          <p:spTgt spid="397"/>
                                        </p:tgtEl>
                                      </p:cBhvr>
                                    </p:animEffect>
                                    <p:set>
                                      <p:cBhvr>
                                        <p:cTn id="10" dur="1" fill="hold">
                                          <p:stCondLst>
                                            <p:cond delay="1000"/>
                                          </p:stCondLst>
                                        </p:cTn>
                                        <p:tgtEl>
                                          <p:spTgt spid="397"/>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1000"/>
                                        <p:tgtEl>
                                          <p:spTgt spid="398"/>
                                        </p:tgtEl>
                                      </p:cBhvr>
                                    </p:animEffect>
                                    <p:set>
                                      <p:cBhvr>
                                        <p:cTn id="13" dur="1" fill="hold">
                                          <p:stCondLst>
                                            <p:cond delay="1000"/>
                                          </p:stCondLst>
                                        </p:cTn>
                                        <p:tgtEl>
                                          <p:spTgt spid="398"/>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1000"/>
                                        <p:tgtEl>
                                          <p:spTgt spid="400"/>
                                        </p:tgtEl>
                                      </p:cBhvr>
                                    </p:animEffect>
                                    <p:set>
                                      <p:cBhvr>
                                        <p:cTn id="16" dur="1" fill="hold">
                                          <p:stCondLst>
                                            <p:cond delay="1000"/>
                                          </p:stCondLst>
                                        </p:cTn>
                                        <p:tgtEl>
                                          <p:spTgt spid="400"/>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1000"/>
                                        <p:tgtEl>
                                          <p:spTgt spid="399"/>
                                        </p:tgtEl>
                                      </p:cBhvr>
                                    </p:animEffect>
                                    <p:set>
                                      <p:cBhvr>
                                        <p:cTn id="19" dur="1" fill="hold">
                                          <p:stCondLst>
                                            <p:cond delay="1000"/>
                                          </p:stCondLst>
                                        </p:cTn>
                                        <p:tgtEl>
                                          <p:spTgt spid="399"/>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407"/>
                                        </p:tgtEl>
                                        <p:attrNameLst>
                                          <p:attrName>style.visibility</p:attrName>
                                        </p:attrNameLst>
                                      </p:cBhvr>
                                      <p:to>
                                        <p:strVal val="visible"/>
                                      </p:to>
                                    </p:set>
                                    <p:animEffect transition="in" filter="fade">
                                      <p:cBhvr>
                                        <p:cTn id="22" dur="1000"/>
                                        <p:tgtEl>
                                          <p:spTgt spid="407"/>
                                        </p:tgtEl>
                                      </p:cBhvr>
                                    </p:animEffect>
                                  </p:childTnLst>
                                </p:cTn>
                              </p:par>
                              <p:par>
                                <p:cTn id="23" presetID="10" presetClass="entr" presetSubtype="0" fill="hold" nodeType="withEffect">
                                  <p:stCondLst>
                                    <p:cond delay="0"/>
                                  </p:stCondLst>
                                  <p:childTnLst>
                                    <p:set>
                                      <p:cBhvr>
                                        <p:cTn id="24" dur="1" fill="hold">
                                          <p:stCondLst>
                                            <p:cond delay="0"/>
                                          </p:stCondLst>
                                        </p:cTn>
                                        <p:tgtEl>
                                          <p:spTgt spid="408"/>
                                        </p:tgtEl>
                                        <p:attrNameLst>
                                          <p:attrName>style.visibility</p:attrName>
                                        </p:attrNameLst>
                                      </p:cBhvr>
                                      <p:to>
                                        <p:strVal val="visible"/>
                                      </p:to>
                                    </p:set>
                                    <p:animEffect transition="in" filter="fade">
                                      <p:cBhvr>
                                        <p:cTn id="25" dur="1000"/>
                                        <p:tgtEl>
                                          <p:spTgt spid="408"/>
                                        </p:tgtEl>
                                      </p:cBhvr>
                                    </p:animEffect>
                                  </p:childTnLst>
                                </p:cTn>
                              </p:par>
                              <p:par>
                                <p:cTn id="26" presetID="10" presetClass="entr" presetSubtype="0" fill="hold" nodeType="withEffect">
                                  <p:stCondLst>
                                    <p:cond delay="0"/>
                                  </p:stCondLst>
                                  <p:childTnLst>
                                    <p:set>
                                      <p:cBhvr>
                                        <p:cTn id="27" dur="1" fill="hold">
                                          <p:stCondLst>
                                            <p:cond delay="0"/>
                                          </p:stCondLst>
                                        </p:cTn>
                                        <p:tgtEl>
                                          <p:spTgt spid="410"/>
                                        </p:tgtEl>
                                        <p:attrNameLst>
                                          <p:attrName>style.visibility</p:attrName>
                                        </p:attrNameLst>
                                      </p:cBhvr>
                                      <p:to>
                                        <p:strVal val="visible"/>
                                      </p:to>
                                    </p:set>
                                    <p:animEffect transition="in" filter="fade">
                                      <p:cBhvr>
                                        <p:cTn id="28" dur="1000"/>
                                        <p:tgtEl>
                                          <p:spTgt spid="410"/>
                                        </p:tgtEl>
                                      </p:cBhvr>
                                    </p:animEffect>
                                  </p:childTnLst>
                                </p:cTn>
                              </p:par>
                              <p:par>
                                <p:cTn id="29" presetID="10" presetClass="entr" presetSubtype="0" fill="hold" nodeType="withEffect">
                                  <p:stCondLst>
                                    <p:cond delay="0"/>
                                  </p:stCondLst>
                                  <p:childTnLst>
                                    <p:set>
                                      <p:cBhvr>
                                        <p:cTn id="30" dur="1" fill="hold">
                                          <p:stCondLst>
                                            <p:cond delay="0"/>
                                          </p:stCondLst>
                                        </p:cTn>
                                        <p:tgtEl>
                                          <p:spTgt spid="411"/>
                                        </p:tgtEl>
                                        <p:attrNameLst>
                                          <p:attrName>style.visibility</p:attrName>
                                        </p:attrNameLst>
                                      </p:cBhvr>
                                      <p:to>
                                        <p:strVal val="visible"/>
                                      </p:to>
                                    </p:set>
                                    <p:animEffect transition="in" filter="fade">
                                      <p:cBhvr>
                                        <p:cTn id="31" dur="1000"/>
                                        <p:tgtEl>
                                          <p:spTgt spid="411"/>
                                        </p:tgtEl>
                                      </p:cBhvr>
                                    </p:animEffect>
                                  </p:childTnLst>
                                </p:cTn>
                              </p:par>
                              <p:par>
                                <p:cTn id="32" presetID="10" presetClass="entr" presetSubtype="0" fill="hold" nodeType="withEffect">
                                  <p:stCondLst>
                                    <p:cond delay="0"/>
                                  </p:stCondLst>
                                  <p:childTnLst>
                                    <p:set>
                                      <p:cBhvr>
                                        <p:cTn id="33" dur="1" fill="hold">
                                          <p:stCondLst>
                                            <p:cond delay="0"/>
                                          </p:stCondLst>
                                        </p:cTn>
                                        <p:tgtEl>
                                          <p:spTgt spid="409"/>
                                        </p:tgtEl>
                                        <p:attrNameLst>
                                          <p:attrName>style.visibility</p:attrName>
                                        </p:attrNameLst>
                                      </p:cBhvr>
                                      <p:to>
                                        <p:strVal val="visible"/>
                                      </p:to>
                                    </p:set>
                                    <p:animEffect transition="in" filter="fade">
                                      <p:cBhvr>
                                        <p:cTn id="34" dur="1000"/>
                                        <p:tgtEl>
                                          <p:spTgt spid="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21"/>
          <p:cNvSpPr/>
          <p:nvPr/>
        </p:nvSpPr>
        <p:spPr>
          <a:xfrm>
            <a:off x="3389862" y="2035757"/>
            <a:ext cx="2364300" cy="2364300"/>
          </a:xfrm>
          <a:prstGeom prst="ellipse">
            <a:avLst/>
          </a:prstGeom>
          <a:solidFill>
            <a:srgbClr val="783F04"/>
          </a:solidFill>
          <a:ln>
            <a:noFill/>
          </a:ln>
        </p:spPr>
        <p:txBody>
          <a:bodyPr spcFirstLastPara="1" wrap="square" lIns="45713" tIns="45713" rIns="45713" bIns="45713" anchor="ctr" anchorCtr="0">
            <a:noAutofit/>
          </a:bodyPr>
          <a:lstStyle/>
          <a:p>
            <a:endParaRPr sz="900"/>
          </a:p>
        </p:txBody>
      </p:sp>
      <p:pic>
        <p:nvPicPr>
          <p:cNvPr id="417" name="Google Shape;417;p21"/>
          <p:cNvPicPr preferRelativeResize="0"/>
          <p:nvPr/>
        </p:nvPicPr>
        <p:blipFill>
          <a:blip r:embed="rId3">
            <a:alphaModFix/>
          </a:blip>
          <a:stretch>
            <a:fillRect/>
          </a:stretch>
        </p:blipFill>
        <p:spPr>
          <a:xfrm>
            <a:off x="5100038" y="1243400"/>
            <a:ext cx="1219200" cy="1219200"/>
          </a:xfrm>
          <a:prstGeom prst="rect">
            <a:avLst/>
          </a:prstGeom>
          <a:noFill/>
          <a:ln>
            <a:noFill/>
          </a:ln>
        </p:spPr>
      </p:pic>
      <p:pic>
        <p:nvPicPr>
          <p:cNvPr id="418" name="Google Shape;418;p21"/>
          <p:cNvPicPr preferRelativeResize="0"/>
          <p:nvPr/>
        </p:nvPicPr>
        <p:blipFill>
          <a:blip r:embed="rId4">
            <a:alphaModFix/>
          </a:blip>
          <a:stretch>
            <a:fillRect/>
          </a:stretch>
        </p:blipFill>
        <p:spPr>
          <a:xfrm>
            <a:off x="3962394" y="4395400"/>
            <a:ext cx="1219200" cy="1219200"/>
          </a:xfrm>
          <a:prstGeom prst="rect">
            <a:avLst/>
          </a:prstGeom>
          <a:noFill/>
          <a:ln>
            <a:noFill/>
          </a:ln>
        </p:spPr>
      </p:pic>
      <p:pic>
        <p:nvPicPr>
          <p:cNvPr id="419" name="Google Shape;419;p21"/>
          <p:cNvPicPr preferRelativeResize="0"/>
          <p:nvPr/>
        </p:nvPicPr>
        <p:blipFill>
          <a:blip r:embed="rId5">
            <a:alphaModFix/>
          </a:blip>
          <a:stretch>
            <a:fillRect/>
          </a:stretch>
        </p:blipFill>
        <p:spPr>
          <a:xfrm>
            <a:off x="2292325" y="3217875"/>
            <a:ext cx="1219200" cy="1219200"/>
          </a:xfrm>
          <a:prstGeom prst="rect">
            <a:avLst/>
          </a:prstGeom>
          <a:noFill/>
          <a:ln>
            <a:noFill/>
          </a:ln>
        </p:spPr>
      </p:pic>
      <p:pic>
        <p:nvPicPr>
          <p:cNvPr id="420" name="Google Shape;420;p21"/>
          <p:cNvPicPr preferRelativeResize="0"/>
          <p:nvPr/>
        </p:nvPicPr>
        <p:blipFill>
          <a:blip r:embed="rId6">
            <a:alphaModFix/>
          </a:blip>
          <a:stretch>
            <a:fillRect/>
          </a:stretch>
        </p:blipFill>
        <p:spPr>
          <a:xfrm>
            <a:off x="5632475" y="3217875"/>
            <a:ext cx="1219200" cy="1219200"/>
          </a:xfrm>
          <a:prstGeom prst="rect">
            <a:avLst/>
          </a:prstGeom>
          <a:noFill/>
          <a:ln>
            <a:noFill/>
          </a:ln>
        </p:spPr>
      </p:pic>
      <p:pic>
        <p:nvPicPr>
          <p:cNvPr id="421" name="Google Shape;421;p21"/>
          <p:cNvPicPr preferRelativeResize="0"/>
          <p:nvPr/>
        </p:nvPicPr>
        <p:blipFill>
          <a:blip r:embed="rId7">
            <a:alphaModFix/>
          </a:blip>
          <a:stretch>
            <a:fillRect/>
          </a:stretch>
        </p:blipFill>
        <p:spPr>
          <a:xfrm>
            <a:off x="2824757" y="1243400"/>
            <a:ext cx="1219200" cy="1219200"/>
          </a:xfrm>
          <a:prstGeom prst="rect">
            <a:avLst/>
          </a:prstGeom>
          <a:noFill/>
          <a:ln>
            <a:noFill/>
          </a:ln>
        </p:spPr>
      </p:pic>
      <p:grpSp>
        <p:nvGrpSpPr>
          <p:cNvPr id="422" name="Google Shape;422;p21"/>
          <p:cNvGrpSpPr/>
          <p:nvPr/>
        </p:nvGrpSpPr>
        <p:grpSpPr>
          <a:xfrm>
            <a:off x="4157195" y="2803111"/>
            <a:ext cx="829600" cy="829600"/>
            <a:chOff x="7509900" y="2868375"/>
            <a:chExt cx="903900" cy="903900"/>
          </a:xfrm>
        </p:grpSpPr>
        <p:sp>
          <p:nvSpPr>
            <p:cNvPr id="423" name="Google Shape;423;p21"/>
            <p:cNvSpPr/>
            <p:nvPr/>
          </p:nvSpPr>
          <p:spPr>
            <a:xfrm>
              <a:off x="7509900" y="2868375"/>
              <a:ext cx="903900" cy="903900"/>
            </a:xfrm>
            <a:prstGeom prst="ellipse">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24" name="Google Shape;424;p21"/>
            <p:cNvSpPr/>
            <p:nvPr/>
          </p:nvSpPr>
          <p:spPr>
            <a:xfrm>
              <a:off x="7726325" y="3187287"/>
              <a:ext cx="281375" cy="421875"/>
            </a:xfrm>
            <a:custGeom>
              <a:avLst/>
              <a:gdLst/>
              <a:ahLst/>
              <a:cxnLst/>
              <a:rect l="l" t="t" r="r" b="b"/>
              <a:pathLst>
                <a:path w="11255" h="16875" extrusionOk="0">
                  <a:moveTo>
                    <a:pt x="0" y="1985"/>
                  </a:moveTo>
                  <a:cubicBezTo>
                    <a:pt x="3409" y="525"/>
                    <a:pt x="10171" y="-1599"/>
                    <a:pt x="11126" y="1985"/>
                  </a:cubicBezTo>
                  <a:cubicBezTo>
                    <a:pt x="11977" y="5177"/>
                    <a:pt x="7498" y="7599"/>
                    <a:pt x="5042" y="9808"/>
                  </a:cubicBezTo>
                  <a:cubicBezTo>
                    <a:pt x="3517" y="11179"/>
                    <a:pt x="7922" y="12750"/>
                    <a:pt x="9562" y="13980"/>
                  </a:cubicBezTo>
                  <a:cubicBezTo>
                    <a:pt x="10372" y="14587"/>
                    <a:pt x="11636" y="16225"/>
                    <a:pt x="10778" y="16762"/>
                  </a:cubicBezTo>
                  <a:cubicBezTo>
                    <a:pt x="9613" y="17490"/>
                    <a:pt x="7707" y="13849"/>
                    <a:pt x="8866" y="13111"/>
                  </a:cubicBezTo>
                </a:path>
              </a:pathLst>
            </a:custGeom>
            <a:noFill/>
            <a:ln w="38100" cap="flat" cmpd="sng">
              <a:solidFill>
                <a:srgbClr val="F1C232"/>
              </a:solidFill>
              <a:prstDash val="solid"/>
              <a:round/>
              <a:headEnd type="none" w="med" len="med"/>
              <a:tailEnd type="none" w="med" len="med"/>
            </a:ln>
          </p:spPr>
        </p:sp>
        <p:sp>
          <p:nvSpPr>
            <p:cNvPr id="425" name="Google Shape;425;p21"/>
            <p:cNvSpPr/>
            <p:nvPr/>
          </p:nvSpPr>
          <p:spPr>
            <a:xfrm>
              <a:off x="7829049" y="3032650"/>
              <a:ext cx="272850" cy="456325"/>
            </a:xfrm>
            <a:custGeom>
              <a:avLst/>
              <a:gdLst/>
              <a:ahLst/>
              <a:cxnLst/>
              <a:rect l="l" t="t" r="r" b="b"/>
              <a:pathLst>
                <a:path w="10914" h="18253" extrusionOk="0">
                  <a:moveTo>
                    <a:pt x="4236" y="0"/>
                  </a:moveTo>
                  <a:cubicBezTo>
                    <a:pt x="1862" y="3263"/>
                    <a:pt x="-1710" y="8598"/>
                    <a:pt x="933" y="11647"/>
                  </a:cubicBezTo>
                  <a:cubicBezTo>
                    <a:pt x="3470" y="14574"/>
                    <a:pt x="12913" y="15228"/>
                    <a:pt x="10494" y="18253"/>
                  </a:cubicBezTo>
                </a:path>
              </a:pathLst>
            </a:custGeom>
            <a:noFill/>
            <a:ln w="38100" cap="flat" cmpd="sng">
              <a:solidFill>
                <a:srgbClr val="F1C232"/>
              </a:solidFill>
              <a:prstDash val="solid"/>
              <a:round/>
              <a:headEnd type="none" w="med" len="med"/>
              <a:tailEnd type="none" w="med" len="med"/>
            </a:ln>
          </p:spPr>
        </p:sp>
        <p:sp>
          <p:nvSpPr>
            <p:cNvPr id="426" name="Google Shape;426;p21"/>
            <p:cNvSpPr/>
            <p:nvPr/>
          </p:nvSpPr>
          <p:spPr>
            <a:xfrm>
              <a:off x="7938508" y="3145650"/>
              <a:ext cx="222425" cy="356375"/>
            </a:xfrm>
            <a:custGeom>
              <a:avLst/>
              <a:gdLst/>
              <a:ahLst/>
              <a:cxnLst/>
              <a:rect l="l" t="t" r="r" b="b"/>
              <a:pathLst>
                <a:path w="8897" h="14255" extrusionOk="0">
                  <a:moveTo>
                    <a:pt x="8897" y="0"/>
                  </a:moveTo>
                  <a:cubicBezTo>
                    <a:pt x="5700" y="999"/>
                    <a:pt x="1621" y="2006"/>
                    <a:pt x="205" y="5041"/>
                  </a:cubicBezTo>
                  <a:cubicBezTo>
                    <a:pt x="-1089" y="7814"/>
                    <a:pt x="5221" y="8570"/>
                    <a:pt x="7507" y="10604"/>
                  </a:cubicBezTo>
                  <a:cubicBezTo>
                    <a:pt x="8600" y="11576"/>
                    <a:pt x="6516" y="14014"/>
                    <a:pt x="5073" y="14255"/>
                  </a:cubicBezTo>
                </a:path>
              </a:pathLst>
            </a:custGeom>
            <a:noFill/>
            <a:ln w="38100" cap="flat" cmpd="sng">
              <a:solidFill>
                <a:srgbClr val="F1C232"/>
              </a:solidFill>
              <a:prstDash val="solid"/>
              <a:round/>
              <a:headEnd type="none" w="med" len="med"/>
              <a:tailEnd type="none" w="med" len="med"/>
            </a:ln>
          </p:spPr>
        </p:sp>
        <p:sp>
          <p:nvSpPr>
            <p:cNvPr id="427" name="Google Shape;427;p21"/>
            <p:cNvSpPr/>
            <p:nvPr/>
          </p:nvSpPr>
          <p:spPr>
            <a:xfrm>
              <a:off x="7743725" y="3093500"/>
              <a:ext cx="518875" cy="321600"/>
            </a:xfrm>
            <a:custGeom>
              <a:avLst/>
              <a:gdLst/>
              <a:ahLst/>
              <a:cxnLst/>
              <a:rect l="l" t="t" r="r" b="b"/>
              <a:pathLst>
                <a:path w="20755" h="12864" extrusionOk="0">
                  <a:moveTo>
                    <a:pt x="0" y="0"/>
                  </a:moveTo>
                  <a:cubicBezTo>
                    <a:pt x="5394" y="897"/>
                    <a:pt x="12760" y="-760"/>
                    <a:pt x="15993" y="3650"/>
                  </a:cubicBezTo>
                  <a:cubicBezTo>
                    <a:pt x="17475" y="5672"/>
                    <a:pt x="22372" y="8719"/>
                    <a:pt x="20165" y="9908"/>
                  </a:cubicBezTo>
                  <a:cubicBezTo>
                    <a:pt x="14587" y="12912"/>
                    <a:pt x="1390" y="6529"/>
                    <a:pt x="1390" y="12864"/>
                  </a:cubicBezTo>
                </a:path>
              </a:pathLst>
            </a:custGeom>
            <a:noFill/>
            <a:ln w="38100" cap="flat" cmpd="sng">
              <a:solidFill>
                <a:srgbClr val="F1C232"/>
              </a:solidFill>
              <a:prstDash val="solid"/>
              <a:round/>
              <a:headEnd type="none" w="med" len="med"/>
              <a:tailEnd type="none" w="med" len="med"/>
            </a:ln>
          </p:spPr>
        </p:sp>
        <p:sp>
          <p:nvSpPr>
            <p:cNvPr id="428" name="Google Shape;428;p21"/>
            <p:cNvSpPr/>
            <p:nvPr/>
          </p:nvSpPr>
          <p:spPr>
            <a:xfrm>
              <a:off x="7662050" y="3010925"/>
              <a:ext cx="411975" cy="478050"/>
            </a:xfrm>
            <a:custGeom>
              <a:avLst/>
              <a:gdLst/>
              <a:ahLst/>
              <a:cxnLst/>
              <a:rect l="l" t="t" r="r" b="b"/>
              <a:pathLst>
                <a:path w="16479" h="19122" extrusionOk="0">
                  <a:moveTo>
                    <a:pt x="16479" y="0"/>
                  </a:moveTo>
                  <a:cubicBezTo>
                    <a:pt x="9984" y="1946"/>
                    <a:pt x="3470" y="6343"/>
                    <a:pt x="311" y="12342"/>
                  </a:cubicBezTo>
                  <a:cubicBezTo>
                    <a:pt x="-872" y="14589"/>
                    <a:pt x="1757" y="17597"/>
                    <a:pt x="3788" y="19122"/>
                  </a:cubicBezTo>
                </a:path>
              </a:pathLst>
            </a:custGeom>
            <a:noFill/>
            <a:ln w="38100" cap="flat" cmpd="sng">
              <a:solidFill>
                <a:srgbClr val="F1C232"/>
              </a:solidFill>
              <a:prstDash val="solid"/>
              <a:round/>
              <a:headEnd type="none" w="med" len="med"/>
              <a:tailEnd type="none" w="med" len="med"/>
            </a:ln>
          </p:spPr>
        </p:sp>
        <p:sp>
          <p:nvSpPr>
            <p:cNvPr id="429" name="Google Shape;429;p21"/>
            <p:cNvSpPr/>
            <p:nvPr/>
          </p:nvSpPr>
          <p:spPr>
            <a:xfrm>
              <a:off x="7817600" y="3015250"/>
              <a:ext cx="398400" cy="587225"/>
            </a:xfrm>
            <a:custGeom>
              <a:avLst/>
              <a:gdLst/>
              <a:ahLst/>
              <a:cxnLst/>
              <a:rect l="l" t="t" r="r" b="b"/>
              <a:pathLst>
                <a:path w="15936" h="23489" extrusionOk="0">
                  <a:moveTo>
                    <a:pt x="0" y="0"/>
                  </a:moveTo>
                  <a:cubicBezTo>
                    <a:pt x="0" y="8167"/>
                    <a:pt x="2230" y="20746"/>
                    <a:pt x="10257" y="22252"/>
                  </a:cubicBezTo>
                  <a:cubicBezTo>
                    <a:pt x="12203" y="22617"/>
                    <a:pt x="15960" y="18191"/>
                    <a:pt x="15819" y="20166"/>
                  </a:cubicBezTo>
                  <a:cubicBezTo>
                    <a:pt x="15703" y="21786"/>
                    <a:pt x="15565" y="21792"/>
                    <a:pt x="14950" y="23295"/>
                  </a:cubicBezTo>
                  <a:cubicBezTo>
                    <a:pt x="14596" y="24160"/>
                    <a:pt x="13200" y="21724"/>
                    <a:pt x="13559" y="20861"/>
                  </a:cubicBezTo>
                  <a:cubicBezTo>
                    <a:pt x="14532" y="18524"/>
                    <a:pt x="16694" y="15864"/>
                    <a:pt x="15646" y="13560"/>
                  </a:cubicBezTo>
                  <a:cubicBezTo>
                    <a:pt x="15040" y="12229"/>
                    <a:pt x="13029" y="12161"/>
                    <a:pt x="11995" y="11126"/>
                  </a:cubicBezTo>
                </a:path>
              </a:pathLst>
            </a:custGeom>
            <a:noFill/>
            <a:ln w="38100" cap="flat" cmpd="sng">
              <a:solidFill>
                <a:srgbClr val="F1C232"/>
              </a:solidFill>
              <a:prstDash val="solid"/>
              <a:round/>
              <a:headEnd type="none" w="med" len="med"/>
              <a:tailEnd type="none" w="med" len="med"/>
            </a:ln>
          </p:spPr>
        </p:sp>
        <p:sp>
          <p:nvSpPr>
            <p:cNvPr id="430" name="Google Shape;430;p21"/>
            <p:cNvSpPr/>
            <p:nvPr/>
          </p:nvSpPr>
          <p:spPr>
            <a:xfrm>
              <a:off x="7643750" y="3180400"/>
              <a:ext cx="425925" cy="446300"/>
            </a:xfrm>
            <a:custGeom>
              <a:avLst/>
              <a:gdLst/>
              <a:ahLst/>
              <a:cxnLst/>
              <a:rect l="l" t="t" r="r" b="b"/>
              <a:pathLst>
                <a:path w="17037" h="17852" extrusionOk="0">
                  <a:moveTo>
                    <a:pt x="0" y="0"/>
                  </a:moveTo>
                  <a:cubicBezTo>
                    <a:pt x="4491" y="817"/>
                    <a:pt x="6830" y="6955"/>
                    <a:pt x="7475" y="11474"/>
                  </a:cubicBezTo>
                  <a:cubicBezTo>
                    <a:pt x="7713" y="13138"/>
                    <a:pt x="6322" y="15483"/>
                    <a:pt x="7649" y="16515"/>
                  </a:cubicBezTo>
                  <a:cubicBezTo>
                    <a:pt x="10121" y="18437"/>
                    <a:pt x="14632" y="18173"/>
                    <a:pt x="17037" y="16167"/>
                  </a:cubicBezTo>
                </a:path>
              </a:pathLst>
            </a:custGeom>
            <a:noFill/>
            <a:ln w="38100" cap="flat" cmpd="sng">
              <a:solidFill>
                <a:srgbClr val="F1C232"/>
              </a:solidFill>
              <a:prstDash val="solid"/>
              <a:round/>
              <a:headEnd type="none" w="med" len="med"/>
              <a:tailEnd type="none" w="med" len="med"/>
            </a:ln>
          </p:spPr>
        </p:sp>
        <p:sp>
          <p:nvSpPr>
            <p:cNvPr id="431" name="Google Shape;431;p21"/>
            <p:cNvSpPr/>
            <p:nvPr/>
          </p:nvSpPr>
          <p:spPr>
            <a:xfrm>
              <a:off x="7836249" y="3076100"/>
              <a:ext cx="320325" cy="456325"/>
            </a:xfrm>
            <a:custGeom>
              <a:avLst/>
              <a:gdLst/>
              <a:ahLst/>
              <a:cxnLst/>
              <a:rect l="l" t="t" r="r" b="b"/>
              <a:pathLst>
                <a:path w="12813" h="18253" extrusionOk="0">
                  <a:moveTo>
                    <a:pt x="12813" y="0"/>
                  </a:moveTo>
                  <a:cubicBezTo>
                    <a:pt x="7242" y="2181"/>
                    <a:pt x="-861" y="6790"/>
                    <a:pt x="123" y="12691"/>
                  </a:cubicBezTo>
                  <a:cubicBezTo>
                    <a:pt x="746" y="16427"/>
                    <a:pt x="8084" y="15004"/>
                    <a:pt x="10032" y="18253"/>
                  </a:cubicBezTo>
                </a:path>
              </a:pathLst>
            </a:custGeom>
            <a:noFill/>
            <a:ln w="38100" cap="flat" cmpd="sng">
              <a:solidFill>
                <a:srgbClr val="F1C232"/>
              </a:solidFill>
              <a:prstDash val="solid"/>
              <a:round/>
              <a:headEnd type="none" w="med" len="med"/>
              <a:tailEnd type="none" w="med" len="med"/>
            </a:ln>
          </p:spPr>
        </p:sp>
        <p:sp>
          <p:nvSpPr>
            <p:cNvPr id="432" name="Google Shape;432;p21"/>
            <p:cNvSpPr/>
            <p:nvPr/>
          </p:nvSpPr>
          <p:spPr>
            <a:xfrm>
              <a:off x="7700250" y="3132600"/>
              <a:ext cx="429925" cy="169500"/>
            </a:xfrm>
            <a:custGeom>
              <a:avLst/>
              <a:gdLst/>
              <a:ahLst/>
              <a:cxnLst/>
              <a:rect l="l" t="t" r="r" b="b"/>
              <a:pathLst>
                <a:path w="17197" h="6780" extrusionOk="0">
                  <a:moveTo>
                    <a:pt x="0" y="0"/>
                  </a:moveTo>
                  <a:cubicBezTo>
                    <a:pt x="3914" y="4695"/>
                    <a:pt x="10925" y="6780"/>
                    <a:pt x="17037" y="6780"/>
                  </a:cubicBezTo>
                  <a:cubicBezTo>
                    <a:pt x="17504" y="6780"/>
                    <a:pt x="16799" y="5655"/>
                    <a:pt x="16341" y="5563"/>
                  </a:cubicBezTo>
                </a:path>
              </a:pathLst>
            </a:custGeom>
            <a:noFill/>
            <a:ln w="38100" cap="flat" cmpd="sng">
              <a:solidFill>
                <a:srgbClr val="F1C232"/>
              </a:solidFill>
              <a:prstDash val="solid"/>
              <a:round/>
              <a:headEnd type="none" w="med" len="med"/>
              <a:tailEnd type="none" w="med" len="med"/>
            </a:ln>
          </p:spPr>
        </p:sp>
        <p:sp>
          <p:nvSpPr>
            <p:cNvPr id="433" name="Google Shape;433;p21"/>
            <p:cNvSpPr/>
            <p:nvPr/>
          </p:nvSpPr>
          <p:spPr>
            <a:xfrm>
              <a:off x="7710998" y="3098181"/>
              <a:ext cx="558575" cy="472725"/>
            </a:xfrm>
            <a:custGeom>
              <a:avLst/>
              <a:gdLst/>
              <a:ahLst/>
              <a:cxnLst/>
              <a:rect l="l" t="t" r="r" b="b"/>
              <a:pathLst>
                <a:path w="22343" h="18909" extrusionOk="0">
                  <a:moveTo>
                    <a:pt x="22343" y="4332"/>
                  </a:moveTo>
                  <a:cubicBezTo>
                    <a:pt x="16437" y="38"/>
                    <a:pt x="3704" y="-2547"/>
                    <a:pt x="439" y="3985"/>
                  </a:cubicBezTo>
                  <a:cubicBezTo>
                    <a:pt x="-1508" y="7881"/>
                    <a:pt x="3832" y="12696"/>
                    <a:pt x="7567" y="14937"/>
                  </a:cubicBezTo>
                  <a:cubicBezTo>
                    <a:pt x="9340" y="16001"/>
                    <a:pt x="12081" y="14808"/>
                    <a:pt x="13651" y="16154"/>
                  </a:cubicBezTo>
                  <a:cubicBezTo>
                    <a:pt x="15785" y="17983"/>
                    <a:pt x="7730" y="19926"/>
                    <a:pt x="5481" y="18240"/>
                  </a:cubicBezTo>
                </a:path>
              </a:pathLst>
            </a:custGeom>
            <a:noFill/>
            <a:ln w="38100" cap="flat" cmpd="sng">
              <a:solidFill>
                <a:srgbClr val="F1C232"/>
              </a:solidFill>
              <a:prstDash val="solid"/>
              <a:round/>
              <a:headEnd type="none" w="med" len="med"/>
              <a:tailEnd type="none" w="med" len="med"/>
            </a:ln>
          </p:spPr>
        </p:sp>
        <p:sp>
          <p:nvSpPr>
            <p:cNvPr id="434" name="Google Shape;434;p21"/>
            <p:cNvSpPr/>
            <p:nvPr/>
          </p:nvSpPr>
          <p:spPr>
            <a:xfrm>
              <a:off x="7685501" y="3079570"/>
              <a:ext cx="584075" cy="361600"/>
            </a:xfrm>
            <a:custGeom>
              <a:avLst/>
              <a:gdLst/>
              <a:ahLst/>
              <a:cxnLst/>
              <a:rect l="l" t="t" r="r" b="b"/>
              <a:pathLst>
                <a:path w="23363" h="14464" extrusionOk="0">
                  <a:moveTo>
                    <a:pt x="23363" y="14464"/>
                  </a:moveTo>
                  <a:cubicBezTo>
                    <a:pt x="21432" y="9632"/>
                    <a:pt x="15255" y="7928"/>
                    <a:pt x="11021" y="4903"/>
                  </a:cubicBezTo>
                  <a:cubicBezTo>
                    <a:pt x="8043" y="2775"/>
                    <a:pt x="3984" y="-1473"/>
                    <a:pt x="938" y="557"/>
                  </a:cubicBezTo>
                  <a:cubicBezTo>
                    <a:pt x="-2526" y="2866"/>
                    <a:pt x="4896" y="8744"/>
                    <a:pt x="8761" y="10292"/>
                  </a:cubicBezTo>
                </a:path>
              </a:pathLst>
            </a:custGeom>
            <a:noFill/>
            <a:ln w="38100" cap="flat" cmpd="sng">
              <a:solidFill>
                <a:srgbClr val="F1C232"/>
              </a:solidFill>
              <a:prstDash val="solid"/>
              <a:round/>
              <a:headEnd type="none" w="med" len="med"/>
              <a:tailEnd type="none" w="med" len="med"/>
            </a:ln>
          </p:spPr>
        </p:sp>
        <p:sp>
          <p:nvSpPr>
            <p:cNvPr id="435" name="Google Shape;435;p21"/>
            <p:cNvSpPr/>
            <p:nvPr/>
          </p:nvSpPr>
          <p:spPr>
            <a:xfrm>
              <a:off x="7744259" y="3028300"/>
              <a:ext cx="368875" cy="491100"/>
            </a:xfrm>
            <a:custGeom>
              <a:avLst/>
              <a:gdLst/>
              <a:ahLst/>
              <a:cxnLst/>
              <a:rect l="l" t="t" r="r" b="b"/>
              <a:pathLst>
                <a:path w="14755" h="19644" extrusionOk="0">
                  <a:moveTo>
                    <a:pt x="14755" y="0"/>
                  </a:moveTo>
                  <a:cubicBezTo>
                    <a:pt x="14495" y="609"/>
                    <a:pt x="14636" y="691"/>
                    <a:pt x="14234" y="1217"/>
                  </a:cubicBezTo>
                  <a:cubicBezTo>
                    <a:pt x="10836" y="5660"/>
                    <a:pt x="3616" y="6081"/>
                    <a:pt x="326" y="10604"/>
                  </a:cubicBezTo>
                  <a:cubicBezTo>
                    <a:pt x="-1501" y="13116"/>
                    <a:pt x="5071" y="17780"/>
                    <a:pt x="2586" y="19644"/>
                  </a:cubicBezTo>
                </a:path>
              </a:pathLst>
            </a:custGeom>
            <a:noFill/>
            <a:ln w="38100" cap="flat" cmpd="sng">
              <a:solidFill>
                <a:srgbClr val="F1C232"/>
              </a:solidFill>
              <a:prstDash val="solid"/>
              <a:round/>
              <a:headEnd type="none" w="med" len="med"/>
              <a:tailEnd type="none" w="med" len="med"/>
            </a:ln>
          </p:spPr>
        </p:sp>
        <p:sp>
          <p:nvSpPr>
            <p:cNvPr id="436" name="Google Shape;436;p21"/>
            <p:cNvSpPr/>
            <p:nvPr/>
          </p:nvSpPr>
          <p:spPr>
            <a:xfrm>
              <a:off x="7765450" y="3145650"/>
              <a:ext cx="482400" cy="338975"/>
            </a:xfrm>
            <a:custGeom>
              <a:avLst/>
              <a:gdLst/>
              <a:ahLst/>
              <a:cxnLst/>
              <a:rect l="l" t="t" r="r" b="b"/>
              <a:pathLst>
                <a:path w="19296" h="13559" extrusionOk="0">
                  <a:moveTo>
                    <a:pt x="19296" y="13559"/>
                  </a:moveTo>
                  <a:cubicBezTo>
                    <a:pt x="13760" y="11712"/>
                    <a:pt x="8516" y="8736"/>
                    <a:pt x="3998" y="5041"/>
                  </a:cubicBezTo>
                  <a:cubicBezTo>
                    <a:pt x="2338" y="3683"/>
                    <a:pt x="2116" y="351"/>
                    <a:pt x="0" y="0"/>
                  </a:cubicBezTo>
                </a:path>
              </a:pathLst>
            </a:custGeom>
            <a:noFill/>
            <a:ln w="38100" cap="flat" cmpd="sng">
              <a:solidFill>
                <a:srgbClr val="F1C232"/>
              </a:solidFill>
              <a:prstDash val="solid"/>
              <a:round/>
              <a:headEnd type="none" w="med" len="med"/>
              <a:tailEnd type="none" w="med" len="med"/>
            </a:ln>
          </p:spPr>
        </p:sp>
        <p:sp>
          <p:nvSpPr>
            <p:cNvPr id="437" name="Google Shape;437;p21"/>
            <p:cNvSpPr/>
            <p:nvPr/>
          </p:nvSpPr>
          <p:spPr>
            <a:xfrm>
              <a:off x="7665500" y="3269759"/>
              <a:ext cx="499775" cy="249650"/>
            </a:xfrm>
            <a:custGeom>
              <a:avLst/>
              <a:gdLst/>
              <a:ahLst/>
              <a:cxnLst/>
              <a:rect l="l" t="t" r="r" b="b"/>
              <a:pathLst>
                <a:path w="19991" h="9986" extrusionOk="0">
                  <a:moveTo>
                    <a:pt x="0" y="9986"/>
                  </a:moveTo>
                  <a:cubicBezTo>
                    <a:pt x="3478" y="7899"/>
                    <a:pt x="5064" y="3283"/>
                    <a:pt x="8692" y="1468"/>
                  </a:cubicBezTo>
                  <a:cubicBezTo>
                    <a:pt x="12086" y="-230"/>
                    <a:pt x="16196" y="77"/>
                    <a:pt x="19991" y="77"/>
                  </a:cubicBezTo>
                </a:path>
              </a:pathLst>
            </a:custGeom>
            <a:noFill/>
            <a:ln w="38100" cap="flat" cmpd="sng">
              <a:solidFill>
                <a:srgbClr val="F1C232"/>
              </a:solidFill>
              <a:prstDash val="solid"/>
              <a:round/>
              <a:headEnd type="none" w="med" len="med"/>
              <a:tailEnd type="none" w="med" len="med"/>
            </a:ln>
          </p:spPr>
        </p:sp>
        <p:sp>
          <p:nvSpPr>
            <p:cNvPr id="438" name="Google Shape;438;p21"/>
            <p:cNvSpPr/>
            <p:nvPr/>
          </p:nvSpPr>
          <p:spPr>
            <a:xfrm>
              <a:off x="7656800" y="3198318"/>
              <a:ext cx="660600" cy="161800"/>
            </a:xfrm>
            <a:custGeom>
              <a:avLst/>
              <a:gdLst/>
              <a:ahLst/>
              <a:cxnLst/>
              <a:rect l="l" t="t" r="r" b="b"/>
              <a:pathLst>
                <a:path w="26424" h="6472" extrusionOk="0">
                  <a:moveTo>
                    <a:pt x="26424" y="6411"/>
                  </a:moveTo>
                  <a:cubicBezTo>
                    <a:pt x="18961" y="6652"/>
                    <a:pt x="11684" y="3823"/>
                    <a:pt x="4520" y="1717"/>
                  </a:cubicBezTo>
                  <a:cubicBezTo>
                    <a:pt x="4232" y="1632"/>
                    <a:pt x="0" y="-572"/>
                    <a:pt x="0" y="153"/>
                  </a:cubicBezTo>
                  <a:cubicBezTo>
                    <a:pt x="0" y="1294"/>
                    <a:pt x="584" y="2475"/>
                    <a:pt x="1391" y="3282"/>
                  </a:cubicBezTo>
                </a:path>
              </a:pathLst>
            </a:custGeom>
            <a:noFill/>
            <a:ln w="38100" cap="flat" cmpd="sng">
              <a:solidFill>
                <a:srgbClr val="F1C232"/>
              </a:solidFill>
              <a:prstDash val="solid"/>
              <a:round/>
              <a:headEnd type="none" w="med" len="med"/>
              <a:tailEnd type="none" w="med" len="med"/>
            </a:ln>
          </p:spPr>
        </p:sp>
        <p:sp>
          <p:nvSpPr>
            <p:cNvPr id="439" name="Google Shape;439;p21"/>
            <p:cNvSpPr/>
            <p:nvPr/>
          </p:nvSpPr>
          <p:spPr>
            <a:xfrm>
              <a:off x="7757829" y="3119575"/>
              <a:ext cx="450925" cy="395475"/>
            </a:xfrm>
            <a:custGeom>
              <a:avLst/>
              <a:gdLst/>
              <a:ahLst/>
              <a:cxnLst/>
              <a:rect l="l" t="t" r="r" b="b"/>
              <a:pathLst>
                <a:path w="18037" h="15819" extrusionOk="0">
                  <a:moveTo>
                    <a:pt x="18037" y="0"/>
                  </a:moveTo>
                  <a:cubicBezTo>
                    <a:pt x="15708" y="1293"/>
                    <a:pt x="13491" y="3180"/>
                    <a:pt x="12300" y="5562"/>
                  </a:cubicBezTo>
                  <a:cubicBezTo>
                    <a:pt x="11338" y="7485"/>
                    <a:pt x="12524" y="10628"/>
                    <a:pt x="10735" y="11821"/>
                  </a:cubicBezTo>
                  <a:cubicBezTo>
                    <a:pt x="7637" y="13887"/>
                    <a:pt x="-1612" y="12627"/>
                    <a:pt x="305" y="15819"/>
                  </a:cubicBezTo>
                </a:path>
              </a:pathLst>
            </a:custGeom>
            <a:noFill/>
            <a:ln w="38100" cap="flat" cmpd="sng">
              <a:solidFill>
                <a:srgbClr val="F1C232"/>
              </a:solidFill>
              <a:prstDash val="solid"/>
              <a:round/>
              <a:headEnd type="none" w="med" len="med"/>
              <a:tailEnd type="none" w="med" len="med"/>
            </a:ln>
          </p:spPr>
        </p:sp>
        <p:sp>
          <p:nvSpPr>
            <p:cNvPr id="440" name="Google Shape;440;p21"/>
            <p:cNvSpPr/>
            <p:nvPr/>
          </p:nvSpPr>
          <p:spPr>
            <a:xfrm>
              <a:off x="7895825" y="3010925"/>
              <a:ext cx="373750" cy="469350"/>
            </a:xfrm>
            <a:custGeom>
              <a:avLst/>
              <a:gdLst/>
              <a:ahLst/>
              <a:cxnLst/>
              <a:rect l="l" t="t" r="r" b="b"/>
              <a:pathLst>
                <a:path w="14950" h="18774" extrusionOk="0">
                  <a:moveTo>
                    <a:pt x="0" y="0"/>
                  </a:moveTo>
                  <a:cubicBezTo>
                    <a:pt x="1571" y="7844"/>
                    <a:pt x="11377" y="11617"/>
                    <a:pt x="14950" y="18774"/>
                  </a:cubicBezTo>
                </a:path>
              </a:pathLst>
            </a:custGeom>
            <a:noFill/>
            <a:ln w="38100" cap="flat" cmpd="sng">
              <a:solidFill>
                <a:srgbClr val="F1C232"/>
              </a:solidFill>
              <a:prstDash val="solid"/>
              <a:round/>
              <a:headEnd type="none" w="med" len="med"/>
              <a:tailEnd type="none" w="med" len="med"/>
            </a:ln>
          </p:spPr>
        </p:sp>
        <p:sp>
          <p:nvSpPr>
            <p:cNvPr id="441" name="Google Shape;441;p21"/>
            <p:cNvSpPr/>
            <p:nvPr/>
          </p:nvSpPr>
          <p:spPr>
            <a:xfrm>
              <a:off x="7752400" y="3132600"/>
              <a:ext cx="346150" cy="434600"/>
            </a:xfrm>
            <a:custGeom>
              <a:avLst/>
              <a:gdLst/>
              <a:ahLst/>
              <a:cxnLst/>
              <a:rect l="l" t="t" r="r" b="b"/>
              <a:pathLst>
                <a:path w="13846" h="17384" extrusionOk="0">
                  <a:moveTo>
                    <a:pt x="0" y="17384"/>
                  </a:moveTo>
                  <a:cubicBezTo>
                    <a:pt x="1561" y="14266"/>
                    <a:pt x="813" y="9404"/>
                    <a:pt x="3825" y="7649"/>
                  </a:cubicBezTo>
                  <a:cubicBezTo>
                    <a:pt x="6452" y="6118"/>
                    <a:pt x="10432" y="8256"/>
                    <a:pt x="12865" y="6432"/>
                  </a:cubicBezTo>
                  <a:cubicBezTo>
                    <a:pt x="14596" y="5134"/>
                    <a:pt x="13756" y="1257"/>
                    <a:pt x="11995" y="0"/>
                  </a:cubicBezTo>
                </a:path>
              </a:pathLst>
            </a:custGeom>
            <a:noFill/>
            <a:ln w="38100" cap="flat" cmpd="sng">
              <a:solidFill>
                <a:srgbClr val="F1C232"/>
              </a:solidFill>
              <a:prstDash val="solid"/>
              <a:round/>
              <a:headEnd type="none" w="med" len="med"/>
              <a:tailEnd type="none" w="med" len="med"/>
            </a:ln>
          </p:spPr>
        </p:sp>
      </p:grpSp>
      <p:sp>
        <p:nvSpPr>
          <p:cNvPr id="442" name="Google Shape;442;p21"/>
          <p:cNvSpPr/>
          <p:nvPr/>
        </p:nvSpPr>
        <p:spPr>
          <a:xfrm rot="-6485262" flipH="1">
            <a:off x="5341176"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443" name="Google Shape;443;p21"/>
          <p:cNvSpPr/>
          <p:nvPr/>
        </p:nvSpPr>
        <p:spPr>
          <a:xfrm rot="6485262">
            <a:off x="3763714"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444" name="Google Shape;444;p21"/>
          <p:cNvSpPr/>
          <p:nvPr/>
        </p:nvSpPr>
        <p:spPr>
          <a:xfrm rot="10800000">
            <a:off x="4552435" y="2168746"/>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445" name="Google Shape;445;p21"/>
          <p:cNvSpPr/>
          <p:nvPr/>
        </p:nvSpPr>
        <p:spPr>
          <a:xfrm rot="2167448">
            <a:off x="4087053"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446" name="Google Shape;446;p21"/>
          <p:cNvSpPr/>
          <p:nvPr/>
        </p:nvSpPr>
        <p:spPr>
          <a:xfrm rot="-2167448" flipH="1">
            <a:off x="5017778"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447" name="Google Shape;447;p21"/>
          <p:cNvSpPr/>
          <p:nvPr/>
        </p:nvSpPr>
        <p:spPr>
          <a:xfrm>
            <a:off x="4416763" y="3146300"/>
            <a:ext cx="420063" cy="289163"/>
          </a:xfrm>
          <a:custGeom>
            <a:avLst/>
            <a:gdLst/>
            <a:ahLst/>
            <a:cxnLst/>
            <a:rect l="l" t="t" r="r" b="b"/>
            <a:pathLst>
              <a:path w="33605" h="23133" extrusionOk="0">
                <a:moveTo>
                  <a:pt x="0" y="23133"/>
                </a:moveTo>
                <a:cubicBezTo>
                  <a:pt x="2435" y="19075"/>
                  <a:pt x="4127" y="14465"/>
                  <a:pt x="7305" y="10958"/>
                </a:cubicBezTo>
                <a:cubicBezTo>
                  <a:pt x="13683" y="3921"/>
                  <a:pt x="24540" y="2832"/>
                  <a:pt x="33605" y="0"/>
                </a:cubicBezTo>
              </a:path>
            </a:pathLst>
          </a:custGeom>
          <a:noFill/>
          <a:ln w="38100" cap="flat" cmpd="sng">
            <a:solidFill>
              <a:srgbClr val="F1C232"/>
            </a:solidFill>
            <a:prstDash val="solid"/>
            <a:round/>
            <a:headEnd type="none" w="med" len="med"/>
            <a:tailEnd type="none" w="med" len="med"/>
          </a:ln>
        </p:spPr>
      </p:sp>
      <p:sp>
        <p:nvSpPr>
          <p:cNvPr id="448" name="Google Shape;448;p21"/>
          <p:cNvSpPr/>
          <p:nvPr/>
        </p:nvSpPr>
        <p:spPr>
          <a:xfrm>
            <a:off x="4413713" y="2966700"/>
            <a:ext cx="273963" cy="413975"/>
          </a:xfrm>
          <a:custGeom>
            <a:avLst/>
            <a:gdLst/>
            <a:ahLst/>
            <a:cxnLst/>
            <a:rect l="l" t="t" r="r" b="b"/>
            <a:pathLst>
              <a:path w="21917" h="33118" extrusionOk="0">
                <a:moveTo>
                  <a:pt x="0" y="0"/>
                </a:moveTo>
                <a:cubicBezTo>
                  <a:pt x="2209" y="4416"/>
                  <a:pt x="6510" y="8222"/>
                  <a:pt x="6819" y="13150"/>
                </a:cubicBezTo>
                <a:cubicBezTo>
                  <a:pt x="7095" y="17561"/>
                  <a:pt x="2967" y="22436"/>
                  <a:pt x="5114" y="26300"/>
                </a:cubicBezTo>
                <a:cubicBezTo>
                  <a:pt x="8050" y="31584"/>
                  <a:pt x="16181" y="31211"/>
                  <a:pt x="21917" y="33118"/>
                </a:cubicBezTo>
              </a:path>
            </a:pathLst>
          </a:custGeom>
          <a:noFill/>
          <a:ln w="38100" cap="flat" cmpd="sng">
            <a:solidFill>
              <a:srgbClr val="F1C232"/>
            </a:solidFill>
            <a:prstDash val="solid"/>
            <a:round/>
            <a:headEnd type="none" w="med" len="med"/>
            <a:tailEnd type="none" w="med" len="med"/>
          </a:ln>
        </p:spPr>
      </p:sp>
      <p:sp>
        <p:nvSpPr>
          <p:cNvPr id="449" name="Google Shape;449;p21"/>
          <p:cNvSpPr/>
          <p:nvPr/>
        </p:nvSpPr>
        <p:spPr>
          <a:xfrm>
            <a:off x="4363841" y="3099836"/>
            <a:ext cx="427325" cy="335625"/>
          </a:xfrm>
          <a:custGeom>
            <a:avLst/>
            <a:gdLst/>
            <a:ahLst/>
            <a:cxnLst/>
            <a:rect l="l" t="t" r="r" b="b"/>
            <a:pathLst>
              <a:path w="34186" h="26850" extrusionOk="0">
                <a:moveTo>
                  <a:pt x="34186" y="7369"/>
                </a:moveTo>
                <a:cubicBezTo>
                  <a:pt x="26609" y="7875"/>
                  <a:pt x="18987" y="9107"/>
                  <a:pt x="11783" y="11509"/>
                </a:cubicBezTo>
                <a:cubicBezTo>
                  <a:pt x="8958" y="12451"/>
                  <a:pt x="6190" y="14721"/>
                  <a:pt x="3260" y="14188"/>
                </a:cubicBezTo>
                <a:cubicBezTo>
                  <a:pt x="100" y="13613"/>
                  <a:pt x="-612" y="7915"/>
                  <a:pt x="581" y="4934"/>
                </a:cubicBezTo>
                <a:cubicBezTo>
                  <a:pt x="2999" y="-1107"/>
                  <a:pt x="16358" y="-1632"/>
                  <a:pt x="20062" y="3717"/>
                </a:cubicBezTo>
                <a:cubicBezTo>
                  <a:pt x="23302" y="8396"/>
                  <a:pt x="18572" y="15095"/>
                  <a:pt x="19088" y="20763"/>
                </a:cubicBezTo>
                <a:cubicBezTo>
                  <a:pt x="19370" y="23858"/>
                  <a:pt x="23042" y="26850"/>
                  <a:pt x="26150" y="26850"/>
                </a:cubicBezTo>
              </a:path>
            </a:pathLst>
          </a:custGeom>
          <a:noFill/>
          <a:ln w="38100" cap="flat" cmpd="sng">
            <a:solidFill>
              <a:srgbClr val="F1C232"/>
            </a:solidFill>
            <a:prstDash val="solid"/>
            <a:round/>
            <a:headEnd type="none" w="med" len="med"/>
            <a:tailEnd type="none" w="med" len="med"/>
          </a:ln>
        </p:spPr>
      </p:sp>
      <p:sp>
        <p:nvSpPr>
          <p:cNvPr id="450" name="Google Shape;450;p21"/>
          <p:cNvSpPr/>
          <p:nvPr/>
        </p:nvSpPr>
        <p:spPr>
          <a:xfrm>
            <a:off x="4365013" y="2942350"/>
            <a:ext cx="453675" cy="414725"/>
          </a:xfrm>
          <a:custGeom>
            <a:avLst/>
            <a:gdLst/>
            <a:ahLst/>
            <a:cxnLst/>
            <a:rect l="l" t="t" r="r" b="b"/>
            <a:pathLst>
              <a:path w="36294" h="33178" extrusionOk="0">
                <a:moveTo>
                  <a:pt x="16072" y="0"/>
                </a:moveTo>
                <a:cubicBezTo>
                  <a:pt x="18478" y="5415"/>
                  <a:pt x="25652" y="7856"/>
                  <a:pt x="27761" y="13393"/>
                </a:cubicBezTo>
                <a:cubicBezTo>
                  <a:pt x="29698" y="18478"/>
                  <a:pt x="25844" y="24459"/>
                  <a:pt x="27274" y="29709"/>
                </a:cubicBezTo>
                <a:cubicBezTo>
                  <a:pt x="27905" y="32023"/>
                  <a:pt x="32028" y="34192"/>
                  <a:pt x="33849" y="32631"/>
                </a:cubicBezTo>
                <a:cubicBezTo>
                  <a:pt x="36931" y="29989"/>
                  <a:pt x="37353" y="22015"/>
                  <a:pt x="33605" y="20455"/>
                </a:cubicBezTo>
                <a:cubicBezTo>
                  <a:pt x="25042" y="16890"/>
                  <a:pt x="14673" y="21082"/>
                  <a:pt x="6088" y="24595"/>
                </a:cubicBezTo>
                <a:cubicBezTo>
                  <a:pt x="3268" y="25749"/>
                  <a:pt x="2891" y="30452"/>
                  <a:pt x="0" y="31413"/>
                </a:cubicBezTo>
              </a:path>
            </a:pathLst>
          </a:custGeom>
          <a:noFill/>
          <a:ln w="38100" cap="flat" cmpd="sng">
            <a:solidFill>
              <a:srgbClr val="F1C232"/>
            </a:solidFill>
            <a:prstDash val="solid"/>
            <a:round/>
            <a:headEnd type="none" w="med" len="med"/>
            <a:tailEnd type="none" w="med" len="med"/>
          </a:ln>
        </p:spPr>
      </p:sp>
      <p:sp>
        <p:nvSpPr>
          <p:cNvPr id="451" name="Google Shape;451;p21"/>
          <p:cNvSpPr/>
          <p:nvPr/>
        </p:nvSpPr>
        <p:spPr>
          <a:xfrm>
            <a:off x="4340663" y="2972714"/>
            <a:ext cx="441350" cy="510425"/>
          </a:xfrm>
          <a:custGeom>
            <a:avLst/>
            <a:gdLst/>
            <a:ahLst/>
            <a:cxnLst/>
            <a:rect l="l" t="t" r="r" b="b"/>
            <a:pathLst>
              <a:path w="35308" h="40834" extrusionOk="0">
                <a:moveTo>
                  <a:pt x="0" y="21923"/>
                </a:moveTo>
                <a:cubicBezTo>
                  <a:pt x="4868" y="17746"/>
                  <a:pt x="16935" y="15448"/>
                  <a:pt x="19238" y="21435"/>
                </a:cubicBezTo>
                <a:cubicBezTo>
                  <a:pt x="21093" y="26256"/>
                  <a:pt x="14339" y="32377"/>
                  <a:pt x="17046" y="36777"/>
                </a:cubicBezTo>
                <a:cubicBezTo>
                  <a:pt x="19515" y="40790"/>
                  <a:pt x="26930" y="41953"/>
                  <a:pt x="30926" y="39456"/>
                </a:cubicBezTo>
                <a:cubicBezTo>
                  <a:pt x="37891" y="35105"/>
                  <a:pt x="35821" y="20062"/>
                  <a:pt x="29465" y="14861"/>
                </a:cubicBezTo>
                <a:cubicBezTo>
                  <a:pt x="22888" y="9480"/>
                  <a:pt x="7178" y="12602"/>
                  <a:pt x="6331" y="4146"/>
                </a:cubicBezTo>
                <a:cubicBezTo>
                  <a:pt x="5675" y="-2396"/>
                  <a:pt x="21107" y="-183"/>
                  <a:pt x="26056" y="4146"/>
                </a:cubicBezTo>
                <a:cubicBezTo>
                  <a:pt x="35321" y="12251"/>
                  <a:pt x="17470" y="28073"/>
                  <a:pt x="8766" y="36777"/>
                </a:cubicBezTo>
              </a:path>
            </a:pathLst>
          </a:custGeom>
          <a:noFill/>
          <a:ln w="38100" cap="flat" cmpd="sng">
            <a:solidFill>
              <a:srgbClr val="F1C232"/>
            </a:solidFill>
            <a:prstDash val="solid"/>
            <a:round/>
            <a:headEnd type="none" w="med" len="med"/>
            <a:tailEnd type="none" w="med" len="med"/>
          </a:ln>
        </p:spPr>
      </p:sp>
      <p:sp>
        <p:nvSpPr>
          <p:cNvPr id="452" name="Google Shape;452;p21"/>
          <p:cNvSpPr/>
          <p:nvPr/>
        </p:nvSpPr>
        <p:spPr>
          <a:xfrm>
            <a:off x="4336629" y="2954525"/>
            <a:ext cx="448450" cy="512988"/>
          </a:xfrm>
          <a:custGeom>
            <a:avLst/>
            <a:gdLst/>
            <a:ahLst/>
            <a:cxnLst/>
            <a:rect l="l" t="t" r="r" b="b"/>
            <a:pathLst>
              <a:path w="35876" h="41039" extrusionOk="0">
                <a:moveTo>
                  <a:pt x="35876" y="12176"/>
                </a:moveTo>
                <a:cubicBezTo>
                  <a:pt x="33278" y="13474"/>
                  <a:pt x="30137" y="14019"/>
                  <a:pt x="28084" y="16072"/>
                </a:cubicBezTo>
                <a:cubicBezTo>
                  <a:pt x="24741" y="19415"/>
                  <a:pt x="24638" y="25253"/>
                  <a:pt x="25161" y="29952"/>
                </a:cubicBezTo>
                <a:cubicBezTo>
                  <a:pt x="25573" y="33653"/>
                  <a:pt x="31860" y="39489"/>
                  <a:pt x="28327" y="40667"/>
                </a:cubicBezTo>
                <a:cubicBezTo>
                  <a:pt x="23195" y="42378"/>
                  <a:pt x="17049" y="37559"/>
                  <a:pt x="13960" y="33118"/>
                </a:cubicBezTo>
                <a:cubicBezTo>
                  <a:pt x="10617" y="28313"/>
                  <a:pt x="9699" y="20564"/>
                  <a:pt x="4219" y="18507"/>
                </a:cubicBezTo>
                <a:cubicBezTo>
                  <a:pt x="680" y="17179"/>
                  <a:pt x="-1376" y="26792"/>
                  <a:pt x="1297" y="29465"/>
                </a:cubicBezTo>
                <a:cubicBezTo>
                  <a:pt x="5492" y="33660"/>
                  <a:pt x="15463" y="29538"/>
                  <a:pt x="18343" y="24352"/>
                </a:cubicBezTo>
                <a:cubicBezTo>
                  <a:pt x="21498" y="18671"/>
                  <a:pt x="15329" y="10954"/>
                  <a:pt x="17612" y="4870"/>
                </a:cubicBezTo>
                <a:cubicBezTo>
                  <a:pt x="18786" y="1740"/>
                  <a:pt x="23036" y="0"/>
                  <a:pt x="26379" y="0"/>
                </a:cubicBezTo>
              </a:path>
            </a:pathLst>
          </a:custGeom>
          <a:noFill/>
          <a:ln w="38100" cap="flat" cmpd="sng">
            <a:solidFill>
              <a:srgbClr val="F1C232"/>
            </a:solidFill>
            <a:prstDash val="solid"/>
            <a:round/>
            <a:headEnd type="none" w="med" len="med"/>
            <a:tailEnd type="none" w="med" len="med"/>
          </a:ln>
        </p:spPr>
      </p:sp>
      <p:sp>
        <p:nvSpPr>
          <p:cNvPr id="453" name="Google Shape;453;p21"/>
          <p:cNvSpPr/>
          <p:nvPr/>
        </p:nvSpPr>
        <p:spPr>
          <a:xfrm rot="6485262">
            <a:off x="3236964" y="3041437"/>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454" name="Google Shape;454;p21"/>
          <p:cNvSpPr/>
          <p:nvPr/>
        </p:nvSpPr>
        <p:spPr>
          <a:xfrm rot="10800000">
            <a:off x="4021235" y="1726333"/>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455" name="Google Shape;455;p21"/>
          <p:cNvSpPr/>
          <p:nvPr/>
        </p:nvSpPr>
        <p:spPr>
          <a:xfrm rot="2167448">
            <a:off x="4169953" y="4226445"/>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456" name="Google Shape;456;p21"/>
          <p:cNvSpPr/>
          <p:nvPr/>
        </p:nvSpPr>
        <p:spPr>
          <a:xfrm rot="-2167448" flipH="1">
            <a:off x="5626360" y="3780045"/>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457" name="Google Shape;457;p21"/>
          <p:cNvSpPr/>
          <p:nvPr/>
        </p:nvSpPr>
        <p:spPr>
          <a:xfrm rot="-6485262" flipH="1">
            <a:off x="5733114" y="22234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1000"/>
                                        <p:tgtEl>
                                          <p:spTgt spid="442"/>
                                        </p:tgtEl>
                                      </p:cBhvr>
                                    </p:animEffect>
                                    <p:set>
                                      <p:cBhvr>
                                        <p:cTn id="7" dur="1" fill="hold">
                                          <p:stCondLst>
                                            <p:cond delay="1000"/>
                                          </p:stCondLst>
                                        </p:cTn>
                                        <p:tgtEl>
                                          <p:spTgt spid="442"/>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1000"/>
                                        <p:tgtEl>
                                          <p:spTgt spid="443"/>
                                        </p:tgtEl>
                                      </p:cBhvr>
                                    </p:animEffect>
                                    <p:set>
                                      <p:cBhvr>
                                        <p:cTn id="10" dur="1" fill="hold">
                                          <p:stCondLst>
                                            <p:cond delay="1000"/>
                                          </p:stCondLst>
                                        </p:cTn>
                                        <p:tgtEl>
                                          <p:spTgt spid="443"/>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1000"/>
                                        <p:tgtEl>
                                          <p:spTgt spid="444"/>
                                        </p:tgtEl>
                                      </p:cBhvr>
                                    </p:animEffect>
                                    <p:set>
                                      <p:cBhvr>
                                        <p:cTn id="13" dur="1" fill="hold">
                                          <p:stCondLst>
                                            <p:cond delay="1000"/>
                                          </p:stCondLst>
                                        </p:cTn>
                                        <p:tgtEl>
                                          <p:spTgt spid="444"/>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1000"/>
                                        <p:tgtEl>
                                          <p:spTgt spid="446"/>
                                        </p:tgtEl>
                                      </p:cBhvr>
                                    </p:animEffect>
                                    <p:set>
                                      <p:cBhvr>
                                        <p:cTn id="16" dur="1" fill="hold">
                                          <p:stCondLst>
                                            <p:cond delay="1000"/>
                                          </p:stCondLst>
                                        </p:cTn>
                                        <p:tgtEl>
                                          <p:spTgt spid="446"/>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1000"/>
                                        <p:tgtEl>
                                          <p:spTgt spid="445"/>
                                        </p:tgtEl>
                                      </p:cBhvr>
                                    </p:animEffect>
                                    <p:set>
                                      <p:cBhvr>
                                        <p:cTn id="19" dur="1" fill="hold">
                                          <p:stCondLst>
                                            <p:cond delay="1000"/>
                                          </p:stCondLst>
                                        </p:cTn>
                                        <p:tgtEl>
                                          <p:spTgt spid="445"/>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453"/>
                                        </p:tgtEl>
                                        <p:attrNameLst>
                                          <p:attrName>style.visibility</p:attrName>
                                        </p:attrNameLst>
                                      </p:cBhvr>
                                      <p:to>
                                        <p:strVal val="visible"/>
                                      </p:to>
                                    </p:set>
                                    <p:animEffect transition="in" filter="fade">
                                      <p:cBhvr>
                                        <p:cTn id="22" dur="1000"/>
                                        <p:tgtEl>
                                          <p:spTgt spid="453"/>
                                        </p:tgtEl>
                                      </p:cBhvr>
                                    </p:animEffect>
                                  </p:childTnLst>
                                </p:cTn>
                              </p:par>
                              <p:par>
                                <p:cTn id="23" presetID="10" presetClass="entr" presetSubtype="0" fill="hold" nodeType="withEffect">
                                  <p:stCondLst>
                                    <p:cond delay="0"/>
                                  </p:stCondLst>
                                  <p:childTnLst>
                                    <p:set>
                                      <p:cBhvr>
                                        <p:cTn id="24" dur="1" fill="hold">
                                          <p:stCondLst>
                                            <p:cond delay="0"/>
                                          </p:stCondLst>
                                        </p:cTn>
                                        <p:tgtEl>
                                          <p:spTgt spid="454"/>
                                        </p:tgtEl>
                                        <p:attrNameLst>
                                          <p:attrName>style.visibility</p:attrName>
                                        </p:attrNameLst>
                                      </p:cBhvr>
                                      <p:to>
                                        <p:strVal val="visible"/>
                                      </p:to>
                                    </p:set>
                                    <p:animEffect transition="in" filter="fade">
                                      <p:cBhvr>
                                        <p:cTn id="25" dur="1000"/>
                                        <p:tgtEl>
                                          <p:spTgt spid="454"/>
                                        </p:tgtEl>
                                      </p:cBhvr>
                                    </p:animEffect>
                                  </p:childTnLst>
                                </p:cTn>
                              </p:par>
                              <p:par>
                                <p:cTn id="26" presetID="10" presetClass="entr" presetSubtype="0" fill="hold" nodeType="withEffect">
                                  <p:stCondLst>
                                    <p:cond delay="0"/>
                                  </p:stCondLst>
                                  <p:childTnLst>
                                    <p:set>
                                      <p:cBhvr>
                                        <p:cTn id="27" dur="1" fill="hold">
                                          <p:stCondLst>
                                            <p:cond delay="0"/>
                                          </p:stCondLst>
                                        </p:cTn>
                                        <p:tgtEl>
                                          <p:spTgt spid="456"/>
                                        </p:tgtEl>
                                        <p:attrNameLst>
                                          <p:attrName>style.visibility</p:attrName>
                                        </p:attrNameLst>
                                      </p:cBhvr>
                                      <p:to>
                                        <p:strVal val="visible"/>
                                      </p:to>
                                    </p:set>
                                    <p:animEffect transition="in" filter="fade">
                                      <p:cBhvr>
                                        <p:cTn id="28" dur="1000"/>
                                        <p:tgtEl>
                                          <p:spTgt spid="456"/>
                                        </p:tgtEl>
                                      </p:cBhvr>
                                    </p:animEffect>
                                  </p:childTnLst>
                                </p:cTn>
                              </p:par>
                              <p:par>
                                <p:cTn id="29" presetID="10" presetClass="entr" presetSubtype="0" fill="hold" nodeType="withEffect">
                                  <p:stCondLst>
                                    <p:cond delay="0"/>
                                  </p:stCondLst>
                                  <p:childTnLst>
                                    <p:set>
                                      <p:cBhvr>
                                        <p:cTn id="30" dur="1" fill="hold">
                                          <p:stCondLst>
                                            <p:cond delay="0"/>
                                          </p:stCondLst>
                                        </p:cTn>
                                        <p:tgtEl>
                                          <p:spTgt spid="457"/>
                                        </p:tgtEl>
                                        <p:attrNameLst>
                                          <p:attrName>style.visibility</p:attrName>
                                        </p:attrNameLst>
                                      </p:cBhvr>
                                      <p:to>
                                        <p:strVal val="visible"/>
                                      </p:to>
                                    </p:set>
                                    <p:animEffect transition="in" filter="fade">
                                      <p:cBhvr>
                                        <p:cTn id="31" dur="1000"/>
                                        <p:tgtEl>
                                          <p:spTgt spid="457"/>
                                        </p:tgtEl>
                                      </p:cBhvr>
                                    </p:animEffect>
                                  </p:childTnLst>
                                </p:cTn>
                              </p:par>
                              <p:par>
                                <p:cTn id="32" presetID="10" presetClass="entr" presetSubtype="0" fill="hold" nodeType="withEffect">
                                  <p:stCondLst>
                                    <p:cond delay="0"/>
                                  </p:stCondLst>
                                  <p:childTnLst>
                                    <p:set>
                                      <p:cBhvr>
                                        <p:cTn id="33" dur="1" fill="hold">
                                          <p:stCondLst>
                                            <p:cond delay="0"/>
                                          </p:stCondLst>
                                        </p:cTn>
                                        <p:tgtEl>
                                          <p:spTgt spid="455"/>
                                        </p:tgtEl>
                                        <p:attrNameLst>
                                          <p:attrName>style.visibility</p:attrName>
                                        </p:attrNameLst>
                                      </p:cBhvr>
                                      <p:to>
                                        <p:strVal val="visible"/>
                                      </p:to>
                                    </p:set>
                                    <p:animEffect transition="in" filter="fade">
                                      <p:cBhvr>
                                        <p:cTn id="34" dur="1000"/>
                                        <p:tgtEl>
                                          <p:spTgt spid="4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22"/>
          <p:cNvSpPr/>
          <p:nvPr/>
        </p:nvSpPr>
        <p:spPr>
          <a:xfrm>
            <a:off x="3389862" y="2035757"/>
            <a:ext cx="2364300" cy="2364300"/>
          </a:xfrm>
          <a:prstGeom prst="ellipse">
            <a:avLst/>
          </a:prstGeom>
          <a:solidFill>
            <a:srgbClr val="783F04"/>
          </a:solidFill>
          <a:ln>
            <a:noFill/>
          </a:ln>
        </p:spPr>
        <p:txBody>
          <a:bodyPr spcFirstLastPara="1" wrap="square" lIns="45713" tIns="45713" rIns="45713" bIns="45713" anchor="ctr" anchorCtr="0">
            <a:noAutofit/>
          </a:bodyPr>
          <a:lstStyle/>
          <a:p>
            <a:endParaRPr sz="900"/>
          </a:p>
        </p:txBody>
      </p:sp>
      <p:pic>
        <p:nvPicPr>
          <p:cNvPr id="463" name="Google Shape;463;p22"/>
          <p:cNvPicPr preferRelativeResize="0"/>
          <p:nvPr/>
        </p:nvPicPr>
        <p:blipFill>
          <a:blip r:embed="rId3">
            <a:alphaModFix/>
          </a:blip>
          <a:stretch>
            <a:fillRect/>
          </a:stretch>
        </p:blipFill>
        <p:spPr>
          <a:xfrm>
            <a:off x="5100038" y="1243400"/>
            <a:ext cx="1219200" cy="1219200"/>
          </a:xfrm>
          <a:prstGeom prst="rect">
            <a:avLst/>
          </a:prstGeom>
          <a:noFill/>
          <a:ln>
            <a:noFill/>
          </a:ln>
        </p:spPr>
      </p:pic>
      <p:pic>
        <p:nvPicPr>
          <p:cNvPr id="464" name="Google Shape;464;p22"/>
          <p:cNvPicPr preferRelativeResize="0"/>
          <p:nvPr/>
        </p:nvPicPr>
        <p:blipFill>
          <a:blip r:embed="rId4">
            <a:alphaModFix/>
          </a:blip>
          <a:stretch>
            <a:fillRect/>
          </a:stretch>
        </p:blipFill>
        <p:spPr>
          <a:xfrm>
            <a:off x="3962394" y="4395400"/>
            <a:ext cx="1219200" cy="1219200"/>
          </a:xfrm>
          <a:prstGeom prst="rect">
            <a:avLst/>
          </a:prstGeom>
          <a:noFill/>
          <a:ln>
            <a:noFill/>
          </a:ln>
        </p:spPr>
      </p:pic>
      <p:pic>
        <p:nvPicPr>
          <p:cNvPr id="465" name="Google Shape;465;p22"/>
          <p:cNvPicPr preferRelativeResize="0"/>
          <p:nvPr/>
        </p:nvPicPr>
        <p:blipFill>
          <a:blip r:embed="rId5">
            <a:alphaModFix/>
          </a:blip>
          <a:stretch>
            <a:fillRect/>
          </a:stretch>
        </p:blipFill>
        <p:spPr>
          <a:xfrm>
            <a:off x="2292325" y="3217875"/>
            <a:ext cx="1219200" cy="1219200"/>
          </a:xfrm>
          <a:prstGeom prst="rect">
            <a:avLst/>
          </a:prstGeom>
          <a:noFill/>
          <a:ln>
            <a:noFill/>
          </a:ln>
        </p:spPr>
      </p:pic>
      <p:pic>
        <p:nvPicPr>
          <p:cNvPr id="466" name="Google Shape;466;p22"/>
          <p:cNvPicPr preferRelativeResize="0"/>
          <p:nvPr/>
        </p:nvPicPr>
        <p:blipFill>
          <a:blip r:embed="rId6">
            <a:alphaModFix/>
          </a:blip>
          <a:stretch>
            <a:fillRect/>
          </a:stretch>
        </p:blipFill>
        <p:spPr>
          <a:xfrm>
            <a:off x="5632475" y="3217875"/>
            <a:ext cx="1219200" cy="1219200"/>
          </a:xfrm>
          <a:prstGeom prst="rect">
            <a:avLst/>
          </a:prstGeom>
          <a:noFill/>
          <a:ln>
            <a:noFill/>
          </a:ln>
        </p:spPr>
      </p:pic>
      <p:pic>
        <p:nvPicPr>
          <p:cNvPr id="467" name="Google Shape;467;p22"/>
          <p:cNvPicPr preferRelativeResize="0"/>
          <p:nvPr/>
        </p:nvPicPr>
        <p:blipFill>
          <a:blip r:embed="rId7">
            <a:alphaModFix/>
          </a:blip>
          <a:stretch>
            <a:fillRect/>
          </a:stretch>
        </p:blipFill>
        <p:spPr>
          <a:xfrm>
            <a:off x="2824757" y="1243400"/>
            <a:ext cx="1219200" cy="1219200"/>
          </a:xfrm>
          <a:prstGeom prst="rect">
            <a:avLst/>
          </a:prstGeom>
          <a:noFill/>
          <a:ln>
            <a:noFill/>
          </a:ln>
        </p:spPr>
      </p:pic>
      <p:grpSp>
        <p:nvGrpSpPr>
          <p:cNvPr id="468" name="Google Shape;468;p22"/>
          <p:cNvGrpSpPr/>
          <p:nvPr/>
        </p:nvGrpSpPr>
        <p:grpSpPr>
          <a:xfrm>
            <a:off x="4157195" y="2803111"/>
            <a:ext cx="829600" cy="829600"/>
            <a:chOff x="7509900" y="2868375"/>
            <a:chExt cx="903900" cy="903900"/>
          </a:xfrm>
        </p:grpSpPr>
        <p:sp>
          <p:nvSpPr>
            <p:cNvPr id="469" name="Google Shape;469;p22"/>
            <p:cNvSpPr/>
            <p:nvPr/>
          </p:nvSpPr>
          <p:spPr>
            <a:xfrm>
              <a:off x="7509900" y="2868375"/>
              <a:ext cx="903900" cy="903900"/>
            </a:xfrm>
            <a:prstGeom prst="ellipse">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70" name="Google Shape;470;p22"/>
            <p:cNvSpPr/>
            <p:nvPr/>
          </p:nvSpPr>
          <p:spPr>
            <a:xfrm>
              <a:off x="7726325" y="3187287"/>
              <a:ext cx="281375" cy="421875"/>
            </a:xfrm>
            <a:custGeom>
              <a:avLst/>
              <a:gdLst/>
              <a:ahLst/>
              <a:cxnLst/>
              <a:rect l="l" t="t" r="r" b="b"/>
              <a:pathLst>
                <a:path w="11255" h="16875" extrusionOk="0">
                  <a:moveTo>
                    <a:pt x="0" y="1985"/>
                  </a:moveTo>
                  <a:cubicBezTo>
                    <a:pt x="3409" y="525"/>
                    <a:pt x="10171" y="-1599"/>
                    <a:pt x="11126" y="1985"/>
                  </a:cubicBezTo>
                  <a:cubicBezTo>
                    <a:pt x="11977" y="5177"/>
                    <a:pt x="7498" y="7599"/>
                    <a:pt x="5042" y="9808"/>
                  </a:cubicBezTo>
                  <a:cubicBezTo>
                    <a:pt x="3517" y="11179"/>
                    <a:pt x="7922" y="12750"/>
                    <a:pt x="9562" y="13980"/>
                  </a:cubicBezTo>
                  <a:cubicBezTo>
                    <a:pt x="10372" y="14587"/>
                    <a:pt x="11636" y="16225"/>
                    <a:pt x="10778" y="16762"/>
                  </a:cubicBezTo>
                  <a:cubicBezTo>
                    <a:pt x="9613" y="17490"/>
                    <a:pt x="7707" y="13849"/>
                    <a:pt x="8866" y="13111"/>
                  </a:cubicBezTo>
                </a:path>
              </a:pathLst>
            </a:custGeom>
            <a:noFill/>
            <a:ln w="38100" cap="flat" cmpd="sng">
              <a:solidFill>
                <a:srgbClr val="F1C232"/>
              </a:solidFill>
              <a:prstDash val="solid"/>
              <a:round/>
              <a:headEnd type="none" w="med" len="med"/>
              <a:tailEnd type="none" w="med" len="med"/>
            </a:ln>
          </p:spPr>
        </p:sp>
        <p:sp>
          <p:nvSpPr>
            <p:cNvPr id="471" name="Google Shape;471;p22"/>
            <p:cNvSpPr/>
            <p:nvPr/>
          </p:nvSpPr>
          <p:spPr>
            <a:xfrm>
              <a:off x="7829049" y="3032650"/>
              <a:ext cx="272850" cy="456325"/>
            </a:xfrm>
            <a:custGeom>
              <a:avLst/>
              <a:gdLst/>
              <a:ahLst/>
              <a:cxnLst/>
              <a:rect l="l" t="t" r="r" b="b"/>
              <a:pathLst>
                <a:path w="10914" h="18253" extrusionOk="0">
                  <a:moveTo>
                    <a:pt x="4236" y="0"/>
                  </a:moveTo>
                  <a:cubicBezTo>
                    <a:pt x="1862" y="3263"/>
                    <a:pt x="-1710" y="8598"/>
                    <a:pt x="933" y="11647"/>
                  </a:cubicBezTo>
                  <a:cubicBezTo>
                    <a:pt x="3470" y="14574"/>
                    <a:pt x="12913" y="15228"/>
                    <a:pt x="10494" y="18253"/>
                  </a:cubicBezTo>
                </a:path>
              </a:pathLst>
            </a:custGeom>
            <a:noFill/>
            <a:ln w="38100" cap="flat" cmpd="sng">
              <a:solidFill>
                <a:srgbClr val="F1C232"/>
              </a:solidFill>
              <a:prstDash val="solid"/>
              <a:round/>
              <a:headEnd type="none" w="med" len="med"/>
              <a:tailEnd type="none" w="med" len="med"/>
            </a:ln>
          </p:spPr>
        </p:sp>
        <p:sp>
          <p:nvSpPr>
            <p:cNvPr id="472" name="Google Shape;472;p22"/>
            <p:cNvSpPr/>
            <p:nvPr/>
          </p:nvSpPr>
          <p:spPr>
            <a:xfrm>
              <a:off x="7938508" y="3145650"/>
              <a:ext cx="222425" cy="356375"/>
            </a:xfrm>
            <a:custGeom>
              <a:avLst/>
              <a:gdLst/>
              <a:ahLst/>
              <a:cxnLst/>
              <a:rect l="l" t="t" r="r" b="b"/>
              <a:pathLst>
                <a:path w="8897" h="14255" extrusionOk="0">
                  <a:moveTo>
                    <a:pt x="8897" y="0"/>
                  </a:moveTo>
                  <a:cubicBezTo>
                    <a:pt x="5700" y="999"/>
                    <a:pt x="1621" y="2006"/>
                    <a:pt x="205" y="5041"/>
                  </a:cubicBezTo>
                  <a:cubicBezTo>
                    <a:pt x="-1089" y="7814"/>
                    <a:pt x="5221" y="8570"/>
                    <a:pt x="7507" y="10604"/>
                  </a:cubicBezTo>
                  <a:cubicBezTo>
                    <a:pt x="8600" y="11576"/>
                    <a:pt x="6516" y="14014"/>
                    <a:pt x="5073" y="14255"/>
                  </a:cubicBezTo>
                </a:path>
              </a:pathLst>
            </a:custGeom>
            <a:noFill/>
            <a:ln w="38100" cap="flat" cmpd="sng">
              <a:solidFill>
                <a:srgbClr val="F1C232"/>
              </a:solidFill>
              <a:prstDash val="solid"/>
              <a:round/>
              <a:headEnd type="none" w="med" len="med"/>
              <a:tailEnd type="none" w="med" len="med"/>
            </a:ln>
          </p:spPr>
        </p:sp>
        <p:sp>
          <p:nvSpPr>
            <p:cNvPr id="473" name="Google Shape;473;p22"/>
            <p:cNvSpPr/>
            <p:nvPr/>
          </p:nvSpPr>
          <p:spPr>
            <a:xfrm>
              <a:off x="7743725" y="3093500"/>
              <a:ext cx="518875" cy="321600"/>
            </a:xfrm>
            <a:custGeom>
              <a:avLst/>
              <a:gdLst/>
              <a:ahLst/>
              <a:cxnLst/>
              <a:rect l="l" t="t" r="r" b="b"/>
              <a:pathLst>
                <a:path w="20755" h="12864" extrusionOk="0">
                  <a:moveTo>
                    <a:pt x="0" y="0"/>
                  </a:moveTo>
                  <a:cubicBezTo>
                    <a:pt x="5394" y="897"/>
                    <a:pt x="12760" y="-760"/>
                    <a:pt x="15993" y="3650"/>
                  </a:cubicBezTo>
                  <a:cubicBezTo>
                    <a:pt x="17475" y="5672"/>
                    <a:pt x="22372" y="8719"/>
                    <a:pt x="20165" y="9908"/>
                  </a:cubicBezTo>
                  <a:cubicBezTo>
                    <a:pt x="14587" y="12912"/>
                    <a:pt x="1390" y="6529"/>
                    <a:pt x="1390" y="12864"/>
                  </a:cubicBezTo>
                </a:path>
              </a:pathLst>
            </a:custGeom>
            <a:noFill/>
            <a:ln w="38100" cap="flat" cmpd="sng">
              <a:solidFill>
                <a:srgbClr val="F1C232"/>
              </a:solidFill>
              <a:prstDash val="solid"/>
              <a:round/>
              <a:headEnd type="none" w="med" len="med"/>
              <a:tailEnd type="none" w="med" len="med"/>
            </a:ln>
          </p:spPr>
        </p:sp>
        <p:sp>
          <p:nvSpPr>
            <p:cNvPr id="474" name="Google Shape;474;p22"/>
            <p:cNvSpPr/>
            <p:nvPr/>
          </p:nvSpPr>
          <p:spPr>
            <a:xfrm>
              <a:off x="7662050" y="3010925"/>
              <a:ext cx="411975" cy="478050"/>
            </a:xfrm>
            <a:custGeom>
              <a:avLst/>
              <a:gdLst/>
              <a:ahLst/>
              <a:cxnLst/>
              <a:rect l="l" t="t" r="r" b="b"/>
              <a:pathLst>
                <a:path w="16479" h="19122" extrusionOk="0">
                  <a:moveTo>
                    <a:pt x="16479" y="0"/>
                  </a:moveTo>
                  <a:cubicBezTo>
                    <a:pt x="9984" y="1946"/>
                    <a:pt x="3470" y="6343"/>
                    <a:pt x="311" y="12342"/>
                  </a:cubicBezTo>
                  <a:cubicBezTo>
                    <a:pt x="-872" y="14589"/>
                    <a:pt x="1757" y="17597"/>
                    <a:pt x="3788" y="19122"/>
                  </a:cubicBezTo>
                </a:path>
              </a:pathLst>
            </a:custGeom>
            <a:noFill/>
            <a:ln w="38100" cap="flat" cmpd="sng">
              <a:solidFill>
                <a:srgbClr val="F1C232"/>
              </a:solidFill>
              <a:prstDash val="solid"/>
              <a:round/>
              <a:headEnd type="none" w="med" len="med"/>
              <a:tailEnd type="none" w="med" len="med"/>
            </a:ln>
          </p:spPr>
        </p:sp>
        <p:sp>
          <p:nvSpPr>
            <p:cNvPr id="475" name="Google Shape;475;p22"/>
            <p:cNvSpPr/>
            <p:nvPr/>
          </p:nvSpPr>
          <p:spPr>
            <a:xfrm>
              <a:off x="7817600" y="3015250"/>
              <a:ext cx="398400" cy="587225"/>
            </a:xfrm>
            <a:custGeom>
              <a:avLst/>
              <a:gdLst/>
              <a:ahLst/>
              <a:cxnLst/>
              <a:rect l="l" t="t" r="r" b="b"/>
              <a:pathLst>
                <a:path w="15936" h="23489" extrusionOk="0">
                  <a:moveTo>
                    <a:pt x="0" y="0"/>
                  </a:moveTo>
                  <a:cubicBezTo>
                    <a:pt x="0" y="8167"/>
                    <a:pt x="2230" y="20746"/>
                    <a:pt x="10257" y="22252"/>
                  </a:cubicBezTo>
                  <a:cubicBezTo>
                    <a:pt x="12203" y="22617"/>
                    <a:pt x="15960" y="18191"/>
                    <a:pt x="15819" y="20166"/>
                  </a:cubicBezTo>
                  <a:cubicBezTo>
                    <a:pt x="15703" y="21786"/>
                    <a:pt x="15565" y="21792"/>
                    <a:pt x="14950" y="23295"/>
                  </a:cubicBezTo>
                  <a:cubicBezTo>
                    <a:pt x="14596" y="24160"/>
                    <a:pt x="13200" y="21724"/>
                    <a:pt x="13559" y="20861"/>
                  </a:cubicBezTo>
                  <a:cubicBezTo>
                    <a:pt x="14532" y="18524"/>
                    <a:pt x="16694" y="15864"/>
                    <a:pt x="15646" y="13560"/>
                  </a:cubicBezTo>
                  <a:cubicBezTo>
                    <a:pt x="15040" y="12229"/>
                    <a:pt x="13029" y="12161"/>
                    <a:pt x="11995" y="11126"/>
                  </a:cubicBezTo>
                </a:path>
              </a:pathLst>
            </a:custGeom>
            <a:noFill/>
            <a:ln w="38100" cap="flat" cmpd="sng">
              <a:solidFill>
                <a:srgbClr val="F1C232"/>
              </a:solidFill>
              <a:prstDash val="solid"/>
              <a:round/>
              <a:headEnd type="none" w="med" len="med"/>
              <a:tailEnd type="none" w="med" len="med"/>
            </a:ln>
          </p:spPr>
        </p:sp>
        <p:sp>
          <p:nvSpPr>
            <p:cNvPr id="476" name="Google Shape;476;p22"/>
            <p:cNvSpPr/>
            <p:nvPr/>
          </p:nvSpPr>
          <p:spPr>
            <a:xfrm>
              <a:off x="7643750" y="3180400"/>
              <a:ext cx="425925" cy="446300"/>
            </a:xfrm>
            <a:custGeom>
              <a:avLst/>
              <a:gdLst/>
              <a:ahLst/>
              <a:cxnLst/>
              <a:rect l="l" t="t" r="r" b="b"/>
              <a:pathLst>
                <a:path w="17037" h="17852" extrusionOk="0">
                  <a:moveTo>
                    <a:pt x="0" y="0"/>
                  </a:moveTo>
                  <a:cubicBezTo>
                    <a:pt x="4491" y="817"/>
                    <a:pt x="6830" y="6955"/>
                    <a:pt x="7475" y="11474"/>
                  </a:cubicBezTo>
                  <a:cubicBezTo>
                    <a:pt x="7713" y="13138"/>
                    <a:pt x="6322" y="15483"/>
                    <a:pt x="7649" y="16515"/>
                  </a:cubicBezTo>
                  <a:cubicBezTo>
                    <a:pt x="10121" y="18437"/>
                    <a:pt x="14632" y="18173"/>
                    <a:pt x="17037" y="16167"/>
                  </a:cubicBezTo>
                </a:path>
              </a:pathLst>
            </a:custGeom>
            <a:noFill/>
            <a:ln w="38100" cap="flat" cmpd="sng">
              <a:solidFill>
                <a:srgbClr val="F1C232"/>
              </a:solidFill>
              <a:prstDash val="solid"/>
              <a:round/>
              <a:headEnd type="none" w="med" len="med"/>
              <a:tailEnd type="none" w="med" len="med"/>
            </a:ln>
          </p:spPr>
        </p:sp>
        <p:sp>
          <p:nvSpPr>
            <p:cNvPr id="477" name="Google Shape;477;p22"/>
            <p:cNvSpPr/>
            <p:nvPr/>
          </p:nvSpPr>
          <p:spPr>
            <a:xfrm>
              <a:off x="7836249" y="3076100"/>
              <a:ext cx="320325" cy="456325"/>
            </a:xfrm>
            <a:custGeom>
              <a:avLst/>
              <a:gdLst/>
              <a:ahLst/>
              <a:cxnLst/>
              <a:rect l="l" t="t" r="r" b="b"/>
              <a:pathLst>
                <a:path w="12813" h="18253" extrusionOk="0">
                  <a:moveTo>
                    <a:pt x="12813" y="0"/>
                  </a:moveTo>
                  <a:cubicBezTo>
                    <a:pt x="7242" y="2181"/>
                    <a:pt x="-861" y="6790"/>
                    <a:pt x="123" y="12691"/>
                  </a:cubicBezTo>
                  <a:cubicBezTo>
                    <a:pt x="746" y="16427"/>
                    <a:pt x="8084" y="15004"/>
                    <a:pt x="10032" y="18253"/>
                  </a:cubicBezTo>
                </a:path>
              </a:pathLst>
            </a:custGeom>
            <a:noFill/>
            <a:ln w="38100" cap="flat" cmpd="sng">
              <a:solidFill>
                <a:srgbClr val="F1C232"/>
              </a:solidFill>
              <a:prstDash val="solid"/>
              <a:round/>
              <a:headEnd type="none" w="med" len="med"/>
              <a:tailEnd type="none" w="med" len="med"/>
            </a:ln>
          </p:spPr>
        </p:sp>
        <p:sp>
          <p:nvSpPr>
            <p:cNvPr id="478" name="Google Shape;478;p22"/>
            <p:cNvSpPr/>
            <p:nvPr/>
          </p:nvSpPr>
          <p:spPr>
            <a:xfrm>
              <a:off x="7700250" y="3132600"/>
              <a:ext cx="429925" cy="169500"/>
            </a:xfrm>
            <a:custGeom>
              <a:avLst/>
              <a:gdLst/>
              <a:ahLst/>
              <a:cxnLst/>
              <a:rect l="l" t="t" r="r" b="b"/>
              <a:pathLst>
                <a:path w="17197" h="6780" extrusionOk="0">
                  <a:moveTo>
                    <a:pt x="0" y="0"/>
                  </a:moveTo>
                  <a:cubicBezTo>
                    <a:pt x="3914" y="4695"/>
                    <a:pt x="10925" y="6780"/>
                    <a:pt x="17037" y="6780"/>
                  </a:cubicBezTo>
                  <a:cubicBezTo>
                    <a:pt x="17504" y="6780"/>
                    <a:pt x="16799" y="5655"/>
                    <a:pt x="16341" y="5563"/>
                  </a:cubicBezTo>
                </a:path>
              </a:pathLst>
            </a:custGeom>
            <a:noFill/>
            <a:ln w="38100" cap="flat" cmpd="sng">
              <a:solidFill>
                <a:srgbClr val="F1C232"/>
              </a:solidFill>
              <a:prstDash val="solid"/>
              <a:round/>
              <a:headEnd type="none" w="med" len="med"/>
              <a:tailEnd type="none" w="med" len="med"/>
            </a:ln>
          </p:spPr>
        </p:sp>
        <p:sp>
          <p:nvSpPr>
            <p:cNvPr id="479" name="Google Shape;479;p22"/>
            <p:cNvSpPr/>
            <p:nvPr/>
          </p:nvSpPr>
          <p:spPr>
            <a:xfrm>
              <a:off x="7710998" y="3098181"/>
              <a:ext cx="558575" cy="472725"/>
            </a:xfrm>
            <a:custGeom>
              <a:avLst/>
              <a:gdLst/>
              <a:ahLst/>
              <a:cxnLst/>
              <a:rect l="l" t="t" r="r" b="b"/>
              <a:pathLst>
                <a:path w="22343" h="18909" extrusionOk="0">
                  <a:moveTo>
                    <a:pt x="22343" y="4332"/>
                  </a:moveTo>
                  <a:cubicBezTo>
                    <a:pt x="16437" y="38"/>
                    <a:pt x="3704" y="-2547"/>
                    <a:pt x="439" y="3985"/>
                  </a:cubicBezTo>
                  <a:cubicBezTo>
                    <a:pt x="-1508" y="7881"/>
                    <a:pt x="3832" y="12696"/>
                    <a:pt x="7567" y="14937"/>
                  </a:cubicBezTo>
                  <a:cubicBezTo>
                    <a:pt x="9340" y="16001"/>
                    <a:pt x="12081" y="14808"/>
                    <a:pt x="13651" y="16154"/>
                  </a:cubicBezTo>
                  <a:cubicBezTo>
                    <a:pt x="15785" y="17983"/>
                    <a:pt x="7730" y="19926"/>
                    <a:pt x="5481" y="18240"/>
                  </a:cubicBezTo>
                </a:path>
              </a:pathLst>
            </a:custGeom>
            <a:noFill/>
            <a:ln w="38100" cap="flat" cmpd="sng">
              <a:solidFill>
                <a:srgbClr val="F1C232"/>
              </a:solidFill>
              <a:prstDash val="solid"/>
              <a:round/>
              <a:headEnd type="none" w="med" len="med"/>
              <a:tailEnd type="none" w="med" len="med"/>
            </a:ln>
          </p:spPr>
        </p:sp>
        <p:sp>
          <p:nvSpPr>
            <p:cNvPr id="480" name="Google Shape;480;p22"/>
            <p:cNvSpPr/>
            <p:nvPr/>
          </p:nvSpPr>
          <p:spPr>
            <a:xfrm>
              <a:off x="7685501" y="3079570"/>
              <a:ext cx="584075" cy="361600"/>
            </a:xfrm>
            <a:custGeom>
              <a:avLst/>
              <a:gdLst/>
              <a:ahLst/>
              <a:cxnLst/>
              <a:rect l="l" t="t" r="r" b="b"/>
              <a:pathLst>
                <a:path w="23363" h="14464" extrusionOk="0">
                  <a:moveTo>
                    <a:pt x="23363" y="14464"/>
                  </a:moveTo>
                  <a:cubicBezTo>
                    <a:pt x="21432" y="9632"/>
                    <a:pt x="15255" y="7928"/>
                    <a:pt x="11021" y="4903"/>
                  </a:cubicBezTo>
                  <a:cubicBezTo>
                    <a:pt x="8043" y="2775"/>
                    <a:pt x="3984" y="-1473"/>
                    <a:pt x="938" y="557"/>
                  </a:cubicBezTo>
                  <a:cubicBezTo>
                    <a:pt x="-2526" y="2866"/>
                    <a:pt x="4896" y="8744"/>
                    <a:pt x="8761" y="10292"/>
                  </a:cubicBezTo>
                </a:path>
              </a:pathLst>
            </a:custGeom>
            <a:noFill/>
            <a:ln w="38100" cap="flat" cmpd="sng">
              <a:solidFill>
                <a:srgbClr val="F1C232"/>
              </a:solidFill>
              <a:prstDash val="solid"/>
              <a:round/>
              <a:headEnd type="none" w="med" len="med"/>
              <a:tailEnd type="none" w="med" len="med"/>
            </a:ln>
          </p:spPr>
        </p:sp>
        <p:sp>
          <p:nvSpPr>
            <p:cNvPr id="481" name="Google Shape;481;p22"/>
            <p:cNvSpPr/>
            <p:nvPr/>
          </p:nvSpPr>
          <p:spPr>
            <a:xfrm>
              <a:off x="7744259" y="3028300"/>
              <a:ext cx="368875" cy="491100"/>
            </a:xfrm>
            <a:custGeom>
              <a:avLst/>
              <a:gdLst/>
              <a:ahLst/>
              <a:cxnLst/>
              <a:rect l="l" t="t" r="r" b="b"/>
              <a:pathLst>
                <a:path w="14755" h="19644" extrusionOk="0">
                  <a:moveTo>
                    <a:pt x="14755" y="0"/>
                  </a:moveTo>
                  <a:cubicBezTo>
                    <a:pt x="14495" y="609"/>
                    <a:pt x="14636" y="691"/>
                    <a:pt x="14234" y="1217"/>
                  </a:cubicBezTo>
                  <a:cubicBezTo>
                    <a:pt x="10836" y="5660"/>
                    <a:pt x="3616" y="6081"/>
                    <a:pt x="326" y="10604"/>
                  </a:cubicBezTo>
                  <a:cubicBezTo>
                    <a:pt x="-1501" y="13116"/>
                    <a:pt x="5071" y="17780"/>
                    <a:pt x="2586" y="19644"/>
                  </a:cubicBezTo>
                </a:path>
              </a:pathLst>
            </a:custGeom>
            <a:noFill/>
            <a:ln w="38100" cap="flat" cmpd="sng">
              <a:solidFill>
                <a:srgbClr val="F1C232"/>
              </a:solidFill>
              <a:prstDash val="solid"/>
              <a:round/>
              <a:headEnd type="none" w="med" len="med"/>
              <a:tailEnd type="none" w="med" len="med"/>
            </a:ln>
          </p:spPr>
        </p:sp>
        <p:sp>
          <p:nvSpPr>
            <p:cNvPr id="482" name="Google Shape;482;p22"/>
            <p:cNvSpPr/>
            <p:nvPr/>
          </p:nvSpPr>
          <p:spPr>
            <a:xfrm>
              <a:off x="7765450" y="3145650"/>
              <a:ext cx="482400" cy="338975"/>
            </a:xfrm>
            <a:custGeom>
              <a:avLst/>
              <a:gdLst/>
              <a:ahLst/>
              <a:cxnLst/>
              <a:rect l="l" t="t" r="r" b="b"/>
              <a:pathLst>
                <a:path w="19296" h="13559" extrusionOk="0">
                  <a:moveTo>
                    <a:pt x="19296" y="13559"/>
                  </a:moveTo>
                  <a:cubicBezTo>
                    <a:pt x="13760" y="11712"/>
                    <a:pt x="8516" y="8736"/>
                    <a:pt x="3998" y="5041"/>
                  </a:cubicBezTo>
                  <a:cubicBezTo>
                    <a:pt x="2338" y="3683"/>
                    <a:pt x="2116" y="351"/>
                    <a:pt x="0" y="0"/>
                  </a:cubicBezTo>
                </a:path>
              </a:pathLst>
            </a:custGeom>
            <a:noFill/>
            <a:ln w="38100" cap="flat" cmpd="sng">
              <a:solidFill>
                <a:srgbClr val="F1C232"/>
              </a:solidFill>
              <a:prstDash val="solid"/>
              <a:round/>
              <a:headEnd type="none" w="med" len="med"/>
              <a:tailEnd type="none" w="med" len="med"/>
            </a:ln>
          </p:spPr>
        </p:sp>
        <p:sp>
          <p:nvSpPr>
            <p:cNvPr id="483" name="Google Shape;483;p22"/>
            <p:cNvSpPr/>
            <p:nvPr/>
          </p:nvSpPr>
          <p:spPr>
            <a:xfrm>
              <a:off x="7665500" y="3269759"/>
              <a:ext cx="499775" cy="249650"/>
            </a:xfrm>
            <a:custGeom>
              <a:avLst/>
              <a:gdLst/>
              <a:ahLst/>
              <a:cxnLst/>
              <a:rect l="l" t="t" r="r" b="b"/>
              <a:pathLst>
                <a:path w="19991" h="9986" extrusionOk="0">
                  <a:moveTo>
                    <a:pt x="0" y="9986"/>
                  </a:moveTo>
                  <a:cubicBezTo>
                    <a:pt x="3478" y="7899"/>
                    <a:pt x="5064" y="3283"/>
                    <a:pt x="8692" y="1468"/>
                  </a:cubicBezTo>
                  <a:cubicBezTo>
                    <a:pt x="12086" y="-230"/>
                    <a:pt x="16196" y="77"/>
                    <a:pt x="19991" y="77"/>
                  </a:cubicBezTo>
                </a:path>
              </a:pathLst>
            </a:custGeom>
            <a:noFill/>
            <a:ln w="38100" cap="flat" cmpd="sng">
              <a:solidFill>
                <a:srgbClr val="F1C232"/>
              </a:solidFill>
              <a:prstDash val="solid"/>
              <a:round/>
              <a:headEnd type="none" w="med" len="med"/>
              <a:tailEnd type="none" w="med" len="med"/>
            </a:ln>
          </p:spPr>
        </p:sp>
        <p:sp>
          <p:nvSpPr>
            <p:cNvPr id="484" name="Google Shape;484;p22"/>
            <p:cNvSpPr/>
            <p:nvPr/>
          </p:nvSpPr>
          <p:spPr>
            <a:xfrm>
              <a:off x="7656800" y="3198318"/>
              <a:ext cx="660600" cy="161800"/>
            </a:xfrm>
            <a:custGeom>
              <a:avLst/>
              <a:gdLst/>
              <a:ahLst/>
              <a:cxnLst/>
              <a:rect l="l" t="t" r="r" b="b"/>
              <a:pathLst>
                <a:path w="26424" h="6472" extrusionOk="0">
                  <a:moveTo>
                    <a:pt x="26424" y="6411"/>
                  </a:moveTo>
                  <a:cubicBezTo>
                    <a:pt x="18961" y="6652"/>
                    <a:pt x="11684" y="3823"/>
                    <a:pt x="4520" y="1717"/>
                  </a:cubicBezTo>
                  <a:cubicBezTo>
                    <a:pt x="4232" y="1632"/>
                    <a:pt x="0" y="-572"/>
                    <a:pt x="0" y="153"/>
                  </a:cubicBezTo>
                  <a:cubicBezTo>
                    <a:pt x="0" y="1294"/>
                    <a:pt x="584" y="2475"/>
                    <a:pt x="1391" y="3282"/>
                  </a:cubicBezTo>
                </a:path>
              </a:pathLst>
            </a:custGeom>
            <a:noFill/>
            <a:ln w="38100" cap="flat" cmpd="sng">
              <a:solidFill>
                <a:srgbClr val="F1C232"/>
              </a:solidFill>
              <a:prstDash val="solid"/>
              <a:round/>
              <a:headEnd type="none" w="med" len="med"/>
              <a:tailEnd type="none" w="med" len="med"/>
            </a:ln>
          </p:spPr>
        </p:sp>
        <p:sp>
          <p:nvSpPr>
            <p:cNvPr id="485" name="Google Shape;485;p22"/>
            <p:cNvSpPr/>
            <p:nvPr/>
          </p:nvSpPr>
          <p:spPr>
            <a:xfrm>
              <a:off x="7757829" y="3119575"/>
              <a:ext cx="450925" cy="395475"/>
            </a:xfrm>
            <a:custGeom>
              <a:avLst/>
              <a:gdLst/>
              <a:ahLst/>
              <a:cxnLst/>
              <a:rect l="l" t="t" r="r" b="b"/>
              <a:pathLst>
                <a:path w="18037" h="15819" extrusionOk="0">
                  <a:moveTo>
                    <a:pt x="18037" y="0"/>
                  </a:moveTo>
                  <a:cubicBezTo>
                    <a:pt x="15708" y="1293"/>
                    <a:pt x="13491" y="3180"/>
                    <a:pt x="12300" y="5562"/>
                  </a:cubicBezTo>
                  <a:cubicBezTo>
                    <a:pt x="11338" y="7485"/>
                    <a:pt x="12524" y="10628"/>
                    <a:pt x="10735" y="11821"/>
                  </a:cubicBezTo>
                  <a:cubicBezTo>
                    <a:pt x="7637" y="13887"/>
                    <a:pt x="-1612" y="12627"/>
                    <a:pt x="305" y="15819"/>
                  </a:cubicBezTo>
                </a:path>
              </a:pathLst>
            </a:custGeom>
            <a:noFill/>
            <a:ln w="38100" cap="flat" cmpd="sng">
              <a:solidFill>
                <a:srgbClr val="F1C232"/>
              </a:solidFill>
              <a:prstDash val="solid"/>
              <a:round/>
              <a:headEnd type="none" w="med" len="med"/>
              <a:tailEnd type="none" w="med" len="med"/>
            </a:ln>
          </p:spPr>
        </p:sp>
        <p:sp>
          <p:nvSpPr>
            <p:cNvPr id="486" name="Google Shape;486;p22"/>
            <p:cNvSpPr/>
            <p:nvPr/>
          </p:nvSpPr>
          <p:spPr>
            <a:xfrm>
              <a:off x="7895825" y="3010925"/>
              <a:ext cx="373750" cy="469350"/>
            </a:xfrm>
            <a:custGeom>
              <a:avLst/>
              <a:gdLst/>
              <a:ahLst/>
              <a:cxnLst/>
              <a:rect l="l" t="t" r="r" b="b"/>
              <a:pathLst>
                <a:path w="14950" h="18774" extrusionOk="0">
                  <a:moveTo>
                    <a:pt x="0" y="0"/>
                  </a:moveTo>
                  <a:cubicBezTo>
                    <a:pt x="1571" y="7844"/>
                    <a:pt x="11377" y="11617"/>
                    <a:pt x="14950" y="18774"/>
                  </a:cubicBezTo>
                </a:path>
              </a:pathLst>
            </a:custGeom>
            <a:noFill/>
            <a:ln w="38100" cap="flat" cmpd="sng">
              <a:solidFill>
                <a:srgbClr val="F1C232"/>
              </a:solidFill>
              <a:prstDash val="solid"/>
              <a:round/>
              <a:headEnd type="none" w="med" len="med"/>
              <a:tailEnd type="none" w="med" len="med"/>
            </a:ln>
          </p:spPr>
        </p:sp>
        <p:sp>
          <p:nvSpPr>
            <p:cNvPr id="487" name="Google Shape;487;p22"/>
            <p:cNvSpPr/>
            <p:nvPr/>
          </p:nvSpPr>
          <p:spPr>
            <a:xfrm>
              <a:off x="7752400" y="3132600"/>
              <a:ext cx="346150" cy="434600"/>
            </a:xfrm>
            <a:custGeom>
              <a:avLst/>
              <a:gdLst/>
              <a:ahLst/>
              <a:cxnLst/>
              <a:rect l="l" t="t" r="r" b="b"/>
              <a:pathLst>
                <a:path w="13846" h="17384" extrusionOk="0">
                  <a:moveTo>
                    <a:pt x="0" y="17384"/>
                  </a:moveTo>
                  <a:cubicBezTo>
                    <a:pt x="1561" y="14266"/>
                    <a:pt x="813" y="9404"/>
                    <a:pt x="3825" y="7649"/>
                  </a:cubicBezTo>
                  <a:cubicBezTo>
                    <a:pt x="6452" y="6118"/>
                    <a:pt x="10432" y="8256"/>
                    <a:pt x="12865" y="6432"/>
                  </a:cubicBezTo>
                  <a:cubicBezTo>
                    <a:pt x="14596" y="5134"/>
                    <a:pt x="13756" y="1257"/>
                    <a:pt x="11995" y="0"/>
                  </a:cubicBezTo>
                </a:path>
              </a:pathLst>
            </a:custGeom>
            <a:noFill/>
            <a:ln w="38100" cap="flat" cmpd="sng">
              <a:solidFill>
                <a:srgbClr val="F1C232"/>
              </a:solidFill>
              <a:prstDash val="solid"/>
              <a:round/>
              <a:headEnd type="none" w="med" len="med"/>
              <a:tailEnd type="none" w="med" len="med"/>
            </a:ln>
          </p:spPr>
        </p:sp>
      </p:grpSp>
      <p:sp>
        <p:nvSpPr>
          <p:cNvPr id="488" name="Google Shape;488;p22"/>
          <p:cNvSpPr/>
          <p:nvPr/>
        </p:nvSpPr>
        <p:spPr>
          <a:xfrm rot="-6485262" flipH="1">
            <a:off x="5341176"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489" name="Google Shape;489;p22"/>
          <p:cNvSpPr/>
          <p:nvPr/>
        </p:nvSpPr>
        <p:spPr>
          <a:xfrm rot="6485262">
            <a:off x="3763714"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490" name="Google Shape;490;p22"/>
          <p:cNvSpPr/>
          <p:nvPr/>
        </p:nvSpPr>
        <p:spPr>
          <a:xfrm rot="10800000">
            <a:off x="4552435" y="2168746"/>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491" name="Google Shape;491;p22"/>
          <p:cNvSpPr/>
          <p:nvPr/>
        </p:nvSpPr>
        <p:spPr>
          <a:xfrm rot="2167448">
            <a:off x="4087053"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492" name="Google Shape;492;p22"/>
          <p:cNvSpPr/>
          <p:nvPr/>
        </p:nvSpPr>
        <p:spPr>
          <a:xfrm rot="-2167448" flipH="1">
            <a:off x="5017778"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493" name="Google Shape;493;p22"/>
          <p:cNvSpPr/>
          <p:nvPr/>
        </p:nvSpPr>
        <p:spPr>
          <a:xfrm>
            <a:off x="4416763" y="3146300"/>
            <a:ext cx="420063" cy="289163"/>
          </a:xfrm>
          <a:custGeom>
            <a:avLst/>
            <a:gdLst/>
            <a:ahLst/>
            <a:cxnLst/>
            <a:rect l="l" t="t" r="r" b="b"/>
            <a:pathLst>
              <a:path w="33605" h="23133" extrusionOk="0">
                <a:moveTo>
                  <a:pt x="0" y="23133"/>
                </a:moveTo>
                <a:cubicBezTo>
                  <a:pt x="2435" y="19075"/>
                  <a:pt x="4127" y="14465"/>
                  <a:pt x="7305" y="10958"/>
                </a:cubicBezTo>
                <a:cubicBezTo>
                  <a:pt x="13683" y="3921"/>
                  <a:pt x="24540" y="2832"/>
                  <a:pt x="33605" y="0"/>
                </a:cubicBezTo>
              </a:path>
            </a:pathLst>
          </a:custGeom>
          <a:noFill/>
          <a:ln w="38100" cap="flat" cmpd="sng">
            <a:solidFill>
              <a:srgbClr val="F1C232"/>
            </a:solidFill>
            <a:prstDash val="solid"/>
            <a:round/>
            <a:headEnd type="none" w="med" len="med"/>
            <a:tailEnd type="none" w="med" len="med"/>
          </a:ln>
        </p:spPr>
      </p:sp>
      <p:sp>
        <p:nvSpPr>
          <p:cNvPr id="494" name="Google Shape;494;p22"/>
          <p:cNvSpPr/>
          <p:nvPr/>
        </p:nvSpPr>
        <p:spPr>
          <a:xfrm>
            <a:off x="4413713" y="2966700"/>
            <a:ext cx="273963" cy="413975"/>
          </a:xfrm>
          <a:custGeom>
            <a:avLst/>
            <a:gdLst/>
            <a:ahLst/>
            <a:cxnLst/>
            <a:rect l="l" t="t" r="r" b="b"/>
            <a:pathLst>
              <a:path w="21917" h="33118" extrusionOk="0">
                <a:moveTo>
                  <a:pt x="0" y="0"/>
                </a:moveTo>
                <a:cubicBezTo>
                  <a:pt x="2209" y="4416"/>
                  <a:pt x="6510" y="8222"/>
                  <a:pt x="6819" y="13150"/>
                </a:cubicBezTo>
                <a:cubicBezTo>
                  <a:pt x="7095" y="17561"/>
                  <a:pt x="2967" y="22436"/>
                  <a:pt x="5114" y="26300"/>
                </a:cubicBezTo>
                <a:cubicBezTo>
                  <a:pt x="8050" y="31584"/>
                  <a:pt x="16181" y="31211"/>
                  <a:pt x="21917" y="33118"/>
                </a:cubicBezTo>
              </a:path>
            </a:pathLst>
          </a:custGeom>
          <a:noFill/>
          <a:ln w="38100" cap="flat" cmpd="sng">
            <a:solidFill>
              <a:srgbClr val="F1C232"/>
            </a:solidFill>
            <a:prstDash val="solid"/>
            <a:round/>
            <a:headEnd type="none" w="med" len="med"/>
            <a:tailEnd type="none" w="med" len="med"/>
          </a:ln>
        </p:spPr>
      </p:sp>
      <p:sp>
        <p:nvSpPr>
          <p:cNvPr id="495" name="Google Shape;495;p22"/>
          <p:cNvSpPr/>
          <p:nvPr/>
        </p:nvSpPr>
        <p:spPr>
          <a:xfrm>
            <a:off x="4363841" y="3099836"/>
            <a:ext cx="427325" cy="335625"/>
          </a:xfrm>
          <a:custGeom>
            <a:avLst/>
            <a:gdLst/>
            <a:ahLst/>
            <a:cxnLst/>
            <a:rect l="l" t="t" r="r" b="b"/>
            <a:pathLst>
              <a:path w="34186" h="26850" extrusionOk="0">
                <a:moveTo>
                  <a:pt x="34186" y="7369"/>
                </a:moveTo>
                <a:cubicBezTo>
                  <a:pt x="26609" y="7875"/>
                  <a:pt x="18987" y="9107"/>
                  <a:pt x="11783" y="11509"/>
                </a:cubicBezTo>
                <a:cubicBezTo>
                  <a:pt x="8958" y="12451"/>
                  <a:pt x="6190" y="14721"/>
                  <a:pt x="3260" y="14188"/>
                </a:cubicBezTo>
                <a:cubicBezTo>
                  <a:pt x="100" y="13613"/>
                  <a:pt x="-612" y="7915"/>
                  <a:pt x="581" y="4934"/>
                </a:cubicBezTo>
                <a:cubicBezTo>
                  <a:pt x="2999" y="-1107"/>
                  <a:pt x="16358" y="-1632"/>
                  <a:pt x="20062" y="3717"/>
                </a:cubicBezTo>
                <a:cubicBezTo>
                  <a:pt x="23302" y="8396"/>
                  <a:pt x="18572" y="15095"/>
                  <a:pt x="19088" y="20763"/>
                </a:cubicBezTo>
                <a:cubicBezTo>
                  <a:pt x="19370" y="23858"/>
                  <a:pt x="23042" y="26850"/>
                  <a:pt x="26150" y="26850"/>
                </a:cubicBezTo>
              </a:path>
            </a:pathLst>
          </a:custGeom>
          <a:noFill/>
          <a:ln w="38100" cap="flat" cmpd="sng">
            <a:solidFill>
              <a:srgbClr val="F1C232"/>
            </a:solidFill>
            <a:prstDash val="solid"/>
            <a:round/>
            <a:headEnd type="none" w="med" len="med"/>
            <a:tailEnd type="none" w="med" len="med"/>
          </a:ln>
        </p:spPr>
      </p:sp>
      <p:sp>
        <p:nvSpPr>
          <p:cNvPr id="496" name="Google Shape;496;p22"/>
          <p:cNvSpPr/>
          <p:nvPr/>
        </p:nvSpPr>
        <p:spPr>
          <a:xfrm>
            <a:off x="4365013" y="2942350"/>
            <a:ext cx="453675" cy="414725"/>
          </a:xfrm>
          <a:custGeom>
            <a:avLst/>
            <a:gdLst/>
            <a:ahLst/>
            <a:cxnLst/>
            <a:rect l="l" t="t" r="r" b="b"/>
            <a:pathLst>
              <a:path w="36294" h="33178" extrusionOk="0">
                <a:moveTo>
                  <a:pt x="16072" y="0"/>
                </a:moveTo>
                <a:cubicBezTo>
                  <a:pt x="18478" y="5415"/>
                  <a:pt x="25652" y="7856"/>
                  <a:pt x="27761" y="13393"/>
                </a:cubicBezTo>
                <a:cubicBezTo>
                  <a:pt x="29698" y="18478"/>
                  <a:pt x="25844" y="24459"/>
                  <a:pt x="27274" y="29709"/>
                </a:cubicBezTo>
                <a:cubicBezTo>
                  <a:pt x="27905" y="32023"/>
                  <a:pt x="32028" y="34192"/>
                  <a:pt x="33849" y="32631"/>
                </a:cubicBezTo>
                <a:cubicBezTo>
                  <a:pt x="36931" y="29989"/>
                  <a:pt x="37353" y="22015"/>
                  <a:pt x="33605" y="20455"/>
                </a:cubicBezTo>
                <a:cubicBezTo>
                  <a:pt x="25042" y="16890"/>
                  <a:pt x="14673" y="21082"/>
                  <a:pt x="6088" y="24595"/>
                </a:cubicBezTo>
                <a:cubicBezTo>
                  <a:pt x="3268" y="25749"/>
                  <a:pt x="2891" y="30452"/>
                  <a:pt x="0" y="31413"/>
                </a:cubicBezTo>
              </a:path>
            </a:pathLst>
          </a:custGeom>
          <a:noFill/>
          <a:ln w="38100" cap="flat" cmpd="sng">
            <a:solidFill>
              <a:srgbClr val="F1C232"/>
            </a:solidFill>
            <a:prstDash val="solid"/>
            <a:round/>
            <a:headEnd type="none" w="med" len="med"/>
            <a:tailEnd type="none" w="med" len="med"/>
          </a:ln>
        </p:spPr>
      </p:sp>
      <p:sp>
        <p:nvSpPr>
          <p:cNvPr id="497" name="Google Shape;497;p22"/>
          <p:cNvSpPr/>
          <p:nvPr/>
        </p:nvSpPr>
        <p:spPr>
          <a:xfrm>
            <a:off x="4340663" y="2972714"/>
            <a:ext cx="441350" cy="510425"/>
          </a:xfrm>
          <a:custGeom>
            <a:avLst/>
            <a:gdLst/>
            <a:ahLst/>
            <a:cxnLst/>
            <a:rect l="l" t="t" r="r" b="b"/>
            <a:pathLst>
              <a:path w="35308" h="40834" extrusionOk="0">
                <a:moveTo>
                  <a:pt x="0" y="21923"/>
                </a:moveTo>
                <a:cubicBezTo>
                  <a:pt x="4868" y="17746"/>
                  <a:pt x="16935" y="15448"/>
                  <a:pt x="19238" y="21435"/>
                </a:cubicBezTo>
                <a:cubicBezTo>
                  <a:pt x="21093" y="26256"/>
                  <a:pt x="14339" y="32377"/>
                  <a:pt x="17046" y="36777"/>
                </a:cubicBezTo>
                <a:cubicBezTo>
                  <a:pt x="19515" y="40790"/>
                  <a:pt x="26930" y="41953"/>
                  <a:pt x="30926" y="39456"/>
                </a:cubicBezTo>
                <a:cubicBezTo>
                  <a:pt x="37891" y="35105"/>
                  <a:pt x="35821" y="20062"/>
                  <a:pt x="29465" y="14861"/>
                </a:cubicBezTo>
                <a:cubicBezTo>
                  <a:pt x="22888" y="9480"/>
                  <a:pt x="7178" y="12602"/>
                  <a:pt x="6331" y="4146"/>
                </a:cubicBezTo>
                <a:cubicBezTo>
                  <a:pt x="5675" y="-2396"/>
                  <a:pt x="21107" y="-183"/>
                  <a:pt x="26056" y="4146"/>
                </a:cubicBezTo>
                <a:cubicBezTo>
                  <a:pt x="35321" y="12251"/>
                  <a:pt x="17470" y="28073"/>
                  <a:pt x="8766" y="36777"/>
                </a:cubicBezTo>
              </a:path>
            </a:pathLst>
          </a:custGeom>
          <a:noFill/>
          <a:ln w="38100" cap="flat" cmpd="sng">
            <a:solidFill>
              <a:srgbClr val="F1C232"/>
            </a:solidFill>
            <a:prstDash val="solid"/>
            <a:round/>
            <a:headEnd type="none" w="med" len="med"/>
            <a:tailEnd type="none" w="med" len="med"/>
          </a:ln>
        </p:spPr>
      </p:sp>
      <p:sp>
        <p:nvSpPr>
          <p:cNvPr id="498" name="Google Shape;498;p22"/>
          <p:cNvSpPr/>
          <p:nvPr/>
        </p:nvSpPr>
        <p:spPr>
          <a:xfrm>
            <a:off x="4336629" y="2954525"/>
            <a:ext cx="448450" cy="512988"/>
          </a:xfrm>
          <a:custGeom>
            <a:avLst/>
            <a:gdLst/>
            <a:ahLst/>
            <a:cxnLst/>
            <a:rect l="l" t="t" r="r" b="b"/>
            <a:pathLst>
              <a:path w="35876" h="41039" extrusionOk="0">
                <a:moveTo>
                  <a:pt x="35876" y="12176"/>
                </a:moveTo>
                <a:cubicBezTo>
                  <a:pt x="33278" y="13474"/>
                  <a:pt x="30137" y="14019"/>
                  <a:pt x="28084" y="16072"/>
                </a:cubicBezTo>
                <a:cubicBezTo>
                  <a:pt x="24741" y="19415"/>
                  <a:pt x="24638" y="25253"/>
                  <a:pt x="25161" y="29952"/>
                </a:cubicBezTo>
                <a:cubicBezTo>
                  <a:pt x="25573" y="33653"/>
                  <a:pt x="31860" y="39489"/>
                  <a:pt x="28327" y="40667"/>
                </a:cubicBezTo>
                <a:cubicBezTo>
                  <a:pt x="23195" y="42378"/>
                  <a:pt x="17049" y="37559"/>
                  <a:pt x="13960" y="33118"/>
                </a:cubicBezTo>
                <a:cubicBezTo>
                  <a:pt x="10617" y="28313"/>
                  <a:pt x="9699" y="20564"/>
                  <a:pt x="4219" y="18507"/>
                </a:cubicBezTo>
                <a:cubicBezTo>
                  <a:pt x="680" y="17179"/>
                  <a:pt x="-1376" y="26792"/>
                  <a:pt x="1297" y="29465"/>
                </a:cubicBezTo>
                <a:cubicBezTo>
                  <a:pt x="5492" y="33660"/>
                  <a:pt x="15463" y="29538"/>
                  <a:pt x="18343" y="24352"/>
                </a:cubicBezTo>
                <a:cubicBezTo>
                  <a:pt x="21498" y="18671"/>
                  <a:pt x="15329" y="10954"/>
                  <a:pt x="17612" y="4870"/>
                </a:cubicBezTo>
                <a:cubicBezTo>
                  <a:pt x="18786" y="1740"/>
                  <a:pt x="23036" y="0"/>
                  <a:pt x="26379" y="0"/>
                </a:cubicBezTo>
              </a:path>
            </a:pathLst>
          </a:custGeom>
          <a:noFill/>
          <a:ln w="38100" cap="flat" cmpd="sng">
            <a:solidFill>
              <a:srgbClr val="F1C232"/>
            </a:solidFill>
            <a:prstDash val="solid"/>
            <a:round/>
            <a:headEnd type="none" w="med" len="med"/>
            <a:tailEnd type="none" w="med" len="med"/>
          </a:ln>
        </p:spPr>
      </p:sp>
      <p:sp>
        <p:nvSpPr>
          <p:cNvPr id="499" name="Google Shape;499;p22"/>
          <p:cNvSpPr/>
          <p:nvPr/>
        </p:nvSpPr>
        <p:spPr>
          <a:xfrm rot="6485262">
            <a:off x="3236964" y="3041437"/>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500" name="Google Shape;500;p22"/>
          <p:cNvSpPr/>
          <p:nvPr/>
        </p:nvSpPr>
        <p:spPr>
          <a:xfrm rot="10800000">
            <a:off x="4021235" y="1726333"/>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501" name="Google Shape;501;p22"/>
          <p:cNvSpPr/>
          <p:nvPr/>
        </p:nvSpPr>
        <p:spPr>
          <a:xfrm rot="2167448">
            <a:off x="4169953" y="4226445"/>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502" name="Google Shape;502;p22"/>
          <p:cNvSpPr/>
          <p:nvPr/>
        </p:nvSpPr>
        <p:spPr>
          <a:xfrm rot="-2167448" flipH="1">
            <a:off x="5626360" y="3780045"/>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503" name="Google Shape;503;p22"/>
          <p:cNvSpPr/>
          <p:nvPr/>
        </p:nvSpPr>
        <p:spPr>
          <a:xfrm rot="-6485262" flipH="1">
            <a:off x="5733114" y="22234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1000"/>
                                        <p:tgtEl>
                                          <p:spTgt spid="488"/>
                                        </p:tgtEl>
                                      </p:cBhvr>
                                    </p:animEffect>
                                    <p:set>
                                      <p:cBhvr>
                                        <p:cTn id="7" dur="1" fill="hold">
                                          <p:stCondLst>
                                            <p:cond delay="1000"/>
                                          </p:stCondLst>
                                        </p:cTn>
                                        <p:tgtEl>
                                          <p:spTgt spid="488"/>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1000"/>
                                        <p:tgtEl>
                                          <p:spTgt spid="489"/>
                                        </p:tgtEl>
                                      </p:cBhvr>
                                    </p:animEffect>
                                    <p:set>
                                      <p:cBhvr>
                                        <p:cTn id="10" dur="1" fill="hold">
                                          <p:stCondLst>
                                            <p:cond delay="1000"/>
                                          </p:stCondLst>
                                        </p:cTn>
                                        <p:tgtEl>
                                          <p:spTgt spid="489"/>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1000"/>
                                        <p:tgtEl>
                                          <p:spTgt spid="490"/>
                                        </p:tgtEl>
                                      </p:cBhvr>
                                    </p:animEffect>
                                    <p:set>
                                      <p:cBhvr>
                                        <p:cTn id="13" dur="1" fill="hold">
                                          <p:stCondLst>
                                            <p:cond delay="1000"/>
                                          </p:stCondLst>
                                        </p:cTn>
                                        <p:tgtEl>
                                          <p:spTgt spid="490"/>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1000"/>
                                        <p:tgtEl>
                                          <p:spTgt spid="492"/>
                                        </p:tgtEl>
                                      </p:cBhvr>
                                    </p:animEffect>
                                    <p:set>
                                      <p:cBhvr>
                                        <p:cTn id="16" dur="1" fill="hold">
                                          <p:stCondLst>
                                            <p:cond delay="1000"/>
                                          </p:stCondLst>
                                        </p:cTn>
                                        <p:tgtEl>
                                          <p:spTgt spid="492"/>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1000"/>
                                        <p:tgtEl>
                                          <p:spTgt spid="491"/>
                                        </p:tgtEl>
                                      </p:cBhvr>
                                    </p:animEffect>
                                    <p:set>
                                      <p:cBhvr>
                                        <p:cTn id="19" dur="1" fill="hold">
                                          <p:stCondLst>
                                            <p:cond delay="1000"/>
                                          </p:stCondLst>
                                        </p:cTn>
                                        <p:tgtEl>
                                          <p:spTgt spid="491"/>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499"/>
                                        </p:tgtEl>
                                        <p:attrNameLst>
                                          <p:attrName>style.visibility</p:attrName>
                                        </p:attrNameLst>
                                      </p:cBhvr>
                                      <p:to>
                                        <p:strVal val="visible"/>
                                      </p:to>
                                    </p:set>
                                    <p:animEffect transition="in" filter="fade">
                                      <p:cBhvr>
                                        <p:cTn id="22" dur="1000"/>
                                        <p:tgtEl>
                                          <p:spTgt spid="499"/>
                                        </p:tgtEl>
                                      </p:cBhvr>
                                    </p:animEffect>
                                  </p:childTnLst>
                                </p:cTn>
                              </p:par>
                              <p:par>
                                <p:cTn id="23" presetID="10" presetClass="entr" presetSubtype="0" fill="hold" nodeType="withEffect">
                                  <p:stCondLst>
                                    <p:cond delay="0"/>
                                  </p:stCondLst>
                                  <p:childTnLst>
                                    <p:set>
                                      <p:cBhvr>
                                        <p:cTn id="24" dur="1" fill="hold">
                                          <p:stCondLst>
                                            <p:cond delay="0"/>
                                          </p:stCondLst>
                                        </p:cTn>
                                        <p:tgtEl>
                                          <p:spTgt spid="500"/>
                                        </p:tgtEl>
                                        <p:attrNameLst>
                                          <p:attrName>style.visibility</p:attrName>
                                        </p:attrNameLst>
                                      </p:cBhvr>
                                      <p:to>
                                        <p:strVal val="visible"/>
                                      </p:to>
                                    </p:set>
                                    <p:animEffect transition="in" filter="fade">
                                      <p:cBhvr>
                                        <p:cTn id="25" dur="1000"/>
                                        <p:tgtEl>
                                          <p:spTgt spid="500"/>
                                        </p:tgtEl>
                                      </p:cBhvr>
                                    </p:animEffect>
                                  </p:childTnLst>
                                </p:cTn>
                              </p:par>
                              <p:par>
                                <p:cTn id="26" presetID="10" presetClass="entr" presetSubtype="0" fill="hold" nodeType="withEffect">
                                  <p:stCondLst>
                                    <p:cond delay="0"/>
                                  </p:stCondLst>
                                  <p:childTnLst>
                                    <p:set>
                                      <p:cBhvr>
                                        <p:cTn id="27" dur="1" fill="hold">
                                          <p:stCondLst>
                                            <p:cond delay="0"/>
                                          </p:stCondLst>
                                        </p:cTn>
                                        <p:tgtEl>
                                          <p:spTgt spid="502"/>
                                        </p:tgtEl>
                                        <p:attrNameLst>
                                          <p:attrName>style.visibility</p:attrName>
                                        </p:attrNameLst>
                                      </p:cBhvr>
                                      <p:to>
                                        <p:strVal val="visible"/>
                                      </p:to>
                                    </p:set>
                                    <p:animEffect transition="in" filter="fade">
                                      <p:cBhvr>
                                        <p:cTn id="28" dur="1000"/>
                                        <p:tgtEl>
                                          <p:spTgt spid="502"/>
                                        </p:tgtEl>
                                      </p:cBhvr>
                                    </p:animEffect>
                                  </p:childTnLst>
                                </p:cTn>
                              </p:par>
                              <p:par>
                                <p:cTn id="29" presetID="10" presetClass="entr" presetSubtype="0" fill="hold" nodeType="withEffect">
                                  <p:stCondLst>
                                    <p:cond delay="0"/>
                                  </p:stCondLst>
                                  <p:childTnLst>
                                    <p:set>
                                      <p:cBhvr>
                                        <p:cTn id="30" dur="1" fill="hold">
                                          <p:stCondLst>
                                            <p:cond delay="0"/>
                                          </p:stCondLst>
                                        </p:cTn>
                                        <p:tgtEl>
                                          <p:spTgt spid="503"/>
                                        </p:tgtEl>
                                        <p:attrNameLst>
                                          <p:attrName>style.visibility</p:attrName>
                                        </p:attrNameLst>
                                      </p:cBhvr>
                                      <p:to>
                                        <p:strVal val="visible"/>
                                      </p:to>
                                    </p:set>
                                    <p:animEffect transition="in" filter="fade">
                                      <p:cBhvr>
                                        <p:cTn id="31" dur="1000"/>
                                        <p:tgtEl>
                                          <p:spTgt spid="503"/>
                                        </p:tgtEl>
                                      </p:cBhvr>
                                    </p:animEffect>
                                  </p:childTnLst>
                                </p:cTn>
                              </p:par>
                              <p:par>
                                <p:cTn id="32" presetID="10" presetClass="entr" presetSubtype="0" fill="hold" nodeType="withEffect">
                                  <p:stCondLst>
                                    <p:cond delay="0"/>
                                  </p:stCondLst>
                                  <p:childTnLst>
                                    <p:set>
                                      <p:cBhvr>
                                        <p:cTn id="33" dur="1" fill="hold">
                                          <p:stCondLst>
                                            <p:cond delay="0"/>
                                          </p:stCondLst>
                                        </p:cTn>
                                        <p:tgtEl>
                                          <p:spTgt spid="501"/>
                                        </p:tgtEl>
                                        <p:attrNameLst>
                                          <p:attrName>style.visibility</p:attrName>
                                        </p:attrNameLst>
                                      </p:cBhvr>
                                      <p:to>
                                        <p:strVal val="visible"/>
                                      </p:to>
                                    </p:set>
                                    <p:animEffect transition="in" filter="fade">
                                      <p:cBhvr>
                                        <p:cTn id="34" dur="1000"/>
                                        <p:tgtEl>
                                          <p:spTgt spid="5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23"/>
          <p:cNvSpPr/>
          <p:nvPr/>
        </p:nvSpPr>
        <p:spPr>
          <a:xfrm>
            <a:off x="3389862" y="2035757"/>
            <a:ext cx="2364300" cy="2364300"/>
          </a:xfrm>
          <a:prstGeom prst="ellipse">
            <a:avLst/>
          </a:prstGeom>
          <a:solidFill>
            <a:srgbClr val="783F04"/>
          </a:solidFill>
          <a:ln>
            <a:noFill/>
          </a:ln>
        </p:spPr>
        <p:txBody>
          <a:bodyPr spcFirstLastPara="1" wrap="square" lIns="45713" tIns="45713" rIns="45713" bIns="45713" anchor="ctr" anchorCtr="0">
            <a:noAutofit/>
          </a:bodyPr>
          <a:lstStyle/>
          <a:p>
            <a:endParaRPr sz="900"/>
          </a:p>
        </p:txBody>
      </p:sp>
      <p:pic>
        <p:nvPicPr>
          <p:cNvPr id="509" name="Google Shape;509;p23"/>
          <p:cNvPicPr preferRelativeResize="0"/>
          <p:nvPr/>
        </p:nvPicPr>
        <p:blipFill>
          <a:blip r:embed="rId3">
            <a:alphaModFix/>
          </a:blip>
          <a:stretch>
            <a:fillRect/>
          </a:stretch>
        </p:blipFill>
        <p:spPr>
          <a:xfrm>
            <a:off x="5100038" y="1243400"/>
            <a:ext cx="1219200" cy="1219200"/>
          </a:xfrm>
          <a:prstGeom prst="rect">
            <a:avLst/>
          </a:prstGeom>
          <a:noFill/>
          <a:ln>
            <a:noFill/>
          </a:ln>
        </p:spPr>
      </p:pic>
      <p:pic>
        <p:nvPicPr>
          <p:cNvPr id="510" name="Google Shape;510;p23"/>
          <p:cNvPicPr preferRelativeResize="0"/>
          <p:nvPr/>
        </p:nvPicPr>
        <p:blipFill>
          <a:blip r:embed="rId4">
            <a:alphaModFix/>
          </a:blip>
          <a:stretch>
            <a:fillRect/>
          </a:stretch>
        </p:blipFill>
        <p:spPr>
          <a:xfrm>
            <a:off x="3962394" y="4395400"/>
            <a:ext cx="1219200" cy="1219200"/>
          </a:xfrm>
          <a:prstGeom prst="rect">
            <a:avLst/>
          </a:prstGeom>
          <a:noFill/>
          <a:ln>
            <a:noFill/>
          </a:ln>
        </p:spPr>
      </p:pic>
      <p:pic>
        <p:nvPicPr>
          <p:cNvPr id="511" name="Google Shape;511;p23"/>
          <p:cNvPicPr preferRelativeResize="0"/>
          <p:nvPr/>
        </p:nvPicPr>
        <p:blipFill>
          <a:blip r:embed="rId5">
            <a:alphaModFix/>
          </a:blip>
          <a:stretch>
            <a:fillRect/>
          </a:stretch>
        </p:blipFill>
        <p:spPr>
          <a:xfrm>
            <a:off x="2292325" y="3217875"/>
            <a:ext cx="1219200" cy="1219200"/>
          </a:xfrm>
          <a:prstGeom prst="rect">
            <a:avLst/>
          </a:prstGeom>
          <a:noFill/>
          <a:ln>
            <a:noFill/>
          </a:ln>
        </p:spPr>
      </p:pic>
      <p:pic>
        <p:nvPicPr>
          <p:cNvPr id="512" name="Google Shape;512;p23"/>
          <p:cNvPicPr preferRelativeResize="0"/>
          <p:nvPr/>
        </p:nvPicPr>
        <p:blipFill>
          <a:blip r:embed="rId6">
            <a:alphaModFix/>
          </a:blip>
          <a:stretch>
            <a:fillRect/>
          </a:stretch>
        </p:blipFill>
        <p:spPr>
          <a:xfrm>
            <a:off x="5632475" y="3217875"/>
            <a:ext cx="1219200" cy="1219200"/>
          </a:xfrm>
          <a:prstGeom prst="rect">
            <a:avLst/>
          </a:prstGeom>
          <a:noFill/>
          <a:ln>
            <a:noFill/>
          </a:ln>
        </p:spPr>
      </p:pic>
      <p:pic>
        <p:nvPicPr>
          <p:cNvPr id="513" name="Google Shape;513;p23"/>
          <p:cNvPicPr preferRelativeResize="0"/>
          <p:nvPr/>
        </p:nvPicPr>
        <p:blipFill>
          <a:blip r:embed="rId7">
            <a:alphaModFix/>
          </a:blip>
          <a:stretch>
            <a:fillRect/>
          </a:stretch>
        </p:blipFill>
        <p:spPr>
          <a:xfrm>
            <a:off x="2824757" y="1243400"/>
            <a:ext cx="1219200" cy="1219200"/>
          </a:xfrm>
          <a:prstGeom prst="rect">
            <a:avLst/>
          </a:prstGeom>
          <a:noFill/>
          <a:ln>
            <a:noFill/>
          </a:ln>
        </p:spPr>
      </p:pic>
      <p:grpSp>
        <p:nvGrpSpPr>
          <p:cNvPr id="514" name="Google Shape;514;p23"/>
          <p:cNvGrpSpPr/>
          <p:nvPr/>
        </p:nvGrpSpPr>
        <p:grpSpPr>
          <a:xfrm>
            <a:off x="4157195" y="2803111"/>
            <a:ext cx="829600" cy="829600"/>
            <a:chOff x="7509900" y="2868375"/>
            <a:chExt cx="903900" cy="903900"/>
          </a:xfrm>
        </p:grpSpPr>
        <p:sp>
          <p:nvSpPr>
            <p:cNvPr id="515" name="Google Shape;515;p23"/>
            <p:cNvSpPr/>
            <p:nvPr/>
          </p:nvSpPr>
          <p:spPr>
            <a:xfrm>
              <a:off x="7509900" y="2868375"/>
              <a:ext cx="903900" cy="903900"/>
            </a:xfrm>
            <a:prstGeom prst="ellipse">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516" name="Google Shape;516;p23"/>
            <p:cNvSpPr/>
            <p:nvPr/>
          </p:nvSpPr>
          <p:spPr>
            <a:xfrm>
              <a:off x="7726325" y="3187287"/>
              <a:ext cx="281375" cy="421875"/>
            </a:xfrm>
            <a:custGeom>
              <a:avLst/>
              <a:gdLst/>
              <a:ahLst/>
              <a:cxnLst/>
              <a:rect l="l" t="t" r="r" b="b"/>
              <a:pathLst>
                <a:path w="11255" h="16875" extrusionOk="0">
                  <a:moveTo>
                    <a:pt x="0" y="1985"/>
                  </a:moveTo>
                  <a:cubicBezTo>
                    <a:pt x="3409" y="525"/>
                    <a:pt x="10171" y="-1599"/>
                    <a:pt x="11126" y="1985"/>
                  </a:cubicBezTo>
                  <a:cubicBezTo>
                    <a:pt x="11977" y="5177"/>
                    <a:pt x="7498" y="7599"/>
                    <a:pt x="5042" y="9808"/>
                  </a:cubicBezTo>
                  <a:cubicBezTo>
                    <a:pt x="3517" y="11179"/>
                    <a:pt x="7922" y="12750"/>
                    <a:pt x="9562" y="13980"/>
                  </a:cubicBezTo>
                  <a:cubicBezTo>
                    <a:pt x="10372" y="14587"/>
                    <a:pt x="11636" y="16225"/>
                    <a:pt x="10778" y="16762"/>
                  </a:cubicBezTo>
                  <a:cubicBezTo>
                    <a:pt x="9613" y="17490"/>
                    <a:pt x="7707" y="13849"/>
                    <a:pt x="8866" y="13111"/>
                  </a:cubicBezTo>
                </a:path>
              </a:pathLst>
            </a:custGeom>
            <a:noFill/>
            <a:ln w="38100" cap="flat" cmpd="sng">
              <a:solidFill>
                <a:srgbClr val="F1C232"/>
              </a:solidFill>
              <a:prstDash val="solid"/>
              <a:round/>
              <a:headEnd type="none" w="med" len="med"/>
              <a:tailEnd type="none" w="med" len="med"/>
            </a:ln>
          </p:spPr>
        </p:sp>
        <p:sp>
          <p:nvSpPr>
            <p:cNvPr id="517" name="Google Shape;517;p23"/>
            <p:cNvSpPr/>
            <p:nvPr/>
          </p:nvSpPr>
          <p:spPr>
            <a:xfrm>
              <a:off x="7829049" y="3032650"/>
              <a:ext cx="272850" cy="456325"/>
            </a:xfrm>
            <a:custGeom>
              <a:avLst/>
              <a:gdLst/>
              <a:ahLst/>
              <a:cxnLst/>
              <a:rect l="l" t="t" r="r" b="b"/>
              <a:pathLst>
                <a:path w="10914" h="18253" extrusionOk="0">
                  <a:moveTo>
                    <a:pt x="4236" y="0"/>
                  </a:moveTo>
                  <a:cubicBezTo>
                    <a:pt x="1862" y="3263"/>
                    <a:pt x="-1710" y="8598"/>
                    <a:pt x="933" y="11647"/>
                  </a:cubicBezTo>
                  <a:cubicBezTo>
                    <a:pt x="3470" y="14574"/>
                    <a:pt x="12913" y="15228"/>
                    <a:pt x="10494" y="18253"/>
                  </a:cubicBezTo>
                </a:path>
              </a:pathLst>
            </a:custGeom>
            <a:noFill/>
            <a:ln w="38100" cap="flat" cmpd="sng">
              <a:solidFill>
                <a:srgbClr val="F1C232"/>
              </a:solidFill>
              <a:prstDash val="solid"/>
              <a:round/>
              <a:headEnd type="none" w="med" len="med"/>
              <a:tailEnd type="none" w="med" len="med"/>
            </a:ln>
          </p:spPr>
        </p:sp>
        <p:sp>
          <p:nvSpPr>
            <p:cNvPr id="518" name="Google Shape;518;p23"/>
            <p:cNvSpPr/>
            <p:nvPr/>
          </p:nvSpPr>
          <p:spPr>
            <a:xfrm>
              <a:off x="7938508" y="3145650"/>
              <a:ext cx="222425" cy="356375"/>
            </a:xfrm>
            <a:custGeom>
              <a:avLst/>
              <a:gdLst/>
              <a:ahLst/>
              <a:cxnLst/>
              <a:rect l="l" t="t" r="r" b="b"/>
              <a:pathLst>
                <a:path w="8897" h="14255" extrusionOk="0">
                  <a:moveTo>
                    <a:pt x="8897" y="0"/>
                  </a:moveTo>
                  <a:cubicBezTo>
                    <a:pt x="5700" y="999"/>
                    <a:pt x="1621" y="2006"/>
                    <a:pt x="205" y="5041"/>
                  </a:cubicBezTo>
                  <a:cubicBezTo>
                    <a:pt x="-1089" y="7814"/>
                    <a:pt x="5221" y="8570"/>
                    <a:pt x="7507" y="10604"/>
                  </a:cubicBezTo>
                  <a:cubicBezTo>
                    <a:pt x="8600" y="11576"/>
                    <a:pt x="6516" y="14014"/>
                    <a:pt x="5073" y="14255"/>
                  </a:cubicBezTo>
                </a:path>
              </a:pathLst>
            </a:custGeom>
            <a:noFill/>
            <a:ln w="38100" cap="flat" cmpd="sng">
              <a:solidFill>
                <a:srgbClr val="F1C232"/>
              </a:solidFill>
              <a:prstDash val="solid"/>
              <a:round/>
              <a:headEnd type="none" w="med" len="med"/>
              <a:tailEnd type="none" w="med" len="med"/>
            </a:ln>
          </p:spPr>
        </p:sp>
        <p:sp>
          <p:nvSpPr>
            <p:cNvPr id="519" name="Google Shape;519;p23"/>
            <p:cNvSpPr/>
            <p:nvPr/>
          </p:nvSpPr>
          <p:spPr>
            <a:xfrm>
              <a:off x="7743725" y="3093500"/>
              <a:ext cx="518875" cy="321600"/>
            </a:xfrm>
            <a:custGeom>
              <a:avLst/>
              <a:gdLst/>
              <a:ahLst/>
              <a:cxnLst/>
              <a:rect l="l" t="t" r="r" b="b"/>
              <a:pathLst>
                <a:path w="20755" h="12864" extrusionOk="0">
                  <a:moveTo>
                    <a:pt x="0" y="0"/>
                  </a:moveTo>
                  <a:cubicBezTo>
                    <a:pt x="5394" y="897"/>
                    <a:pt x="12760" y="-760"/>
                    <a:pt x="15993" y="3650"/>
                  </a:cubicBezTo>
                  <a:cubicBezTo>
                    <a:pt x="17475" y="5672"/>
                    <a:pt x="22372" y="8719"/>
                    <a:pt x="20165" y="9908"/>
                  </a:cubicBezTo>
                  <a:cubicBezTo>
                    <a:pt x="14587" y="12912"/>
                    <a:pt x="1390" y="6529"/>
                    <a:pt x="1390" y="12864"/>
                  </a:cubicBezTo>
                </a:path>
              </a:pathLst>
            </a:custGeom>
            <a:noFill/>
            <a:ln w="38100" cap="flat" cmpd="sng">
              <a:solidFill>
                <a:srgbClr val="F1C232"/>
              </a:solidFill>
              <a:prstDash val="solid"/>
              <a:round/>
              <a:headEnd type="none" w="med" len="med"/>
              <a:tailEnd type="none" w="med" len="med"/>
            </a:ln>
          </p:spPr>
        </p:sp>
        <p:sp>
          <p:nvSpPr>
            <p:cNvPr id="520" name="Google Shape;520;p23"/>
            <p:cNvSpPr/>
            <p:nvPr/>
          </p:nvSpPr>
          <p:spPr>
            <a:xfrm>
              <a:off x="7662050" y="3010925"/>
              <a:ext cx="411975" cy="478050"/>
            </a:xfrm>
            <a:custGeom>
              <a:avLst/>
              <a:gdLst/>
              <a:ahLst/>
              <a:cxnLst/>
              <a:rect l="l" t="t" r="r" b="b"/>
              <a:pathLst>
                <a:path w="16479" h="19122" extrusionOk="0">
                  <a:moveTo>
                    <a:pt x="16479" y="0"/>
                  </a:moveTo>
                  <a:cubicBezTo>
                    <a:pt x="9984" y="1946"/>
                    <a:pt x="3470" y="6343"/>
                    <a:pt x="311" y="12342"/>
                  </a:cubicBezTo>
                  <a:cubicBezTo>
                    <a:pt x="-872" y="14589"/>
                    <a:pt x="1757" y="17597"/>
                    <a:pt x="3788" y="19122"/>
                  </a:cubicBezTo>
                </a:path>
              </a:pathLst>
            </a:custGeom>
            <a:noFill/>
            <a:ln w="38100" cap="flat" cmpd="sng">
              <a:solidFill>
                <a:srgbClr val="F1C232"/>
              </a:solidFill>
              <a:prstDash val="solid"/>
              <a:round/>
              <a:headEnd type="none" w="med" len="med"/>
              <a:tailEnd type="none" w="med" len="med"/>
            </a:ln>
          </p:spPr>
        </p:sp>
        <p:sp>
          <p:nvSpPr>
            <p:cNvPr id="521" name="Google Shape;521;p23"/>
            <p:cNvSpPr/>
            <p:nvPr/>
          </p:nvSpPr>
          <p:spPr>
            <a:xfrm>
              <a:off x="7817600" y="3015250"/>
              <a:ext cx="398400" cy="587225"/>
            </a:xfrm>
            <a:custGeom>
              <a:avLst/>
              <a:gdLst/>
              <a:ahLst/>
              <a:cxnLst/>
              <a:rect l="l" t="t" r="r" b="b"/>
              <a:pathLst>
                <a:path w="15936" h="23489" extrusionOk="0">
                  <a:moveTo>
                    <a:pt x="0" y="0"/>
                  </a:moveTo>
                  <a:cubicBezTo>
                    <a:pt x="0" y="8167"/>
                    <a:pt x="2230" y="20746"/>
                    <a:pt x="10257" y="22252"/>
                  </a:cubicBezTo>
                  <a:cubicBezTo>
                    <a:pt x="12203" y="22617"/>
                    <a:pt x="15960" y="18191"/>
                    <a:pt x="15819" y="20166"/>
                  </a:cubicBezTo>
                  <a:cubicBezTo>
                    <a:pt x="15703" y="21786"/>
                    <a:pt x="15565" y="21792"/>
                    <a:pt x="14950" y="23295"/>
                  </a:cubicBezTo>
                  <a:cubicBezTo>
                    <a:pt x="14596" y="24160"/>
                    <a:pt x="13200" y="21724"/>
                    <a:pt x="13559" y="20861"/>
                  </a:cubicBezTo>
                  <a:cubicBezTo>
                    <a:pt x="14532" y="18524"/>
                    <a:pt x="16694" y="15864"/>
                    <a:pt x="15646" y="13560"/>
                  </a:cubicBezTo>
                  <a:cubicBezTo>
                    <a:pt x="15040" y="12229"/>
                    <a:pt x="13029" y="12161"/>
                    <a:pt x="11995" y="11126"/>
                  </a:cubicBezTo>
                </a:path>
              </a:pathLst>
            </a:custGeom>
            <a:noFill/>
            <a:ln w="38100" cap="flat" cmpd="sng">
              <a:solidFill>
                <a:srgbClr val="F1C232"/>
              </a:solidFill>
              <a:prstDash val="solid"/>
              <a:round/>
              <a:headEnd type="none" w="med" len="med"/>
              <a:tailEnd type="none" w="med" len="med"/>
            </a:ln>
          </p:spPr>
        </p:sp>
        <p:sp>
          <p:nvSpPr>
            <p:cNvPr id="522" name="Google Shape;522;p23"/>
            <p:cNvSpPr/>
            <p:nvPr/>
          </p:nvSpPr>
          <p:spPr>
            <a:xfrm>
              <a:off x="7643750" y="3180400"/>
              <a:ext cx="425925" cy="446300"/>
            </a:xfrm>
            <a:custGeom>
              <a:avLst/>
              <a:gdLst/>
              <a:ahLst/>
              <a:cxnLst/>
              <a:rect l="l" t="t" r="r" b="b"/>
              <a:pathLst>
                <a:path w="17037" h="17852" extrusionOk="0">
                  <a:moveTo>
                    <a:pt x="0" y="0"/>
                  </a:moveTo>
                  <a:cubicBezTo>
                    <a:pt x="4491" y="817"/>
                    <a:pt x="6830" y="6955"/>
                    <a:pt x="7475" y="11474"/>
                  </a:cubicBezTo>
                  <a:cubicBezTo>
                    <a:pt x="7713" y="13138"/>
                    <a:pt x="6322" y="15483"/>
                    <a:pt x="7649" y="16515"/>
                  </a:cubicBezTo>
                  <a:cubicBezTo>
                    <a:pt x="10121" y="18437"/>
                    <a:pt x="14632" y="18173"/>
                    <a:pt x="17037" y="16167"/>
                  </a:cubicBezTo>
                </a:path>
              </a:pathLst>
            </a:custGeom>
            <a:noFill/>
            <a:ln w="38100" cap="flat" cmpd="sng">
              <a:solidFill>
                <a:srgbClr val="F1C232"/>
              </a:solidFill>
              <a:prstDash val="solid"/>
              <a:round/>
              <a:headEnd type="none" w="med" len="med"/>
              <a:tailEnd type="none" w="med" len="med"/>
            </a:ln>
          </p:spPr>
        </p:sp>
        <p:sp>
          <p:nvSpPr>
            <p:cNvPr id="523" name="Google Shape;523;p23"/>
            <p:cNvSpPr/>
            <p:nvPr/>
          </p:nvSpPr>
          <p:spPr>
            <a:xfrm>
              <a:off x="7836249" y="3076100"/>
              <a:ext cx="320325" cy="456325"/>
            </a:xfrm>
            <a:custGeom>
              <a:avLst/>
              <a:gdLst/>
              <a:ahLst/>
              <a:cxnLst/>
              <a:rect l="l" t="t" r="r" b="b"/>
              <a:pathLst>
                <a:path w="12813" h="18253" extrusionOk="0">
                  <a:moveTo>
                    <a:pt x="12813" y="0"/>
                  </a:moveTo>
                  <a:cubicBezTo>
                    <a:pt x="7242" y="2181"/>
                    <a:pt x="-861" y="6790"/>
                    <a:pt x="123" y="12691"/>
                  </a:cubicBezTo>
                  <a:cubicBezTo>
                    <a:pt x="746" y="16427"/>
                    <a:pt x="8084" y="15004"/>
                    <a:pt x="10032" y="18253"/>
                  </a:cubicBezTo>
                </a:path>
              </a:pathLst>
            </a:custGeom>
            <a:noFill/>
            <a:ln w="38100" cap="flat" cmpd="sng">
              <a:solidFill>
                <a:srgbClr val="F1C232"/>
              </a:solidFill>
              <a:prstDash val="solid"/>
              <a:round/>
              <a:headEnd type="none" w="med" len="med"/>
              <a:tailEnd type="none" w="med" len="med"/>
            </a:ln>
          </p:spPr>
        </p:sp>
        <p:sp>
          <p:nvSpPr>
            <p:cNvPr id="524" name="Google Shape;524;p23"/>
            <p:cNvSpPr/>
            <p:nvPr/>
          </p:nvSpPr>
          <p:spPr>
            <a:xfrm>
              <a:off x="7700250" y="3132600"/>
              <a:ext cx="429925" cy="169500"/>
            </a:xfrm>
            <a:custGeom>
              <a:avLst/>
              <a:gdLst/>
              <a:ahLst/>
              <a:cxnLst/>
              <a:rect l="l" t="t" r="r" b="b"/>
              <a:pathLst>
                <a:path w="17197" h="6780" extrusionOk="0">
                  <a:moveTo>
                    <a:pt x="0" y="0"/>
                  </a:moveTo>
                  <a:cubicBezTo>
                    <a:pt x="3914" y="4695"/>
                    <a:pt x="10925" y="6780"/>
                    <a:pt x="17037" y="6780"/>
                  </a:cubicBezTo>
                  <a:cubicBezTo>
                    <a:pt x="17504" y="6780"/>
                    <a:pt x="16799" y="5655"/>
                    <a:pt x="16341" y="5563"/>
                  </a:cubicBezTo>
                </a:path>
              </a:pathLst>
            </a:custGeom>
            <a:noFill/>
            <a:ln w="38100" cap="flat" cmpd="sng">
              <a:solidFill>
                <a:srgbClr val="F1C232"/>
              </a:solidFill>
              <a:prstDash val="solid"/>
              <a:round/>
              <a:headEnd type="none" w="med" len="med"/>
              <a:tailEnd type="none" w="med" len="med"/>
            </a:ln>
          </p:spPr>
        </p:sp>
        <p:sp>
          <p:nvSpPr>
            <p:cNvPr id="525" name="Google Shape;525;p23"/>
            <p:cNvSpPr/>
            <p:nvPr/>
          </p:nvSpPr>
          <p:spPr>
            <a:xfrm>
              <a:off x="7710998" y="3098181"/>
              <a:ext cx="558575" cy="472725"/>
            </a:xfrm>
            <a:custGeom>
              <a:avLst/>
              <a:gdLst/>
              <a:ahLst/>
              <a:cxnLst/>
              <a:rect l="l" t="t" r="r" b="b"/>
              <a:pathLst>
                <a:path w="22343" h="18909" extrusionOk="0">
                  <a:moveTo>
                    <a:pt x="22343" y="4332"/>
                  </a:moveTo>
                  <a:cubicBezTo>
                    <a:pt x="16437" y="38"/>
                    <a:pt x="3704" y="-2547"/>
                    <a:pt x="439" y="3985"/>
                  </a:cubicBezTo>
                  <a:cubicBezTo>
                    <a:pt x="-1508" y="7881"/>
                    <a:pt x="3832" y="12696"/>
                    <a:pt x="7567" y="14937"/>
                  </a:cubicBezTo>
                  <a:cubicBezTo>
                    <a:pt x="9340" y="16001"/>
                    <a:pt x="12081" y="14808"/>
                    <a:pt x="13651" y="16154"/>
                  </a:cubicBezTo>
                  <a:cubicBezTo>
                    <a:pt x="15785" y="17983"/>
                    <a:pt x="7730" y="19926"/>
                    <a:pt x="5481" y="18240"/>
                  </a:cubicBezTo>
                </a:path>
              </a:pathLst>
            </a:custGeom>
            <a:noFill/>
            <a:ln w="38100" cap="flat" cmpd="sng">
              <a:solidFill>
                <a:srgbClr val="F1C232"/>
              </a:solidFill>
              <a:prstDash val="solid"/>
              <a:round/>
              <a:headEnd type="none" w="med" len="med"/>
              <a:tailEnd type="none" w="med" len="med"/>
            </a:ln>
          </p:spPr>
        </p:sp>
        <p:sp>
          <p:nvSpPr>
            <p:cNvPr id="526" name="Google Shape;526;p23"/>
            <p:cNvSpPr/>
            <p:nvPr/>
          </p:nvSpPr>
          <p:spPr>
            <a:xfrm>
              <a:off x="7685501" y="3079570"/>
              <a:ext cx="584075" cy="361600"/>
            </a:xfrm>
            <a:custGeom>
              <a:avLst/>
              <a:gdLst/>
              <a:ahLst/>
              <a:cxnLst/>
              <a:rect l="l" t="t" r="r" b="b"/>
              <a:pathLst>
                <a:path w="23363" h="14464" extrusionOk="0">
                  <a:moveTo>
                    <a:pt x="23363" y="14464"/>
                  </a:moveTo>
                  <a:cubicBezTo>
                    <a:pt x="21432" y="9632"/>
                    <a:pt x="15255" y="7928"/>
                    <a:pt x="11021" y="4903"/>
                  </a:cubicBezTo>
                  <a:cubicBezTo>
                    <a:pt x="8043" y="2775"/>
                    <a:pt x="3984" y="-1473"/>
                    <a:pt x="938" y="557"/>
                  </a:cubicBezTo>
                  <a:cubicBezTo>
                    <a:pt x="-2526" y="2866"/>
                    <a:pt x="4896" y="8744"/>
                    <a:pt x="8761" y="10292"/>
                  </a:cubicBezTo>
                </a:path>
              </a:pathLst>
            </a:custGeom>
            <a:noFill/>
            <a:ln w="38100" cap="flat" cmpd="sng">
              <a:solidFill>
                <a:srgbClr val="F1C232"/>
              </a:solidFill>
              <a:prstDash val="solid"/>
              <a:round/>
              <a:headEnd type="none" w="med" len="med"/>
              <a:tailEnd type="none" w="med" len="med"/>
            </a:ln>
          </p:spPr>
        </p:sp>
        <p:sp>
          <p:nvSpPr>
            <p:cNvPr id="527" name="Google Shape;527;p23"/>
            <p:cNvSpPr/>
            <p:nvPr/>
          </p:nvSpPr>
          <p:spPr>
            <a:xfrm>
              <a:off x="7744259" y="3028300"/>
              <a:ext cx="368875" cy="491100"/>
            </a:xfrm>
            <a:custGeom>
              <a:avLst/>
              <a:gdLst/>
              <a:ahLst/>
              <a:cxnLst/>
              <a:rect l="l" t="t" r="r" b="b"/>
              <a:pathLst>
                <a:path w="14755" h="19644" extrusionOk="0">
                  <a:moveTo>
                    <a:pt x="14755" y="0"/>
                  </a:moveTo>
                  <a:cubicBezTo>
                    <a:pt x="14495" y="609"/>
                    <a:pt x="14636" y="691"/>
                    <a:pt x="14234" y="1217"/>
                  </a:cubicBezTo>
                  <a:cubicBezTo>
                    <a:pt x="10836" y="5660"/>
                    <a:pt x="3616" y="6081"/>
                    <a:pt x="326" y="10604"/>
                  </a:cubicBezTo>
                  <a:cubicBezTo>
                    <a:pt x="-1501" y="13116"/>
                    <a:pt x="5071" y="17780"/>
                    <a:pt x="2586" y="19644"/>
                  </a:cubicBezTo>
                </a:path>
              </a:pathLst>
            </a:custGeom>
            <a:noFill/>
            <a:ln w="38100" cap="flat" cmpd="sng">
              <a:solidFill>
                <a:srgbClr val="F1C232"/>
              </a:solidFill>
              <a:prstDash val="solid"/>
              <a:round/>
              <a:headEnd type="none" w="med" len="med"/>
              <a:tailEnd type="none" w="med" len="med"/>
            </a:ln>
          </p:spPr>
        </p:sp>
        <p:sp>
          <p:nvSpPr>
            <p:cNvPr id="528" name="Google Shape;528;p23"/>
            <p:cNvSpPr/>
            <p:nvPr/>
          </p:nvSpPr>
          <p:spPr>
            <a:xfrm>
              <a:off x="7765450" y="3145650"/>
              <a:ext cx="482400" cy="338975"/>
            </a:xfrm>
            <a:custGeom>
              <a:avLst/>
              <a:gdLst/>
              <a:ahLst/>
              <a:cxnLst/>
              <a:rect l="l" t="t" r="r" b="b"/>
              <a:pathLst>
                <a:path w="19296" h="13559" extrusionOk="0">
                  <a:moveTo>
                    <a:pt x="19296" y="13559"/>
                  </a:moveTo>
                  <a:cubicBezTo>
                    <a:pt x="13760" y="11712"/>
                    <a:pt x="8516" y="8736"/>
                    <a:pt x="3998" y="5041"/>
                  </a:cubicBezTo>
                  <a:cubicBezTo>
                    <a:pt x="2338" y="3683"/>
                    <a:pt x="2116" y="351"/>
                    <a:pt x="0" y="0"/>
                  </a:cubicBezTo>
                </a:path>
              </a:pathLst>
            </a:custGeom>
            <a:noFill/>
            <a:ln w="38100" cap="flat" cmpd="sng">
              <a:solidFill>
                <a:srgbClr val="F1C232"/>
              </a:solidFill>
              <a:prstDash val="solid"/>
              <a:round/>
              <a:headEnd type="none" w="med" len="med"/>
              <a:tailEnd type="none" w="med" len="med"/>
            </a:ln>
          </p:spPr>
        </p:sp>
        <p:sp>
          <p:nvSpPr>
            <p:cNvPr id="529" name="Google Shape;529;p23"/>
            <p:cNvSpPr/>
            <p:nvPr/>
          </p:nvSpPr>
          <p:spPr>
            <a:xfrm>
              <a:off x="7665500" y="3269759"/>
              <a:ext cx="499775" cy="249650"/>
            </a:xfrm>
            <a:custGeom>
              <a:avLst/>
              <a:gdLst/>
              <a:ahLst/>
              <a:cxnLst/>
              <a:rect l="l" t="t" r="r" b="b"/>
              <a:pathLst>
                <a:path w="19991" h="9986" extrusionOk="0">
                  <a:moveTo>
                    <a:pt x="0" y="9986"/>
                  </a:moveTo>
                  <a:cubicBezTo>
                    <a:pt x="3478" y="7899"/>
                    <a:pt x="5064" y="3283"/>
                    <a:pt x="8692" y="1468"/>
                  </a:cubicBezTo>
                  <a:cubicBezTo>
                    <a:pt x="12086" y="-230"/>
                    <a:pt x="16196" y="77"/>
                    <a:pt x="19991" y="77"/>
                  </a:cubicBezTo>
                </a:path>
              </a:pathLst>
            </a:custGeom>
            <a:noFill/>
            <a:ln w="38100" cap="flat" cmpd="sng">
              <a:solidFill>
                <a:srgbClr val="F1C232"/>
              </a:solidFill>
              <a:prstDash val="solid"/>
              <a:round/>
              <a:headEnd type="none" w="med" len="med"/>
              <a:tailEnd type="none" w="med" len="med"/>
            </a:ln>
          </p:spPr>
        </p:sp>
        <p:sp>
          <p:nvSpPr>
            <p:cNvPr id="530" name="Google Shape;530;p23"/>
            <p:cNvSpPr/>
            <p:nvPr/>
          </p:nvSpPr>
          <p:spPr>
            <a:xfrm>
              <a:off x="7656800" y="3198318"/>
              <a:ext cx="660600" cy="161800"/>
            </a:xfrm>
            <a:custGeom>
              <a:avLst/>
              <a:gdLst/>
              <a:ahLst/>
              <a:cxnLst/>
              <a:rect l="l" t="t" r="r" b="b"/>
              <a:pathLst>
                <a:path w="26424" h="6472" extrusionOk="0">
                  <a:moveTo>
                    <a:pt x="26424" y="6411"/>
                  </a:moveTo>
                  <a:cubicBezTo>
                    <a:pt x="18961" y="6652"/>
                    <a:pt x="11684" y="3823"/>
                    <a:pt x="4520" y="1717"/>
                  </a:cubicBezTo>
                  <a:cubicBezTo>
                    <a:pt x="4232" y="1632"/>
                    <a:pt x="0" y="-572"/>
                    <a:pt x="0" y="153"/>
                  </a:cubicBezTo>
                  <a:cubicBezTo>
                    <a:pt x="0" y="1294"/>
                    <a:pt x="584" y="2475"/>
                    <a:pt x="1391" y="3282"/>
                  </a:cubicBezTo>
                </a:path>
              </a:pathLst>
            </a:custGeom>
            <a:noFill/>
            <a:ln w="38100" cap="flat" cmpd="sng">
              <a:solidFill>
                <a:srgbClr val="F1C232"/>
              </a:solidFill>
              <a:prstDash val="solid"/>
              <a:round/>
              <a:headEnd type="none" w="med" len="med"/>
              <a:tailEnd type="none" w="med" len="med"/>
            </a:ln>
          </p:spPr>
        </p:sp>
        <p:sp>
          <p:nvSpPr>
            <p:cNvPr id="531" name="Google Shape;531;p23"/>
            <p:cNvSpPr/>
            <p:nvPr/>
          </p:nvSpPr>
          <p:spPr>
            <a:xfrm>
              <a:off x="7757829" y="3119575"/>
              <a:ext cx="450925" cy="395475"/>
            </a:xfrm>
            <a:custGeom>
              <a:avLst/>
              <a:gdLst/>
              <a:ahLst/>
              <a:cxnLst/>
              <a:rect l="l" t="t" r="r" b="b"/>
              <a:pathLst>
                <a:path w="18037" h="15819" extrusionOk="0">
                  <a:moveTo>
                    <a:pt x="18037" y="0"/>
                  </a:moveTo>
                  <a:cubicBezTo>
                    <a:pt x="15708" y="1293"/>
                    <a:pt x="13491" y="3180"/>
                    <a:pt x="12300" y="5562"/>
                  </a:cubicBezTo>
                  <a:cubicBezTo>
                    <a:pt x="11338" y="7485"/>
                    <a:pt x="12524" y="10628"/>
                    <a:pt x="10735" y="11821"/>
                  </a:cubicBezTo>
                  <a:cubicBezTo>
                    <a:pt x="7637" y="13887"/>
                    <a:pt x="-1612" y="12627"/>
                    <a:pt x="305" y="15819"/>
                  </a:cubicBezTo>
                </a:path>
              </a:pathLst>
            </a:custGeom>
            <a:noFill/>
            <a:ln w="38100" cap="flat" cmpd="sng">
              <a:solidFill>
                <a:srgbClr val="F1C232"/>
              </a:solidFill>
              <a:prstDash val="solid"/>
              <a:round/>
              <a:headEnd type="none" w="med" len="med"/>
              <a:tailEnd type="none" w="med" len="med"/>
            </a:ln>
          </p:spPr>
        </p:sp>
        <p:sp>
          <p:nvSpPr>
            <p:cNvPr id="532" name="Google Shape;532;p23"/>
            <p:cNvSpPr/>
            <p:nvPr/>
          </p:nvSpPr>
          <p:spPr>
            <a:xfrm>
              <a:off x="7895825" y="3010925"/>
              <a:ext cx="373750" cy="469350"/>
            </a:xfrm>
            <a:custGeom>
              <a:avLst/>
              <a:gdLst/>
              <a:ahLst/>
              <a:cxnLst/>
              <a:rect l="l" t="t" r="r" b="b"/>
              <a:pathLst>
                <a:path w="14950" h="18774" extrusionOk="0">
                  <a:moveTo>
                    <a:pt x="0" y="0"/>
                  </a:moveTo>
                  <a:cubicBezTo>
                    <a:pt x="1571" y="7844"/>
                    <a:pt x="11377" y="11617"/>
                    <a:pt x="14950" y="18774"/>
                  </a:cubicBezTo>
                </a:path>
              </a:pathLst>
            </a:custGeom>
            <a:noFill/>
            <a:ln w="38100" cap="flat" cmpd="sng">
              <a:solidFill>
                <a:srgbClr val="F1C232"/>
              </a:solidFill>
              <a:prstDash val="solid"/>
              <a:round/>
              <a:headEnd type="none" w="med" len="med"/>
              <a:tailEnd type="none" w="med" len="med"/>
            </a:ln>
          </p:spPr>
        </p:sp>
        <p:sp>
          <p:nvSpPr>
            <p:cNvPr id="533" name="Google Shape;533;p23"/>
            <p:cNvSpPr/>
            <p:nvPr/>
          </p:nvSpPr>
          <p:spPr>
            <a:xfrm>
              <a:off x="7752400" y="3132600"/>
              <a:ext cx="346150" cy="434600"/>
            </a:xfrm>
            <a:custGeom>
              <a:avLst/>
              <a:gdLst/>
              <a:ahLst/>
              <a:cxnLst/>
              <a:rect l="l" t="t" r="r" b="b"/>
              <a:pathLst>
                <a:path w="13846" h="17384" extrusionOk="0">
                  <a:moveTo>
                    <a:pt x="0" y="17384"/>
                  </a:moveTo>
                  <a:cubicBezTo>
                    <a:pt x="1561" y="14266"/>
                    <a:pt x="813" y="9404"/>
                    <a:pt x="3825" y="7649"/>
                  </a:cubicBezTo>
                  <a:cubicBezTo>
                    <a:pt x="6452" y="6118"/>
                    <a:pt x="10432" y="8256"/>
                    <a:pt x="12865" y="6432"/>
                  </a:cubicBezTo>
                  <a:cubicBezTo>
                    <a:pt x="14596" y="5134"/>
                    <a:pt x="13756" y="1257"/>
                    <a:pt x="11995" y="0"/>
                  </a:cubicBezTo>
                </a:path>
              </a:pathLst>
            </a:custGeom>
            <a:noFill/>
            <a:ln w="38100" cap="flat" cmpd="sng">
              <a:solidFill>
                <a:srgbClr val="F1C232"/>
              </a:solidFill>
              <a:prstDash val="solid"/>
              <a:round/>
              <a:headEnd type="none" w="med" len="med"/>
              <a:tailEnd type="none" w="med" len="med"/>
            </a:ln>
          </p:spPr>
        </p:sp>
      </p:grpSp>
      <p:sp>
        <p:nvSpPr>
          <p:cNvPr id="534" name="Google Shape;534;p23"/>
          <p:cNvSpPr/>
          <p:nvPr/>
        </p:nvSpPr>
        <p:spPr>
          <a:xfrm rot="-6485262" flipH="1">
            <a:off x="5341176"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535" name="Google Shape;535;p23"/>
          <p:cNvSpPr/>
          <p:nvPr/>
        </p:nvSpPr>
        <p:spPr>
          <a:xfrm rot="6485262">
            <a:off x="3763714"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536" name="Google Shape;536;p23"/>
          <p:cNvSpPr/>
          <p:nvPr/>
        </p:nvSpPr>
        <p:spPr>
          <a:xfrm rot="10800000">
            <a:off x="4552435" y="2168746"/>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537" name="Google Shape;537;p23"/>
          <p:cNvSpPr/>
          <p:nvPr/>
        </p:nvSpPr>
        <p:spPr>
          <a:xfrm rot="2167448">
            <a:off x="4087053"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538" name="Google Shape;538;p23"/>
          <p:cNvSpPr/>
          <p:nvPr/>
        </p:nvSpPr>
        <p:spPr>
          <a:xfrm rot="-2167448" flipH="1">
            <a:off x="5017778"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539" name="Google Shape;539;p23"/>
          <p:cNvSpPr/>
          <p:nvPr/>
        </p:nvSpPr>
        <p:spPr>
          <a:xfrm>
            <a:off x="4416763" y="3146300"/>
            <a:ext cx="420063" cy="289163"/>
          </a:xfrm>
          <a:custGeom>
            <a:avLst/>
            <a:gdLst/>
            <a:ahLst/>
            <a:cxnLst/>
            <a:rect l="l" t="t" r="r" b="b"/>
            <a:pathLst>
              <a:path w="33605" h="23133" extrusionOk="0">
                <a:moveTo>
                  <a:pt x="0" y="23133"/>
                </a:moveTo>
                <a:cubicBezTo>
                  <a:pt x="2435" y="19075"/>
                  <a:pt x="4127" y="14465"/>
                  <a:pt x="7305" y="10958"/>
                </a:cubicBezTo>
                <a:cubicBezTo>
                  <a:pt x="13683" y="3921"/>
                  <a:pt x="24540" y="2832"/>
                  <a:pt x="33605" y="0"/>
                </a:cubicBezTo>
              </a:path>
            </a:pathLst>
          </a:custGeom>
          <a:noFill/>
          <a:ln w="38100" cap="flat" cmpd="sng">
            <a:solidFill>
              <a:srgbClr val="F1C232"/>
            </a:solidFill>
            <a:prstDash val="solid"/>
            <a:round/>
            <a:headEnd type="none" w="med" len="med"/>
            <a:tailEnd type="none" w="med" len="med"/>
          </a:ln>
        </p:spPr>
      </p:sp>
      <p:sp>
        <p:nvSpPr>
          <p:cNvPr id="540" name="Google Shape;540;p23"/>
          <p:cNvSpPr/>
          <p:nvPr/>
        </p:nvSpPr>
        <p:spPr>
          <a:xfrm>
            <a:off x="4413713" y="2966700"/>
            <a:ext cx="273963" cy="413975"/>
          </a:xfrm>
          <a:custGeom>
            <a:avLst/>
            <a:gdLst/>
            <a:ahLst/>
            <a:cxnLst/>
            <a:rect l="l" t="t" r="r" b="b"/>
            <a:pathLst>
              <a:path w="21917" h="33118" extrusionOk="0">
                <a:moveTo>
                  <a:pt x="0" y="0"/>
                </a:moveTo>
                <a:cubicBezTo>
                  <a:pt x="2209" y="4416"/>
                  <a:pt x="6510" y="8222"/>
                  <a:pt x="6819" y="13150"/>
                </a:cubicBezTo>
                <a:cubicBezTo>
                  <a:pt x="7095" y="17561"/>
                  <a:pt x="2967" y="22436"/>
                  <a:pt x="5114" y="26300"/>
                </a:cubicBezTo>
                <a:cubicBezTo>
                  <a:pt x="8050" y="31584"/>
                  <a:pt x="16181" y="31211"/>
                  <a:pt x="21917" y="33118"/>
                </a:cubicBezTo>
              </a:path>
            </a:pathLst>
          </a:custGeom>
          <a:noFill/>
          <a:ln w="38100" cap="flat" cmpd="sng">
            <a:solidFill>
              <a:srgbClr val="F1C232"/>
            </a:solidFill>
            <a:prstDash val="solid"/>
            <a:round/>
            <a:headEnd type="none" w="med" len="med"/>
            <a:tailEnd type="none" w="med" len="med"/>
          </a:ln>
        </p:spPr>
      </p:sp>
      <p:sp>
        <p:nvSpPr>
          <p:cNvPr id="541" name="Google Shape;541;p23"/>
          <p:cNvSpPr/>
          <p:nvPr/>
        </p:nvSpPr>
        <p:spPr>
          <a:xfrm>
            <a:off x="4363841" y="3099836"/>
            <a:ext cx="427325" cy="335625"/>
          </a:xfrm>
          <a:custGeom>
            <a:avLst/>
            <a:gdLst/>
            <a:ahLst/>
            <a:cxnLst/>
            <a:rect l="l" t="t" r="r" b="b"/>
            <a:pathLst>
              <a:path w="34186" h="26850" extrusionOk="0">
                <a:moveTo>
                  <a:pt x="34186" y="7369"/>
                </a:moveTo>
                <a:cubicBezTo>
                  <a:pt x="26609" y="7875"/>
                  <a:pt x="18987" y="9107"/>
                  <a:pt x="11783" y="11509"/>
                </a:cubicBezTo>
                <a:cubicBezTo>
                  <a:pt x="8958" y="12451"/>
                  <a:pt x="6190" y="14721"/>
                  <a:pt x="3260" y="14188"/>
                </a:cubicBezTo>
                <a:cubicBezTo>
                  <a:pt x="100" y="13613"/>
                  <a:pt x="-612" y="7915"/>
                  <a:pt x="581" y="4934"/>
                </a:cubicBezTo>
                <a:cubicBezTo>
                  <a:pt x="2999" y="-1107"/>
                  <a:pt x="16358" y="-1632"/>
                  <a:pt x="20062" y="3717"/>
                </a:cubicBezTo>
                <a:cubicBezTo>
                  <a:pt x="23302" y="8396"/>
                  <a:pt x="18572" y="15095"/>
                  <a:pt x="19088" y="20763"/>
                </a:cubicBezTo>
                <a:cubicBezTo>
                  <a:pt x="19370" y="23858"/>
                  <a:pt x="23042" y="26850"/>
                  <a:pt x="26150" y="26850"/>
                </a:cubicBezTo>
              </a:path>
            </a:pathLst>
          </a:custGeom>
          <a:noFill/>
          <a:ln w="38100" cap="flat" cmpd="sng">
            <a:solidFill>
              <a:srgbClr val="F1C232"/>
            </a:solidFill>
            <a:prstDash val="solid"/>
            <a:round/>
            <a:headEnd type="none" w="med" len="med"/>
            <a:tailEnd type="none" w="med" len="med"/>
          </a:ln>
        </p:spPr>
      </p:sp>
      <p:sp>
        <p:nvSpPr>
          <p:cNvPr id="542" name="Google Shape;542;p23"/>
          <p:cNvSpPr/>
          <p:nvPr/>
        </p:nvSpPr>
        <p:spPr>
          <a:xfrm>
            <a:off x="4365013" y="2942350"/>
            <a:ext cx="453675" cy="414725"/>
          </a:xfrm>
          <a:custGeom>
            <a:avLst/>
            <a:gdLst/>
            <a:ahLst/>
            <a:cxnLst/>
            <a:rect l="l" t="t" r="r" b="b"/>
            <a:pathLst>
              <a:path w="36294" h="33178" extrusionOk="0">
                <a:moveTo>
                  <a:pt x="16072" y="0"/>
                </a:moveTo>
                <a:cubicBezTo>
                  <a:pt x="18478" y="5415"/>
                  <a:pt x="25652" y="7856"/>
                  <a:pt x="27761" y="13393"/>
                </a:cubicBezTo>
                <a:cubicBezTo>
                  <a:pt x="29698" y="18478"/>
                  <a:pt x="25844" y="24459"/>
                  <a:pt x="27274" y="29709"/>
                </a:cubicBezTo>
                <a:cubicBezTo>
                  <a:pt x="27905" y="32023"/>
                  <a:pt x="32028" y="34192"/>
                  <a:pt x="33849" y="32631"/>
                </a:cubicBezTo>
                <a:cubicBezTo>
                  <a:pt x="36931" y="29989"/>
                  <a:pt x="37353" y="22015"/>
                  <a:pt x="33605" y="20455"/>
                </a:cubicBezTo>
                <a:cubicBezTo>
                  <a:pt x="25042" y="16890"/>
                  <a:pt x="14673" y="21082"/>
                  <a:pt x="6088" y="24595"/>
                </a:cubicBezTo>
                <a:cubicBezTo>
                  <a:pt x="3268" y="25749"/>
                  <a:pt x="2891" y="30452"/>
                  <a:pt x="0" y="31413"/>
                </a:cubicBezTo>
              </a:path>
            </a:pathLst>
          </a:custGeom>
          <a:noFill/>
          <a:ln w="38100" cap="flat" cmpd="sng">
            <a:solidFill>
              <a:srgbClr val="F1C232"/>
            </a:solidFill>
            <a:prstDash val="solid"/>
            <a:round/>
            <a:headEnd type="none" w="med" len="med"/>
            <a:tailEnd type="none" w="med" len="med"/>
          </a:ln>
        </p:spPr>
      </p:sp>
      <p:sp>
        <p:nvSpPr>
          <p:cNvPr id="543" name="Google Shape;543;p23"/>
          <p:cNvSpPr/>
          <p:nvPr/>
        </p:nvSpPr>
        <p:spPr>
          <a:xfrm>
            <a:off x="4340663" y="2972714"/>
            <a:ext cx="441350" cy="510425"/>
          </a:xfrm>
          <a:custGeom>
            <a:avLst/>
            <a:gdLst/>
            <a:ahLst/>
            <a:cxnLst/>
            <a:rect l="l" t="t" r="r" b="b"/>
            <a:pathLst>
              <a:path w="35308" h="40834" extrusionOk="0">
                <a:moveTo>
                  <a:pt x="0" y="21923"/>
                </a:moveTo>
                <a:cubicBezTo>
                  <a:pt x="4868" y="17746"/>
                  <a:pt x="16935" y="15448"/>
                  <a:pt x="19238" y="21435"/>
                </a:cubicBezTo>
                <a:cubicBezTo>
                  <a:pt x="21093" y="26256"/>
                  <a:pt x="14339" y="32377"/>
                  <a:pt x="17046" y="36777"/>
                </a:cubicBezTo>
                <a:cubicBezTo>
                  <a:pt x="19515" y="40790"/>
                  <a:pt x="26930" y="41953"/>
                  <a:pt x="30926" y="39456"/>
                </a:cubicBezTo>
                <a:cubicBezTo>
                  <a:pt x="37891" y="35105"/>
                  <a:pt x="35821" y="20062"/>
                  <a:pt x="29465" y="14861"/>
                </a:cubicBezTo>
                <a:cubicBezTo>
                  <a:pt x="22888" y="9480"/>
                  <a:pt x="7178" y="12602"/>
                  <a:pt x="6331" y="4146"/>
                </a:cubicBezTo>
                <a:cubicBezTo>
                  <a:pt x="5675" y="-2396"/>
                  <a:pt x="21107" y="-183"/>
                  <a:pt x="26056" y="4146"/>
                </a:cubicBezTo>
                <a:cubicBezTo>
                  <a:pt x="35321" y="12251"/>
                  <a:pt x="17470" y="28073"/>
                  <a:pt x="8766" y="36777"/>
                </a:cubicBezTo>
              </a:path>
            </a:pathLst>
          </a:custGeom>
          <a:noFill/>
          <a:ln w="38100" cap="flat" cmpd="sng">
            <a:solidFill>
              <a:srgbClr val="F1C232"/>
            </a:solidFill>
            <a:prstDash val="solid"/>
            <a:round/>
            <a:headEnd type="none" w="med" len="med"/>
            <a:tailEnd type="none" w="med" len="med"/>
          </a:ln>
        </p:spPr>
      </p:sp>
      <p:sp>
        <p:nvSpPr>
          <p:cNvPr id="544" name="Google Shape;544;p23"/>
          <p:cNvSpPr/>
          <p:nvPr/>
        </p:nvSpPr>
        <p:spPr>
          <a:xfrm>
            <a:off x="4336629" y="2954525"/>
            <a:ext cx="448450" cy="512988"/>
          </a:xfrm>
          <a:custGeom>
            <a:avLst/>
            <a:gdLst/>
            <a:ahLst/>
            <a:cxnLst/>
            <a:rect l="l" t="t" r="r" b="b"/>
            <a:pathLst>
              <a:path w="35876" h="41039" extrusionOk="0">
                <a:moveTo>
                  <a:pt x="35876" y="12176"/>
                </a:moveTo>
                <a:cubicBezTo>
                  <a:pt x="33278" y="13474"/>
                  <a:pt x="30137" y="14019"/>
                  <a:pt x="28084" y="16072"/>
                </a:cubicBezTo>
                <a:cubicBezTo>
                  <a:pt x="24741" y="19415"/>
                  <a:pt x="24638" y="25253"/>
                  <a:pt x="25161" y="29952"/>
                </a:cubicBezTo>
                <a:cubicBezTo>
                  <a:pt x="25573" y="33653"/>
                  <a:pt x="31860" y="39489"/>
                  <a:pt x="28327" y="40667"/>
                </a:cubicBezTo>
                <a:cubicBezTo>
                  <a:pt x="23195" y="42378"/>
                  <a:pt x="17049" y="37559"/>
                  <a:pt x="13960" y="33118"/>
                </a:cubicBezTo>
                <a:cubicBezTo>
                  <a:pt x="10617" y="28313"/>
                  <a:pt x="9699" y="20564"/>
                  <a:pt x="4219" y="18507"/>
                </a:cubicBezTo>
                <a:cubicBezTo>
                  <a:pt x="680" y="17179"/>
                  <a:pt x="-1376" y="26792"/>
                  <a:pt x="1297" y="29465"/>
                </a:cubicBezTo>
                <a:cubicBezTo>
                  <a:pt x="5492" y="33660"/>
                  <a:pt x="15463" y="29538"/>
                  <a:pt x="18343" y="24352"/>
                </a:cubicBezTo>
                <a:cubicBezTo>
                  <a:pt x="21498" y="18671"/>
                  <a:pt x="15329" y="10954"/>
                  <a:pt x="17612" y="4870"/>
                </a:cubicBezTo>
                <a:cubicBezTo>
                  <a:pt x="18786" y="1740"/>
                  <a:pt x="23036" y="0"/>
                  <a:pt x="26379" y="0"/>
                </a:cubicBezTo>
              </a:path>
            </a:pathLst>
          </a:custGeom>
          <a:noFill/>
          <a:ln w="38100" cap="flat" cmpd="sng">
            <a:solidFill>
              <a:srgbClr val="F1C232"/>
            </a:solidFill>
            <a:prstDash val="solid"/>
            <a:round/>
            <a:headEnd type="none" w="med" len="med"/>
            <a:tailEnd type="none" w="med" len="med"/>
          </a:ln>
        </p:spPr>
      </p:sp>
      <p:sp>
        <p:nvSpPr>
          <p:cNvPr id="545" name="Google Shape;545;p23"/>
          <p:cNvSpPr/>
          <p:nvPr/>
        </p:nvSpPr>
        <p:spPr>
          <a:xfrm rot="6485262">
            <a:off x="3236964" y="3041437"/>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546" name="Google Shape;546;p23"/>
          <p:cNvSpPr/>
          <p:nvPr/>
        </p:nvSpPr>
        <p:spPr>
          <a:xfrm rot="10800000">
            <a:off x="4021235" y="1726333"/>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547" name="Google Shape;547;p23"/>
          <p:cNvSpPr/>
          <p:nvPr/>
        </p:nvSpPr>
        <p:spPr>
          <a:xfrm rot="2167448">
            <a:off x="4169953" y="4226445"/>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548" name="Google Shape;548;p23"/>
          <p:cNvSpPr/>
          <p:nvPr/>
        </p:nvSpPr>
        <p:spPr>
          <a:xfrm rot="-2167448" flipH="1">
            <a:off x="5626360" y="3780045"/>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549" name="Google Shape;549;p23"/>
          <p:cNvSpPr txBox="1"/>
          <p:nvPr/>
        </p:nvSpPr>
        <p:spPr>
          <a:xfrm>
            <a:off x="352650" y="4638250"/>
            <a:ext cx="2121450" cy="553984"/>
          </a:xfrm>
          <a:prstGeom prst="rect">
            <a:avLst/>
          </a:prstGeom>
          <a:noFill/>
          <a:ln>
            <a:noFill/>
          </a:ln>
        </p:spPr>
        <p:txBody>
          <a:bodyPr spcFirstLastPara="1" wrap="square" lIns="45713" tIns="45713" rIns="45713" bIns="45713" anchor="t" anchorCtr="0">
            <a:spAutoFit/>
          </a:bodyPr>
          <a:lstStyle/>
          <a:p>
            <a:pPr algn="ctr"/>
            <a:r>
              <a:rPr lang="en" sz="3000">
                <a:solidFill>
                  <a:srgbClr val="FFFFFF"/>
                </a:solidFill>
              </a:rPr>
              <a:t>Livelock</a:t>
            </a:r>
            <a:endParaRPr sz="3000">
              <a:solidFill>
                <a:srgbClr val="FFFFFF"/>
              </a:solidFill>
            </a:endParaRPr>
          </a:p>
        </p:txBody>
      </p:sp>
      <p:sp>
        <p:nvSpPr>
          <p:cNvPr id="550" name="Google Shape;550;p23"/>
          <p:cNvSpPr/>
          <p:nvPr/>
        </p:nvSpPr>
        <p:spPr>
          <a:xfrm rot="-6485262" flipH="1">
            <a:off x="5733114" y="22234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1000"/>
                                        <p:tgtEl>
                                          <p:spTgt spid="534"/>
                                        </p:tgtEl>
                                      </p:cBhvr>
                                    </p:animEffect>
                                    <p:set>
                                      <p:cBhvr>
                                        <p:cTn id="7" dur="1" fill="hold">
                                          <p:stCondLst>
                                            <p:cond delay="1000"/>
                                          </p:stCondLst>
                                        </p:cTn>
                                        <p:tgtEl>
                                          <p:spTgt spid="534"/>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1000"/>
                                        <p:tgtEl>
                                          <p:spTgt spid="535"/>
                                        </p:tgtEl>
                                      </p:cBhvr>
                                    </p:animEffect>
                                    <p:set>
                                      <p:cBhvr>
                                        <p:cTn id="10" dur="1" fill="hold">
                                          <p:stCondLst>
                                            <p:cond delay="1000"/>
                                          </p:stCondLst>
                                        </p:cTn>
                                        <p:tgtEl>
                                          <p:spTgt spid="535"/>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1000"/>
                                        <p:tgtEl>
                                          <p:spTgt spid="536"/>
                                        </p:tgtEl>
                                      </p:cBhvr>
                                    </p:animEffect>
                                    <p:set>
                                      <p:cBhvr>
                                        <p:cTn id="13" dur="1" fill="hold">
                                          <p:stCondLst>
                                            <p:cond delay="1000"/>
                                          </p:stCondLst>
                                        </p:cTn>
                                        <p:tgtEl>
                                          <p:spTgt spid="536"/>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1000"/>
                                        <p:tgtEl>
                                          <p:spTgt spid="538"/>
                                        </p:tgtEl>
                                      </p:cBhvr>
                                    </p:animEffect>
                                    <p:set>
                                      <p:cBhvr>
                                        <p:cTn id="16" dur="1" fill="hold">
                                          <p:stCondLst>
                                            <p:cond delay="1000"/>
                                          </p:stCondLst>
                                        </p:cTn>
                                        <p:tgtEl>
                                          <p:spTgt spid="538"/>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1000"/>
                                        <p:tgtEl>
                                          <p:spTgt spid="537"/>
                                        </p:tgtEl>
                                      </p:cBhvr>
                                    </p:animEffect>
                                    <p:set>
                                      <p:cBhvr>
                                        <p:cTn id="19" dur="1" fill="hold">
                                          <p:stCondLst>
                                            <p:cond delay="1000"/>
                                          </p:stCondLst>
                                        </p:cTn>
                                        <p:tgtEl>
                                          <p:spTgt spid="537"/>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545"/>
                                        </p:tgtEl>
                                        <p:attrNameLst>
                                          <p:attrName>style.visibility</p:attrName>
                                        </p:attrNameLst>
                                      </p:cBhvr>
                                      <p:to>
                                        <p:strVal val="visible"/>
                                      </p:to>
                                    </p:set>
                                    <p:animEffect transition="in" filter="fade">
                                      <p:cBhvr>
                                        <p:cTn id="22" dur="1000"/>
                                        <p:tgtEl>
                                          <p:spTgt spid="545"/>
                                        </p:tgtEl>
                                      </p:cBhvr>
                                    </p:animEffect>
                                  </p:childTnLst>
                                </p:cTn>
                              </p:par>
                              <p:par>
                                <p:cTn id="23" presetID="10" presetClass="entr" presetSubtype="0" fill="hold" nodeType="withEffect">
                                  <p:stCondLst>
                                    <p:cond delay="0"/>
                                  </p:stCondLst>
                                  <p:childTnLst>
                                    <p:set>
                                      <p:cBhvr>
                                        <p:cTn id="24" dur="1" fill="hold">
                                          <p:stCondLst>
                                            <p:cond delay="0"/>
                                          </p:stCondLst>
                                        </p:cTn>
                                        <p:tgtEl>
                                          <p:spTgt spid="546"/>
                                        </p:tgtEl>
                                        <p:attrNameLst>
                                          <p:attrName>style.visibility</p:attrName>
                                        </p:attrNameLst>
                                      </p:cBhvr>
                                      <p:to>
                                        <p:strVal val="visible"/>
                                      </p:to>
                                    </p:set>
                                    <p:animEffect transition="in" filter="fade">
                                      <p:cBhvr>
                                        <p:cTn id="25" dur="1000"/>
                                        <p:tgtEl>
                                          <p:spTgt spid="546"/>
                                        </p:tgtEl>
                                      </p:cBhvr>
                                    </p:animEffect>
                                  </p:childTnLst>
                                </p:cTn>
                              </p:par>
                              <p:par>
                                <p:cTn id="26" presetID="10" presetClass="entr" presetSubtype="0" fill="hold" nodeType="withEffect">
                                  <p:stCondLst>
                                    <p:cond delay="0"/>
                                  </p:stCondLst>
                                  <p:childTnLst>
                                    <p:set>
                                      <p:cBhvr>
                                        <p:cTn id="27" dur="1" fill="hold">
                                          <p:stCondLst>
                                            <p:cond delay="0"/>
                                          </p:stCondLst>
                                        </p:cTn>
                                        <p:tgtEl>
                                          <p:spTgt spid="548"/>
                                        </p:tgtEl>
                                        <p:attrNameLst>
                                          <p:attrName>style.visibility</p:attrName>
                                        </p:attrNameLst>
                                      </p:cBhvr>
                                      <p:to>
                                        <p:strVal val="visible"/>
                                      </p:to>
                                    </p:set>
                                    <p:animEffect transition="in" filter="fade">
                                      <p:cBhvr>
                                        <p:cTn id="28" dur="1000"/>
                                        <p:tgtEl>
                                          <p:spTgt spid="548"/>
                                        </p:tgtEl>
                                      </p:cBhvr>
                                    </p:animEffect>
                                  </p:childTnLst>
                                </p:cTn>
                              </p:par>
                              <p:par>
                                <p:cTn id="29" presetID="10" presetClass="entr" presetSubtype="0" fill="hold" nodeType="withEffect">
                                  <p:stCondLst>
                                    <p:cond delay="0"/>
                                  </p:stCondLst>
                                  <p:childTnLst>
                                    <p:set>
                                      <p:cBhvr>
                                        <p:cTn id="30" dur="1" fill="hold">
                                          <p:stCondLst>
                                            <p:cond delay="0"/>
                                          </p:stCondLst>
                                        </p:cTn>
                                        <p:tgtEl>
                                          <p:spTgt spid="550"/>
                                        </p:tgtEl>
                                        <p:attrNameLst>
                                          <p:attrName>style.visibility</p:attrName>
                                        </p:attrNameLst>
                                      </p:cBhvr>
                                      <p:to>
                                        <p:strVal val="visible"/>
                                      </p:to>
                                    </p:set>
                                    <p:animEffect transition="in" filter="fade">
                                      <p:cBhvr>
                                        <p:cTn id="31" dur="1000"/>
                                        <p:tgtEl>
                                          <p:spTgt spid="550"/>
                                        </p:tgtEl>
                                      </p:cBhvr>
                                    </p:animEffect>
                                  </p:childTnLst>
                                </p:cTn>
                              </p:par>
                              <p:par>
                                <p:cTn id="32" presetID="10" presetClass="entr" presetSubtype="0" fill="hold" nodeType="withEffect">
                                  <p:stCondLst>
                                    <p:cond delay="0"/>
                                  </p:stCondLst>
                                  <p:childTnLst>
                                    <p:set>
                                      <p:cBhvr>
                                        <p:cTn id="33" dur="1" fill="hold">
                                          <p:stCondLst>
                                            <p:cond delay="0"/>
                                          </p:stCondLst>
                                        </p:cTn>
                                        <p:tgtEl>
                                          <p:spTgt spid="547"/>
                                        </p:tgtEl>
                                        <p:attrNameLst>
                                          <p:attrName>style.visibility</p:attrName>
                                        </p:attrNameLst>
                                      </p:cBhvr>
                                      <p:to>
                                        <p:strVal val="visible"/>
                                      </p:to>
                                    </p:set>
                                    <p:animEffect transition="in" filter="fade">
                                      <p:cBhvr>
                                        <p:cTn id="34" dur="1000"/>
                                        <p:tgtEl>
                                          <p:spTgt spid="54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549"/>
                                        </p:tgtEl>
                                        <p:attrNameLst>
                                          <p:attrName>style.visibility</p:attrName>
                                        </p:attrNameLst>
                                      </p:cBhvr>
                                      <p:to>
                                        <p:strVal val="visible"/>
                                      </p:to>
                                    </p:set>
                                    <p:animEffect transition="in" filter="fade">
                                      <p:cBhvr>
                                        <p:cTn id="39" dur="1000"/>
                                        <p:tgtEl>
                                          <p:spTgt spid="5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24"/>
          <p:cNvSpPr/>
          <p:nvPr/>
        </p:nvSpPr>
        <p:spPr>
          <a:xfrm>
            <a:off x="3389862" y="2035757"/>
            <a:ext cx="2364300" cy="2364300"/>
          </a:xfrm>
          <a:prstGeom prst="ellipse">
            <a:avLst/>
          </a:prstGeom>
          <a:solidFill>
            <a:srgbClr val="783F04"/>
          </a:solidFill>
          <a:ln>
            <a:noFill/>
          </a:ln>
        </p:spPr>
        <p:txBody>
          <a:bodyPr spcFirstLastPara="1" wrap="square" lIns="45713" tIns="45713" rIns="45713" bIns="45713" anchor="ctr" anchorCtr="0">
            <a:noAutofit/>
          </a:bodyPr>
          <a:lstStyle/>
          <a:p>
            <a:endParaRPr sz="900"/>
          </a:p>
        </p:txBody>
      </p:sp>
      <p:pic>
        <p:nvPicPr>
          <p:cNvPr id="556" name="Google Shape;556;p24"/>
          <p:cNvPicPr preferRelativeResize="0"/>
          <p:nvPr/>
        </p:nvPicPr>
        <p:blipFill>
          <a:blip r:embed="rId3">
            <a:alphaModFix/>
          </a:blip>
          <a:stretch>
            <a:fillRect/>
          </a:stretch>
        </p:blipFill>
        <p:spPr>
          <a:xfrm>
            <a:off x="5100038" y="1243400"/>
            <a:ext cx="1219200" cy="1219200"/>
          </a:xfrm>
          <a:prstGeom prst="rect">
            <a:avLst/>
          </a:prstGeom>
          <a:noFill/>
          <a:ln>
            <a:noFill/>
          </a:ln>
        </p:spPr>
      </p:pic>
      <p:pic>
        <p:nvPicPr>
          <p:cNvPr id="557" name="Google Shape;557;p24"/>
          <p:cNvPicPr preferRelativeResize="0"/>
          <p:nvPr/>
        </p:nvPicPr>
        <p:blipFill>
          <a:blip r:embed="rId4">
            <a:alphaModFix/>
          </a:blip>
          <a:stretch>
            <a:fillRect/>
          </a:stretch>
        </p:blipFill>
        <p:spPr>
          <a:xfrm>
            <a:off x="3962394" y="4395400"/>
            <a:ext cx="1219200" cy="1219200"/>
          </a:xfrm>
          <a:prstGeom prst="rect">
            <a:avLst/>
          </a:prstGeom>
          <a:noFill/>
          <a:ln>
            <a:noFill/>
          </a:ln>
        </p:spPr>
      </p:pic>
      <p:pic>
        <p:nvPicPr>
          <p:cNvPr id="558" name="Google Shape;558;p24"/>
          <p:cNvPicPr preferRelativeResize="0"/>
          <p:nvPr/>
        </p:nvPicPr>
        <p:blipFill>
          <a:blip r:embed="rId5">
            <a:alphaModFix/>
          </a:blip>
          <a:stretch>
            <a:fillRect/>
          </a:stretch>
        </p:blipFill>
        <p:spPr>
          <a:xfrm>
            <a:off x="2292325" y="3217875"/>
            <a:ext cx="1219200" cy="1219200"/>
          </a:xfrm>
          <a:prstGeom prst="rect">
            <a:avLst/>
          </a:prstGeom>
          <a:noFill/>
          <a:ln>
            <a:noFill/>
          </a:ln>
        </p:spPr>
      </p:pic>
      <p:pic>
        <p:nvPicPr>
          <p:cNvPr id="559" name="Google Shape;559;p24"/>
          <p:cNvPicPr preferRelativeResize="0"/>
          <p:nvPr/>
        </p:nvPicPr>
        <p:blipFill>
          <a:blip r:embed="rId6">
            <a:alphaModFix/>
          </a:blip>
          <a:stretch>
            <a:fillRect/>
          </a:stretch>
        </p:blipFill>
        <p:spPr>
          <a:xfrm>
            <a:off x="5632475" y="3217875"/>
            <a:ext cx="1219200" cy="1219200"/>
          </a:xfrm>
          <a:prstGeom prst="rect">
            <a:avLst/>
          </a:prstGeom>
          <a:noFill/>
          <a:ln>
            <a:noFill/>
          </a:ln>
        </p:spPr>
      </p:pic>
      <p:pic>
        <p:nvPicPr>
          <p:cNvPr id="560" name="Google Shape;560;p24"/>
          <p:cNvPicPr preferRelativeResize="0"/>
          <p:nvPr/>
        </p:nvPicPr>
        <p:blipFill>
          <a:blip r:embed="rId7">
            <a:alphaModFix/>
          </a:blip>
          <a:stretch>
            <a:fillRect/>
          </a:stretch>
        </p:blipFill>
        <p:spPr>
          <a:xfrm>
            <a:off x="2824757" y="1243400"/>
            <a:ext cx="1219200" cy="1219200"/>
          </a:xfrm>
          <a:prstGeom prst="rect">
            <a:avLst/>
          </a:prstGeom>
          <a:noFill/>
          <a:ln>
            <a:noFill/>
          </a:ln>
        </p:spPr>
      </p:pic>
      <p:grpSp>
        <p:nvGrpSpPr>
          <p:cNvPr id="561" name="Google Shape;561;p24"/>
          <p:cNvGrpSpPr/>
          <p:nvPr/>
        </p:nvGrpSpPr>
        <p:grpSpPr>
          <a:xfrm>
            <a:off x="4157195" y="2803111"/>
            <a:ext cx="829600" cy="829600"/>
            <a:chOff x="7509900" y="2868375"/>
            <a:chExt cx="903900" cy="903900"/>
          </a:xfrm>
        </p:grpSpPr>
        <p:sp>
          <p:nvSpPr>
            <p:cNvPr id="562" name="Google Shape;562;p24"/>
            <p:cNvSpPr/>
            <p:nvPr/>
          </p:nvSpPr>
          <p:spPr>
            <a:xfrm>
              <a:off x="7509900" y="2868375"/>
              <a:ext cx="903900" cy="903900"/>
            </a:xfrm>
            <a:prstGeom prst="ellipse">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563" name="Google Shape;563;p24"/>
            <p:cNvSpPr/>
            <p:nvPr/>
          </p:nvSpPr>
          <p:spPr>
            <a:xfrm>
              <a:off x="7726325" y="3187287"/>
              <a:ext cx="281375" cy="421875"/>
            </a:xfrm>
            <a:custGeom>
              <a:avLst/>
              <a:gdLst/>
              <a:ahLst/>
              <a:cxnLst/>
              <a:rect l="l" t="t" r="r" b="b"/>
              <a:pathLst>
                <a:path w="11255" h="16875" extrusionOk="0">
                  <a:moveTo>
                    <a:pt x="0" y="1985"/>
                  </a:moveTo>
                  <a:cubicBezTo>
                    <a:pt x="3409" y="525"/>
                    <a:pt x="10171" y="-1599"/>
                    <a:pt x="11126" y="1985"/>
                  </a:cubicBezTo>
                  <a:cubicBezTo>
                    <a:pt x="11977" y="5177"/>
                    <a:pt x="7498" y="7599"/>
                    <a:pt x="5042" y="9808"/>
                  </a:cubicBezTo>
                  <a:cubicBezTo>
                    <a:pt x="3517" y="11179"/>
                    <a:pt x="7922" y="12750"/>
                    <a:pt x="9562" y="13980"/>
                  </a:cubicBezTo>
                  <a:cubicBezTo>
                    <a:pt x="10372" y="14587"/>
                    <a:pt x="11636" y="16225"/>
                    <a:pt x="10778" y="16762"/>
                  </a:cubicBezTo>
                  <a:cubicBezTo>
                    <a:pt x="9613" y="17490"/>
                    <a:pt x="7707" y="13849"/>
                    <a:pt x="8866" y="13111"/>
                  </a:cubicBezTo>
                </a:path>
              </a:pathLst>
            </a:custGeom>
            <a:noFill/>
            <a:ln w="38100" cap="flat" cmpd="sng">
              <a:solidFill>
                <a:srgbClr val="F1C232"/>
              </a:solidFill>
              <a:prstDash val="solid"/>
              <a:round/>
              <a:headEnd type="none" w="med" len="med"/>
              <a:tailEnd type="none" w="med" len="med"/>
            </a:ln>
          </p:spPr>
        </p:sp>
        <p:sp>
          <p:nvSpPr>
            <p:cNvPr id="564" name="Google Shape;564;p24"/>
            <p:cNvSpPr/>
            <p:nvPr/>
          </p:nvSpPr>
          <p:spPr>
            <a:xfrm>
              <a:off x="7829049" y="3032650"/>
              <a:ext cx="272850" cy="456325"/>
            </a:xfrm>
            <a:custGeom>
              <a:avLst/>
              <a:gdLst/>
              <a:ahLst/>
              <a:cxnLst/>
              <a:rect l="l" t="t" r="r" b="b"/>
              <a:pathLst>
                <a:path w="10914" h="18253" extrusionOk="0">
                  <a:moveTo>
                    <a:pt x="4236" y="0"/>
                  </a:moveTo>
                  <a:cubicBezTo>
                    <a:pt x="1862" y="3263"/>
                    <a:pt x="-1710" y="8598"/>
                    <a:pt x="933" y="11647"/>
                  </a:cubicBezTo>
                  <a:cubicBezTo>
                    <a:pt x="3470" y="14574"/>
                    <a:pt x="12913" y="15228"/>
                    <a:pt x="10494" y="18253"/>
                  </a:cubicBezTo>
                </a:path>
              </a:pathLst>
            </a:custGeom>
            <a:noFill/>
            <a:ln w="38100" cap="flat" cmpd="sng">
              <a:solidFill>
                <a:srgbClr val="F1C232"/>
              </a:solidFill>
              <a:prstDash val="solid"/>
              <a:round/>
              <a:headEnd type="none" w="med" len="med"/>
              <a:tailEnd type="none" w="med" len="med"/>
            </a:ln>
          </p:spPr>
        </p:sp>
        <p:sp>
          <p:nvSpPr>
            <p:cNvPr id="565" name="Google Shape;565;p24"/>
            <p:cNvSpPr/>
            <p:nvPr/>
          </p:nvSpPr>
          <p:spPr>
            <a:xfrm>
              <a:off x="7938508" y="3145650"/>
              <a:ext cx="222425" cy="356375"/>
            </a:xfrm>
            <a:custGeom>
              <a:avLst/>
              <a:gdLst/>
              <a:ahLst/>
              <a:cxnLst/>
              <a:rect l="l" t="t" r="r" b="b"/>
              <a:pathLst>
                <a:path w="8897" h="14255" extrusionOk="0">
                  <a:moveTo>
                    <a:pt x="8897" y="0"/>
                  </a:moveTo>
                  <a:cubicBezTo>
                    <a:pt x="5700" y="999"/>
                    <a:pt x="1621" y="2006"/>
                    <a:pt x="205" y="5041"/>
                  </a:cubicBezTo>
                  <a:cubicBezTo>
                    <a:pt x="-1089" y="7814"/>
                    <a:pt x="5221" y="8570"/>
                    <a:pt x="7507" y="10604"/>
                  </a:cubicBezTo>
                  <a:cubicBezTo>
                    <a:pt x="8600" y="11576"/>
                    <a:pt x="6516" y="14014"/>
                    <a:pt x="5073" y="14255"/>
                  </a:cubicBezTo>
                </a:path>
              </a:pathLst>
            </a:custGeom>
            <a:noFill/>
            <a:ln w="38100" cap="flat" cmpd="sng">
              <a:solidFill>
                <a:srgbClr val="F1C232"/>
              </a:solidFill>
              <a:prstDash val="solid"/>
              <a:round/>
              <a:headEnd type="none" w="med" len="med"/>
              <a:tailEnd type="none" w="med" len="med"/>
            </a:ln>
          </p:spPr>
        </p:sp>
        <p:sp>
          <p:nvSpPr>
            <p:cNvPr id="566" name="Google Shape;566;p24"/>
            <p:cNvSpPr/>
            <p:nvPr/>
          </p:nvSpPr>
          <p:spPr>
            <a:xfrm>
              <a:off x="7743725" y="3093500"/>
              <a:ext cx="518875" cy="321600"/>
            </a:xfrm>
            <a:custGeom>
              <a:avLst/>
              <a:gdLst/>
              <a:ahLst/>
              <a:cxnLst/>
              <a:rect l="l" t="t" r="r" b="b"/>
              <a:pathLst>
                <a:path w="20755" h="12864" extrusionOk="0">
                  <a:moveTo>
                    <a:pt x="0" y="0"/>
                  </a:moveTo>
                  <a:cubicBezTo>
                    <a:pt x="5394" y="897"/>
                    <a:pt x="12760" y="-760"/>
                    <a:pt x="15993" y="3650"/>
                  </a:cubicBezTo>
                  <a:cubicBezTo>
                    <a:pt x="17475" y="5672"/>
                    <a:pt x="22372" y="8719"/>
                    <a:pt x="20165" y="9908"/>
                  </a:cubicBezTo>
                  <a:cubicBezTo>
                    <a:pt x="14587" y="12912"/>
                    <a:pt x="1390" y="6529"/>
                    <a:pt x="1390" y="12864"/>
                  </a:cubicBezTo>
                </a:path>
              </a:pathLst>
            </a:custGeom>
            <a:noFill/>
            <a:ln w="38100" cap="flat" cmpd="sng">
              <a:solidFill>
                <a:srgbClr val="F1C232"/>
              </a:solidFill>
              <a:prstDash val="solid"/>
              <a:round/>
              <a:headEnd type="none" w="med" len="med"/>
              <a:tailEnd type="none" w="med" len="med"/>
            </a:ln>
          </p:spPr>
        </p:sp>
        <p:sp>
          <p:nvSpPr>
            <p:cNvPr id="567" name="Google Shape;567;p24"/>
            <p:cNvSpPr/>
            <p:nvPr/>
          </p:nvSpPr>
          <p:spPr>
            <a:xfrm>
              <a:off x="7662050" y="3010925"/>
              <a:ext cx="411975" cy="478050"/>
            </a:xfrm>
            <a:custGeom>
              <a:avLst/>
              <a:gdLst/>
              <a:ahLst/>
              <a:cxnLst/>
              <a:rect l="l" t="t" r="r" b="b"/>
              <a:pathLst>
                <a:path w="16479" h="19122" extrusionOk="0">
                  <a:moveTo>
                    <a:pt x="16479" y="0"/>
                  </a:moveTo>
                  <a:cubicBezTo>
                    <a:pt x="9984" y="1946"/>
                    <a:pt x="3470" y="6343"/>
                    <a:pt x="311" y="12342"/>
                  </a:cubicBezTo>
                  <a:cubicBezTo>
                    <a:pt x="-872" y="14589"/>
                    <a:pt x="1757" y="17597"/>
                    <a:pt x="3788" y="19122"/>
                  </a:cubicBezTo>
                </a:path>
              </a:pathLst>
            </a:custGeom>
            <a:noFill/>
            <a:ln w="38100" cap="flat" cmpd="sng">
              <a:solidFill>
                <a:srgbClr val="F1C232"/>
              </a:solidFill>
              <a:prstDash val="solid"/>
              <a:round/>
              <a:headEnd type="none" w="med" len="med"/>
              <a:tailEnd type="none" w="med" len="med"/>
            </a:ln>
          </p:spPr>
        </p:sp>
        <p:sp>
          <p:nvSpPr>
            <p:cNvPr id="568" name="Google Shape;568;p24"/>
            <p:cNvSpPr/>
            <p:nvPr/>
          </p:nvSpPr>
          <p:spPr>
            <a:xfrm>
              <a:off x="7817600" y="3015250"/>
              <a:ext cx="398400" cy="587225"/>
            </a:xfrm>
            <a:custGeom>
              <a:avLst/>
              <a:gdLst/>
              <a:ahLst/>
              <a:cxnLst/>
              <a:rect l="l" t="t" r="r" b="b"/>
              <a:pathLst>
                <a:path w="15936" h="23489" extrusionOk="0">
                  <a:moveTo>
                    <a:pt x="0" y="0"/>
                  </a:moveTo>
                  <a:cubicBezTo>
                    <a:pt x="0" y="8167"/>
                    <a:pt x="2230" y="20746"/>
                    <a:pt x="10257" y="22252"/>
                  </a:cubicBezTo>
                  <a:cubicBezTo>
                    <a:pt x="12203" y="22617"/>
                    <a:pt x="15960" y="18191"/>
                    <a:pt x="15819" y="20166"/>
                  </a:cubicBezTo>
                  <a:cubicBezTo>
                    <a:pt x="15703" y="21786"/>
                    <a:pt x="15565" y="21792"/>
                    <a:pt x="14950" y="23295"/>
                  </a:cubicBezTo>
                  <a:cubicBezTo>
                    <a:pt x="14596" y="24160"/>
                    <a:pt x="13200" y="21724"/>
                    <a:pt x="13559" y="20861"/>
                  </a:cubicBezTo>
                  <a:cubicBezTo>
                    <a:pt x="14532" y="18524"/>
                    <a:pt x="16694" y="15864"/>
                    <a:pt x="15646" y="13560"/>
                  </a:cubicBezTo>
                  <a:cubicBezTo>
                    <a:pt x="15040" y="12229"/>
                    <a:pt x="13029" y="12161"/>
                    <a:pt x="11995" y="11126"/>
                  </a:cubicBezTo>
                </a:path>
              </a:pathLst>
            </a:custGeom>
            <a:noFill/>
            <a:ln w="38100" cap="flat" cmpd="sng">
              <a:solidFill>
                <a:srgbClr val="F1C232"/>
              </a:solidFill>
              <a:prstDash val="solid"/>
              <a:round/>
              <a:headEnd type="none" w="med" len="med"/>
              <a:tailEnd type="none" w="med" len="med"/>
            </a:ln>
          </p:spPr>
        </p:sp>
        <p:sp>
          <p:nvSpPr>
            <p:cNvPr id="569" name="Google Shape;569;p24"/>
            <p:cNvSpPr/>
            <p:nvPr/>
          </p:nvSpPr>
          <p:spPr>
            <a:xfrm>
              <a:off x="7643750" y="3180400"/>
              <a:ext cx="425925" cy="446300"/>
            </a:xfrm>
            <a:custGeom>
              <a:avLst/>
              <a:gdLst/>
              <a:ahLst/>
              <a:cxnLst/>
              <a:rect l="l" t="t" r="r" b="b"/>
              <a:pathLst>
                <a:path w="17037" h="17852" extrusionOk="0">
                  <a:moveTo>
                    <a:pt x="0" y="0"/>
                  </a:moveTo>
                  <a:cubicBezTo>
                    <a:pt x="4491" y="817"/>
                    <a:pt x="6830" y="6955"/>
                    <a:pt x="7475" y="11474"/>
                  </a:cubicBezTo>
                  <a:cubicBezTo>
                    <a:pt x="7713" y="13138"/>
                    <a:pt x="6322" y="15483"/>
                    <a:pt x="7649" y="16515"/>
                  </a:cubicBezTo>
                  <a:cubicBezTo>
                    <a:pt x="10121" y="18437"/>
                    <a:pt x="14632" y="18173"/>
                    <a:pt x="17037" y="16167"/>
                  </a:cubicBezTo>
                </a:path>
              </a:pathLst>
            </a:custGeom>
            <a:noFill/>
            <a:ln w="38100" cap="flat" cmpd="sng">
              <a:solidFill>
                <a:srgbClr val="F1C232"/>
              </a:solidFill>
              <a:prstDash val="solid"/>
              <a:round/>
              <a:headEnd type="none" w="med" len="med"/>
              <a:tailEnd type="none" w="med" len="med"/>
            </a:ln>
          </p:spPr>
        </p:sp>
        <p:sp>
          <p:nvSpPr>
            <p:cNvPr id="570" name="Google Shape;570;p24"/>
            <p:cNvSpPr/>
            <p:nvPr/>
          </p:nvSpPr>
          <p:spPr>
            <a:xfrm>
              <a:off x="7836249" y="3076100"/>
              <a:ext cx="320325" cy="456325"/>
            </a:xfrm>
            <a:custGeom>
              <a:avLst/>
              <a:gdLst/>
              <a:ahLst/>
              <a:cxnLst/>
              <a:rect l="l" t="t" r="r" b="b"/>
              <a:pathLst>
                <a:path w="12813" h="18253" extrusionOk="0">
                  <a:moveTo>
                    <a:pt x="12813" y="0"/>
                  </a:moveTo>
                  <a:cubicBezTo>
                    <a:pt x="7242" y="2181"/>
                    <a:pt x="-861" y="6790"/>
                    <a:pt x="123" y="12691"/>
                  </a:cubicBezTo>
                  <a:cubicBezTo>
                    <a:pt x="746" y="16427"/>
                    <a:pt x="8084" y="15004"/>
                    <a:pt x="10032" y="18253"/>
                  </a:cubicBezTo>
                </a:path>
              </a:pathLst>
            </a:custGeom>
            <a:noFill/>
            <a:ln w="38100" cap="flat" cmpd="sng">
              <a:solidFill>
                <a:srgbClr val="F1C232"/>
              </a:solidFill>
              <a:prstDash val="solid"/>
              <a:round/>
              <a:headEnd type="none" w="med" len="med"/>
              <a:tailEnd type="none" w="med" len="med"/>
            </a:ln>
          </p:spPr>
        </p:sp>
        <p:sp>
          <p:nvSpPr>
            <p:cNvPr id="571" name="Google Shape;571;p24"/>
            <p:cNvSpPr/>
            <p:nvPr/>
          </p:nvSpPr>
          <p:spPr>
            <a:xfrm>
              <a:off x="7700250" y="3132600"/>
              <a:ext cx="429925" cy="169500"/>
            </a:xfrm>
            <a:custGeom>
              <a:avLst/>
              <a:gdLst/>
              <a:ahLst/>
              <a:cxnLst/>
              <a:rect l="l" t="t" r="r" b="b"/>
              <a:pathLst>
                <a:path w="17197" h="6780" extrusionOk="0">
                  <a:moveTo>
                    <a:pt x="0" y="0"/>
                  </a:moveTo>
                  <a:cubicBezTo>
                    <a:pt x="3914" y="4695"/>
                    <a:pt x="10925" y="6780"/>
                    <a:pt x="17037" y="6780"/>
                  </a:cubicBezTo>
                  <a:cubicBezTo>
                    <a:pt x="17504" y="6780"/>
                    <a:pt x="16799" y="5655"/>
                    <a:pt x="16341" y="5563"/>
                  </a:cubicBezTo>
                </a:path>
              </a:pathLst>
            </a:custGeom>
            <a:noFill/>
            <a:ln w="38100" cap="flat" cmpd="sng">
              <a:solidFill>
                <a:srgbClr val="F1C232"/>
              </a:solidFill>
              <a:prstDash val="solid"/>
              <a:round/>
              <a:headEnd type="none" w="med" len="med"/>
              <a:tailEnd type="none" w="med" len="med"/>
            </a:ln>
          </p:spPr>
        </p:sp>
        <p:sp>
          <p:nvSpPr>
            <p:cNvPr id="572" name="Google Shape;572;p24"/>
            <p:cNvSpPr/>
            <p:nvPr/>
          </p:nvSpPr>
          <p:spPr>
            <a:xfrm>
              <a:off x="7710998" y="3098181"/>
              <a:ext cx="558575" cy="472725"/>
            </a:xfrm>
            <a:custGeom>
              <a:avLst/>
              <a:gdLst/>
              <a:ahLst/>
              <a:cxnLst/>
              <a:rect l="l" t="t" r="r" b="b"/>
              <a:pathLst>
                <a:path w="22343" h="18909" extrusionOk="0">
                  <a:moveTo>
                    <a:pt x="22343" y="4332"/>
                  </a:moveTo>
                  <a:cubicBezTo>
                    <a:pt x="16437" y="38"/>
                    <a:pt x="3704" y="-2547"/>
                    <a:pt x="439" y="3985"/>
                  </a:cubicBezTo>
                  <a:cubicBezTo>
                    <a:pt x="-1508" y="7881"/>
                    <a:pt x="3832" y="12696"/>
                    <a:pt x="7567" y="14937"/>
                  </a:cubicBezTo>
                  <a:cubicBezTo>
                    <a:pt x="9340" y="16001"/>
                    <a:pt x="12081" y="14808"/>
                    <a:pt x="13651" y="16154"/>
                  </a:cubicBezTo>
                  <a:cubicBezTo>
                    <a:pt x="15785" y="17983"/>
                    <a:pt x="7730" y="19926"/>
                    <a:pt x="5481" y="18240"/>
                  </a:cubicBezTo>
                </a:path>
              </a:pathLst>
            </a:custGeom>
            <a:noFill/>
            <a:ln w="38100" cap="flat" cmpd="sng">
              <a:solidFill>
                <a:srgbClr val="F1C232"/>
              </a:solidFill>
              <a:prstDash val="solid"/>
              <a:round/>
              <a:headEnd type="none" w="med" len="med"/>
              <a:tailEnd type="none" w="med" len="med"/>
            </a:ln>
          </p:spPr>
        </p:sp>
        <p:sp>
          <p:nvSpPr>
            <p:cNvPr id="573" name="Google Shape;573;p24"/>
            <p:cNvSpPr/>
            <p:nvPr/>
          </p:nvSpPr>
          <p:spPr>
            <a:xfrm>
              <a:off x="7685501" y="3079570"/>
              <a:ext cx="584075" cy="361600"/>
            </a:xfrm>
            <a:custGeom>
              <a:avLst/>
              <a:gdLst/>
              <a:ahLst/>
              <a:cxnLst/>
              <a:rect l="l" t="t" r="r" b="b"/>
              <a:pathLst>
                <a:path w="23363" h="14464" extrusionOk="0">
                  <a:moveTo>
                    <a:pt x="23363" y="14464"/>
                  </a:moveTo>
                  <a:cubicBezTo>
                    <a:pt x="21432" y="9632"/>
                    <a:pt x="15255" y="7928"/>
                    <a:pt x="11021" y="4903"/>
                  </a:cubicBezTo>
                  <a:cubicBezTo>
                    <a:pt x="8043" y="2775"/>
                    <a:pt x="3984" y="-1473"/>
                    <a:pt x="938" y="557"/>
                  </a:cubicBezTo>
                  <a:cubicBezTo>
                    <a:pt x="-2526" y="2866"/>
                    <a:pt x="4896" y="8744"/>
                    <a:pt x="8761" y="10292"/>
                  </a:cubicBezTo>
                </a:path>
              </a:pathLst>
            </a:custGeom>
            <a:noFill/>
            <a:ln w="38100" cap="flat" cmpd="sng">
              <a:solidFill>
                <a:srgbClr val="F1C232"/>
              </a:solidFill>
              <a:prstDash val="solid"/>
              <a:round/>
              <a:headEnd type="none" w="med" len="med"/>
              <a:tailEnd type="none" w="med" len="med"/>
            </a:ln>
          </p:spPr>
        </p:sp>
        <p:sp>
          <p:nvSpPr>
            <p:cNvPr id="574" name="Google Shape;574;p24"/>
            <p:cNvSpPr/>
            <p:nvPr/>
          </p:nvSpPr>
          <p:spPr>
            <a:xfrm>
              <a:off x="7744259" y="3028300"/>
              <a:ext cx="368875" cy="491100"/>
            </a:xfrm>
            <a:custGeom>
              <a:avLst/>
              <a:gdLst/>
              <a:ahLst/>
              <a:cxnLst/>
              <a:rect l="l" t="t" r="r" b="b"/>
              <a:pathLst>
                <a:path w="14755" h="19644" extrusionOk="0">
                  <a:moveTo>
                    <a:pt x="14755" y="0"/>
                  </a:moveTo>
                  <a:cubicBezTo>
                    <a:pt x="14495" y="609"/>
                    <a:pt x="14636" y="691"/>
                    <a:pt x="14234" y="1217"/>
                  </a:cubicBezTo>
                  <a:cubicBezTo>
                    <a:pt x="10836" y="5660"/>
                    <a:pt x="3616" y="6081"/>
                    <a:pt x="326" y="10604"/>
                  </a:cubicBezTo>
                  <a:cubicBezTo>
                    <a:pt x="-1501" y="13116"/>
                    <a:pt x="5071" y="17780"/>
                    <a:pt x="2586" y="19644"/>
                  </a:cubicBezTo>
                </a:path>
              </a:pathLst>
            </a:custGeom>
            <a:noFill/>
            <a:ln w="38100" cap="flat" cmpd="sng">
              <a:solidFill>
                <a:srgbClr val="F1C232"/>
              </a:solidFill>
              <a:prstDash val="solid"/>
              <a:round/>
              <a:headEnd type="none" w="med" len="med"/>
              <a:tailEnd type="none" w="med" len="med"/>
            </a:ln>
          </p:spPr>
        </p:sp>
        <p:sp>
          <p:nvSpPr>
            <p:cNvPr id="575" name="Google Shape;575;p24"/>
            <p:cNvSpPr/>
            <p:nvPr/>
          </p:nvSpPr>
          <p:spPr>
            <a:xfrm>
              <a:off x="7765450" y="3145650"/>
              <a:ext cx="482400" cy="338975"/>
            </a:xfrm>
            <a:custGeom>
              <a:avLst/>
              <a:gdLst/>
              <a:ahLst/>
              <a:cxnLst/>
              <a:rect l="l" t="t" r="r" b="b"/>
              <a:pathLst>
                <a:path w="19296" h="13559" extrusionOk="0">
                  <a:moveTo>
                    <a:pt x="19296" y="13559"/>
                  </a:moveTo>
                  <a:cubicBezTo>
                    <a:pt x="13760" y="11712"/>
                    <a:pt x="8516" y="8736"/>
                    <a:pt x="3998" y="5041"/>
                  </a:cubicBezTo>
                  <a:cubicBezTo>
                    <a:pt x="2338" y="3683"/>
                    <a:pt x="2116" y="351"/>
                    <a:pt x="0" y="0"/>
                  </a:cubicBezTo>
                </a:path>
              </a:pathLst>
            </a:custGeom>
            <a:noFill/>
            <a:ln w="38100" cap="flat" cmpd="sng">
              <a:solidFill>
                <a:srgbClr val="F1C232"/>
              </a:solidFill>
              <a:prstDash val="solid"/>
              <a:round/>
              <a:headEnd type="none" w="med" len="med"/>
              <a:tailEnd type="none" w="med" len="med"/>
            </a:ln>
          </p:spPr>
        </p:sp>
        <p:sp>
          <p:nvSpPr>
            <p:cNvPr id="576" name="Google Shape;576;p24"/>
            <p:cNvSpPr/>
            <p:nvPr/>
          </p:nvSpPr>
          <p:spPr>
            <a:xfrm>
              <a:off x="7665500" y="3269759"/>
              <a:ext cx="499775" cy="249650"/>
            </a:xfrm>
            <a:custGeom>
              <a:avLst/>
              <a:gdLst/>
              <a:ahLst/>
              <a:cxnLst/>
              <a:rect l="l" t="t" r="r" b="b"/>
              <a:pathLst>
                <a:path w="19991" h="9986" extrusionOk="0">
                  <a:moveTo>
                    <a:pt x="0" y="9986"/>
                  </a:moveTo>
                  <a:cubicBezTo>
                    <a:pt x="3478" y="7899"/>
                    <a:pt x="5064" y="3283"/>
                    <a:pt x="8692" y="1468"/>
                  </a:cubicBezTo>
                  <a:cubicBezTo>
                    <a:pt x="12086" y="-230"/>
                    <a:pt x="16196" y="77"/>
                    <a:pt x="19991" y="77"/>
                  </a:cubicBezTo>
                </a:path>
              </a:pathLst>
            </a:custGeom>
            <a:noFill/>
            <a:ln w="38100" cap="flat" cmpd="sng">
              <a:solidFill>
                <a:srgbClr val="F1C232"/>
              </a:solidFill>
              <a:prstDash val="solid"/>
              <a:round/>
              <a:headEnd type="none" w="med" len="med"/>
              <a:tailEnd type="none" w="med" len="med"/>
            </a:ln>
          </p:spPr>
        </p:sp>
        <p:sp>
          <p:nvSpPr>
            <p:cNvPr id="577" name="Google Shape;577;p24"/>
            <p:cNvSpPr/>
            <p:nvPr/>
          </p:nvSpPr>
          <p:spPr>
            <a:xfrm>
              <a:off x="7656800" y="3198318"/>
              <a:ext cx="660600" cy="161800"/>
            </a:xfrm>
            <a:custGeom>
              <a:avLst/>
              <a:gdLst/>
              <a:ahLst/>
              <a:cxnLst/>
              <a:rect l="l" t="t" r="r" b="b"/>
              <a:pathLst>
                <a:path w="26424" h="6472" extrusionOk="0">
                  <a:moveTo>
                    <a:pt x="26424" y="6411"/>
                  </a:moveTo>
                  <a:cubicBezTo>
                    <a:pt x="18961" y="6652"/>
                    <a:pt x="11684" y="3823"/>
                    <a:pt x="4520" y="1717"/>
                  </a:cubicBezTo>
                  <a:cubicBezTo>
                    <a:pt x="4232" y="1632"/>
                    <a:pt x="0" y="-572"/>
                    <a:pt x="0" y="153"/>
                  </a:cubicBezTo>
                  <a:cubicBezTo>
                    <a:pt x="0" y="1294"/>
                    <a:pt x="584" y="2475"/>
                    <a:pt x="1391" y="3282"/>
                  </a:cubicBezTo>
                </a:path>
              </a:pathLst>
            </a:custGeom>
            <a:noFill/>
            <a:ln w="38100" cap="flat" cmpd="sng">
              <a:solidFill>
                <a:srgbClr val="F1C232"/>
              </a:solidFill>
              <a:prstDash val="solid"/>
              <a:round/>
              <a:headEnd type="none" w="med" len="med"/>
              <a:tailEnd type="none" w="med" len="med"/>
            </a:ln>
          </p:spPr>
        </p:sp>
        <p:sp>
          <p:nvSpPr>
            <p:cNvPr id="578" name="Google Shape;578;p24"/>
            <p:cNvSpPr/>
            <p:nvPr/>
          </p:nvSpPr>
          <p:spPr>
            <a:xfrm>
              <a:off x="7757829" y="3119575"/>
              <a:ext cx="450925" cy="395475"/>
            </a:xfrm>
            <a:custGeom>
              <a:avLst/>
              <a:gdLst/>
              <a:ahLst/>
              <a:cxnLst/>
              <a:rect l="l" t="t" r="r" b="b"/>
              <a:pathLst>
                <a:path w="18037" h="15819" extrusionOk="0">
                  <a:moveTo>
                    <a:pt x="18037" y="0"/>
                  </a:moveTo>
                  <a:cubicBezTo>
                    <a:pt x="15708" y="1293"/>
                    <a:pt x="13491" y="3180"/>
                    <a:pt x="12300" y="5562"/>
                  </a:cubicBezTo>
                  <a:cubicBezTo>
                    <a:pt x="11338" y="7485"/>
                    <a:pt x="12524" y="10628"/>
                    <a:pt x="10735" y="11821"/>
                  </a:cubicBezTo>
                  <a:cubicBezTo>
                    <a:pt x="7637" y="13887"/>
                    <a:pt x="-1612" y="12627"/>
                    <a:pt x="305" y="15819"/>
                  </a:cubicBezTo>
                </a:path>
              </a:pathLst>
            </a:custGeom>
            <a:noFill/>
            <a:ln w="38100" cap="flat" cmpd="sng">
              <a:solidFill>
                <a:srgbClr val="F1C232"/>
              </a:solidFill>
              <a:prstDash val="solid"/>
              <a:round/>
              <a:headEnd type="none" w="med" len="med"/>
              <a:tailEnd type="none" w="med" len="med"/>
            </a:ln>
          </p:spPr>
        </p:sp>
        <p:sp>
          <p:nvSpPr>
            <p:cNvPr id="579" name="Google Shape;579;p24"/>
            <p:cNvSpPr/>
            <p:nvPr/>
          </p:nvSpPr>
          <p:spPr>
            <a:xfrm>
              <a:off x="7895825" y="3010925"/>
              <a:ext cx="373750" cy="469350"/>
            </a:xfrm>
            <a:custGeom>
              <a:avLst/>
              <a:gdLst/>
              <a:ahLst/>
              <a:cxnLst/>
              <a:rect l="l" t="t" r="r" b="b"/>
              <a:pathLst>
                <a:path w="14950" h="18774" extrusionOk="0">
                  <a:moveTo>
                    <a:pt x="0" y="0"/>
                  </a:moveTo>
                  <a:cubicBezTo>
                    <a:pt x="1571" y="7844"/>
                    <a:pt x="11377" y="11617"/>
                    <a:pt x="14950" y="18774"/>
                  </a:cubicBezTo>
                </a:path>
              </a:pathLst>
            </a:custGeom>
            <a:noFill/>
            <a:ln w="38100" cap="flat" cmpd="sng">
              <a:solidFill>
                <a:srgbClr val="F1C232"/>
              </a:solidFill>
              <a:prstDash val="solid"/>
              <a:round/>
              <a:headEnd type="none" w="med" len="med"/>
              <a:tailEnd type="none" w="med" len="med"/>
            </a:ln>
          </p:spPr>
        </p:sp>
        <p:sp>
          <p:nvSpPr>
            <p:cNvPr id="580" name="Google Shape;580;p24"/>
            <p:cNvSpPr/>
            <p:nvPr/>
          </p:nvSpPr>
          <p:spPr>
            <a:xfrm>
              <a:off x="7752400" y="3132600"/>
              <a:ext cx="346150" cy="434600"/>
            </a:xfrm>
            <a:custGeom>
              <a:avLst/>
              <a:gdLst/>
              <a:ahLst/>
              <a:cxnLst/>
              <a:rect l="l" t="t" r="r" b="b"/>
              <a:pathLst>
                <a:path w="13846" h="17384" extrusionOk="0">
                  <a:moveTo>
                    <a:pt x="0" y="17384"/>
                  </a:moveTo>
                  <a:cubicBezTo>
                    <a:pt x="1561" y="14266"/>
                    <a:pt x="813" y="9404"/>
                    <a:pt x="3825" y="7649"/>
                  </a:cubicBezTo>
                  <a:cubicBezTo>
                    <a:pt x="6452" y="6118"/>
                    <a:pt x="10432" y="8256"/>
                    <a:pt x="12865" y="6432"/>
                  </a:cubicBezTo>
                  <a:cubicBezTo>
                    <a:pt x="14596" y="5134"/>
                    <a:pt x="13756" y="1257"/>
                    <a:pt x="11995" y="0"/>
                  </a:cubicBezTo>
                </a:path>
              </a:pathLst>
            </a:custGeom>
            <a:noFill/>
            <a:ln w="38100" cap="flat" cmpd="sng">
              <a:solidFill>
                <a:srgbClr val="F1C232"/>
              </a:solidFill>
              <a:prstDash val="solid"/>
              <a:round/>
              <a:headEnd type="none" w="med" len="med"/>
              <a:tailEnd type="none" w="med" len="med"/>
            </a:ln>
          </p:spPr>
        </p:sp>
      </p:grpSp>
      <p:sp>
        <p:nvSpPr>
          <p:cNvPr id="581" name="Google Shape;581;p24"/>
          <p:cNvSpPr/>
          <p:nvPr/>
        </p:nvSpPr>
        <p:spPr>
          <a:xfrm rot="-6485262" flipH="1">
            <a:off x="5341176"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582" name="Google Shape;582;p24"/>
          <p:cNvSpPr/>
          <p:nvPr/>
        </p:nvSpPr>
        <p:spPr>
          <a:xfrm rot="6485262">
            <a:off x="3763714"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583" name="Google Shape;583;p24"/>
          <p:cNvSpPr/>
          <p:nvPr/>
        </p:nvSpPr>
        <p:spPr>
          <a:xfrm rot="10800000">
            <a:off x="4552435" y="2168746"/>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584" name="Google Shape;584;p24"/>
          <p:cNvSpPr/>
          <p:nvPr/>
        </p:nvSpPr>
        <p:spPr>
          <a:xfrm rot="2167448">
            <a:off x="4087053"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585" name="Google Shape;585;p24"/>
          <p:cNvSpPr/>
          <p:nvPr/>
        </p:nvSpPr>
        <p:spPr>
          <a:xfrm rot="-2167448" flipH="1">
            <a:off x="5017778"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586" name="Google Shape;586;p24"/>
          <p:cNvSpPr/>
          <p:nvPr/>
        </p:nvSpPr>
        <p:spPr>
          <a:xfrm>
            <a:off x="4416763" y="3146300"/>
            <a:ext cx="420063" cy="289163"/>
          </a:xfrm>
          <a:custGeom>
            <a:avLst/>
            <a:gdLst/>
            <a:ahLst/>
            <a:cxnLst/>
            <a:rect l="l" t="t" r="r" b="b"/>
            <a:pathLst>
              <a:path w="33605" h="23133" extrusionOk="0">
                <a:moveTo>
                  <a:pt x="0" y="23133"/>
                </a:moveTo>
                <a:cubicBezTo>
                  <a:pt x="2435" y="19075"/>
                  <a:pt x="4127" y="14465"/>
                  <a:pt x="7305" y="10958"/>
                </a:cubicBezTo>
                <a:cubicBezTo>
                  <a:pt x="13683" y="3921"/>
                  <a:pt x="24540" y="2832"/>
                  <a:pt x="33605" y="0"/>
                </a:cubicBezTo>
              </a:path>
            </a:pathLst>
          </a:custGeom>
          <a:noFill/>
          <a:ln w="38100" cap="flat" cmpd="sng">
            <a:solidFill>
              <a:srgbClr val="F1C232"/>
            </a:solidFill>
            <a:prstDash val="solid"/>
            <a:round/>
            <a:headEnd type="none" w="med" len="med"/>
            <a:tailEnd type="none" w="med" len="med"/>
          </a:ln>
        </p:spPr>
      </p:sp>
      <p:sp>
        <p:nvSpPr>
          <p:cNvPr id="587" name="Google Shape;587;p24"/>
          <p:cNvSpPr/>
          <p:nvPr/>
        </p:nvSpPr>
        <p:spPr>
          <a:xfrm>
            <a:off x="4413713" y="2966700"/>
            <a:ext cx="273963" cy="413975"/>
          </a:xfrm>
          <a:custGeom>
            <a:avLst/>
            <a:gdLst/>
            <a:ahLst/>
            <a:cxnLst/>
            <a:rect l="l" t="t" r="r" b="b"/>
            <a:pathLst>
              <a:path w="21917" h="33118" extrusionOk="0">
                <a:moveTo>
                  <a:pt x="0" y="0"/>
                </a:moveTo>
                <a:cubicBezTo>
                  <a:pt x="2209" y="4416"/>
                  <a:pt x="6510" y="8222"/>
                  <a:pt x="6819" y="13150"/>
                </a:cubicBezTo>
                <a:cubicBezTo>
                  <a:pt x="7095" y="17561"/>
                  <a:pt x="2967" y="22436"/>
                  <a:pt x="5114" y="26300"/>
                </a:cubicBezTo>
                <a:cubicBezTo>
                  <a:pt x="8050" y="31584"/>
                  <a:pt x="16181" y="31211"/>
                  <a:pt x="21917" y="33118"/>
                </a:cubicBezTo>
              </a:path>
            </a:pathLst>
          </a:custGeom>
          <a:noFill/>
          <a:ln w="38100" cap="flat" cmpd="sng">
            <a:solidFill>
              <a:srgbClr val="F1C232"/>
            </a:solidFill>
            <a:prstDash val="solid"/>
            <a:round/>
            <a:headEnd type="none" w="med" len="med"/>
            <a:tailEnd type="none" w="med" len="med"/>
          </a:ln>
        </p:spPr>
      </p:sp>
      <p:sp>
        <p:nvSpPr>
          <p:cNvPr id="588" name="Google Shape;588;p24"/>
          <p:cNvSpPr/>
          <p:nvPr/>
        </p:nvSpPr>
        <p:spPr>
          <a:xfrm>
            <a:off x="4363841" y="3099836"/>
            <a:ext cx="427325" cy="335625"/>
          </a:xfrm>
          <a:custGeom>
            <a:avLst/>
            <a:gdLst/>
            <a:ahLst/>
            <a:cxnLst/>
            <a:rect l="l" t="t" r="r" b="b"/>
            <a:pathLst>
              <a:path w="34186" h="26850" extrusionOk="0">
                <a:moveTo>
                  <a:pt x="34186" y="7369"/>
                </a:moveTo>
                <a:cubicBezTo>
                  <a:pt x="26609" y="7875"/>
                  <a:pt x="18987" y="9107"/>
                  <a:pt x="11783" y="11509"/>
                </a:cubicBezTo>
                <a:cubicBezTo>
                  <a:pt x="8958" y="12451"/>
                  <a:pt x="6190" y="14721"/>
                  <a:pt x="3260" y="14188"/>
                </a:cubicBezTo>
                <a:cubicBezTo>
                  <a:pt x="100" y="13613"/>
                  <a:pt x="-612" y="7915"/>
                  <a:pt x="581" y="4934"/>
                </a:cubicBezTo>
                <a:cubicBezTo>
                  <a:pt x="2999" y="-1107"/>
                  <a:pt x="16358" y="-1632"/>
                  <a:pt x="20062" y="3717"/>
                </a:cubicBezTo>
                <a:cubicBezTo>
                  <a:pt x="23302" y="8396"/>
                  <a:pt x="18572" y="15095"/>
                  <a:pt x="19088" y="20763"/>
                </a:cubicBezTo>
                <a:cubicBezTo>
                  <a:pt x="19370" y="23858"/>
                  <a:pt x="23042" y="26850"/>
                  <a:pt x="26150" y="26850"/>
                </a:cubicBezTo>
              </a:path>
            </a:pathLst>
          </a:custGeom>
          <a:noFill/>
          <a:ln w="38100" cap="flat" cmpd="sng">
            <a:solidFill>
              <a:srgbClr val="F1C232"/>
            </a:solidFill>
            <a:prstDash val="solid"/>
            <a:round/>
            <a:headEnd type="none" w="med" len="med"/>
            <a:tailEnd type="none" w="med" len="med"/>
          </a:ln>
        </p:spPr>
      </p:sp>
      <p:sp>
        <p:nvSpPr>
          <p:cNvPr id="589" name="Google Shape;589;p24"/>
          <p:cNvSpPr/>
          <p:nvPr/>
        </p:nvSpPr>
        <p:spPr>
          <a:xfrm>
            <a:off x="4365013" y="2942350"/>
            <a:ext cx="453675" cy="414725"/>
          </a:xfrm>
          <a:custGeom>
            <a:avLst/>
            <a:gdLst/>
            <a:ahLst/>
            <a:cxnLst/>
            <a:rect l="l" t="t" r="r" b="b"/>
            <a:pathLst>
              <a:path w="36294" h="33178" extrusionOk="0">
                <a:moveTo>
                  <a:pt x="16072" y="0"/>
                </a:moveTo>
                <a:cubicBezTo>
                  <a:pt x="18478" y="5415"/>
                  <a:pt x="25652" y="7856"/>
                  <a:pt x="27761" y="13393"/>
                </a:cubicBezTo>
                <a:cubicBezTo>
                  <a:pt x="29698" y="18478"/>
                  <a:pt x="25844" y="24459"/>
                  <a:pt x="27274" y="29709"/>
                </a:cubicBezTo>
                <a:cubicBezTo>
                  <a:pt x="27905" y="32023"/>
                  <a:pt x="32028" y="34192"/>
                  <a:pt x="33849" y="32631"/>
                </a:cubicBezTo>
                <a:cubicBezTo>
                  <a:pt x="36931" y="29989"/>
                  <a:pt x="37353" y="22015"/>
                  <a:pt x="33605" y="20455"/>
                </a:cubicBezTo>
                <a:cubicBezTo>
                  <a:pt x="25042" y="16890"/>
                  <a:pt x="14673" y="21082"/>
                  <a:pt x="6088" y="24595"/>
                </a:cubicBezTo>
                <a:cubicBezTo>
                  <a:pt x="3268" y="25749"/>
                  <a:pt x="2891" y="30452"/>
                  <a:pt x="0" y="31413"/>
                </a:cubicBezTo>
              </a:path>
            </a:pathLst>
          </a:custGeom>
          <a:noFill/>
          <a:ln w="38100" cap="flat" cmpd="sng">
            <a:solidFill>
              <a:srgbClr val="F1C232"/>
            </a:solidFill>
            <a:prstDash val="solid"/>
            <a:round/>
            <a:headEnd type="none" w="med" len="med"/>
            <a:tailEnd type="none" w="med" len="med"/>
          </a:ln>
        </p:spPr>
      </p:sp>
      <p:sp>
        <p:nvSpPr>
          <p:cNvPr id="590" name="Google Shape;590;p24"/>
          <p:cNvSpPr/>
          <p:nvPr/>
        </p:nvSpPr>
        <p:spPr>
          <a:xfrm>
            <a:off x="4340663" y="2972714"/>
            <a:ext cx="441350" cy="510425"/>
          </a:xfrm>
          <a:custGeom>
            <a:avLst/>
            <a:gdLst/>
            <a:ahLst/>
            <a:cxnLst/>
            <a:rect l="l" t="t" r="r" b="b"/>
            <a:pathLst>
              <a:path w="35308" h="40834" extrusionOk="0">
                <a:moveTo>
                  <a:pt x="0" y="21923"/>
                </a:moveTo>
                <a:cubicBezTo>
                  <a:pt x="4868" y="17746"/>
                  <a:pt x="16935" y="15448"/>
                  <a:pt x="19238" y="21435"/>
                </a:cubicBezTo>
                <a:cubicBezTo>
                  <a:pt x="21093" y="26256"/>
                  <a:pt x="14339" y="32377"/>
                  <a:pt x="17046" y="36777"/>
                </a:cubicBezTo>
                <a:cubicBezTo>
                  <a:pt x="19515" y="40790"/>
                  <a:pt x="26930" y="41953"/>
                  <a:pt x="30926" y="39456"/>
                </a:cubicBezTo>
                <a:cubicBezTo>
                  <a:pt x="37891" y="35105"/>
                  <a:pt x="35821" y="20062"/>
                  <a:pt x="29465" y="14861"/>
                </a:cubicBezTo>
                <a:cubicBezTo>
                  <a:pt x="22888" y="9480"/>
                  <a:pt x="7178" y="12602"/>
                  <a:pt x="6331" y="4146"/>
                </a:cubicBezTo>
                <a:cubicBezTo>
                  <a:pt x="5675" y="-2396"/>
                  <a:pt x="21107" y="-183"/>
                  <a:pt x="26056" y="4146"/>
                </a:cubicBezTo>
                <a:cubicBezTo>
                  <a:pt x="35321" y="12251"/>
                  <a:pt x="17470" y="28073"/>
                  <a:pt x="8766" y="36777"/>
                </a:cubicBezTo>
              </a:path>
            </a:pathLst>
          </a:custGeom>
          <a:noFill/>
          <a:ln w="38100" cap="flat" cmpd="sng">
            <a:solidFill>
              <a:srgbClr val="F1C232"/>
            </a:solidFill>
            <a:prstDash val="solid"/>
            <a:round/>
            <a:headEnd type="none" w="med" len="med"/>
            <a:tailEnd type="none" w="med" len="med"/>
          </a:ln>
        </p:spPr>
      </p:sp>
      <p:sp>
        <p:nvSpPr>
          <p:cNvPr id="591" name="Google Shape;591;p24"/>
          <p:cNvSpPr/>
          <p:nvPr/>
        </p:nvSpPr>
        <p:spPr>
          <a:xfrm>
            <a:off x="4336629" y="2954525"/>
            <a:ext cx="448450" cy="512988"/>
          </a:xfrm>
          <a:custGeom>
            <a:avLst/>
            <a:gdLst/>
            <a:ahLst/>
            <a:cxnLst/>
            <a:rect l="l" t="t" r="r" b="b"/>
            <a:pathLst>
              <a:path w="35876" h="41039" extrusionOk="0">
                <a:moveTo>
                  <a:pt x="35876" y="12176"/>
                </a:moveTo>
                <a:cubicBezTo>
                  <a:pt x="33278" y="13474"/>
                  <a:pt x="30137" y="14019"/>
                  <a:pt x="28084" y="16072"/>
                </a:cubicBezTo>
                <a:cubicBezTo>
                  <a:pt x="24741" y="19415"/>
                  <a:pt x="24638" y="25253"/>
                  <a:pt x="25161" y="29952"/>
                </a:cubicBezTo>
                <a:cubicBezTo>
                  <a:pt x="25573" y="33653"/>
                  <a:pt x="31860" y="39489"/>
                  <a:pt x="28327" y="40667"/>
                </a:cubicBezTo>
                <a:cubicBezTo>
                  <a:pt x="23195" y="42378"/>
                  <a:pt x="17049" y="37559"/>
                  <a:pt x="13960" y="33118"/>
                </a:cubicBezTo>
                <a:cubicBezTo>
                  <a:pt x="10617" y="28313"/>
                  <a:pt x="9699" y="20564"/>
                  <a:pt x="4219" y="18507"/>
                </a:cubicBezTo>
                <a:cubicBezTo>
                  <a:pt x="680" y="17179"/>
                  <a:pt x="-1376" y="26792"/>
                  <a:pt x="1297" y="29465"/>
                </a:cubicBezTo>
                <a:cubicBezTo>
                  <a:pt x="5492" y="33660"/>
                  <a:pt x="15463" y="29538"/>
                  <a:pt x="18343" y="24352"/>
                </a:cubicBezTo>
                <a:cubicBezTo>
                  <a:pt x="21498" y="18671"/>
                  <a:pt x="15329" y="10954"/>
                  <a:pt x="17612" y="4870"/>
                </a:cubicBezTo>
                <a:cubicBezTo>
                  <a:pt x="18786" y="1740"/>
                  <a:pt x="23036" y="0"/>
                  <a:pt x="26379" y="0"/>
                </a:cubicBezTo>
              </a:path>
            </a:pathLst>
          </a:custGeom>
          <a:noFill/>
          <a:ln w="38100" cap="flat" cmpd="sng">
            <a:solidFill>
              <a:srgbClr val="F1C232"/>
            </a:solidFill>
            <a:prstDash val="solid"/>
            <a:round/>
            <a:headEnd type="none" w="med" len="med"/>
            <a:tailEnd type="none" w="med" len="med"/>
          </a:ln>
        </p:spPr>
      </p:sp>
      <p:sp>
        <p:nvSpPr>
          <p:cNvPr id="592" name="Google Shape;592;p24"/>
          <p:cNvSpPr/>
          <p:nvPr/>
        </p:nvSpPr>
        <p:spPr>
          <a:xfrm>
            <a:off x="4371075" y="1611000"/>
            <a:ext cx="401850" cy="401850"/>
          </a:xfrm>
          <a:prstGeom prst="ellipse">
            <a:avLst/>
          </a:prstGeom>
          <a:solidFill>
            <a:srgbClr val="FFFFFF"/>
          </a:solidFill>
          <a:ln>
            <a:noFill/>
          </a:ln>
        </p:spPr>
        <p:txBody>
          <a:bodyPr spcFirstLastPara="1" wrap="square" lIns="45713" tIns="45713" rIns="45713" bIns="45713" anchor="ctr" anchorCtr="0">
            <a:noAutofit/>
          </a:bodyPr>
          <a:lstStyle/>
          <a:p>
            <a:pPr algn="ctr"/>
            <a:r>
              <a:rPr lang="en" sz="1500"/>
              <a:t>1</a:t>
            </a:r>
            <a:endParaRPr sz="1500"/>
          </a:p>
        </p:txBody>
      </p:sp>
      <p:sp>
        <p:nvSpPr>
          <p:cNvPr id="593" name="Google Shape;593;p24"/>
          <p:cNvSpPr/>
          <p:nvPr/>
        </p:nvSpPr>
        <p:spPr>
          <a:xfrm>
            <a:off x="5727050" y="2621688"/>
            <a:ext cx="401850" cy="401850"/>
          </a:xfrm>
          <a:prstGeom prst="ellipse">
            <a:avLst/>
          </a:prstGeom>
          <a:solidFill>
            <a:srgbClr val="FFFFFF"/>
          </a:solidFill>
          <a:ln>
            <a:noFill/>
          </a:ln>
        </p:spPr>
        <p:txBody>
          <a:bodyPr spcFirstLastPara="1" wrap="square" lIns="45713" tIns="45713" rIns="45713" bIns="45713" anchor="ctr" anchorCtr="0">
            <a:noAutofit/>
          </a:bodyPr>
          <a:lstStyle/>
          <a:p>
            <a:pPr algn="ctr"/>
            <a:r>
              <a:rPr lang="en" sz="1500"/>
              <a:t>2</a:t>
            </a:r>
            <a:endParaRPr sz="1500"/>
          </a:p>
        </p:txBody>
      </p:sp>
      <p:sp>
        <p:nvSpPr>
          <p:cNvPr id="594" name="Google Shape;594;p24"/>
          <p:cNvSpPr/>
          <p:nvPr/>
        </p:nvSpPr>
        <p:spPr>
          <a:xfrm>
            <a:off x="5181600" y="4171063"/>
            <a:ext cx="401850" cy="401850"/>
          </a:xfrm>
          <a:prstGeom prst="ellipse">
            <a:avLst/>
          </a:prstGeom>
          <a:solidFill>
            <a:srgbClr val="FFFFFF"/>
          </a:solidFill>
          <a:ln>
            <a:noFill/>
          </a:ln>
        </p:spPr>
        <p:txBody>
          <a:bodyPr spcFirstLastPara="1" wrap="square" lIns="45713" tIns="45713" rIns="45713" bIns="45713" anchor="ctr" anchorCtr="0">
            <a:noAutofit/>
          </a:bodyPr>
          <a:lstStyle/>
          <a:p>
            <a:pPr algn="ctr"/>
            <a:r>
              <a:rPr lang="en" sz="1500"/>
              <a:t>3</a:t>
            </a:r>
            <a:endParaRPr sz="1500"/>
          </a:p>
        </p:txBody>
      </p:sp>
      <p:sp>
        <p:nvSpPr>
          <p:cNvPr id="595" name="Google Shape;595;p24"/>
          <p:cNvSpPr/>
          <p:nvPr/>
        </p:nvSpPr>
        <p:spPr>
          <a:xfrm>
            <a:off x="3560550" y="4171063"/>
            <a:ext cx="401850" cy="401850"/>
          </a:xfrm>
          <a:prstGeom prst="ellipse">
            <a:avLst/>
          </a:prstGeom>
          <a:solidFill>
            <a:srgbClr val="FFFFFF"/>
          </a:solidFill>
          <a:ln>
            <a:noFill/>
          </a:ln>
        </p:spPr>
        <p:txBody>
          <a:bodyPr spcFirstLastPara="1" wrap="square" lIns="45713" tIns="45713" rIns="45713" bIns="45713" anchor="ctr" anchorCtr="0">
            <a:noAutofit/>
          </a:bodyPr>
          <a:lstStyle/>
          <a:p>
            <a:pPr algn="ctr"/>
            <a:r>
              <a:rPr lang="en" sz="1500"/>
              <a:t>4</a:t>
            </a:r>
            <a:endParaRPr sz="1500"/>
          </a:p>
        </p:txBody>
      </p:sp>
      <p:sp>
        <p:nvSpPr>
          <p:cNvPr id="596" name="Google Shape;596;p24"/>
          <p:cNvSpPr/>
          <p:nvPr/>
        </p:nvSpPr>
        <p:spPr>
          <a:xfrm>
            <a:off x="3015088" y="2621688"/>
            <a:ext cx="401850" cy="401850"/>
          </a:xfrm>
          <a:prstGeom prst="ellipse">
            <a:avLst/>
          </a:prstGeom>
          <a:solidFill>
            <a:srgbClr val="FFFFFF"/>
          </a:solidFill>
          <a:ln>
            <a:noFill/>
          </a:ln>
        </p:spPr>
        <p:txBody>
          <a:bodyPr spcFirstLastPara="1" wrap="square" lIns="45713" tIns="45713" rIns="45713" bIns="45713" anchor="ctr" anchorCtr="0">
            <a:noAutofit/>
          </a:bodyPr>
          <a:lstStyle/>
          <a:p>
            <a:pPr algn="ctr"/>
            <a:r>
              <a:rPr lang="en" sz="1500"/>
              <a:t>5</a:t>
            </a:r>
            <a:endParaRPr sz="15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2"/>
                                        </p:tgtEl>
                                        <p:attrNameLst>
                                          <p:attrName>style.visibility</p:attrName>
                                        </p:attrNameLst>
                                      </p:cBhvr>
                                      <p:to>
                                        <p:strVal val="visible"/>
                                      </p:to>
                                    </p:set>
                                    <p:animEffect transition="in" filter="fade">
                                      <p:cBhvr>
                                        <p:cTn id="7" dur="1000"/>
                                        <p:tgtEl>
                                          <p:spTgt spid="592"/>
                                        </p:tgtEl>
                                      </p:cBhvr>
                                    </p:animEffect>
                                  </p:childTnLst>
                                </p:cTn>
                              </p:par>
                              <p:par>
                                <p:cTn id="8" presetID="10" presetClass="entr" presetSubtype="0" fill="hold" nodeType="withEffect">
                                  <p:stCondLst>
                                    <p:cond delay="0"/>
                                  </p:stCondLst>
                                  <p:childTnLst>
                                    <p:set>
                                      <p:cBhvr>
                                        <p:cTn id="9" dur="1" fill="hold">
                                          <p:stCondLst>
                                            <p:cond delay="0"/>
                                          </p:stCondLst>
                                        </p:cTn>
                                        <p:tgtEl>
                                          <p:spTgt spid="593"/>
                                        </p:tgtEl>
                                        <p:attrNameLst>
                                          <p:attrName>style.visibility</p:attrName>
                                        </p:attrNameLst>
                                      </p:cBhvr>
                                      <p:to>
                                        <p:strVal val="visible"/>
                                      </p:to>
                                    </p:set>
                                    <p:animEffect transition="in" filter="fade">
                                      <p:cBhvr>
                                        <p:cTn id="10" dur="1000"/>
                                        <p:tgtEl>
                                          <p:spTgt spid="593"/>
                                        </p:tgtEl>
                                      </p:cBhvr>
                                    </p:animEffect>
                                  </p:childTnLst>
                                </p:cTn>
                              </p:par>
                              <p:par>
                                <p:cTn id="11" presetID="10" presetClass="entr" presetSubtype="0" fill="hold" nodeType="withEffect">
                                  <p:stCondLst>
                                    <p:cond delay="0"/>
                                  </p:stCondLst>
                                  <p:childTnLst>
                                    <p:set>
                                      <p:cBhvr>
                                        <p:cTn id="12" dur="1" fill="hold">
                                          <p:stCondLst>
                                            <p:cond delay="0"/>
                                          </p:stCondLst>
                                        </p:cTn>
                                        <p:tgtEl>
                                          <p:spTgt spid="594"/>
                                        </p:tgtEl>
                                        <p:attrNameLst>
                                          <p:attrName>style.visibility</p:attrName>
                                        </p:attrNameLst>
                                      </p:cBhvr>
                                      <p:to>
                                        <p:strVal val="visible"/>
                                      </p:to>
                                    </p:set>
                                    <p:animEffect transition="in" filter="fade">
                                      <p:cBhvr>
                                        <p:cTn id="13" dur="1000"/>
                                        <p:tgtEl>
                                          <p:spTgt spid="594"/>
                                        </p:tgtEl>
                                      </p:cBhvr>
                                    </p:animEffect>
                                  </p:childTnLst>
                                </p:cTn>
                              </p:par>
                              <p:par>
                                <p:cTn id="14" presetID="10" presetClass="entr" presetSubtype="0" fill="hold" nodeType="withEffect">
                                  <p:stCondLst>
                                    <p:cond delay="0"/>
                                  </p:stCondLst>
                                  <p:childTnLst>
                                    <p:set>
                                      <p:cBhvr>
                                        <p:cTn id="15" dur="1" fill="hold">
                                          <p:stCondLst>
                                            <p:cond delay="0"/>
                                          </p:stCondLst>
                                        </p:cTn>
                                        <p:tgtEl>
                                          <p:spTgt spid="595"/>
                                        </p:tgtEl>
                                        <p:attrNameLst>
                                          <p:attrName>style.visibility</p:attrName>
                                        </p:attrNameLst>
                                      </p:cBhvr>
                                      <p:to>
                                        <p:strVal val="visible"/>
                                      </p:to>
                                    </p:set>
                                    <p:animEffect transition="in" filter="fade">
                                      <p:cBhvr>
                                        <p:cTn id="16" dur="1000"/>
                                        <p:tgtEl>
                                          <p:spTgt spid="595"/>
                                        </p:tgtEl>
                                      </p:cBhvr>
                                    </p:animEffect>
                                  </p:childTnLst>
                                </p:cTn>
                              </p:par>
                              <p:par>
                                <p:cTn id="17" presetID="10" presetClass="entr" presetSubtype="0" fill="hold" nodeType="withEffect">
                                  <p:stCondLst>
                                    <p:cond delay="0"/>
                                  </p:stCondLst>
                                  <p:childTnLst>
                                    <p:set>
                                      <p:cBhvr>
                                        <p:cTn id="18" dur="1" fill="hold">
                                          <p:stCondLst>
                                            <p:cond delay="0"/>
                                          </p:stCondLst>
                                        </p:cTn>
                                        <p:tgtEl>
                                          <p:spTgt spid="596"/>
                                        </p:tgtEl>
                                        <p:attrNameLst>
                                          <p:attrName>style.visibility</p:attrName>
                                        </p:attrNameLst>
                                      </p:cBhvr>
                                      <p:to>
                                        <p:strVal val="visible"/>
                                      </p:to>
                                    </p:set>
                                    <p:animEffect transition="in" filter="fade">
                                      <p:cBhvr>
                                        <p:cTn id="19" dur="1000"/>
                                        <p:tgtEl>
                                          <p:spTgt spid="5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25"/>
          <p:cNvSpPr/>
          <p:nvPr/>
        </p:nvSpPr>
        <p:spPr>
          <a:xfrm>
            <a:off x="3389862" y="2035757"/>
            <a:ext cx="2364300" cy="2364300"/>
          </a:xfrm>
          <a:prstGeom prst="ellipse">
            <a:avLst/>
          </a:prstGeom>
          <a:solidFill>
            <a:srgbClr val="783F04"/>
          </a:solidFill>
          <a:ln>
            <a:noFill/>
          </a:ln>
        </p:spPr>
        <p:txBody>
          <a:bodyPr spcFirstLastPara="1" wrap="square" lIns="45713" tIns="45713" rIns="45713" bIns="45713" anchor="ctr" anchorCtr="0">
            <a:noAutofit/>
          </a:bodyPr>
          <a:lstStyle/>
          <a:p>
            <a:endParaRPr sz="900"/>
          </a:p>
        </p:txBody>
      </p:sp>
      <p:pic>
        <p:nvPicPr>
          <p:cNvPr id="602" name="Google Shape;602;p25"/>
          <p:cNvPicPr preferRelativeResize="0"/>
          <p:nvPr/>
        </p:nvPicPr>
        <p:blipFill>
          <a:blip r:embed="rId3">
            <a:alphaModFix/>
          </a:blip>
          <a:stretch>
            <a:fillRect/>
          </a:stretch>
        </p:blipFill>
        <p:spPr>
          <a:xfrm>
            <a:off x="5100038" y="1243400"/>
            <a:ext cx="1219200" cy="1219200"/>
          </a:xfrm>
          <a:prstGeom prst="rect">
            <a:avLst/>
          </a:prstGeom>
          <a:noFill/>
          <a:ln>
            <a:noFill/>
          </a:ln>
        </p:spPr>
      </p:pic>
      <p:pic>
        <p:nvPicPr>
          <p:cNvPr id="603" name="Google Shape;603;p25"/>
          <p:cNvPicPr preferRelativeResize="0"/>
          <p:nvPr/>
        </p:nvPicPr>
        <p:blipFill>
          <a:blip r:embed="rId4">
            <a:alphaModFix/>
          </a:blip>
          <a:stretch>
            <a:fillRect/>
          </a:stretch>
        </p:blipFill>
        <p:spPr>
          <a:xfrm>
            <a:off x="3962394" y="4395400"/>
            <a:ext cx="1219200" cy="1219200"/>
          </a:xfrm>
          <a:prstGeom prst="rect">
            <a:avLst/>
          </a:prstGeom>
          <a:noFill/>
          <a:ln>
            <a:noFill/>
          </a:ln>
        </p:spPr>
      </p:pic>
      <p:pic>
        <p:nvPicPr>
          <p:cNvPr id="604" name="Google Shape;604;p25"/>
          <p:cNvPicPr preferRelativeResize="0"/>
          <p:nvPr/>
        </p:nvPicPr>
        <p:blipFill>
          <a:blip r:embed="rId5">
            <a:alphaModFix/>
          </a:blip>
          <a:stretch>
            <a:fillRect/>
          </a:stretch>
        </p:blipFill>
        <p:spPr>
          <a:xfrm>
            <a:off x="2292325" y="3217875"/>
            <a:ext cx="1219200" cy="1219200"/>
          </a:xfrm>
          <a:prstGeom prst="rect">
            <a:avLst/>
          </a:prstGeom>
          <a:noFill/>
          <a:ln>
            <a:noFill/>
          </a:ln>
        </p:spPr>
      </p:pic>
      <p:pic>
        <p:nvPicPr>
          <p:cNvPr id="605" name="Google Shape;605;p25"/>
          <p:cNvPicPr preferRelativeResize="0"/>
          <p:nvPr/>
        </p:nvPicPr>
        <p:blipFill>
          <a:blip r:embed="rId6">
            <a:alphaModFix/>
          </a:blip>
          <a:stretch>
            <a:fillRect/>
          </a:stretch>
        </p:blipFill>
        <p:spPr>
          <a:xfrm>
            <a:off x="5632475" y="3217875"/>
            <a:ext cx="1219200" cy="1219200"/>
          </a:xfrm>
          <a:prstGeom prst="rect">
            <a:avLst/>
          </a:prstGeom>
          <a:noFill/>
          <a:ln>
            <a:noFill/>
          </a:ln>
        </p:spPr>
      </p:pic>
      <p:pic>
        <p:nvPicPr>
          <p:cNvPr id="606" name="Google Shape;606;p25"/>
          <p:cNvPicPr preferRelativeResize="0"/>
          <p:nvPr/>
        </p:nvPicPr>
        <p:blipFill>
          <a:blip r:embed="rId7">
            <a:alphaModFix/>
          </a:blip>
          <a:stretch>
            <a:fillRect/>
          </a:stretch>
        </p:blipFill>
        <p:spPr>
          <a:xfrm>
            <a:off x="2824757" y="1243400"/>
            <a:ext cx="1219200" cy="1219200"/>
          </a:xfrm>
          <a:prstGeom prst="rect">
            <a:avLst/>
          </a:prstGeom>
          <a:noFill/>
          <a:ln>
            <a:noFill/>
          </a:ln>
        </p:spPr>
      </p:pic>
      <p:grpSp>
        <p:nvGrpSpPr>
          <p:cNvPr id="607" name="Google Shape;607;p25"/>
          <p:cNvGrpSpPr/>
          <p:nvPr/>
        </p:nvGrpSpPr>
        <p:grpSpPr>
          <a:xfrm>
            <a:off x="4157195" y="2803111"/>
            <a:ext cx="829600" cy="829600"/>
            <a:chOff x="7509900" y="2868375"/>
            <a:chExt cx="903900" cy="903900"/>
          </a:xfrm>
        </p:grpSpPr>
        <p:sp>
          <p:nvSpPr>
            <p:cNvPr id="608" name="Google Shape;608;p25"/>
            <p:cNvSpPr/>
            <p:nvPr/>
          </p:nvSpPr>
          <p:spPr>
            <a:xfrm>
              <a:off x="7509900" y="2868375"/>
              <a:ext cx="903900" cy="903900"/>
            </a:xfrm>
            <a:prstGeom prst="ellipse">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09" name="Google Shape;609;p25"/>
            <p:cNvSpPr/>
            <p:nvPr/>
          </p:nvSpPr>
          <p:spPr>
            <a:xfrm>
              <a:off x="7726325" y="3187287"/>
              <a:ext cx="281375" cy="421875"/>
            </a:xfrm>
            <a:custGeom>
              <a:avLst/>
              <a:gdLst/>
              <a:ahLst/>
              <a:cxnLst/>
              <a:rect l="l" t="t" r="r" b="b"/>
              <a:pathLst>
                <a:path w="11255" h="16875" extrusionOk="0">
                  <a:moveTo>
                    <a:pt x="0" y="1985"/>
                  </a:moveTo>
                  <a:cubicBezTo>
                    <a:pt x="3409" y="525"/>
                    <a:pt x="10171" y="-1599"/>
                    <a:pt x="11126" y="1985"/>
                  </a:cubicBezTo>
                  <a:cubicBezTo>
                    <a:pt x="11977" y="5177"/>
                    <a:pt x="7498" y="7599"/>
                    <a:pt x="5042" y="9808"/>
                  </a:cubicBezTo>
                  <a:cubicBezTo>
                    <a:pt x="3517" y="11179"/>
                    <a:pt x="7922" y="12750"/>
                    <a:pt x="9562" y="13980"/>
                  </a:cubicBezTo>
                  <a:cubicBezTo>
                    <a:pt x="10372" y="14587"/>
                    <a:pt x="11636" y="16225"/>
                    <a:pt x="10778" y="16762"/>
                  </a:cubicBezTo>
                  <a:cubicBezTo>
                    <a:pt x="9613" y="17490"/>
                    <a:pt x="7707" y="13849"/>
                    <a:pt x="8866" y="13111"/>
                  </a:cubicBezTo>
                </a:path>
              </a:pathLst>
            </a:custGeom>
            <a:noFill/>
            <a:ln w="38100" cap="flat" cmpd="sng">
              <a:solidFill>
                <a:srgbClr val="F1C232"/>
              </a:solidFill>
              <a:prstDash val="solid"/>
              <a:round/>
              <a:headEnd type="none" w="med" len="med"/>
              <a:tailEnd type="none" w="med" len="med"/>
            </a:ln>
          </p:spPr>
        </p:sp>
        <p:sp>
          <p:nvSpPr>
            <p:cNvPr id="610" name="Google Shape;610;p25"/>
            <p:cNvSpPr/>
            <p:nvPr/>
          </p:nvSpPr>
          <p:spPr>
            <a:xfrm>
              <a:off x="7829049" y="3032650"/>
              <a:ext cx="272850" cy="456325"/>
            </a:xfrm>
            <a:custGeom>
              <a:avLst/>
              <a:gdLst/>
              <a:ahLst/>
              <a:cxnLst/>
              <a:rect l="l" t="t" r="r" b="b"/>
              <a:pathLst>
                <a:path w="10914" h="18253" extrusionOk="0">
                  <a:moveTo>
                    <a:pt x="4236" y="0"/>
                  </a:moveTo>
                  <a:cubicBezTo>
                    <a:pt x="1862" y="3263"/>
                    <a:pt x="-1710" y="8598"/>
                    <a:pt x="933" y="11647"/>
                  </a:cubicBezTo>
                  <a:cubicBezTo>
                    <a:pt x="3470" y="14574"/>
                    <a:pt x="12913" y="15228"/>
                    <a:pt x="10494" y="18253"/>
                  </a:cubicBezTo>
                </a:path>
              </a:pathLst>
            </a:custGeom>
            <a:noFill/>
            <a:ln w="38100" cap="flat" cmpd="sng">
              <a:solidFill>
                <a:srgbClr val="F1C232"/>
              </a:solidFill>
              <a:prstDash val="solid"/>
              <a:round/>
              <a:headEnd type="none" w="med" len="med"/>
              <a:tailEnd type="none" w="med" len="med"/>
            </a:ln>
          </p:spPr>
        </p:sp>
        <p:sp>
          <p:nvSpPr>
            <p:cNvPr id="611" name="Google Shape;611;p25"/>
            <p:cNvSpPr/>
            <p:nvPr/>
          </p:nvSpPr>
          <p:spPr>
            <a:xfrm>
              <a:off x="7938508" y="3145650"/>
              <a:ext cx="222425" cy="356375"/>
            </a:xfrm>
            <a:custGeom>
              <a:avLst/>
              <a:gdLst/>
              <a:ahLst/>
              <a:cxnLst/>
              <a:rect l="l" t="t" r="r" b="b"/>
              <a:pathLst>
                <a:path w="8897" h="14255" extrusionOk="0">
                  <a:moveTo>
                    <a:pt x="8897" y="0"/>
                  </a:moveTo>
                  <a:cubicBezTo>
                    <a:pt x="5700" y="999"/>
                    <a:pt x="1621" y="2006"/>
                    <a:pt x="205" y="5041"/>
                  </a:cubicBezTo>
                  <a:cubicBezTo>
                    <a:pt x="-1089" y="7814"/>
                    <a:pt x="5221" y="8570"/>
                    <a:pt x="7507" y="10604"/>
                  </a:cubicBezTo>
                  <a:cubicBezTo>
                    <a:pt x="8600" y="11576"/>
                    <a:pt x="6516" y="14014"/>
                    <a:pt x="5073" y="14255"/>
                  </a:cubicBezTo>
                </a:path>
              </a:pathLst>
            </a:custGeom>
            <a:noFill/>
            <a:ln w="38100" cap="flat" cmpd="sng">
              <a:solidFill>
                <a:srgbClr val="F1C232"/>
              </a:solidFill>
              <a:prstDash val="solid"/>
              <a:round/>
              <a:headEnd type="none" w="med" len="med"/>
              <a:tailEnd type="none" w="med" len="med"/>
            </a:ln>
          </p:spPr>
        </p:sp>
        <p:sp>
          <p:nvSpPr>
            <p:cNvPr id="612" name="Google Shape;612;p25"/>
            <p:cNvSpPr/>
            <p:nvPr/>
          </p:nvSpPr>
          <p:spPr>
            <a:xfrm>
              <a:off x="7743725" y="3093500"/>
              <a:ext cx="518875" cy="321600"/>
            </a:xfrm>
            <a:custGeom>
              <a:avLst/>
              <a:gdLst/>
              <a:ahLst/>
              <a:cxnLst/>
              <a:rect l="l" t="t" r="r" b="b"/>
              <a:pathLst>
                <a:path w="20755" h="12864" extrusionOk="0">
                  <a:moveTo>
                    <a:pt x="0" y="0"/>
                  </a:moveTo>
                  <a:cubicBezTo>
                    <a:pt x="5394" y="897"/>
                    <a:pt x="12760" y="-760"/>
                    <a:pt x="15993" y="3650"/>
                  </a:cubicBezTo>
                  <a:cubicBezTo>
                    <a:pt x="17475" y="5672"/>
                    <a:pt x="22372" y="8719"/>
                    <a:pt x="20165" y="9908"/>
                  </a:cubicBezTo>
                  <a:cubicBezTo>
                    <a:pt x="14587" y="12912"/>
                    <a:pt x="1390" y="6529"/>
                    <a:pt x="1390" y="12864"/>
                  </a:cubicBezTo>
                </a:path>
              </a:pathLst>
            </a:custGeom>
            <a:noFill/>
            <a:ln w="38100" cap="flat" cmpd="sng">
              <a:solidFill>
                <a:srgbClr val="F1C232"/>
              </a:solidFill>
              <a:prstDash val="solid"/>
              <a:round/>
              <a:headEnd type="none" w="med" len="med"/>
              <a:tailEnd type="none" w="med" len="med"/>
            </a:ln>
          </p:spPr>
        </p:sp>
        <p:sp>
          <p:nvSpPr>
            <p:cNvPr id="613" name="Google Shape;613;p25"/>
            <p:cNvSpPr/>
            <p:nvPr/>
          </p:nvSpPr>
          <p:spPr>
            <a:xfrm>
              <a:off x="7662050" y="3010925"/>
              <a:ext cx="411975" cy="478050"/>
            </a:xfrm>
            <a:custGeom>
              <a:avLst/>
              <a:gdLst/>
              <a:ahLst/>
              <a:cxnLst/>
              <a:rect l="l" t="t" r="r" b="b"/>
              <a:pathLst>
                <a:path w="16479" h="19122" extrusionOk="0">
                  <a:moveTo>
                    <a:pt x="16479" y="0"/>
                  </a:moveTo>
                  <a:cubicBezTo>
                    <a:pt x="9984" y="1946"/>
                    <a:pt x="3470" y="6343"/>
                    <a:pt x="311" y="12342"/>
                  </a:cubicBezTo>
                  <a:cubicBezTo>
                    <a:pt x="-872" y="14589"/>
                    <a:pt x="1757" y="17597"/>
                    <a:pt x="3788" y="19122"/>
                  </a:cubicBezTo>
                </a:path>
              </a:pathLst>
            </a:custGeom>
            <a:noFill/>
            <a:ln w="38100" cap="flat" cmpd="sng">
              <a:solidFill>
                <a:srgbClr val="F1C232"/>
              </a:solidFill>
              <a:prstDash val="solid"/>
              <a:round/>
              <a:headEnd type="none" w="med" len="med"/>
              <a:tailEnd type="none" w="med" len="med"/>
            </a:ln>
          </p:spPr>
        </p:sp>
        <p:sp>
          <p:nvSpPr>
            <p:cNvPr id="614" name="Google Shape;614;p25"/>
            <p:cNvSpPr/>
            <p:nvPr/>
          </p:nvSpPr>
          <p:spPr>
            <a:xfrm>
              <a:off x="7817600" y="3015250"/>
              <a:ext cx="398400" cy="587225"/>
            </a:xfrm>
            <a:custGeom>
              <a:avLst/>
              <a:gdLst/>
              <a:ahLst/>
              <a:cxnLst/>
              <a:rect l="l" t="t" r="r" b="b"/>
              <a:pathLst>
                <a:path w="15936" h="23489" extrusionOk="0">
                  <a:moveTo>
                    <a:pt x="0" y="0"/>
                  </a:moveTo>
                  <a:cubicBezTo>
                    <a:pt x="0" y="8167"/>
                    <a:pt x="2230" y="20746"/>
                    <a:pt x="10257" y="22252"/>
                  </a:cubicBezTo>
                  <a:cubicBezTo>
                    <a:pt x="12203" y="22617"/>
                    <a:pt x="15960" y="18191"/>
                    <a:pt x="15819" y="20166"/>
                  </a:cubicBezTo>
                  <a:cubicBezTo>
                    <a:pt x="15703" y="21786"/>
                    <a:pt x="15565" y="21792"/>
                    <a:pt x="14950" y="23295"/>
                  </a:cubicBezTo>
                  <a:cubicBezTo>
                    <a:pt x="14596" y="24160"/>
                    <a:pt x="13200" y="21724"/>
                    <a:pt x="13559" y="20861"/>
                  </a:cubicBezTo>
                  <a:cubicBezTo>
                    <a:pt x="14532" y="18524"/>
                    <a:pt x="16694" y="15864"/>
                    <a:pt x="15646" y="13560"/>
                  </a:cubicBezTo>
                  <a:cubicBezTo>
                    <a:pt x="15040" y="12229"/>
                    <a:pt x="13029" y="12161"/>
                    <a:pt x="11995" y="11126"/>
                  </a:cubicBezTo>
                </a:path>
              </a:pathLst>
            </a:custGeom>
            <a:noFill/>
            <a:ln w="38100" cap="flat" cmpd="sng">
              <a:solidFill>
                <a:srgbClr val="F1C232"/>
              </a:solidFill>
              <a:prstDash val="solid"/>
              <a:round/>
              <a:headEnd type="none" w="med" len="med"/>
              <a:tailEnd type="none" w="med" len="med"/>
            </a:ln>
          </p:spPr>
        </p:sp>
        <p:sp>
          <p:nvSpPr>
            <p:cNvPr id="615" name="Google Shape;615;p25"/>
            <p:cNvSpPr/>
            <p:nvPr/>
          </p:nvSpPr>
          <p:spPr>
            <a:xfrm>
              <a:off x="7643750" y="3180400"/>
              <a:ext cx="425925" cy="446300"/>
            </a:xfrm>
            <a:custGeom>
              <a:avLst/>
              <a:gdLst/>
              <a:ahLst/>
              <a:cxnLst/>
              <a:rect l="l" t="t" r="r" b="b"/>
              <a:pathLst>
                <a:path w="17037" h="17852" extrusionOk="0">
                  <a:moveTo>
                    <a:pt x="0" y="0"/>
                  </a:moveTo>
                  <a:cubicBezTo>
                    <a:pt x="4491" y="817"/>
                    <a:pt x="6830" y="6955"/>
                    <a:pt x="7475" y="11474"/>
                  </a:cubicBezTo>
                  <a:cubicBezTo>
                    <a:pt x="7713" y="13138"/>
                    <a:pt x="6322" y="15483"/>
                    <a:pt x="7649" y="16515"/>
                  </a:cubicBezTo>
                  <a:cubicBezTo>
                    <a:pt x="10121" y="18437"/>
                    <a:pt x="14632" y="18173"/>
                    <a:pt x="17037" y="16167"/>
                  </a:cubicBezTo>
                </a:path>
              </a:pathLst>
            </a:custGeom>
            <a:noFill/>
            <a:ln w="38100" cap="flat" cmpd="sng">
              <a:solidFill>
                <a:srgbClr val="F1C232"/>
              </a:solidFill>
              <a:prstDash val="solid"/>
              <a:round/>
              <a:headEnd type="none" w="med" len="med"/>
              <a:tailEnd type="none" w="med" len="med"/>
            </a:ln>
          </p:spPr>
        </p:sp>
        <p:sp>
          <p:nvSpPr>
            <p:cNvPr id="616" name="Google Shape;616;p25"/>
            <p:cNvSpPr/>
            <p:nvPr/>
          </p:nvSpPr>
          <p:spPr>
            <a:xfrm>
              <a:off x="7836249" y="3076100"/>
              <a:ext cx="320325" cy="456325"/>
            </a:xfrm>
            <a:custGeom>
              <a:avLst/>
              <a:gdLst/>
              <a:ahLst/>
              <a:cxnLst/>
              <a:rect l="l" t="t" r="r" b="b"/>
              <a:pathLst>
                <a:path w="12813" h="18253" extrusionOk="0">
                  <a:moveTo>
                    <a:pt x="12813" y="0"/>
                  </a:moveTo>
                  <a:cubicBezTo>
                    <a:pt x="7242" y="2181"/>
                    <a:pt x="-861" y="6790"/>
                    <a:pt x="123" y="12691"/>
                  </a:cubicBezTo>
                  <a:cubicBezTo>
                    <a:pt x="746" y="16427"/>
                    <a:pt x="8084" y="15004"/>
                    <a:pt x="10032" y="18253"/>
                  </a:cubicBezTo>
                </a:path>
              </a:pathLst>
            </a:custGeom>
            <a:noFill/>
            <a:ln w="38100" cap="flat" cmpd="sng">
              <a:solidFill>
                <a:srgbClr val="F1C232"/>
              </a:solidFill>
              <a:prstDash val="solid"/>
              <a:round/>
              <a:headEnd type="none" w="med" len="med"/>
              <a:tailEnd type="none" w="med" len="med"/>
            </a:ln>
          </p:spPr>
        </p:sp>
        <p:sp>
          <p:nvSpPr>
            <p:cNvPr id="617" name="Google Shape;617;p25"/>
            <p:cNvSpPr/>
            <p:nvPr/>
          </p:nvSpPr>
          <p:spPr>
            <a:xfrm>
              <a:off x="7700250" y="3132600"/>
              <a:ext cx="429925" cy="169500"/>
            </a:xfrm>
            <a:custGeom>
              <a:avLst/>
              <a:gdLst/>
              <a:ahLst/>
              <a:cxnLst/>
              <a:rect l="l" t="t" r="r" b="b"/>
              <a:pathLst>
                <a:path w="17197" h="6780" extrusionOk="0">
                  <a:moveTo>
                    <a:pt x="0" y="0"/>
                  </a:moveTo>
                  <a:cubicBezTo>
                    <a:pt x="3914" y="4695"/>
                    <a:pt x="10925" y="6780"/>
                    <a:pt x="17037" y="6780"/>
                  </a:cubicBezTo>
                  <a:cubicBezTo>
                    <a:pt x="17504" y="6780"/>
                    <a:pt x="16799" y="5655"/>
                    <a:pt x="16341" y="5563"/>
                  </a:cubicBezTo>
                </a:path>
              </a:pathLst>
            </a:custGeom>
            <a:noFill/>
            <a:ln w="38100" cap="flat" cmpd="sng">
              <a:solidFill>
                <a:srgbClr val="F1C232"/>
              </a:solidFill>
              <a:prstDash val="solid"/>
              <a:round/>
              <a:headEnd type="none" w="med" len="med"/>
              <a:tailEnd type="none" w="med" len="med"/>
            </a:ln>
          </p:spPr>
        </p:sp>
        <p:sp>
          <p:nvSpPr>
            <p:cNvPr id="618" name="Google Shape;618;p25"/>
            <p:cNvSpPr/>
            <p:nvPr/>
          </p:nvSpPr>
          <p:spPr>
            <a:xfrm>
              <a:off x="7710998" y="3098181"/>
              <a:ext cx="558575" cy="472725"/>
            </a:xfrm>
            <a:custGeom>
              <a:avLst/>
              <a:gdLst/>
              <a:ahLst/>
              <a:cxnLst/>
              <a:rect l="l" t="t" r="r" b="b"/>
              <a:pathLst>
                <a:path w="22343" h="18909" extrusionOk="0">
                  <a:moveTo>
                    <a:pt x="22343" y="4332"/>
                  </a:moveTo>
                  <a:cubicBezTo>
                    <a:pt x="16437" y="38"/>
                    <a:pt x="3704" y="-2547"/>
                    <a:pt x="439" y="3985"/>
                  </a:cubicBezTo>
                  <a:cubicBezTo>
                    <a:pt x="-1508" y="7881"/>
                    <a:pt x="3832" y="12696"/>
                    <a:pt x="7567" y="14937"/>
                  </a:cubicBezTo>
                  <a:cubicBezTo>
                    <a:pt x="9340" y="16001"/>
                    <a:pt x="12081" y="14808"/>
                    <a:pt x="13651" y="16154"/>
                  </a:cubicBezTo>
                  <a:cubicBezTo>
                    <a:pt x="15785" y="17983"/>
                    <a:pt x="7730" y="19926"/>
                    <a:pt x="5481" y="18240"/>
                  </a:cubicBezTo>
                </a:path>
              </a:pathLst>
            </a:custGeom>
            <a:noFill/>
            <a:ln w="38100" cap="flat" cmpd="sng">
              <a:solidFill>
                <a:srgbClr val="F1C232"/>
              </a:solidFill>
              <a:prstDash val="solid"/>
              <a:round/>
              <a:headEnd type="none" w="med" len="med"/>
              <a:tailEnd type="none" w="med" len="med"/>
            </a:ln>
          </p:spPr>
        </p:sp>
        <p:sp>
          <p:nvSpPr>
            <p:cNvPr id="619" name="Google Shape;619;p25"/>
            <p:cNvSpPr/>
            <p:nvPr/>
          </p:nvSpPr>
          <p:spPr>
            <a:xfrm>
              <a:off x="7685501" y="3079570"/>
              <a:ext cx="584075" cy="361600"/>
            </a:xfrm>
            <a:custGeom>
              <a:avLst/>
              <a:gdLst/>
              <a:ahLst/>
              <a:cxnLst/>
              <a:rect l="l" t="t" r="r" b="b"/>
              <a:pathLst>
                <a:path w="23363" h="14464" extrusionOk="0">
                  <a:moveTo>
                    <a:pt x="23363" y="14464"/>
                  </a:moveTo>
                  <a:cubicBezTo>
                    <a:pt x="21432" y="9632"/>
                    <a:pt x="15255" y="7928"/>
                    <a:pt x="11021" y="4903"/>
                  </a:cubicBezTo>
                  <a:cubicBezTo>
                    <a:pt x="8043" y="2775"/>
                    <a:pt x="3984" y="-1473"/>
                    <a:pt x="938" y="557"/>
                  </a:cubicBezTo>
                  <a:cubicBezTo>
                    <a:pt x="-2526" y="2866"/>
                    <a:pt x="4896" y="8744"/>
                    <a:pt x="8761" y="10292"/>
                  </a:cubicBezTo>
                </a:path>
              </a:pathLst>
            </a:custGeom>
            <a:noFill/>
            <a:ln w="38100" cap="flat" cmpd="sng">
              <a:solidFill>
                <a:srgbClr val="F1C232"/>
              </a:solidFill>
              <a:prstDash val="solid"/>
              <a:round/>
              <a:headEnd type="none" w="med" len="med"/>
              <a:tailEnd type="none" w="med" len="med"/>
            </a:ln>
          </p:spPr>
        </p:sp>
        <p:sp>
          <p:nvSpPr>
            <p:cNvPr id="620" name="Google Shape;620;p25"/>
            <p:cNvSpPr/>
            <p:nvPr/>
          </p:nvSpPr>
          <p:spPr>
            <a:xfrm>
              <a:off x="7744259" y="3028300"/>
              <a:ext cx="368875" cy="491100"/>
            </a:xfrm>
            <a:custGeom>
              <a:avLst/>
              <a:gdLst/>
              <a:ahLst/>
              <a:cxnLst/>
              <a:rect l="l" t="t" r="r" b="b"/>
              <a:pathLst>
                <a:path w="14755" h="19644" extrusionOk="0">
                  <a:moveTo>
                    <a:pt x="14755" y="0"/>
                  </a:moveTo>
                  <a:cubicBezTo>
                    <a:pt x="14495" y="609"/>
                    <a:pt x="14636" y="691"/>
                    <a:pt x="14234" y="1217"/>
                  </a:cubicBezTo>
                  <a:cubicBezTo>
                    <a:pt x="10836" y="5660"/>
                    <a:pt x="3616" y="6081"/>
                    <a:pt x="326" y="10604"/>
                  </a:cubicBezTo>
                  <a:cubicBezTo>
                    <a:pt x="-1501" y="13116"/>
                    <a:pt x="5071" y="17780"/>
                    <a:pt x="2586" y="19644"/>
                  </a:cubicBezTo>
                </a:path>
              </a:pathLst>
            </a:custGeom>
            <a:noFill/>
            <a:ln w="38100" cap="flat" cmpd="sng">
              <a:solidFill>
                <a:srgbClr val="F1C232"/>
              </a:solidFill>
              <a:prstDash val="solid"/>
              <a:round/>
              <a:headEnd type="none" w="med" len="med"/>
              <a:tailEnd type="none" w="med" len="med"/>
            </a:ln>
          </p:spPr>
        </p:sp>
        <p:sp>
          <p:nvSpPr>
            <p:cNvPr id="621" name="Google Shape;621;p25"/>
            <p:cNvSpPr/>
            <p:nvPr/>
          </p:nvSpPr>
          <p:spPr>
            <a:xfrm>
              <a:off x="7765450" y="3145650"/>
              <a:ext cx="482400" cy="338975"/>
            </a:xfrm>
            <a:custGeom>
              <a:avLst/>
              <a:gdLst/>
              <a:ahLst/>
              <a:cxnLst/>
              <a:rect l="l" t="t" r="r" b="b"/>
              <a:pathLst>
                <a:path w="19296" h="13559" extrusionOk="0">
                  <a:moveTo>
                    <a:pt x="19296" y="13559"/>
                  </a:moveTo>
                  <a:cubicBezTo>
                    <a:pt x="13760" y="11712"/>
                    <a:pt x="8516" y="8736"/>
                    <a:pt x="3998" y="5041"/>
                  </a:cubicBezTo>
                  <a:cubicBezTo>
                    <a:pt x="2338" y="3683"/>
                    <a:pt x="2116" y="351"/>
                    <a:pt x="0" y="0"/>
                  </a:cubicBezTo>
                </a:path>
              </a:pathLst>
            </a:custGeom>
            <a:noFill/>
            <a:ln w="38100" cap="flat" cmpd="sng">
              <a:solidFill>
                <a:srgbClr val="F1C232"/>
              </a:solidFill>
              <a:prstDash val="solid"/>
              <a:round/>
              <a:headEnd type="none" w="med" len="med"/>
              <a:tailEnd type="none" w="med" len="med"/>
            </a:ln>
          </p:spPr>
        </p:sp>
        <p:sp>
          <p:nvSpPr>
            <p:cNvPr id="622" name="Google Shape;622;p25"/>
            <p:cNvSpPr/>
            <p:nvPr/>
          </p:nvSpPr>
          <p:spPr>
            <a:xfrm>
              <a:off x="7665500" y="3269759"/>
              <a:ext cx="499775" cy="249650"/>
            </a:xfrm>
            <a:custGeom>
              <a:avLst/>
              <a:gdLst/>
              <a:ahLst/>
              <a:cxnLst/>
              <a:rect l="l" t="t" r="r" b="b"/>
              <a:pathLst>
                <a:path w="19991" h="9986" extrusionOk="0">
                  <a:moveTo>
                    <a:pt x="0" y="9986"/>
                  </a:moveTo>
                  <a:cubicBezTo>
                    <a:pt x="3478" y="7899"/>
                    <a:pt x="5064" y="3283"/>
                    <a:pt x="8692" y="1468"/>
                  </a:cubicBezTo>
                  <a:cubicBezTo>
                    <a:pt x="12086" y="-230"/>
                    <a:pt x="16196" y="77"/>
                    <a:pt x="19991" y="77"/>
                  </a:cubicBezTo>
                </a:path>
              </a:pathLst>
            </a:custGeom>
            <a:noFill/>
            <a:ln w="38100" cap="flat" cmpd="sng">
              <a:solidFill>
                <a:srgbClr val="F1C232"/>
              </a:solidFill>
              <a:prstDash val="solid"/>
              <a:round/>
              <a:headEnd type="none" w="med" len="med"/>
              <a:tailEnd type="none" w="med" len="med"/>
            </a:ln>
          </p:spPr>
        </p:sp>
        <p:sp>
          <p:nvSpPr>
            <p:cNvPr id="623" name="Google Shape;623;p25"/>
            <p:cNvSpPr/>
            <p:nvPr/>
          </p:nvSpPr>
          <p:spPr>
            <a:xfrm>
              <a:off x="7656800" y="3198318"/>
              <a:ext cx="660600" cy="161800"/>
            </a:xfrm>
            <a:custGeom>
              <a:avLst/>
              <a:gdLst/>
              <a:ahLst/>
              <a:cxnLst/>
              <a:rect l="l" t="t" r="r" b="b"/>
              <a:pathLst>
                <a:path w="26424" h="6472" extrusionOk="0">
                  <a:moveTo>
                    <a:pt x="26424" y="6411"/>
                  </a:moveTo>
                  <a:cubicBezTo>
                    <a:pt x="18961" y="6652"/>
                    <a:pt x="11684" y="3823"/>
                    <a:pt x="4520" y="1717"/>
                  </a:cubicBezTo>
                  <a:cubicBezTo>
                    <a:pt x="4232" y="1632"/>
                    <a:pt x="0" y="-572"/>
                    <a:pt x="0" y="153"/>
                  </a:cubicBezTo>
                  <a:cubicBezTo>
                    <a:pt x="0" y="1294"/>
                    <a:pt x="584" y="2475"/>
                    <a:pt x="1391" y="3282"/>
                  </a:cubicBezTo>
                </a:path>
              </a:pathLst>
            </a:custGeom>
            <a:noFill/>
            <a:ln w="38100" cap="flat" cmpd="sng">
              <a:solidFill>
                <a:srgbClr val="F1C232"/>
              </a:solidFill>
              <a:prstDash val="solid"/>
              <a:round/>
              <a:headEnd type="none" w="med" len="med"/>
              <a:tailEnd type="none" w="med" len="med"/>
            </a:ln>
          </p:spPr>
        </p:sp>
        <p:sp>
          <p:nvSpPr>
            <p:cNvPr id="624" name="Google Shape;624;p25"/>
            <p:cNvSpPr/>
            <p:nvPr/>
          </p:nvSpPr>
          <p:spPr>
            <a:xfrm>
              <a:off x="7757829" y="3119575"/>
              <a:ext cx="450925" cy="395475"/>
            </a:xfrm>
            <a:custGeom>
              <a:avLst/>
              <a:gdLst/>
              <a:ahLst/>
              <a:cxnLst/>
              <a:rect l="l" t="t" r="r" b="b"/>
              <a:pathLst>
                <a:path w="18037" h="15819" extrusionOk="0">
                  <a:moveTo>
                    <a:pt x="18037" y="0"/>
                  </a:moveTo>
                  <a:cubicBezTo>
                    <a:pt x="15708" y="1293"/>
                    <a:pt x="13491" y="3180"/>
                    <a:pt x="12300" y="5562"/>
                  </a:cubicBezTo>
                  <a:cubicBezTo>
                    <a:pt x="11338" y="7485"/>
                    <a:pt x="12524" y="10628"/>
                    <a:pt x="10735" y="11821"/>
                  </a:cubicBezTo>
                  <a:cubicBezTo>
                    <a:pt x="7637" y="13887"/>
                    <a:pt x="-1612" y="12627"/>
                    <a:pt x="305" y="15819"/>
                  </a:cubicBezTo>
                </a:path>
              </a:pathLst>
            </a:custGeom>
            <a:noFill/>
            <a:ln w="38100" cap="flat" cmpd="sng">
              <a:solidFill>
                <a:srgbClr val="F1C232"/>
              </a:solidFill>
              <a:prstDash val="solid"/>
              <a:round/>
              <a:headEnd type="none" w="med" len="med"/>
              <a:tailEnd type="none" w="med" len="med"/>
            </a:ln>
          </p:spPr>
        </p:sp>
        <p:sp>
          <p:nvSpPr>
            <p:cNvPr id="625" name="Google Shape;625;p25"/>
            <p:cNvSpPr/>
            <p:nvPr/>
          </p:nvSpPr>
          <p:spPr>
            <a:xfrm>
              <a:off x="7895825" y="3010925"/>
              <a:ext cx="373750" cy="469350"/>
            </a:xfrm>
            <a:custGeom>
              <a:avLst/>
              <a:gdLst/>
              <a:ahLst/>
              <a:cxnLst/>
              <a:rect l="l" t="t" r="r" b="b"/>
              <a:pathLst>
                <a:path w="14950" h="18774" extrusionOk="0">
                  <a:moveTo>
                    <a:pt x="0" y="0"/>
                  </a:moveTo>
                  <a:cubicBezTo>
                    <a:pt x="1571" y="7844"/>
                    <a:pt x="11377" y="11617"/>
                    <a:pt x="14950" y="18774"/>
                  </a:cubicBezTo>
                </a:path>
              </a:pathLst>
            </a:custGeom>
            <a:noFill/>
            <a:ln w="38100" cap="flat" cmpd="sng">
              <a:solidFill>
                <a:srgbClr val="F1C232"/>
              </a:solidFill>
              <a:prstDash val="solid"/>
              <a:round/>
              <a:headEnd type="none" w="med" len="med"/>
              <a:tailEnd type="none" w="med" len="med"/>
            </a:ln>
          </p:spPr>
        </p:sp>
        <p:sp>
          <p:nvSpPr>
            <p:cNvPr id="626" name="Google Shape;626;p25"/>
            <p:cNvSpPr/>
            <p:nvPr/>
          </p:nvSpPr>
          <p:spPr>
            <a:xfrm>
              <a:off x="7752400" y="3132600"/>
              <a:ext cx="346150" cy="434600"/>
            </a:xfrm>
            <a:custGeom>
              <a:avLst/>
              <a:gdLst/>
              <a:ahLst/>
              <a:cxnLst/>
              <a:rect l="l" t="t" r="r" b="b"/>
              <a:pathLst>
                <a:path w="13846" h="17384" extrusionOk="0">
                  <a:moveTo>
                    <a:pt x="0" y="17384"/>
                  </a:moveTo>
                  <a:cubicBezTo>
                    <a:pt x="1561" y="14266"/>
                    <a:pt x="813" y="9404"/>
                    <a:pt x="3825" y="7649"/>
                  </a:cubicBezTo>
                  <a:cubicBezTo>
                    <a:pt x="6452" y="6118"/>
                    <a:pt x="10432" y="8256"/>
                    <a:pt x="12865" y="6432"/>
                  </a:cubicBezTo>
                  <a:cubicBezTo>
                    <a:pt x="14596" y="5134"/>
                    <a:pt x="13756" y="1257"/>
                    <a:pt x="11995" y="0"/>
                  </a:cubicBezTo>
                </a:path>
              </a:pathLst>
            </a:custGeom>
            <a:noFill/>
            <a:ln w="38100" cap="flat" cmpd="sng">
              <a:solidFill>
                <a:srgbClr val="F1C232"/>
              </a:solidFill>
              <a:prstDash val="solid"/>
              <a:round/>
              <a:headEnd type="none" w="med" len="med"/>
              <a:tailEnd type="none" w="med" len="med"/>
            </a:ln>
          </p:spPr>
        </p:sp>
      </p:grpSp>
      <p:sp>
        <p:nvSpPr>
          <p:cNvPr id="627" name="Google Shape;627;p25"/>
          <p:cNvSpPr/>
          <p:nvPr/>
        </p:nvSpPr>
        <p:spPr>
          <a:xfrm rot="6485262">
            <a:off x="3763714"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628" name="Google Shape;628;p25"/>
          <p:cNvSpPr/>
          <p:nvPr/>
        </p:nvSpPr>
        <p:spPr>
          <a:xfrm>
            <a:off x="4416763" y="3146300"/>
            <a:ext cx="420063" cy="289163"/>
          </a:xfrm>
          <a:custGeom>
            <a:avLst/>
            <a:gdLst/>
            <a:ahLst/>
            <a:cxnLst/>
            <a:rect l="l" t="t" r="r" b="b"/>
            <a:pathLst>
              <a:path w="33605" h="23133" extrusionOk="0">
                <a:moveTo>
                  <a:pt x="0" y="23133"/>
                </a:moveTo>
                <a:cubicBezTo>
                  <a:pt x="2435" y="19075"/>
                  <a:pt x="4127" y="14465"/>
                  <a:pt x="7305" y="10958"/>
                </a:cubicBezTo>
                <a:cubicBezTo>
                  <a:pt x="13683" y="3921"/>
                  <a:pt x="24540" y="2832"/>
                  <a:pt x="33605" y="0"/>
                </a:cubicBezTo>
              </a:path>
            </a:pathLst>
          </a:custGeom>
          <a:noFill/>
          <a:ln w="38100" cap="flat" cmpd="sng">
            <a:solidFill>
              <a:srgbClr val="F1C232"/>
            </a:solidFill>
            <a:prstDash val="solid"/>
            <a:round/>
            <a:headEnd type="none" w="med" len="med"/>
            <a:tailEnd type="none" w="med" len="med"/>
          </a:ln>
        </p:spPr>
      </p:sp>
      <p:sp>
        <p:nvSpPr>
          <p:cNvPr id="629" name="Google Shape;629;p25"/>
          <p:cNvSpPr/>
          <p:nvPr/>
        </p:nvSpPr>
        <p:spPr>
          <a:xfrm>
            <a:off x="4413713" y="2966700"/>
            <a:ext cx="273963" cy="413975"/>
          </a:xfrm>
          <a:custGeom>
            <a:avLst/>
            <a:gdLst/>
            <a:ahLst/>
            <a:cxnLst/>
            <a:rect l="l" t="t" r="r" b="b"/>
            <a:pathLst>
              <a:path w="21917" h="33118" extrusionOk="0">
                <a:moveTo>
                  <a:pt x="0" y="0"/>
                </a:moveTo>
                <a:cubicBezTo>
                  <a:pt x="2209" y="4416"/>
                  <a:pt x="6510" y="8222"/>
                  <a:pt x="6819" y="13150"/>
                </a:cubicBezTo>
                <a:cubicBezTo>
                  <a:pt x="7095" y="17561"/>
                  <a:pt x="2967" y="22436"/>
                  <a:pt x="5114" y="26300"/>
                </a:cubicBezTo>
                <a:cubicBezTo>
                  <a:pt x="8050" y="31584"/>
                  <a:pt x="16181" y="31211"/>
                  <a:pt x="21917" y="33118"/>
                </a:cubicBezTo>
              </a:path>
            </a:pathLst>
          </a:custGeom>
          <a:noFill/>
          <a:ln w="38100" cap="flat" cmpd="sng">
            <a:solidFill>
              <a:srgbClr val="F1C232"/>
            </a:solidFill>
            <a:prstDash val="solid"/>
            <a:round/>
            <a:headEnd type="none" w="med" len="med"/>
            <a:tailEnd type="none" w="med" len="med"/>
          </a:ln>
        </p:spPr>
      </p:sp>
      <p:sp>
        <p:nvSpPr>
          <p:cNvPr id="630" name="Google Shape;630;p25"/>
          <p:cNvSpPr/>
          <p:nvPr/>
        </p:nvSpPr>
        <p:spPr>
          <a:xfrm>
            <a:off x="4363841" y="3099836"/>
            <a:ext cx="427325" cy="335625"/>
          </a:xfrm>
          <a:custGeom>
            <a:avLst/>
            <a:gdLst/>
            <a:ahLst/>
            <a:cxnLst/>
            <a:rect l="l" t="t" r="r" b="b"/>
            <a:pathLst>
              <a:path w="34186" h="26850" extrusionOk="0">
                <a:moveTo>
                  <a:pt x="34186" y="7369"/>
                </a:moveTo>
                <a:cubicBezTo>
                  <a:pt x="26609" y="7875"/>
                  <a:pt x="18987" y="9107"/>
                  <a:pt x="11783" y="11509"/>
                </a:cubicBezTo>
                <a:cubicBezTo>
                  <a:pt x="8958" y="12451"/>
                  <a:pt x="6190" y="14721"/>
                  <a:pt x="3260" y="14188"/>
                </a:cubicBezTo>
                <a:cubicBezTo>
                  <a:pt x="100" y="13613"/>
                  <a:pt x="-612" y="7915"/>
                  <a:pt x="581" y="4934"/>
                </a:cubicBezTo>
                <a:cubicBezTo>
                  <a:pt x="2999" y="-1107"/>
                  <a:pt x="16358" y="-1632"/>
                  <a:pt x="20062" y="3717"/>
                </a:cubicBezTo>
                <a:cubicBezTo>
                  <a:pt x="23302" y="8396"/>
                  <a:pt x="18572" y="15095"/>
                  <a:pt x="19088" y="20763"/>
                </a:cubicBezTo>
                <a:cubicBezTo>
                  <a:pt x="19370" y="23858"/>
                  <a:pt x="23042" y="26850"/>
                  <a:pt x="26150" y="26850"/>
                </a:cubicBezTo>
              </a:path>
            </a:pathLst>
          </a:custGeom>
          <a:noFill/>
          <a:ln w="38100" cap="flat" cmpd="sng">
            <a:solidFill>
              <a:srgbClr val="F1C232"/>
            </a:solidFill>
            <a:prstDash val="solid"/>
            <a:round/>
            <a:headEnd type="none" w="med" len="med"/>
            <a:tailEnd type="none" w="med" len="med"/>
          </a:ln>
        </p:spPr>
      </p:sp>
      <p:sp>
        <p:nvSpPr>
          <p:cNvPr id="631" name="Google Shape;631;p25"/>
          <p:cNvSpPr/>
          <p:nvPr/>
        </p:nvSpPr>
        <p:spPr>
          <a:xfrm>
            <a:off x="4365013" y="2942350"/>
            <a:ext cx="453675" cy="414725"/>
          </a:xfrm>
          <a:custGeom>
            <a:avLst/>
            <a:gdLst/>
            <a:ahLst/>
            <a:cxnLst/>
            <a:rect l="l" t="t" r="r" b="b"/>
            <a:pathLst>
              <a:path w="36294" h="33178" extrusionOk="0">
                <a:moveTo>
                  <a:pt x="16072" y="0"/>
                </a:moveTo>
                <a:cubicBezTo>
                  <a:pt x="18478" y="5415"/>
                  <a:pt x="25652" y="7856"/>
                  <a:pt x="27761" y="13393"/>
                </a:cubicBezTo>
                <a:cubicBezTo>
                  <a:pt x="29698" y="18478"/>
                  <a:pt x="25844" y="24459"/>
                  <a:pt x="27274" y="29709"/>
                </a:cubicBezTo>
                <a:cubicBezTo>
                  <a:pt x="27905" y="32023"/>
                  <a:pt x="32028" y="34192"/>
                  <a:pt x="33849" y="32631"/>
                </a:cubicBezTo>
                <a:cubicBezTo>
                  <a:pt x="36931" y="29989"/>
                  <a:pt x="37353" y="22015"/>
                  <a:pt x="33605" y="20455"/>
                </a:cubicBezTo>
                <a:cubicBezTo>
                  <a:pt x="25042" y="16890"/>
                  <a:pt x="14673" y="21082"/>
                  <a:pt x="6088" y="24595"/>
                </a:cubicBezTo>
                <a:cubicBezTo>
                  <a:pt x="3268" y="25749"/>
                  <a:pt x="2891" y="30452"/>
                  <a:pt x="0" y="31413"/>
                </a:cubicBezTo>
              </a:path>
            </a:pathLst>
          </a:custGeom>
          <a:noFill/>
          <a:ln w="38100" cap="flat" cmpd="sng">
            <a:solidFill>
              <a:srgbClr val="F1C232"/>
            </a:solidFill>
            <a:prstDash val="solid"/>
            <a:round/>
            <a:headEnd type="none" w="med" len="med"/>
            <a:tailEnd type="none" w="med" len="med"/>
          </a:ln>
        </p:spPr>
      </p:sp>
      <p:sp>
        <p:nvSpPr>
          <p:cNvPr id="632" name="Google Shape;632;p25"/>
          <p:cNvSpPr/>
          <p:nvPr/>
        </p:nvSpPr>
        <p:spPr>
          <a:xfrm>
            <a:off x="4340663" y="2972714"/>
            <a:ext cx="441350" cy="510425"/>
          </a:xfrm>
          <a:custGeom>
            <a:avLst/>
            <a:gdLst/>
            <a:ahLst/>
            <a:cxnLst/>
            <a:rect l="l" t="t" r="r" b="b"/>
            <a:pathLst>
              <a:path w="35308" h="40834" extrusionOk="0">
                <a:moveTo>
                  <a:pt x="0" y="21923"/>
                </a:moveTo>
                <a:cubicBezTo>
                  <a:pt x="4868" y="17746"/>
                  <a:pt x="16935" y="15448"/>
                  <a:pt x="19238" y="21435"/>
                </a:cubicBezTo>
                <a:cubicBezTo>
                  <a:pt x="21093" y="26256"/>
                  <a:pt x="14339" y="32377"/>
                  <a:pt x="17046" y="36777"/>
                </a:cubicBezTo>
                <a:cubicBezTo>
                  <a:pt x="19515" y="40790"/>
                  <a:pt x="26930" y="41953"/>
                  <a:pt x="30926" y="39456"/>
                </a:cubicBezTo>
                <a:cubicBezTo>
                  <a:pt x="37891" y="35105"/>
                  <a:pt x="35821" y="20062"/>
                  <a:pt x="29465" y="14861"/>
                </a:cubicBezTo>
                <a:cubicBezTo>
                  <a:pt x="22888" y="9480"/>
                  <a:pt x="7178" y="12602"/>
                  <a:pt x="6331" y="4146"/>
                </a:cubicBezTo>
                <a:cubicBezTo>
                  <a:pt x="5675" y="-2396"/>
                  <a:pt x="21107" y="-183"/>
                  <a:pt x="26056" y="4146"/>
                </a:cubicBezTo>
                <a:cubicBezTo>
                  <a:pt x="35321" y="12251"/>
                  <a:pt x="17470" y="28073"/>
                  <a:pt x="8766" y="36777"/>
                </a:cubicBezTo>
              </a:path>
            </a:pathLst>
          </a:custGeom>
          <a:noFill/>
          <a:ln w="38100" cap="flat" cmpd="sng">
            <a:solidFill>
              <a:srgbClr val="F1C232"/>
            </a:solidFill>
            <a:prstDash val="solid"/>
            <a:round/>
            <a:headEnd type="none" w="med" len="med"/>
            <a:tailEnd type="none" w="med" len="med"/>
          </a:ln>
        </p:spPr>
      </p:sp>
      <p:sp>
        <p:nvSpPr>
          <p:cNvPr id="633" name="Google Shape;633;p25"/>
          <p:cNvSpPr/>
          <p:nvPr/>
        </p:nvSpPr>
        <p:spPr>
          <a:xfrm>
            <a:off x="4336629" y="2954525"/>
            <a:ext cx="448450" cy="512988"/>
          </a:xfrm>
          <a:custGeom>
            <a:avLst/>
            <a:gdLst/>
            <a:ahLst/>
            <a:cxnLst/>
            <a:rect l="l" t="t" r="r" b="b"/>
            <a:pathLst>
              <a:path w="35876" h="41039" extrusionOk="0">
                <a:moveTo>
                  <a:pt x="35876" y="12176"/>
                </a:moveTo>
                <a:cubicBezTo>
                  <a:pt x="33278" y="13474"/>
                  <a:pt x="30137" y="14019"/>
                  <a:pt x="28084" y="16072"/>
                </a:cubicBezTo>
                <a:cubicBezTo>
                  <a:pt x="24741" y="19415"/>
                  <a:pt x="24638" y="25253"/>
                  <a:pt x="25161" y="29952"/>
                </a:cubicBezTo>
                <a:cubicBezTo>
                  <a:pt x="25573" y="33653"/>
                  <a:pt x="31860" y="39489"/>
                  <a:pt x="28327" y="40667"/>
                </a:cubicBezTo>
                <a:cubicBezTo>
                  <a:pt x="23195" y="42378"/>
                  <a:pt x="17049" y="37559"/>
                  <a:pt x="13960" y="33118"/>
                </a:cubicBezTo>
                <a:cubicBezTo>
                  <a:pt x="10617" y="28313"/>
                  <a:pt x="9699" y="20564"/>
                  <a:pt x="4219" y="18507"/>
                </a:cubicBezTo>
                <a:cubicBezTo>
                  <a:pt x="680" y="17179"/>
                  <a:pt x="-1376" y="26792"/>
                  <a:pt x="1297" y="29465"/>
                </a:cubicBezTo>
                <a:cubicBezTo>
                  <a:pt x="5492" y="33660"/>
                  <a:pt x="15463" y="29538"/>
                  <a:pt x="18343" y="24352"/>
                </a:cubicBezTo>
                <a:cubicBezTo>
                  <a:pt x="21498" y="18671"/>
                  <a:pt x="15329" y="10954"/>
                  <a:pt x="17612" y="4870"/>
                </a:cubicBezTo>
                <a:cubicBezTo>
                  <a:pt x="18786" y="1740"/>
                  <a:pt x="23036" y="0"/>
                  <a:pt x="26379" y="0"/>
                </a:cubicBezTo>
              </a:path>
            </a:pathLst>
          </a:custGeom>
          <a:noFill/>
          <a:ln w="38100" cap="flat" cmpd="sng">
            <a:solidFill>
              <a:srgbClr val="F1C232"/>
            </a:solidFill>
            <a:prstDash val="solid"/>
            <a:round/>
            <a:headEnd type="none" w="med" len="med"/>
            <a:tailEnd type="none" w="med" len="med"/>
          </a:ln>
        </p:spPr>
      </p:sp>
      <p:sp>
        <p:nvSpPr>
          <p:cNvPr id="634" name="Google Shape;634;p25"/>
          <p:cNvSpPr/>
          <p:nvPr/>
        </p:nvSpPr>
        <p:spPr>
          <a:xfrm>
            <a:off x="4371075" y="1611000"/>
            <a:ext cx="401850" cy="401850"/>
          </a:xfrm>
          <a:prstGeom prst="ellipse">
            <a:avLst/>
          </a:prstGeom>
          <a:solidFill>
            <a:srgbClr val="FFFFFF"/>
          </a:solidFill>
          <a:ln>
            <a:noFill/>
          </a:ln>
        </p:spPr>
        <p:txBody>
          <a:bodyPr spcFirstLastPara="1" wrap="square" lIns="45713" tIns="45713" rIns="45713" bIns="45713" anchor="ctr" anchorCtr="0">
            <a:noAutofit/>
          </a:bodyPr>
          <a:lstStyle/>
          <a:p>
            <a:pPr algn="ctr"/>
            <a:r>
              <a:rPr lang="en" sz="1500"/>
              <a:t>1</a:t>
            </a:r>
            <a:endParaRPr sz="1500"/>
          </a:p>
        </p:txBody>
      </p:sp>
      <p:sp>
        <p:nvSpPr>
          <p:cNvPr id="635" name="Google Shape;635;p25"/>
          <p:cNvSpPr/>
          <p:nvPr/>
        </p:nvSpPr>
        <p:spPr>
          <a:xfrm>
            <a:off x="5727050" y="2621688"/>
            <a:ext cx="401850" cy="401850"/>
          </a:xfrm>
          <a:prstGeom prst="ellipse">
            <a:avLst/>
          </a:prstGeom>
          <a:solidFill>
            <a:srgbClr val="FFFFFF"/>
          </a:solidFill>
          <a:ln>
            <a:noFill/>
          </a:ln>
        </p:spPr>
        <p:txBody>
          <a:bodyPr spcFirstLastPara="1" wrap="square" lIns="45713" tIns="45713" rIns="45713" bIns="45713" anchor="ctr" anchorCtr="0">
            <a:noAutofit/>
          </a:bodyPr>
          <a:lstStyle/>
          <a:p>
            <a:pPr algn="ctr"/>
            <a:r>
              <a:rPr lang="en" sz="1500"/>
              <a:t>2</a:t>
            </a:r>
            <a:endParaRPr sz="1500"/>
          </a:p>
        </p:txBody>
      </p:sp>
      <p:sp>
        <p:nvSpPr>
          <p:cNvPr id="636" name="Google Shape;636;p25"/>
          <p:cNvSpPr/>
          <p:nvPr/>
        </p:nvSpPr>
        <p:spPr>
          <a:xfrm>
            <a:off x="5181600" y="4171063"/>
            <a:ext cx="401850" cy="401850"/>
          </a:xfrm>
          <a:prstGeom prst="ellipse">
            <a:avLst/>
          </a:prstGeom>
          <a:solidFill>
            <a:srgbClr val="FFFFFF"/>
          </a:solidFill>
          <a:ln>
            <a:noFill/>
          </a:ln>
        </p:spPr>
        <p:txBody>
          <a:bodyPr spcFirstLastPara="1" wrap="square" lIns="45713" tIns="45713" rIns="45713" bIns="45713" anchor="ctr" anchorCtr="0">
            <a:noAutofit/>
          </a:bodyPr>
          <a:lstStyle/>
          <a:p>
            <a:pPr algn="ctr"/>
            <a:r>
              <a:rPr lang="en" sz="1500"/>
              <a:t>3</a:t>
            </a:r>
            <a:endParaRPr sz="1500"/>
          </a:p>
        </p:txBody>
      </p:sp>
      <p:sp>
        <p:nvSpPr>
          <p:cNvPr id="637" name="Google Shape;637;p25"/>
          <p:cNvSpPr/>
          <p:nvPr/>
        </p:nvSpPr>
        <p:spPr>
          <a:xfrm>
            <a:off x="3560550" y="4171063"/>
            <a:ext cx="401850" cy="401850"/>
          </a:xfrm>
          <a:prstGeom prst="ellipse">
            <a:avLst/>
          </a:prstGeom>
          <a:solidFill>
            <a:srgbClr val="FFFFFF"/>
          </a:solidFill>
          <a:ln>
            <a:noFill/>
          </a:ln>
        </p:spPr>
        <p:txBody>
          <a:bodyPr spcFirstLastPara="1" wrap="square" lIns="45713" tIns="45713" rIns="45713" bIns="45713" anchor="ctr" anchorCtr="0">
            <a:noAutofit/>
          </a:bodyPr>
          <a:lstStyle/>
          <a:p>
            <a:pPr algn="ctr"/>
            <a:r>
              <a:rPr lang="en" sz="1500"/>
              <a:t>4</a:t>
            </a:r>
            <a:endParaRPr sz="1500"/>
          </a:p>
        </p:txBody>
      </p:sp>
      <p:sp>
        <p:nvSpPr>
          <p:cNvPr id="638" name="Google Shape;638;p25"/>
          <p:cNvSpPr/>
          <p:nvPr/>
        </p:nvSpPr>
        <p:spPr>
          <a:xfrm>
            <a:off x="3015088" y="2621688"/>
            <a:ext cx="401850" cy="401850"/>
          </a:xfrm>
          <a:prstGeom prst="ellipse">
            <a:avLst/>
          </a:prstGeom>
          <a:solidFill>
            <a:srgbClr val="FFFFFF"/>
          </a:solidFill>
          <a:ln>
            <a:noFill/>
          </a:ln>
        </p:spPr>
        <p:txBody>
          <a:bodyPr spcFirstLastPara="1" wrap="square" lIns="45713" tIns="45713" rIns="45713" bIns="45713" anchor="ctr" anchorCtr="0">
            <a:noAutofit/>
          </a:bodyPr>
          <a:lstStyle/>
          <a:p>
            <a:pPr algn="ctr"/>
            <a:r>
              <a:rPr lang="en" sz="1500"/>
              <a:t>5</a:t>
            </a:r>
            <a:endParaRPr sz="1500"/>
          </a:p>
        </p:txBody>
      </p:sp>
      <p:sp>
        <p:nvSpPr>
          <p:cNvPr id="639" name="Google Shape;639;p25"/>
          <p:cNvSpPr/>
          <p:nvPr/>
        </p:nvSpPr>
        <p:spPr>
          <a:xfrm rot="10800000">
            <a:off x="5077910" y="1726333"/>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640" name="Google Shape;640;p25"/>
          <p:cNvSpPr/>
          <p:nvPr/>
        </p:nvSpPr>
        <p:spPr>
          <a:xfrm rot="2167448">
            <a:off x="3491828" y="3780045"/>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641" name="Google Shape;641;p25"/>
          <p:cNvSpPr/>
          <p:nvPr/>
        </p:nvSpPr>
        <p:spPr>
          <a:xfrm rot="-2167448" flipH="1">
            <a:off x="4935772" y="4226445"/>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642" name="Google Shape;642;p25"/>
          <p:cNvSpPr/>
          <p:nvPr/>
        </p:nvSpPr>
        <p:spPr>
          <a:xfrm rot="-6485262" flipH="1">
            <a:off x="5867914" y="3041437"/>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26"/>
          <p:cNvSpPr/>
          <p:nvPr/>
        </p:nvSpPr>
        <p:spPr>
          <a:xfrm>
            <a:off x="3389862" y="2035757"/>
            <a:ext cx="2364300" cy="2364300"/>
          </a:xfrm>
          <a:prstGeom prst="ellipse">
            <a:avLst/>
          </a:prstGeom>
          <a:solidFill>
            <a:srgbClr val="783F04"/>
          </a:solidFill>
          <a:ln>
            <a:noFill/>
          </a:ln>
        </p:spPr>
        <p:txBody>
          <a:bodyPr spcFirstLastPara="1" wrap="square" lIns="45713" tIns="45713" rIns="45713" bIns="45713" anchor="ctr" anchorCtr="0">
            <a:noAutofit/>
          </a:bodyPr>
          <a:lstStyle/>
          <a:p>
            <a:endParaRPr sz="900"/>
          </a:p>
        </p:txBody>
      </p:sp>
      <p:pic>
        <p:nvPicPr>
          <p:cNvPr id="648" name="Google Shape;648;p26"/>
          <p:cNvPicPr preferRelativeResize="0"/>
          <p:nvPr/>
        </p:nvPicPr>
        <p:blipFill>
          <a:blip r:embed="rId3">
            <a:alphaModFix/>
          </a:blip>
          <a:stretch>
            <a:fillRect/>
          </a:stretch>
        </p:blipFill>
        <p:spPr>
          <a:xfrm>
            <a:off x="5100038" y="1243400"/>
            <a:ext cx="1219200" cy="1219200"/>
          </a:xfrm>
          <a:prstGeom prst="rect">
            <a:avLst/>
          </a:prstGeom>
          <a:noFill/>
          <a:ln>
            <a:noFill/>
          </a:ln>
        </p:spPr>
      </p:pic>
      <p:pic>
        <p:nvPicPr>
          <p:cNvPr id="649" name="Google Shape;649;p26"/>
          <p:cNvPicPr preferRelativeResize="0"/>
          <p:nvPr/>
        </p:nvPicPr>
        <p:blipFill>
          <a:blip r:embed="rId4">
            <a:alphaModFix/>
          </a:blip>
          <a:stretch>
            <a:fillRect/>
          </a:stretch>
        </p:blipFill>
        <p:spPr>
          <a:xfrm>
            <a:off x="3962394" y="4395400"/>
            <a:ext cx="1219200" cy="1219200"/>
          </a:xfrm>
          <a:prstGeom prst="rect">
            <a:avLst/>
          </a:prstGeom>
          <a:noFill/>
          <a:ln>
            <a:noFill/>
          </a:ln>
        </p:spPr>
      </p:pic>
      <p:pic>
        <p:nvPicPr>
          <p:cNvPr id="650" name="Google Shape;650;p26"/>
          <p:cNvPicPr preferRelativeResize="0"/>
          <p:nvPr/>
        </p:nvPicPr>
        <p:blipFill>
          <a:blip r:embed="rId5">
            <a:alphaModFix/>
          </a:blip>
          <a:stretch>
            <a:fillRect/>
          </a:stretch>
        </p:blipFill>
        <p:spPr>
          <a:xfrm>
            <a:off x="2292325" y="3217875"/>
            <a:ext cx="1219200" cy="1219200"/>
          </a:xfrm>
          <a:prstGeom prst="rect">
            <a:avLst/>
          </a:prstGeom>
          <a:noFill/>
          <a:ln>
            <a:noFill/>
          </a:ln>
        </p:spPr>
      </p:pic>
      <p:pic>
        <p:nvPicPr>
          <p:cNvPr id="651" name="Google Shape;651;p26"/>
          <p:cNvPicPr preferRelativeResize="0"/>
          <p:nvPr/>
        </p:nvPicPr>
        <p:blipFill>
          <a:blip r:embed="rId6">
            <a:alphaModFix/>
          </a:blip>
          <a:stretch>
            <a:fillRect/>
          </a:stretch>
        </p:blipFill>
        <p:spPr>
          <a:xfrm>
            <a:off x="5632475" y="3217875"/>
            <a:ext cx="1219200" cy="1219200"/>
          </a:xfrm>
          <a:prstGeom prst="rect">
            <a:avLst/>
          </a:prstGeom>
          <a:noFill/>
          <a:ln>
            <a:noFill/>
          </a:ln>
        </p:spPr>
      </p:pic>
      <p:pic>
        <p:nvPicPr>
          <p:cNvPr id="652" name="Google Shape;652;p26"/>
          <p:cNvPicPr preferRelativeResize="0"/>
          <p:nvPr/>
        </p:nvPicPr>
        <p:blipFill>
          <a:blip r:embed="rId7">
            <a:alphaModFix/>
          </a:blip>
          <a:stretch>
            <a:fillRect/>
          </a:stretch>
        </p:blipFill>
        <p:spPr>
          <a:xfrm>
            <a:off x="2824757" y="1243400"/>
            <a:ext cx="1219200" cy="1219200"/>
          </a:xfrm>
          <a:prstGeom prst="rect">
            <a:avLst/>
          </a:prstGeom>
          <a:noFill/>
          <a:ln>
            <a:noFill/>
          </a:ln>
        </p:spPr>
      </p:pic>
      <p:grpSp>
        <p:nvGrpSpPr>
          <p:cNvPr id="653" name="Google Shape;653;p26"/>
          <p:cNvGrpSpPr/>
          <p:nvPr/>
        </p:nvGrpSpPr>
        <p:grpSpPr>
          <a:xfrm>
            <a:off x="4157195" y="2803111"/>
            <a:ext cx="829600" cy="829600"/>
            <a:chOff x="7509900" y="2868375"/>
            <a:chExt cx="903900" cy="903900"/>
          </a:xfrm>
        </p:grpSpPr>
        <p:sp>
          <p:nvSpPr>
            <p:cNvPr id="654" name="Google Shape;654;p26"/>
            <p:cNvSpPr/>
            <p:nvPr/>
          </p:nvSpPr>
          <p:spPr>
            <a:xfrm>
              <a:off x="7509900" y="2868375"/>
              <a:ext cx="903900" cy="903900"/>
            </a:xfrm>
            <a:prstGeom prst="ellipse">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55" name="Google Shape;655;p26"/>
            <p:cNvSpPr/>
            <p:nvPr/>
          </p:nvSpPr>
          <p:spPr>
            <a:xfrm>
              <a:off x="7726325" y="3187287"/>
              <a:ext cx="281375" cy="421875"/>
            </a:xfrm>
            <a:custGeom>
              <a:avLst/>
              <a:gdLst/>
              <a:ahLst/>
              <a:cxnLst/>
              <a:rect l="l" t="t" r="r" b="b"/>
              <a:pathLst>
                <a:path w="11255" h="16875" extrusionOk="0">
                  <a:moveTo>
                    <a:pt x="0" y="1985"/>
                  </a:moveTo>
                  <a:cubicBezTo>
                    <a:pt x="3409" y="525"/>
                    <a:pt x="10171" y="-1599"/>
                    <a:pt x="11126" y="1985"/>
                  </a:cubicBezTo>
                  <a:cubicBezTo>
                    <a:pt x="11977" y="5177"/>
                    <a:pt x="7498" y="7599"/>
                    <a:pt x="5042" y="9808"/>
                  </a:cubicBezTo>
                  <a:cubicBezTo>
                    <a:pt x="3517" y="11179"/>
                    <a:pt x="7922" y="12750"/>
                    <a:pt x="9562" y="13980"/>
                  </a:cubicBezTo>
                  <a:cubicBezTo>
                    <a:pt x="10372" y="14587"/>
                    <a:pt x="11636" y="16225"/>
                    <a:pt x="10778" y="16762"/>
                  </a:cubicBezTo>
                  <a:cubicBezTo>
                    <a:pt x="9613" y="17490"/>
                    <a:pt x="7707" y="13849"/>
                    <a:pt x="8866" y="13111"/>
                  </a:cubicBezTo>
                </a:path>
              </a:pathLst>
            </a:custGeom>
            <a:noFill/>
            <a:ln w="38100" cap="flat" cmpd="sng">
              <a:solidFill>
                <a:srgbClr val="F1C232"/>
              </a:solidFill>
              <a:prstDash val="solid"/>
              <a:round/>
              <a:headEnd type="none" w="med" len="med"/>
              <a:tailEnd type="none" w="med" len="med"/>
            </a:ln>
          </p:spPr>
        </p:sp>
        <p:sp>
          <p:nvSpPr>
            <p:cNvPr id="656" name="Google Shape;656;p26"/>
            <p:cNvSpPr/>
            <p:nvPr/>
          </p:nvSpPr>
          <p:spPr>
            <a:xfrm>
              <a:off x="7829049" y="3032650"/>
              <a:ext cx="272850" cy="456325"/>
            </a:xfrm>
            <a:custGeom>
              <a:avLst/>
              <a:gdLst/>
              <a:ahLst/>
              <a:cxnLst/>
              <a:rect l="l" t="t" r="r" b="b"/>
              <a:pathLst>
                <a:path w="10914" h="18253" extrusionOk="0">
                  <a:moveTo>
                    <a:pt x="4236" y="0"/>
                  </a:moveTo>
                  <a:cubicBezTo>
                    <a:pt x="1862" y="3263"/>
                    <a:pt x="-1710" y="8598"/>
                    <a:pt x="933" y="11647"/>
                  </a:cubicBezTo>
                  <a:cubicBezTo>
                    <a:pt x="3470" y="14574"/>
                    <a:pt x="12913" y="15228"/>
                    <a:pt x="10494" y="18253"/>
                  </a:cubicBezTo>
                </a:path>
              </a:pathLst>
            </a:custGeom>
            <a:noFill/>
            <a:ln w="38100" cap="flat" cmpd="sng">
              <a:solidFill>
                <a:srgbClr val="F1C232"/>
              </a:solidFill>
              <a:prstDash val="solid"/>
              <a:round/>
              <a:headEnd type="none" w="med" len="med"/>
              <a:tailEnd type="none" w="med" len="med"/>
            </a:ln>
          </p:spPr>
        </p:sp>
        <p:sp>
          <p:nvSpPr>
            <p:cNvPr id="657" name="Google Shape;657;p26"/>
            <p:cNvSpPr/>
            <p:nvPr/>
          </p:nvSpPr>
          <p:spPr>
            <a:xfrm>
              <a:off x="7938508" y="3145650"/>
              <a:ext cx="222425" cy="356375"/>
            </a:xfrm>
            <a:custGeom>
              <a:avLst/>
              <a:gdLst/>
              <a:ahLst/>
              <a:cxnLst/>
              <a:rect l="l" t="t" r="r" b="b"/>
              <a:pathLst>
                <a:path w="8897" h="14255" extrusionOk="0">
                  <a:moveTo>
                    <a:pt x="8897" y="0"/>
                  </a:moveTo>
                  <a:cubicBezTo>
                    <a:pt x="5700" y="999"/>
                    <a:pt x="1621" y="2006"/>
                    <a:pt x="205" y="5041"/>
                  </a:cubicBezTo>
                  <a:cubicBezTo>
                    <a:pt x="-1089" y="7814"/>
                    <a:pt x="5221" y="8570"/>
                    <a:pt x="7507" y="10604"/>
                  </a:cubicBezTo>
                  <a:cubicBezTo>
                    <a:pt x="8600" y="11576"/>
                    <a:pt x="6516" y="14014"/>
                    <a:pt x="5073" y="14255"/>
                  </a:cubicBezTo>
                </a:path>
              </a:pathLst>
            </a:custGeom>
            <a:noFill/>
            <a:ln w="38100" cap="flat" cmpd="sng">
              <a:solidFill>
                <a:srgbClr val="F1C232"/>
              </a:solidFill>
              <a:prstDash val="solid"/>
              <a:round/>
              <a:headEnd type="none" w="med" len="med"/>
              <a:tailEnd type="none" w="med" len="med"/>
            </a:ln>
          </p:spPr>
        </p:sp>
        <p:sp>
          <p:nvSpPr>
            <p:cNvPr id="658" name="Google Shape;658;p26"/>
            <p:cNvSpPr/>
            <p:nvPr/>
          </p:nvSpPr>
          <p:spPr>
            <a:xfrm>
              <a:off x="7743725" y="3093500"/>
              <a:ext cx="518875" cy="321600"/>
            </a:xfrm>
            <a:custGeom>
              <a:avLst/>
              <a:gdLst/>
              <a:ahLst/>
              <a:cxnLst/>
              <a:rect l="l" t="t" r="r" b="b"/>
              <a:pathLst>
                <a:path w="20755" h="12864" extrusionOk="0">
                  <a:moveTo>
                    <a:pt x="0" y="0"/>
                  </a:moveTo>
                  <a:cubicBezTo>
                    <a:pt x="5394" y="897"/>
                    <a:pt x="12760" y="-760"/>
                    <a:pt x="15993" y="3650"/>
                  </a:cubicBezTo>
                  <a:cubicBezTo>
                    <a:pt x="17475" y="5672"/>
                    <a:pt x="22372" y="8719"/>
                    <a:pt x="20165" y="9908"/>
                  </a:cubicBezTo>
                  <a:cubicBezTo>
                    <a:pt x="14587" y="12912"/>
                    <a:pt x="1390" y="6529"/>
                    <a:pt x="1390" y="12864"/>
                  </a:cubicBezTo>
                </a:path>
              </a:pathLst>
            </a:custGeom>
            <a:noFill/>
            <a:ln w="38100" cap="flat" cmpd="sng">
              <a:solidFill>
                <a:srgbClr val="F1C232"/>
              </a:solidFill>
              <a:prstDash val="solid"/>
              <a:round/>
              <a:headEnd type="none" w="med" len="med"/>
              <a:tailEnd type="none" w="med" len="med"/>
            </a:ln>
          </p:spPr>
        </p:sp>
        <p:sp>
          <p:nvSpPr>
            <p:cNvPr id="659" name="Google Shape;659;p26"/>
            <p:cNvSpPr/>
            <p:nvPr/>
          </p:nvSpPr>
          <p:spPr>
            <a:xfrm>
              <a:off x="7662050" y="3010925"/>
              <a:ext cx="411975" cy="478050"/>
            </a:xfrm>
            <a:custGeom>
              <a:avLst/>
              <a:gdLst/>
              <a:ahLst/>
              <a:cxnLst/>
              <a:rect l="l" t="t" r="r" b="b"/>
              <a:pathLst>
                <a:path w="16479" h="19122" extrusionOk="0">
                  <a:moveTo>
                    <a:pt x="16479" y="0"/>
                  </a:moveTo>
                  <a:cubicBezTo>
                    <a:pt x="9984" y="1946"/>
                    <a:pt x="3470" y="6343"/>
                    <a:pt x="311" y="12342"/>
                  </a:cubicBezTo>
                  <a:cubicBezTo>
                    <a:pt x="-872" y="14589"/>
                    <a:pt x="1757" y="17597"/>
                    <a:pt x="3788" y="19122"/>
                  </a:cubicBezTo>
                </a:path>
              </a:pathLst>
            </a:custGeom>
            <a:noFill/>
            <a:ln w="38100" cap="flat" cmpd="sng">
              <a:solidFill>
                <a:srgbClr val="F1C232"/>
              </a:solidFill>
              <a:prstDash val="solid"/>
              <a:round/>
              <a:headEnd type="none" w="med" len="med"/>
              <a:tailEnd type="none" w="med" len="med"/>
            </a:ln>
          </p:spPr>
        </p:sp>
        <p:sp>
          <p:nvSpPr>
            <p:cNvPr id="660" name="Google Shape;660;p26"/>
            <p:cNvSpPr/>
            <p:nvPr/>
          </p:nvSpPr>
          <p:spPr>
            <a:xfrm>
              <a:off x="7817600" y="3015250"/>
              <a:ext cx="398400" cy="587225"/>
            </a:xfrm>
            <a:custGeom>
              <a:avLst/>
              <a:gdLst/>
              <a:ahLst/>
              <a:cxnLst/>
              <a:rect l="l" t="t" r="r" b="b"/>
              <a:pathLst>
                <a:path w="15936" h="23489" extrusionOk="0">
                  <a:moveTo>
                    <a:pt x="0" y="0"/>
                  </a:moveTo>
                  <a:cubicBezTo>
                    <a:pt x="0" y="8167"/>
                    <a:pt x="2230" y="20746"/>
                    <a:pt x="10257" y="22252"/>
                  </a:cubicBezTo>
                  <a:cubicBezTo>
                    <a:pt x="12203" y="22617"/>
                    <a:pt x="15960" y="18191"/>
                    <a:pt x="15819" y="20166"/>
                  </a:cubicBezTo>
                  <a:cubicBezTo>
                    <a:pt x="15703" y="21786"/>
                    <a:pt x="15565" y="21792"/>
                    <a:pt x="14950" y="23295"/>
                  </a:cubicBezTo>
                  <a:cubicBezTo>
                    <a:pt x="14596" y="24160"/>
                    <a:pt x="13200" y="21724"/>
                    <a:pt x="13559" y="20861"/>
                  </a:cubicBezTo>
                  <a:cubicBezTo>
                    <a:pt x="14532" y="18524"/>
                    <a:pt x="16694" y="15864"/>
                    <a:pt x="15646" y="13560"/>
                  </a:cubicBezTo>
                  <a:cubicBezTo>
                    <a:pt x="15040" y="12229"/>
                    <a:pt x="13029" y="12161"/>
                    <a:pt x="11995" y="11126"/>
                  </a:cubicBezTo>
                </a:path>
              </a:pathLst>
            </a:custGeom>
            <a:noFill/>
            <a:ln w="38100" cap="flat" cmpd="sng">
              <a:solidFill>
                <a:srgbClr val="F1C232"/>
              </a:solidFill>
              <a:prstDash val="solid"/>
              <a:round/>
              <a:headEnd type="none" w="med" len="med"/>
              <a:tailEnd type="none" w="med" len="med"/>
            </a:ln>
          </p:spPr>
        </p:sp>
        <p:sp>
          <p:nvSpPr>
            <p:cNvPr id="661" name="Google Shape;661;p26"/>
            <p:cNvSpPr/>
            <p:nvPr/>
          </p:nvSpPr>
          <p:spPr>
            <a:xfrm>
              <a:off x="7643750" y="3180400"/>
              <a:ext cx="425925" cy="446300"/>
            </a:xfrm>
            <a:custGeom>
              <a:avLst/>
              <a:gdLst/>
              <a:ahLst/>
              <a:cxnLst/>
              <a:rect l="l" t="t" r="r" b="b"/>
              <a:pathLst>
                <a:path w="17037" h="17852" extrusionOk="0">
                  <a:moveTo>
                    <a:pt x="0" y="0"/>
                  </a:moveTo>
                  <a:cubicBezTo>
                    <a:pt x="4491" y="817"/>
                    <a:pt x="6830" y="6955"/>
                    <a:pt x="7475" y="11474"/>
                  </a:cubicBezTo>
                  <a:cubicBezTo>
                    <a:pt x="7713" y="13138"/>
                    <a:pt x="6322" y="15483"/>
                    <a:pt x="7649" y="16515"/>
                  </a:cubicBezTo>
                  <a:cubicBezTo>
                    <a:pt x="10121" y="18437"/>
                    <a:pt x="14632" y="18173"/>
                    <a:pt x="17037" y="16167"/>
                  </a:cubicBezTo>
                </a:path>
              </a:pathLst>
            </a:custGeom>
            <a:noFill/>
            <a:ln w="38100" cap="flat" cmpd="sng">
              <a:solidFill>
                <a:srgbClr val="F1C232"/>
              </a:solidFill>
              <a:prstDash val="solid"/>
              <a:round/>
              <a:headEnd type="none" w="med" len="med"/>
              <a:tailEnd type="none" w="med" len="med"/>
            </a:ln>
          </p:spPr>
        </p:sp>
        <p:sp>
          <p:nvSpPr>
            <p:cNvPr id="662" name="Google Shape;662;p26"/>
            <p:cNvSpPr/>
            <p:nvPr/>
          </p:nvSpPr>
          <p:spPr>
            <a:xfrm>
              <a:off x="7836249" y="3076100"/>
              <a:ext cx="320325" cy="456325"/>
            </a:xfrm>
            <a:custGeom>
              <a:avLst/>
              <a:gdLst/>
              <a:ahLst/>
              <a:cxnLst/>
              <a:rect l="l" t="t" r="r" b="b"/>
              <a:pathLst>
                <a:path w="12813" h="18253" extrusionOk="0">
                  <a:moveTo>
                    <a:pt x="12813" y="0"/>
                  </a:moveTo>
                  <a:cubicBezTo>
                    <a:pt x="7242" y="2181"/>
                    <a:pt x="-861" y="6790"/>
                    <a:pt x="123" y="12691"/>
                  </a:cubicBezTo>
                  <a:cubicBezTo>
                    <a:pt x="746" y="16427"/>
                    <a:pt x="8084" y="15004"/>
                    <a:pt x="10032" y="18253"/>
                  </a:cubicBezTo>
                </a:path>
              </a:pathLst>
            </a:custGeom>
            <a:noFill/>
            <a:ln w="38100" cap="flat" cmpd="sng">
              <a:solidFill>
                <a:srgbClr val="F1C232"/>
              </a:solidFill>
              <a:prstDash val="solid"/>
              <a:round/>
              <a:headEnd type="none" w="med" len="med"/>
              <a:tailEnd type="none" w="med" len="med"/>
            </a:ln>
          </p:spPr>
        </p:sp>
        <p:sp>
          <p:nvSpPr>
            <p:cNvPr id="663" name="Google Shape;663;p26"/>
            <p:cNvSpPr/>
            <p:nvPr/>
          </p:nvSpPr>
          <p:spPr>
            <a:xfrm>
              <a:off x="7700250" y="3132600"/>
              <a:ext cx="429925" cy="169500"/>
            </a:xfrm>
            <a:custGeom>
              <a:avLst/>
              <a:gdLst/>
              <a:ahLst/>
              <a:cxnLst/>
              <a:rect l="l" t="t" r="r" b="b"/>
              <a:pathLst>
                <a:path w="17197" h="6780" extrusionOk="0">
                  <a:moveTo>
                    <a:pt x="0" y="0"/>
                  </a:moveTo>
                  <a:cubicBezTo>
                    <a:pt x="3914" y="4695"/>
                    <a:pt x="10925" y="6780"/>
                    <a:pt x="17037" y="6780"/>
                  </a:cubicBezTo>
                  <a:cubicBezTo>
                    <a:pt x="17504" y="6780"/>
                    <a:pt x="16799" y="5655"/>
                    <a:pt x="16341" y="5563"/>
                  </a:cubicBezTo>
                </a:path>
              </a:pathLst>
            </a:custGeom>
            <a:noFill/>
            <a:ln w="38100" cap="flat" cmpd="sng">
              <a:solidFill>
                <a:srgbClr val="F1C232"/>
              </a:solidFill>
              <a:prstDash val="solid"/>
              <a:round/>
              <a:headEnd type="none" w="med" len="med"/>
              <a:tailEnd type="none" w="med" len="med"/>
            </a:ln>
          </p:spPr>
        </p:sp>
        <p:sp>
          <p:nvSpPr>
            <p:cNvPr id="664" name="Google Shape;664;p26"/>
            <p:cNvSpPr/>
            <p:nvPr/>
          </p:nvSpPr>
          <p:spPr>
            <a:xfrm>
              <a:off x="7710998" y="3098181"/>
              <a:ext cx="558575" cy="472725"/>
            </a:xfrm>
            <a:custGeom>
              <a:avLst/>
              <a:gdLst/>
              <a:ahLst/>
              <a:cxnLst/>
              <a:rect l="l" t="t" r="r" b="b"/>
              <a:pathLst>
                <a:path w="22343" h="18909" extrusionOk="0">
                  <a:moveTo>
                    <a:pt x="22343" y="4332"/>
                  </a:moveTo>
                  <a:cubicBezTo>
                    <a:pt x="16437" y="38"/>
                    <a:pt x="3704" y="-2547"/>
                    <a:pt x="439" y="3985"/>
                  </a:cubicBezTo>
                  <a:cubicBezTo>
                    <a:pt x="-1508" y="7881"/>
                    <a:pt x="3832" y="12696"/>
                    <a:pt x="7567" y="14937"/>
                  </a:cubicBezTo>
                  <a:cubicBezTo>
                    <a:pt x="9340" y="16001"/>
                    <a:pt x="12081" y="14808"/>
                    <a:pt x="13651" y="16154"/>
                  </a:cubicBezTo>
                  <a:cubicBezTo>
                    <a:pt x="15785" y="17983"/>
                    <a:pt x="7730" y="19926"/>
                    <a:pt x="5481" y="18240"/>
                  </a:cubicBezTo>
                </a:path>
              </a:pathLst>
            </a:custGeom>
            <a:noFill/>
            <a:ln w="38100" cap="flat" cmpd="sng">
              <a:solidFill>
                <a:srgbClr val="F1C232"/>
              </a:solidFill>
              <a:prstDash val="solid"/>
              <a:round/>
              <a:headEnd type="none" w="med" len="med"/>
              <a:tailEnd type="none" w="med" len="med"/>
            </a:ln>
          </p:spPr>
        </p:sp>
        <p:sp>
          <p:nvSpPr>
            <p:cNvPr id="665" name="Google Shape;665;p26"/>
            <p:cNvSpPr/>
            <p:nvPr/>
          </p:nvSpPr>
          <p:spPr>
            <a:xfrm>
              <a:off x="7685501" y="3079570"/>
              <a:ext cx="584075" cy="361600"/>
            </a:xfrm>
            <a:custGeom>
              <a:avLst/>
              <a:gdLst/>
              <a:ahLst/>
              <a:cxnLst/>
              <a:rect l="l" t="t" r="r" b="b"/>
              <a:pathLst>
                <a:path w="23363" h="14464" extrusionOk="0">
                  <a:moveTo>
                    <a:pt x="23363" y="14464"/>
                  </a:moveTo>
                  <a:cubicBezTo>
                    <a:pt x="21432" y="9632"/>
                    <a:pt x="15255" y="7928"/>
                    <a:pt x="11021" y="4903"/>
                  </a:cubicBezTo>
                  <a:cubicBezTo>
                    <a:pt x="8043" y="2775"/>
                    <a:pt x="3984" y="-1473"/>
                    <a:pt x="938" y="557"/>
                  </a:cubicBezTo>
                  <a:cubicBezTo>
                    <a:pt x="-2526" y="2866"/>
                    <a:pt x="4896" y="8744"/>
                    <a:pt x="8761" y="10292"/>
                  </a:cubicBezTo>
                </a:path>
              </a:pathLst>
            </a:custGeom>
            <a:noFill/>
            <a:ln w="38100" cap="flat" cmpd="sng">
              <a:solidFill>
                <a:srgbClr val="F1C232"/>
              </a:solidFill>
              <a:prstDash val="solid"/>
              <a:round/>
              <a:headEnd type="none" w="med" len="med"/>
              <a:tailEnd type="none" w="med" len="med"/>
            </a:ln>
          </p:spPr>
        </p:sp>
        <p:sp>
          <p:nvSpPr>
            <p:cNvPr id="666" name="Google Shape;666;p26"/>
            <p:cNvSpPr/>
            <p:nvPr/>
          </p:nvSpPr>
          <p:spPr>
            <a:xfrm>
              <a:off x="7744259" y="3028300"/>
              <a:ext cx="368875" cy="491100"/>
            </a:xfrm>
            <a:custGeom>
              <a:avLst/>
              <a:gdLst/>
              <a:ahLst/>
              <a:cxnLst/>
              <a:rect l="l" t="t" r="r" b="b"/>
              <a:pathLst>
                <a:path w="14755" h="19644" extrusionOk="0">
                  <a:moveTo>
                    <a:pt x="14755" y="0"/>
                  </a:moveTo>
                  <a:cubicBezTo>
                    <a:pt x="14495" y="609"/>
                    <a:pt x="14636" y="691"/>
                    <a:pt x="14234" y="1217"/>
                  </a:cubicBezTo>
                  <a:cubicBezTo>
                    <a:pt x="10836" y="5660"/>
                    <a:pt x="3616" y="6081"/>
                    <a:pt x="326" y="10604"/>
                  </a:cubicBezTo>
                  <a:cubicBezTo>
                    <a:pt x="-1501" y="13116"/>
                    <a:pt x="5071" y="17780"/>
                    <a:pt x="2586" y="19644"/>
                  </a:cubicBezTo>
                </a:path>
              </a:pathLst>
            </a:custGeom>
            <a:noFill/>
            <a:ln w="38100" cap="flat" cmpd="sng">
              <a:solidFill>
                <a:srgbClr val="F1C232"/>
              </a:solidFill>
              <a:prstDash val="solid"/>
              <a:round/>
              <a:headEnd type="none" w="med" len="med"/>
              <a:tailEnd type="none" w="med" len="med"/>
            </a:ln>
          </p:spPr>
        </p:sp>
        <p:sp>
          <p:nvSpPr>
            <p:cNvPr id="667" name="Google Shape;667;p26"/>
            <p:cNvSpPr/>
            <p:nvPr/>
          </p:nvSpPr>
          <p:spPr>
            <a:xfrm>
              <a:off x="7765450" y="3145650"/>
              <a:ext cx="482400" cy="338975"/>
            </a:xfrm>
            <a:custGeom>
              <a:avLst/>
              <a:gdLst/>
              <a:ahLst/>
              <a:cxnLst/>
              <a:rect l="l" t="t" r="r" b="b"/>
              <a:pathLst>
                <a:path w="19296" h="13559" extrusionOk="0">
                  <a:moveTo>
                    <a:pt x="19296" y="13559"/>
                  </a:moveTo>
                  <a:cubicBezTo>
                    <a:pt x="13760" y="11712"/>
                    <a:pt x="8516" y="8736"/>
                    <a:pt x="3998" y="5041"/>
                  </a:cubicBezTo>
                  <a:cubicBezTo>
                    <a:pt x="2338" y="3683"/>
                    <a:pt x="2116" y="351"/>
                    <a:pt x="0" y="0"/>
                  </a:cubicBezTo>
                </a:path>
              </a:pathLst>
            </a:custGeom>
            <a:noFill/>
            <a:ln w="38100" cap="flat" cmpd="sng">
              <a:solidFill>
                <a:srgbClr val="F1C232"/>
              </a:solidFill>
              <a:prstDash val="solid"/>
              <a:round/>
              <a:headEnd type="none" w="med" len="med"/>
              <a:tailEnd type="none" w="med" len="med"/>
            </a:ln>
          </p:spPr>
        </p:sp>
        <p:sp>
          <p:nvSpPr>
            <p:cNvPr id="668" name="Google Shape;668;p26"/>
            <p:cNvSpPr/>
            <p:nvPr/>
          </p:nvSpPr>
          <p:spPr>
            <a:xfrm>
              <a:off x="7665500" y="3269759"/>
              <a:ext cx="499775" cy="249650"/>
            </a:xfrm>
            <a:custGeom>
              <a:avLst/>
              <a:gdLst/>
              <a:ahLst/>
              <a:cxnLst/>
              <a:rect l="l" t="t" r="r" b="b"/>
              <a:pathLst>
                <a:path w="19991" h="9986" extrusionOk="0">
                  <a:moveTo>
                    <a:pt x="0" y="9986"/>
                  </a:moveTo>
                  <a:cubicBezTo>
                    <a:pt x="3478" y="7899"/>
                    <a:pt x="5064" y="3283"/>
                    <a:pt x="8692" y="1468"/>
                  </a:cubicBezTo>
                  <a:cubicBezTo>
                    <a:pt x="12086" y="-230"/>
                    <a:pt x="16196" y="77"/>
                    <a:pt x="19991" y="77"/>
                  </a:cubicBezTo>
                </a:path>
              </a:pathLst>
            </a:custGeom>
            <a:noFill/>
            <a:ln w="38100" cap="flat" cmpd="sng">
              <a:solidFill>
                <a:srgbClr val="F1C232"/>
              </a:solidFill>
              <a:prstDash val="solid"/>
              <a:round/>
              <a:headEnd type="none" w="med" len="med"/>
              <a:tailEnd type="none" w="med" len="med"/>
            </a:ln>
          </p:spPr>
        </p:sp>
        <p:sp>
          <p:nvSpPr>
            <p:cNvPr id="669" name="Google Shape;669;p26"/>
            <p:cNvSpPr/>
            <p:nvPr/>
          </p:nvSpPr>
          <p:spPr>
            <a:xfrm>
              <a:off x="7656800" y="3198318"/>
              <a:ext cx="660600" cy="161800"/>
            </a:xfrm>
            <a:custGeom>
              <a:avLst/>
              <a:gdLst/>
              <a:ahLst/>
              <a:cxnLst/>
              <a:rect l="l" t="t" r="r" b="b"/>
              <a:pathLst>
                <a:path w="26424" h="6472" extrusionOk="0">
                  <a:moveTo>
                    <a:pt x="26424" y="6411"/>
                  </a:moveTo>
                  <a:cubicBezTo>
                    <a:pt x="18961" y="6652"/>
                    <a:pt x="11684" y="3823"/>
                    <a:pt x="4520" y="1717"/>
                  </a:cubicBezTo>
                  <a:cubicBezTo>
                    <a:pt x="4232" y="1632"/>
                    <a:pt x="0" y="-572"/>
                    <a:pt x="0" y="153"/>
                  </a:cubicBezTo>
                  <a:cubicBezTo>
                    <a:pt x="0" y="1294"/>
                    <a:pt x="584" y="2475"/>
                    <a:pt x="1391" y="3282"/>
                  </a:cubicBezTo>
                </a:path>
              </a:pathLst>
            </a:custGeom>
            <a:noFill/>
            <a:ln w="38100" cap="flat" cmpd="sng">
              <a:solidFill>
                <a:srgbClr val="F1C232"/>
              </a:solidFill>
              <a:prstDash val="solid"/>
              <a:round/>
              <a:headEnd type="none" w="med" len="med"/>
              <a:tailEnd type="none" w="med" len="med"/>
            </a:ln>
          </p:spPr>
        </p:sp>
        <p:sp>
          <p:nvSpPr>
            <p:cNvPr id="670" name="Google Shape;670;p26"/>
            <p:cNvSpPr/>
            <p:nvPr/>
          </p:nvSpPr>
          <p:spPr>
            <a:xfrm>
              <a:off x="7757829" y="3119575"/>
              <a:ext cx="450925" cy="395475"/>
            </a:xfrm>
            <a:custGeom>
              <a:avLst/>
              <a:gdLst/>
              <a:ahLst/>
              <a:cxnLst/>
              <a:rect l="l" t="t" r="r" b="b"/>
              <a:pathLst>
                <a:path w="18037" h="15819" extrusionOk="0">
                  <a:moveTo>
                    <a:pt x="18037" y="0"/>
                  </a:moveTo>
                  <a:cubicBezTo>
                    <a:pt x="15708" y="1293"/>
                    <a:pt x="13491" y="3180"/>
                    <a:pt x="12300" y="5562"/>
                  </a:cubicBezTo>
                  <a:cubicBezTo>
                    <a:pt x="11338" y="7485"/>
                    <a:pt x="12524" y="10628"/>
                    <a:pt x="10735" y="11821"/>
                  </a:cubicBezTo>
                  <a:cubicBezTo>
                    <a:pt x="7637" y="13887"/>
                    <a:pt x="-1612" y="12627"/>
                    <a:pt x="305" y="15819"/>
                  </a:cubicBezTo>
                </a:path>
              </a:pathLst>
            </a:custGeom>
            <a:noFill/>
            <a:ln w="38100" cap="flat" cmpd="sng">
              <a:solidFill>
                <a:srgbClr val="F1C232"/>
              </a:solidFill>
              <a:prstDash val="solid"/>
              <a:round/>
              <a:headEnd type="none" w="med" len="med"/>
              <a:tailEnd type="none" w="med" len="med"/>
            </a:ln>
          </p:spPr>
        </p:sp>
        <p:sp>
          <p:nvSpPr>
            <p:cNvPr id="671" name="Google Shape;671;p26"/>
            <p:cNvSpPr/>
            <p:nvPr/>
          </p:nvSpPr>
          <p:spPr>
            <a:xfrm>
              <a:off x="7895825" y="3010925"/>
              <a:ext cx="373750" cy="469350"/>
            </a:xfrm>
            <a:custGeom>
              <a:avLst/>
              <a:gdLst/>
              <a:ahLst/>
              <a:cxnLst/>
              <a:rect l="l" t="t" r="r" b="b"/>
              <a:pathLst>
                <a:path w="14950" h="18774" extrusionOk="0">
                  <a:moveTo>
                    <a:pt x="0" y="0"/>
                  </a:moveTo>
                  <a:cubicBezTo>
                    <a:pt x="1571" y="7844"/>
                    <a:pt x="11377" y="11617"/>
                    <a:pt x="14950" y="18774"/>
                  </a:cubicBezTo>
                </a:path>
              </a:pathLst>
            </a:custGeom>
            <a:noFill/>
            <a:ln w="38100" cap="flat" cmpd="sng">
              <a:solidFill>
                <a:srgbClr val="F1C232"/>
              </a:solidFill>
              <a:prstDash val="solid"/>
              <a:round/>
              <a:headEnd type="none" w="med" len="med"/>
              <a:tailEnd type="none" w="med" len="med"/>
            </a:ln>
          </p:spPr>
        </p:sp>
        <p:sp>
          <p:nvSpPr>
            <p:cNvPr id="672" name="Google Shape;672;p26"/>
            <p:cNvSpPr/>
            <p:nvPr/>
          </p:nvSpPr>
          <p:spPr>
            <a:xfrm>
              <a:off x="7752400" y="3132600"/>
              <a:ext cx="346150" cy="434600"/>
            </a:xfrm>
            <a:custGeom>
              <a:avLst/>
              <a:gdLst/>
              <a:ahLst/>
              <a:cxnLst/>
              <a:rect l="l" t="t" r="r" b="b"/>
              <a:pathLst>
                <a:path w="13846" h="17384" extrusionOk="0">
                  <a:moveTo>
                    <a:pt x="0" y="17384"/>
                  </a:moveTo>
                  <a:cubicBezTo>
                    <a:pt x="1561" y="14266"/>
                    <a:pt x="813" y="9404"/>
                    <a:pt x="3825" y="7649"/>
                  </a:cubicBezTo>
                  <a:cubicBezTo>
                    <a:pt x="6452" y="6118"/>
                    <a:pt x="10432" y="8256"/>
                    <a:pt x="12865" y="6432"/>
                  </a:cubicBezTo>
                  <a:cubicBezTo>
                    <a:pt x="14596" y="5134"/>
                    <a:pt x="13756" y="1257"/>
                    <a:pt x="11995" y="0"/>
                  </a:cubicBezTo>
                </a:path>
              </a:pathLst>
            </a:custGeom>
            <a:noFill/>
            <a:ln w="38100" cap="flat" cmpd="sng">
              <a:solidFill>
                <a:srgbClr val="F1C232"/>
              </a:solidFill>
              <a:prstDash val="solid"/>
              <a:round/>
              <a:headEnd type="none" w="med" len="med"/>
              <a:tailEnd type="none" w="med" len="med"/>
            </a:ln>
          </p:spPr>
        </p:sp>
      </p:grpSp>
      <p:sp>
        <p:nvSpPr>
          <p:cNvPr id="673" name="Google Shape;673;p26"/>
          <p:cNvSpPr/>
          <p:nvPr/>
        </p:nvSpPr>
        <p:spPr>
          <a:xfrm rot="6485262">
            <a:off x="3236964" y="302866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674" name="Google Shape;674;p26"/>
          <p:cNvSpPr/>
          <p:nvPr/>
        </p:nvSpPr>
        <p:spPr>
          <a:xfrm>
            <a:off x="4416763" y="3146300"/>
            <a:ext cx="420063" cy="289163"/>
          </a:xfrm>
          <a:custGeom>
            <a:avLst/>
            <a:gdLst/>
            <a:ahLst/>
            <a:cxnLst/>
            <a:rect l="l" t="t" r="r" b="b"/>
            <a:pathLst>
              <a:path w="33605" h="23133" extrusionOk="0">
                <a:moveTo>
                  <a:pt x="0" y="23133"/>
                </a:moveTo>
                <a:cubicBezTo>
                  <a:pt x="2435" y="19075"/>
                  <a:pt x="4127" y="14465"/>
                  <a:pt x="7305" y="10958"/>
                </a:cubicBezTo>
                <a:cubicBezTo>
                  <a:pt x="13683" y="3921"/>
                  <a:pt x="24540" y="2832"/>
                  <a:pt x="33605" y="0"/>
                </a:cubicBezTo>
              </a:path>
            </a:pathLst>
          </a:custGeom>
          <a:noFill/>
          <a:ln w="38100" cap="flat" cmpd="sng">
            <a:solidFill>
              <a:srgbClr val="F1C232"/>
            </a:solidFill>
            <a:prstDash val="solid"/>
            <a:round/>
            <a:headEnd type="none" w="med" len="med"/>
            <a:tailEnd type="none" w="med" len="med"/>
          </a:ln>
        </p:spPr>
      </p:sp>
      <p:sp>
        <p:nvSpPr>
          <p:cNvPr id="675" name="Google Shape;675;p26"/>
          <p:cNvSpPr/>
          <p:nvPr/>
        </p:nvSpPr>
        <p:spPr>
          <a:xfrm>
            <a:off x="4413713" y="2966700"/>
            <a:ext cx="273963" cy="413975"/>
          </a:xfrm>
          <a:custGeom>
            <a:avLst/>
            <a:gdLst/>
            <a:ahLst/>
            <a:cxnLst/>
            <a:rect l="l" t="t" r="r" b="b"/>
            <a:pathLst>
              <a:path w="21917" h="33118" extrusionOk="0">
                <a:moveTo>
                  <a:pt x="0" y="0"/>
                </a:moveTo>
                <a:cubicBezTo>
                  <a:pt x="2209" y="4416"/>
                  <a:pt x="6510" y="8222"/>
                  <a:pt x="6819" y="13150"/>
                </a:cubicBezTo>
                <a:cubicBezTo>
                  <a:pt x="7095" y="17561"/>
                  <a:pt x="2967" y="22436"/>
                  <a:pt x="5114" y="26300"/>
                </a:cubicBezTo>
                <a:cubicBezTo>
                  <a:pt x="8050" y="31584"/>
                  <a:pt x="16181" y="31211"/>
                  <a:pt x="21917" y="33118"/>
                </a:cubicBezTo>
              </a:path>
            </a:pathLst>
          </a:custGeom>
          <a:noFill/>
          <a:ln w="38100" cap="flat" cmpd="sng">
            <a:solidFill>
              <a:srgbClr val="F1C232"/>
            </a:solidFill>
            <a:prstDash val="solid"/>
            <a:round/>
            <a:headEnd type="none" w="med" len="med"/>
            <a:tailEnd type="none" w="med" len="med"/>
          </a:ln>
        </p:spPr>
      </p:sp>
      <p:sp>
        <p:nvSpPr>
          <p:cNvPr id="676" name="Google Shape;676;p26"/>
          <p:cNvSpPr/>
          <p:nvPr/>
        </p:nvSpPr>
        <p:spPr>
          <a:xfrm>
            <a:off x="4363841" y="3099836"/>
            <a:ext cx="427325" cy="335625"/>
          </a:xfrm>
          <a:custGeom>
            <a:avLst/>
            <a:gdLst/>
            <a:ahLst/>
            <a:cxnLst/>
            <a:rect l="l" t="t" r="r" b="b"/>
            <a:pathLst>
              <a:path w="34186" h="26850" extrusionOk="0">
                <a:moveTo>
                  <a:pt x="34186" y="7369"/>
                </a:moveTo>
                <a:cubicBezTo>
                  <a:pt x="26609" y="7875"/>
                  <a:pt x="18987" y="9107"/>
                  <a:pt x="11783" y="11509"/>
                </a:cubicBezTo>
                <a:cubicBezTo>
                  <a:pt x="8958" y="12451"/>
                  <a:pt x="6190" y="14721"/>
                  <a:pt x="3260" y="14188"/>
                </a:cubicBezTo>
                <a:cubicBezTo>
                  <a:pt x="100" y="13613"/>
                  <a:pt x="-612" y="7915"/>
                  <a:pt x="581" y="4934"/>
                </a:cubicBezTo>
                <a:cubicBezTo>
                  <a:pt x="2999" y="-1107"/>
                  <a:pt x="16358" y="-1632"/>
                  <a:pt x="20062" y="3717"/>
                </a:cubicBezTo>
                <a:cubicBezTo>
                  <a:pt x="23302" y="8396"/>
                  <a:pt x="18572" y="15095"/>
                  <a:pt x="19088" y="20763"/>
                </a:cubicBezTo>
                <a:cubicBezTo>
                  <a:pt x="19370" y="23858"/>
                  <a:pt x="23042" y="26850"/>
                  <a:pt x="26150" y="26850"/>
                </a:cubicBezTo>
              </a:path>
            </a:pathLst>
          </a:custGeom>
          <a:noFill/>
          <a:ln w="38100" cap="flat" cmpd="sng">
            <a:solidFill>
              <a:srgbClr val="F1C232"/>
            </a:solidFill>
            <a:prstDash val="solid"/>
            <a:round/>
            <a:headEnd type="none" w="med" len="med"/>
            <a:tailEnd type="none" w="med" len="med"/>
          </a:ln>
        </p:spPr>
      </p:sp>
      <p:sp>
        <p:nvSpPr>
          <p:cNvPr id="677" name="Google Shape;677;p26"/>
          <p:cNvSpPr/>
          <p:nvPr/>
        </p:nvSpPr>
        <p:spPr>
          <a:xfrm>
            <a:off x="4365013" y="2942350"/>
            <a:ext cx="453675" cy="414725"/>
          </a:xfrm>
          <a:custGeom>
            <a:avLst/>
            <a:gdLst/>
            <a:ahLst/>
            <a:cxnLst/>
            <a:rect l="l" t="t" r="r" b="b"/>
            <a:pathLst>
              <a:path w="36294" h="33178" extrusionOk="0">
                <a:moveTo>
                  <a:pt x="16072" y="0"/>
                </a:moveTo>
                <a:cubicBezTo>
                  <a:pt x="18478" y="5415"/>
                  <a:pt x="25652" y="7856"/>
                  <a:pt x="27761" y="13393"/>
                </a:cubicBezTo>
                <a:cubicBezTo>
                  <a:pt x="29698" y="18478"/>
                  <a:pt x="25844" y="24459"/>
                  <a:pt x="27274" y="29709"/>
                </a:cubicBezTo>
                <a:cubicBezTo>
                  <a:pt x="27905" y="32023"/>
                  <a:pt x="32028" y="34192"/>
                  <a:pt x="33849" y="32631"/>
                </a:cubicBezTo>
                <a:cubicBezTo>
                  <a:pt x="36931" y="29989"/>
                  <a:pt x="37353" y="22015"/>
                  <a:pt x="33605" y="20455"/>
                </a:cubicBezTo>
                <a:cubicBezTo>
                  <a:pt x="25042" y="16890"/>
                  <a:pt x="14673" y="21082"/>
                  <a:pt x="6088" y="24595"/>
                </a:cubicBezTo>
                <a:cubicBezTo>
                  <a:pt x="3268" y="25749"/>
                  <a:pt x="2891" y="30452"/>
                  <a:pt x="0" y="31413"/>
                </a:cubicBezTo>
              </a:path>
            </a:pathLst>
          </a:custGeom>
          <a:noFill/>
          <a:ln w="38100" cap="flat" cmpd="sng">
            <a:solidFill>
              <a:srgbClr val="F1C232"/>
            </a:solidFill>
            <a:prstDash val="solid"/>
            <a:round/>
            <a:headEnd type="none" w="med" len="med"/>
            <a:tailEnd type="none" w="med" len="med"/>
          </a:ln>
        </p:spPr>
      </p:sp>
      <p:sp>
        <p:nvSpPr>
          <p:cNvPr id="678" name="Google Shape;678;p26"/>
          <p:cNvSpPr/>
          <p:nvPr/>
        </p:nvSpPr>
        <p:spPr>
          <a:xfrm>
            <a:off x="4340663" y="2972714"/>
            <a:ext cx="441350" cy="510425"/>
          </a:xfrm>
          <a:custGeom>
            <a:avLst/>
            <a:gdLst/>
            <a:ahLst/>
            <a:cxnLst/>
            <a:rect l="l" t="t" r="r" b="b"/>
            <a:pathLst>
              <a:path w="35308" h="40834" extrusionOk="0">
                <a:moveTo>
                  <a:pt x="0" y="21923"/>
                </a:moveTo>
                <a:cubicBezTo>
                  <a:pt x="4868" y="17746"/>
                  <a:pt x="16935" y="15448"/>
                  <a:pt x="19238" y="21435"/>
                </a:cubicBezTo>
                <a:cubicBezTo>
                  <a:pt x="21093" y="26256"/>
                  <a:pt x="14339" y="32377"/>
                  <a:pt x="17046" y="36777"/>
                </a:cubicBezTo>
                <a:cubicBezTo>
                  <a:pt x="19515" y="40790"/>
                  <a:pt x="26930" y="41953"/>
                  <a:pt x="30926" y="39456"/>
                </a:cubicBezTo>
                <a:cubicBezTo>
                  <a:pt x="37891" y="35105"/>
                  <a:pt x="35821" y="20062"/>
                  <a:pt x="29465" y="14861"/>
                </a:cubicBezTo>
                <a:cubicBezTo>
                  <a:pt x="22888" y="9480"/>
                  <a:pt x="7178" y="12602"/>
                  <a:pt x="6331" y="4146"/>
                </a:cubicBezTo>
                <a:cubicBezTo>
                  <a:pt x="5675" y="-2396"/>
                  <a:pt x="21107" y="-183"/>
                  <a:pt x="26056" y="4146"/>
                </a:cubicBezTo>
                <a:cubicBezTo>
                  <a:pt x="35321" y="12251"/>
                  <a:pt x="17470" y="28073"/>
                  <a:pt x="8766" y="36777"/>
                </a:cubicBezTo>
              </a:path>
            </a:pathLst>
          </a:custGeom>
          <a:noFill/>
          <a:ln w="38100" cap="flat" cmpd="sng">
            <a:solidFill>
              <a:srgbClr val="F1C232"/>
            </a:solidFill>
            <a:prstDash val="solid"/>
            <a:round/>
            <a:headEnd type="none" w="med" len="med"/>
            <a:tailEnd type="none" w="med" len="med"/>
          </a:ln>
        </p:spPr>
      </p:sp>
      <p:sp>
        <p:nvSpPr>
          <p:cNvPr id="679" name="Google Shape;679;p26"/>
          <p:cNvSpPr/>
          <p:nvPr/>
        </p:nvSpPr>
        <p:spPr>
          <a:xfrm>
            <a:off x="4336629" y="2954525"/>
            <a:ext cx="448450" cy="512988"/>
          </a:xfrm>
          <a:custGeom>
            <a:avLst/>
            <a:gdLst/>
            <a:ahLst/>
            <a:cxnLst/>
            <a:rect l="l" t="t" r="r" b="b"/>
            <a:pathLst>
              <a:path w="35876" h="41039" extrusionOk="0">
                <a:moveTo>
                  <a:pt x="35876" y="12176"/>
                </a:moveTo>
                <a:cubicBezTo>
                  <a:pt x="33278" y="13474"/>
                  <a:pt x="30137" y="14019"/>
                  <a:pt x="28084" y="16072"/>
                </a:cubicBezTo>
                <a:cubicBezTo>
                  <a:pt x="24741" y="19415"/>
                  <a:pt x="24638" y="25253"/>
                  <a:pt x="25161" y="29952"/>
                </a:cubicBezTo>
                <a:cubicBezTo>
                  <a:pt x="25573" y="33653"/>
                  <a:pt x="31860" y="39489"/>
                  <a:pt x="28327" y="40667"/>
                </a:cubicBezTo>
                <a:cubicBezTo>
                  <a:pt x="23195" y="42378"/>
                  <a:pt x="17049" y="37559"/>
                  <a:pt x="13960" y="33118"/>
                </a:cubicBezTo>
                <a:cubicBezTo>
                  <a:pt x="10617" y="28313"/>
                  <a:pt x="9699" y="20564"/>
                  <a:pt x="4219" y="18507"/>
                </a:cubicBezTo>
                <a:cubicBezTo>
                  <a:pt x="680" y="17179"/>
                  <a:pt x="-1376" y="26792"/>
                  <a:pt x="1297" y="29465"/>
                </a:cubicBezTo>
                <a:cubicBezTo>
                  <a:pt x="5492" y="33660"/>
                  <a:pt x="15463" y="29538"/>
                  <a:pt x="18343" y="24352"/>
                </a:cubicBezTo>
                <a:cubicBezTo>
                  <a:pt x="21498" y="18671"/>
                  <a:pt x="15329" y="10954"/>
                  <a:pt x="17612" y="4870"/>
                </a:cubicBezTo>
                <a:cubicBezTo>
                  <a:pt x="18786" y="1740"/>
                  <a:pt x="23036" y="0"/>
                  <a:pt x="26379" y="0"/>
                </a:cubicBezTo>
              </a:path>
            </a:pathLst>
          </a:custGeom>
          <a:noFill/>
          <a:ln w="38100" cap="flat" cmpd="sng">
            <a:solidFill>
              <a:srgbClr val="F1C232"/>
            </a:solidFill>
            <a:prstDash val="solid"/>
            <a:round/>
            <a:headEnd type="none" w="med" len="med"/>
            <a:tailEnd type="none" w="med" len="med"/>
          </a:ln>
        </p:spPr>
      </p:sp>
      <p:sp>
        <p:nvSpPr>
          <p:cNvPr id="680" name="Google Shape;680;p26"/>
          <p:cNvSpPr/>
          <p:nvPr/>
        </p:nvSpPr>
        <p:spPr>
          <a:xfrm>
            <a:off x="4371075" y="1611000"/>
            <a:ext cx="401850" cy="401850"/>
          </a:xfrm>
          <a:prstGeom prst="ellipse">
            <a:avLst/>
          </a:prstGeom>
          <a:solidFill>
            <a:srgbClr val="FFFFFF"/>
          </a:solidFill>
          <a:ln>
            <a:noFill/>
          </a:ln>
        </p:spPr>
        <p:txBody>
          <a:bodyPr spcFirstLastPara="1" wrap="square" lIns="45713" tIns="45713" rIns="45713" bIns="45713" anchor="ctr" anchorCtr="0">
            <a:noAutofit/>
          </a:bodyPr>
          <a:lstStyle/>
          <a:p>
            <a:pPr algn="ctr"/>
            <a:r>
              <a:rPr lang="en" sz="1500"/>
              <a:t>1</a:t>
            </a:r>
            <a:endParaRPr sz="1500"/>
          </a:p>
        </p:txBody>
      </p:sp>
      <p:sp>
        <p:nvSpPr>
          <p:cNvPr id="681" name="Google Shape;681;p26"/>
          <p:cNvSpPr/>
          <p:nvPr/>
        </p:nvSpPr>
        <p:spPr>
          <a:xfrm>
            <a:off x="5727050" y="2621688"/>
            <a:ext cx="401850" cy="401850"/>
          </a:xfrm>
          <a:prstGeom prst="ellipse">
            <a:avLst/>
          </a:prstGeom>
          <a:solidFill>
            <a:srgbClr val="FFFFFF"/>
          </a:solidFill>
          <a:ln>
            <a:noFill/>
          </a:ln>
        </p:spPr>
        <p:txBody>
          <a:bodyPr spcFirstLastPara="1" wrap="square" lIns="45713" tIns="45713" rIns="45713" bIns="45713" anchor="ctr" anchorCtr="0">
            <a:noAutofit/>
          </a:bodyPr>
          <a:lstStyle/>
          <a:p>
            <a:pPr algn="ctr"/>
            <a:r>
              <a:rPr lang="en" sz="1500"/>
              <a:t>2</a:t>
            </a:r>
            <a:endParaRPr sz="1500"/>
          </a:p>
        </p:txBody>
      </p:sp>
      <p:sp>
        <p:nvSpPr>
          <p:cNvPr id="682" name="Google Shape;682;p26"/>
          <p:cNvSpPr/>
          <p:nvPr/>
        </p:nvSpPr>
        <p:spPr>
          <a:xfrm>
            <a:off x="5181600" y="4171063"/>
            <a:ext cx="401850" cy="401850"/>
          </a:xfrm>
          <a:prstGeom prst="ellipse">
            <a:avLst/>
          </a:prstGeom>
          <a:solidFill>
            <a:srgbClr val="FFFFFF"/>
          </a:solidFill>
          <a:ln>
            <a:noFill/>
          </a:ln>
        </p:spPr>
        <p:txBody>
          <a:bodyPr spcFirstLastPara="1" wrap="square" lIns="45713" tIns="45713" rIns="45713" bIns="45713" anchor="ctr" anchorCtr="0">
            <a:noAutofit/>
          </a:bodyPr>
          <a:lstStyle/>
          <a:p>
            <a:pPr algn="ctr"/>
            <a:r>
              <a:rPr lang="en" sz="1500"/>
              <a:t>3</a:t>
            </a:r>
            <a:endParaRPr sz="1500"/>
          </a:p>
        </p:txBody>
      </p:sp>
      <p:sp>
        <p:nvSpPr>
          <p:cNvPr id="683" name="Google Shape;683;p26"/>
          <p:cNvSpPr/>
          <p:nvPr/>
        </p:nvSpPr>
        <p:spPr>
          <a:xfrm>
            <a:off x="3560550" y="4171063"/>
            <a:ext cx="401850" cy="401850"/>
          </a:xfrm>
          <a:prstGeom prst="ellipse">
            <a:avLst/>
          </a:prstGeom>
          <a:solidFill>
            <a:srgbClr val="FFFFFF"/>
          </a:solidFill>
          <a:ln>
            <a:noFill/>
          </a:ln>
        </p:spPr>
        <p:txBody>
          <a:bodyPr spcFirstLastPara="1" wrap="square" lIns="45713" tIns="45713" rIns="45713" bIns="45713" anchor="ctr" anchorCtr="0">
            <a:noAutofit/>
          </a:bodyPr>
          <a:lstStyle/>
          <a:p>
            <a:pPr algn="ctr"/>
            <a:r>
              <a:rPr lang="en" sz="1500"/>
              <a:t>4</a:t>
            </a:r>
            <a:endParaRPr sz="1500"/>
          </a:p>
        </p:txBody>
      </p:sp>
      <p:sp>
        <p:nvSpPr>
          <p:cNvPr id="684" name="Google Shape;684;p26"/>
          <p:cNvSpPr/>
          <p:nvPr/>
        </p:nvSpPr>
        <p:spPr>
          <a:xfrm>
            <a:off x="3015088" y="2621688"/>
            <a:ext cx="401850" cy="401850"/>
          </a:xfrm>
          <a:prstGeom prst="ellipse">
            <a:avLst/>
          </a:prstGeom>
          <a:solidFill>
            <a:srgbClr val="FFFFFF"/>
          </a:solidFill>
          <a:ln>
            <a:noFill/>
          </a:ln>
        </p:spPr>
        <p:txBody>
          <a:bodyPr spcFirstLastPara="1" wrap="square" lIns="45713" tIns="45713" rIns="45713" bIns="45713" anchor="ctr" anchorCtr="0">
            <a:noAutofit/>
          </a:bodyPr>
          <a:lstStyle/>
          <a:p>
            <a:pPr algn="ctr"/>
            <a:r>
              <a:rPr lang="en" sz="1500"/>
              <a:t>5</a:t>
            </a:r>
            <a:endParaRPr sz="1500"/>
          </a:p>
        </p:txBody>
      </p:sp>
      <p:sp>
        <p:nvSpPr>
          <p:cNvPr id="685" name="Google Shape;685;p26"/>
          <p:cNvSpPr/>
          <p:nvPr/>
        </p:nvSpPr>
        <p:spPr>
          <a:xfrm rot="10800000">
            <a:off x="5077910" y="1726333"/>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686" name="Google Shape;686;p26"/>
          <p:cNvSpPr/>
          <p:nvPr/>
        </p:nvSpPr>
        <p:spPr>
          <a:xfrm rot="2167448">
            <a:off x="3491828" y="3780045"/>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687" name="Google Shape;687;p26"/>
          <p:cNvSpPr/>
          <p:nvPr/>
        </p:nvSpPr>
        <p:spPr>
          <a:xfrm rot="-2167448" flipH="1">
            <a:off x="4935772" y="4226445"/>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688" name="Google Shape;688;p26"/>
          <p:cNvSpPr/>
          <p:nvPr/>
        </p:nvSpPr>
        <p:spPr>
          <a:xfrm rot="-6485262" flipH="1">
            <a:off x="5867914" y="3041437"/>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27"/>
          <p:cNvSpPr/>
          <p:nvPr/>
        </p:nvSpPr>
        <p:spPr>
          <a:xfrm>
            <a:off x="3389862" y="2035757"/>
            <a:ext cx="2364300" cy="2364300"/>
          </a:xfrm>
          <a:prstGeom prst="ellipse">
            <a:avLst/>
          </a:prstGeom>
          <a:solidFill>
            <a:srgbClr val="783F04"/>
          </a:solidFill>
          <a:ln>
            <a:noFill/>
          </a:ln>
        </p:spPr>
        <p:txBody>
          <a:bodyPr spcFirstLastPara="1" wrap="square" lIns="45713" tIns="45713" rIns="45713" bIns="45713" anchor="ctr" anchorCtr="0">
            <a:noAutofit/>
          </a:bodyPr>
          <a:lstStyle/>
          <a:p>
            <a:endParaRPr sz="900"/>
          </a:p>
        </p:txBody>
      </p:sp>
      <p:pic>
        <p:nvPicPr>
          <p:cNvPr id="694" name="Google Shape;694;p27"/>
          <p:cNvPicPr preferRelativeResize="0"/>
          <p:nvPr/>
        </p:nvPicPr>
        <p:blipFill>
          <a:blip r:embed="rId3">
            <a:alphaModFix/>
          </a:blip>
          <a:stretch>
            <a:fillRect/>
          </a:stretch>
        </p:blipFill>
        <p:spPr>
          <a:xfrm>
            <a:off x="5100038" y="1243400"/>
            <a:ext cx="1219200" cy="1219200"/>
          </a:xfrm>
          <a:prstGeom prst="rect">
            <a:avLst/>
          </a:prstGeom>
          <a:noFill/>
          <a:ln>
            <a:noFill/>
          </a:ln>
        </p:spPr>
      </p:pic>
      <p:pic>
        <p:nvPicPr>
          <p:cNvPr id="695" name="Google Shape;695;p27"/>
          <p:cNvPicPr preferRelativeResize="0"/>
          <p:nvPr/>
        </p:nvPicPr>
        <p:blipFill>
          <a:blip r:embed="rId4">
            <a:alphaModFix/>
          </a:blip>
          <a:stretch>
            <a:fillRect/>
          </a:stretch>
        </p:blipFill>
        <p:spPr>
          <a:xfrm>
            <a:off x="3962394" y="4395400"/>
            <a:ext cx="1219200" cy="1219200"/>
          </a:xfrm>
          <a:prstGeom prst="rect">
            <a:avLst/>
          </a:prstGeom>
          <a:noFill/>
          <a:ln>
            <a:noFill/>
          </a:ln>
        </p:spPr>
      </p:pic>
      <p:pic>
        <p:nvPicPr>
          <p:cNvPr id="696" name="Google Shape;696;p27"/>
          <p:cNvPicPr preferRelativeResize="0"/>
          <p:nvPr/>
        </p:nvPicPr>
        <p:blipFill>
          <a:blip r:embed="rId5">
            <a:alphaModFix/>
          </a:blip>
          <a:stretch>
            <a:fillRect/>
          </a:stretch>
        </p:blipFill>
        <p:spPr>
          <a:xfrm>
            <a:off x="2292325" y="3217875"/>
            <a:ext cx="1219200" cy="1219200"/>
          </a:xfrm>
          <a:prstGeom prst="rect">
            <a:avLst/>
          </a:prstGeom>
          <a:noFill/>
          <a:ln>
            <a:noFill/>
          </a:ln>
        </p:spPr>
      </p:pic>
      <p:pic>
        <p:nvPicPr>
          <p:cNvPr id="697" name="Google Shape;697;p27"/>
          <p:cNvPicPr preferRelativeResize="0"/>
          <p:nvPr/>
        </p:nvPicPr>
        <p:blipFill>
          <a:blip r:embed="rId6">
            <a:alphaModFix/>
          </a:blip>
          <a:stretch>
            <a:fillRect/>
          </a:stretch>
        </p:blipFill>
        <p:spPr>
          <a:xfrm>
            <a:off x="5632475" y="3217875"/>
            <a:ext cx="1219200" cy="1219200"/>
          </a:xfrm>
          <a:prstGeom prst="rect">
            <a:avLst/>
          </a:prstGeom>
          <a:noFill/>
          <a:ln>
            <a:noFill/>
          </a:ln>
        </p:spPr>
      </p:pic>
      <p:pic>
        <p:nvPicPr>
          <p:cNvPr id="698" name="Google Shape;698;p27"/>
          <p:cNvPicPr preferRelativeResize="0"/>
          <p:nvPr/>
        </p:nvPicPr>
        <p:blipFill>
          <a:blip r:embed="rId7">
            <a:alphaModFix/>
          </a:blip>
          <a:stretch>
            <a:fillRect/>
          </a:stretch>
        </p:blipFill>
        <p:spPr>
          <a:xfrm>
            <a:off x="2824757" y="1243400"/>
            <a:ext cx="1219200" cy="1219200"/>
          </a:xfrm>
          <a:prstGeom prst="rect">
            <a:avLst/>
          </a:prstGeom>
          <a:noFill/>
          <a:ln>
            <a:noFill/>
          </a:ln>
        </p:spPr>
      </p:pic>
      <p:grpSp>
        <p:nvGrpSpPr>
          <p:cNvPr id="699" name="Google Shape;699;p27"/>
          <p:cNvGrpSpPr/>
          <p:nvPr/>
        </p:nvGrpSpPr>
        <p:grpSpPr>
          <a:xfrm>
            <a:off x="4157195" y="2803111"/>
            <a:ext cx="829600" cy="829600"/>
            <a:chOff x="7509900" y="2868375"/>
            <a:chExt cx="903900" cy="903900"/>
          </a:xfrm>
        </p:grpSpPr>
        <p:sp>
          <p:nvSpPr>
            <p:cNvPr id="700" name="Google Shape;700;p27"/>
            <p:cNvSpPr/>
            <p:nvPr/>
          </p:nvSpPr>
          <p:spPr>
            <a:xfrm>
              <a:off x="7509900" y="2868375"/>
              <a:ext cx="903900" cy="903900"/>
            </a:xfrm>
            <a:prstGeom prst="ellipse">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01" name="Google Shape;701;p27"/>
            <p:cNvSpPr/>
            <p:nvPr/>
          </p:nvSpPr>
          <p:spPr>
            <a:xfrm>
              <a:off x="7726325" y="3187287"/>
              <a:ext cx="281375" cy="421875"/>
            </a:xfrm>
            <a:custGeom>
              <a:avLst/>
              <a:gdLst/>
              <a:ahLst/>
              <a:cxnLst/>
              <a:rect l="l" t="t" r="r" b="b"/>
              <a:pathLst>
                <a:path w="11255" h="16875" extrusionOk="0">
                  <a:moveTo>
                    <a:pt x="0" y="1985"/>
                  </a:moveTo>
                  <a:cubicBezTo>
                    <a:pt x="3409" y="525"/>
                    <a:pt x="10171" y="-1599"/>
                    <a:pt x="11126" y="1985"/>
                  </a:cubicBezTo>
                  <a:cubicBezTo>
                    <a:pt x="11977" y="5177"/>
                    <a:pt x="7498" y="7599"/>
                    <a:pt x="5042" y="9808"/>
                  </a:cubicBezTo>
                  <a:cubicBezTo>
                    <a:pt x="3517" y="11179"/>
                    <a:pt x="7922" y="12750"/>
                    <a:pt x="9562" y="13980"/>
                  </a:cubicBezTo>
                  <a:cubicBezTo>
                    <a:pt x="10372" y="14587"/>
                    <a:pt x="11636" y="16225"/>
                    <a:pt x="10778" y="16762"/>
                  </a:cubicBezTo>
                  <a:cubicBezTo>
                    <a:pt x="9613" y="17490"/>
                    <a:pt x="7707" y="13849"/>
                    <a:pt x="8866" y="13111"/>
                  </a:cubicBezTo>
                </a:path>
              </a:pathLst>
            </a:custGeom>
            <a:noFill/>
            <a:ln w="38100" cap="flat" cmpd="sng">
              <a:solidFill>
                <a:srgbClr val="F1C232"/>
              </a:solidFill>
              <a:prstDash val="solid"/>
              <a:round/>
              <a:headEnd type="none" w="med" len="med"/>
              <a:tailEnd type="none" w="med" len="med"/>
            </a:ln>
          </p:spPr>
        </p:sp>
        <p:sp>
          <p:nvSpPr>
            <p:cNvPr id="702" name="Google Shape;702;p27"/>
            <p:cNvSpPr/>
            <p:nvPr/>
          </p:nvSpPr>
          <p:spPr>
            <a:xfrm>
              <a:off x="7829049" y="3032650"/>
              <a:ext cx="272850" cy="456325"/>
            </a:xfrm>
            <a:custGeom>
              <a:avLst/>
              <a:gdLst/>
              <a:ahLst/>
              <a:cxnLst/>
              <a:rect l="l" t="t" r="r" b="b"/>
              <a:pathLst>
                <a:path w="10914" h="18253" extrusionOk="0">
                  <a:moveTo>
                    <a:pt x="4236" y="0"/>
                  </a:moveTo>
                  <a:cubicBezTo>
                    <a:pt x="1862" y="3263"/>
                    <a:pt x="-1710" y="8598"/>
                    <a:pt x="933" y="11647"/>
                  </a:cubicBezTo>
                  <a:cubicBezTo>
                    <a:pt x="3470" y="14574"/>
                    <a:pt x="12913" y="15228"/>
                    <a:pt x="10494" y="18253"/>
                  </a:cubicBezTo>
                </a:path>
              </a:pathLst>
            </a:custGeom>
            <a:noFill/>
            <a:ln w="38100" cap="flat" cmpd="sng">
              <a:solidFill>
                <a:srgbClr val="F1C232"/>
              </a:solidFill>
              <a:prstDash val="solid"/>
              <a:round/>
              <a:headEnd type="none" w="med" len="med"/>
              <a:tailEnd type="none" w="med" len="med"/>
            </a:ln>
          </p:spPr>
        </p:sp>
        <p:sp>
          <p:nvSpPr>
            <p:cNvPr id="703" name="Google Shape;703;p27"/>
            <p:cNvSpPr/>
            <p:nvPr/>
          </p:nvSpPr>
          <p:spPr>
            <a:xfrm>
              <a:off x="7938508" y="3145650"/>
              <a:ext cx="222425" cy="356375"/>
            </a:xfrm>
            <a:custGeom>
              <a:avLst/>
              <a:gdLst/>
              <a:ahLst/>
              <a:cxnLst/>
              <a:rect l="l" t="t" r="r" b="b"/>
              <a:pathLst>
                <a:path w="8897" h="14255" extrusionOk="0">
                  <a:moveTo>
                    <a:pt x="8897" y="0"/>
                  </a:moveTo>
                  <a:cubicBezTo>
                    <a:pt x="5700" y="999"/>
                    <a:pt x="1621" y="2006"/>
                    <a:pt x="205" y="5041"/>
                  </a:cubicBezTo>
                  <a:cubicBezTo>
                    <a:pt x="-1089" y="7814"/>
                    <a:pt x="5221" y="8570"/>
                    <a:pt x="7507" y="10604"/>
                  </a:cubicBezTo>
                  <a:cubicBezTo>
                    <a:pt x="8600" y="11576"/>
                    <a:pt x="6516" y="14014"/>
                    <a:pt x="5073" y="14255"/>
                  </a:cubicBezTo>
                </a:path>
              </a:pathLst>
            </a:custGeom>
            <a:noFill/>
            <a:ln w="38100" cap="flat" cmpd="sng">
              <a:solidFill>
                <a:srgbClr val="F1C232"/>
              </a:solidFill>
              <a:prstDash val="solid"/>
              <a:round/>
              <a:headEnd type="none" w="med" len="med"/>
              <a:tailEnd type="none" w="med" len="med"/>
            </a:ln>
          </p:spPr>
        </p:sp>
        <p:sp>
          <p:nvSpPr>
            <p:cNvPr id="704" name="Google Shape;704;p27"/>
            <p:cNvSpPr/>
            <p:nvPr/>
          </p:nvSpPr>
          <p:spPr>
            <a:xfrm>
              <a:off x="7743725" y="3093500"/>
              <a:ext cx="518875" cy="321600"/>
            </a:xfrm>
            <a:custGeom>
              <a:avLst/>
              <a:gdLst/>
              <a:ahLst/>
              <a:cxnLst/>
              <a:rect l="l" t="t" r="r" b="b"/>
              <a:pathLst>
                <a:path w="20755" h="12864" extrusionOk="0">
                  <a:moveTo>
                    <a:pt x="0" y="0"/>
                  </a:moveTo>
                  <a:cubicBezTo>
                    <a:pt x="5394" y="897"/>
                    <a:pt x="12760" y="-760"/>
                    <a:pt x="15993" y="3650"/>
                  </a:cubicBezTo>
                  <a:cubicBezTo>
                    <a:pt x="17475" y="5672"/>
                    <a:pt x="22372" y="8719"/>
                    <a:pt x="20165" y="9908"/>
                  </a:cubicBezTo>
                  <a:cubicBezTo>
                    <a:pt x="14587" y="12912"/>
                    <a:pt x="1390" y="6529"/>
                    <a:pt x="1390" y="12864"/>
                  </a:cubicBezTo>
                </a:path>
              </a:pathLst>
            </a:custGeom>
            <a:noFill/>
            <a:ln w="38100" cap="flat" cmpd="sng">
              <a:solidFill>
                <a:srgbClr val="F1C232"/>
              </a:solidFill>
              <a:prstDash val="solid"/>
              <a:round/>
              <a:headEnd type="none" w="med" len="med"/>
              <a:tailEnd type="none" w="med" len="med"/>
            </a:ln>
          </p:spPr>
        </p:sp>
        <p:sp>
          <p:nvSpPr>
            <p:cNvPr id="705" name="Google Shape;705;p27"/>
            <p:cNvSpPr/>
            <p:nvPr/>
          </p:nvSpPr>
          <p:spPr>
            <a:xfrm>
              <a:off x="7662050" y="3010925"/>
              <a:ext cx="411975" cy="478050"/>
            </a:xfrm>
            <a:custGeom>
              <a:avLst/>
              <a:gdLst/>
              <a:ahLst/>
              <a:cxnLst/>
              <a:rect l="l" t="t" r="r" b="b"/>
              <a:pathLst>
                <a:path w="16479" h="19122" extrusionOk="0">
                  <a:moveTo>
                    <a:pt x="16479" y="0"/>
                  </a:moveTo>
                  <a:cubicBezTo>
                    <a:pt x="9984" y="1946"/>
                    <a:pt x="3470" y="6343"/>
                    <a:pt x="311" y="12342"/>
                  </a:cubicBezTo>
                  <a:cubicBezTo>
                    <a:pt x="-872" y="14589"/>
                    <a:pt x="1757" y="17597"/>
                    <a:pt x="3788" y="19122"/>
                  </a:cubicBezTo>
                </a:path>
              </a:pathLst>
            </a:custGeom>
            <a:noFill/>
            <a:ln w="38100" cap="flat" cmpd="sng">
              <a:solidFill>
                <a:srgbClr val="F1C232"/>
              </a:solidFill>
              <a:prstDash val="solid"/>
              <a:round/>
              <a:headEnd type="none" w="med" len="med"/>
              <a:tailEnd type="none" w="med" len="med"/>
            </a:ln>
          </p:spPr>
        </p:sp>
        <p:sp>
          <p:nvSpPr>
            <p:cNvPr id="706" name="Google Shape;706;p27"/>
            <p:cNvSpPr/>
            <p:nvPr/>
          </p:nvSpPr>
          <p:spPr>
            <a:xfrm>
              <a:off x="7817600" y="3015250"/>
              <a:ext cx="398400" cy="587225"/>
            </a:xfrm>
            <a:custGeom>
              <a:avLst/>
              <a:gdLst/>
              <a:ahLst/>
              <a:cxnLst/>
              <a:rect l="l" t="t" r="r" b="b"/>
              <a:pathLst>
                <a:path w="15936" h="23489" extrusionOk="0">
                  <a:moveTo>
                    <a:pt x="0" y="0"/>
                  </a:moveTo>
                  <a:cubicBezTo>
                    <a:pt x="0" y="8167"/>
                    <a:pt x="2230" y="20746"/>
                    <a:pt x="10257" y="22252"/>
                  </a:cubicBezTo>
                  <a:cubicBezTo>
                    <a:pt x="12203" y="22617"/>
                    <a:pt x="15960" y="18191"/>
                    <a:pt x="15819" y="20166"/>
                  </a:cubicBezTo>
                  <a:cubicBezTo>
                    <a:pt x="15703" y="21786"/>
                    <a:pt x="15565" y="21792"/>
                    <a:pt x="14950" y="23295"/>
                  </a:cubicBezTo>
                  <a:cubicBezTo>
                    <a:pt x="14596" y="24160"/>
                    <a:pt x="13200" y="21724"/>
                    <a:pt x="13559" y="20861"/>
                  </a:cubicBezTo>
                  <a:cubicBezTo>
                    <a:pt x="14532" y="18524"/>
                    <a:pt x="16694" y="15864"/>
                    <a:pt x="15646" y="13560"/>
                  </a:cubicBezTo>
                  <a:cubicBezTo>
                    <a:pt x="15040" y="12229"/>
                    <a:pt x="13029" y="12161"/>
                    <a:pt x="11995" y="11126"/>
                  </a:cubicBezTo>
                </a:path>
              </a:pathLst>
            </a:custGeom>
            <a:noFill/>
            <a:ln w="38100" cap="flat" cmpd="sng">
              <a:solidFill>
                <a:srgbClr val="F1C232"/>
              </a:solidFill>
              <a:prstDash val="solid"/>
              <a:round/>
              <a:headEnd type="none" w="med" len="med"/>
              <a:tailEnd type="none" w="med" len="med"/>
            </a:ln>
          </p:spPr>
        </p:sp>
        <p:sp>
          <p:nvSpPr>
            <p:cNvPr id="707" name="Google Shape;707;p27"/>
            <p:cNvSpPr/>
            <p:nvPr/>
          </p:nvSpPr>
          <p:spPr>
            <a:xfrm>
              <a:off x="7643750" y="3180400"/>
              <a:ext cx="425925" cy="446300"/>
            </a:xfrm>
            <a:custGeom>
              <a:avLst/>
              <a:gdLst/>
              <a:ahLst/>
              <a:cxnLst/>
              <a:rect l="l" t="t" r="r" b="b"/>
              <a:pathLst>
                <a:path w="17037" h="17852" extrusionOk="0">
                  <a:moveTo>
                    <a:pt x="0" y="0"/>
                  </a:moveTo>
                  <a:cubicBezTo>
                    <a:pt x="4491" y="817"/>
                    <a:pt x="6830" y="6955"/>
                    <a:pt x="7475" y="11474"/>
                  </a:cubicBezTo>
                  <a:cubicBezTo>
                    <a:pt x="7713" y="13138"/>
                    <a:pt x="6322" y="15483"/>
                    <a:pt x="7649" y="16515"/>
                  </a:cubicBezTo>
                  <a:cubicBezTo>
                    <a:pt x="10121" y="18437"/>
                    <a:pt x="14632" y="18173"/>
                    <a:pt x="17037" y="16167"/>
                  </a:cubicBezTo>
                </a:path>
              </a:pathLst>
            </a:custGeom>
            <a:noFill/>
            <a:ln w="38100" cap="flat" cmpd="sng">
              <a:solidFill>
                <a:srgbClr val="F1C232"/>
              </a:solidFill>
              <a:prstDash val="solid"/>
              <a:round/>
              <a:headEnd type="none" w="med" len="med"/>
              <a:tailEnd type="none" w="med" len="med"/>
            </a:ln>
          </p:spPr>
        </p:sp>
        <p:sp>
          <p:nvSpPr>
            <p:cNvPr id="708" name="Google Shape;708;p27"/>
            <p:cNvSpPr/>
            <p:nvPr/>
          </p:nvSpPr>
          <p:spPr>
            <a:xfrm>
              <a:off x="7836249" y="3076100"/>
              <a:ext cx="320325" cy="456325"/>
            </a:xfrm>
            <a:custGeom>
              <a:avLst/>
              <a:gdLst/>
              <a:ahLst/>
              <a:cxnLst/>
              <a:rect l="l" t="t" r="r" b="b"/>
              <a:pathLst>
                <a:path w="12813" h="18253" extrusionOk="0">
                  <a:moveTo>
                    <a:pt x="12813" y="0"/>
                  </a:moveTo>
                  <a:cubicBezTo>
                    <a:pt x="7242" y="2181"/>
                    <a:pt x="-861" y="6790"/>
                    <a:pt x="123" y="12691"/>
                  </a:cubicBezTo>
                  <a:cubicBezTo>
                    <a:pt x="746" y="16427"/>
                    <a:pt x="8084" y="15004"/>
                    <a:pt x="10032" y="18253"/>
                  </a:cubicBezTo>
                </a:path>
              </a:pathLst>
            </a:custGeom>
            <a:noFill/>
            <a:ln w="38100" cap="flat" cmpd="sng">
              <a:solidFill>
                <a:srgbClr val="F1C232"/>
              </a:solidFill>
              <a:prstDash val="solid"/>
              <a:round/>
              <a:headEnd type="none" w="med" len="med"/>
              <a:tailEnd type="none" w="med" len="med"/>
            </a:ln>
          </p:spPr>
        </p:sp>
        <p:sp>
          <p:nvSpPr>
            <p:cNvPr id="709" name="Google Shape;709;p27"/>
            <p:cNvSpPr/>
            <p:nvPr/>
          </p:nvSpPr>
          <p:spPr>
            <a:xfrm>
              <a:off x="7700250" y="3132600"/>
              <a:ext cx="429925" cy="169500"/>
            </a:xfrm>
            <a:custGeom>
              <a:avLst/>
              <a:gdLst/>
              <a:ahLst/>
              <a:cxnLst/>
              <a:rect l="l" t="t" r="r" b="b"/>
              <a:pathLst>
                <a:path w="17197" h="6780" extrusionOk="0">
                  <a:moveTo>
                    <a:pt x="0" y="0"/>
                  </a:moveTo>
                  <a:cubicBezTo>
                    <a:pt x="3914" y="4695"/>
                    <a:pt x="10925" y="6780"/>
                    <a:pt x="17037" y="6780"/>
                  </a:cubicBezTo>
                  <a:cubicBezTo>
                    <a:pt x="17504" y="6780"/>
                    <a:pt x="16799" y="5655"/>
                    <a:pt x="16341" y="5563"/>
                  </a:cubicBezTo>
                </a:path>
              </a:pathLst>
            </a:custGeom>
            <a:noFill/>
            <a:ln w="38100" cap="flat" cmpd="sng">
              <a:solidFill>
                <a:srgbClr val="F1C232"/>
              </a:solidFill>
              <a:prstDash val="solid"/>
              <a:round/>
              <a:headEnd type="none" w="med" len="med"/>
              <a:tailEnd type="none" w="med" len="med"/>
            </a:ln>
          </p:spPr>
        </p:sp>
        <p:sp>
          <p:nvSpPr>
            <p:cNvPr id="710" name="Google Shape;710;p27"/>
            <p:cNvSpPr/>
            <p:nvPr/>
          </p:nvSpPr>
          <p:spPr>
            <a:xfrm>
              <a:off x="7710998" y="3098181"/>
              <a:ext cx="558575" cy="472725"/>
            </a:xfrm>
            <a:custGeom>
              <a:avLst/>
              <a:gdLst/>
              <a:ahLst/>
              <a:cxnLst/>
              <a:rect l="l" t="t" r="r" b="b"/>
              <a:pathLst>
                <a:path w="22343" h="18909" extrusionOk="0">
                  <a:moveTo>
                    <a:pt x="22343" y="4332"/>
                  </a:moveTo>
                  <a:cubicBezTo>
                    <a:pt x="16437" y="38"/>
                    <a:pt x="3704" y="-2547"/>
                    <a:pt x="439" y="3985"/>
                  </a:cubicBezTo>
                  <a:cubicBezTo>
                    <a:pt x="-1508" y="7881"/>
                    <a:pt x="3832" y="12696"/>
                    <a:pt x="7567" y="14937"/>
                  </a:cubicBezTo>
                  <a:cubicBezTo>
                    <a:pt x="9340" y="16001"/>
                    <a:pt x="12081" y="14808"/>
                    <a:pt x="13651" y="16154"/>
                  </a:cubicBezTo>
                  <a:cubicBezTo>
                    <a:pt x="15785" y="17983"/>
                    <a:pt x="7730" y="19926"/>
                    <a:pt x="5481" y="18240"/>
                  </a:cubicBezTo>
                </a:path>
              </a:pathLst>
            </a:custGeom>
            <a:noFill/>
            <a:ln w="38100" cap="flat" cmpd="sng">
              <a:solidFill>
                <a:srgbClr val="F1C232"/>
              </a:solidFill>
              <a:prstDash val="solid"/>
              <a:round/>
              <a:headEnd type="none" w="med" len="med"/>
              <a:tailEnd type="none" w="med" len="med"/>
            </a:ln>
          </p:spPr>
        </p:sp>
        <p:sp>
          <p:nvSpPr>
            <p:cNvPr id="711" name="Google Shape;711;p27"/>
            <p:cNvSpPr/>
            <p:nvPr/>
          </p:nvSpPr>
          <p:spPr>
            <a:xfrm>
              <a:off x="7685501" y="3079570"/>
              <a:ext cx="584075" cy="361600"/>
            </a:xfrm>
            <a:custGeom>
              <a:avLst/>
              <a:gdLst/>
              <a:ahLst/>
              <a:cxnLst/>
              <a:rect l="l" t="t" r="r" b="b"/>
              <a:pathLst>
                <a:path w="23363" h="14464" extrusionOk="0">
                  <a:moveTo>
                    <a:pt x="23363" y="14464"/>
                  </a:moveTo>
                  <a:cubicBezTo>
                    <a:pt x="21432" y="9632"/>
                    <a:pt x="15255" y="7928"/>
                    <a:pt x="11021" y="4903"/>
                  </a:cubicBezTo>
                  <a:cubicBezTo>
                    <a:pt x="8043" y="2775"/>
                    <a:pt x="3984" y="-1473"/>
                    <a:pt x="938" y="557"/>
                  </a:cubicBezTo>
                  <a:cubicBezTo>
                    <a:pt x="-2526" y="2866"/>
                    <a:pt x="4896" y="8744"/>
                    <a:pt x="8761" y="10292"/>
                  </a:cubicBezTo>
                </a:path>
              </a:pathLst>
            </a:custGeom>
            <a:noFill/>
            <a:ln w="38100" cap="flat" cmpd="sng">
              <a:solidFill>
                <a:srgbClr val="F1C232"/>
              </a:solidFill>
              <a:prstDash val="solid"/>
              <a:round/>
              <a:headEnd type="none" w="med" len="med"/>
              <a:tailEnd type="none" w="med" len="med"/>
            </a:ln>
          </p:spPr>
        </p:sp>
        <p:sp>
          <p:nvSpPr>
            <p:cNvPr id="712" name="Google Shape;712;p27"/>
            <p:cNvSpPr/>
            <p:nvPr/>
          </p:nvSpPr>
          <p:spPr>
            <a:xfrm>
              <a:off x="7744259" y="3028300"/>
              <a:ext cx="368875" cy="491100"/>
            </a:xfrm>
            <a:custGeom>
              <a:avLst/>
              <a:gdLst/>
              <a:ahLst/>
              <a:cxnLst/>
              <a:rect l="l" t="t" r="r" b="b"/>
              <a:pathLst>
                <a:path w="14755" h="19644" extrusionOk="0">
                  <a:moveTo>
                    <a:pt x="14755" y="0"/>
                  </a:moveTo>
                  <a:cubicBezTo>
                    <a:pt x="14495" y="609"/>
                    <a:pt x="14636" y="691"/>
                    <a:pt x="14234" y="1217"/>
                  </a:cubicBezTo>
                  <a:cubicBezTo>
                    <a:pt x="10836" y="5660"/>
                    <a:pt x="3616" y="6081"/>
                    <a:pt x="326" y="10604"/>
                  </a:cubicBezTo>
                  <a:cubicBezTo>
                    <a:pt x="-1501" y="13116"/>
                    <a:pt x="5071" y="17780"/>
                    <a:pt x="2586" y="19644"/>
                  </a:cubicBezTo>
                </a:path>
              </a:pathLst>
            </a:custGeom>
            <a:noFill/>
            <a:ln w="38100" cap="flat" cmpd="sng">
              <a:solidFill>
                <a:srgbClr val="F1C232"/>
              </a:solidFill>
              <a:prstDash val="solid"/>
              <a:round/>
              <a:headEnd type="none" w="med" len="med"/>
              <a:tailEnd type="none" w="med" len="med"/>
            </a:ln>
          </p:spPr>
        </p:sp>
        <p:sp>
          <p:nvSpPr>
            <p:cNvPr id="713" name="Google Shape;713;p27"/>
            <p:cNvSpPr/>
            <p:nvPr/>
          </p:nvSpPr>
          <p:spPr>
            <a:xfrm>
              <a:off x="7765450" y="3145650"/>
              <a:ext cx="482400" cy="338975"/>
            </a:xfrm>
            <a:custGeom>
              <a:avLst/>
              <a:gdLst/>
              <a:ahLst/>
              <a:cxnLst/>
              <a:rect l="l" t="t" r="r" b="b"/>
              <a:pathLst>
                <a:path w="19296" h="13559" extrusionOk="0">
                  <a:moveTo>
                    <a:pt x="19296" y="13559"/>
                  </a:moveTo>
                  <a:cubicBezTo>
                    <a:pt x="13760" y="11712"/>
                    <a:pt x="8516" y="8736"/>
                    <a:pt x="3998" y="5041"/>
                  </a:cubicBezTo>
                  <a:cubicBezTo>
                    <a:pt x="2338" y="3683"/>
                    <a:pt x="2116" y="351"/>
                    <a:pt x="0" y="0"/>
                  </a:cubicBezTo>
                </a:path>
              </a:pathLst>
            </a:custGeom>
            <a:noFill/>
            <a:ln w="38100" cap="flat" cmpd="sng">
              <a:solidFill>
                <a:srgbClr val="F1C232"/>
              </a:solidFill>
              <a:prstDash val="solid"/>
              <a:round/>
              <a:headEnd type="none" w="med" len="med"/>
              <a:tailEnd type="none" w="med" len="med"/>
            </a:ln>
          </p:spPr>
        </p:sp>
        <p:sp>
          <p:nvSpPr>
            <p:cNvPr id="714" name="Google Shape;714;p27"/>
            <p:cNvSpPr/>
            <p:nvPr/>
          </p:nvSpPr>
          <p:spPr>
            <a:xfrm>
              <a:off x="7665500" y="3269759"/>
              <a:ext cx="499775" cy="249650"/>
            </a:xfrm>
            <a:custGeom>
              <a:avLst/>
              <a:gdLst/>
              <a:ahLst/>
              <a:cxnLst/>
              <a:rect l="l" t="t" r="r" b="b"/>
              <a:pathLst>
                <a:path w="19991" h="9986" extrusionOk="0">
                  <a:moveTo>
                    <a:pt x="0" y="9986"/>
                  </a:moveTo>
                  <a:cubicBezTo>
                    <a:pt x="3478" y="7899"/>
                    <a:pt x="5064" y="3283"/>
                    <a:pt x="8692" y="1468"/>
                  </a:cubicBezTo>
                  <a:cubicBezTo>
                    <a:pt x="12086" y="-230"/>
                    <a:pt x="16196" y="77"/>
                    <a:pt x="19991" y="77"/>
                  </a:cubicBezTo>
                </a:path>
              </a:pathLst>
            </a:custGeom>
            <a:noFill/>
            <a:ln w="38100" cap="flat" cmpd="sng">
              <a:solidFill>
                <a:srgbClr val="F1C232"/>
              </a:solidFill>
              <a:prstDash val="solid"/>
              <a:round/>
              <a:headEnd type="none" w="med" len="med"/>
              <a:tailEnd type="none" w="med" len="med"/>
            </a:ln>
          </p:spPr>
        </p:sp>
        <p:sp>
          <p:nvSpPr>
            <p:cNvPr id="715" name="Google Shape;715;p27"/>
            <p:cNvSpPr/>
            <p:nvPr/>
          </p:nvSpPr>
          <p:spPr>
            <a:xfrm>
              <a:off x="7656800" y="3198318"/>
              <a:ext cx="660600" cy="161800"/>
            </a:xfrm>
            <a:custGeom>
              <a:avLst/>
              <a:gdLst/>
              <a:ahLst/>
              <a:cxnLst/>
              <a:rect l="l" t="t" r="r" b="b"/>
              <a:pathLst>
                <a:path w="26424" h="6472" extrusionOk="0">
                  <a:moveTo>
                    <a:pt x="26424" y="6411"/>
                  </a:moveTo>
                  <a:cubicBezTo>
                    <a:pt x="18961" y="6652"/>
                    <a:pt x="11684" y="3823"/>
                    <a:pt x="4520" y="1717"/>
                  </a:cubicBezTo>
                  <a:cubicBezTo>
                    <a:pt x="4232" y="1632"/>
                    <a:pt x="0" y="-572"/>
                    <a:pt x="0" y="153"/>
                  </a:cubicBezTo>
                  <a:cubicBezTo>
                    <a:pt x="0" y="1294"/>
                    <a:pt x="584" y="2475"/>
                    <a:pt x="1391" y="3282"/>
                  </a:cubicBezTo>
                </a:path>
              </a:pathLst>
            </a:custGeom>
            <a:noFill/>
            <a:ln w="38100" cap="flat" cmpd="sng">
              <a:solidFill>
                <a:srgbClr val="F1C232"/>
              </a:solidFill>
              <a:prstDash val="solid"/>
              <a:round/>
              <a:headEnd type="none" w="med" len="med"/>
              <a:tailEnd type="none" w="med" len="med"/>
            </a:ln>
          </p:spPr>
        </p:sp>
        <p:sp>
          <p:nvSpPr>
            <p:cNvPr id="716" name="Google Shape;716;p27"/>
            <p:cNvSpPr/>
            <p:nvPr/>
          </p:nvSpPr>
          <p:spPr>
            <a:xfrm>
              <a:off x="7757829" y="3119575"/>
              <a:ext cx="450925" cy="395475"/>
            </a:xfrm>
            <a:custGeom>
              <a:avLst/>
              <a:gdLst/>
              <a:ahLst/>
              <a:cxnLst/>
              <a:rect l="l" t="t" r="r" b="b"/>
              <a:pathLst>
                <a:path w="18037" h="15819" extrusionOk="0">
                  <a:moveTo>
                    <a:pt x="18037" y="0"/>
                  </a:moveTo>
                  <a:cubicBezTo>
                    <a:pt x="15708" y="1293"/>
                    <a:pt x="13491" y="3180"/>
                    <a:pt x="12300" y="5562"/>
                  </a:cubicBezTo>
                  <a:cubicBezTo>
                    <a:pt x="11338" y="7485"/>
                    <a:pt x="12524" y="10628"/>
                    <a:pt x="10735" y="11821"/>
                  </a:cubicBezTo>
                  <a:cubicBezTo>
                    <a:pt x="7637" y="13887"/>
                    <a:pt x="-1612" y="12627"/>
                    <a:pt x="305" y="15819"/>
                  </a:cubicBezTo>
                </a:path>
              </a:pathLst>
            </a:custGeom>
            <a:noFill/>
            <a:ln w="38100" cap="flat" cmpd="sng">
              <a:solidFill>
                <a:srgbClr val="F1C232"/>
              </a:solidFill>
              <a:prstDash val="solid"/>
              <a:round/>
              <a:headEnd type="none" w="med" len="med"/>
              <a:tailEnd type="none" w="med" len="med"/>
            </a:ln>
          </p:spPr>
        </p:sp>
        <p:sp>
          <p:nvSpPr>
            <p:cNvPr id="717" name="Google Shape;717;p27"/>
            <p:cNvSpPr/>
            <p:nvPr/>
          </p:nvSpPr>
          <p:spPr>
            <a:xfrm>
              <a:off x="7895825" y="3010925"/>
              <a:ext cx="373750" cy="469350"/>
            </a:xfrm>
            <a:custGeom>
              <a:avLst/>
              <a:gdLst/>
              <a:ahLst/>
              <a:cxnLst/>
              <a:rect l="l" t="t" r="r" b="b"/>
              <a:pathLst>
                <a:path w="14950" h="18774" extrusionOk="0">
                  <a:moveTo>
                    <a:pt x="0" y="0"/>
                  </a:moveTo>
                  <a:cubicBezTo>
                    <a:pt x="1571" y="7844"/>
                    <a:pt x="11377" y="11617"/>
                    <a:pt x="14950" y="18774"/>
                  </a:cubicBezTo>
                </a:path>
              </a:pathLst>
            </a:custGeom>
            <a:noFill/>
            <a:ln w="38100" cap="flat" cmpd="sng">
              <a:solidFill>
                <a:srgbClr val="F1C232"/>
              </a:solidFill>
              <a:prstDash val="solid"/>
              <a:round/>
              <a:headEnd type="none" w="med" len="med"/>
              <a:tailEnd type="none" w="med" len="med"/>
            </a:ln>
          </p:spPr>
        </p:sp>
        <p:sp>
          <p:nvSpPr>
            <p:cNvPr id="718" name="Google Shape;718;p27"/>
            <p:cNvSpPr/>
            <p:nvPr/>
          </p:nvSpPr>
          <p:spPr>
            <a:xfrm>
              <a:off x="7752400" y="3132600"/>
              <a:ext cx="346150" cy="434600"/>
            </a:xfrm>
            <a:custGeom>
              <a:avLst/>
              <a:gdLst/>
              <a:ahLst/>
              <a:cxnLst/>
              <a:rect l="l" t="t" r="r" b="b"/>
              <a:pathLst>
                <a:path w="13846" h="17384" extrusionOk="0">
                  <a:moveTo>
                    <a:pt x="0" y="17384"/>
                  </a:moveTo>
                  <a:cubicBezTo>
                    <a:pt x="1561" y="14266"/>
                    <a:pt x="813" y="9404"/>
                    <a:pt x="3825" y="7649"/>
                  </a:cubicBezTo>
                  <a:cubicBezTo>
                    <a:pt x="6452" y="6118"/>
                    <a:pt x="10432" y="8256"/>
                    <a:pt x="12865" y="6432"/>
                  </a:cubicBezTo>
                  <a:cubicBezTo>
                    <a:pt x="14596" y="5134"/>
                    <a:pt x="13756" y="1257"/>
                    <a:pt x="11995" y="0"/>
                  </a:cubicBezTo>
                </a:path>
              </a:pathLst>
            </a:custGeom>
            <a:noFill/>
            <a:ln w="38100" cap="flat" cmpd="sng">
              <a:solidFill>
                <a:srgbClr val="F1C232"/>
              </a:solidFill>
              <a:prstDash val="solid"/>
              <a:round/>
              <a:headEnd type="none" w="med" len="med"/>
              <a:tailEnd type="none" w="med" len="med"/>
            </a:ln>
          </p:spPr>
        </p:sp>
      </p:grpSp>
      <p:sp>
        <p:nvSpPr>
          <p:cNvPr id="719" name="Google Shape;719;p27"/>
          <p:cNvSpPr/>
          <p:nvPr/>
        </p:nvSpPr>
        <p:spPr>
          <a:xfrm rot="-6485262" flipH="1">
            <a:off x="5341176"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720" name="Google Shape;720;p27"/>
          <p:cNvSpPr/>
          <p:nvPr/>
        </p:nvSpPr>
        <p:spPr>
          <a:xfrm rot="6485262">
            <a:off x="3763714"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721" name="Google Shape;721;p27"/>
          <p:cNvSpPr/>
          <p:nvPr/>
        </p:nvSpPr>
        <p:spPr>
          <a:xfrm rot="10800000">
            <a:off x="4552435" y="2168746"/>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722" name="Google Shape;722;p27"/>
          <p:cNvSpPr/>
          <p:nvPr/>
        </p:nvSpPr>
        <p:spPr>
          <a:xfrm rot="2167448">
            <a:off x="4087053"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723" name="Google Shape;723;p27"/>
          <p:cNvSpPr/>
          <p:nvPr/>
        </p:nvSpPr>
        <p:spPr>
          <a:xfrm rot="-2167448" flipH="1">
            <a:off x="5017778"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724" name="Google Shape;724;p27"/>
          <p:cNvSpPr/>
          <p:nvPr/>
        </p:nvSpPr>
        <p:spPr>
          <a:xfrm>
            <a:off x="4416763" y="3146300"/>
            <a:ext cx="420063" cy="289163"/>
          </a:xfrm>
          <a:custGeom>
            <a:avLst/>
            <a:gdLst/>
            <a:ahLst/>
            <a:cxnLst/>
            <a:rect l="l" t="t" r="r" b="b"/>
            <a:pathLst>
              <a:path w="33605" h="23133" extrusionOk="0">
                <a:moveTo>
                  <a:pt x="0" y="23133"/>
                </a:moveTo>
                <a:cubicBezTo>
                  <a:pt x="2435" y="19075"/>
                  <a:pt x="4127" y="14465"/>
                  <a:pt x="7305" y="10958"/>
                </a:cubicBezTo>
                <a:cubicBezTo>
                  <a:pt x="13683" y="3921"/>
                  <a:pt x="24540" y="2832"/>
                  <a:pt x="33605" y="0"/>
                </a:cubicBezTo>
              </a:path>
            </a:pathLst>
          </a:custGeom>
          <a:noFill/>
          <a:ln w="38100" cap="flat" cmpd="sng">
            <a:solidFill>
              <a:srgbClr val="F1C232"/>
            </a:solidFill>
            <a:prstDash val="solid"/>
            <a:round/>
            <a:headEnd type="none" w="med" len="med"/>
            <a:tailEnd type="none" w="med" len="med"/>
          </a:ln>
        </p:spPr>
      </p:sp>
      <p:sp>
        <p:nvSpPr>
          <p:cNvPr id="725" name="Google Shape;725;p27"/>
          <p:cNvSpPr/>
          <p:nvPr/>
        </p:nvSpPr>
        <p:spPr>
          <a:xfrm>
            <a:off x="4413713" y="2966700"/>
            <a:ext cx="273963" cy="413975"/>
          </a:xfrm>
          <a:custGeom>
            <a:avLst/>
            <a:gdLst/>
            <a:ahLst/>
            <a:cxnLst/>
            <a:rect l="l" t="t" r="r" b="b"/>
            <a:pathLst>
              <a:path w="21917" h="33118" extrusionOk="0">
                <a:moveTo>
                  <a:pt x="0" y="0"/>
                </a:moveTo>
                <a:cubicBezTo>
                  <a:pt x="2209" y="4416"/>
                  <a:pt x="6510" y="8222"/>
                  <a:pt x="6819" y="13150"/>
                </a:cubicBezTo>
                <a:cubicBezTo>
                  <a:pt x="7095" y="17561"/>
                  <a:pt x="2967" y="22436"/>
                  <a:pt x="5114" y="26300"/>
                </a:cubicBezTo>
                <a:cubicBezTo>
                  <a:pt x="8050" y="31584"/>
                  <a:pt x="16181" y="31211"/>
                  <a:pt x="21917" y="33118"/>
                </a:cubicBezTo>
              </a:path>
            </a:pathLst>
          </a:custGeom>
          <a:noFill/>
          <a:ln w="38100" cap="flat" cmpd="sng">
            <a:solidFill>
              <a:srgbClr val="F1C232"/>
            </a:solidFill>
            <a:prstDash val="solid"/>
            <a:round/>
            <a:headEnd type="none" w="med" len="med"/>
            <a:tailEnd type="none" w="med" len="med"/>
          </a:ln>
        </p:spPr>
      </p:sp>
      <p:sp>
        <p:nvSpPr>
          <p:cNvPr id="726" name="Google Shape;726;p27"/>
          <p:cNvSpPr/>
          <p:nvPr/>
        </p:nvSpPr>
        <p:spPr>
          <a:xfrm>
            <a:off x="4363841" y="3099836"/>
            <a:ext cx="427325" cy="335625"/>
          </a:xfrm>
          <a:custGeom>
            <a:avLst/>
            <a:gdLst/>
            <a:ahLst/>
            <a:cxnLst/>
            <a:rect l="l" t="t" r="r" b="b"/>
            <a:pathLst>
              <a:path w="34186" h="26850" extrusionOk="0">
                <a:moveTo>
                  <a:pt x="34186" y="7369"/>
                </a:moveTo>
                <a:cubicBezTo>
                  <a:pt x="26609" y="7875"/>
                  <a:pt x="18987" y="9107"/>
                  <a:pt x="11783" y="11509"/>
                </a:cubicBezTo>
                <a:cubicBezTo>
                  <a:pt x="8958" y="12451"/>
                  <a:pt x="6190" y="14721"/>
                  <a:pt x="3260" y="14188"/>
                </a:cubicBezTo>
                <a:cubicBezTo>
                  <a:pt x="100" y="13613"/>
                  <a:pt x="-612" y="7915"/>
                  <a:pt x="581" y="4934"/>
                </a:cubicBezTo>
                <a:cubicBezTo>
                  <a:pt x="2999" y="-1107"/>
                  <a:pt x="16358" y="-1632"/>
                  <a:pt x="20062" y="3717"/>
                </a:cubicBezTo>
                <a:cubicBezTo>
                  <a:pt x="23302" y="8396"/>
                  <a:pt x="18572" y="15095"/>
                  <a:pt x="19088" y="20763"/>
                </a:cubicBezTo>
                <a:cubicBezTo>
                  <a:pt x="19370" y="23858"/>
                  <a:pt x="23042" y="26850"/>
                  <a:pt x="26150" y="26850"/>
                </a:cubicBezTo>
              </a:path>
            </a:pathLst>
          </a:custGeom>
          <a:noFill/>
          <a:ln w="38100" cap="flat" cmpd="sng">
            <a:solidFill>
              <a:srgbClr val="F1C232"/>
            </a:solidFill>
            <a:prstDash val="solid"/>
            <a:round/>
            <a:headEnd type="none" w="med" len="med"/>
            <a:tailEnd type="none" w="med" len="med"/>
          </a:ln>
        </p:spPr>
      </p:sp>
      <p:sp>
        <p:nvSpPr>
          <p:cNvPr id="727" name="Google Shape;727;p27"/>
          <p:cNvSpPr/>
          <p:nvPr/>
        </p:nvSpPr>
        <p:spPr>
          <a:xfrm>
            <a:off x="4365013" y="2942350"/>
            <a:ext cx="453675" cy="414725"/>
          </a:xfrm>
          <a:custGeom>
            <a:avLst/>
            <a:gdLst/>
            <a:ahLst/>
            <a:cxnLst/>
            <a:rect l="l" t="t" r="r" b="b"/>
            <a:pathLst>
              <a:path w="36294" h="33178" extrusionOk="0">
                <a:moveTo>
                  <a:pt x="16072" y="0"/>
                </a:moveTo>
                <a:cubicBezTo>
                  <a:pt x="18478" y="5415"/>
                  <a:pt x="25652" y="7856"/>
                  <a:pt x="27761" y="13393"/>
                </a:cubicBezTo>
                <a:cubicBezTo>
                  <a:pt x="29698" y="18478"/>
                  <a:pt x="25844" y="24459"/>
                  <a:pt x="27274" y="29709"/>
                </a:cubicBezTo>
                <a:cubicBezTo>
                  <a:pt x="27905" y="32023"/>
                  <a:pt x="32028" y="34192"/>
                  <a:pt x="33849" y="32631"/>
                </a:cubicBezTo>
                <a:cubicBezTo>
                  <a:pt x="36931" y="29989"/>
                  <a:pt x="37353" y="22015"/>
                  <a:pt x="33605" y="20455"/>
                </a:cubicBezTo>
                <a:cubicBezTo>
                  <a:pt x="25042" y="16890"/>
                  <a:pt x="14673" y="21082"/>
                  <a:pt x="6088" y="24595"/>
                </a:cubicBezTo>
                <a:cubicBezTo>
                  <a:pt x="3268" y="25749"/>
                  <a:pt x="2891" y="30452"/>
                  <a:pt x="0" y="31413"/>
                </a:cubicBezTo>
              </a:path>
            </a:pathLst>
          </a:custGeom>
          <a:noFill/>
          <a:ln w="38100" cap="flat" cmpd="sng">
            <a:solidFill>
              <a:srgbClr val="F1C232"/>
            </a:solidFill>
            <a:prstDash val="solid"/>
            <a:round/>
            <a:headEnd type="none" w="med" len="med"/>
            <a:tailEnd type="none" w="med" len="med"/>
          </a:ln>
        </p:spPr>
      </p:sp>
      <p:sp>
        <p:nvSpPr>
          <p:cNvPr id="728" name="Google Shape;728;p27"/>
          <p:cNvSpPr/>
          <p:nvPr/>
        </p:nvSpPr>
        <p:spPr>
          <a:xfrm>
            <a:off x="4340663" y="2972714"/>
            <a:ext cx="441350" cy="510425"/>
          </a:xfrm>
          <a:custGeom>
            <a:avLst/>
            <a:gdLst/>
            <a:ahLst/>
            <a:cxnLst/>
            <a:rect l="l" t="t" r="r" b="b"/>
            <a:pathLst>
              <a:path w="35308" h="40834" extrusionOk="0">
                <a:moveTo>
                  <a:pt x="0" y="21923"/>
                </a:moveTo>
                <a:cubicBezTo>
                  <a:pt x="4868" y="17746"/>
                  <a:pt x="16935" y="15448"/>
                  <a:pt x="19238" y="21435"/>
                </a:cubicBezTo>
                <a:cubicBezTo>
                  <a:pt x="21093" y="26256"/>
                  <a:pt x="14339" y="32377"/>
                  <a:pt x="17046" y="36777"/>
                </a:cubicBezTo>
                <a:cubicBezTo>
                  <a:pt x="19515" y="40790"/>
                  <a:pt x="26930" y="41953"/>
                  <a:pt x="30926" y="39456"/>
                </a:cubicBezTo>
                <a:cubicBezTo>
                  <a:pt x="37891" y="35105"/>
                  <a:pt x="35821" y="20062"/>
                  <a:pt x="29465" y="14861"/>
                </a:cubicBezTo>
                <a:cubicBezTo>
                  <a:pt x="22888" y="9480"/>
                  <a:pt x="7178" y="12602"/>
                  <a:pt x="6331" y="4146"/>
                </a:cubicBezTo>
                <a:cubicBezTo>
                  <a:pt x="5675" y="-2396"/>
                  <a:pt x="21107" y="-183"/>
                  <a:pt x="26056" y="4146"/>
                </a:cubicBezTo>
                <a:cubicBezTo>
                  <a:pt x="35321" y="12251"/>
                  <a:pt x="17470" y="28073"/>
                  <a:pt x="8766" y="36777"/>
                </a:cubicBezTo>
              </a:path>
            </a:pathLst>
          </a:custGeom>
          <a:noFill/>
          <a:ln w="38100" cap="flat" cmpd="sng">
            <a:solidFill>
              <a:srgbClr val="F1C232"/>
            </a:solidFill>
            <a:prstDash val="solid"/>
            <a:round/>
            <a:headEnd type="none" w="med" len="med"/>
            <a:tailEnd type="none" w="med" len="med"/>
          </a:ln>
        </p:spPr>
      </p:sp>
      <p:sp>
        <p:nvSpPr>
          <p:cNvPr id="729" name="Google Shape;729;p27"/>
          <p:cNvSpPr/>
          <p:nvPr/>
        </p:nvSpPr>
        <p:spPr>
          <a:xfrm>
            <a:off x="4336629" y="2954525"/>
            <a:ext cx="448450" cy="512988"/>
          </a:xfrm>
          <a:custGeom>
            <a:avLst/>
            <a:gdLst/>
            <a:ahLst/>
            <a:cxnLst/>
            <a:rect l="l" t="t" r="r" b="b"/>
            <a:pathLst>
              <a:path w="35876" h="41039" extrusionOk="0">
                <a:moveTo>
                  <a:pt x="35876" y="12176"/>
                </a:moveTo>
                <a:cubicBezTo>
                  <a:pt x="33278" y="13474"/>
                  <a:pt x="30137" y="14019"/>
                  <a:pt x="28084" y="16072"/>
                </a:cubicBezTo>
                <a:cubicBezTo>
                  <a:pt x="24741" y="19415"/>
                  <a:pt x="24638" y="25253"/>
                  <a:pt x="25161" y="29952"/>
                </a:cubicBezTo>
                <a:cubicBezTo>
                  <a:pt x="25573" y="33653"/>
                  <a:pt x="31860" y="39489"/>
                  <a:pt x="28327" y="40667"/>
                </a:cubicBezTo>
                <a:cubicBezTo>
                  <a:pt x="23195" y="42378"/>
                  <a:pt x="17049" y="37559"/>
                  <a:pt x="13960" y="33118"/>
                </a:cubicBezTo>
                <a:cubicBezTo>
                  <a:pt x="10617" y="28313"/>
                  <a:pt x="9699" y="20564"/>
                  <a:pt x="4219" y="18507"/>
                </a:cubicBezTo>
                <a:cubicBezTo>
                  <a:pt x="680" y="17179"/>
                  <a:pt x="-1376" y="26792"/>
                  <a:pt x="1297" y="29465"/>
                </a:cubicBezTo>
                <a:cubicBezTo>
                  <a:pt x="5492" y="33660"/>
                  <a:pt x="15463" y="29538"/>
                  <a:pt x="18343" y="24352"/>
                </a:cubicBezTo>
                <a:cubicBezTo>
                  <a:pt x="21498" y="18671"/>
                  <a:pt x="15329" y="10954"/>
                  <a:pt x="17612" y="4870"/>
                </a:cubicBezTo>
                <a:cubicBezTo>
                  <a:pt x="18786" y="1740"/>
                  <a:pt x="23036" y="0"/>
                  <a:pt x="26379" y="0"/>
                </a:cubicBezTo>
              </a:path>
            </a:pathLst>
          </a:custGeom>
          <a:noFill/>
          <a:ln w="38100" cap="flat" cmpd="sng">
            <a:solidFill>
              <a:srgbClr val="F1C232"/>
            </a:solidFill>
            <a:prstDash val="solid"/>
            <a:round/>
            <a:headEnd type="none" w="med" len="med"/>
            <a:tailEnd type="none" w="med" len="med"/>
          </a:ln>
        </p:spPr>
      </p:sp>
      <p:sp>
        <p:nvSpPr>
          <p:cNvPr id="730" name="Google Shape;730;p27"/>
          <p:cNvSpPr/>
          <p:nvPr/>
        </p:nvSpPr>
        <p:spPr>
          <a:xfrm>
            <a:off x="883563" y="1766900"/>
            <a:ext cx="695700" cy="695700"/>
          </a:xfrm>
          <a:prstGeom prst="ellipse">
            <a:avLst/>
          </a:prstGeom>
          <a:solidFill>
            <a:srgbClr val="FFFFFF"/>
          </a:solidFill>
          <a:ln>
            <a:noFill/>
          </a:ln>
        </p:spPr>
        <p:txBody>
          <a:bodyPr spcFirstLastPara="1" wrap="square" lIns="45713" tIns="45713" rIns="45713" bIns="45713" anchor="ctr" anchorCtr="0">
            <a:noAutofit/>
          </a:bodyPr>
          <a:lstStyle/>
          <a:p>
            <a:pPr algn="ctr"/>
            <a:r>
              <a:rPr lang="en" sz="3000"/>
              <a:t>1</a:t>
            </a:r>
            <a:endParaRPr sz="3000"/>
          </a:p>
        </p:txBody>
      </p:sp>
      <p:sp>
        <p:nvSpPr>
          <p:cNvPr id="731" name="Google Shape;731;p27"/>
          <p:cNvSpPr txBox="1"/>
          <p:nvPr/>
        </p:nvSpPr>
        <p:spPr>
          <a:xfrm>
            <a:off x="299538" y="2545738"/>
            <a:ext cx="1863750" cy="553984"/>
          </a:xfrm>
          <a:prstGeom prst="rect">
            <a:avLst/>
          </a:prstGeom>
          <a:noFill/>
          <a:ln>
            <a:noFill/>
          </a:ln>
        </p:spPr>
        <p:txBody>
          <a:bodyPr spcFirstLastPara="1" wrap="square" lIns="45713" tIns="45713" rIns="45713" bIns="45713" anchor="t" anchorCtr="0">
            <a:spAutoFit/>
          </a:bodyPr>
          <a:lstStyle/>
          <a:p>
            <a:pPr algn="ctr"/>
            <a:r>
              <a:rPr lang="en" sz="1500">
                <a:solidFill>
                  <a:srgbClr val="FFFFFF"/>
                </a:solidFill>
              </a:rPr>
              <a:t>Mutex</a:t>
            </a:r>
            <a:endParaRPr sz="1500">
              <a:solidFill>
                <a:srgbClr val="FFFFFF"/>
              </a:solidFill>
            </a:endParaRPr>
          </a:p>
          <a:p>
            <a:pPr algn="ctr"/>
            <a:r>
              <a:rPr lang="en" sz="1500">
                <a:solidFill>
                  <a:srgbClr val="FFFFFF"/>
                </a:solidFill>
              </a:rPr>
              <a:t>(arbitrator/waiter)</a:t>
            </a:r>
            <a:endParaRPr sz="150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0"/>
                                        </p:tgtEl>
                                        <p:attrNameLst>
                                          <p:attrName>style.visibility</p:attrName>
                                        </p:attrNameLst>
                                      </p:cBhvr>
                                      <p:to>
                                        <p:strVal val="visible"/>
                                      </p:to>
                                    </p:set>
                                    <p:animEffect transition="in" filter="fade">
                                      <p:cBhvr>
                                        <p:cTn id="7" dur="1000"/>
                                        <p:tgtEl>
                                          <p:spTgt spid="730"/>
                                        </p:tgtEl>
                                      </p:cBhvr>
                                    </p:animEffect>
                                  </p:childTnLst>
                                </p:cTn>
                              </p:par>
                              <p:par>
                                <p:cTn id="8" presetID="10" presetClass="entr" presetSubtype="0" fill="hold" nodeType="withEffect">
                                  <p:stCondLst>
                                    <p:cond delay="0"/>
                                  </p:stCondLst>
                                  <p:childTnLst>
                                    <p:set>
                                      <p:cBhvr>
                                        <p:cTn id="9" dur="1" fill="hold">
                                          <p:stCondLst>
                                            <p:cond delay="0"/>
                                          </p:stCondLst>
                                        </p:cTn>
                                        <p:tgtEl>
                                          <p:spTgt spid="731"/>
                                        </p:tgtEl>
                                        <p:attrNameLst>
                                          <p:attrName>style.visibility</p:attrName>
                                        </p:attrNameLst>
                                      </p:cBhvr>
                                      <p:to>
                                        <p:strVal val="visible"/>
                                      </p:to>
                                    </p:set>
                                    <p:animEffect transition="in" filter="fade">
                                      <p:cBhvr>
                                        <p:cTn id="10" dur="1000"/>
                                        <p:tgtEl>
                                          <p:spTgt spid="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28"/>
          <p:cNvSpPr/>
          <p:nvPr/>
        </p:nvSpPr>
        <p:spPr>
          <a:xfrm>
            <a:off x="3389862" y="2035757"/>
            <a:ext cx="2364300" cy="2364300"/>
          </a:xfrm>
          <a:prstGeom prst="ellipse">
            <a:avLst/>
          </a:prstGeom>
          <a:solidFill>
            <a:srgbClr val="783F04"/>
          </a:solidFill>
          <a:ln>
            <a:noFill/>
          </a:ln>
        </p:spPr>
        <p:txBody>
          <a:bodyPr spcFirstLastPara="1" wrap="square" lIns="45713" tIns="45713" rIns="45713" bIns="45713" anchor="ctr" anchorCtr="0">
            <a:noAutofit/>
          </a:bodyPr>
          <a:lstStyle/>
          <a:p>
            <a:endParaRPr sz="900"/>
          </a:p>
        </p:txBody>
      </p:sp>
      <p:pic>
        <p:nvPicPr>
          <p:cNvPr id="737" name="Google Shape;737;p28"/>
          <p:cNvPicPr preferRelativeResize="0"/>
          <p:nvPr/>
        </p:nvPicPr>
        <p:blipFill>
          <a:blip r:embed="rId3">
            <a:alphaModFix/>
          </a:blip>
          <a:stretch>
            <a:fillRect/>
          </a:stretch>
        </p:blipFill>
        <p:spPr>
          <a:xfrm>
            <a:off x="5100038" y="1243400"/>
            <a:ext cx="1219200" cy="1219200"/>
          </a:xfrm>
          <a:prstGeom prst="rect">
            <a:avLst/>
          </a:prstGeom>
          <a:noFill/>
          <a:ln>
            <a:noFill/>
          </a:ln>
        </p:spPr>
      </p:pic>
      <p:pic>
        <p:nvPicPr>
          <p:cNvPr id="738" name="Google Shape;738;p28"/>
          <p:cNvPicPr preferRelativeResize="0"/>
          <p:nvPr/>
        </p:nvPicPr>
        <p:blipFill>
          <a:blip r:embed="rId4">
            <a:alphaModFix/>
          </a:blip>
          <a:stretch>
            <a:fillRect/>
          </a:stretch>
        </p:blipFill>
        <p:spPr>
          <a:xfrm>
            <a:off x="3962394" y="4395400"/>
            <a:ext cx="1219200" cy="1219200"/>
          </a:xfrm>
          <a:prstGeom prst="rect">
            <a:avLst/>
          </a:prstGeom>
          <a:noFill/>
          <a:ln>
            <a:noFill/>
          </a:ln>
        </p:spPr>
      </p:pic>
      <p:pic>
        <p:nvPicPr>
          <p:cNvPr id="739" name="Google Shape;739;p28"/>
          <p:cNvPicPr preferRelativeResize="0"/>
          <p:nvPr/>
        </p:nvPicPr>
        <p:blipFill>
          <a:blip r:embed="rId5">
            <a:alphaModFix/>
          </a:blip>
          <a:stretch>
            <a:fillRect/>
          </a:stretch>
        </p:blipFill>
        <p:spPr>
          <a:xfrm>
            <a:off x="2292325" y="3217875"/>
            <a:ext cx="1219200" cy="1219200"/>
          </a:xfrm>
          <a:prstGeom prst="rect">
            <a:avLst/>
          </a:prstGeom>
          <a:noFill/>
          <a:ln>
            <a:noFill/>
          </a:ln>
        </p:spPr>
      </p:pic>
      <p:pic>
        <p:nvPicPr>
          <p:cNvPr id="740" name="Google Shape;740;p28"/>
          <p:cNvPicPr preferRelativeResize="0"/>
          <p:nvPr/>
        </p:nvPicPr>
        <p:blipFill>
          <a:blip r:embed="rId6">
            <a:alphaModFix/>
          </a:blip>
          <a:stretch>
            <a:fillRect/>
          </a:stretch>
        </p:blipFill>
        <p:spPr>
          <a:xfrm>
            <a:off x="5632475" y="3217875"/>
            <a:ext cx="1219200" cy="1219200"/>
          </a:xfrm>
          <a:prstGeom prst="rect">
            <a:avLst/>
          </a:prstGeom>
          <a:noFill/>
          <a:ln>
            <a:noFill/>
          </a:ln>
        </p:spPr>
      </p:pic>
      <p:pic>
        <p:nvPicPr>
          <p:cNvPr id="741" name="Google Shape;741;p28"/>
          <p:cNvPicPr preferRelativeResize="0"/>
          <p:nvPr/>
        </p:nvPicPr>
        <p:blipFill>
          <a:blip r:embed="rId7">
            <a:alphaModFix/>
          </a:blip>
          <a:stretch>
            <a:fillRect/>
          </a:stretch>
        </p:blipFill>
        <p:spPr>
          <a:xfrm>
            <a:off x="2824757" y="1243400"/>
            <a:ext cx="1219200" cy="1219200"/>
          </a:xfrm>
          <a:prstGeom prst="rect">
            <a:avLst/>
          </a:prstGeom>
          <a:noFill/>
          <a:ln>
            <a:noFill/>
          </a:ln>
        </p:spPr>
      </p:pic>
      <p:grpSp>
        <p:nvGrpSpPr>
          <p:cNvPr id="742" name="Google Shape;742;p28"/>
          <p:cNvGrpSpPr/>
          <p:nvPr/>
        </p:nvGrpSpPr>
        <p:grpSpPr>
          <a:xfrm>
            <a:off x="4157195" y="2803111"/>
            <a:ext cx="829600" cy="829600"/>
            <a:chOff x="7509900" y="2868375"/>
            <a:chExt cx="903900" cy="903900"/>
          </a:xfrm>
        </p:grpSpPr>
        <p:sp>
          <p:nvSpPr>
            <p:cNvPr id="743" name="Google Shape;743;p28"/>
            <p:cNvSpPr/>
            <p:nvPr/>
          </p:nvSpPr>
          <p:spPr>
            <a:xfrm>
              <a:off x="7509900" y="2868375"/>
              <a:ext cx="903900" cy="903900"/>
            </a:xfrm>
            <a:prstGeom prst="ellipse">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44" name="Google Shape;744;p28"/>
            <p:cNvSpPr/>
            <p:nvPr/>
          </p:nvSpPr>
          <p:spPr>
            <a:xfrm>
              <a:off x="7726325" y="3187287"/>
              <a:ext cx="281375" cy="421875"/>
            </a:xfrm>
            <a:custGeom>
              <a:avLst/>
              <a:gdLst/>
              <a:ahLst/>
              <a:cxnLst/>
              <a:rect l="l" t="t" r="r" b="b"/>
              <a:pathLst>
                <a:path w="11255" h="16875" extrusionOk="0">
                  <a:moveTo>
                    <a:pt x="0" y="1985"/>
                  </a:moveTo>
                  <a:cubicBezTo>
                    <a:pt x="3409" y="525"/>
                    <a:pt x="10171" y="-1599"/>
                    <a:pt x="11126" y="1985"/>
                  </a:cubicBezTo>
                  <a:cubicBezTo>
                    <a:pt x="11977" y="5177"/>
                    <a:pt x="7498" y="7599"/>
                    <a:pt x="5042" y="9808"/>
                  </a:cubicBezTo>
                  <a:cubicBezTo>
                    <a:pt x="3517" y="11179"/>
                    <a:pt x="7922" y="12750"/>
                    <a:pt x="9562" y="13980"/>
                  </a:cubicBezTo>
                  <a:cubicBezTo>
                    <a:pt x="10372" y="14587"/>
                    <a:pt x="11636" y="16225"/>
                    <a:pt x="10778" y="16762"/>
                  </a:cubicBezTo>
                  <a:cubicBezTo>
                    <a:pt x="9613" y="17490"/>
                    <a:pt x="7707" y="13849"/>
                    <a:pt x="8866" y="13111"/>
                  </a:cubicBezTo>
                </a:path>
              </a:pathLst>
            </a:custGeom>
            <a:noFill/>
            <a:ln w="38100" cap="flat" cmpd="sng">
              <a:solidFill>
                <a:srgbClr val="F1C232"/>
              </a:solidFill>
              <a:prstDash val="solid"/>
              <a:round/>
              <a:headEnd type="none" w="med" len="med"/>
              <a:tailEnd type="none" w="med" len="med"/>
            </a:ln>
          </p:spPr>
        </p:sp>
        <p:sp>
          <p:nvSpPr>
            <p:cNvPr id="745" name="Google Shape;745;p28"/>
            <p:cNvSpPr/>
            <p:nvPr/>
          </p:nvSpPr>
          <p:spPr>
            <a:xfrm>
              <a:off x="7829049" y="3032650"/>
              <a:ext cx="272850" cy="456325"/>
            </a:xfrm>
            <a:custGeom>
              <a:avLst/>
              <a:gdLst/>
              <a:ahLst/>
              <a:cxnLst/>
              <a:rect l="l" t="t" r="r" b="b"/>
              <a:pathLst>
                <a:path w="10914" h="18253" extrusionOk="0">
                  <a:moveTo>
                    <a:pt x="4236" y="0"/>
                  </a:moveTo>
                  <a:cubicBezTo>
                    <a:pt x="1862" y="3263"/>
                    <a:pt x="-1710" y="8598"/>
                    <a:pt x="933" y="11647"/>
                  </a:cubicBezTo>
                  <a:cubicBezTo>
                    <a:pt x="3470" y="14574"/>
                    <a:pt x="12913" y="15228"/>
                    <a:pt x="10494" y="18253"/>
                  </a:cubicBezTo>
                </a:path>
              </a:pathLst>
            </a:custGeom>
            <a:noFill/>
            <a:ln w="38100" cap="flat" cmpd="sng">
              <a:solidFill>
                <a:srgbClr val="F1C232"/>
              </a:solidFill>
              <a:prstDash val="solid"/>
              <a:round/>
              <a:headEnd type="none" w="med" len="med"/>
              <a:tailEnd type="none" w="med" len="med"/>
            </a:ln>
          </p:spPr>
        </p:sp>
        <p:sp>
          <p:nvSpPr>
            <p:cNvPr id="746" name="Google Shape;746;p28"/>
            <p:cNvSpPr/>
            <p:nvPr/>
          </p:nvSpPr>
          <p:spPr>
            <a:xfrm>
              <a:off x="7938508" y="3145650"/>
              <a:ext cx="222425" cy="356375"/>
            </a:xfrm>
            <a:custGeom>
              <a:avLst/>
              <a:gdLst/>
              <a:ahLst/>
              <a:cxnLst/>
              <a:rect l="l" t="t" r="r" b="b"/>
              <a:pathLst>
                <a:path w="8897" h="14255" extrusionOk="0">
                  <a:moveTo>
                    <a:pt x="8897" y="0"/>
                  </a:moveTo>
                  <a:cubicBezTo>
                    <a:pt x="5700" y="999"/>
                    <a:pt x="1621" y="2006"/>
                    <a:pt x="205" y="5041"/>
                  </a:cubicBezTo>
                  <a:cubicBezTo>
                    <a:pt x="-1089" y="7814"/>
                    <a:pt x="5221" y="8570"/>
                    <a:pt x="7507" y="10604"/>
                  </a:cubicBezTo>
                  <a:cubicBezTo>
                    <a:pt x="8600" y="11576"/>
                    <a:pt x="6516" y="14014"/>
                    <a:pt x="5073" y="14255"/>
                  </a:cubicBezTo>
                </a:path>
              </a:pathLst>
            </a:custGeom>
            <a:noFill/>
            <a:ln w="38100" cap="flat" cmpd="sng">
              <a:solidFill>
                <a:srgbClr val="F1C232"/>
              </a:solidFill>
              <a:prstDash val="solid"/>
              <a:round/>
              <a:headEnd type="none" w="med" len="med"/>
              <a:tailEnd type="none" w="med" len="med"/>
            </a:ln>
          </p:spPr>
        </p:sp>
        <p:sp>
          <p:nvSpPr>
            <p:cNvPr id="747" name="Google Shape;747;p28"/>
            <p:cNvSpPr/>
            <p:nvPr/>
          </p:nvSpPr>
          <p:spPr>
            <a:xfrm>
              <a:off x="7743725" y="3093500"/>
              <a:ext cx="518875" cy="321600"/>
            </a:xfrm>
            <a:custGeom>
              <a:avLst/>
              <a:gdLst/>
              <a:ahLst/>
              <a:cxnLst/>
              <a:rect l="l" t="t" r="r" b="b"/>
              <a:pathLst>
                <a:path w="20755" h="12864" extrusionOk="0">
                  <a:moveTo>
                    <a:pt x="0" y="0"/>
                  </a:moveTo>
                  <a:cubicBezTo>
                    <a:pt x="5394" y="897"/>
                    <a:pt x="12760" y="-760"/>
                    <a:pt x="15993" y="3650"/>
                  </a:cubicBezTo>
                  <a:cubicBezTo>
                    <a:pt x="17475" y="5672"/>
                    <a:pt x="22372" y="8719"/>
                    <a:pt x="20165" y="9908"/>
                  </a:cubicBezTo>
                  <a:cubicBezTo>
                    <a:pt x="14587" y="12912"/>
                    <a:pt x="1390" y="6529"/>
                    <a:pt x="1390" y="12864"/>
                  </a:cubicBezTo>
                </a:path>
              </a:pathLst>
            </a:custGeom>
            <a:noFill/>
            <a:ln w="38100" cap="flat" cmpd="sng">
              <a:solidFill>
                <a:srgbClr val="F1C232"/>
              </a:solidFill>
              <a:prstDash val="solid"/>
              <a:round/>
              <a:headEnd type="none" w="med" len="med"/>
              <a:tailEnd type="none" w="med" len="med"/>
            </a:ln>
          </p:spPr>
        </p:sp>
        <p:sp>
          <p:nvSpPr>
            <p:cNvPr id="748" name="Google Shape;748;p28"/>
            <p:cNvSpPr/>
            <p:nvPr/>
          </p:nvSpPr>
          <p:spPr>
            <a:xfrm>
              <a:off x="7662050" y="3010925"/>
              <a:ext cx="411975" cy="478050"/>
            </a:xfrm>
            <a:custGeom>
              <a:avLst/>
              <a:gdLst/>
              <a:ahLst/>
              <a:cxnLst/>
              <a:rect l="l" t="t" r="r" b="b"/>
              <a:pathLst>
                <a:path w="16479" h="19122" extrusionOk="0">
                  <a:moveTo>
                    <a:pt x="16479" y="0"/>
                  </a:moveTo>
                  <a:cubicBezTo>
                    <a:pt x="9984" y="1946"/>
                    <a:pt x="3470" y="6343"/>
                    <a:pt x="311" y="12342"/>
                  </a:cubicBezTo>
                  <a:cubicBezTo>
                    <a:pt x="-872" y="14589"/>
                    <a:pt x="1757" y="17597"/>
                    <a:pt x="3788" y="19122"/>
                  </a:cubicBezTo>
                </a:path>
              </a:pathLst>
            </a:custGeom>
            <a:noFill/>
            <a:ln w="38100" cap="flat" cmpd="sng">
              <a:solidFill>
                <a:srgbClr val="F1C232"/>
              </a:solidFill>
              <a:prstDash val="solid"/>
              <a:round/>
              <a:headEnd type="none" w="med" len="med"/>
              <a:tailEnd type="none" w="med" len="med"/>
            </a:ln>
          </p:spPr>
        </p:sp>
        <p:sp>
          <p:nvSpPr>
            <p:cNvPr id="749" name="Google Shape;749;p28"/>
            <p:cNvSpPr/>
            <p:nvPr/>
          </p:nvSpPr>
          <p:spPr>
            <a:xfrm>
              <a:off x="7817600" y="3015250"/>
              <a:ext cx="398400" cy="587225"/>
            </a:xfrm>
            <a:custGeom>
              <a:avLst/>
              <a:gdLst/>
              <a:ahLst/>
              <a:cxnLst/>
              <a:rect l="l" t="t" r="r" b="b"/>
              <a:pathLst>
                <a:path w="15936" h="23489" extrusionOk="0">
                  <a:moveTo>
                    <a:pt x="0" y="0"/>
                  </a:moveTo>
                  <a:cubicBezTo>
                    <a:pt x="0" y="8167"/>
                    <a:pt x="2230" y="20746"/>
                    <a:pt x="10257" y="22252"/>
                  </a:cubicBezTo>
                  <a:cubicBezTo>
                    <a:pt x="12203" y="22617"/>
                    <a:pt x="15960" y="18191"/>
                    <a:pt x="15819" y="20166"/>
                  </a:cubicBezTo>
                  <a:cubicBezTo>
                    <a:pt x="15703" y="21786"/>
                    <a:pt x="15565" y="21792"/>
                    <a:pt x="14950" y="23295"/>
                  </a:cubicBezTo>
                  <a:cubicBezTo>
                    <a:pt x="14596" y="24160"/>
                    <a:pt x="13200" y="21724"/>
                    <a:pt x="13559" y="20861"/>
                  </a:cubicBezTo>
                  <a:cubicBezTo>
                    <a:pt x="14532" y="18524"/>
                    <a:pt x="16694" y="15864"/>
                    <a:pt x="15646" y="13560"/>
                  </a:cubicBezTo>
                  <a:cubicBezTo>
                    <a:pt x="15040" y="12229"/>
                    <a:pt x="13029" y="12161"/>
                    <a:pt x="11995" y="11126"/>
                  </a:cubicBezTo>
                </a:path>
              </a:pathLst>
            </a:custGeom>
            <a:noFill/>
            <a:ln w="38100" cap="flat" cmpd="sng">
              <a:solidFill>
                <a:srgbClr val="F1C232"/>
              </a:solidFill>
              <a:prstDash val="solid"/>
              <a:round/>
              <a:headEnd type="none" w="med" len="med"/>
              <a:tailEnd type="none" w="med" len="med"/>
            </a:ln>
          </p:spPr>
        </p:sp>
        <p:sp>
          <p:nvSpPr>
            <p:cNvPr id="750" name="Google Shape;750;p28"/>
            <p:cNvSpPr/>
            <p:nvPr/>
          </p:nvSpPr>
          <p:spPr>
            <a:xfrm>
              <a:off x="7643750" y="3180400"/>
              <a:ext cx="425925" cy="446300"/>
            </a:xfrm>
            <a:custGeom>
              <a:avLst/>
              <a:gdLst/>
              <a:ahLst/>
              <a:cxnLst/>
              <a:rect l="l" t="t" r="r" b="b"/>
              <a:pathLst>
                <a:path w="17037" h="17852" extrusionOk="0">
                  <a:moveTo>
                    <a:pt x="0" y="0"/>
                  </a:moveTo>
                  <a:cubicBezTo>
                    <a:pt x="4491" y="817"/>
                    <a:pt x="6830" y="6955"/>
                    <a:pt x="7475" y="11474"/>
                  </a:cubicBezTo>
                  <a:cubicBezTo>
                    <a:pt x="7713" y="13138"/>
                    <a:pt x="6322" y="15483"/>
                    <a:pt x="7649" y="16515"/>
                  </a:cubicBezTo>
                  <a:cubicBezTo>
                    <a:pt x="10121" y="18437"/>
                    <a:pt x="14632" y="18173"/>
                    <a:pt x="17037" y="16167"/>
                  </a:cubicBezTo>
                </a:path>
              </a:pathLst>
            </a:custGeom>
            <a:noFill/>
            <a:ln w="38100" cap="flat" cmpd="sng">
              <a:solidFill>
                <a:srgbClr val="F1C232"/>
              </a:solidFill>
              <a:prstDash val="solid"/>
              <a:round/>
              <a:headEnd type="none" w="med" len="med"/>
              <a:tailEnd type="none" w="med" len="med"/>
            </a:ln>
          </p:spPr>
        </p:sp>
        <p:sp>
          <p:nvSpPr>
            <p:cNvPr id="751" name="Google Shape;751;p28"/>
            <p:cNvSpPr/>
            <p:nvPr/>
          </p:nvSpPr>
          <p:spPr>
            <a:xfrm>
              <a:off x="7836249" y="3076100"/>
              <a:ext cx="320325" cy="456325"/>
            </a:xfrm>
            <a:custGeom>
              <a:avLst/>
              <a:gdLst/>
              <a:ahLst/>
              <a:cxnLst/>
              <a:rect l="l" t="t" r="r" b="b"/>
              <a:pathLst>
                <a:path w="12813" h="18253" extrusionOk="0">
                  <a:moveTo>
                    <a:pt x="12813" y="0"/>
                  </a:moveTo>
                  <a:cubicBezTo>
                    <a:pt x="7242" y="2181"/>
                    <a:pt x="-861" y="6790"/>
                    <a:pt x="123" y="12691"/>
                  </a:cubicBezTo>
                  <a:cubicBezTo>
                    <a:pt x="746" y="16427"/>
                    <a:pt x="8084" y="15004"/>
                    <a:pt x="10032" y="18253"/>
                  </a:cubicBezTo>
                </a:path>
              </a:pathLst>
            </a:custGeom>
            <a:noFill/>
            <a:ln w="38100" cap="flat" cmpd="sng">
              <a:solidFill>
                <a:srgbClr val="F1C232"/>
              </a:solidFill>
              <a:prstDash val="solid"/>
              <a:round/>
              <a:headEnd type="none" w="med" len="med"/>
              <a:tailEnd type="none" w="med" len="med"/>
            </a:ln>
          </p:spPr>
        </p:sp>
        <p:sp>
          <p:nvSpPr>
            <p:cNvPr id="752" name="Google Shape;752;p28"/>
            <p:cNvSpPr/>
            <p:nvPr/>
          </p:nvSpPr>
          <p:spPr>
            <a:xfrm>
              <a:off x="7700250" y="3132600"/>
              <a:ext cx="429925" cy="169500"/>
            </a:xfrm>
            <a:custGeom>
              <a:avLst/>
              <a:gdLst/>
              <a:ahLst/>
              <a:cxnLst/>
              <a:rect l="l" t="t" r="r" b="b"/>
              <a:pathLst>
                <a:path w="17197" h="6780" extrusionOk="0">
                  <a:moveTo>
                    <a:pt x="0" y="0"/>
                  </a:moveTo>
                  <a:cubicBezTo>
                    <a:pt x="3914" y="4695"/>
                    <a:pt x="10925" y="6780"/>
                    <a:pt x="17037" y="6780"/>
                  </a:cubicBezTo>
                  <a:cubicBezTo>
                    <a:pt x="17504" y="6780"/>
                    <a:pt x="16799" y="5655"/>
                    <a:pt x="16341" y="5563"/>
                  </a:cubicBezTo>
                </a:path>
              </a:pathLst>
            </a:custGeom>
            <a:noFill/>
            <a:ln w="38100" cap="flat" cmpd="sng">
              <a:solidFill>
                <a:srgbClr val="F1C232"/>
              </a:solidFill>
              <a:prstDash val="solid"/>
              <a:round/>
              <a:headEnd type="none" w="med" len="med"/>
              <a:tailEnd type="none" w="med" len="med"/>
            </a:ln>
          </p:spPr>
        </p:sp>
        <p:sp>
          <p:nvSpPr>
            <p:cNvPr id="753" name="Google Shape;753;p28"/>
            <p:cNvSpPr/>
            <p:nvPr/>
          </p:nvSpPr>
          <p:spPr>
            <a:xfrm>
              <a:off x="7710998" y="3098181"/>
              <a:ext cx="558575" cy="472725"/>
            </a:xfrm>
            <a:custGeom>
              <a:avLst/>
              <a:gdLst/>
              <a:ahLst/>
              <a:cxnLst/>
              <a:rect l="l" t="t" r="r" b="b"/>
              <a:pathLst>
                <a:path w="22343" h="18909" extrusionOk="0">
                  <a:moveTo>
                    <a:pt x="22343" y="4332"/>
                  </a:moveTo>
                  <a:cubicBezTo>
                    <a:pt x="16437" y="38"/>
                    <a:pt x="3704" y="-2547"/>
                    <a:pt x="439" y="3985"/>
                  </a:cubicBezTo>
                  <a:cubicBezTo>
                    <a:pt x="-1508" y="7881"/>
                    <a:pt x="3832" y="12696"/>
                    <a:pt x="7567" y="14937"/>
                  </a:cubicBezTo>
                  <a:cubicBezTo>
                    <a:pt x="9340" y="16001"/>
                    <a:pt x="12081" y="14808"/>
                    <a:pt x="13651" y="16154"/>
                  </a:cubicBezTo>
                  <a:cubicBezTo>
                    <a:pt x="15785" y="17983"/>
                    <a:pt x="7730" y="19926"/>
                    <a:pt x="5481" y="18240"/>
                  </a:cubicBezTo>
                </a:path>
              </a:pathLst>
            </a:custGeom>
            <a:noFill/>
            <a:ln w="38100" cap="flat" cmpd="sng">
              <a:solidFill>
                <a:srgbClr val="F1C232"/>
              </a:solidFill>
              <a:prstDash val="solid"/>
              <a:round/>
              <a:headEnd type="none" w="med" len="med"/>
              <a:tailEnd type="none" w="med" len="med"/>
            </a:ln>
          </p:spPr>
        </p:sp>
        <p:sp>
          <p:nvSpPr>
            <p:cNvPr id="754" name="Google Shape;754;p28"/>
            <p:cNvSpPr/>
            <p:nvPr/>
          </p:nvSpPr>
          <p:spPr>
            <a:xfrm>
              <a:off x="7685501" y="3079570"/>
              <a:ext cx="584075" cy="361600"/>
            </a:xfrm>
            <a:custGeom>
              <a:avLst/>
              <a:gdLst/>
              <a:ahLst/>
              <a:cxnLst/>
              <a:rect l="l" t="t" r="r" b="b"/>
              <a:pathLst>
                <a:path w="23363" h="14464" extrusionOk="0">
                  <a:moveTo>
                    <a:pt x="23363" y="14464"/>
                  </a:moveTo>
                  <a:cubicBezTo>
                    <a:pt x="21432" y="9632"/>
                    <a:pt x="15255" y="7928"/>
                    <a:pt x="11021" y="4903"/>
                  </a:cubicBezTo>
                  <a:cubicBezTo>
                    <a:pt x="8043" y="2775"/>
                    <a:pt x="3984" y="-1473"/>
                    <a:pt x="938" y="557"/>
                  </a:cubicBezTo>
                  <a:cubicBezTo>
                    <a:pt x="-2526" y="2866"/>
                    <a:pt x="4896" y="8744"/>
                    <a:pt x="8761" y="10292"/>
                  </a:cubicBezTo>
                </a:path>
              </a:pathLst>
            </a:custGeom>
            <a:noFill/>
            <a:ln w="38100" cap="flat" cmpd="sng">
              <a:solidFill>
                <a:srgbClr val="F1C232"/>
              </a:solidFill>
              <a:prstDash val="solid"/>
              <a:round/>
              <a:headEnd type="none" w="med" len="med"/>
              <a:tailEnd type="none" w="med" len="med"/>
            </a:ln>
          </p:spPr>
        </p:sp>
        <p:sp>
          <p:nvSpPr>
            <p:cNvPr id="755" name="Google Shape;755;p28"/>
            <p:cNvSpPr/>
            <p:nvPr/>
          </p:nvSpPr>
          <p:spPr>
            <a:xfrm>
              <a:off x="7744259" y="3028300"/>
              <a:ext cx="368875" cy="491100"/>
            </a:xfrm>
            <a:custGeom>
              <a:avLst/>
              <a:gdLst/>
              <a:ahLst/>
              <a:cxnLst/>
              <a:rect l="l" t="t" r="r" b="b"/>
              <a:pathLst>
                <a:path w="14755" h="19644" extrusionOk="0">
                  <a:moveTo>
                    <a:pt x="14755" y="0"/>
                  </a:moveTo>
                  <a:cubicBezTo>
                    <a:pt x="14495" y="609"/>
                    <a:pt x="14636" y="691"/>
                    <a:pt x="14234" y="1217"/>
                  </a:cubicBezTo>
                  <a:cubicBezTo>
                    <a:pt x="10836" y="5660"/>
                    <a:pt x="3616" y="6081"/>
                    <a:pt x="326" y="10604"/>
                  </a:cubicBezTo>
                  <a:cubicBezTo>
                    <a:pt x="-1501" y="13116"/>
                    <a:pt x="5071" y="17780"/>
                    <a:pt x="2586" y="19644"/>
                  </a:cubicBezTo>
                </a:path>
              </a:pathLst>
            </a:custGeom>
            <a:noFill/>
            <a:ln w="38100" cap="flat" cmpd="sng">
              <a:solidFill>
                <a:srgbClr val="F1C232"/>
              </a:solidFill>
              <a:prstDash val="solid"/>
              <a:round/>
              <a:headEnd type="none" w="med" len="med"/>
              <a:tailEnd type="none" w="med" len="med"/>
            </a:ln>
          </p:spPr>
        </p:sp>
        <p:sp>
          <p:nvSpPr>
            <p:cNvPr id="756" name="Google Shape;756;p28"/>
            <p:cNvSpPr/>
            <p:nvPr/>
          </p:nvSpPr>
          <p:spPr>
            <a:xfrm>
              <a:off x="7765450" y="3145650"/>
              <a:ext cx="482400" cy="338975"/>
            </a:xfrm>
            <a:custGeom>
              <a:avLst/>
              <a:gdLst/>
              <a:ahLst/>
              <a:cxnLst/>
              <a:rect l="l" t="t" r="r" b="b"/>
              <a:pathLst>
                <a:path w="19296" h="13559" extrusionOk="0">
                  <a:moveTo>
                    <a:pt x="19296" y="13559"/>
                  </a:moveTo>
                  <a:cubicBezTo>
                    <a:pt x="13760" y="11712"/>
                    <a:pt x="8516" y="8736"/>
                    <a:pt x="3998" y="5041"/>
                  </a:cubicBezTo>
                  <a:cubicBezTo>
                    <a:pt x="2338" y="3683"/>
                    <a:pt x="2116" y="351"/>
                    <a:pt x="0" y="0"/>
                  </a:cubicBezTo>
                </a:path>
              </a:pathLst>
            </a:custGeom>
            <a:noFill/>
            <a:ln w="38100" cap="flat" cmpd="sng">
              <a:solidFill>
                <a:srgbClr val="F1C232"/>
              </a:solidFill>
              <a:prstDash val="solid"/>
              <a:round/>
              <a:headEnd type="none" w="med" len="med"/>
              <a:tailEnd type="none" w="med" len="med"/>
            </a:ln>
          </p:spPr>
        </p:sp>
        <p:sp>
          <p:nvSpPr>
            <p:cNvPr id="757" name="Google Shape;757;p28"/>
            <p:cNvSpPr/>
            <p:nvPr/>
          </p:nvSpPr>
          <p:spPr>
            <a:xfrm>
              <a:off x="7665500" y="3269759"/>
              <a:ext cx="499775" cy="249650"/>
            </a:xfrm>
            <a:custGeom>
              <a:avLst/>
              <a:gdLst/>
              <a:ahLst/>
              <a:cxnLst/>
              <a:rect l="l" t="t" r="r" b="b"/>
              <a:pathLst>
                <a:path w="19991" h="9986" extrusionOk="0">
                  <a:moveTo>
                    <a:pt x="0" y="9986"/>
                  </a:moveTo>
                  <a:cubicBezTo>
                    <a:pt x="3478" y="7899"/>
                    <a:pt x="5064" y="3283"/>
                    <a:pt x="8692" y="1468"/>
                  </a:cubicBezTo>
                  <a:cubicBezTo>
                    <a:pt x="12086" y="-230"/>
                    <a:pt x="16196" y="77"/>
                    <a:pt x="19991" y="77"/>
                  </a:cubicBezTo>
                </a:path>
              </a:pathLst>
            </a:custGeom>
            <a:noFill/>
            <a:ln w="38100" cap="flat" cmpd="sng">
              <a:solidFill>
                <a:srgbClr val="F1C232"/>
              </a:solidFill>
              <a:prstDash val="solid"/>
              <a:round/>
              <a:headEnd type="none" w="med" len="med"/>
              <a:tailEnd type="none" w="med" len="med"/>
            </a:ln>
          </p:spPr>
        </p:sp>
        <p:sp>
          <p:nvSpPr>
            <p:cNvPr id="758" name="Google Shape;758;p28"/>
            <p:cNvSpPr/>
            <p:nvPr/>
          </p:nvSpPr>
          <p:spPr>
            <a:xfrm>
              <a:off x="7656800" y="3198318"/>
              <a:ext cx="660600" cy="161800"/>
            </a:xfrm>
            <a:custGeom>
              <a:avLst/>
              <a:gdLst/>
              <a:ahLst/>
              <a:cxnLst/>
              <a:rect l="l" t="t" r="r" b="b"/>
              <a:pathLst>
                <a:path w="26424" h="6472" extrusionOk="0">
                  <a:moveTo>
                    <a:pt x="26424" y="6411"/>
                  </a:moveTo>
                  <a:cubicBezTo>
                    <a:pt x="18961" y="6652"/>
                    <a:pt x="11684" y="3823"/>
                    <a:pt x="4520" y="1717"/>
                  </a:cubicBezTo>
                  <a:cubicBezTo>
                    <a:pt x="4232" y="1632"/>
                    <a:pt x="0" y="-572"/>
                    <a:pt x="0" y="153"/>
                  </a:cubicBezTo>
                  <a:cubicBezTo>
                    <a:pt x="0" y="1294"/>
                    <a:pt x="584" y="2475"/>
                    <a:pt x="1391" y="3282"/>
                  </a:cubicBezTo>
                </a:path>
              </a:pathLst>
            </a:custGeom>
            <a:noFill/>
            <a:ln w="38100" cap="flat" cmpd="sng">
              <a:solidFill>
                <a:srgbClr val="F1C232"/>
              </a:solidFill>
              <a:prstDash val="solid"/>
              <a:round/>
              <a:headEnd type="none" w="med" len="med"/>
              <a:tailEnd type="none" w="med" len="med"/>
            </a:ln>
          </p:spPr>
        </p:sp>
        <p:sp>
          <p:nvSpPr>
            <p:cNvPr id="759" name="Google Shape;759;p28"/>
            <p:cNvSpPr/>
            <p:nvPr/>
          </p:nvSpPr>
          <p:spPr>
            <a:xfrm>
              <a:off x="7757829" y="3119575"/>
              <a:ext cx="450925" cy="395475"/>
            </a:xfrm>
            <a:custGeom>
              <a:avLst/>
              <a:gdLst/>
              <a:ahLst/>
              <a:cxnLst/>
              <a:rect l="l" t="t" r="r" b="b"/>
              <a:pathLst>
                <a:path w="18037" h="15819" extrusionOk="0">
                  <a:moveTo>
                    <a:pt x="18037" y="0"/>
                  </a:moveTo>
                  <a:cubicBezTo>
                    <a:pt x="15708" y="1293"/>
                    <a:pt x="13491" y="3180"/>
                    <a:pt x="12300" y="5562"/>
                  </a:cubicBezTo>
                  <a:cubicBezTo>
                    <a:pt x="11338" y="7485"/>
                    <a:pt x="12524" y="10628"/>
                    <a:pt x="10735" y="11821"/>
                  </a:cubicBezTo>
                  <a:cubicBezTo>
                    <a:pt x="7637" y="13887"/>
                    <a:pt x="-1612" y="12627"/>
                    <a:pt x="305" y="15819"/>
                  </a:cubicBezTo>
                </a:path>
              </a:pathLst>
            </a:custGeom>
            <a:noFill/>
            <a:ln w="38100" cap="flat" cmpd="sng">
              <a:solidFill>
                <a:srgbClr val="F1C232"/>
              </a:solidFill>
              <a:prstDash val="solid"/>
              <a:round/>
              <a:headEnd type="none" w="med" len="med"/>
              <a:tailEnd type="none" w="med" len="med"/>
            </a:ln>
          </p:spPr>
        </p:sp>
        <p:sp>
          <p:nvSpPr>
            <p:cNvPr id="760" name="Google Shape;760;p28"/>
            <p:cNvSpPr/>
            <p:nvPr/>
          </p:nvSpPr>
          <p:spPr>
            <a:xfrm>
              <a:off x="7895825" y="3010925"/>
              <a:ext cx="373750" cy="469350"/>
            </a:xfrm>
            <a:custGeom>
              <a:avLst/>
              <a:gdLst/>
              <a:ahLst/>
              <a:cxnLst/>
              <a:rect l="l" t="t" r="r" b="b"/>
              <a:pathLst>
                <a:path w="14950" h="18774" extrusionOk="0">
                  <a:moveTo>
                    <a:pt x="0" y="0"/>
                  </a:moveTo>
                  <a:cubicBezTo>
                    <a:pt x="1571" y="7844"/>
                    <a:pt x="11377" y="11617"/>
                    <a:pt x="14950" y="18774"/>
                  </a:cubicBezTo>
                </a:path>
              </a:pathLst>
            </a:custGeom>
            <a:noFill/>
            <a:ln w="38100" cap="flat" cmpd="sng">
              <a:solidFill>
                <a:srgbClr val="F1C232"/>
              </a:solidFill>
              <a:prstDash val="solid"/>
              <a:round/>
              <a:headEnd type="none" w="med" len="med"/>
              <a:tailEnd type="none" w="med" len="med"/>
            </a:ln>
          </p:spPr>
        </p:sp>
        <p:sp>
          <p:nvSpPr>
            <p:cNvPr id="761" name="Google Shape;761;p28"/>
            <p:cNvSpPr/>
            <p:nvPr/>
          </p:nvSpPr>
          <p:spPr>
            <a:xfrm>
              <a:off x="7752400" y="3132600"/>
              <a:ext cx="346150" cy="434600"/>
            </a:xfrm>
            <a:custGeom>
              <a:avLst/>
              <a:gdLst/>
              <a:ahLst/>
              <a:cxnLst/>
              <a:rect l="l" t="t" r="r" b="b"/>
              <a:pathLst>
                <a:path w="13846" h="17384" extrusionOk="0">
                  <a:moveTo>
                    <a:pt x="0" y="17384"/>
                  </a:moveTo>
                  <a:cubicBezTo>
                    <a:pt x="1561" y="14266"/>
                    <a:pt x="813" y="9404"/>
                    <a:pt x="3825" y="7649"/>
                  </a:cubicBezTo>
                  <a:cubicBezTo>
                    <a:pt x="6452" y="6118"/>
                    <a:pt x="10432" y="8256"/>
                    <a:pt x="12865" y="6432"/>
                  </a:cubicBezTo>
                  <a:cubicBezTo>
                    <a:pt x="14596" y="5134"/>
                    <a:pt x="13756" y="1257"/>
                    <a:pt x="11995" y="0"/>
                  </a:cubicBezTo>
                </a:path>
              </a:pathLst>
            </a:custGeom>
            <a:noFill/>
            <a:ln w="38100" cap="flat" cmpd="sng">
              <a:solidFill>
                <a:srgbClr val="F1C232"/>
              </a:solidFill>
              <a:prstDash val="solid"/>
              <a:round/>
              <a:headEnd type="none" w="med" len="med"/>
              <a:tailEnd type="none" w="med" len="med"/>
            </a:ln>
          </p:spPr>
        </p:sp>
      </p:grpSp>
      <p:sp>
        <p:nvSpPr>
          <p:cNvPr id="762" name="Google Shape;762;p28"/>
          <p:cNvSpPr/>
          <p:nvPr/>
        </p:nvSpPr>
        <p:spPr>
          <a:xfrm rot="-6485262" flipH="1">
            <a:off x="5341176"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763" name="Google Shape;763;p28"/>
          <p:cNvSpPr/>
          <p:nvPr/>
        </p:nvSpPr>
        <p:spPr>
          <a:xfrm rot="6485262">
            <a:off x="3763714"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764" name="Google Shape;764;p28"/>
          <p:cNvSpPr/>
          <p:nvPr/>
        </p:nvSpPr>
        <p:spPr>
          <a:xfrm rot="10800000">
            <a:off x="4552435" y="2168746"/>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765" name="Google Shape;765;p28"/>
          <p:cNvSpPr/>
          <p:nvPr/>
        </p:nvSpPr>
        <p:spPr>
          <a:xfrm rot="2167448">
            <a:off x="4087053"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766" name="Google Shape;766;p28"/>
          <p:cNvSpPr/>
          <p:nvPr/>
        </p:nvSpPr>
        <p:spPr>
          <a:xfrm rot="-2167448" flipH="1">
            <a:off x="5017778"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767" name="Google Shape;767;p28"/>
          <p:cNvSpPr/>
          <p:nvPr/>
        </p:nvSpPr>
        <p:spPr>
          <a:xfrm>
            <a:off x="4416763" y="3146300"/>
            <a:ext cx="420063" cy="289163"/>
          </a:xfrm>
          <a:custGeom>
            <a:avLst/>
            <a:gdLst/>
            <a:ahLst/>
            <a:cxnLst/>
            <a:rect l="l" t="t" r="r" b="b"/>
            <a:pathLst>
              <a:path w="33605" h="23133" extrusionOk="0">
                <a:moveTo>
                  <a:pt x="0" y="23133"/>
                </a:moveTo>
                <a:cubicBezTo>
                  <a:pt x="2435" y="19075"/>
                  <a:pt x="4127" y="14465"/>
                  <a:pt x="7305" y="10958"/>
                </a:cubicBezTo>
                <a:cubicBezTo>
                  <a:pt x="13683" y="3921"/>
                  <a:pt x="24540" y="2832"/>
                  <a:pt x="33605" y="0"/>
                </a:cubicBezTo>
              </a:path>
            </a:pathLst>
          </a:custGeom>
          <a:noFill/>
          <a:ln w="38100" cap="flat" cmpd="sng">
            <a:solidFill>
              <a:srgbClr val="F1C232"/>
            </a:solidFill>
            <a:prstDash val="solid"/>
            <a:round/>
            <a:headEnd type="none" w="med" len="med"/>
            <a:tailEnd type="none" w="med" len="med"/>
          </a:ln>
        </p:spPr>
      </p:sp>
      <p:sp>
        <p:nvSpPr>
          <p:cNvPr id="768" name="Google Shape;768;p28"/>
          <p:cNvSpPr/>
          <p:nvPr/>
        </p:nvSpPr>
        <p:spPr>
          <a:xfrm>
            <a:off x="4413713" y="2966700"/>
            <a:ext cx="273963" cy="413975"/>
          </a:xfrm>
          <a:custGeom>
            <a:avLst/>
            <a:gdLst/>
            <a:ahLst/>
            <a:cxnLst/>
            <a:rect l="l" t="t" r="r" b="b"/>
            <a:pathLst>
              <a:path w="21917" h="33118" extrusionOk="0">
                <a:moveTo>
                  <a:pt x="0" y="0"/>
                </a:moveTo>
                <a:cubicBezTo>
                  <a:pt x="2209" y="4416"/>
                  <a:pt x="6510" y="8222"/>
                  <a:pt x="6819" y="13150"/>
                </a:cubicBezTo>
                <a:cubicBezTo>
                  <a:pt x="7095" y="17561"/>
                  <a:pt x="2967" y="22436"/>
                  <a:pt x="5114" y="26300"/>
                </a:cubicBezTo>
                <a:cubicBezTo>
                  <a:pt x="8050" y="31584"/>
                  <a:pt x="16181" y="31211"/>
                  <a:pt x="21917" y="33118"/>
                </a:cubicBezTo>
              </a:path>
            </a:pathLst>
          </a:custGeom>
          <a:noFill/>
          <a:ln w="38100" cap="flat" cmpd="sng">
            <a:solidFill>
              <a:srgbClr val="F1C232"/>
            </a:solidFill>
            <a:prstDash val="solid"/>
            <a:round/>
            <a:headEnd type="none" w="med" len="med"/>
            <a:tailEnd type="none" w="med" len="med"/>
          </a:ln>
        </p:spPr>
      </p:sp>
      <p:sp>
        <p:nvSpPr>
          <p:cNvPr id="769" name="Google Shape;769;p28"/>
          <p:cNvSpPr/>
          <p:nvPr/>
        </p:nvSpPr>
        <p:spPr>
          <a:xfrm>
            <a:off x="4363841" y="3099836"/>
            <a:ext cx="427325" cy="335625"/>
          </a:xfrm>
          <a:custGeom>
            <a:avLst/>
            <a:gdLst/>
            <a:ahLst/>
            <a:cxnLst/>
            <a:rect l="l" t="t" r="r" b="b"/>
            <a:pathLst>
              <a:path w="34186" h="26850" extrusionOk="0">
                <a:moveTo>
                  <a:pt x="34186" y="7369"/>
                </a:moveTo>
                <a:cubicBezTo>
                  <a:pt x="26609" y="7875"/>
                  <a:pt x="18987" y="9107"/>
                  <a:pt x="11783" y="11509"/>
                </a:cubicBezTo>
                <a:cubicBezTo>
                  <a:pt x="8958" y="12451"/>
                  <a:pt x="6190" y="14721"/>
                  <a:pt x="3260" y="14188"/>
                </a:cubicBezTo>
                <a:cubicBezTo>
                  <a:pt x="100" y="13613"/>
                  <a:pt x="-612" y="7915"/>
                  <a:pt x="581" y="4934"/>
                </a:cubicBezTo>
                <a:cubicBezTo>
                  <a:pt x="2999" y="-1107"/>
                  <a:pt x="16358" y="-1632"/>
                  <a:pt x="20062" y="3717"/>
                </a:cubicBezTo>
                <a:cubicBezTo>
                  <a:pt x="23302" y="8396"/>
                  <a:pt x="18572" y="15095"/>
                  <a:pt x="19088" y="20763"/>
                </a:cubicBezTo>
                <a:cubicBezTo>
                  <a:pt x="19370" y="23858"/>
                  <a:pt x="23042" y="26850"/>
                  <a:pt x="26150" y="26850"/>
                </a:cubicBezTo>
              </a:path>
            </a:pathLst>
          </a:custGeom>
          <a:noFill/>
          <a:ln w="38100" cap="flat" cmpd="sng">
            <a:solidFill>
              <a:srgbClr val="F1C232"/>
            </a:solidFill>
            <a:prstDash val="solid"/>
            <a:round/>
            <a:headEnd type="none" w="med" len="med"/>
            <a:tailEnd type="none" w="med" len="med"/>
          </a:ln>
        </p:spPr>
      </p:sp>
      <p:sp>
        <p:nvSpPr>
          <p:cNvPr id="770" name="Google Shape;770;p28"/>
          <p:cNvSpPr/>
          <p:nvPr/>
        </p:nvSpPr>
        <p:spPr>
          <a:xfrm>
            <a:off x="4365013" y="2942350"/>
            <a:ext cx="453675" cy="414725"/>
          </a:xfrm>
          <a:custGeom>
            <a:avLst/>
            <a:gdLst/>
            <a:ahLst/>
            <a:cxnLst/>
            <a:rect l="l" t="t" r="r" b="b"/>
            <a:pathLst>
              <a:path w="36294" h="33178" extrusionOk="0">
                <a:moveTo>
                  <a:pt x="16072" y="0"/>
                </a:moveTo>
                <a:cubicBezTo>
                  <a:pt x="18478" y="5415"/>
                  <a:pt x="25652" y="7856"/>
                  <a:pt x="27761" y="13393"/>
                </a:cubicBezTo>
                <a:cubicBezTo>
                  <a:pt x="29698" y="18478"/>
                  <a:pt x="25844" y="24459"/>
                  <a:pt x="27274" y="29709"/>
                </a:cubicBezTo>
                <a:cubicBezTo>
                  <a:pt x="27905" y="32023"/>
                  <a:pt x="32028" y="34192"/>
                  <a:pt x="33849" y="32631"/>
                </a:cubicBezTo>
                <a:cubicBezTo>
                  <a:pt x="36931" y="29989"/>
                  <a:pt x="37353" y="22015"/>
                  <a:pt x="33605" y="20455"/>
                </a:cubicBezTo>
                <a:cubicBezTo>
                  <a:pt x="25042" y="16890"/>
                  <a:pt x="14673" y="21082"/>
                  <a:pt x="6088" y="24595"/>
                </a:cubicBezTo>
                <a:cubicBezTo>
                  <a:pt x="3268" y="25749"/>
                  <a:pt x="2891" y="30452"/>
                  <a:pt x="0" y="31413"/>
                </a:cubicBezTo>
              </a:path>
            </a:pathLst>
          </a:custGeom>
          <a:noFill/>
          <a:ln w="38100" cap="flat" cmpd="sng">
            <a:solidFill>
              <a:srgbClr val="F1C232"/>
            </a:solidFill>
            <a:prstDash val="solid"/>
            <a:round/>
            <a:headEnd type="none" w="med" len="med"/>
            <a:tailEnd type="none" w="med" len="med"/>
          </a:ln>
        </p:spPr>
      </p:sp>
      <p:sp>
        <p:nvSpPr>
          <p:cNvPr id="771" name="Google Shape;771;p28"/>
          <p:cNvSpPr/>
          <p:nvPr/>
        </p:nvSpPr>
        <p:spPr>
          <a:xfrm>
            <a:off x="4340663" y="2972714"/>
            <a:ext cx="441350" cy="510425"/>
          </a:xfrm>
          <a:custGeom>
            <a:avLst/>
            <a:gdLst/>
            <a:ahLst/>
            <a:cxnLst/>
            <a:rect l="l" t="t" r="r" b="b"/>
            <a:pathLst>
              <a:path w="35308" h="40834" extrusionOk="0">
                <a:moveTo>
                  <a:pt x="0" y="21923"/>
                </a:moveTo>
                <a:cubicBezTo>
                  <a:pt x="4868" y="17746"/>
                  <a:pt x="16935" y="15448"/>
                  <a:pt x="19238" y="21435"/>
                </a:cubicBezTo>
                <a:cubicBezTo>
                  <a:pt x="21093" y="26256"/>
                  <a:pt x="14339" y="32377"/>
                  <a:pt x="17046" y="36777"/>
                </a:cubicBezTo>
                <a:cubicBezTo>
                  <a:pt x="19515" y="40790"/>
                  <a:pt x="26930" y="41953"/>
                  <a:pt x="30926" y="39456"/>
                </a:cubicBezTo>
                <a:cubicBezTo>
                  <a:pt x="37891" y="35105"/>
                  <a:pt x="35821" y="20062"/>
                  <a:pt x="29465" y="14861"/>
                </a:cubicBezTo>
                <a:cubicBezTo>
                  <a:pt x="22888" y="9480"/>
                  <a:pt x="7178" y="12602"/>
                  <a:pt x="6331" y="4146"/>
                </a:cubicBezTo>
                <a:cubicBezTo>
                  <a:pt x="5675" y="-2396"/>
                  <a:pt x="21107" y="-183"/>
                  <a:pt x="26056" y="4146"/>
                </a:cubicBezTo>
                <a:cubicBezTo>
                  <a:pt x="35321" y="12251"/>
                  <a:pt x="17470" y="28073"/>
                  <a:pt x="8766" y="36777"/>
                </a:cubicBezTo>
              </a:path>
            </a:pathLst>
          </a:custGeom>
          <a:noFill/>
          <a:ln w="38100" cap="flat" cmpd="sng">
            <a:solidFill>
              <a:srgbClr val="F1C232"/>
            </a:solidFill>
            <a:prstDash val="solid"/>
            <a:round/>
            <a:headEnd type="none" w="med" len="med"/>
            <a:tailEnd type="none" w="med" len="med"/>
          </a:ln>
        </p:spPr>
      </p:sp>
      <p:sp>
        <p:nvSpPr>
          <p:cNvPr id="772" name="Google Shape;772;p28"/>
          <p:cNvSpPr/>
          <p:nvPr/>
        </p:nvSpPr>
        <p:spPr>
          <a:xfrm>
            <a:off x="4336629" y="2954525"/>
            <a:ext cx="448450" cy="512988"/>
          </a:xfrm>
          <a:custGeom>
            <a:avLst/>
            <a:gdLst/>
            <a:ahLst/>
            <a:cxnLst/>
            <a:rect l="l" t="t" r="r" b="b"/>
            <a:pathLst>
              <a:path w="35876" h="41039" extrusionOk="0">
                <a:moveTo>
                  <a:pt x="35876" y="12176"/>
                </a:moveTo>
                <a:cubicBezTo>
                  <a:pt x="33278" y="13474"/>
                  <a:pt x="30137" y="14019"/>
                  <a:pt x="28084" y="16072"/>
                </a:cubicBezTo>
                <a:cubicBezTo>
                  <a:pt x="24741" y="19415"/>
                  <a:pt x="24638" y="25253"/>
                  <a:pt x="25161" y="29952"/>
                </a:cubicBezTo>
                <a:cubicBezTo>
                  <a:pt x="25573" y="33653"/>
                  <a:pt x="31860" y="39489"/>
                  <a:pt x="28327" y="40667"/>
                </a:cubicBezTo>
                <a:cubicBezTo>
                  <a:pt x="23195" y="42378"/>
                  <a:pt x="17049" y="37559"/>
                  <a:pt x="13960" y="33118"/>
                </a:cubicBezTo>
                <a:cubicBezTo>
                  <a:pt x="10617" y="28313"/>
                  <a:pt x="9699" y="20564"/>
                  <a:pt x="4219" y="18507"/>
                </a:cubicBezTo>
                <a:cubicBezTo>
                  <a:pt x="680" y="17179"/>
                  <a:pt x="-1376" y="26792"/>
                  <a:pt x="1297" y="29465"/>
                </a:cubicBezTo>
                <a:cubicBezTo>
                  <a:pt x="5492" y="33660"/>
                  <a:pt x="15463" y="29538"/>
                  <a:pt x="18343" y="24352"/>
                </a:cubicBezTo>
                <a:cubicBezTo>
                  <a:pt x="21498" y="18671"/>
                  <a:pt x="15329" y="10954"/>
                  <a:pt x="17612" y="4870"/>
                </a:cubicBezTo>
                <a:cubicBezTo>
                  <a:pt x="18786" y="1740"/>
                  <a:pt x="23036" y="0"/>
                  <a:pt x="26379" y="0"/>
                </a:cubicBezTo>
              </a:path>
            </a:pathLst>
          </a:custGeom>
          <a:noFill/>
          <a:ln w="38100" cap="flat" cmpd="sng">
            <a:solidFill>
              <a:srgbClr val="F1C232"/>
            </a:solidFill>
            <a:prstDash val="solid"/>
            <a:round/>
            <a:headEnd type="none" w="med" len="med"/>
            <a:tailEnd type="none" w="med" len="med"/>
          </a:ln>
        </p:spPr>
      </p:sp>
      <p:sp>
        <p:nvSpPr>
          <p:cNvPr id="773" name="Google Shape;773;p28"/>
          <p:cNvSpPr/>
          <p:nvPr/>
        </p:nvSpPr>
        <p:spPr>
          <a:xfrm>
            <a:off x="883563" y="1766900"/>
            <a:ext cx="695700" cy="695700"/>
          </a:xfrm>
          <a:prstGeom prst="ellipse">
            <a:avLst/>
          </a:prstGeom>
          <a:solidFill>
            <a:srgbClr val="FFFFFF"/>
          </a:solidFill>
          <a:ln>
            <a:noFill/>
          </a:ln>
        </p:spPr>
        <p:txBody>
          <a:bodyPr spcFirstLastPara="1" wrap="square" lIns="45713" tIns="45713" rIns="45713" bIns="45713" anchor="ctr" anchorCtr="0">
            <a:noAutofit/>
          </a:bodyPr>
          <a:lstStyle/>
          <a:p>
            <a:pPr algn="ctr"/>
            <a:r>
              <a:rPr lang="en" sz="3000"/>
              <a:t>0</a:t>
            </a:r>
            <a:endParaRPr sz="3000"/>
          </a:p>
        </p:txBody>
      </p:sp>
      <p:sp>
        <p:nvSpPr>
          <p:cNvPr id="774" name="Google Shape;774;p28"/>
          <p:cNvSpPr txBox="1"/>
          <p:nvPr/>
        </p:nvSpPr>
        <p:spPr>
          <a:xfrm>
            <a:off x="299538" y="2545738"/>
            <a:ext cx="1863750" cy="553984"/>
          </a:xfrm>
          <a:prstGeom prst="rect">
            <a:avLst/>
          </a:prstGeom>
          <a:noFill/>
          <a:ln>
            <a:noFill/>
          </a:ln>
        </p:spPr>
        <p:txBody>
          <a:bodyPr spcFirstLastPara="1" wrap="square" lIns="45713" tIns="45713" rIns="45713" bIns="45713" anchor="t" anchorCtr="0">
            <a:spAutoFit/>
          </a:bodyPr>
          <a:lstStyle/>
          <a:p>
            <a:pPr algn="ctr"/>
            <a:r>
              <a:rPr lang="en" sz="1500">
                <a:solidFill>
                  <a:srgbClr val="FFFFFF"/>
                </a:solidFill>
              </a:rPr>
              <a:t>Mutex</a:t>
            </a:r>
            <a:endParaRPr sz="1500">
              <a:solidFill>
                <a:srgbClr val="FFFFFF"/>
              </a:solidFill>
            </a:endParaRPr>
          </a:p>
          <a:p>
            <a:pPr algn="ctr"/>
            <a:r>
              <a:rPr lang="en" sz="1500">
                <a:solidFill>
                  <a:srgbClr val="FFFFFF"/>
                </a:solidFill>
              </a:rPr>
              <a:t>(arbitrator/waiter)</a:t>
            </a:r>
            <a:endParaRPr sz="1500">
              <a:solidFill>
                <a:srgbClr val="FFFFFF"/>
              </a:solidFill>
            </a:endParaRP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p29"/>
          <p:cNvSpPr/>
          <p:nvPr/>
        </p:nvSpPr>
        <p:spPr>
          <a:xfrm>
            <a:off x="3389862" y="2035757"/>
            <a:ext cx="2364300" cy="2364300"/>
          </a:xfrm>
          <a:prstGeom prst="ellipse">
            <a:avLst/>
          </a:prstGeom>
          <a:solidFill>
            <a:srgbClr val="783F04"/>
          </a:solidFill>
          <a:ln>
            <a:noFill/>
          </a:ln>
        </p:spPr>
        <p:txBody>
          <a:bodyPr spcFirstLastPara="1" wrap="square" lIns="45713" tIns="45713" rIns="45713" bIns="45713" anchor="ctr" anchorCtr="0">
            <a:noAutofit/>
          </a:bodyPr>
          <a:lstStyle/>
          <a:p>
            <a:endParaRPr sz="900"/>
          </a:p>
        </p:txBody>
      </p:sp>
      <p:pic>
        <p:nvPicPr>
          <p:cNvPr id="780" name="Google Shape;780;p29"/>
          <p:cNvPicPr preferRelativeResize="0"/>
          <p:nvPr/>
        </p:nvPicPr>
        <p:blipFill>
          <a:blip r:embed="rId3">
            <a:alphaModFix/>
          </a:blip>
          <a:stretch>
            <a:fillRect/>
          </a:stretch>
        </p:blipFill>
        <p:spPr>
          <a:xfrm>
            <a:off x="5100038" y="1243400"/>
            <a:ext cx="1219200" cy="1219200"/>
          </a:xfrm>
          <a:prstGeom prst="rect">
            <a:avLst/>
          </a:prstGeom>
          <a:noFill/>
          <a:ln>
            <a:noFill/>
          </a:ln>
        </p:spPr>
      </p:pic>
      <p:pic>
        <p:nvPicPr>
          <p:cNvPr id="781" name="Google Shape;781;p29"/>
          <p:cNvPicPr preferRelativeResize="0"/>
          <p:nvPr/>
        </p:nvPicPr>
        <p:blipFill>
          <a:blip r:embed="rId4">
            <a:alphaModFix/>
          </a:blip>
          <a:stretch>
            <a:fillRect/>
          </a:stretch>
        </p:blipFill>
        <p:spPr>
          <a:xfrm>
            <a:off x="3962394" y="4395400"/>
            <a:ext cx="1219200" cy="1219200"/>
          </a:xfrm>
          <a:prstGeom prst="rect">
            <a:avLst/>
          </a:prstGeom>
          <a:noFill/>
          <a:ln>
            <a:noFill/>
          </a:ln>
        </p:spPr>
      </p:pic>
      <p:pic>
        <p:nvPicPr>
          <p:cNvPr id="782" name="Google Shape;782;p29"/>
          <p:cNvPicPr preferRelativeResize="0"/>
          <p:nvPr/>
        </p:nvPicPr>
        <p:blipFill>
          <a:blip r:embed="rId5">
            <a:alphaModFix/>
          </a:blip>
          <a:stretch>
            <a:fillRect/>
          </a:stretch>
        </p:blipFill>
        <p:spPr>
          <a:xfrm>
            <a:off x="2292325" y="3217875"/>
            <a:ext cx="1219200" cy="1219200"/>
          </a:xfrm>
          <a:prstGeom prst="rect">
            <a:avLst/>
          </a:prstGeom>
          <a:noFill/>
          <a:ln>
            <a:noFill/>
          </a:ln>
        </p:spPr>
      </p:pic>
      <p:pic>
        <p:nvPicPr>
          <p:cNvPr id="783" name="Google Shape;783;p29"/>
          <p:cNvPicPr preferRelativeResize="0"/>
          <p:nvPr/>
        </p:nvPicPr>
        <p:blipFill>
          <a:blip r:embed="rId6">
            <a:alphaModFix/>
          </a:blip>
          <a:stretch>
            <a:fillRect/>
          </a:stretch>
        </p:blipFill>
        <p:spPr>
          <a:xfrm>
            <a:off x="5632475" y="3217875"/>
            <a:ext cx="1219200" cy="1219200"/>
          </a:xfrm>
          <a:prstGeom prst="rect">
            <a:avLst/>
          </a:prstGeom>
          <a:noFill/>
          <a:ln>
            <a:noFill/>
          </a:ln>
        </p:spPr>
      </p:pic>
      <p:pic>
        <p:nvPicPr>
          <p:cNvPr id="784" name="Google Shape;784;p29"/>
          <p:cNvPicPr preferRelativeResize="0"/>
          <p:nvPr/>
        </p:nvPicPr>
        <p:blipFill>
          <a:blip r:embed="rId7">
            <a:alphaModFix/>
          </a:blip>
          <a:stretch>
            <a:fillRect/>
          </a:stretch>
        </p:blipFill>
        <p:spPr>
          <a:xfrm>
            <a:off x="2824757" y="1243400"/>
            <a:ext cx="1219200" cy="1219200"/>
          </a:xfrm>
          <a:prstGeom prst="rect">
            <a:avLst/>
          </a:prstGeom>
          <a:noFill/>
          <a:ln>
            <a:noFill/>
          </a:ln>
        </p:spPr>
      </p:pic>
      <p:grpSp>
        <p:nvGrpSpPr>
          <p:cNvPr id="785" name="Google Shape;785;p29"/>
          <p:cNvGrpSpPr/>
          <p:nvPr/>
        </p:nvGrpSpPr>
        <p:grpSpPr>
          <a:xfrm>
            <a:off x="4157195" y="2803111"/>
            <a:ext cx="829600" cy="829600"/>
            <a:chOff x="7509900" y="2868375"/>
            <a:chExt cx="903900" cy="903900"/>
          </a:xfrm>
        </p:grpSpPr>
        <p:sp>
          <p:nvSpPr>
            <p:cNvPr id="786" name="Google Shape;786;p29"/>
            <p:cNvSpPr/>
            <p:nvPr/>
          </p:nvSpPr>
          <p:spPr>
            <a:xfrm>
              <a:off x="7509900" y="2868375"/>
              <a:ext cx="903900" cy="903900"/>
            </a:xfrm>
            <a:prstGeom prst="ellipse">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87" name="Google Shape;787;p29"/>
            <p:cNvSpPr/>
            <p:nvPr/>
          </p:nvSpPr>
          <p:spPr>
            <a:xfrm>
              <a:off x="7726325" y="3187287"/>
              <a:ext cx="281375" cy="421875"/>
            </a:xfrm>
            <a:custGeom>
              <a:avLst/>
              <a:gdLst/>
              <a:ahLst/>
              <a:cxnLst/>
              <a:rect l="l" t="t" r="r" b="b"/>
              <a:pathLst>
                <a:path w="11255" h="16875" extrusionOk="0">
                  <a:moveTo>
                    <a:pt x="0" y="1985"/>
                  </a:moveTo>
                  <a:cubicBezTo>
                    <a:pt x="3409" y="525"/>
                    <a:pt x="10171" y="-1599"/>
                    <a:pt x="11126" y="1985"/>
                  </a:cubicBezTo>
                  <a:cubicBezTo>
                    <a:pt x="11977" y="5177"/>
                    <a:pt x="7498" y="7599"/>
                    <a:pt x="5042" y="9808"/>
                  </a:cubicBezTo>
                  <a:cubicBezTo>
                    <a:pt x="3517" y="11179"/>
                    <a:pt x="7922" y="12750"/>
                    <a:pt x="9562" y="13980"/>
                  </a:cubicBezTo>
                  <a:cubicBezTo>
                    <a:pt x="10372" y="14587"/>
                    <a:pt x="11636" y="16225"/>
                    <a:pt x="10778" y="16762"/>
                  </a:cubicBezTo>
                  <a:cubicBezTo>
                    <a:pt x="9613" y="17490"/>
                    <a:pt x="7707" y="13849"/>
                    <a:pt x="8866" y="13111"/>
                  </a:cubicBezTo>
                </a:path>
              </a:pathLst>
            </a:custGeom>
            <a:noFill/>
            <a:ln w="38100" cap="flat" cmpd="sng">
              <a:solidFill>
                <a:srgbClr val="F1C232"/>
              </a:solidFill>
              <a:prstDash val="solid"/>
              <a:round/>
              <a:headEnd type="none" w="med" len="med"/>
              <a:tailEnd type="none" w="med" len="med"/>
            </a:ln>
          </p:spPr>
        </p:sp>
        <p:sp>
          <p:nvSpPr>
            <p:cNvPr id="788" name="Google Shape;788;p29"/>
            <p:cNvSpPr/>
            <p:nvPr/>
          </p:nvSpPr>
          <p:spPr>
            <a:xfrm>
              <a:off x="7829049" y="3032650"/>
              <a:ext cx="272850" cy="456325"/>
            </a:xfrm>
            <a:custGeom>
              <a:avLst/>
              <a:gdLst/>
              <a:ahLst/>
              <a:cxnLst/>
              <a:rect l="l" t="t" r="r" b="b"/>
              <a:pathLst>
                <a:path w="10914" h="18253" extrusionOk="0">
                  <a:moveTo>
                    <a:pt x="4236" y="0"/>
                  </a:moveTo>
                  <a:cubicBezTo>
                    <a:pt x="1862" y="3263"/>
                    <a:pt x="-1710" y="8598"/>
                    <a:pt x="933" y="11647"/>
                  </a:cubicBezTo>
                  <a:cubicBezTo>
                    <a:pt x="3470" y="14574"/>
                    <a:pt x="12913" y="15228"/>
                    <a:pt x="10494" y="18253"/>
                  </a:cubicBezTo>
                </a:path>
              </a:pathLst>
            </a:custGeom>
            <a:noFill/>
            <a:ln w="38100" cap="flat" cmpd="sng">
              <a:solidFill>
                <a:srgbClr val="F1C232"/>
              </a:solidFill>
              <a:prstDash val="solid"/>
              <a:round/>
              <a:headEnd type="none" w="med" len="med"/>
              <a:tailEnd type="none" w="med" len="med"/>
            </a:ln>
          </p:spPr>
        </p:sp>
        <p:sp>
          <p:nvSpPr>
            <p:cNvPr id="789" name="Google Shape;789;p29"/>
            <p:cNvSpPr/>
            <p:nvPr/>
          </p:nvSpPr>
          <p:spPr>
            <a:xfrm>
              <a:off x="7938508" y="3145650"/>
              <a:ext cx="222425" cy="356375"/>
            </a:xfrm>
            <a:custGeom>
              <a:avLst/>
              <a:gdLst/>
              <a:ahLst/>
              <a:cxnLst/>
              <a:rect l="l" t="t" r="r" b="b"/>
              <a:pathLst>
                <a:path w="8897" h="14255" extrusionOk="0">
                  <a:moveTo>
                    <a:pt x="8897" y="0"/>
                  </a:moveTo>
                  <a:cubicBezTo>
                    <a:pt x="5700" y="999"/>
                    <a:pt x="1621" y="2006"/>
                    <a:pt x="205" y="5041"/>
                  </a:cubicBezTo>
                  <a:cubicBezTo>
                    <a:pt x="-1089" y="7814"/>
                    <a:pt x="5221" y="8570"/>
                    <a:pt x="7507" y="10604"/>
                  </a:cubicBezTo>
                  <a:cubicBezTo>
                    <a:pt x="8600" y="11576"/>
                    <a:pt x="6516" y="14014"/>
                    <a:pt x="5073" y="14255"/>
                  </a:cubicBezTo>
                </a:path>
              </a:pathLst>
            </a:custGeom>
            <a:noFill/>
            <a:ln w="38100" cap="flat" cmpd="sng">
              <a:solidFill>
                <a:srgbClr val="F1C232"/>
              </a:solidFill>
              <a:prstDash val="solid"/>
              <a:round/>
              <a:headEnd type="none" w="med" len="med"/>
              <a:tailEnd type="none" w="med" len="med"/>
            </a:ln>
          </p:spPr>
        </p:sp>
        <p:sp>
          <p:nvSpPr>
            <p:cNvPr id="790" name="Google Shape;790;p29"/>
            <p:cNvSpPr/>
            <p:nvPr/>
          </p:nvSpPr>
          <p:spPr>
            <a:xfrm>
              <a:off x="7743725" y="3093500"/>
              <a:ext cx="518875" cy="321600"/>
            </a:xfrm>
            <a:custGeom>
              <a:avLst/>
              <a:gdLst/>
              <a:ahLst/>
              <a:cxnLst/>
              <a:rect l="l" t="t" r="r" b="b"/>
              <a:pathLst>
                <a:path w="20755" h="12864" extrusionOk="0">
                  <a:moveTo>
                    <a:pt x="0" y="0"/>
                  </a:moveTo>
                  <a:cubicBezTo>
                    <a:pt x="5394" y="897"/>
                    <a:pt x="12760" y="-760"/>
                    <a:pt x="15993" y="3650"/>
                  </a:cubicBezTo>
                  <a:cubicBezTo>
                    <a:pt x="17475" y="5672"/>
                    <a:pt x="22372" y="8719"/>
                    <a:pt x="20165" y="9908"/>
                  </a:cubicBezTo>
                  <a:cubicBezTo>
                    <a:pt x="14587" y="12912"/>
                    <a:pt x="1390" y="6529"/>
                    <a:pt x="1390" y="12864"/>
                  </a:cubicBezTo>
                </a:path>
              </a:pathLst>
            </a:custGeom>
            <a:noFill/>
            <a:ln w="38100" cap="flat" cmpd="sng">
              <a:solidFill>
                <a:srgbClr val="F1C232"/>
              </a:solidFill>
              <a:prstDash val="solid"/>
              <a:round/>
              <a:headEnd type="none" w="med" len="med"/>
              <a:tailEnd type="none" w="med" len="med"/>
            </a:ln>
          </p:spPr>
        </p:sp>
        <p:sp>
          <p:nvSpPr>
            <p:cNvPr id="791" name="Google Shape;791;p29"/>
            <p:cNvSpPr/>
            <p:nvPr/>
          </p:nvSpPr>
          <p:spPr>
            <a:xfrm>
              <a:off x="7662050" y="3010925"/>
              <a:ext cx="411975" cy="478050"/>
            </a:xfrm>
            <a:custGeom>
              <a:avLst/>
              <a:gdLst/>
              <a:ahLst/>
              <a:cxnLst/>
              <a:rect l="l" t="t" r="r" b="b"/>
              <a:pathLst>
                <a:path w="16479" h="19122" extrusionOk="0">
                  <a:moveTo>
                    <a:pt x="16479" y="0"/>
                  </a:moveTo>
                  <a:cubicBezTo>
                    <a:pt x="9984" y="1946"/>
                    <a:pt x="3470" y="6343"/>
                    <a:pt x="311" y="12342"/>
                  </a:cubicBezTo>
                  <a:cubicBezTo>
                    <a:pt x="-872" y="14589"/>
                    <a:pt x="1757" y="17597"/>
                    <a:pt x="3788" y="19122"/>
                  </a:cubicBezTo>
                </a:path>
              </a:pathLst>
            </a:custGeom>
            <a:noFill/>
            <a:ln w="38100" cap="flat" cmpd="sng">
              <a:solidFill>
                <a:srgbClr val="F1C232"/>
              </a:solidFill>
              <a:prstDash val="solid"/>
              <a:round/>
              <a:headEnd type="none" w="med" len="med"/>
              <a:tailEnd type="none" w="med" len="med"/>
            </a:ln>
          </p:spPr>
        </p:sp>
        <p:sp>
          <p:nvSpPr>
            <p:cNvPr id="792" name="Google Shape;792;p29"/>
            <p:cNvSpPr/>
            <p:nvPr/>
          </p:nvSpPr>
          <p:spPr>
            <a:xfrm>
              <a:off x="7817600" y="3015250"/>
              <a:ext cx="398400" cy="587225"/>
            </a:xfrm>
            <a:custGeom>
              <a:avLst/>
              <a:gdLst/>
              <a:ahLst/>
              <a:cxnLst/>
              <a:rect l="l" t="t" r="r" b="b"/>
              <a:pathLst>
                <a:path w="15936" h="23489" extrusionOk="0">
                  <a:moveTo>
                    <a:pt x="0" y="0"/>
                  </a:moveTo>
                  <a:cubicBezTo>
                    <a:pt x="0" y="8167"/>
                    <a:pt x="2230" y="20746"/>
                    <a:pt x="10257" y="22252"/>
                  </a:cubicBezTo>
                  <a:cubicBezTo>
                    <a:pt x="12203" y="22617"/>
                    <a:pt x="15960" y="18191"/>
                    <a:pt x="15819" y="20166"/>
                  </a:cubicBezTo>
                  <a:cubicBezTo>
                    <a:pt x="15703" y="21786"/>
                    <a:pt x="15565" y="21792"/>
                    <a:pt x="14950" y="23295"/>
                  </a:cubicBezTo>
                  <a:cubicBezTo>
                    <a:pt x="14596" y="24160"/>
                    <a:pt x="13200" y="21724"/>
                    <a:pt x="13559" y="20861"/>
                  </a:cubicBezTo>
                  <a:cubicBezTo>
                    <a:pt x="14532" y="18524"/>
                    <a:pt x="16694" y="15864"/>
                    <a:pt x="15646" y="13560"/>
                  </a:cubicBezTo>
                  <a:cubicBezTo>
                    <a:pt x="15040" y="12229"/>
                    <a:pt x="13029" y="12161"/>
                    <a:pt x="11995" y="11126"/>
                  </a:cubicBezTo>
                </a:path>
              </a:pathLst>
            </a:custGeom>
            <a:noFill/>
            <a:ln w="38100" cap="flat" cmpd="sng">
              <a:solidFill>
                <a:srgbClr val="F1C232"/>
              </a:solidFill>
              <a:prstDash val="solid"/>
              <a:round/>
              <a:headEnd type="none" w="med" len="med"/>
              <a:tailEnd type="none" w="med" len="med"/>
            </a:ln>
          </p:spPr>
        </p:sp>
        <p:sp>
          <p:nvSpPr>
            <p:cNvPr id="793" name="Google Shape;793;p29"/>
            <p:cNvSpPr/>
            <p:nvPr/>
          </p:nvSpPr>
          <p:spPr>
            <a:xfrm>
              <a:off x="7643750" y="3180400"/>
              <a:ext cx="425925" cy="446300"/>
            </a:xfrm>
            <a:custGeom>
              <a:avLst/>
              <a:gdLst/>
              <a:ahLst/>
              <a:cxnLst/>
              <a:rect l="l" t="t" r="r" b="b"/>
              <a:pathLst>
                <a:path w="17037" h="17852" extrusionOk="0">
                  <a:moveTo>
                    <a:pt x="0" y="0"/>
                  </a:moveTo>
                  <a:cubicBezTo>
                    <a:pt x="4491" y="817"/>
                    <a:pt x="6830" y="6955"/>
                    <a:pt x="7475" y="11474"/>
                  </a:cubicBezTo>
                  <a:cubicBezTo>
                    <a:pt x="7713" y="13138"/>
                    <a:pt x="6322" y="15483"/>
                    <a:pt x="7649" y="16515"/>
                  </a:cubicBezTo>
                  <a:cubicBezTo>
                    <a:pt x="10121" y="18437"/>
                    <a:pt x="14632" y="18173"/>
                    <a:pt x="17037" y="16167"/>
                  </a:cubicBezTo>
                </a:path>
              </a:pathLst>
            </a:custGeom>
            <a:noFill/>
            <a:ln w="38100" cap="flat" cmpd="sng">
              <a:solidFill>
                <a:srgbClr val="F1C232"/>
              </a:solidFill>
              <a:prstDash val="solid"/>
              <a:round/>
              <a:headEnd type="none" w="med" len="med"/>
              <a:tailEnd type="none" w="med" len="med"/>
            </a:ln>
          </p:spPr>
        </p:sp>
        <p:sp>
          <p:nvSpPr>
            <p:cNvPr id="794" name="Google Shape;794;p29"/>
            <p:cNvSpPr/>
            <p:nvPr/>
          </p:nvSpPr>
          <p:spPr>
            <a:xfrm>
              <a:off x="7836249" y="3076100"/>
              <a:ext cx="320325" cy="456325"/>
            </a:xfrm>
            <a:custGeom>
              <a:avLst/>
              <a:gdLst/>
              <a:ahLst/>
              <a:cxnLst/>
              <a:rect l="l" t="t" r="r" b="b"/>
              <a:pathLst>
                <a:path w="12813" h="18253" extrusionOk="0">
                  <a:moveTo>
                    <a:pt x="12813" y="0"/>
                  </a:moveTo>
                  <a:cubicBezTo>
                    <a:pt x="7242" y="2181"/>
                    <a:pt x="-861" y="6790"/>
                    <a:pt x="123" y="12691"/>
                  </a:cubicBezTo>
                  <a:cubicBezTo>
                    <a:pt x="746" y="16427"/>
                    <a:pt x="8084" y="15004"/>
                    <a:pt x="10032" y="18253"/>
                  </a:cubicBezTo>
                </a:path>
              </a:pathLst>
            </a:custGeom>
            <a:noFill/>
            <a:ln w="38100" cap="flat" cmpd="sng">
              <a:solidFill>
                <a:srgbClr val="F1C232"/>
              </a:solidFill>
              <a:prstDash val="solid"/>
              <a:round/>
              <a:headEnd type="none" w="med" len="med"/>
              <a:tailEnd type="none" w="med" len="med"/>
            </a:ln>
          </p:spPr>
        </p:sp>
        <p:sp>
          <p:nvSpPr>
            <p:cNvPr id="795" name="Google Shape;795;p29"/>
            <p:cNvSpPr/>
            <p:nvPr/>
          </p:nvSpPr>
          <p:spPr>
            <a:xfrm>
              <a:off x="7700250" y="3132600"/>
              <a:ext cx="429925" cy="169500"/>
            </a:xfrm>
            <a:custGeom>
              <a:avLst/>
              <a:gdLst/>
              <a:ahLst/>
              <a:cxnLst/>
              <a:rect l="l" t="t" r="r" b="b"/>
              <a:pathLst>
                <a:path w="17197" h="6780" extrusionOk="0">
                  <a:moveTo>
                    <a:pt x="0" y="0"/>
                  </a:moveTo>
                  <a:cubicBezTo>
                    <a:pt x="3914" y="4695"/>
                    <a:pt x="10925" y="6780"/>
                    <a:pt x="17037" y="6780"/>
                  </a:cubicBezTo>
                  <a:cubicBezTo>
                    <a:pt x="17504" y="6780"/>
                    <a:pt x="16799" y="5655"/>
                    <a:pt x="16341" y="5563"/>
                  </a:cubicBezTo>
                </a:path>
              </a:pathLst>
            </a:custGeom>
            <a:noFill/>
            <a:ln w="38100" cap="flat" cmpd="sng">
              <a:solidFill>
                <a:srgbClr val="F1C232"/>
              </a:solidFill>
              <a:prstDash val="solid"/>
              <a:round/>
              <a:headEnd type="none" w="med" len="med"/>
              <a:tailEnd type="none" w="med" len="med"/>
            </a:ln>
          </p:spPr>
        </p:sp>
        <p:sp>
          <p:nvSpPr>
            <p:cNvPr id="796" name="Google Shape;796;p29"/>
            <p:cNvSpPr/>
            <p:nvPr/>
          </p:nvSpPr>
          <p:spPr>
            <a:xfrm>
              <a:off x="7710998" y="3098181"/>
              <a:ext cx="558575" cy="472725"/>
            </a:xfrm>
            <a:custGeom>
              <a:avLst/>
              <a:gdLst/>
              <a:ahLst/>
              <a:cxnLst/>
              <a:rect l="l" t="t" r="r" b="b"/>
              <a:pathLst>
                <a:path w="22343" h="18909" extrusionOk="0">
                  <a:moveTo>
                    <a:pt x="22343" y="4332"/>
                  </a:moveTo>
                  <a:cubicBezTo>
                    <a:pt x="16437" y="38"/>
                    <a:pt x="3704" y="-2547"/>
                    <a:pt x="439" y="3985"/>
                  </a:cubicBezTo>
                  <a:cubicBezTo>
                    <a:pt x="-1508" y="7881"/>
                    <a:pt x="3832" y="12696"/>
                    <a:pt x="7567" y="14937"/>
                  </a:cubicBezTo>
                  <a:cubicBezTo>
                    <a:pt x="9340" y="16001"/>
                    <a:pt x="12081" y="14808"/>
                    <a:pt x="13651" y="16154"/>
                  </a:cubicBezTo>
                  <a:cubicBezTo>
                    <a:pt x="15785" y="17983"/>
                    <a:pt x="7730" y="19926"/>
                    <a:pt x="5481" y="18240"/>
                  </a:cubicBezTo>
                </a:path>
              </a:pathLst>
            </a:custGeom>
            <a:noFill/>
            <a:ln w="38100" cap="flat" cmpd="sng">
              <a:solidFill>
                <a:srgbClr val="F1C232"/>
              </a:solidFill>
              <a:prstDash val="solid"/>
              <a:round/>
              <a:headEnd type="none" w="med" len="med"/>
              <a:tailEnd type="none" w="med" len="med"/>
            </a:ln>
          </p:spPr>
        </p:sp>
        <p:sp>
          <p:nvSpPr>
            <p:cNvPr id="797" name="Google Shape;797;p29"/>
            <p:cNvSpPr/>
            <p:nvPr/>
          </p:nvSpPr>
          <p:spPr>
            <a:xfrm>
              <a:off x="7685501" y="3079570"/>
              <a:ext cx="584075" cy="361600"/>
            </a:xfrm>
            <a:custGeom>
              <a:avLst/>
              <a:gdLst/>
              <a:ahLst/>
              <a:cxnLst/>
              <a:rect l="l" t="t" r="r" b="b"/>
              <a:pathLst>
                <a:path w="23363" h="14464" extrusionOk="0">
                  <a:moveTo>
                    <a:pt x="23363" y="14464"/>
                  </a:moveTo>
                  <a:cubicBezTo>
                    <a:pt x="21432" y="9632"/>
                    <a:pt x="15255" y="7928"/>
                    <a:pt x="11021" y="4903"/>
                  </a:cubicBezTo>
                  <a:cubicBezTo>
                    <a:pt x="8043" y="2775"/>
                    <a:pt x="3984" y="-1473"/>
                    <a:pt x="938" y="557"/>
                  </a:cubicBezTo>
                  <a:cubicBezTo>
                    <a:pt x="-2526" y="2866"/>
                    <a:pt x="4896" y="8744"/>
                    <a:pt x="8761" y="10292"/>
                  </a:cubicBezTo>
                </a:path>
              </a:pathLst>
            </a:custGeom>
            <a:noFill/>
            <a:ln w="38100" cap="flat" cmpd="sng">
              <a:solidFill>
                <a:srgbClr val="F1C232"/>
              </a:solidFill>
              <a:prstDash val="solid"/>
              <a:round/>
              <a:headEnd type="none" w="med" len="med"/>
              <a:tailEnd type="none" w="med" len="med"/>
            </a:ln>
          </p:spPr>
        </p:sp>
        <p:sp>
          <p:nvSpPr>
            <p:cNvPr id="798" name="Google Shape;798;p29"/>
            <p:cNvSpPr/>
            <p:nvPr/>
          </p:nvSpPr>
          <p:spPr>
            <a:xfrm>
              <a:off x="7744259" y="3028300"/>
              <a:ext cx="368875" cy="491100"/>
            </a:xfrm>
            <a:custGeom>
              <a:avLst/>
              <a:gdLst/>
              <a:ahLst/>
              <a:cxnLst/>
              <a:rect l="l" t="t" r="r" b="b"/>
              <a:pathLst>
                <a:path w="14755" h="19644" extrusionOk="0">
                  <a:moveTo>
                    <a:pt x="14755" y="0"/>
                  </a:moveTo>
                  <a:cubicBezTo>
                    <a:pt x="14495" y="609"/>
                    <a:pt x="14636" y="691"/>
                    <a:pt x="14234" y="1217"/>
                  </a:cubicBezTo>
                  <a:cubicBezTo>
                    <a:pt x="10836" y="5660"/>
                    <a:pt x="3616" y="6081"/>
                    <a:pt x="326" y="10604"/>
                  </a:cubicBezTo>
                  <a:cubicBezTo>
                    <a:pt x="-1501" y="13116"/>
                    <a:pt x="5071" y="17780"/>
                    <a:pt x="2586" y="19644"/>
                  </a:cubicBezTo>
                </a:path>
              </a:pathLst>
            </a:custGeom>
            <a:noFill/>
            <a:ln w="38100" cap="flat" cmpd="sng">
              <a:solidFill>
                <a:srgbClr val="F1C232"/>
              </a:solidFill>
              <a:prstDash val="solid"/>
              <a:round/>
              <a:headEnd type="none" w="med" len="med"/>
              <a:tailEnd type="none" w="med" len="med"/>
            </a:ln>
          </p:spPr>
        </p:sp>
        <p:sp>
          <p:nvSpPr>
            <p:cNvPr id="799" name="Google Shape;799;p29"/>
            <p:cNvSpPr/>
            <p:nvPr/>
          </p:nvSpPr>
          <p:spPr>
            <a:xfrm>
              <a:off x="7765450" y="3145650"/>
              <a:ext cx="482400" cy="338975"/>
            </a:xfrm>
            <a:custGeom>
              <a:avLst/>
              <a:gdLst/>
              <a:ahLst/>
              <a:cxnLst/>
              <a:rect l="l" t="t" r="r" b="b"/>
              <a:pathLst>
                <a:path w="19296" h="13559" extrusionOk="0">
                  <a:moveTo>
                    <a:pt x="19296" y="13559"/>
                  </a:moveTo>
                  <a:cubicBezTo>
                    <a:pt x="13760" y="11712"/>
                    <a:pt x="8516" y="8736"/>
                    <a:pt x="3998" y="5041"/>
                  </a:cubicBezTo>
                  <a:cubicBezTo>
                    <a:pt x="2338" y="3683"/>
                    <a:pt x="2116" y="351"/>
                    <a:pt x="0" y="0"/>
                  </a:cubicBezTo>
                </a:path>
              </a:pathLst>
            </a:custGeom>
            <a:noFill/>
            <a:ln w="38100" cap="flat" cmpd="sng">
              <a:solidFill>
                <a:srgbClr val="F1C232"/>
              </a:solidFill>
              <a:prstDash val="solid"/>
              <a:round/>
              <a:headEnd type="none" w="med" len="med"/>
              <a:tailEnd type="none" w="med" len="med"/>
            </a:ln>
          </p:spPr>
        </p:sp>
        <p:sp>
          <p:nvSpPr>
            <p:cNvPr id="800" name="Google Shape;800;p29"/>
            <p:cNvSpPr/>
            <p:nvPr/>
          </p:nvSpPr>
          <p:spPr>
            <a:xfrm>
              <a:off x="7665500" y="3269759"/>
              <a:ext cx="499775" cy="249650"/>
            </a:xfrm>
            <a:custGeom>
              <a:avLst/>
              <a:gdLst/>
              <a:ahLst/>
              <a:cxnLst/>
              <a:rect l="l" t="t" r="r" b="b"/>
              <a:pathLst>
                <a:path w="19991" h="9986" extrusionOk="0">
                  <a:moveTo>
                    <a:pt x="0" y="9986"/>
                  </a:moveTo>
                  <a:cubicBezTo>
                    <a:pt x="3478" y="7899"/>
                    <a:pt x="5064" y="3283"/>
                    <a:pt x="8692" y="1468"/>
                  </a:cubicBezTo>
                  <a:cubicBezTo>
                    <a:pt x="12086" y="-230"/>
                    <a:pt x="16196" y="77"/>
                    <a:pt x="19991" y="77"/>
                  </a:cubicBezTo>
                </a:path>
              </a:pathLst>
            </a:custGeom>
            <a:noFill/>
            <a:ln w="38100" cap="flat" cmpd="sng">
              <a:solidFill>
                <a:srgbClr val="F1C232"/>
              </a:solidFill>
              <a:prstDash val="solid"/>
              <a:round/>
              <a:headEnd type="none" w="med" len="med"/>
              <a:tailEnd type="none" w="med" len="med"/>
            </a:ln>
          </p:spPr>
        </p:sp>
        <p:sp>
          <p:nvSpPr>
            <p:cNvPr id="801" name="Google Shape;801;p29"/>
            <p:cNvSpPr/>
            <p:nvPr/>
          </p:nvSpPr>
          <p:spPr>
            <a:xfrm>
              <a:off x="7656800" y="3198318"/>
              <a:ext cx="660600" cy="161800"/>
            </a:xfrm>
            <a:custGeom>
              <a:avLst/>
              <a:gdLst/>
              <a:ahLst/>
              <a:cxnLst/>
              <a:rect l="l" t="t" r="r" b="b"/>
              <a:pathLst>
                <a:path w="26424" h="6472" extrusionOk="0">
                  <a:moveTo>
                    <a:pt x="26424" y="6411"/>
                  </a:moveTo>
                  <a:cubicBezTo>
                    <a:pt x="18961" y="6652"/>
                    <a:pt x="11684" y="3823"/>
                    <a:pt x="4520" y="1717"/>
                  </a:cubicBezTo>
                  <a:cubicBezTo>
                    <a:pt x="4232" y="1632"/>
                    <a:pt x="0" y="-572"/>
                    <a:pt x="0" y="153"/>
                  </a:cubicBezTo>
                  <a:cubicBezTo>
                    <a:pt x="0" y="1294"/>
                    <a:pt x="584" y="2475"/>
                    <a:pt x="1391" y="3282"/>
                  </a:cubicBezTo>
                </a:path>
              </a:pathLst>
            </a:custGeom>
            <a:noFill/>
            <a:ln w="38100" cap="flat" cmpd="sng">
              <a:solidFill>
                <a:srgbClr val="F1C232"/>
              </a:solidFill>
              <a:prstDash val="solid"/>
              <a:round/>
              <a:headEnd type="none" w="med" len="med"/>
              <a:tailEnd type="none" w="med" len="med"/>
            </a:ln>
          </p:spPr>
        </p:sp>
        <p:sp>
          <p:nvSpPr>
            <p:cNvPr id="802" name="Google Shape;802;p29"/>
            <p:cNvSpPr/>
            <p:nvPr/>
          </p:nvSpPr>
          <p:spPr>
            <a:xfrm>
              <a:off x="7757829" y="3119575"/>
              <a:ext cx="450925" cy="395475"/>
            </a:xfrm>
            <a:custGeom>
              <a:avLst/>
              <a:gdLst/>
              <a:ahLst/>
              <a:cxnLst/>
              <a:rect l="l" t="t" r="r" b="b"/>
              <a:pathLst>
                <a:path w="18037" h="15819" extrusionOk="0">
                  <a:moveTo>
                    <a:pt x="18037" y="0"/>
                  </a:moveTo>
                  <a:cubicBezTo>
                    <a:pt x="15708" y="1293"/>
                    <a:pt x="13491" y="3180"/>
                    <a:pt x="12300" y="5562"/>
                  </a:cubicBezTo>
                  <a:cubicBezTo>
                    <a:pt x="11338" y="7485"/>
                    <a:pt x="12524" y="10628"/>
                    <a:pt x="10735" y="11821"/>
                  </a:cubicBezTo>
                  <a:cubicBezTo>
                    <a:pt x="7637" y="13887"/>
                    <a:pt x="-1612" y="12627"/>
                    <a:pt x="305" y="15819"/>
                  </a:cubicBezTo>
                </a:path>
              </a:pathLst>
            </a:custGeom>
            <a:noFill/>
            <a:ln w="38100" cap="flat" cmpd="sng">
              <a:solidFill>
                <a:srgbClr val="F1C232"/>
              </a:solidFill>
              <a:prstDash val="solid"/>
              <a:round/>
              <a:headEnd type="none" w="med" len="med"/>
              <a:tailEnd type="none" w="med" len="med"/>
            </a:ln>
          </p:spPr>
        </p:sp>
        <p:sp>
          <p:nvSpPr>
            <p:cNvPr id="803" name="Google Shape;803;p29"/>
            <p:cNvSpPr/>
            <p:nvPr/>
          </p:nvSpPr>
          <p:spPr>
            <a:xfrm>
              <a:off x="7895825" y="3010925"/>
              <a:ext cx="373750" cy="469350"/>
            </a:xfrm>
            <a:custGeom>
              <a:avLst/>
              <a:gdLst/>
              <a:ahLst/>
              <a:cxnLst/>
              <a:rect l="l" t="t" r="r" b="b"/>
              <a:pathLst>
                <a:path w="14950" h="18774" extrusionOk="0">
                  <a:moveTo>
                    <a:pt x="0" y="0"/>
                  </a:moveTo>
                  <a:cubicBezTo>
                    <a:pt x="1571" y="7844"/>
                    <a:pt x="11377" y="11617"/>
                    <a:pt x="14950" y="18774"/>
                  </a:cubicBezTo>
                </a:path>
              </a:pathLst>
            </a:custGeom>
            <a:noFill/>
            <a:ln w="38100" cap="flat" cmpd="sng">
              <a:solidFill>
                <a:srgbClr val="F1C232"/>
              </a:solidFill>
              <a:prstDash val="solid"/>
              <a:round/>
              <a:headEnd type="none" w="med" len="med"/>
              <a:tailEnd type="none" w="med" len="med"/>
            </a:ln>
          </p:spPr>
        </p:sp>
        <p:sp>
          <p:nvSpPr>
            <p:cNvPr id="804" name="Google Shape;804;p29"/>
            <p:cNvSpPr/>
            <p:nvPr/>
          </p:nvSpPr>
          <p:spPr>
            <a:xfrm>
              <a:off x="7752400" y="3132600"/>
              <a:ext cx="346150" cy="434600"/>
            </a:xfrm>
            <a:custGeom>
              <a:avLst/>
              <a:gdLst/>
              <a:ahLst/>
              <a:cxnLst/>
              <a:rect l="l" t="t" r="r" b="b"/>
              <a:pathLst>
                <a:path w="13846" h="17384" extrusionOk="0">
                  <a:moveTo>
                    <a:pt x="0" y="17384"/>
                  </a:moveTo>
                  <a:cubicBezTo>
                    <a:pt x="1561" y="14266"/>
                    <a:pt x="813" y="9404"/>
                    <a:pt x="3825" y="7649"/>
                  </a:cubicBezTo>
                  <a:cubicBezTo>
                    <a:pt x="6452" y="6118"/>
                    <a:pt x="10432" y="8256"/>
                    <a:pt x="12865" y="6432"/>
                  </a:cubicBezTo>
                  <a:cubicBezTo>
                    <a:pt x="14596" y="5134"/>
                    <a:pt x="13756" y="1257"/>
                    <a:pt x="11995" y="0"/>
                  </a:cubicBezTo>
                </a:path>
              </a:pathLst>
            </a:custGeom>
            <a:noFill/>
            <a:ln w="38100" cap="flat" cmpd="sng">
              <a:solidFill>
                <a:srgbClr val="F1C232"/>
              </a:solidFill>
              <a:prstDash val="solid"/>
              <a:round/>
              <a:headEnd type="none" w="med" len="med"/>
              <a:tailEnd type="none" w="med" len="med"/>
            </a:ln>
          </p:spPr>
        </p:sp>
      </p:grpSp>
      <p:sp>
        <p:nvSpPr>
          <p:cNvPr id="805" name="Google Shape;805;p29"/>
          <p:cNvSpPr/>
          <p:nvPr/>
        </p:nvSpPr>
        <p:spPr>
          <a:xfrm rot="6485262">
            <a:off x="3763714"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806" name="Google Shape;806;p29"/>
          <p:cNvSpPr/>
          <p:nvPr/>
        </p:nvSpPr>
        <p:spPr>
          <a:xfrm rot="10800000">
            <a:off x="4552435" y="2168746"/>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807" name="Google Shape;807;p29"/>
          <p:cNvSpPr/>
          <p:nvPr/>
        </p:nvSpPr>
        <p:spPr>
          <a:xfrm rot="2167448">
            <a:off x="4087053"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808" name="Google Shape;808;p29"/>
          <p:cNvSpPr/>
          <p:nvPr/>
        </p:nvSpPr>
        <p:spPr>
          <a:xfrm>
            <a:off x="4416763" y="3146300"/>
            <a:ext cx="420063" cy="289163"/>
          </a:xfrm>
          <a:custGeom>
            <a:avLst/>
            <a:gdLst/>
            <a:ahLst/>
            <a:cxnLst/>
            <a:rect l="l" t="t" r="r" b="b"/>
            <a:pathLst>
              <a:path w="33605" h="23133" extrusionOk="0">
                <a:moveTo>
                  <a:pt x="0" y="23133"/>
                </a:moveTo>
                <a:cubicBezTo>
                  <a:pt x="2435" y="19075"/>
                  <a:pt x="4127" y="14465"/>
                  <a:pt x="7305" y="10958"/>
                </a:cubicBezTo>
                <a:cubicBezTo>
                  <a:pt x="13683" y="3921"/>
                  <a:pt x="24540" y="2832"/>
                  <a:pt x="33605" y="0"/>
                </a:cubicBezTo>
              </a:path>
            </a:pathLst>
          </a:custGeom>
          <a:noFill/>
          <a:ln w="38100" cap="flat" cmpd="sng">
            <a:solidFill>
              <a:srgbClr val="F1C232"/>
            </a:solidFill>
            <a:prstDash val="solid"/>
            <a:round/>
            <a:headEnd type="none" w="med" len="med"/>
            <a:tailEnd type="none" w="med" len="med"/>
          </a:ln>
        </p:spPr>
      </p:sp>
      <p:sp>
        <p:nvSpPr>
          <p:cNvPr id="809" name="Google Shape;809;p29"/>
          <p:cNvSpPr/>
          <p:nvPr/>
        </p:nvSpPr>
        <p:spPr>
          <a:xfrm>
            <a:off x="4413713" y="2966700"/>
            <a:ext cx="273963" cy="413975"/>
          </a:xfrm>
          <a:custGeom>
            <a:avLst/>
            <a:gdLst/>
            <a:ahLst/>
            <a:cxnLst/>
            <a:rect l="l" t="t" r="r" b="b"/>
            <a:pathLst>
              <a:path w="21917" h="33118" extrusionOk="0">
                <a:moveTo>
                  <a:pt x="0" y="0"/>
                </a:moveTo>
                <a:cubicBezTo>
                  <a:pt x="2209" y="4416"/>
                  <a:pt x="6510" y="8222"/>
                  <a:pt x="6819" y="13150"/>
                </a:cubicBezTo>
                <a:cubicBezTo>
                  <a:pt x="7095" y="17561"/>
                  <a:pt x="2967" y="22436"/>
                  <a:pt x="5114" y="26300"/>
                </a:cubicBezTo>
                <a:cubicBezTo>
                  <a:pt x="8050" y="31584"/>
                  <a:pt x="16181" y="31211"/>
                  <a:pt x="21917" y="33118"/>
                </a:cubicBezTo>
              </a:path>
            </a:pathLst>
          </a:custGeom>
          <a:noFill/>
          <a:ln w="38100" cap="flat" cmpd="sng">
            <a:solidFill>
              <a:srgbClr val="F1C232"/>
            </a:solidFill>
            <a:prstDash val="solid"/>
            <a:round/>
            <a:headEnd type="none" w="med" len="med"/>
            <a:tailEnd type="none" w="med" len="med"/>
          </a:ln>
        </p:spPr>
      </p:sp>
      <p:sp>
        <p:nvSpPr>
          <p:cNvPr id="810" name="Google Shape;810;p29"/>
          <p:cNvSpPr/>
          <p:nvPr/>
        </p:nvSpPr>
        <p:spPr>
          <a:xfrm>
            <a:off x="4363841" y="3099836"/>
            <a:ext cx="427325" cy="335625"/>
          </a:xfrm>
          <a:custGeom>
            <a:avLst/>
            <a:gdLst/>
            <a:ahLst/>
            <a:cxnLst/>
            <a:rect l="l" t="t" r="r" b="b"/>
            <a:pathLst>
              <a:path w="34186" h="26850" extrusionOk="0">
                <a:moveTo>
                  <a:pt x="34186" y="7369"/>
                </a:moveTo>
                <a:cubicBezTo>
                  <a:pt x="26609" y="7875"/>
                  <a:pt x="18987" y="9107"/>
                  <a:pt x="11783" y="11509"/>
                </a:cubicBezTo>
                <a:cubicBezTo>
                  <a:pt x="8958" y="12451"/>
                  <a:pt x="6190" y="14721"/>
                  <a:pt x="3260" y="14188"/>
                </a:cubicBezTo>
                <a:cubicBezTo>
                  <a:pt x="100" y="13613"/>
                  <a:pt x="-612" y="7915"/>
                  <a:pt x="581" y="4934"/>
                </a:cubicBezTo>
                <a:cubicBezTo>
                  <a:pt x="2999" y="-1107"/>
                  <a:pt x="16358" y="-1632"/>
                  <a:pt x="20062" y="3717"/>
                </a:cubicBezTo>
                <a:cubicBezTo>
                  <a:pt x="23302" y="8396"/>
                  <a:pt x="18572" y="15095"/>
                  <a:pt x="19088" y="20763"/>
                </a:cubicBezTo>
                <a:cubicBezTo>
                  <a:pt x="19370" y="23858"/>
                  <a:pt x="23042" y="26850"/>
                  <a:pt x="26150" y="26850"/>
                </a:cubicBezTo>
              </a:path>
            </a:pathLst>
          </a:custGeom>
          <a:noFill/>
          <a:ln w="38100" cap="flat" cmpd="sng">
            <a:solidFill>
              <a:srgbClr val="F1C232"/>
            </a:solidFill>
            <a:prstDash val="solid"/>
            <a:round/>
            <a:headEnd type="none" w="med" len="med"/>
            <a:tailEnd type="none" w="med" len="med"/>
          </a:ln>
        </p:spPr>
      </p:sp>
      <p:sp>
        <p:nvSpPr>
          <p:cNvPr id="811" name="Google Shape;811;p29"/>
          <p:cNvSpPr/>
          <p:nvPr/>
        </p:nvSpPr>
        <p:spPr>
          <a:xfrm>
            <a:off x="4365013" y="2942350"/>
            <a:ext cx="453675" cy="414725"/>
          </a:xfrm>
          <a:custGeom>
            <a:avLst/>
            <a:gdLst/>
            <a:ahLst/>
            <a:cxnLst/>
            <a:rect l="l" t="t" r="r" b="b"/>
            <a:pathLst>
              <a:path w="36294" h="33178" extrusionOk="0">
                <a:moveTo>
                  <a:pt x="16072" y="0"/>
                </a:moveTo>
                <a:cubicBezTo>
                  <a:pt x="18478" y="5415"/>
                  <a:pt x="25652" y="7856"/>
                  <a:pt x="27761" y="13393"/>
                </a:cubicBezTo>
                <a:cubicBezTo>
                  <a:pt x="29698" y="18478"/>
                  <a:pt x="25844" y="24459"/>
                  <a:pt x="27274" y="29709"/>
                </a:cubicBezTo>
                <a:cubicBezTo>
                  <a:pt x="27905" y="32023"/>
                  <a:pt x="32028" y="34192"/>
                  <a:pt x="33849" y="32631"/>
                </a:cubicBezTo>
                <a:cubicBezTo>
                  <a:pt x="36931" y="29989"/>
                  <a:pt x="37353" y="22015"/>
                  <a:pt x="33605" y="20455"/>
                </a:cubicBezTo>
                <a:cubicBezTo>
                  <a:pt x="25042" y="16890"/>
                  <a:pt x="14673" y="21082"/>
                  <a:pt x="6088" y="24595"/>
                </a:cubicBezTo>
                <a:cubicBezTo>
                  <a:pt x="3268" y="25749"/>
                  <a:pt x="2891" y="30452"/>
                  <a:pt x="0" y="31413"/>
                </a:cubicBezTo>
              </a:path>
            </a:pathLst>
          </a:custGeom>
          <a:noFill/>
          <a:ln w="38100" cap="flat" cmpd="sng">
            <a:solidFill>
              <a:srgbClr val="F1C232"/>
            </a:solidFill>
            <a:prstDash val="solid"/>
            <a:round/>
            <a:headEnd type="none" w="med" len="med"/>
            <a:tailEnd type="none" w="med" len="med"/>
          </a:ln>
        </p:spPr>
      </p:sp>
      <p:sp>
        <p:nvSpPr>
          <p:cNvPr id="812" name="Google Shape;812;p29"/>
          <p:cNvSpPr/>
          <p:nvPr/>
        </p:nvSpPr>
        <p:spPr>
          <a:xfrm>
            <a:off x="4340663" y="2972714"/>
            <a:ext cx="441350" cy="510425"/>
          </a:xfrm>
          <a:custGeom>
            <a:avLst/>
            <a:gdLst/>
            <a:ahLst/>
            <a:cxnLst/>
            <a:rect l="l" t="t" r="r" b="b"/>
            <a:pathLst>
              <a:path w="35308" h="40834" extrusionOk="0">
                <a:moveTo>
                  <a:pt x="0" y="21923"/>
                </a:moveTo>
                <a:cubicBezTo>
                  <a:pt x="4868" y="17746"/>
                  <a:pt x="16935" y="15448"/>
                  <a:pt x="19238" y="21435"/>
                </a:cubicBezTo>
                <a:cubicBezTo>
                  <a:pt x="21093" y="26256"/>
                  <a:pt x="14339" y="32377"/>
                  <a:pt x="17046" y="36777"/>
                </a:cubicBezTo>
                <a:cubicBezTo>
                  <a:pt x="19515" y="40790"/>
                  <a:pt x="26930" y="41953"/>
                  <a:pt x="30926" y="39456"/>
                </a:cubicBezTo>
                <a:cubicBezTo>
                  <a:pt x="37891" y="35105"/>
                  <a:pt x="35821" y="20062"/>
                  <a:pt x="29465" y="14861"/>
                </a:cubicBezTo>
                <a:cubicBezTo>
                  <a:pt x="22888" y="9480"/>
                  <a:pt x="7178" y="12602"/>
                  <a:pt x="6331" y="4146"/>
                </a:cubicBezTo>
                <a:cubicBezTo>
                  <a:pt x="5675" y="-2396"/>
                  <a:pt x="21107" y="-183"/>
                  <a:pt x="26056" y="4146"/>
                </a:cubicBezTo>
                <a:cubicBezTo>
                  <a:pt x="35321" y="12251"/>
                  <a:pt x="17470" y="28073"/>
                  <a:pt x="8766" y="36777"/>
                </a:cubicBezTo>
              </a:path>
            </a:pathLst>
          </a:custGeom>
          <a:noFill/>
          <a:ln w="38100" cap="flat" cmpd="sng">
            <a:solidFill>
              <a:srgbClr val="F1C232"/>
            </a:solidFill>
            <a:prstDash val="solid"/>
            <a:round/>
            <a:headEnd type="none" w="med" len="med"/>
            <a:tailEnd type="none" w="med" len="med"/>
          </a:ln>
        </p:spPr>
      </p:sp>
      <p:sp>
        <p:nvSpPr>
          <p:cNvPr id="813" name="Google Shape;813;p29"/>
          <p:cNvSpPr/>
          <p:nvPr/>
        </p:nvSpPr>
        <p:spPr>
          <a:xfrm>
            <a:off x="4336629" y="2954525"/>
            <a:ext cx="448450" cy="512988"/>
          </a:xfrm>
          <a:custGeom>
            <a:avLst/>
            <a:gdLst/>
            <a:ahLst/>
            <a:cxnLst/>
            <a:rect l="l" t="t" r="r" b="b"/>
            <a:pathLst>
              <a:path w="35876" h="41039" extrusionOk="0">
                <a:moveTo>
                  <a:pt x="35876" y="12176"/>
                </a:moveTo>
                <a:cubicBezTo>
                  <a:pt x="33278" y="13474"/>
                  <a:pt x="30137" y="14019"/>
                  <a:pt x="28084" y="16072"/>
                </a:cubicBezTo>
                <a:cubicBezTo>
                  <a:pt x="24741" y="19415"/>
                  <a:pt x="24638" y="25253"/>
                  <a:pt x="25161" y="29952"/>
                </a:cubicBezTo>
                <a:cubicBezTo>
                  <a:pt x="25573" y="33653"/>
                  <a:pt x="31860" y="39489"/>
                  <a:pt x="28327" y="40667"/>
                </a:cubicBezTo>
                <a:cubicBezTo>
                  <a:pt x="23195" y="42378"/>
                  <a:pt x="17049" y="37559"/>
                  <a:pt x="13960" y="33118"/>
                </a:cubicBezTo>
                <a:cubicBezTo>
                  <a:pt x="10617" y="28313"/>
                  <a:pt x="9699" y="20564"/>
                  <a:pt x="4219" y="18507"/>
                </a:cubicBezTo>
                <a:cubicBezTo>
                  <a:pt x="680" y="17179"/>
                  <a:pt x="-1376" y="26792"/>
                  <a:pt x="1297" y="29465"/>
                </a:cubicBezTo>
                <a:cubicBezTo>
                  <a:pt x="5492" y="33660"/>
                  <a:pt x="15463" y="29538"/>
                  <a:pt x="18343" y="24352"/>
                </a:cubicBezTo>
                <a:cubicBezTo>
                  <a:pt x="21498" y="18671"/>
                  <a:pt x="15329" y="10954"/>
                  <a:pt x="17612" y="4870"/>
                </a:cubicBezTo>
                <a:cubicBezTo>
                  <a:pt x="18786" y="1740"/>
                  <a:pt x="23036" y="0"/>
                  <a:pt x="26379" y="0"/>
                </a:cubicBezTo>
              </a:path>
            </a:pathLst>
          </a:custGeom>
          <a:noFill/>
          <a:ln w="38100" cap="flat" cmpd="sng">
            <a:solidFill>
              <a:srgbClr val="F1C232"/>
            </a:solidFill>
            <a:prstDash val="solid"/>
            <a:round/>
            <a:headEnd type="none" w="med" len="med"/>
            <a:tailEnd type="none" w="med" len="med"/>
          </a:ln>
        </p:spPr>
      </p:sp>
      <p:sp>
        <p:nvSpPr>
          <p:cNvPr id="814" name="Google Shape;814;p29"/>
          <p:cNvSpPr/>
          <p:nvPr/>
        </p:nvSpPr>
        <p:spPr>
          <a:xfrm>
            <a:off x="883563" y="1766900"/>
            <a:ext cx="695700" cy="695700"/>
          </a:xfrm>
          <a:prstGeom prst="ellipse">
            <a:avLst/>
          </a:prstGeom>
          <a:solidFill>
            <a:srgbClr val="FFFFFF"/>
          </a:solidFill>
          <a:ln>
            <a:noFill/>
          </a:ln>
        </p:spPr>
        <p:txBody>
          <a:bodyPr spcFirstLastPara="1" wrap="square" lIns="45713" tIns="45713" rIns="45713" bIns="45713" anchor="ctr" anchorCtr="0">
            <a:noAutofit/>
          </a:bodyPr>
          <a:lstStyle/>
          <a:p>
            <a:pPr algn="ctr"/>
            <a:r>
              <a:rPr lang="en" sz="3000"/>
              <a:t>0</a:t>
            </a:r>
            <a:endParaRPr sz="3000"/>
          </a:p>
        </p:txBody>
      </p:sp>
      <p:sp>
        <p:nvSpPr>
          <p:cNvPr id="815" name="Google Shape;815;p29"/>
          <p:cNvSpPr txBox="1"/>
          <p:nvPr/>
        </p:nvSpPr>
        <p:spPr>
          <a:xfrm>
            <a:off x="299538" y="2545738"/>
            <a:ext cx="1863750" cy="553984"/>
          </a:xfrm>
          <a:prstGeom prst="rect">
            <a:avLst/>
          </a:prstGeom>
          <a:noFill/>
          <a:ln>
            <a:noFill/>
          </a:ln>
        </p:spPr>
        <p:txBody>
          <a:bodyPr spcFirstLastPara="1" wrap="square" lIns="45713" tIns="45713" rIns="45713" bIns="45713" anchor="t" anchorCtr="0">
            <a:spAutoFit/>
          </a:bodyPr>
          <a:lstStyle/>
          <a:p>
            <a:pPr algn="ctr"/>
            <a:r>
              <a:rPr lang="en" sz="1500">
                <a:solidFill>
                  <a:srgbClr val="FFFFFF"/>
                </a:solidFill>
              </a:rPr>
              <a:t>Mutex</a:t>
            </a:r>
            <a:endParaRPr sz="1500">
              <a:solidFill>
                <a:srgbClr val="FFFFFF"/>
              </a:solidFill>
            </a:endParaRPr>
          </a:p>
          <a:p>
            <a:pPr algn="ctr"/>
            <a:r>
              <a:rPr lang="en" sz="1500">
                <a:solidFill>
                  <a:srgbClr val="FFFFFF"/>
                </a:solidFill>
              </a:rPr>
              <a:t>(arbitrator/waiter)</a:t>
            </a:r>
            <a:endParaRPr sz="1500">
              <a:solidFill>
                <a:srgbClr val="FFFFFF"/>
              </a:solidFill>
            </a:endParaRPr>
          </a:p>
        </p:txBody>
      </p:sp>
      <p:sp>
        <p:nvSpPr>
          <p:cNvPr id="816" name="Google Shape;816;p29"/>
          <p:cNvSpPr/>
          <p:nvPr/>
        </p:nvSpPr>
        <p:spPr>
          <a:xfrm rot="-2167448" flipH="1">
            <a:off x="5626360" y="3780045"/>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817" name="Google Shape;817;p29"/>
          <p:cNvSpPr/>
          <p:nvPr/>
        </p:nvSpPr>
        <p:spPr>
          <a:xfrm rot="-6485262" flipH="1">
            <a:off x="5867914" y="3041437"/>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p30"/>
          <p:cNvSpPr/>
          <p:nvPr/>
        </p:nvSpPr>
        <p:spPr>
          <a:xfrm>
            <a:off x="3389862" y="2035757"/>
            <a:ext cx="2364300" cy="2364300"/>
          </a:xfrm>
          <a:prstGeom prst="ellipse">
            <a:avLst/>
          </a:prstGeom>
          <a:solidFill>
            <a:srgbClr val="783F04"/>
          </a:solidFill>
          <a:ln>
            <a:noFill/>
          </a:ln>
        </p:spPr>
        <p:txBody>
          <a:bodyPr spcFirstLastPara="1" wrap="square" lIns="45713" tIns="45713" rIns="45713" bIns="45713" anchor="ctr" anchorCtr="0">
            <a:noAutofit/>
          </a:bodyPr>
          <a:lstStyle/>
          <a:p>
            <a:endParaRPr sz="900"/>
          </a:p>
        </p:txBody>
      </p:sp>
      <p:pic>
        <p:nvPicPr>
          <p:cNvPr id="823" name="Google Shape;823;p30"/>
          <p:cNvPicPr preferRelativeResize="0"/>
          <p:nvPr/>
        </p:nvPicPr>
        <p:blipFill>
          <a:blip r:embed="rId3">
            <a:alphaModFix/>
          </a:blip>
          <a:stretch>
            <a:fillRect/>
          </a:stretch>
        </p:blipFill>
        <p:spPr>
          <a:xfrm>
            <a:off x="5100038" y="1243400"/>
            <a:ext cx="1219200" cy="1219200"/>
          </a:xfrm>
          <a:prstGeom prst="rect">
            <a:avLst/>
          </a:prstGeom>
          <a:noFill/>
          <a:ln>
            <a:noFill/>
          </a:ln>
        </p:spPr>
      </p:pic>
      <p:pic>
        <p:nvPicPr>
          <p:cNvPr id="824" name="Google Shape;824;p30"/>
          <p:cNvPicPr preferRelativeResize="0"/>
          <p:nvPr/>
        </p:nvPicPr>
        <p:blipFill>
          <a:blip r:embed="rId4">
            <a:alphaModFix/>
          </a:blip>
          <a:stretch>
            <a:fillRect/>
          </a:stretch>
        </p:blipFill>
        <p:spPr>
          <a:xfrm>
            <a:off x="3962394" y="4395400"/>
            <a:ext cx="1219200" cy="1219200"/>
          </a:xfrm>
          <a:prstGeom prst="rect">
            <a:avLst/>
          </a:prstGeom>
          <a:noFill/>
          <a:ln>
            <a:noFill/>
          </a:ln>
        </p:spPr>
      </p:pic>
      <p:pic>
        <p:nvPicPr>
          <p:cNvPr id="825" name="Google Shape;825;p30"/>
          <p:cNvPicPr preferRelativeResize="0"/>
          <p:nvPr/>
        </p:nvPicPr>
        <p:blipFill>
          <a:blip r:embed="rId5">
            <a:alphaModFix/>
          </a:blip>
          <a:stretch>
            <a:fillRect/>
          </a:stretch>
        </p:blipFill>
        <p:spPr>
          <a:xfrm>
            <a:off x="2292325" y="3217875"/>
            <a:ext cx="1219200" cy="1219200"/>
          </a:xfrm>
          <a:prstGeom prst="rect">
            <a:avLst/>
          </a:prstGeom>
          <a:noFill/>
          <a:ln>
            <a:noFill/>
          </a:ln>
        </p:spPr>
      </p:pic>
      <p:pic>
        <p:nvPicPr>
          <p:cNvPr id="826" name="Google Shape;826;p30"/>
          <p:cNvPicPr preferRelativeResize="0"/>
          <p:nvPr/>
        </p:nvPicPr>
        <p:blipFill>
          <a:blip r:embed="rId6">
            <a:alphaModFix/>
          </a:blip>
          <a:stretch>
            <a:fillRect/>
          </a:stretch>
        </p:blipFill>
        <p:spPr>
          <a:xfrm>
            <a:off x="5632475" y="3217875"/>
            <a:ext cx="1219200" cy="1219200"/>
          </a:xfrm>
          <a:prstGeom prst="rect">
            <a:avLst/>
          </a:prstGeom>
          <a:noFill/>
          <a:ln>
            <a:noFill/>
          </a:ln>
        </p:spPr>
      </p:pic>
      <p:pic>
        <p:nvPicPr>
          <p:cNvPr id="827" name="Google Shape;827;p30"/>
          <p:cNvPicPr preferRelativeResize="0"/>
          <p:nvPr/>
        </p:nvPicPr>
        <p:blipFill>
          <a:blip r:embed="rId7">
            <a:alphaModFix/>
          </a:blip>
          <a:stretch>
            <a:fillRect/>
          </a:stretch>
        </p:blipFill>
        <p:spPr>
          <a:xfrm>
            <a:off x="2824757" y="1243400"/>
            <a:ext cx="1219200" cy="1219200"/>
          </a:xfrm>
          <a:prstGeom prst="rect">
            <a:avLst/>
          </a:prstGeom>
          <a:noFill/>
          <a:ln>
            <a:noFill/>
          </a:ln>
        </p:spPr>
      </p:pic>
      <p:grpSp>
        <p:nvGrpSpPr>
          <p:cNvPr id="828" name="Google Shape;828;p30"/>
          <p:cNvGrpSpPr/>
          <p:nvPr/>
        </p:nvGrpSpPr>
        <p:grpSpPr>
          <a:xfrm>
            <a:off x="4157195" y="2803111"/>
            <a:ext cx="829600" cy="829600"/>
            <a:chOff x="7509900" y="2868375"/>
            <a:chExt cx="903900" cy="903900"/>
          </a:xfrm>
        </p:grpSpPr>
        <p:sp>
          <p:nvSpPr>
            <p:cNvPr id="829" name="Google Shape;829;p30"/>
            <p:cNvSpPr/>
            <p:nvPr/>
          </p:nvSpPr>
          <p:spPr>
            <a:xfrm>
              <a:off x="7509900" y="2868375"/>
              <a:ext cx="903900" cy="903900"/>
            </a:xfrm>
            <a:prstGeom prst="ellipse">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30" name="Google Shape;830;p30"/>
            <p:cNvSpPr/>
            <p:nvPr/>
          </p:nvSpPr>
          <p:spPr>
            <a:xfrm>
              <a:off x="7726325" y="3187287"/>
              <a:ext cx="281375" cy="421875"/>
            </a:xfrm>
            <a:custGeom>
              <a:avLst/>
              <a:gdLst/>
              <a:ahLst/>
              <a:cxnLst/>
              <a:rect l="l" t="t" r="r" b="b"/>
              <a:pathLst>
                <a:path w="11255" h="16875" extrusionOk="0">
                  <a:moveTo>
                    <a:pt x="0" y="1985"/>
                  </a:moveTo>
                  <a:cubicBezTo>
                    <a:pt x="3409" y="525"/>
                    <a:pt x="10171" y="-1599"/>
                    <a:pt x="11126" y="1985"/>
                  </a:cubicBezTo>
                  <a:cubicBezTo>
                    <a:pt x="11977" y="5177"/>
                    <a:pt x="7498" y="7599"/>
                    <a:pt x="5042" y="9808"/>
                  </a:cubicBezTo>
                  <a:cubicBezTo>
                    <a:pt x="3517" y="11179"/>
                    <a:pt x="7922" y="12750"/>
                    <a:pt x="9562" y="13980"/>
                  </a:cubicBezTo>
                  <a:cubicBezTo>
                    <a:pt x="10372" y="14587"/>
                    <a:pt x="11636" y="16225"/>
                    <a:pt x="10778" y="16762"/>
                  </a:cubicBezTo>
                  <a:cubicBezTo>
                    <a:pt x="9613" y="17490"/>
                    <a:pt x="7707" y="13849"/>
                    <a:pt x="8866" y="13111"/>
                  </a:cubicBezTo>
                </a:path>
              </a:pathLst>
            </a:custGeom>
            <a:noFill/>
            <a:ln w="38100" cap="flat" cmpd="sng">
              <a:solidFill>
                <a:srgbClr val="F1C232"/>
              </a:solidFill>
              <a:prstDash val="solid"/>
              <a:round/>
              <a:headEnd type="none" w="med" len="med"/>
              <a:tailEnd type="none" w="med" len="med"/>
            </a:ln>
          </p:spPr>
        </p:sp>
        <p:sp>
          <p:nvSpPr>
            <p:cNvPr id="831" name="Google Shape;831;p30"/>
            <p:cNvSpPr/>
            <p:nvPr/>
          </p:nvSpPr>
          <p:spPr>
            <a:xfrm>
              <a:off x="7829049" y="3032650"/>
              <a:ext cx="272850" cy="456325"/>
            </a:xfrm>
            <a:custGeom>
              <a:avLst/>
              <a:gdLst/>
              <a:ahLst/>
              <a:cxnLst/>
              <a:rect l="l" t="t" r="r" b="b"/>
              <a:pathLst>
                <a:path w="10914" h="18253" extrusionOk="0">
                  <a:moveTo>
                    <a:pt x="4236" y="0"/>
                  </a:moveTo>
                  <a:cubicBezTo>
                    <a:pt x="1862" y="3263"/>
                    <a:pt x="-1710" y="8598"/>
                    <a:pt x="933" y="11647"/>
                  </a:cubicBezTo>
                  <a:cubicBezTo>
                    <a:pt x="3470" y="14574"/>
                    <a:pt x="12913" y="15228"/>
                    <a:pt x="10494" y="18253"/>
                  </a:cubicBezTo>
                </a:path>
              </a:pathLst>
            </a:custGeom>
            <a:noFill/>
            <a:ln w="38100" cap="flat" cmpd="sng">
              <a:solidFill>
                <a:srgbClr val="F1C232"/>
              </a:solidFill>
              <a:prstDash val="solid"/>
              <a:round/>
              <a:headEnd type="none" w="med" len="med"/>
              <a:tailEnd type="none" w="med" len="med"/>
            </a:ln>
          </p:spPr>
        </p:sp>
        <p:sp>
          <p:nvSpPr>
            <p:cNvPr id="832" name="Google Shape;832;p30"/>
            <p:cNvSpPr/>
            <p:nvPr/>
          </p:nvSpPr>
          <p:spPr>
            <a:xfrm>
              <a:off x="7938508" y="3145650"/>
              <a:ext cx="222425" cy="356375"/>
            </a:xfrm>
            <a:custGeom>
              <a:avLst/>
              <a:gdLst/>
              <a:ahLst/>
              <a:cxnLst/>
              <a:rect l="l" t="t" r="r" b="b"/>
              <a:pathLst>
                <a:path w="8897" h="14255" extrusionOk="0">
                  <a:moveTo>
                    <a:pt x="8897" y="0"/>
                  </a:moveTo>
                  <a:cubicBezTo>
                    <a:pt x="5700" y="999"/>
                    <a:pt x="1621" y="2006"/>
                    <a:pt x="205" y="5041"/>
                  </a:cubicBezTo>
                  <a:cubicBezTo>
                    <a:pt x="-1089" y="7814"/>
                    <a:pt x="5221" y="8570"/>
                    <a:pt x="7507" y="10604"/>
                  </a:cubicBezTo>
                  <a:cubicBezTo>
                    <a:pt x="8600" y="11576"/>
                    <a:pt x="6516" y="14014"/>
                    <a:pt x="5073" y="14255"/>
                  </a:cubicBezTo>
                </a:path>
              </a:pathLst>
            </a:custGeom>
            <a:noFill/>
            <a:ln w="38100" cap="flat" cmpd="sng">
              <a:solidFill>
                <a:srgbClr val="F1C232"/>
              </a:solidFill>
              <a:prstDash val="solid"/>
              <a:round/>
              <a:headEnd type="none" w="med" len="med"/>
              <a:tailEnd type="none" w="med" len="med"/>
            </a:ln>
          </p:spPr>
        </p:sp>
        <p:sp>
          <p:nvSpPr>
            <p:cNvPr id="833" name="Google Shape;833;p30"/>
            <p:cNvSpPr/>
            <p:nvPr/>
          </p:nvSpPr>
          <p:spPr>
            <a:xfrm>
              <a:off x="7743725" y="3093500"/>
              <a:ext cx="518875" cy="321600"/>
            </a:xfrm>
            <a:custGeom>
              <a:avLst/>
              <a:gdLst/>
              <a:ahLst/>
              <a:cxnLst/>
              <a:rect l="l" t="t" r="r" b="b"/>
              <a:pathLst>
                <a:path w="20755" h="12864" extrusionOk="0">
                  <a:moveTo>
                    <a:pt x="0" y="0"/>
                  </a:moveTo>
                  <a:cubicBezTo>
                    <a:pt x="5394" y="897"/>
                    <a:pt x="12760" y="-760"/>
                    <a:pt x="15993" y="3650"/>
                  </a:cubicBezTo>
                  <a:cubicBezTo>
                    <a:pt x="17475" y="5672"/>
                    <a:pt x="22372" y="8719"/>
                    <a:pt x="20165" y="9908"/>
                  </a:cubicBezTo>
                  <a:cubicBezTo>
                    <a:pt x="14587" y="12912"/>
                    <a:pt x="1390" y="6529"/>
                    <a:pt x="1390" y="12864"/>
                  </a:cubicBezTo>
                </a:path>
              </a:pathLst>
            </a:custGeom>
            <a:noFill/>
            <a:ln w="38100" cap="flat" cmpd="sng">
              <a:solidFill>
                <a:srgbClr val="F1C232"/>
              </a:solidFill>
              <a:prstDash val="solid"/>
              <a:round/>
              <a:headEnd type="none" w="med" len="med"/>
              <a:tailEnd type="none" w="med" len="med"/>
            </a:ln>
          </p:spPr>
        </p:sp>
        <p:sp>
          <p:nvSpPr>
            <p:cNvPr id="834" name="Google Shape;834;p30"/>
            <p:cNvSpPr/>
            <p:nvPr/>
          </p:nvSpPr>
          <p:spPr>
            <a:xfrm>
              <a:off x="7662050" y="3010925"/>
              <a:ext cx="411975" cy="478050"/>
            </a:xfrm>
            <a:custGeom>
              <a:avLst/>
              <a:gdLst/>
              <a:ahLst/>
              <a:cxnLst/>
              <a:rect l="l" t="t" r="r" b="b"/>
              <a:pathLst>
                <a:path w="16479" h="19122" extrusionOk="0">
                  <a:moveTo>
                    <a:pt x="16479" y="0"/>
                  </a:moveTo>
                  <a:cubicBezTo>
                    <a:pt x="9984" y="1946"/>
                    <a:pt x="3470" y="6343"/>
                    <a:pt x="311" y="12342"/>
                  </a:cubicBezTo>
                  <a:cubicBezTo>
                    <a:pt x="-872" y="14589"/>
                    <a:pt x="1757" y="17597"/>
                    <a:pt x="3788" y="19122"/>
                  </a:cubicBezTo>
                </a:path>
              </a:pathLst>
            </a:custGeom>
            <a:noFill/>
            <a:ln w="38100" cap="flat" cmpd="sng">
              <a:solidFill>
                <a:srgbClr val="F1C232"/>
              </a:solidFill>
              <a:prstDash val="solid"/>
              <a:round/>
              <a:headEnd type="none" w="med" len="med"/>
              <a:tailEnd type="none" w="med" len="med"/>
            </a:ln>
          </p:spPr>
        </p:sp>
        <p:sp>
          <p:nvSpPr>
            <p:cNvPr id="835" name="Google Shape;835;p30"/>
            <p:cNvSpPr/>
            <p:nvPr/>
          </p:nvSpPr>
          <p:spPr>
            <a:xfrm>
              <a:off x="7817600" y="3015250"/>
              <a:ext cx="398400" cy="587225"/>
            </a:xfrm>
            <a:custGeom>
              <a:avLst/>
              <a:gdLst/>
              <a:ahLst/>
              <a:cxnLst/>
              <a:rect l="l" t="t" r="r" b="b"/>
              <a:pathLst>
                <a:path w="15936" h="23489" extrusionOk="0">
                  <a:moveTo>
                    <a:pt x="0" y="0"/>
                  </a:moveTo>
                  <a:cubicBezTo>
                    <a:pt x="0" y="8167"/>
                    <a:pt x="2230" y="20746"/>
                    <a:pt x="10257" y="22252"/>
                  </a:cubicBezTo>
                  <a:cubicBezTo>
                    <a:pt x="12203" y="22617"/>
                    <a:pt x="15960" y="18191"/>
                    <a:pt x="15819" y="20166"/>
                  </a:cubicBezTo>
                  <a:cubicBezTo>
                    <a:pt x="15703" y="21786"/>
                    <a:pt x="15565" y="21792"/>
                    <a:pt x="14950" y="23295"/>
                  </a:cubicBezTo>
                  <a:cubicBezTo>
                    <a:pt x="14596" y="24160"/>
                    <a:pt x="13200" y="21724"/>
                    <a:pt x="13559" y="20861"/>
                  </a:cubicBezTo>
                  <a:cubicBezTo>
                    <a:pt x="14532" y="18524"/>
                    <a:pt x="16694" y="15864"/>
                    <a:pt x="15646" y="13560"/>
                  </a:cubicBezTo>
                  <a:cubicBezTo>
                    <a:pt x="15040" y="12229"/>
                    <a:pt x="13029" y="12161"/>
                    <a:pt x="11995" y="11126"/>
                  </a:cubicBezTo>
                </a:path>
              </a:pathLst>
            </a:custGeom>
            <a:noFill/>
            <a:ln w="38100" cap="flat" cmpd="sng">
              <a:solidFill>
                <a:srgbClr val="F1C232"/>
              </a:solidFill>
              <a:prstDash val="solid"/>
              <a:round/>
              <a:headEnd type="none" w="med" len="med"/>
              <a:tailEnd type="none" w="med" len="med"/>
            </a:ln>
          </p:spPr>
        </p:sp>
        <p:sp>
          <p:nvSpPr>
            <p:cNvPr id="836" name="Google Shape;836;p30"/>
            <p:cNvSpPr/>
            <p:nvPr/>
          </p:nvSpPr>
          <p:spPr>
            <a:xfrm>
              <a:off x="7643750" y="3180400"/>
              <a:ext cx="425925" cy="446300"/>
            </a:xfrm>
            <a:custGeom>
              <a:avLst/>
              <a:gdLst/>
              <a:ahLst/>
              <a:cxnLst/>
              <a:rect l="l" t="t" r="r" b="b"/>
              <a:pathLst>
                <a:path w="17037" h="17852" extrusionOk="0">
                  <a:moveTo>
                    <a:pt x="0" y="0"/>
                  </a:moveTo>
                  <a:cubicBezTo>
                    <a:pt x="4491" y="817"/>
                    <a:pt x="6830" y="6955"/>
                    <a:pt x="7475" y="11474"/>
                  </a:cubicBezTo>
                  <a:cubicBezTo>
                    <a:pt x="7713" y="13138"/>
                    <a:pt x="6322" y="15483"/>
                    <a:pt x="7649" y="16515"/>
                  </a:cubicBezTo>
                  <a:cubicBezTo>
                    <a:pt x="10121" y="18437"/>
                    <a:pt x="14632" y="18173"/>
                    <a:pt x="17037" y="16167"/>
                  </a:cubicBezTo>
                </a:path>
              </a:pathLst>
            </a:custGeom>
            <a:noFill/>
            <a:ln w="38100" cap="flat" cmpd="sng">
              <a:solidFill>
                <a:srgbClr val="F1C232"/>
              </a:solidFill>
              <a:prstDash val="solid"/>
              <a:round/>
              <a:headEnd type="none" w="med" len="med"/>
              <a:tailEnd type="none" w="med" len="med"/>
            </a:ln>
          </p:spPr>
        </p:sp>
        <p:sp>
          <p:nvSpPr>
            <p:cNvPr id="837" name="Google Shape;837;p30"/>
            <p:cNvSpPr/>
            <p:nvPr/>
          </p:nvSpPr>
          <p:spPr>
            <a:xfrm>
              <a:off x="7836249" y="3076100"/>
              <a:ext cx="320325" cy="456325"/>
            </a:xfrm>
            <a:custGeom>
              <a:avLst/>
              <a:gdLst/>
              <a:ahLst/>
              <a:cxnLst/>
              <a:rect l="l" t="t" r="r" b="b"/>
              <a:pathLst>
                <a:path w="12813" h="18253" extrusionOk="0">
                  <a:moveTo>
                    <a:pt x="12813" y="0"/>
                  </a:moveTo>
                  <a:cubicBezTo>
                    <a:pt x="7242" y="2181"/>
                    <a:pt x="-861" y="6790"/>
                    <a:pt x="123" y="12691"/>
                  </a:cubicBezTo>
                  <a:cubicBezTo>
                    <a:pt x="746" y="16427"/>
                    <a:pt x="8084" y="15004"/>
                    <a:pt x="10032" y="18253"/>
                  </a:cubicBezTo>
                </a:path>
              </a:pathLst>
            </a:custGeom>
            <a:noFill/>
            <a:ln w="38100" cap="flat" cmpd="sng">
              <a:solidFill>
                <a:srgbClr val="F1C232"/>
              </a:solidFill>
              <a:prstDash val="solid"/>
              <a:round/>
              <a:headEnd type="none" w="med" len="med"/>
              <a:tailEnd type="none" w="med" len="med"/>
            </a:ln>
          </p:spPr>
        </p:sp>
        <p:sp>
          <p:nvSpPr>
            <p:cNvPr id="838" name="Google Shape;838;p30"/>
            <p:cNvSpPr/>
            <p:nvPr/>
          </p:nvSpPr>
          <p:spPr>
            <a:xfrm>
              <a:off x="7700250" y="3132600"/>
              <a:ext cx="429925" cy="169500"/>
            </a:xfrm>
            <a:custGeom>
              <a:avLst/>
              <a:gdLst/>
              <a:ahLst/>
              <a:cxnLst/>
              <a:rect l="l" t="t" r="r" b="b"/>
              <a:pathLst>
                <a:path w="17197" h="6780" extrusionOk="0">
                  <a:moveTo>
                    <a:pt x="0" y="0"/>
                  </a:moveTo>
                  <a:cubicBezTo>
                    <a:pt x="3914" y="4695"/>
                    <a:pt x="10925" y="6780"/>
                    <a:pt x="17037" y="6780"/>
                  </a:cubicBezTo>
                  <a:cubicBezTo>
                    <a:pt x="17504" y="6780"/>
                    <a:pt x="16799" y="5655"/>
                    <a:pt x="16341" y="5563"/>
                  </a:cubicBezTo>
                </a:path>
              </a:pathLst>
            </a:custGeom>
            <a:noFill/>
            <a:ln w="38100" cap="flat" cmpd="sng">
              <a:solidFill>
                <a:srgbClr val="F1C232"/>
              </a:solidFill>
              <a:prstDash val="solid"/>
              <a:round/>
              <a:headEnd type="none" w="med" len="med"/>
              <a:tailEnd type="none" w="med" len="med"/>
            </a:ln>
          </p:spPr>
        </p:sp>
        <p:sp>
          <p:nvSpPr>
            <p:cNvPr id="839" name="Google Shape;839;p30"/>
            <p:cNvSpPr/>
            <p:nvPr/>
          </p:nvSpPr>
          <p:spPr>
            <a:xfrm>
              <a:off x="7710998" y="3098181"/>
              <a:ext cx="558575" cy="472725"/>
            </a:xfrm>
            <a:custGeom>
              <a:avLst/>
              <a:gdLst/>
              <a:ahLst/>
              <a:cxnLst/>
              <a:rect l="l" t="t" r="r" b="b"/>
              <a:pathLst>
                <a:path w="22343" h="18909" extrusionOk="0">
                  <a:moveTo>
                    <a:pt x="22343" y="4332"/>
                  </a:moveTo>
                  <a:cubicBezTo>
                    <a:pt x="16437" y="38"/>
                    <a:pt x="3704" y="-2547"/>
                    <a:pt x="439" y="3985"/>
                  </a:cubicBezTo>
                  <a:cubicBezTo>
                    <a:pt x="-1508" y="7881"/>
                    <a:pt x="3832" y="12696"/>
                    <a:pt x="7567" y="14937"/>
                  </a:cubicBezTo>
                  <a:cubicBezTo>
                    <a:pt x="9340" y="16001"/>
                    <a:pt x="12081" y="14808"/>
                    <a:pt x="13651" y="16154"/>
                  </a:cubicBezTo>
                  <a:cubicBezTo>
                    <a:pt x="15785" y="17983"/>
                    <a:pt x="7730" y="19926"/>
                    <a:pt x="5481" y="18240"/>
                  </a:cubicBezTo>
                </a:path>
              </a:pathLst>
            </a:custGeom>
            <a:noFill/>
            <a:ln w="38100" cap="flat" cmpd="sng">
              <a:solidFill>
                <a:srgbClr val="F1C232"/>
              </a:solidFill>
              <a:prstDash val="solid"/>
              <a:round/>
              <a:headEnd type="none" w="med" len="med"/>
              <a:tailEnd type="none" w="med" len="med"/>
            </a:ln>
          </p:spPr>
        </p:sp>
        <p:sp>
          <p:nvSpPr>
            <p:cNvPr id="840" name="Google Shape;840;p30"/>
            <p:cNvSpPr/>
            <p:nvPr/>
          </p:nvSpPr>
          <p:spPr>
            <a:xfrm>
              <a:off x="7685501" y="3079570"/>
              <a:ext cx="584075" cy="361600"/>
            </a:xfrm>
            <a:custGeom>
              <a:avLst/>
              <a:gdLst/>
              <a:ahLst/>
              <a:cxnLst/>
              <a:rect l="l" t="t" r="r" b="b"/>
              <a:pathLst>
                <a:path w="23363" h="14464" extrusionOk="0">
                  <a:moveTo>
                    <a:pt x="23363" y="14464"/>
                  </a:moveTo>
                  <a:cubicBezTo>
                    <a:pt x="21432" y="9632"/>
                    <a:pt x="15255" y="7928"/>
                    <a:pt x="11021" y="4903"/>
                  </a:cubicBezTo>
                  <a:cubicBezTo>
                    <a:pt x="8043" y="2775"/>
                    <a:pt x="3984" y="-1473"/>
                    <a:pt x="938" y="557"/>
                  </a:cubicBezTo>
                  <a:cubicBezTo>
                    <a:pt x="-2526" y="2866"/>
                    <a:pt x="4896" y="8744"/>
                    <a:pt x="8761" y="10292"/>
                  </a:cubicBezTo>
                </a:path>
              </a:pathLst>
            </a:custGeom>
            <a:noFill/>
            <a:ln w="38100" cap="flat" cmpd="sng">
              <a:solidFill>
                <a:srgbClr val="F1C232"/>
              </a:solidFill>
              <a:prstDash val="solid"/>
              <a:round/>
              <a:headEnd type="none" w="med" len="med"/>
              <a:tailEnd type="none" w="med" len="med"/>
            </a:ln>
          </p:spPr>
        </p:sp>
        <p:sp>
          <p:nvSpPr>
            <p:cNvPr id="841" name="Google Shape;841;p30"/>
            <p:cNvSpPr/>
            <p:nvPr/>
          </p:nvSpPr>
          <p:spPr>
            <a:xfrm>
              <a:off x="7744259" y="3028300"/>
              <a:ext cx="368875" cy="491100"/>
            </a:xfrm>
            <a:custGeom>
              <a:avLst/>
              <a:gdLst/>
              <a:ahLst/>
              <a:cxnLst/>
              <a:rect l="l" t="t" r="r" b="b"/>
              <a:pathLst>
                <a:path w="14755" h="19644" extrusionOk="0">
                  <a:moveTo>
                    <a:pt x="14755" y="0"/>
                  </a:moveTo>
                  <a:cubicBezTo>
                    <a:pt x="14495" y="609"/>
                    <a:pt x="14636" y="691"/>
                    <a:pt x="14234" y="1217"/>
                  </a:cubicBezTo>
                  <a:cubicBezTo>
                    <a:pt x="10836" y="5660"/>
                    <a:pt x="3616" y="6081"/>
                    <a:pt x="326" y="10604"/>
                  </a:cubicBezTo>
                  <a:cubicBezTo>
                    <a:pt x="-1501" y="13116"/>
                    <a:pt x="5071" y="17780"/>
                    <a:pt x="2586" y="19644"/>
                  </a:cubicBezTo>
                </a:path>
              </a:pathLst>
            </a:custGeom>
            <a:noFill/>
            <a:ln w="38100" cap="flat" cmpd="sng">
              <a:solidFill>
                <a:srgbClr val="F1C232"/>
              </a:solidFill>
              <a:prstDash val="solid"/>
              <a:round/>
              <a:headEnd type="none" w="med" len="med"/>
              <a:tailEnd type="none" w="med" len="med"/>
            </a:ln>
          </p:spPr>
        </p:sp>
        <p:sp>
          <p:nvSpPr>
            <p:cNvPr id="842" name="Google Shape;842;p30"/>
            <p:cNvSpPr/>
            <p:nvPr/>
          </p:nvSpPr>
          <p:spPr>
            <a:xfrm>
              <a:off x="7765450" y="3145650"/>
              <a:ext cx="482400" cy="338975"/>
            </a:xfrm>
            <a:custGeom>
              <a:avLst/>
              <a:gdLst/>
              <a:ahLst/>
              <a:cxnLst/>
              <a:rect l="l" t="t" r="r" b="b"/>
              <a:pathLst>
                <a:path w="19296" h="13559" extrusionOk="0">
                  <a:moveTo>
                    <a:pt x="19296" y="13559"/>
                  </a:moveTo>
                  <a:cubicBezTo>
                    <a:pt x="13760" y="11712"/>
                    <a:pt x="8516" y="8736"/>
                    <a:pt x="3998" y="5041"/>
                  </a:cubicBezTo>
                  <a:cubicBezTo>
                    <a:pt x="2338" y="3683"/>
                    <a:pt x="2116" y="351"/>
                    <a:pt x="0" y="0"/>
                  </a:cubicBezTo>
                </a:path>
              </a:pathLst>
            </a:custGeom>
            <a:noFill/>
            <a:ln w="38100" cap="flat" cmpd="sng">
              <a:solidFill>
                <a:srgbClr val="F1C232"/>
              </a:solidFill>
              <a:prstDash val="solid"/>
              <a:round/>
              <a:headEnd type="none" w="med" len="med"/>
              <a:tailEnd type="none" w="med" len="med"/>
            </a:ln>
          </p:spPr>
        </p:sp>
        <p:sp>
          <p:nvSpPr>
            <p:cNvPr id="843" name="Google Shape;843;p30"/>
            <p:cNvSpPr/>
            <p:nvPr/>
          </p:nvSpPr>
          <p:spPr>
            <a:xfrm>
              <a:off x="7665500" y="3269759"/>
              <a:ext cx="499775" cy="249650"/>
            </a:xfrm>
            <a:custGeom>
              <a:avLst/>
              <a:gdLst/>
              <a:ahLst/>
              <a:cxnLst/>
              <a:rect l="l" t="t" r="r" b="b"/>
              <a:pathLst>
                <a:path w="19991" h="9986" extrusionOk="0">
                  <a:moveTo>
                    <a:pt x="0" y="9986"/>
                  </a:moveTo>
                  <a:cubicBezTo>
                    <a:pt x="3478" y="7899"/>
                    <a:pt x="5064" y="3283"/>
                    <a:pt x="8692" y="1468"/>
                  </a:cubicBezTo>
                  <a:cubicBezTo>
                    <a:pt x="12086" y="-230"/>
                    <a:pt x="16196" y="77"/>
                    <a:pt x="19991" y="77"/>
                  </a:cubicBezTo>
                </a:path>
              </a:pathLst>
            </a:custGeom>
            <a:noFill/>
            <a:ln w="38100" cap="flat" cmpd="sng">
              <a:solidFill>
                <a:srgbClr val="F1C232"/>
              </a:solidFill>
              <a:prstDash val="solid"/>
              <a:round/>
              <a:headEnd type="none" w="med" len="med"/>
              <a:tailEnd type="none" w="med" len="med"/>
            </a:ln>
          </p:spPr>
        </p:sp>
        <p:sp>
          <p:nvSpPr>
            <p:cNvPr id="844" name="Google Shape;844;p30"/>
            <p:cNvSpPr/>
            <p:nvPr/>
          </p:nvSpPr>
          <p:spPr>
            <a:xfrm>
              <a:off x="7656800" y="3198318"/>
              <a:ext cx="660600" cy="161800"/>
            </a:xfrm>
            <a:custGeom>
              <a:avLst/>
              <a:gdLst/>
              <a:ahLst/>
              <a:cxnLst/>
              <a:rect l="l" t="t" r="r" b="b"/>
              <a:pathLst>
                <a:path w="26424" h="6472" extrusionOk="0">
                  <a:moveTo>
                    <a:pt x="26424" y="6411"/>
                  </a:moveTo>
                  <a:cubicBezTo>
                    <a:pt x="18961" y="6652"/>
                    <a:pt x="11684" y="3823"/>
                    <a:pt x="4520" y="1717"/>
                  </a:cubicBezTo>
                  <a:cubicBezTo>
                    <a:pt x="4232" y="1632"/>
                    <a:pt x="0" y="-572"/>
                    <a:pt x="0" y="153"/>
                  </a:cubicBezTo>
                  <a:cubicBezTo>
                    <a:pt x="0" y="1294"/>
                    <a:pt x="584" y="2475"/>
                    <a:pt x="1391" y="3282"/>
                  </a:cubicBezTo>
                </a:path>
              </a:pathLst>
            </a:custGeom>
            <a:noFill/>
            <a:ln w="38100" cap="flat" cmpd="sng">
              <a:solidFill>
                <a:srgbClr val="F1C232"/>
              </a:solidFill>
              <a:prstDash val="solid"/>
              <a:round/>
              <a:headEnd type="none" w="med" len="med"/>
              <a:tailEnd type="none" w="med" len="med"/>
            </a:ln>
          </p:spPr>
        </p:sp>
        <p:sp>
          <p:nvSpPr>
            <p:cNvPr id="845" name="Google Shape;845;p30"/>
            <p:cNvSpPr/>
            <p:nvPr/>
          </p:nvSpPr>
          <p:spPr>
            <a:xfrm>
              <a:off x="7757829" y="3119575"/>
              <a:ext cx="450925" cy="395475"/>
            </a:xfrm>
            <a:custGeom>
              <a:avLst/>
              <a:gdLst/>
              <a:ahLst/>
              <a:cxnLst/>
              <a:rect l="l" t="t" r="r" b="b"/>
              <a:pathLst>
                <a:path w="18037" h="15819" extrusionOk="0">
                  <a:moveTo>
                    <a:pt x="18037" y="0"/>
                  </a:moveTo>
                  <a:cubicBezTo>
                    <a:pt x="15708" y="1293"/>
                    <a:pt x="13491" y="3180"/>
                    <a:pt x="12300" y="5562"/>
                  </a:cubicBezTo>
                  <a:cubicBezTo>
                    <a:pt x="11338" y="7485"/>
                    <a:pt x="12524" y="10628"/>
                    <a:pt x="10735" y="11821"/>
                  </a:cubicBezTo>
                  <a:cubicBezTo>
                    <a:pt x="7637" y="13887"/>
                    <a:pt x="-1612" y="12627"/>
                    <a:pt x="305" y="15819"/>
                  </a:cubicBezTo>
                </a:path>
              </a:pathLst>
            </a:custGeom>
            <a:noFill/>
            <a:ln w="38100" cap="flat" cmpd="sng">
              <a:solidFill>
                <a:srgbClr val="F1C232"/>
              </a:solidFill>
              <a:prstDash val="solid"/>
              <a:round/>
              <a:headEnd type="none" w="med" len="med"/>
              <a:tailEnd type="none" w="med" len="med"/>
            </a:ln>
          </p:spPr>
        </p:sp>
        <p:sp>
          <p:nvSpPr>
            <p:cNvPr id="846" name="Google Shape;846;p30"/>
            <p:cNvSpPr/>
            <p:nvPr/>
          </p:nvSpPr>
          <p:spPr>
            <a:xfrm>
              <a:off x="7895825" y="3010925"/>
              <a:ext cx="373750" cy="469350"/>
            </a:xfrm>
            <a:custGeom>
              <a:avLst/>
              <a:gdLst/>
              <a:ahLst/>
              <a:cxnLst/>
              <a:rect l="l" t="t" r="r" b="b"/>
              <a:pathLst>
                <a:path w="14950" h="18774" extrusionOk="0">
                  <a:moveTo>
                    <a:pt x="0" y="0"/>
                  </a:moveTo>
                  <a:cubicBezTo>
                    <a:pt x="1571" y="7844"/>
                    <a:pt x="11377" y="11617"/>
                    <a:pt x="14950" y="18774"/>
                  </a:cubicBezTo>
                </a:path>
              </a:pathLst>
            </a:custGeom>
            <a:noFill/>
            <a:ln w="38100" cap="flat" cmpd="sng">
              <a:solidFill>
                <a:srgbClr val="F1C232"/>
              </a:solidFill>
              <a:prstDash val="solid"/>
              <a:round/>
              <a:headEnd type="none" w="med" len="med"/>
              <a:tailEnd type="none" w="med" len="med"/>
            </a:ln>
          </p:spPr>
        </p:sp>
        <p:sp>
          <p:nvSpPr>
            <p:cNvPr id="847" name="Google Shape;847;p30"/>
            <p:cNvSpPr/>
            <p:nvPr/>
          </p:nvSpPr>
          <p:spPr>
            <a:xfrm>
              <a:off x="7752400" y="3132600"/>
              <a:ext cx="346150" cy="434600"/>
            </a:xfrm>
            <a:custGeom>
              <a:avLst/>
              <a:gdLst/>
              <a:ahLst/>
              <a:cxnLst/>
              <a:rect l="l" t="t" r="r" b="b"/>
              <a:pathLst>
                <a:path w="13846" h="17384" extrusionOk="0">
                  <a:moveTo>
                    <a:pt x="0" y="17384"/>
                  </a:moveTo>
                  <a:cubicBezTo>
                    <a:pt x="1561" y="14266"/>
                    <a:pt x="813" y="9404"/>
                    <a:pt x="3825" y="7649"/>
                  </a:cubicBezTo>
                  <a:cubicBezTo>
                    <a:pt x="6452" y="6118"/>
                    <a:pt x="10432" y="8256"/>
                    <a:pt x="12865" y="6432"/>
                  </a:cubicBezTo>
                  <a:cubicBezTo>
                    <a:pt x="14596" y="5134"/>
                    <a:pt x="13756" y="1257"/>
                    <a:pt x="11995" y="0"/>
                  </a:cubicBezTo>
                </a:path>
              </a:pathLst>
            </a:custGeom>
            <a:noFill/>
            <a:ln w="38100" cap="flat" cmpd="sng">
              <a:solidFill>
                <a:srgbClr val="F1C232"/>
              </a:solidFill>
              <a:prstDash val="solid"/>
              <a:round/>
              <a:headEnd type="none" w="med" len="med"/>
              <a:tailEnd type="none" w="med" len="med"/>
            </a:ln>
          </p:spPr>
        </p:sp>
      </p:grpSp>
      <p:sp>
        <p:nvSpPr>
          <p:cNvPr id="848" name="Google Shape;848;p30"/>
          <p:cNvSpPr/>
          <p:nvPr/>
        </p:nvSpPr>
        <p:spPr>
          <a:xfrm rot="-6485262" flipH="1">
            <a:off x="5341176"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849" name="Google Shape;849;p30"/>
          <p:cNvSpPr/>
          <p:nvPr/>
        </p:nvSpPr>
        <p:spPr>
          <a:xfrm rot="6485262">
            <a:off x="3763714"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850" name="Google Shape;850;p30"/>
          <p:cNvSpPr/>
          <p:nvPr/>
        </p:nvSpPr>
        <p:spPr>
          <a:xfrm rot="10800000">
            <a:off x="4552435" y="2168746"/>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851" name="Google Shape;851;p30"/>
          <p:cNvSpPr/>
          <p:nvPr/>
        </p:nvSpPr>
        <p:spPr>
          <a:xfrm rot="2167448">
            <a:off x="4087053"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852" name="Google Shape;852;p30"/>
          <p:cNvSpPr/>
          <p:nvPr/>
        </p:nvSpPr>
        <p:spPr>
          <a:xfrm rot="-2167448" flipH="1">
            <a:off x="5017778"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853" name="Google Shape;853;p30"/>
          <p:cNvSpPr/>
          <p:nvPr/>
        </p:nvSpPr>
        <p:spPr>
          <a:xfrm>
            <a:off x="4416763" y="3146300"/>
            <a:ext cx="420063" cy="289163"/>
          </a:xfrm>
          <a:custGeom>
            <a:avLst/>
            <a:gdLst/>
            <a:ahLst/>
            <a:cxnLst/>
            <a:rect l="l" t="t" r="r" b="b"/>
            <a:pathLst>
              <a:path w="33605" h="23133" extrusionOk="0">
                <a:moveTo>
                  <a:pt x="0" y="23133"/>
                </a:moveTo>
                <a:cubicBezTo>
                  <a:pt x="2435" y="19075"/>
                  <a:pt x="4127" y="14465"/>
                  <a:pt x="7305" y="10958"/>
                </a:cubicBezTo>
                <a:cubicBezTo>
                  <a:pt x="13683" y="3921"/>
                  <a:pt x="24540" y="2832"/>
                  <a:pt x="33605" y="0"/>
                </a:cubicBezTo>
              </a:path>
            </a:pathLst>
          </a:custGeom>
          <a:noFill/>
          <a:ln w="38100" cap="flat" cmpd="sng">
            <a:solidFill>
              <a:srgbClr val="F1C232"/>
            </a:solidFill>
            <a:prstDash val="solid"/>
            <a:round/>
            <a:headEnd type="none" w="med" len="med"/>
            <a:tailEnd type="none" w="med" len="med"/>
          </a:ln>
        </p:spPr>
      </p:sp>
      <p:sp>
        <p:nvSpPr>
          <p:cNvPr id="854" name="Google Shape;854;p30"/>
          <p:cNvSpPr/>
          <p:nvPr/>
        </p:nvSpPr>
        <p:spPr>
          <a:xfrm>
            <a:off x="4413713" y="2966700"/>
            <a:ext cx="273963" cy="413975"/>
          </a:xfrm>
          <a:custGeom>
            <a:avLst/>
            <a:gdLst/>
            <a:ahLst/>
            <a:cxnLst/>
            <a:rect l="l" t="t" r="r" b="b"/>
            <a:pathLst>
              <a:path w="21917" h="33118" extrusionOk="0">
                <a:moveTo>
                  <a:pt x="0" y="0"/>
                </a:moveTo>
                <a:cubicBezTo>
                  <a:pt x="2209" y="4416"/>
                  <a:pt x="6510" y="8222"/>
                  <a:pt x="6819" y="13150"/>
                </a:cubicBezTo>
                <a:cubicBezTo>
                  <a:pt x="7095" y="17561"/>
                  <a:pt x="2967" y="22436"/>
                  <a:pt x="5114" y="26300"/>
                </a:cubicBezTo>
                <a:cubicBezTo>
                  <a:pt x="8050" y="31584"/>
                  <a:pt x="16181" y="31211"/>
                  <a:pt x="21917" y="33118"/>
                </a:cubicBezTo>
              </a:path>
            </a:pathLst>
          </a:custGeom>
          <a:noFill/>
          <a:ln w="38100" cap="flat" cmpd="sng">
            <a:solidFill>
              <a:srgbClr val="F1C232"/>
            </a:solidFill>
            <a:prstDash val="solid"/>
            <a:round/>
            <a:headEnd type="none" w="med" len="med"/>
            <a:tailEnd type="none" w="med" len="med"/>
          </a:ln>
        </p:spPr>
      </p:sp>
      <p:sp>
        <p:nvSpPr>
          <p:cNvPr id="855" name="Google Shape;855;p30"/>
          <p:cNvSpPr/>
          <p:nvPr/>
        </p:nvSpPr>
        <p:spPr>
          <a:xfrm>
            <a:off x="4363841" y="3099836"/>
            <a:ext cx="427325" cy="335625"/>
          </a:xfrm>
          <a:custGeom>
            <a:avLst/>
            <a:gdLst/>
            <a:ahLst/>
            <a:cxnLst/>
            <a:rect l="l" t="t" r="r" b="b"/>
            <a:pathLst>
              <a:path w="34186" h="26850" extrusionOk="0">
                <a:moveTo>
                  <a:pt x="34186" y="7369"/>
                </a:moveTo>
                <a:cubicBezTo>
                  <a:pt x="26609" y="7875"/>
                  <a:pt x="18987" y="9107"/>
                  <a:pt x="11783" y="11509"/>
                </a:cubicBezTo>
                <a:cubicBezTo>
                  <a:pt x="8958" y="12451"/>
                  <a:pt x="6190" y="14721"/>
                  <a:pt x="3260" y="14188"/>
                </a:cubicBezTo>
                <a:cubicBezTo>
                  <a:pt x="100" y="13613"/>
                  <a:pt x="-612" y="7915"/>
                  <a:pt x="581" y="4934"/>
                </a:cubicBezTo>
                <a:cubicBezTo>
                  <a:pt x="2999" y="-1107"/>
                  <a:pt x="16358" y="-1632"/>
                  <a:pt x="20062" y="3717"/>
                </a:cubicBezTo>
                <a:cubicBezTo>
                  <a:pt x="23302" y="8396"/>
                  <a:pt x="18572" y="15095"/>
                  <a:pt x="19088" y="20763"/>
                </a:cubicBezTo>
                <a:cubicBezTo>
                  <a:pt x="19370" y="23858"/>
                  <a:pt x="23042" y="26850"/>
                  <a:pt x="26150" y="26850"/>
                </a:cubicBezTo>
              </a:path>
            </a:pathLst>
          </a:custGeom>
          <a:noFill/>
          <a:ln w="38100" cap="flat" cmpd="sng">
            <a:solidFill>
              <a:srgbClr val="F1C232"/>
            </a:solidFill>
            <a:prstDash val="solid"/>
            <a:round/>
            <a:headEnd type="none" w="med" len="med"/>
            <a:tailEnd type="none" w="med" len="med"/>
          </a:ln>
        </p:spPr>
      </p:sp>
      <p:sp>
        <p:nvSpPr>
          <p:cNvPr id="856" name="Google Shape;856;p30"/>
          <p:cNvSpPr/>
          <p:nvPr/>
        </p:nvSpPr>
        <p:spPr>
          <a:xfrm>
            <a:off x="4365013" y="2942350"/>
            <a:ext cx="453675" cy="414725"/>
          </a:xfrm>
          <a:custGeom>
            <a:avLst/>
            <a:gdLst/>
            <a:ahLst/>
            <a:cxnLst/>
            <a:rect l="l" t="t" r="r" b="b"/>
            <a:pathLst>
              <a:path w="36294" h="33178" extrusionOk="0">
                <a:moveTo>
                  <a:pt x="16072" y="0"/>
                </a:moveTo>
                <a:cubicBezTo>
                  <a:pt x="18478" y="5415"/>
                  <a:pt x="25652" y="7856"/>
                  <a:pt x="27761" y="13393"/>
                </a:cubicBezTo>
                <a:cubicBezTo>
                  <a:pt x="29698" y="18478"/>
                  <a:pt x="25844" y="24459"/>
                  <a:pt x="27274" y="29709"/>
                </a:cubicBezTo>
                <a:cubicBezTo>
                  <a:pt x="27905" y="32023"/>
                  <a:pt x="32028" y="34192"/>
                  <a:pt x="33849" y="32631"/>
                </a:cubicBezTo>
                <a:cubicBezTo>
                  <a:pt x="36931" y="29989"/>
                  <a:pt x="37353" y="22015"/>
                  <a:pt x="33605" y="20455"/>
                </a:cubicBezTo>
                <a:cubicBezTo>
                  <a:pt x="25042" y="16890"/>
                  <a:pt x="14673" y="21082"/>
                  <a:pt x="6088" y="24595"/>
                </a:cubicBezTo>
                <a:cubicBezTo>
                  <a:pt x="3268" y="25749"/>
                  <a:pt x="2891" y="30452"/>
                  <a:pt x="0" y="31413"/>
                </a:cubicBezTo>
              </a:path>
            </a:pathLst>
          </a:custGeom>
          <a:noFill/>
          <a:ln w="38100" cap="flat" cmpd="sng">
            <a:solidFill>
              <a:srgbClr val="F1C232"/>
            </a:solidFill>
            <a:prstDash val="solid"/>
            <a:round/>
            <a:headEnd type="none" w="med" len="med"/>
            <a:tailEnd type="none" w="med" len="med"/>
          </a:ln>
        </p:spPr>
      </p:sp>
      <p:sp>
        <p:nvSpPr>
          <p:cNvPr id="857" name="Google Shape;857;p30"/>
          <p:cNvSpPr/>
          <p:nvPr/>
        </p:nvSpPr>
        <p:spPr>
          <a:xfrm>
            <a:off x="4340663" y="2972714"/>
            <a:ext cx="441350" cy="510425"/>
          </a:xfrm>
          <a:custGeom>
            <a:avLst/>
            <a:gdLst/>
            <a:ahLst/>
            <a:cxnLst/>
            <a:rect l="l" t="t" r="r" b="b"/>
            <a:pathLst>
              <a:path w="35308" h="40834" extrusionOk="0">
                <a:moveTo>
                  <a:pt x="0" y="21923"/>
                </a:moveTo>
                <a:cubicBezTo>
                  <a:pt x="4868" y="17746"/>
                  <a:pt x="16935" y="15448"/>
                  <a:pt x="19238" y="21435"/>
                </a:cubicBezTo>
                <a:cubicBezTo>
                  <a:pt x="21093" y="26256"/>
                  <a:pt x="14339" y="32377"/>
                  <a:pt x="17046" y="36777"/>
                </a:cubicBezTo>
                <a:cubicBezTo>
                  <a:pt x="19515" y="40790"/>
                  <a:pt x="26930" y="41953"/>
                  <a:pt x="30926" y="39456"/>
                </a:cubicBezTo>
                <a:cubicBezTo>
                  <a:pt x="37891" y="35105"/>
                  <a:pt x="35821" y="20062"/>
                  <a:pt x="29465" y="14861"/>
                </a:cubicBezTo>
                <a:cubicBezTo>
                  <a:pt x="22888" y="9480"/>
                  <a:pt x="7178" y="12602"/>
                  <a:pt x="6331" y="4146"/>
                </a:cubicBezTo>
                <a:cubicBezTo>
                  <a:pt x="5675" y="-2396"/>
                  <a:pt x="21107" y="-183"/>
                  <a:pt x="26056" y="4146"/>
                </a:cubicBezTo>
                <a:cubicBezTo>
                  <a:pt x="35321" y="12251"/>
                  <a:pt x="17470" y="28073"/>
                  <a:pt x="8766" y="36777"/>
                </a:cubicBezTo>
              </a:path>
            </a:pathLst>
          </a:custGeom>
          <a:noFill/>
          <a:ln w="38100" cap="flat" cmpd="sng">
            <a:solidFill>
              <a:srgbClr val="F1C232"/>
            </a:solidFill>
            <a:prstDash val="solid"/>
            <a:round/>
            <a:headEnd type="none" w="med" len="med"/>
            <a:tailEnd type="none" w="med" len="med"/>
          </a:ln>
        </p:spPr>
      </p:sp>
      <p:sp>
        <p:nvSpPr>
          <p:cNvPr id="858" name="Google Shape;858;p30"/>
          <p:cNvSpPr/>
          <p:nvPr/>
        </p:nvSpPr>
        <p:spPr>
          <a:xfrm>
            <a:off x="4336629" y="2954525"/>
            <a:ext cx="448450" cy="512988"/>
          </a:xfrm>
          <a:custGeom>
            <a:avLst/>
            <a:gdLst/>
            <a:ahLst/>
            <a:cxnLst/>
            <a:rect l="l" t="t" r="r" b="b"/>
            <a:pathLst>
              <a:path w="35876" h="41039" extrusionOk="0">
                <a:moveTo>
                  <a:pt x="35876" y="12176"/>
                </a:moveTo>
                <a:cubicBezTo>
                  <a:pt x="33278" y="13474"/>
                  <a:pt x="30137" y="14019"/>
                  <a:pt x="28084" y="16072"/>
                </a:cubicBezTo>
                <a:cubicBezTo>
                  <a:pt x="24741" y="19415"/>
                  <a:pt x="24638" y="25253"/>
                  <a:pt x="25161" y="29952"/>
                </a:cubicBezTo>
                <a:cubicBezTo>
                  <a:pt x="25573" y="33653"/>
                  <a:pt x="31860" y="39489"/>
                  <a:pt x="28327" y="40667"/>
                </a:cubicBezTo>
                <a:cubicBezTo>
                  <a:pt x="23195" y="42378"/>
                  <a:pt x="17049" y="37559"/>
                  <a:pt x="13960" y="33118"/>
                </a:cubicBezTo>
                <a:cubicBezTo>
                  <a:pt x="10617" y="28313"/>
                  <a:pt x="9699" y="20564"/>
                  <a:pt x="4219" y="18507"/>
                </a:cubicBezTo>
                <a:cubicBezTo>
                  <a:pt x="680" y="17179"/>
                  <a:pt x="-1376" y="26792"/>
                  <a:pt x="1297" y="29465"/>
                </a:cubicBezTo>
                <a:cubicBezTo>
                  <a:pt x="5492" y="33660"/>
                  <a:pt x="15463" y="29538"/>
                  <a:pt x="18343" y="24352"/>
                </a:cubicBezTo>
                <a:cubicBezTo>
                  <a:pt x="21498" y="18671"/>
                  <a:pt x="15329" y="10954"/>
                  <a:pt x="17612" y="4870"/>
                </a:cubicBezTo>
                <a:cubicBezTo>
                  <a:pt x="18786" y="1740"/>
                  <a:pt x="23036" y="0"/>
                  <a:pt x="26379" y="0"/>
                </a:cubicBezTo>
              </a:path>
            </a:pathLst>
          </a:custGeom>
          <a:noFill/>
          <a:ln w="38100" cap="flat" cmpd="sng">
            <a:solidFill>
              <a:srgbClr val="F1C232"/>
            </a:solidFill>
            <a:prstDash val="solid"/>
            <a:round/>
            <a:headEnd type="none" w="med" len="med"/>
            <a:tailEnd type="none" w="med" len="med"/>
          </a:ln>
        </p:spPr>
      </p:sp>
      <p:sp>
        <p:nvSpPr>
          <p:cNvPr id="859" name="Google Shape;859;p30"/>
          <p:cNvSpPr/>
          <p:nvPr/>
        </p:nvSpPr>
        <p:spPr>
          <a:xfrm>
            <a:off x="883563" y="1766900"/>
            <a:ext cx="695700" cy="695700"/>
          </a:xfrm>
          <a:prstGeom prst="ellipse">
            <a:avLst/>
          </a:prstGeom>
          <a:solidFill>
            <a:srgbClr val="FFFFFF"/>
          </a:solidFill>
          <a:ln>
            <a:noFill/>
          </a:ln>
        </p:spPr>
        <p:txBody>
          <a:bodyPr spcFirstLastPara="1" wrap="square" lIns="45713" tIns="45713" rIns="45713" bIns="45713" anchor="ctr" anchorCtr="0">
            <a:noAutofit/>
          </a:bodyPr>
          <a:lstStyle/>
          <a:p>
            <a:pPr algn="ctr"/>
            <a:r>
              <a:rPr lang="en" sz="3000"/>
              <a:t>0</a:t>
            </a:r>
            <a:endParaRPr sz="3000"/>
          </a:p>
        </p:txBody>
      </p:sp>
      <p:sp>
        <p:nvSpPr>
          <p:cNvPr id="860" name="Google Shape;860;p30"/>
          <p:cNvSpPr txBox="1"/>
          <p:nvPr/>
        </p:nvSpPr>
        <p:spPr>
          <a:xfrm>
            <a:off x="299538" y="2545738"/>
            <a:ext cx="1863750" cy="553984"/>
          </a:xfrm>
          <a:prstGeom prst="rect">
            <a:avLst/>
          </a:prstGeom>
          <a:noFill/>
          <a:ln>
            <a:noFill/>
          </a:ln>
        </p:spPr>
        <p:txBody>
          <a:bodyPr spcFirstLastPara="1" wrap="square" lIns="45713" tIns="45713" rIns="45713" bIns="45713" anchor="t" anchorCtr="0">
            <a:spAutoFit/>
          </a:bodyPr>
          <a:lstStyle/>
          <a:p>
            <a:pPr algn="ctr"/>
            <a:r>
              <a:rPr lang="en" sz="1500">
                <a:solidFill>
                  <a:srgbClr val="FFFFFF"/>
                </a:solidFill>
              </a:rPr>
              <a:t>Mutex</a:t>
            </a:r>
            <a:endParaRPr sz="1500">
              <a:solidFill>
                <a:srgbClr val="FFFFFF"/>
              </a:solidFill>
            </a:endParaRPr>
          </a:p>
          <a:p>
            <a:pPr algn="ctr"/>
            <a:r>
              <a:rPr lang="en" sz="1500">
                <a:solidFill>
                  <a:srgbClr val="FFFFFF"/>
                </a:solidFill>
              </a:rPr>
              <a:t>(arbitrator/waiter)</a:t>
            </a:r>
            <a:endParaRPr sz="1500">
              <a:solidFill>
                <a:srgbClr val="FFFFFF"/>
              </a:solidFill>
            </a:endParaRP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31"/>
          <p:cNvSpPr/>
          <p:nvPr/>
        </p:nvSpPr>
        <p:spPr>
          <a:xfrm>
            <a:off x="3389862" y="2035757"/>
            <a:ext cx="2364300" cy="2364300"/>
          </a:xfrm>
          <a:prstGeom prst="ellipse">
            <a:avLst/>
          </a:prstGeom>
          <a:solidFill>
            <a:srgbClr val="783F04"/>
          </a:solidFill>
          <a:ln>
            <a:noFill/>
          </a:ln>
        </p:spPr>
        <p:txBody>
          <a:bodyPr spcFirstLastPara="1" wrap="square" lIns="45713" tIns="45713" rIns="45713" bIns="45713" anchor="ctr" anchorCtr="0">
            <a:noAutofit/>
          </a:bodyPr>
          <a:lstStyle/>
          <a:p>
            <a:endParaRPr sz="900"/>
          </a:p>
        </p:txBody>
      </p:sp>
      <p:pic>
        <p:nvPicPr>
          <p:cNvPr id="866" name="Google Shape;866;p31"/>
          <p:cNvPicPr preferRelativeResize="0"/>
          <p:nvPr/>
        </p:nvPicPr>
        <p:blipFill>
          <a:blip r:embed="rId3">
            <a:alphaModFix/>
          </a:blip>
          <a:stretch>
            <a:fillRect/>
          </a:stretch>
        </p:blipFill>
        <p:spPr>
          <a:xfrm>
            <a:off x="5100038" y="1243400"/>
            <a:ext cx="1219200" cy="1219200"/>
          </a:xfrm>
          <a:prstGeom prst="rect">
            <a:avLst/>
          </a:prstGeom>
          <a:noFill/>
          <a:ln>
            <a:noFill/>
          </a:ln>
        </p:spPr>
      </p:pic>
      <p:pic>
        <p:nvPicPr>
          <p:cNvPr id="867" name="Google Shape;867;p31"/>
          <p:cNvPicPr preferRelativeResize="0"/>
          <p:nvPr/>
        </p:nvPicPr>
        <p:blipFill>
          <a:blip r:embed="rId4">
            <a:alphaModFix/>
          </a:blip>
          <a:stretch>
            <a:fillRect/>
          </a:stretch>
        </p:blipFill>
        <p:spPr>
          <a:xfrm>
            <a:off x="3962394" y="4395400"/>
            <a:ext cx="1219200" cy="1219200"/>
          </a:xfrm>
          <a:prstGeom prst="rect">
            <a:avLst/>
          </a:prstGeom>
          <a:noFill/>
          <a:ln>
            <a:noFill/>
          </a:ln>
        </p:spPr>
      </p:pic>
      <p:pic>
        <p:nvPicPr>
          <p:cNvPr id="868" name="Google Shape;868;p31"/>
          <p:cNvPicPr preferRelativeResize="0"/>
          <p:nvPr/>
        </p:nvPicPr>
        <p:blipFill>
          <a:blip r:embed="rId5">
            <a:alphaModFix/>
          </a:blip>
          <a:stretch>
            <a:fillRect/>
          </a:stretch>
        </p:blipFill>
        <p:spPr>
          <a:xfrm>
            <a:off x="2292325" y="3217875"/>
            <a:ext cx="1219200" cy="1219200"/>
          </a:xfrm>
          <a:prstGeom prst="rect">
            <a:avLst/>
          </a:prstGeom>
          <a:noFill/>
          <a:ln>
            <a:noFill/>
          </a:ln>
        </p:spPr>
      </p:pic>
      <p:pic>
        <p:nvPicPr>
          <p:cNvPr id="869" name="Google Shape;869;p31"/>
          <p:cNvPicPr preferRelativeResize="0"/>
          <p:nvPr/>
        </p:nvPicPr>
        <p:blipFill>
          <a:blip r:embed="rId6">
            <a:alphaModFix/>
          </a:blip>
          <a:stretch>
            <a:fillRect/>
          </a:stretch>
        </p:blipFill>
        <p:spPr>
          <a:xfrm>
            <a:off x="5632475" y="3217875"/>
            <a:ext cx="1219200" cy="1219200"/>
          </a:xfrm>
          <a:prstGeom prst="rect">
            <a:avLst/>
          </a:prstGeom>
          <a:noFill/>
          <a:ln>
            <a:noFill/>
          </a:ln>
        </p:spPr>
      </p:pic>
      <p:pic>
        <p:nvPicPr>
          <p:cNvPr id="870" name="Google Shape;870;p31"/>
          <p:cNvPicPr preferRelativeResize="0"/>
          <p:nvPr/>
        </p:nvPicPr>
        <p:blipFill>
          <a:blip r:embed="rId7">
            <a:alphaModFix/>
          </a:blip>
          <a:stretch>
            <a:fillRect/>
          </a:stretch>
        </p:blipFill>
        <p:spPr>
          <a:xfrm>
            <a:off x="2824757" y="1243400"/>
            <a:ext cx="1219200" cy="1219200"/>
          </a:xfrm>
          <a:prstGeom prst="rect">
            <a:avLst/>
          </a:prstGeom>
          <a:noFill/>
          <a:ln>
            <a:noFill/>
          </a:ln>
        </p:spPr>
      </p:pic>
      <p:grpSp>
        <p:nvGrpSpPr>
          <p:cNvPr id="871" name="Google Shape;871;p31"/>
          <p:cNvGrpSpPr/>
          <p:nvPr/>
        </p:nvGrpSpPr>
        <p:grpSpPr>
          <a:xfrm>
            <a:off x="4157195" y="2803111"/>
            <a:ext cx="829600" cy="829600"/>
            <a:chOff x="7509900" y="2868375"/>
            <a:chExt cx="903900" cy="903900"/>
          </a:xfrm>
        </p:grpSpPr>
        <p:sp>
          <p:nvSpPr>
            <p:cNvPr id="872" name="Google Shape;872;p31"/>
            <p:cNvSpPr/>
            <p:nvPr/>
          </p:nvSpPr>
          <p:spPr>
            <a:xfrm>
              <a:off x="7509900" y="2868375"/>
              <a:ext cx="903900" cy="903900"/>
            </a:xfrm>
            <a:prstGeom prst="ellipse">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73" name="Google Shape;873;p31"/>
            <p:cNvSpPr/>
            <p:nvPr/>
          </p:nvSpPr>
          <p:spPr>
            <a:xfrm>
              <a:off x="7726325" y="3187287"/>
              <a:ext cx="281375" cy="421875"/>
            </a:xfrm>
            <a:custGeom>
              <a:avLst/>
              <a:gdLst/>
              <a:ahLst/>
              <a:cxnLst/>
              <a:rect l="l" t="t" r="r" b="b"/>
              <a:pathLst>
                <a:path w="11255" h="16875" extrusionOk="0">
                  <a:moveTo>
                    <a:pt x="0" y="1985"/>
                  </a:moveTo>
                  <a:cubicBezTo>
                    <a:pt x="3409" y="525"/>
                    <a:pt x="10171" y="-1599"/>
                    <a:pt x="11126" y="1985"/>
                  </a:cubicBezTo>
                  <a:cubicBezTo>
                    <a:pt x="11977" y="5177"/>
                    <a:pt x="7498" y="7599"/>
                    <a:pt x="5042" y="9808"/>
                  </a:cubicBezTo>
                  <a:cubicBezTo>
                    <a:pt x="3517" y="11179"/>
                    <a:pt x="7922" y="12750"/>
                    <a:pt x="9562" y="13980"/>
                  </a:cubicBezTo>
                  <a:cubicBezTo>
                    <a:pt x="10372" y="14587"/>
                    <a:pt x="11636" y="16225"/>
                    <a:pt x="10778" y="16762"/>
                  </a:cubicBezTo>
                  <a:cubicBezTo>
                    <a:pt x="9613" y="17490"/>
                    <a:pt x="7707" y="13849"/>
                    <a:pt x="8866" y="13111"/>
                  </a:cubicBezTo>
                </a:path>
              </a:pathLst>
            </a:custGeom>
            <a:noFill/>
            <a:ln w="38100" cap="flat" cmpd="sng">
              <a:solidFill>
                <a:srgbClr val="F1C232"/>
              </a:solidFill>
              <a:prstDash val="solid"/>
              <a:round/>
              <a:headEnd type="none" w="med" len="med"/>
              <a:tailEnd type="none" w="med" len="med"/>
            </a:ln>
          </p:spPr>
        </p:sp>
        <p:sp>
          <p:nvSpPr>
            <p:cNvPr id="874" name="Google Shape;874;p31"/>
            <p:cNvSpPr/>
            <p:nvPr/>
          </p:nvSpPr>
          <p:spPr>
            <a:xfrm>
              <a:off x="7829049" y="3032650"/>
              <a:ext cx="272850" cy="456325"/>
            </a:xfrm>
            <a:custGeom>
              <a:avLst/>
              <a:gdLst/>
              <a:ahLst/>
              <a:cxnLst/>
              <a:rect l="l" t="t" r="r" b="b"/>
              <a:pathLst>
                <a:path w="10914" h="18253" extrusionOk="0">
                  <a:moveTo>
                    <a:pt x="4236" y="0"/>
                  </a:moveTo>
                  <a:cubicBezTo>
                    <a:pt x="1862" y="3263"/>
                    <a:pt x="-1710" y="8598"/>
                    <a:pt x="933" y="11647"/>
                  </a:cubicBezTo>
                  <a:cubicBezTo>
                    <a:pt x="3470" y="14574"/>
                    <a:pt x="12913" y="15228"/>
                    <a:pt x="10494" y="18253"/>
                  </a:cubicBezTo>
                </a:path>
              </a:pathLst>
            </a:custGeom>
            <a:noFill/>
            <a:ln w="38100" cap="flat" cmpd="sng">
              <a:solidFill>
                <a:srgbClr val="F1C232"/>
              </a:solidFill>
              <a:prstDash val="solid"/>
              <a:round/>
              <a:headEnd type="none" w="med" len="med"/>
              <a:tailEnd type="none" w="med" len="med"/>
            </a:ln>
          </p:spPr>
        </p:sp>
        <p:sp>
          <p:nvSpPr>
            <p:cNvPr id="875" name="Google Shape;875;p31"/>
            <p:cNvSpPr/>
            <p:nvPr/>
          </p:nvSpPr>
          <p:spPr>
            <a:xfrm>
              <a:off x="7938508" y="3145650"/>
              <a:ext cx="222425" cy="356375"/>
            </a:xfrm>
            <a:custGeom>
              <a:avLst/>
              <a:gdLst/>
              <a:ahLst/>
              <a:cxnLst/>
              <a:rect l="l" t="t" r="r" b="b"/>
              <a:pathLst>
                <a:path w="8897" h="14255" extrusionOk="0">
                  <a:moveTo>
                    <a:pt x="8897" y="0"/>
                  </a:moveTo>
                  <a:cubicBezTo>
                    <a:pt x="5700" y="999"/>
                    <a:pt x="1621" y="2006"/>
                    <a:pt x="205" y="5041"/>
                  </a:cubicBezTo>
                  <a:cubicBezTo>
                    <a:pt x="-1089" y="7814"/>
                    <a:pt x="5221" y="8570"/>
                    <a:pt x="7507" y="10604"/>
                  </a:cubicBezTo>
                  <a:cubicBezTo>
                    <a:pt x="8600" y="11576"/>
                    <a:pt x="6516" y="14014"/>
                    <a:pt x="5073" y="14255"/>
                  </a:cubicBezTo>
                </a:path>
              </a:pathLst>
            </a:custGeom>
            <a:noFill/>
            <a:ln w="38100" cap="flat" cmpd="sng">
              <a:solidFill>
                <a:srgbClr val="F1C232"/>
              </a:solidFill>
              <a:prstDash val="solid"/>
              <a:round/>
              <a:headEnd type="none" w="med" len="med"/>
              <a:tailEnd type="none" w="med" len="med"/>
            </a:ln>
          </p:spPr>
        </p:sp>
        <p:sp>
          <p:nvSpPr>
            <p:cNvPr id="876" name="Google Shape;876;p31"/>
            <p:cNvSpPr/>
            <p:nvPr/>
          </p:nvSpPr>
          <p:spPr>
            <a:xfrm>
              <a:off x="7743725" y="3093500"/>
              <a:ext cx="518875" cy="321600"/>
            </a:xfrm>
            <a:custGeom>
              <a:avLst/>
              <a:gdLst/>
              <a:ahLst/>
              <a:cxnLst/>
              <a:rect l="l" t="t" r="r" b="b"/>
              <a:pathLst>
                <a:path w="20755" h="12864" extrusionOk="0">
                  <a:moveTo>
                    <a:pt x="0" y="0"/>
                  </a:moveTo>
                  <a:cubicBezTo>
                    <a:pt x="5394" y="897"/>
                    <a:pt x="12760" y="-760"/>
                    <a:pt x="15993" y="3650"/>
                  </a:cubicBezTo>
                  <a:cubicBezTo>
                    <a:pt x="17475" y="5672"/>
                    <a:pt x="22372" y="8719"/>
                    <a:pt x="20165" y="9908"/>
                  </a:cubicBezTo>
                  <a:cubicBezTo>
                    <a:pt x="14587" y="12912"/>
                    <a:pt x="1390" y="6529"/>
                    <a:pt x="1390" y="12864"/>
                  </a:cubicBezTo>
                </a:path>
              </a:pathLst>
            </a:custGeom>
            <a:noFill/>
            <a:ln w="38100" cap="flat" cmpd="sng">
              <a:solidFill>
                <a:srgbClr val="F1C232"/>
              </a:solidFill>
              <a:prstDash val="solid"/>
              <a:round/>
              <a:headEnd type="none" w="med" len="med"/>
              <a:tailEnd type="none" w="med" len="med"/>
            </a:ln>
          </p:spPr>
        </p:sp>
        <p:sp>
          <p:nvSpPr>
            <p:cNvPr id="877" name="Google Shape;877;p31"/>
            <p:cNvSpPr/>
            <p:nvPr/>
          </p:nvSpPr>
          <p:spPr>
            <a:xfrm>
              <a:off x="7662050" y="3010925"/>
              <a:ext cx="411975" cy="478050"/>
            </a:xfrm>
            <a:custGeom>
              <a:avLst/>
              <a:gdLst/>
              <a:ahLst/>
              <a:cxnLst/>
              <a:rect l="l" t="t" r="r" b="b"/>
              <a:pathLst>
                <a:path w="16479" h="19122" extrusionOk="0">
                  <a:moveTo>
                    <a:pt x="16479" y="0"/>
                  </a:moveTo>
                  <a:cubicBezTo>
                    <a:pt x="9984" y="1946"/>
                    <a:pt x="3470" y="6343"/>
                    <a:pt x="311" y="12342"/>
                  </a:cubicBezTo>
                  <a:cubicBezTo>
                    <a:pt x="-872" y="14589"/>
                    <a:pt x="1757" y="17597"/>
                    <a:pt x="3788" y="19122"/>
                  </a:cubicBezTo>
                </a:path>
              </a:pathLst>
            </a:custGeom>
            <a:noFill/>
            <a:ln w="38100" cap="flat" cmpd="sng">
              <a:solidFill>
                <a:srgbClr val="F1C232"/>
              </a:solidFill>
              <a:prstDash val="solid"/>
              <a:round/>
              <a:headEnd type="none" w="med" len="med"/>
              <a:tailEnd type="none" w="med" len="med"/>
            </a:ln>
          </p:spPr>
        </p:sp>
        <p:sp>
          <p:nvSpPr>
            <p:cNvPr id="878" name="Google Shape;878;p31"/>
            <p:cNvSpPr/>
            <p:nvPr/>
          </p:nvSpPr>
          <p:spPr>
            <a:xfrm>
              <a:off x="7817600" y="3015250"/>
              <a:ext cx="398400" cy="587225"/>
            </a:xfrm>
            <a:custGeom>
              <a:avLst/>
              <a:gdLst/>
              <a:ahLst/>
              <a:cxnLst/>
              <a:rect l="l" t="t" r="r" b="b"/>
              <a:pathLst>
                <a:path w="15936" h="23489" extrusionOk="0">
                  <a:moveTo>
                    <a:pt x="0" y="0"/>
                  </a:moveTo>
                  <a:cubicBezTo>
                    <a:pt x="0" y="8167"/>
                    <a:pt x="2230" y="20746"/>
                    <a:pt x="10257" y="22252"/>
                  </a:cubicBezTo>
                  <a:cubicBezTo>
                    <a:pt x="12203" y="22617"/>
                    <a:pt x="15960" y="18191"/>
                    <a:pt x="15819" y="20166"/>
                  </a:cubicBezTo>
                  <a:cubicBezTo>
                    <a:pt x="15703" y="21786"/>
                    <a:pt x="15565" y="21792"/>
                    <a:pt x="14950" y="23295"/>
                  </a:cubicBezTo>
                  <a:cubicBezTo>
                    <a:pt x="14596" y="24160"/>
                    <a:pt x="13200" y="21724"/>
                    <a:pt x="13559" y="20861"/>
                  </a:cubicBezTo>
                  <a:cubicBezTo>
                    <a:pt x="14532" y="18524"/>
                    <a:pt x="16694" y="15864"/>
                    <a:pt x="15646" y="13560"/>
                  </a:cubicBezTo>
                  <a:cubicBezTo>
                    <a:pt x="15040" y="12229"/>
                    <a:pt x="13029" y="12161"/>
                    <a:pt x="11995" y="11126"/>
                  </a:cubicBezTo>
                </a:path>
              </a:pathLst>
            </a:custGeom>
            <a:noFill/>
            <a:ln w="38100" cap="flat" cmpd="sng">
              <a:solidFill>
                <a:srgbClr val="F1C232"/>
              </a:solidFill>
              <a:prstDash val="solid"/>
              <a:round/>
              <a:headEnd type="none" w="med" len="med"/>
              <a:tailEnd type="none" w="med" len="med"/>
            </a:ln>
          </p:spPr>
        </p:sp>
        <p:sp>
          <p:nvSpPr>
            <p:cNvPr id="879" name="Google Shape;879;p31"/>
            <p:cNvSpPr/>
            <p:nvPr/>
          </p:nvSpPr>
          <p:spPr>
            <a:xfrm>
              <a:off x="7643750" y="3180400"/>
              <a:ext cx="425925" cy="446300"/>
            </a:xfrm>
            <a:custGeom>
              <a:avLst/>
              <a:gdLst/>
              <a:ahLst/>
              <a:cxnLst/>
              <a:rect l="l" t="t" r="r" b="b"/>
              <a:pathLst>
                <a:path w="17037" h="17852" extrusionOk="0">
                  <a:moveTo>
                    <a:pt x="0" y="0"/>
                  </a:moveTo>
                  <a:cubicBezTo>
                    <a:pt x="4491" y="817"/>
                    <a:pt x="6830" y="6955"/>
                    <a:pt x="7475" y="11474"/>
                  </a:cubicBezTo>
                  <a:cubicBezTo>
                    <a:pt x="7713" y="13138"/>
                    <a:pt x="6322" y="15483"/>
                    <a:pt x="7649" y="16515"/>
                  </a:cubicBezTo>
                  <a:cubicBezTo>
                    <a:pt x="10121" y="18437"/>
                    <a:pt x="14632" y="18173"/>
                    <a:pt x="17037" y="16167"/>
                  </a:cubicBezTo>
                </a:path>
              </a:pathLst>
            </a:custGeom>
            <a:noFill/>
            <a:ln w="38100" cap="flat" cmpd="sng">
              <a:solidFill>
                <a:srgbClr val="F1C232"/>
              </a:solidFill>
              <a:prstDash val="solid"/>
              <a:round/>
              <a:headEnd type="none" w="med" len="med"/>
              <a:tailEnd type="none" w="med" len="med"/>
            </a:ln>
          </p:spPr>
        </p:sp>
        <p:sp>
          <p:nvSpPr>
            <p:cNvPr id="880" name="Google Shape;880;p31"/>
            <p:cNvSpPr/>
            <p:nvPr/>
          </p:nvSpPr>
          <p:spPr>
            <a:xfrm>
              <a:off x="7836249" y="3076100"/>
              <a:ext cx="320325" cy="456325"/>
            </a:xfrm>
            <a:custGeom>
              <a:avLst/>
              <a:gdLst/>
              <a:ahLst/>
              <a:cxnLst/>
              <a:rect l="l" t="t" r="r" b="b"/>
              <a:pathLst>
                <a:path w="12813" h="18253" extrusionOk="0">
                  <a:moveTo>
                    <a:pt x="12813" y="0"/>
                  </a:moveTo>
                  <a:cubicBezTo>
                    <a:pt x="7242" y="2181"/>
                    <a:pt x="-861" y="6790"/>
                    <a:pt x="123" y="12691"/>
                  </a:cubicBezTo>
                  <a:cubicBezTo>
                    <a:pt x="746" y="16427"/>
                    <a:pt x="8084" y="15004"/>
                    <a:pt x="10032" y="18253"/>
                  </a:cubicBezTo>
                </a:path>
              </a:pathLst>
            </a:custGeom>
            <a:noFill/>
            <a:ln w="38100" cap="flat" cmpd="sng">
              <a:solidFill>
                <a:srgbClr val="F1C232"/>
              </a:solidFill>
              <a:prstDash val="solid"/>
              <a:round/>
              <a:headEnd type="none" w="med" len="med"/>
              <a:tailEnd type="none" w="med" len="med"/>
            </a:ln>
          </p:spPr>
        </p:sp>
        <p:sp>
          <p:nvSpPr>
            <p:cNvPr id="881" name="Google Shape;881;p31"/>
            <p:cNvSpPr/>
            <p:nvPr/>
          </p:nvSpPr>
          <p:spPr>
            <a:xfrm>
              <a:off x="7700250" y="3132600"/>
              <a:ext cx="429925" cy="169500"/>
            </a:xfrm>
            <a:custGeom>
              <a:avLst/>
              <a:gdLst/>
              <a:ahLst/>
              <a:cxnLst/>
              <a:rect l="l" t="t" r="r" b="b"/>
              <a:pathLst>
                <a:path w="17197" h="6780" extrusionOk="0">
                  <a:moveTo>
                    <a:pt x="0" y="0"/>
                  </a:moveTo>
                  <a:cubicBezTo>
                    <a:pt x="3914" y="4695"/>
                    <a:pt x="10925" y="6780"/>
                    <a:pt x="17037" y="6780"/>
                  </a:cubicBezTo>
                  <a:cubicBezTo>
                    <a:pt x="17504" y="6780"/>
                    <a:pt x="16799" y="5655"/>
                    <a:pt x="16341" y="5563"/>
                  </a:cubicBezTo>
                </a:path>
              </a:pathLst>
            </a:custGeom>
            <a:noFill/>
            <a:ln w="38100" cap="flat" cmpd="sng">
              <a:solidFill>
                <a:srgbClr val="F1C232"/>
              </a:solidFill>
              <a:prstDash val="solid"/>
              <a:round/>
              <a:headEnd type="none" w="med" len="med"/>
              <a:tailEnd type="none" w="med" len="med"/>
            </a:ln>
          </p:spPr>
        </p:sp>
        <p:sp>
          <p:nvSpPr>
            <p:cNvPr id="882" name="Google Shape;882;p31"/>
            <p:cNvSpPr/>
            <p:nvPr/>
          </p:nvSpPr>
          <p:spPr>
            <a:xfrm>
              <a:off x="7710998" y="3098181"/>
              <a:ext cx="558575" cy="472725"/>
            </a:xfrm>
            <a:custGeom>
              <a:avLst/>
              <a:gdLst/>
              <a:ahLst/>
              <a:cxnLst/>
              <a:rect l="l" t="t" r="r" b="b"/>
              <a:pathLst>
                <a:path w="22343" h="18909" extrusionOk="0">
                  <a:moveTo>
                    <a:pt x="22343" y="4332"/>
                  </a:moveTo>
                  <a:cubicBezTo>
                    <a:pt x="16437" y="38"/>
                    <a:pt x="3704" y="-2547"/>
                    <a:pt x="439" y="3985"/>
                  </a:cubicBezTo>
                  <a:cubicBezTo>
                    <a:pt x="-1508" y="7881"/>
                    <a:pt x="3832" y="12696"/>
                    <a:pt x="7567" y="14937"/>
                  </a:cubicBezTo>
                  <a:cubicBezTo>
                    <a:pt x="9340" y="16001"/>
                    <a:pt x="12081" y="14808"/>
                    <a:pt x="13651" y="16154"/>
                  </a:cubicBezTo>
                  <a:cubicBezTo>
                    <a:pt x="15785" y="17983"/>
                    <a:pt x="7730" y="19926"/>
                    <a:pt x="5481" y="18240"/>
                  </a:cubicBezTo>
                </a:path>
              </a:pathLst>
            </a:custGeom>
            <a:noFill/>
            <a:ln w="38100" cap="flat" cmpd="sng">
              <a:solidFill>
                <a:srgbClr val="F1C232"/>
              </a:solidFill>
              <a:prstDash val="solid"/>
              <a:round/>
              <a:headEnd type="none" w="med" len="med"/>
              <a:tailEnd type="none" w="med" len="med"/>
            </a:ln>
          </p:spPr>
        </p:sp>
        <p:sp>
          <p:nvSpPr>
            <p:cNvPr id="883" name="Google Shape;883;p31"/>
            <p:cNvSpPr/>
            <p:nvPr/>
          </p:nvSpPr>
          <p:spPr>
            <a:xfrm>
              <a:off x="7685501" y="3079570"/>
              <a:ext cx="584075" cy="361600"/>
            </a:xfrm>
            <a:custGeom>
              <a:avLst/>
              <a:gdLst/>
              <a:ahLst/>
              <a:cxnLst/>
              <a:rect l="l" t="t" r="r" b="b"/>
              <a:pathLst>
                <a:path w="23363" h="14464" extrusionOk="0">
                  <a:moveTo>
                    <a:pt x="23363" y="14464"/>
                  </a:moveTo>
                  <a:cubicBezTo>
                    <a:pt x="21432" y="9632"/>
                    <a:pt x="15255" y="7928"/>
                    <a:pt x="11021" y="4903"/>
                  </a:cubicBezTo>
                  <a:cubicBezTo>
                    <a:pt x="8043" y="2775"/>
                    <a:pt x="3984" y="-1473"/>
                    <a:pt x="938" y="557"/>
                  </a:cubicBezTo>
                  <a:cubicBezTo>
                    <a:pt x="-2526" y="2866"/>
                    <a:pt x="4896" y="8744"/>
                    <a:pt x="8761" y="10292"/>
                  </a:cubicBezTo>
                </a:path>
              </a:pathLst>
            </a:custGeom>
            <a:noFill/>
            <a:ln w="38100" cap="flat" cmpd="sng">
              <a:solidFill>
                <a:srgbClr val="F1C232"/>
              </a:solidFill>
              <a:prstDash val="solid"/>
              <a:round/>
              <a:headEnd type="none" w="med" len="med"/>
              <a:tailEnd type="none" w="med" len="med"/>
            </a:ln>
          </p:spPr>
        </p:sp>
        <p:sp>
          <p:nvSpPr>
            <p:cNvPr id="884" name="Google Shape;884;p31"/>
            <p:cNvSpPr/>
            <p:nvPr/>
          </p:nvSpPr>
          <p:spPr>
            <a:xfrm>
              <a:off x="7744259" y="3028300"/>
              <a:ext cx="368875" cy="491100"/>
            </a:xfrm>
            <a:custGeom>
              <a:avLst/>
              <a:gdLst/>
              <a:ahLst/>
              <a:cxnLst/>
              <a:rect l="l" t="t" r="r" b="b"/>
              <a:pathLst>
                <a:path w="14755" h="19644" extrusionOk="0">
                  <a:moveTo>
                    <a:pt x="14755" y="0"/>
                  </a:moveTo>
                  <a:cubicBezTo>
                    <a:pt x="14495" y="609"/>
                    <a:pt x="14636" y="691"/>
                    <a:pt x="14234" y="1217"/>
                  </a:cubicBezTo>
                  <a:cubicBezTo>
                    <a:pt x="10836" y="5660"/>
                    <a:pt x="3616" y="6081"/>
                    <a:pt x="326" y="10604"/>
                  </a:cubicBezTo>
                  <a:cubicBezTo>
                    <a:pt x="-1501" y="13116"/>
                    <a:pt x="5071" y="17780"/>
                    <a:pt x="2586" y="19644"/>
                  </a:cubicBezTo>
                </a:path>
              </a:pathLst>
            </a:custGeom>
            <a:noFill/>
            <a:ln w="38100" cap="flat" cmpd="sng">
              <a:solidFill>
                <a:srgbClr val="F1C232"/>
              </a:solidFill>
              <a:prstDash val="solid"/>
              <a:round/>
              <a:headEnd type="none" w="med" len="med"/>
              <a:tailEnd type="none" w="med" len="med"/>
            </a:ln>
          </p:spPr>
        </p:sp>
        <p:sp>
          <p:nvSpPr>
            <p:cNvPr id="885" name="Google Shape;885;p31"/>
            <p:cNvSpPr/>
            <p:nvPr/>
          </p:nvSpPr>
          <p:spPr>
            <a:xfrm>
              <a:off x="7765450" y="3145650"/>
              <a:ext cx="482400" cy="338975"/>
            </a:xfrm>
            <a:custGeom>
              <a:avLst/>
              <a:gdLst/>
              <a:ahLst/>
              <a:cxnLst/>
              <a:rect l="l" t="t" r="r" b="b"/>
              <a:pathLst>
                <a:path w="19296" h="13559" extrusionOk="0">
                  <a:moveTo>
                    <a:pt x="19296" y="13559"/>
                  </a:moveTo>
                  <a:cubicBezTo>
                    <a:pt x="13760" y="11712"/>
                    <a:pt x="8516" y="8736"/>
                    <a:pt x="3998" y="5041"/>
                  </a:cubicBezTo>
                  <a:cubicBezTo>
                    <a:pt x="2338" y="3683"/>
                    <a:pt x="2116" y="351"/>
                    <a:pt x="0" y="0"/>
                  </a:cubicBezTo>
                </a:path>
              </a:pathLst>
            </a:custGeom>
            <a:noFill/>
            <a:ln w="38100" cap="flat" cmpd="sng">
              <a:solidFill>
                <a:srgbClr val="F1C232"/>
              </a:solidFill>
              <a:prstDash val="solid"/>
              <a:round/>
              <a:headEnd type="none" w="med" len="med"/>
              <a:tailEnd type="none" w="med" len="med"/>
            </a:ln>
          </p:spPr>
        </p:sp>
        <p:sp>
          <p:nvSpPr>
            <p:cNvPr id="886" name="Google Shape;886;p31"/>
            <p:cNvSpPr/>
            <p:nvPr/>
          </p:nvSpPr>
          <p:spPr>
            <a:xfrm>
              <a:off x="7665500" y="3269759"/>
              <a:ext cx="499775" cy="249650"/>
            </a:xfrm>
            <a:custGeom>
              <a:avLst/>
              <a:gdLst/>
              <a:ahLst/>
              <a:cxnLst/>
              <a:rect l="l" t="t" r="r" b="b"/>
              <a:pathLst>
                <a:path w="19991" h="9986" extrusionOk="0">
                  <a:moveTo>
                    <a:pt x="0" y="9986"/>
                  </a:moveTo>
                  <a:cubicBezTo>
                    <a:pt x="3478" y="7899"/>
                    <a:pt x="5064" y="3283"/>
                    <a:pt x="8692" y="1468"/>
                  </a:cubicBezTo>
                  <a:cubicBezTo>
                    <a:pt x="12086" y="-230"/>
                    <a:pt x="16196" y="77"/>
                    <a:pt x="19991" y="77"/>
                  </a:cubicBezTo>
                </a:path>
              </a:pathLst>
            </a:custGeom>
            <a:noFill/>
            <a:ln w="38100" cap="flat" cmpd="sng">
              <a:solidFill>
                <a:srgbClr val="F1C232"/>
              </a:solidFill>
              <a:prstDash val="solid"/>
              <a:round/>
              <a:headEnd type="none" w="med" len="med"/>
              <a:tailEnd type="none" w="med" len="med"/>
            </a:ln>
          </p:spPr>
        </p:sp>
        <p:sp>
          <p:nvSpPr>
            <p:cNvPr id="887" name="Google Shape;887;p31"/>
            <p:cNvSpPr/>
            <p:nvPr/>
          </p:nvSpPr>
          <p:spPr>
            <a:xfrm>
              <a:off x="7656800" y="3198318"/>
              <a:ext cx="660600" cy="161800"/>
            </a:xfrm>
            <a:custGeom>
              <a:avLst/>
              <a:gdLst/>
              <a:ahLst/>
              <a:cxnLst/>
              <a:rect l="l" t="t" r="r" b="b"/>
              <a:pathLst>
                <a:path w="26424" h="6472" extrusionOk="0">
                  <a:moveTo>
                    <a:pt x="26424" y="6411"/>
                  </a:moveTo>
                  <a:cubicBezTo>
                    <a:pt x="18961" y="6652"/>
                    <a:pt x="11684" y="3823"/>
                    <a:pt x="4520" y="1717"/>
                  </a:cubicBezTo>
                  <a:cubicBezTo>
                    <a:pt x="4232" y="1632"/>
                    <a:pt x="0" y="-572"/>
                    <a:pt x="0" y="153"/>
                  </a:cubicBezTo>
                  <a:cubicBezTo>
                    <a:pt x="0" y="1294"/>
                    <a:pt x="584" y="2475"/>
                    <a:pt x="1391" y="3282"/>
                  </a:cubicBezTo>
                </a:path>
              </a:pathLst>
            </a:custGeom>
            <a:noFill/>
            <a:ln w="38100" cap="flat" cmpd="sng">
              <a:solidFill>
                <a:srgbClr val="F1C232"/>
              </a:solidFill>
              <a:prstDash val="solid"/>
              <a:round/>
              <a:headEnd type="none" w="med" len="med"/>
              <a:tailEnd type="none" w="med" len="med"/>
            </a:ln>
          </p:spPr>
        </p:sp>
        <p:sp>
          <p:nvSpPr>
            <p:cNvPr id="888" name="Google Shape;888;p31"/>
            <p:cNvSpPr/>
            <p:nvPr/>
          </p:nvSpPr>
          <p:spPr>
            <a:xfrm>
              <a:off x="7757829" y="3119575"/>
              <a:ext cx="450925" cy="395475"/>
            </a:xfrm>
            <a:custGeom>
              <a:avLst/>
              <a:gdLst/>
              <a:ahLst/>
              <a:cxnLst/>
              <a:rect l="l" t="t" r="r" b="b"/>
              <a:pathLst>
                <a:path w="18037" h="15819" extrusionOk="0">
                  <a:moveTo>
                    <a:pt x="18037" y="0"/>
                  </a:moveTo>
                  <a:cubicBezTo>
                    <a:pt x="15708" y="1293"/>
                    <a:pt x="13491" y="3180"/>
                    <a:pt x="12300" y="5562"/>
                  </a:cubicBezTo>
                  <a:cubicBezTo>
                    <a:pt x="11338" y="7485"/>
                    <a:pt x="12524" y="10628"/>
                    <a:pt x="10735" y="11821"/>
                  </a:cubicBezTo>
                  <a:cubicBezTo>
                    <a:pt x="7637" y="13887"/>
                    <a:pt x="-1612" y="12627"/>
                    <a:pt x="305" y="15819"/>
                  </a:cubicBezTo>
                </a:path>
              </a:pathLst>
            </a:custGeom>
            <a:noFill/>
            <a:ln w="38100" cap="flat" cmpd="sng">
              <a:solidFill>
                <a:srgbClr val="F1C232"/>
              </a:solidFill>
              <a:prstDash val="solid"/>
              <a:round/>
              <a:headEnd type="none" w="med" len="med"/>
              <a:tailEnd type="none" w="med" len="med"/>
            </a:ln>
          </p:spPr>
        </p:sp>
        <p:sp>
          <p:nvSpPr>
            <p:cNvPr id="889" name="Google Shape;889;p31"/>
            <p:cNvSpPr/>
            <p:nvPr/>
          </p:nvSpPr>
          <p:spPr>
            <a:xfrm>
              <a:off x="7895825" y="3010925"/>
              <a:ext cx="373750" cy="469350"/>
            </a:xfrm>
            <a:custGeom>
              <a:avLst/>
              <a:gdLst/>
              <a:ahLst/>
              <a:cxnLst/>
              <a:rect l="l" t="t" r="r" b="b"/>
              <a:pathLst>
                <a:path w="14950" h="18774" extrusionOk="0">
                  <a:moveTo>
                    <a:pt x="0" y="0"/>
                  </a:moveTo>
                  <a:cubicBezTo>
                    <a:pt x="1571" y="7844"/>
                    <a:pt x="11377" y="11617"/>
                    <a:pt x="14950" y="18774"/>
                  </a:cubicBezTo>
                </a:path>
              </a:pathLst>
            </a:custGeom>
            <a:noFill/>
            <a:ln w="38100" cap="flat" cmpd="sng">
              <a:solidFill>
                <a:srgbClr val="F1C232"/>
              </a:solidFill>
              <a:prstDash val="solid"/>
              <a:round/>
              <a:headEnd type="none" w="med" len="med"/>
              <a:tailEnd type="none" w="med" len="med"/>
            </a:ln>
          </p:spPr>
        </p:sp>
        <p:sp>
          <p:nvSpPr>
            <p:cNvPr id="890" name="Google Shape;890;p31"/>
            <p:cNvSpPr/>
            <p:nvPr/>
          </p:nvSpPr>
          <p:spPr>
            <a:xfrm>
              <a:off x="7752400" y="3132600"/>
              <a:ext cx="346150" cy="434600"/>
            </a:xfrm>
            <a:custGeom>
              <a:avLst/>
              <a:gdLst/>
              <a:ahLst/>
              <a:cxnLst/>
              <a:rect l="l" t="t" r="r" b="b"/>
              <a:pathLst>
                <a:path w="13846" h="17384" extrusionOk="0">
                  <a:moveTo>
                    <a:pt x="0" y="17384"/>
                  </a:moveTo>
                  <a:cubicBezTo>
                    <a:pt x="1561" y="14266"/>
                    <a:pt x="813" y="9404"/>
                    <a:pt x="3825" y="7649"/>
                  </a:cubicBezTo>
                  <a:cubicBezTo>
                    <a:pt x="6452" y="6118"/>
                    <a:pt x="10432" y="8256"/>
                    <a:pt x="12865" y="6432"/>
                  </a:cubicBezTo>
                  <a:cubicBezTo>
                    <a:pt x="14596" y="5134"/>
                    <a:pt x="13756" y="1257"/>
                    <a:pt x="11995" y="0"/>
                  </a:cubicBezTo>
                </a:path>
              </a:pathLst>
            </a:custGeom>
            <a:noFill/>
            <a:ln w="38100" cap="flat" cmpd="sng">
              <a:solidFill>
                <a:srgbClr val="F1C232"/>
              </a:solidFill>
              <a:prstDash val="solid"/>
              <a:round/>
              <a:headEnd type="none" w="med" len="med"/>
              <a:tailEnd type="none" w="med" len="med"/>
            </a:ln>
          </p:spPr>
        </p:sp>
      </p:grpSp>
      <p:sp>
        <p:nvSpPr>
          <p:cNvPr id="891" name="Google Shape;891;p31"/>
          <p:cNvSpPr/>
          <p:nvPr/>
        </p:nvSpPr>
        <p:spPr>
          <a:xfrm rot="-6485262" flipH="1">
            <a:off x="5341176"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892" name="Google Shape;892;p31"/>
          <p:cNvSpPr/>
          <p:nvPr/>
        </p:nvSpPr>
        <p:spPr>
          <a:xfrm rot="6485262">
            <a:off x="3763714"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893" name="Google Shape;893;p31"/>
          <p:cNvSpPr/>
          <p:nvPr/>
        </p:nvSpPr>
        <p:spPr>
          <a:xfrm rot="10800000">
            <a:off x="4552435" y="2168746"/>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894" name="Google Shape;894;p31"/>
          <p:cNvSpPr/>
          <p:nvPr/>
        </p:nvSpPr>
        <p:spPr>
          <a:xfrm rot="2167448">
            <a:off x="4087053"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895" name="Google Shape;895;p31"/>
          <p:cNvSpPr/>
          <p:nvPr/>
        </p:nvSpPr>
        <p:spPr>
          <a:xfrm rot="-2167448" flipH="1">
            <a:off x="5017778" y="3640158"/>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896" name="Google Shape;896;p31"/>
          <p:cNvSpPr/>
          <p:nvPr/>
        </p:nvSpPr>
        <p:spPr>
          <a:xfrm>
            <a:off x="4416763" y="3146300"/>
            <a:ext cx="420063" cy="289163"/>
          </a:xfrm>
          <a:custGeom>
            <a:avLst/>
            <a:gdLst/>
            <a:ahLst/>
            <a:cxnLst/>
            <a:rect l="l" t="t" r="r" b="b"/>
            <a:pathLst>
              <a:path w="33605" h="23133" extrusionOk="0">
                <a:moveTo>
                  <a:pt x="0" y="23133"/>
                </a:moveTo>
                <a:cubicBezTo>
                  <a:pt x="2435" y="19075"/>
                  <a:pt x="4127" y="14465"/>
                  <a:pt x="7305" y="10958"/>
                </a:cubicBezTo>
                <a:cubicBezTo>
                  <a:pt x="13683" y="3921"/>
                  <a:pt x="24540" y="2832"/>
                  <a:pt x="33605" y="0"/>
                </a:cubicBezTo>
              </a:path>
            </a:pathLst>
          </a:custGeom>
          <a:noFill/>
          <a:ln w="38100" cap="flat" cmpd="sng">
            <a:solidFill>
              <a:srgbClr val="F1C232"/>
            </a:solidFill>
            <a:prstDash val="solid"/>
            <a:round/>
            <a:headEnd type="none" w="med" len="med"/>
            <a:tailEnd type="none" w="med" len="med"/>
          </a:ln>
        </p:spPr>
      </p:sp>
      <p:sp>
        <p:nvSpPr>
          <p:cNvPr id="897" name="Google Shape;897;p31"/>
          <p:cNvSpPr/>
          <p:nvPr/>
        </p:nvSpPr>
        <p:spPr>
          <a:xfrm>
            <a:off x="4413713" y="2966700"/>
            <a:ext cx="273963" cy="413975"/>
          </a:xfrm>
          <a:custGeom>
            <a:avLst/>
            <a:gdLst/>
            <a:ahLst/>
            <a:cxnLst/>
            <a:rect l="l" t="t" r="r" b="b"/>
            <a:pathLst>
              <a:path w="21917" h="33118" extrusionOk="0">
                <a:moveTo>
                  <a:pt x="0" y="0"/>
                </a:moveTo>
                <a:cubicBezTo>
                  <a:pt x="2209" y="4416"/>
                  <a:pt x="6510" y="8222"/>
                  <a:pt x="6819" y="13150"/>
                </a:cubicBezTo>
                <a:cubicBezTo>
                  <a:pt x="7095" y="17561"/>
                  <a:pt x="2967" y="22436"/>
                  <a:pt x="5114" y="26300"/>
                </a:cubicBezTo>
                <a:cubicBezTo>
                  <a:pt x="8050" y="31584"/>
                  <a:pt x="16181" y="31211"/>
                  <a:pt x="21917" y="33118"/>
                </a:cubicBezTo>
              </a:path>
            </a:pathLst>
          </a:custGeom>
          <a:noFill/>
          <a:ln w="38100" cap="flat" cmpd="sng">
            <a:solidFill>
              <a:srgbClr val="F1C232"/>
            </a:solidFill>
            <a:prstDash val="solid"/>
            <a:round/>
            <a:headEnd type="none" w="med" len="med"/>
            <a:tailEnd type="none" w="med" len="med"/>
          </a:ln>
        </p:spPr>
      </p:sp>
      <p:sp>
        <p:nvSpPr>
          <p:cNvPr id="898" name="Google Shape;898;p31"/>
          <p:cNvSpPr/>
          <p:nvPr/>
        </p:nvSpPr>
        <p:spPr>
          <a:xfrm>
            <a:off x="4363841" y="3099836"/>
            <a:ext cx="427325" cy="335625"/>
          </a:xfrm>
          <a:custGeom>
            <a:avLst/>
            <a:gdLst/>
            <a:ahLst/>
            <a:cxnLst/>
            <a:rect l="l" t="t" r="r" b="b"/>
            <a:pathLst>
              <a:path w="34186" h="26850" extrusionOk="0">
                <a:moveTo>
                  <a:pt x="34186" y="7369"/>
                </a:moveTo>
                <a:cubicBezTo>
                  <a:pt x="26609" y="7875"/>
                  <a:pt x="18987" y="9107"/>
                  <a:pt x="11783" y="11509"/>
                </a:cubicBezTo>
                <a:cubicBezTo>
                  <a:pt x="8958" y="12451"/>
                  <a:pt x="6190" y="14721"/>
                  <a:pt x="3260" y="14188"/>
                </a:cubicBezTo>
                <a:cubicBezTo>
                  <a:pt x="100" y="13613"/>
                  <a:pt x="-612" y="7915"/>
                  <a:pt x="581" y="4934"/>
                </a:cubicBezTo>
                <a:cubicBezTo>
                  <a:pt x="2999" y="-1107"/>
                  <a:pt x="16358" y="-1632"/>
                  <a:pt x="20062" y="3717"/>
                </a:cubicBezTo>
                <a:cubicBezTo>
                  <a:pt x="23302" y="8396"/>
                  <a:pt x="18572" y="15095"/>
                  <a:pt x="19088" y="20763"/>
                </a:cubicBezTo>
                <a:cubicBezTo>
                  <a:pt x="19370" y="23858"/>
                  <a:pt x="23042" y="26850"/>
                  <a:pt x="26150" y="26850"/>
                </a:cubicBezTo>
              </a:path>
            </a:pathLst>
          </a:custGeom>
          <a:noFill/>
          <a:ln w="38100" cap="flat" cmpd="sng">
            <a:solidFill>
              <a:srgbClr val="F1C232"/>
            </a:solidFill>
            <a:prstDash val="solid"/>
            <a:round/>
            <a:headEnd type="none" w="med" len="med"/>
            <a:tailEnd type="none" w="med" len="med"/>
          </a:ln>
        </p:spPr>
      </p:sp>
      <p:sp>
        <p:nvSpPr>
          <p:cNvPr id="899" name="Google Shape;899;p31"/>
          <p:cNvSpPr/>
          <p:nvPr/>
        </p:nvSpPr>
        <p:spPr>
          <a:xfrm>
            <a:off x="4365013" y="2942350"/>
            <a:ext cx="453675" cy="414725"/>
          </a:xfrm>
          <a:custGeom>
            <a:avLst/>
            <a:gdLst/>
            <a:ahLst/>
            <a:cxnLst/>
            <a:rect l="l" t="t" r="r" b="b"/>
            <a:pathLst>
              <a:path w="36294" h="33178" extrusionOk="0">
                <a:moveTo>
                  <a:pt x="16072" y="0"/>
                </a:moveTo>
                <a:cubicBezTo>
                  <a:pt x="18478" y="5415"/>
                  <a:pt x="25652" y="7856"/>
                  <a:pt x="27761" y="13393"/>
                </a:cubicBezTo>
                <a:cubicBezTo>
                  <a:pt x="29698" y="18478"/>
                  <a:pt x="25844" y="24459"/>
                  <a:pt x="27274" y="29709"/>
                </a:cubicBezTo>
                <a:cubicBezTo>
                  <a:pt x="27905" y="32023"/>
                  <a:pt x="32028" y="34192"/>
                  <a:pt x="33849" y="32631"/>
                </a:cubicBezTo>
                <a:cubicBezTo>
                  <a:pt x="36931" y="29989"/>
                  <a:pt x="37353" y="22015"/>
                  <a:pt x="33605" y="20455"/>
                </a:cubicBezTo>
                <a:cubicBezTo>
                  <a:pt x="25042" y="16890"/>
                  <a:pt x="14673" y="21082"/>
                  <a:pt x="6088" y="24595"/>
                </a:cubicBezTo>
                <a:cubicBezTo>
                  <a:pt x="3268" y="25749"/>
                  <a:pt x="2891" y="30452"/>
                  <a:pt x="0" y="31413"/>
                </a:cubicBezTo>
              </a:path>
            </a:pathLst>
          </a:custGeom>
          <a:noFill/>
          <a:ln w="38100" cap="flat" cmpd="sng">
            <a:solidFill>
              <a:srgbClr val="F1C232"/>
            </a:solidFill>
            <a:prstDash val="solid"/>
            <a:round/>
            <a:headEnd type="none" w="med" len="med"/>
            <a:tailEnd type="none" w="med" len="med"/>
          </a:ln>
        </p:spPr>
      </p:sp>
      <p:sp>
        <p:nvSpPr>
          <p:cNvPr id="900" name="Google Shape;900;p31"/>
          <p:cNvSpPr/>
          <p:nvPr/>
        </p:nvSpPr>
        <p:spPr>
          <a:xfrm>
            <a:off x="4340663" y="2972714"/>
            <a:ext cx="441350" cy="510425"/>
          </a:xfrm>
          <a:custGeom>
            <a:avLst/>
            <a:gdLst/>
            <a:ahLst/>
            <a:cxnLst/>
            <a:rect l="l" t="t" r="r" b="b"/>
            <a:pathLst>
              <a:path w="35308" h="40834" extrusionOk="0">
                <a:moveTo>
                  <a:pt x="0" y="21923"/>
                </a:moveTo>
                <a:cubicBezTo>
                  <a:pt x="4868" y="17746"/>
                  <a:pt x="16935" y="15448"/>
                  <a:pt x="19238" y="21435"/>
                </a:cubicBezTo>
                <a:cubicBezTo>
                  <a:pt x="21093" y="26256"/>
                  <a:pt x="14339" y="32377"/>
                  <a:pt x="17046" y="36777"/>
                </a:cubicBezTo>
                <a:cubicBezTo>
                  <a:pt x="19515" y="40790"/>
                  <a:pt x="26930" y="41953"/>
                  <a:pt x="30926" y="39456"/>
                </a:cubicBezTo>
                <a:cubicBezTo>
                  <a:pt x="37891" y="35105"/>
                  <a:pt x="35821" y="20062"/>
                  <a:pt x="29465" y="14861"/>
                </a:cubicBezTo>
                <a:cubicBezTo>
                  <a:pt x="22888" y="9480"/>
                  <a:pt x="7178" y="12602"/>
                  <a:pt x="6331" y="4146"/>
                </a:cubicBezTo>
                <a:cubicBezTo>
                  <a:pt x="5675" y="-2396"/>
                  <a:pt x="21107" y="-183"/>
                  <a:pt x="26056" y="4146"/>
                </a:cubicBezTo>
                <a:cubicBezTo>
                  <a:pt x="35321" y="12251"/>
                  <a:pt x="17470" y="28073"/>
                  <a:pt x="8766" y="36777"/>
                </a:cubicBezTo>
              </a:path>
            </a:pathLst>
          </a:custGeom>
          <a:noFill/>
          <a:ln w="38100" cap="flat" cmpd="sng">
            <a:solidFill>
              <a:srgbClr val="F1C232"/>
            </a:solidFill>
            <a:prstDash val="solid"/>
            <a:round/>
            <a:headEnd type="none" w="med" len="med"/>
            <a:tailEnd type="none" w="med" len="med"/>
          </a:ln>
        </p:spPr>
      </p:sp>
      <p:sp>
        <p:nvSpPr>
          <p:cNvPr id="901" name="Google Shape;901;p31"/>
          <p:cNvSpPr/>
          <p:nvPr/>
        </p:nvSpPr>
        <p:spPr>
          <a:xfrm>
            <a:off x="4336629" y="2954525"/>
            <a:ext cx="448450" cy="512988"/>
          </a:xfrm>
          <a:custGeom>
            <a:avLst/>
            <a:gdLst/>
            <a:ahLst/>
            <a:cxnLst/>
            <a:rect l="l" t="t" r="r" b="b"/>
            <a:pathLst>
              <a:path w="35876" h="41039" extrusionOk="0">
                <a:moveTo>
                  <a:pt x="35876" y="12176"/>
                </a:moveTo>
                <a:cubicBezTo>
                  <a:pt x="33278" y="13474"/>
                  <a:pt x="30137" y="14019"/>
                  <a:pt x="28084" y="16072"/>
                </a:cubicBezTo>
                <a:cubicBezTo>
                  <a:pt x="24741" y="19415"/>
                  <a:pt x="24638" y="25253"/>
                  <a:pt x="25161" y="29952"/>
                </a:cubicBezTo>
                <a:cubicBezTo>
                  <a:pt x="25573" y="33653"/>
                  <a:pt x="31860" y="39489"/>
                  <a:pt x="28327" y="40667"/>
                </a:cubicBezTo>
                <a:cubicBezTo>
                  <a:pt x="23195" y="42378"/>
                  <a:pt x="17049" y="37559"/>
                  <a:pt x="13960" y="33118"/>
                </a:cubicBezTo>
                <a:cubicBezTo>
                  <a:pt x="10617" y="28313"/>
                  <a:pt x="9699" y="20564"/>
                  <a:pt x="4219" y="18507"/>
                </a:cubicBezTo>
                <a:cubicBezTo>
                  <a:pt x="680" y="17179"/>
                  <a:pt x="-1376" y="26792"/>
                  <a:pt x="1297" y="29465"/>
                </a:cubicBezTo>
                <a:cubicBezTo>
                  <a:pt x="5492" y="33660"/>
                  <a:pt x="15463" y="29538"/>
                  <a:pt x="18343" y="24352"/>
                </a:cubicBezTo>
                <a:cubicBezTo>
                  <a:pt x="21498" y="18671"/>
                  <a:pt x="15329" y="10954"/>
                  <a:pt x="17612" y="4870"/>
                </a:cubicBezTo>
                <a:cubicBezTo>
                  <a:pt x="18786" y="1740"/>
                  <a:pt x="23036" y="0"/>
                  <a:pt x="26379" y="0"/>
                </a:cubicBezTo>
              </a:path>
            </a:pathLst>
          </a:custGeom>
          <a:noFill/>
          <a:ln w="38100" cap="flat" cmpd="sng">
            <a:solidFill>
              <a:srgbClr val="F1C232"/>
            </a:solidFill>
            <a:prstDash val="solid"/>
            <a:round/>
            <a:headEnd type="none" w="med" len="med"/>
            <a:tailEnd type="none" w="med" len="med"/>
          </a:ln>
        </p:spPr>
      </p:sp>
      <p:sp>
        <p:nvSpPr>
          <p:cNvPr id="902" name="Google Shape;902;p31"/>
          <p:cNvSpPr/>
          <p:nvPr/>
        </p:nvSpPr>
        <p:spPr>
          <a:xfrm>
            <a:off x="883563" y="1766900"/>
            <a:ext cx="695700" cy="695700"/>
          </a:xfrm>
          <a:prstGeom prst="ellipse">
            <a:avLst/>
          </a:prstGeom>
          <a:solidFill>
            <a:srgbClr val="FFFFFF"/>
          </a:solidFill>
          <a:ln>
            <a:noFill/>
          </a:ln>
        </p:spPr>
        <p:txBody>
          <a:bodyPr spcFirstLastPara="1" wrap="square" lIns="45713" tIns="45713" rIns="45713" bIns="45713" anchor="ctr" anchorCtr="0">
            <a:noAutofit/>
          </a:bodyPr>
          <a:lstStyle/>
          <a:p>
            <a:pPr algn="ctr"/>
            <a:r>
              <a:rPr lang="en" sz="3000"/>
              <a:t>1</a:t>
            </a:r>
            <a:endParaRPr sz="3000"/>
          </a:p>
        </p:txBody>
      </p:sp>
      <p:sp>
        <p:nvSpPr>
          <p:cNvPr id="903" name="Google Shape;903;p31"/>
          <p:cNvSpPr txBox="1"/>
          <p:nvPr/>
        </p:nvSpPr>
        <p:spPr>
          <a:xfrm>
            <a:off x="299538" y="2545738"/>
            <a:ext cx="1863750" cy="553984"/>
          </a:xfrm>
          <a:prstGeom prst="rect">
            <a:avLst/>
          </a:prstGeom>
          <a:noFill/>
          <a:ln>
            <a:noFill/>
          </a:ln>
        </p:spPr>
        <p:txBody>
          <a:bodyPr spcFirstLastPara="1" wrap="square" lIns="45713" tIns="45713" rIns="45713" bIns="45713" anchor="t" anchorCtr="0">
            <a:spAutoFit/>
          </a:bodyPr>
          <a:lstStyle/>
          <a:p>
            <a:pPr algn="ctr"/>
            <a:r>
              <a:rPr lang="en" sz="1500">
                <a:solidFill>
                  <a:srgbClr val="FFFFFF"/>
                </a:solidFill>
              </a:rPr>
              <a:t>Mutex</a:t>
            </a:r>
            <a:endParaRPr sz="1500">
              <a:solidFill>
                <a:srgbClr val="FFFFFF"/>
              </a:solidFill>
            </a:endParaRPr>
          </a:p>
          <a:p>
            <a:pPr algn="ctr"/>
            <a:r>
              <a:rPr lang="en" sz="1500">
                <a:solidFill>
                  <a:srgbClr val="FFFFFF"/>
                </a:solidFill>
              </a:rPr>
              <a:t>(arbitrator/waiter)</a:t>
            </a:r>
            <a:endParaRPr sz="1500">
              <a:solidFill>
                <a:srgbClr val="FFFFFF"/>
              </a:solidFill>
            </a:endParaRP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p32"/>
          <p:cNvSpPr/>
          <p:nvPr/>
        </p:nvSpPr>
        <p:spPr>
          <a:xfrm>
            <a:off x="3389862" y="2035757"/>
            <a:ext cx="2364300" cy="2364300"/>
          </a:xfrm>
          <a:prstGeom prst="ellipse">
            <a:avLst/>
          </a:prstGeom>
          <a:solidFill>
            <a:srgbClr val="783F04"/>
          </a:solidFill>
          <a:ln>
            <a:noFill/>
          </a:ln>
        </p:spPr>
        <p:txBody>
          <a:bodyPr spcFirstLastPara="1" wrap="square" lIns="45713" tIns="45713" rIns="45713" bIns="45713" anchor="ctr" anchorCtr="0">
            <a:noAutofit/>
          </a:bodyPr>
          <a:lstStyle/>
          <a:p>
            <a:endParaRPr sz="900"/>
          </a:p>
        </p:txBody>
      </p:sp>
      <p:pic>
        <p:nvPicPr>
          <p:cNvPr id="909" name="Google Shape;909;p32"/>
          <p:cNvPicPr preferRelativeResize="0"/>
          <p:nvPr/>
        </p:nvPicPr>
        <p:blipFill>
          <a:blip r:embed="rId3">
            <a:alphaModFix/>
          </a:blip>
          <a:stretch>
            <a:fillRect/>
          </a:stretch>
        </p:blipFill>
        <p:spPr>
          <a:xfrm>
            <a:off x="5100038" y="1243400"/>
            <a:ext cx="1219200" cy="1219200"/>
          </a:xfrm>
          <a:prstGeom prst="rect">
            <a:avLst/>
          </a:prstGeom>
          <a:noFill/>
          <a:ln>
            <a:noFill/>
          </a:ln>
        </p:spPr>
      </p:pic>
      <p:pic>
        <p:nvPicPr>
          <p:cNvPr id="910" name="Google Shape;910;p32"/>
          <p:cNvPicPr preferRelativeResize="0"/>
          <p:nvPr/>
        </p:nvPicPr>
        <p:blipFill>
          <a:blip r:embed="rId4">
            <a:alphaModFix/>
          </a:blip>
          <a:stretch>
            <a:fillRect/>
          </a:stretch>
        </p:blipFill>
        <p:spPr>
          <a:xfrm>
            <a:off x="3962394" y="4395400"/>
            <a:ext cx="1219200" cy="1219200"/>
          </a:xfrm>
          <a:prstGeom prst="rect">
            <a:avLst/>
          </a:prstGeom>
          <a:noFill/>
          <a:ln>
            <a:noFill/>
          </a:ln>
        </p:spPr>
      </p:pic>
      <p:pic>
        <p:nvPicPr>
          <p:cNvPr id="911" name="Google Shape;911;p32"/>
          <p:cNvPicPr preferRelativeResize="0"/>
          <p:nvPr/>
        </p:nvPicPr>
        <p:blipFill>
          <a:blip r:embed="rId5">
            <a:alphaModFix/>
          </a:blip>
          <a:stretch>
            <a:fillRect/>
          </a:stretch>
        </p:blipFill>
        <p:spPr>
          <a:xfrm>
            <a:off x="2292325" y="3217875"/>
            <a:ext cx="1219200" cy="1219200"/>
          </a:xfrm>
          <a:prstGeom prst="rect">
            <a:avLst/>
          </a:prstGeom>
          <a:noFill/>
          <a:ln>
            <a:noFill/>
          </a:ln>
        </p:spPr>
      </p:pic>
      <p:pic>
        <p:nvPicPr>
          <p:cNvPr id="912" name="Google Shape;912;p32"/>
          <p:cNvPicPr preferRelativeResize="0"/>
          <p:nvPr/>
        </p:nvPicPr>
        <p:blipFill>
          <a:blip r:embed="rId6">
            <a:alphaModFix/>
          </a:blip>
          <a:stretch>
            <a:fillRect/>
          </a:stretch>
        </p:blipFill>
        <p:spPr>
          <a:xfrm>
            <a:off x="5632475" y="3217875"/>
            <a:ext cx="1219200" cy="1219200"/>
          </a:xfrm>
          <a:prstGeom prst="rect">
            <a:avLst/>
          </a:prstGeom>
          <a:noFill/>
          <a:ln>
            <a:noFill/>
          </a:ln>
        </p:spPr>
      </p:pic>
      <p:pic>
        <p:nvPicPr>
          <p:cNvPr id="913" name="Google Shape;913;p32"/>
          <p:cNvPicPr preferRelativeResize="0"/>
          <p:nvPr/>
        </p:nvPicPr>
        <p:blipFill>
          <a:blip r:embed="rId7">
            <a:alphaModFix/>
          </a:blip>
          <a:stretch>
            <a:fillRect/>
          </a:stretch>
        </p:blipFill>
        <p:spPr>
          <a:xfrm>
            <a:off x="2824757" y="1243400"/>
            <a:ext cx="1219200" cy="1219200"/>
          </a:xfrm>
          <a:prstGeom prst="rect">
            <a:avLst/>
          </a:prstGeom>
          <a:noFill/>
          <a:ln>
            <a:noFill/>
          </a:ln>
        </p:spPr>
      </p:pic>
      <p:grpSp>
        <p:nvGrpSpPr>
          <p:cNvPr id="914" name="Google Shape;914;p32"/>
          <p:cNvGrpSpPr/>
          <p:nvPr/>
        </p:nvGrpSpPr>
        <p:grpSpPr>
          <a:xfrm>
            <a:off x="4157195" y="2803111"/>
            <a:ext cx="829600" cy="829600"/>
            <a:chOff x="7509900" y="2868375"/>
            <a:chExt cx="903900" cy="903900"/>
          </a:xfrm>
        </p:grpSpPr>
        <p:sp>
          <p:nvSpPr>
            <p:cNvPr id="915" name="Google Shape;915;p32"/>
            <p:cNvSpPr/>
            <p:nvPr/>
          </p:nvSpPr>
          <p:spPr>
            <a:xfrm>
              <a:off x="7509900" y="2868375"/>
              <a:ext cx="903900" cy="903900"/>
            </a:xfrm>
            <a:prstGeom prst="ellipse">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916" name="Google Shape;916;p32"/>
            <p:cNvSpPr/>
            <p:nvPr/>
          </p:nvSpPr>
          <p:spPr>
            <a:xfrm>
              <a:off x="7726325" y="3187287"/>
              <a:ext cx="281375" cy="421875"/>
            </a:xfrm>
            <a:custGeom>
              <a:avLst/>
              <a:gdLst/>
              <a:ahLst/>
              <a:cxnLst/>
              <a:rect l="l" t="t" r="r" b="b"/>
              <a:pathLst>
                <a:path w="11255" h="16875" extrusionOk="0">
                  <a:moveTo>
                    <a:pt x="0" y="1985"/>
                  </a:moveTo>
                  <a:cubicBezTo>
                    <a:pt x="3409" y="525"/>
                    <a:pt x="10171" y="-1599"/>
                    <a:pt x="11126" y="1985"/>
                  </a:cubicBezTo>
                  <a:cubicBezTo>
                    <a:pt x="11977" y="5177"/>
                    <a:pt x="7498" y="7599"/>
                    <a:pt x="5042" y="9808"/>
                  </a:cubicBezTo>
                  <a:cubicBezTo>
                    <a:pt x="3517" y="11179"/>
                    <a:pt x="7922" y="12750"/>
                    <a:pt x="9562" y="13980"/>
                  </a:cubicBezTo>
                  <a:cubicBezTo>
                    <a:pt x="10372" y="14587"/>
                    <a:pt x="11636" y="16225"/>
                    <a:pt x="10778" y="16762"/>
                  </a:cubicBezTo>
                  <a:cubicBezTo>
                    <a:pt x="9613" y="17490"/>
                    <a:pt x="7707" y="13849"/>
                    <a:pt x="8866" y="13111"/>
                  </a:cubicBezTo>
                </a:path>
              </a:pathLst>
            </a:custGeom>
            <a:noFill/>
            <a:ln w="38100" cap="flat" cmpd="sng">
              <a:solidFill>
                <a:srgbClr val="F1C232"/>
              </a:solidFill>
              <a:prstDash val="solid"/>
              <a:round/>
              <a:headEnd type="none" w="med" len="med"/>
              <a:tailEnd type="none" w="med" len="med"/>
            </a:ln>
          </p:spPr>
        </p:sp>
        <p:sp>
          <p:nvSpPr>
            <p:cNvPr id="917" name="Google Shape;917;p32"/>
            <p:cNvSpPr/>
            <p:nvPr/>
          </p:nvSpPr>
          <p:spPr>
            <a:xfrm>
              <a:off x="7829049" y="3032650"/>
              <a:ext cx="272850" cy="456325"/>
            </a:xfrm>
            <a:custGeom>
              <a:avLst/>
              <a:gdLst/>
              <a:ahLst/>
              <a:cxnLst/>
              <a:rect l="l" t="t" r="r" b="b"/>
              <a:pathLst>
                <a:path w="10914" h="18253" extrusionOk="0">
                  <a:moveTo>
                    <a:pt x="4236" y="0"/>
                  </a:moveTo>
                  <a:cubicBezTo>
                    <a:pt x="1862" y="3263"/>
                    <a:pt x="-1710" y="8598"/>
                    <a:pt x="933" y="11647"/>
                  </a:cubicBezTo>
                  <a:cubicBezTo>
                    <a:pt x="3470" y="14574"/>
                    <a:pt x="12913" y="15228"/>
                    <a:pt x="10494" y="18253"/>
                  </a:cubicBezTo>
                </a:path>
              </a:pathLst>
            </a:custGeom>
            <a:noFill/>
            <a:ln w="38100" cap="flat" cmpd="sng">
              <a:solidFill>
                <a:srgbClr val="F1C232"/>
              </a:solidFill>
              <a:prstDash val="solid"/>
              <a:round/>
              <a:headEnd type="none" w="med" len="med"/>
              <a:tailEnd type="none" w="med" len="med"/>
            </a:ln>
          </p:spPr>
        </p:sp>
        <p:sp>
          <p:nvSpPr>
            <p:cNvPr id="918" name="Google Shape;918;p32"/>
            <p:cNvSpPr/>
            <p:nvPr/>
          </p:nvSpPr>
          <p:spPr>
            <a:xfrm>
              <a:off x="7938508" y="3145650"/>
              <a:ext cx="222425" cy="356375"/>
            </a:xfrm>
            <a:custGeom>
              <a:avLst/>
              <a:gdLst/>
              <a:ahLst/>
              <a:cxnLst/>
              <a:rect l="l" t="t" r="r" b="b"/>
              <a:pathLst>
                <a:path w="8897" h="14255" extrusionOk="0">
                  <a:moveTo>
                    <a:pt x="8897" y="0"/>
                  </a:moveTo>
                  <a:cubicBezTo>
                    <a:pt x="5700" y="999"/>
                    <a:pt x="1621" y="2006"/>
                    <a:pt x="205" y="5041"/>
                  </a:cubicBezTo>
                  <a:cubicBezTo>
                    <a:pt x="-1089" y="7814"/>
                    <a:pt x="5221" y="8570"/>
                    <a:pt x="7507" y="10604"/>
                  </a:cubicBezTo>
                  <a:cubicBezTo>
                    <a:pt x="8600" y="11576"/>
                    <a:pt x="6516" y="14014"/>
                    <a:pt x="5073" y="14255"/>
                  </a:cubicBezTo>
                </a:path>
              </a:pathLst>
            </a:custGeom>
            <a:noFill/>
            <a:ln w="38100" cap="flat" cmpd="sng">
              <a:solidFill>
                <a:srgbClr val="F1C232"/>
              </a:solidFill>
              <a:prstDash val="solid"/>
              <a:round/>
              <a:headEnd type="none" w="med" len="med"/>
              <a:tailEnd type="none" w="med" len="med"/>
            </a:ln>
          </p:spPr>
        </p:sp>
        <p:sp>
          <p:nvSpPr>
            <p:cNvPr id="919" name="Google Shape;919;p32"/>
            <p:cNvSpPr/>
            <p:nvPr/>
          </p:nvSpPr>
          <p:spPr>
            <a:xfrm>
              <a:off x="7743725" y="3093500"/>
              <a:ext cx="518875" cy="321600"/>
            </a:xfrm>
            <a:custGeom>
              <a:avLst/>
              <a:gdLst/>
              <a:ahLst/>
              <a:cxnLst/>
              <a:rect l="l" t="t" r="r" b="b"/>
              <a:pathLst>
                <a:path w="20755" h="12864" extrusionOk="0">
                  <a:moveTo>
                    <a:pt x="0" y="0"/>
                  </a:moveTo>
                  <a:cubicBezTo>
                    <a:pt x="5394" y="897"/>
                    <a:pt x="12760" y="-760"/>
                    <a:pt x="15993" y="3650"/>
                  </a:cubicBezTo>
                  <a:cubicBezTo>
                    <a:pt x="17475" y="5672"/>
                    <a:pt x="22372" y="8719"/>
                    <a:pt x="20165" y="9908"/>
                  </a:cubicBezTo>
                  <a:cubicBezTo>
                    <a:pt x="14587" y="12912"/>
                    <a:pt x="1390" y="6529"/>
                    <a:pt x="1390" y="12864"/>
                  </a:cubicBezTo>
                </a:path>
              </a:pathLst>
            </a:custGeom>
            <a:noFill/>
            <a:ln w="38100" cap="flat" cmpd="sng">
              <a:solidFill>
                <a:srgbClr val="F1C232"/>
              </a:solidFill>
              <a:prstDash val="solid"/>
              <a:round/>
              <a:headEnd type="none" w="med" len="med"/>
              <a:tailEnd type="none" w="med" len="med"/>
            </a:ln>
          </p:spPr>
        </p:sp>
        <p:sp>
          <p:nvSpPr>
            <p:cNvPr id="920" name="Google Shape;920;p32"/>
            <p:cNvSpPr/>
            <p:nvPr/>
          </p:nvSpPr>
          <p:spPr>
            <a:xfrm>
              <a:off x="7662050" y="3010925"/>
              <a:ext cx="411975" cy="478050"/>
            </a:xfrm>
            <a:custGeom>
              <a:avLst/>
              <a:gdLst/>
              <a:ahLst/>
              <a:cxnLst/>
              <a:rect l="l" t="t" r="r" b="b"/>
              <a:pathLst>
                <a:path w="16479" h="19122" extrusionOk="0">
                  <a:moveTo>
                    <a:pt x="16479" y="0"/>
                  </a:moveTo>
                  <a:cubicBezTo>
                    <a:pt x="9984" y="1946"/>
                    <a:pt x="3470" y="6343"/>
                    <a:pt x="311" y="12342"/>
                  </a:cubicBezTo>
                  <a:cubicBezTo>
                    <a:pt x="-872" y="14589"/>
                    <a:pt x="1757" y="17597"/>
                    <a:pt x="3788" y="19122"/>
                  </a:cubicBezTo>
                </a:path>
              </a:pathLst>
            </a:custGeom>
            <a:noFill/>
            <a:ln w="38100" cap="flat" cmpd="sng">
              <a:solidFill>
                <a:srgbClr val="F1C232"/>
              </a:solidFill>
              <a:prstDash val="solid"/>
              <a:round/>
              <a:headEnd type="none" w="med" len="med"/>
              <a:tailEnd type="none" w="med" len="med"/>
            </a:ln>
          </p:spPr>
        </p:sp>
        <p:sp>
          <p:nvSpPr>
            <p:cNvPr id="921" name="Google Shape;921;p32"/>
            <p:cNvSpPr/>
            <p:nvPr/>
          </p:nvSpPr>
          <p:spPr>
            <a:xfrm>
              <a:off x="7817600" y="3015250"/>
              <a:ext cx="398400" cy="587225"/>
            </a:xfrm>
            <a:custGeom>
              <a:avLst/>
              <a:gdLst/>
              <a:ahLst/>
              <a:cxnLst/>
              <a:rect l="l" t="t" r="r" b="b"/>
              <a:pathLst>
                <a:path w="15936" h="23489" extrusionOk="0">
                  <a:moveTo>
                    <a:pt x="0" y="0"/>
                  </a:moveTo>
                  <a:cubicBezTo>
                    <a:pt x="0" y="8167"/>
                    <a:pt x="2230" y="20746"/>
                    <a:pt x="10257" y="22252"/>
                  </a:cubicBezTo>
                  <a:cubicBezTo>
                    <a:pt x="12203" y="22617"/>
                    <a:pt x="15960" y="18191"/>
                    <a:pt x="15819" y="20166"/>
                  </a:cubicBezTo>
                  <a:cubicBezTo>
                    <a:pt x="15703" y="21786"/>
                    <a:pt x="15565" y="21792"/>
                    <a:pt x="14950" y="23295"/>
                  </a:cubicBezTo>
                  <a:cubicBezTo>
                    <a:pt x="14596" y="24160"/>
                    <a:pt x="13200" y="21724"/>
                    <a:pt x="13559" y="20861"/>
                  </a:cubicBezTo>
                  <a:cubicBezTo>
                    <a:pt x="14532" y="18524"/>
                    <a:pt x="16694" y="15864"/>
                    <a:pt x="15646" y="13560"/>
                  </a:cubicBezTo>
                  <a:cubicBezTo>
                    <a:pt x="15040" y="12229"/>
                    <a:pt x="13029" y="12161"/>
                    <a:pt x="11995" y="11126"/>
                  </a:cubicBezTo>
                </a:path>
              </a:pathLst>
            </a:custGeom>
            <a:noFill/>
            <a:ln w="38100" cap="flat" cmpd="sng">
              <a:solidFill>
                <a:srgbClr val="F1C232"/>
              </a:solidFill>
              <a:prstDash val="solid"/>
              <a:round/>
              <a:headEnd type="none" w="med" len="med"/>
              <a:tailEnd type="none" w="med" len="med"/>
            </a:ln>
          </p:spPr>
        </p:sp>
        <p:sp>
          <p:nvSpPr>
            <p:cNvPr id="922" name="Google Shape;922;p32"/>
            <p:cNvSpPr/>
            <p:nvPr/>
          </p:nvSpPr>
          <p:spPr>
            <a:xfrm>
              <a:off x="7643750" y="3180400"/>
              <a:ext cx="425925" cy="446300"/>
            </a:xfrm>
            <a:custGeom>
              <a:avLst/>
              <a:gdLst/>
              <a:ahLst/>
              <a:cxnLst/>
              <a:rect l="l" t="t" r="r" b="b"/>
              <a:pathLst>
                <a:path w="17037" h="17852" extrusionOk="0">
                  <a:moveTo>
                    <a:pt x="0" y="0"/>
                  </a:moveTo>
                  <a:cubicBezTo>
                    <a:pt x="4491" y="817"/>
                    <a:pt x="6830" y="6955"/>
                    <a:pt x="7475" y="11474"/>
                  </a:cubicBezTo>
                  <a:cubicBezTo>
                    <a:pt x="7713" y="13138"/>
                    <a:pt x="6322" y="15483"/>
                    <a:pt x="7649" y="16515"/>
                  </a:cubicBezTo>
                  <a:cubicBezTo>
                    <a:pt x="10121" y="18437"/>
                    <a:pt x="14632" y="18173"/>
                    <a:pt x="17037" y="16167"/>
                  </a:cubicBezTo>
                </a:path>
              </a:pathLst>
            </a:custGeom>
            <a:noFill/>
            <a:ln w="38100" cap="flat" cmpd="sng">
              <a:solidFill>
                <a:srgbClr val="F1C232"/>
              </a:solidFill>
              <a:prstDash val="solid"/>
              <a:round/>
              <a:headEnd type="none" w="med" len="med"/>
              <a:tailEnd type="none" w="med" len="med"/>
            </a:ln>
          </p:spPr>
        </p:sp>
        <p:sp>
          <p:nvSpPr>
            <p:cNvPr id="923" name="Google Shape;923;p32"/>
            <p:cNvSpPr/>
            <p:nvPr/>
          </p:nvSpPr>
          <p:spPr>
            <a:xfrm>
              <a:off x="7836249" y="3076100"/>
              <a:ext cx="320325" cy="456325"/>
            </a:xfrm>
            <a:custGeom>
              <a:avLst/>
              <a:gdLst/>
              <a:ahLst/>
              <a:cxnLst/>
              <a:rect l="l" t="t" r="r" b="b"/>
              <a:pathLst>
                <a:path w="12813" h="18253" extrusionOk="0">
                  <a:moveTo>
                    <a:pt x="12813" y="0"/>
                  </a:moveTo>
                  <a:cubicBezTo>
                    <a:pt x="7242" y="2181"/>
                    <a:pt x="-861" y="6790"/>
                    <a:pt x="123" y="12691"/>
                  </a:cubicBezTo>
                  <a:cubicBezTo>
                    <a:pt x="746" y="16427"/>
                    <a:pt x="8084" y="15004"/>
                    <a:pt x="10032" y="18253"/>
                  </a:cubicBezTo>
                </a:path>
              </a:pathLst>
            </a:custGeom>
            <a:noFill/>
            <a:ln w="38100" cap="flat" cmpd="sng">
              <a:solidFill>
                <a:srgbClr val="F1C232"/>
              </a:solidFill>
              <a:prstDash val="solid"/>
              <a:round/>
              <a:headEnd type="none" w="med" len="med"/>
              <a:tailEnd type="none" w="med" len="med"/>
            </a:ln>
          </p:spPr>
        </p:sp>
        <p:sp>
          <p:nvSpPr>
            <p:cNvPr id="924" name="Google Shape;924;p32"/>
            <p:cNvSpPr/>
            <p:nvPr/>
          </p:nvSpPr>
          <p:spPr>
            <a:xfrm>
              <a:off x="7700250" y="3132600"/>
              <a:ext cx="429925" cy="169500"/>
            </a:xfrm>
            <a:custGeom>
              <a:avLst/>
              <a:gdLst/>
              <a:ahLst/>
              <a:cxnLst/>
              <a:rect l="l" t="t" r="r" b="b"/>
              <a:pathLst>
                <a:path w="17197" h="6780" extrusionOk="0">
                  <a:moveTo>
                    <a:pt x="0" y="0"/>
                  </a:moveTo>
                  <a:cubicBezTo>
                    <a:pt x="3914" y="4695"/>
                    <a:pt x="10925" y="6780"/>
                    <a:pt x="17037" y="6780"/>
                  </a:cubicBezTo>
                  <a:cubicBezTo>
                    <a:pt x="17504" y="6780"/>
                    <a:pt x="16799" y="5655"/>
                    <a:pt x="16341" y="5563"/>
                  </a:cubicBezTo>
                </a:path>
              </a:pathLst>
            </a:custGeom>
            <a:noFill/>
            <a:ln w="38100" cap="flat" cmpd="sng">
              <a:solidFill>
                <a:srgbClr val="F1C232"/>
              </a:solidFill>
              <a:prstDash val="solid"/>
              <a:round/>
              <a:headEnd type="none" w="med" len="med"/>
              <a:tailEnd type="none" w="med" len="med"/>
            </a:ln>
          </p:spPr>
        </p:sp>
        <p:sp>
          <p:nvSpPr>
            <p:cNvPr id="925" name="Google Shape;925;p32"/>
            <p:cNvSpPr/>
            <p:nvPr/>
          </p:nvSpPr>
          <p:spPr>
            <a:xfrm>
              <a:off x="7710998" y="3098181"/>
              <a:ext cx="558575" cy="472725"/>
            </a:xfrm>
            <a:custGeom>
              <a:avLst/>
              <a:gdLst/>
              <a:ahLst/>
              <a:cxnLst/>
              <a:rect l="l" t="t" r="r" b="b"/>
              <a:pathLst>
                <a:path w="22343" h="18909" extrusionOk="0">
                  <a:moveTo>
                    <a:pt x="22343" y="4332"/>
                  </a:moveTo>
                  <a:cubicBezTo>
                    <a:pt x="16437" y="38"/>
                    <a:pt x="3704" y="-2547"/>
                    <a:pt x="439" y="3985"/>
                  </a:cubicBezTo>
                  <a:cubicBezTo>
                    <a:pt x="-1508" y="7881"/>
                    <a:pt x="3832" y="12696"/>
                    <a:pt x="7567" y="14937"/>
                  </a:cubicBezTo>
                  <a:cubicBezTo>
                    <a:pt x="9340" y="16001"/>
                    <a:pt x="12081" y="14808"/>
                    <a:pt x="13651" y="16154"/>
                  </a:cubicBezTo>
                  <a:cubicBezTo>
                    <a:pt x="15785" y="17983"/>
                    <a:pt x="7730" y="19926"/>
                    <a:pt x="5481" y="18240"/>
                  </a:cubicBezTo>
                </a:path>
              </a:pathLst>
            </a:custGeom>
            <a:noFill/>
            <a:ln w="38100" cap="flat" cmpd="sng">
              <a:solidFill>
                <a:srgbClr val="F1C232"/>
              </a:solidFill>
              <a:prstDash val="solid"/>
              <a:round/>
              <a:headEnd type="none" w="med" len="med"/>
              <a:tailEnd type="none" w="med" len="med"/>
            </a:ln>
          </p:spPr>
        </p:sp>
        <p:sp>
          <p:nvSpPr>
            <p:cNvPr id="926" name="Google Shape;926;p32"/>
            <p:cNvSpPr/>
            <p:nvPr/>
          </p:nvSpPr>
          <p:spPr>
            <a:xfrm>
              <a:off x="7685501" y="3079570"/>
              <a:ext cx="584075" cy="361600"/>
            </a:xfrm>
            <a:custGeom>
              <a:avLst/>
              <a:gdLst/>
              <a:ahLst/>
              <a:cxnLst/>
              <a:rect l="l" t="t" r="r" b="b"/>
              <a:pathLst>
                <a:path w="23363" h="14464" extrusionOk="0">
                  <a:moveTo>
                    <a:pt x="23363" y="14464"/>
                  </a:moveTo>
                  <a:cubicBezTo>
                    <a:pt x="21432" y="9632"/>
                    <a:pt x="15255" y="7928"/>
                    <a:pt x="11021" y="4903"/>
                  </a:cubicBezTo>
                  <a:cubicBezTo>
                    <a:pt x="8043" y="2775"/>
                    <a:pt x="3984" y="-1473"/>
                    <a:pt x="938" y="557"/>
                  </a:cubicBezTo>
                  <a:cubicBezTo>
                    <a:pt x="-2526" y="2866"/>
                    <a:pt x="4896" y="8744"/>
                    <a:pt x="8761" y="10292"/>
                  </a:cubicBezTo>
                </a:path>
              </a:pathLst>
            </a:custGeom>
            <a:noFill/>
            <a:ln w="38100" cap="flat" cmpd="sng">
              <a:solidFill>
                <a:srgbClr val="F1C232"/>
              </a:solidFill>
              <a:prstDash val="solid"/>
              <a:round/>
              <a:headEnd type="none" w="med" len="med"/>
              <a:tailEnd type="none" w="med" len="med"/>
            </a:ln>
          </p:spPr>
        </p:sp>
        <p:sp>
          <p:nvSpPr>
            <p:cNvPr id="927" name="Google Shape;927;p32"/>
            <p:cNvSpPr/>
            <p:nvPr/>
          </p:nvSpPr>
          <p:spPr>
            <a:xfrm>
              <a:off x="7744259" y="3028300"/>
              <a:ext cx="368875" cy="491100"/>
            </a:xfrm>
            <a:custGeom>
              <a:avLst/>
              <a:gdLst/>
              <a:ahLst/>
              <a:cxnLst/>
              <a:rect l="l" t="t" r="r" b="b"/>
              <a:pathLst>
                <a:path w="14755" h="19644" extrusionOk="0">
                  <a:moveTo>
                    <a:pt x="14755" y="0"/>
                  </a:moveTo>
                  <a:cubicBezTo>
                    <a:pt x="14495" y="609"/>
                    <a:pt x="14636" y="691"/>
                    <a:pt x="14234" y="1217"/>
                  </a:cubicBezTo>
                  <a:cubicBezTo>
                    <a:pt x="10836" y="5660"/>
                    <a:pt x="3616" y="6081"/>
                    <a:pt x="326" y="10604"/>
                  </a:cubicBezTo>
                  <a:cubicBezTo>
                    <a:pt x="-1501" y="13116"/>
                    <a:pt x="5071" y="17780"/>
                    <a:pt x="2586" y="19644"/>
                  </a:cubicBezTo>
                </a:path>
              </a:pathLst>
            </a:custGeom>
            <a:noFill/>
            <a:ln w="38100" cap="flat" cmpd="sng">
              <a:solidFill>
                <a:srgbClr val="F1C232"/>
              </a:solidFill>
              <a:prstDash val="solid"/>
              <a:round/>
              <a:headEnd type="none" w="med" len="med"/>
              <a:tailEnd type="none" w="med" len="med"/>
            </a:ln>
          </p:spPr>
        </p:sp>
        <p:sp>
          <p:nvSpPr>
            <p:cNvPr id="928" name="Google Shape;928;p32"/>
            <p:cNvSpPr/>
            <p:nvPr/>
          </p:nvSpPr>
          <p:spPr>
            <a:xfrm>
              <a:off x="7765450" y="3145650"/>
              <a:ext cx="482400" cy="338975"/>
            </a:xfrm>
            <a:custGeom>
              <a:avLst/>
              <a:gdLst/>
              <a:ahLst/>
              <a:cxnLst/>
              <a:rect l="l" t="t" r="r" b="b"/>
              <a:pathLst>
                <a:path w="19296" h="13559" extrusionOk="0">
                  <a:moveTo>
                    <a:pt x="19296" y="13559"/>
                  </a:moveTo>
                  <a:cubicBezTo>
                    <a:pt x="13760" y="11712"/>
                    <a:pt x="8516" y="8736"/>
                    <a:pt x="3998" y="5041"/>
                  </a:cubicBezTo>
                  <a:cubicBezTo>
                    <a:pt x="2338" y="3683"/>
                    <a:pt x="2116" y="351"/>
                    <a:pt x="0" y="0"/>
                  </a:cubicBezTo>
                </a:path>
              </a:pathLst>
            </a:custGeom>
            <a:noFill/>
            <a:ln w="38100" cap="flat" cmpd="sng">
              <a:solidFill>
                <a:srgbClr val="F1C232"/>
              </a:solidFill>
              <a:prstDash val="solid"/>
              <a:round/>
              <a:headEnd type="none" w="med" len="med"/>
              <a:tailEnd type="none" w="med" len="med"/>
            </a:ln>
          </p:spPr>
        </p:sp>
        <p:sp>
          <p:nvSpPr>
            <p:cNvPr id="929" name="Google Shape;929;p32"/>
            <p:cNvSpPr/>
            <p:nvPr/>
          </p:nvSpPr>
          <p:spPr>
            <a:xfrm>
              <a:off x="7665500" y="3269759"/>
              <a:ext cx="499775" cy="249650"/>
            </a:xfrm>
            <a:custGeom>
              <a:avLst/>
              <a:gdLst/>
              <a:ahLst/>
              <a:cxnLst/>
              <a:rect l="l" t="t" r="r" b="b"/>
              <a:pathLst>
                <a:path w="19991" h="9986" extrusionOk="0">
                  <a:moveTo>
                    <a:pt x="0" y="9986"/>
                  </a:moveTo>
                  <a:cubicBezTo>
                    <a:pt x="3478" y="7899"/>
                    <a:pt x="5064" y="3283"/>
                    <a:pt x="8692" y="1468"/>
                  </a:cubicBezTo>
                  <a:cubicBezTo>
                    <a:pt x="12086" y="-230"/>
                    <a:pt x="16196" y="77"/>
                    <a:pt x="19991" y="77"/>
                  </a:cubicBezTo>
                </a:path>
              </a:pathLst>
            </a:custGeom>
            <a:noFill/>
            <a:ln w="38100" cap="flat" cmpd="sng">
              <a:solidFill>
                <a:srgbClr val="F1C232"/>
              </a:solidFill>
              <a:prstDash val="solid"/>
              <a:round/>
              <a:headEnd type="none" w="med" len="med"/>
              <a:tailEnd type="none" w="med" len="med"/>
            </a:ln>
          </p:spPr>
        </p:sp>
        <p:sp>
          <p:nvSpPr>
            <p:cNvPr id="930" name="Google Shape;930;p32"/>
            <p:cNvSpPr/>
            <p:nvPr/>
          </p:nvSpPr>
          <p:spPr>
            <a:xfrm>
              <a:off x="7656800" y="3198318"/>
              <a:ext cx="660600" cy="161800"/>
            </a:xfrm>
            <a:custGeom>
              <a:avLst/>
              <a:gdLst/>
              <a:ahLst/>
              <a:cxnLst/>
              <a:rect l="l" t="t" r="r" b="b"/>
              <a:pathLst>
                <a:path w="26424" h="6472" extrusionOk="0">
                  <a:moveTo>
                    <a:pt x="26424" y="6411"/>
                  </a:moveTo>
                  <a:cubicBezTo>
                    <a:pt x="18961" y="6652"/>
                    <a:pt x="11684" y="3823"/>
                    <a:pt x="4520" y="1717"/>
                  </a:cubicBezTo>
                  <a:cubicBezTo>
                    <a:pt x="4232" y="1632"/>
                    <a:pt x="0" y="-572"/>
                    <a:pt x="0" y="153"/>
                  </a:cubicBezTo>
                  <a:cubicBezTo>
                    <a:pt x="0" y="1294"/>
                    <a:pt x="584" y="2475"/>
                    <a:pt x="1391" y="3282"/>
                  </a:cubicBezTo>
                </a:path>
              </a:pathLst>
            </a:custGeom>
            <a:noFill/>
            <a:ln w="38100" cap="flat" cmpd="sng">
              <a:solidFill>
                <a:srgbClr val="F1C232"/>
              </a:solidFill>
              <a:prstDash val="solid"/>
              <a:round/>
              <a:headEnd type="none" w="med" len="med"/>
              <a:tailEnd type="none" w="med" len="med"/>
            </a:ln>
          </p:spPr>
        </p:sp>
        <p:sp>
          <p:nvSpPr>
            <p:cNvPr id="931" name="Google Shape;931;p32"/>
            <p:cNvSpPr/>
            <p:nvPr/>
          </p:nvSpPr>
          <p:spPr>
            <a:xfrm>
              <a:off x="7757829" y="3119575"/>
              <a:ext cx="450925" cy="395475"/>
            </a:xfrm>
            <a:custGeom>
              <a:avLst/>
              <a:gdLst/>
              <a:ahLst/>
              <a:cxnLst/>
              <a:rect l="l" t="t" r="r" b="b"/>
              <a:pathLst>
                <a:path w="18037" h="15819" extrusionOk="0">
                  <a:moveTo>
                    <a:pt x="18037" y="0"/>
                  </a:moveTo>
                  <a:cubicBezTo>
                    <a:pt x="15708" y="1293"/>
                    <a:pt x="13491" y="3180"/>
                    <a:pt x="12300" y="5562"/>
                  </a:cubicBezTo>
                  <a:cubicBezTo>
                    <a:pt x="11338" y="7485"/>
                    <a:pt x="12524" y="10628"/>
                    <a:pt x="10735" y="11821"/>
                  </a:cubicBezTo>
                  <a:cubicBezTo>
                    <a:pt x="7637" y="13887"/>
                    <a:pt x="-1612" y="12627"/>
                    <a:pt x="305" y="15819"/>
                  </a:cubicBezTo>
                </a:path>
              </a:pathLst>
            </a:custGeom>
            <a:noFill/>
            <a:ln w="38100" cap="flat" cmpd="sng">
              <a:solidFill>
                <a:srgbClr val="F1C232"/>
              </a:solidFill>
              <a:prstDash val="solid"/>
              <a:round/>
              <a:headEnd type="none" w="med" len="med"/>
              <a:tailEnd type="none" w="med" len="med"/>
            </a:ln>
          </p:spPr>
        </p:sp>
        <p:sp>
          <p:nvSpPr>
            <p:cNvPr id="932" name="Google Shape;932;p32"/>
            <p:cNvSpPr/>
            <p:nvPr/>
          </p:nvSpPr>
          <p:spPr>
            <a:xfrm>
              <a:off x="7895825" y="3010925"/>
              <a:ext cx="373750" cy="469350"/>
            </a:xfrm>
            <a:custGeom>
              <a:avLst/>
              <a:gdLst/>
              <a:ahLst/>
              <a:cxnLst/>
              <a:rect l="l" t="t" r="r" b="b"/>
              <a:pathLst>
                <a:path w="14950" h="18774" extrusionOk="0">
                  <a:moveTo>
                    <a:pt x="0" y="0"/>
                  </a:moveTo>
                  <a:cubicBezTo>
                    <a:pt x="1571" y="7844"/>
                    <a:pt x="11377" y="11617"/>
                    <a:pt x="14950" y="18774"/>
                  </a:cubicBezTo>
                </a:path>
              </a:pathLst>
            </a:custGeom>
            <a:noFill/>
            <a:ln w="38100" cap="flat" cmpd="sng">
              <a:solidFill>
                <a:srgbClr val="F1C232"/>
              </a:solidFill>
              <a:prstDash val="solid"/>
              <a:round/>
              <a:headEnd type="none" w="med" len="med"/>
              <a:tailEnd type="none" w="med" len="med"/>
            </a:ln>
          </p:spPr>
        </p:sp>
        <p:sp>
          <p:nvSpPr>
            <p:cNvPr id="933" name="Google Shape;933;p32"/>
            <p:cNvSpPr/>
            <p:nvPr/>
          </p:nvSpPr>
          <p:spPr>
            <a:xfrm>
              <a:off x="7752400" y="3132600"/>
              <a:ext cx="346150" cy="434600"/>
            </a:xfrm>
            <a:custGeom>
              <a:avLst/>
              <a:gdLst/>
              <a:ahLst/>
              <a:cxnLst/>
              <a:rect l="l" t="t" r="r" b="b"/>
              <a:pathLst>
                <a:path w="13846" h="17384" extrusionOk="0">
                  <a:moveTo>
                    <a:pt x="0" y="17384"/>
                  </a:moveTo>
                  <a:cubicBezTo>
                    <a:pt x="1561" y="14266"/>
                    <a:pt x="813" y="9404"/>
                    <a:pt x="3825" y="7649"/>
                  </a:cubicBezTo>
                  <a:cubicBezTo>
                    <a:pt x="6452" y="6118"/>
                    <a:pt x="10432" y="8256"/>
                    <a:pt x="12865" y="6432"/>
                  </a:cubicBezTo>
                  <a:cubicBezTo>
                    <a:pt x="14596" y="5134"/>
                    <a:pt x="13756" y="1257"/>
                    <a:pt x="11995" y="0"/>
                  </a:cubicBezTo>
                </a:path>
              </a:pathLst>
            </a:custGeom>
            <a:noFill/>
            <a:ln w="38100" cap="flat" cmpd="sng">
              <a:solidFill>
                <a:srgbClr val="F1C232"/>
              </a:solidFill>
              <a:prstDash val="solid"/>
              <a:round/>
              <a:headEnd type="none" w="med" len="med"/>
              <a:tailEnd type="none" w="med" len="med"/>
            </a:ln>
          </p:spPr>
        </p:sp>
      </p:grpSp>
      <p:sp>
        <p:nvSpPr>
          <p:cNvPr id="934" name="Google Shape;934;p32"/>
          <p:cNvSpPr/>
          <p:nvPr/>
        </p:nvSpPr>
        <p:spPr>
          <a:xfrm rot="-6485262" flipH="1">
            <a:off x="5341176" y="27577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935" name="Google Shape;935;p32"/>
          <p:cNvSpPr/>
          <p:nvPr/>
        </p:nvSpPr>
        <p:spPr>
          <a:xfrm>
            <a:off x="4416763" y="3146300"/>
            <a:ext cx="420063" cy="289163"/>
          </a:xfrm>
          <a:custGeom>
            <a:avLst/>
            <a:gdLst/>
            <a:ahLst/>
            <a:cxnLst/>
            <a:rect l="l" t="t" r="r" b="b"/>
            <a:pathLst>
              <a:path w="33605" h="23133" extrusionOk="0">
                <a:moveTo>
                  <a:pt x="0" y="23133"/>
                </a:moveTo>
                <a:cubicBezTo>
                  <a:pt x="2435" y="19075"/>
                  <a:pt x="4127" y="14465"/>
                  <a:pt x="7305" y="10958"/>
                </a:cubicBezTo>
                <a:cubicBezTo>
                  <a:pt x="13683" y="3921"/>
                  <a:pt x="24540" y="2832"/>
                  <a:pt x="33605" y="0"/>
                </a:cubicBezTo>
              </a:path>
            </a:pathLst>
          </a:custGeom>
          <a:noFill/>
          <a:ln w="38100" cap="flat" cmpd="sng">
            <a:solidFill>
              <a:srgbClr val="F1C232"/>
            </a:solidFill>
            <a:prstDash val="solid"/>
            <a:round/>
            <a:headEnd type="none" w="med" len="med"/>
            <a:tailEnd type="none" w="med" len="med"/>
          </a:ln>
        </p:spPr>
      </p:sp>
      <p:sp>
        <p:nvSpPr>
          <p:cNvPr id="936" name="Google Shape;936;p32"/>
          <p:cNvSpPr/>
          <p:nvPr/>
        </p:nvSpPr>
        <p:spPr>
          <a:xfrm>
            <a:off x="4413713" y="2966700"/>
            <a:ext cx="273963" cy="413975"/>
          </a:xfrm>
          <a:custGeom>
            <a:avLst/>
            <a:gdLst/>
            <a:ahLst/>
            <a:cxnLst/>
            <a:rect l="l" t="t" r="r" b="b"/>
            <a:pathLst>
              <a:path w="21917" h="33118" extrusionOk="0">
                <a:moveTo>
                  <a:pt x="0" y="0"/>
                </a:moveTo>
                <a:cubicBezTo>
                  <a:pt x="2209" y="4416"/>
                  <a:pt x="6510" y="8222"/>
                  <a:pt x="6819" y="13150"/>
                </a:cubicBezTo>
                <a:cubicBezTo>
                  <a:pt x="7095" y="17561"/>
                  <a:pt x="2967" y="22436"/>
                  <a:pt x="5114" y="26300"/>
                </a:cubicBezTo>
                <a:cubicBezTo>
                  <a:pt x="8050" y="31584"/>
                  <a:pt x="16181" y="31211"/>
                  <a:pt x="21917" y="33118"/>
                </a:cubicBezTo>
              </a:path>
            </a:pathLst>
          </a:custGeom>
          <a:noFill/>
          <a:ln w="38100" cap="flat" cmpd="sng">
            <a:solidFill>
              <a:srgbClr val="F1C232"/>
            </a:solidFill>
            <a:prstDash val="solid"/>
            <a:round/>
            <a:headEnd type="none" w="med" len="med"/>
            <a:tailEnd type="none" w="med" len="med"/>
          </a:ln>
        </p:spPr>
      </p:sp>
      <p:sp>
        <p:nvSpPr>
          <p:cNvPr id="937" name="Google Shape;937;p32"/>
          <p:cNvSpPr/>
          <p:nvPr/>
        </p:nvSpPr>
        <p:spPr>
          <a:xfrm>
            <a:off x="4363841" y="3099836"/>
            <a:ext cx="427325" cy="335625"/>
          </a:xfrm>
          <a:custGeom>
            <a:avLst/>
            <a:gdLst/>
            <a:ahLst/>
            <a:cxnLst/>
            <a:rect l="l" t="t" r="r" b="b"/>
            <a:pathLst>
              <a:path w="34186" h="26850" extrusionOk="0">
                <a:moveTo>
                  <a:pt x="34186" y="7369"/>
                </a:moveTo>
                <a:cubicBezTo>
                  <a:pt x="26609" y="7875"/>
                  <a:pt x="18987" y="9107"/>
                  <a:pt x="11783" y="11509"/>
                </a:cubicBezTo>
                <a:cubicBezTo>
                  <a:pt x="8958" y="12451"/>
                  <a:pt x="6190" y="14721"/>
                  <a:pt x="3260" y="14188"/>
                </a:cubicBezTo>
                <a:cubicBezTo>
                  <a:pt x="100" y="13613"/>
                  <a:pt x="-612" y="7915"/>
                  <a:pt x="581" y="4934"/>
                </a:cubicBezTo>
                <a:cubicBezTo>
                  <a:pt x="2999" y="-1107"/>
                  <a:pt x="16358" y="-1632"/>
                  <a:pt x="20062" y="3717"/>
                </a:cubicBezTo>
                <a:cubicBezTo>
                  <a:pt x="23302" y="8396"/>
                  <a:pt x="18572" y="15095"/>
                  <a:pt x="19088" y="20763"/>
                </a:cubicBezTo>
                <a:cubicBezTo>
                  <a:pt x="19370" y="23858"/>
                  <a:pt x="23042" y="26850"/>
                  <a:pt x="26150" y="26850"/>
                </a:cubicBezTo>
              </a:path>
            </a:pathLst>
          </a:custGeom>
          <a:noFill/>
          <a:ln w="38100" cap="flat" cmpd="sng">
            <a:solidFill>
              <a:srgbClr val="F1C232"/>
            </a:solidFill>
            <a:prstDash val="solid"/>
            <a:round/>
            <a:headEnd type="none" w="med" len="med"/>
            <a:tailEnd type="none" w="med" len="med"/>
          </a:ln>
        </p:spPr>
      </p:sp>
      <p:sp>
        <p:nvSpPr>
          <p:cNvPr id="938" name="Google Shape;938;p32"/>
          <p:cNvSpPr/>
          <p:nvPr/>
        </p:nvSpPr>
        <p:spPr>
          <a:xfrm>
            <a:off x="4365013" y="2942350"/>
            <a:ext cx="453675" cy="414725"/>
          </a:xfrm>
          <a:custGeom>
            <a:avLst/>
            <a:gdLst/>
            <a:ahLst/>
            <a:cxnLst/>
            <a:rect l="l" t="t" r="r" b="b"/>
            <a:pathLst>
              <a:path w="36294" h="33178" extrusionOk="0">
                <a:moveTo>
                  <a:pt x="16072" y="0"/>
                </a:moveTo>
                <a:cubicBezTo>
                  <a:pt x="18478" y="5415"/>
                  <a:pt x="25652" y="7856"/>
                  <a:pt x="27761" y="13393"/>
                </a:cubicBezTo>
                <a:cubicBezTo>
                  <a:pt x="29698" y="18478"/>
                  <a:pt x="25844" y="24459"/>
                  <a:pt x="27274" y="29709"/>
                </a:cubicBezTo>
                <a:cubicBezTo>
                  <a:pt x="27905" y="32023"/>
                  <a:pt x="32028" y="34192"/>
                  <a:pt x="33849" y="32631"/>
                </a:cubicBezTo>
                <a:cubicBezTo>
                  <a:pt x="36931" y="29989"/>
                  <a:pt x="37353" y="22015"/>
                  <a:pt x="33605" y="20455"/>
                </a:cubicBezTo>
                <a:cubicBezTo>
                  <a:pt x="25042" y="16890"/>
                  <a:pt x="14673" y="21082"/>
                  <a:pt x="6088" y="24595"/>
                </a:cubicBezTo>
                <a:cubicBezTo>
                  <a:pt x="3268" y="25749"/>
                  <a:pt x="2891" y="30452"/>
                  <a:pt x="0" y="31413"/>
                </a:cubicBezTo>
              </a:path>
            </a:pathLst>
          </a:custGeom>
          <a:noFill/>
          <a:ln w="38100" cap="flat" cmpd="sng">
            <a:solidFill>
              <a:srgbClr val="F1C232"/>
            </a:solidFill>
            <a:prstDash val="solid"/>
            <a:round/>
            <a:headEnd type="none" w="med" len="med"/>
            <a:tailEnd type="none" w="med" len="med"/>
          </a:ln>
        </p:spPr>
      </p:sp>
      <p:sp>
        <p:nvSpPr>
          <p:cNvPr id="939" name="Google Shape;939;p32"/>
          <p:cNvSpPr/>
          <p:nvPr/>
        </p:nvSpPr>
        <p:spPr>
          <a:xfrm>
            <a:off x="4340663" y="2972714"/>
            <a:ext cx="441350" cy="510425"/>
          </a:xfrm>
          <a:custGeom>
            <a:avLst/>
            <a:gdLst/>
            <a:ahLst/>
            <a:cxnLst/>
            <a:rect l="l" t="t" r="r" b="b"/>
            <a:pathLst>
              <a:path w="35308" h="40834" extrusionOk="0">
                <a:moveTo>
                  <a:pt x="0" y="21923"/>
                </a:moveTo>
                <a:cubicBezTo>
                  <a:pt x="4868" y="17746"/>
                  <a:pt x="16935" y="15448"/>
                  <a:pt x="19238" y="21435"/>
                </a:cubicBezTo>
                <a:cubicBezTo>
                  <a:pt x="21093" y="26256"/>
                  <a:pt x="14339" y="32377"/>
                  <a:pt x="17046" y="36777"/>
                </a:cubicBezTo>
                <a:cubicBezTo>
                  <a:pt x="19515" y="40790"/>
                  <a:pt x="26930" y="41953"/>
                  <a:pt x="30926" y="39456"/>
                </a:cubicBezTo>
                <a:cubicBezTo>
                  <a:pt x="37891" y="35105"/>
                  <a:pt x="35821" y="20062"/>
                  <a:pt x="29465" y="14861"/>
                </a:cubicBezTo>
                <a:cubicBezTo>
                  <a:pt x="22888" y="9480"/>
                  <a:pt x="7178" y="12602"/>
                  <a:pt x="6331" y="4146"/>
                </a:cubicBezTo>
                <a:cubicBezTo>
                  <a:pt x="5675" y="-2396"/>
                  <a:pt x="21107" y="-183"/>
                  <a:pt x="26056" y="4146"/>
                </a:cubicBezTo>
                <a:cubicBezTo>
                  <a:pt x="35321" y="12251"/>
                  <a:pt x="17470" y="28073"/>
                  <a:pt x="8766" y="36777"/>
                </a:cubicBezTo>
              </a:path>
            </a:pathLst>
          </a:custGeom>
          <a:noFill/>
          <a:ln w="38100" cap="flat" cmpd="sng">
            <a:solidFill>
              <a:srgbClr val="F1C232"/>
            </a:solidFill>
            <a:prstDash val="solid"/>
            <a:round/>
            <a:headEnd type="none" w="med" len="med"/>
            <a:tailEnd type="none" w="med" len="med"/>
          </a:ln>
        </p:spPr>
      </p:sp>
      <p:sp>
        <p:nvSpPr>
          <p:cNvPr id="940" name="Google Shape;940;p32"/>
          <p:cNvSpPr/>
          <p:nvPr/>
        </p:nvSpPr>
        <p:spPr>
          <a:xfrm>
            <a:off x="4336629" y="2954525"/>
            <a:ext cx="448450" cy="512988"/>
          </a:xfrm>
          <a:custGeom>
            <a:avLst/>
            <a:gdLst/>
            <a:ahLst/>
            <a:cxnLst/>
            <a:rect l="l" t="t" r="r" b="b"/>
            <a:pathLst>
              <a:path w="35876" h="41039" extrusionOk="0">
                <a:moveTo>
                  <a:pt x="35876" y="12176"/>
                </a:moveTo>
                <a:cubicBezTo>
                  <a:pt x="33278" y="13474"/>
                  <a:pt x="30137" y="14019"/>
                  <a:pt x="28084" y="16072"/>
                </a:cubicBezTo>
                <a:cubicBezTo>
                  <a:pt x="24741" y="19415"/>
                  <a:pt x="24638" y="25253"/>
                  <a:pt x="25161" y="29952"/>
                </a:cubicBezTo>
                <a:cubicBezTo>
                  <a:pt x="25573" y="33653"/>
                  <a:pt x="31860" y="39489"/>
                  <a:pt x="28327" y="40667"/>
                </a:cubicBezTo>
                <a:cubicBezTo>
                  <a:pt x="23195" y="42378"/>
                  <a:pt x="17049" y="37559"/>
                  <a:pt x="13960" y="33118"/>
                </a:cubicBezTo>
                <a:cubicBezTo>
                  <a:pt x="10617" y="28313"/>
                  <a:pt x="9699" y="20564"/>
                  <a:pt x="4219" y="18507"/>
                </a:cubicBezTo>
                <a:cubicBezTo>
                  <a:pt x="680" y="17179"/>
                  <a:pt x="-1376" y="26792"/>
                  <a:pt x="1297" y="29465"/>
                </a:cubicBezTo>
                <a:cubicBezTo>
                  <a:pt x="5492" y="33660"/>
                  <a:pt x="15463" y="29538"/>
                  <a:pt x="18343" y="24352"/>
                </a:cubicBezTo>
                <a:cubicBezTo>
                  <a:pt x="21498" y="18671"/>
                  <a:pt x="15329" y="10954"/>
                  <a:pt x="17612" y="4870"/>
                </a:cubicBezTo>
                <a:cubicBezTo>
                  <a:pt x="18786" y="1740"/>
                  <a:pt x="23036" y="0"/>
                  <a:pt x="26379" y="0"/>
                </a:cubicBezTo>
              </a:path>
            </a:pathLst>
          </a:custGeom>
          <a:noFill/>
          <a:ln w="38100" cap="flat" cmpd="sng">
            <a:solidFill>
              <a:srgbClr val="F1C232"/>
            </a:solidFill>
            <a:prstDash val="solid"/>
            <a:round/>
            <a:headEnd type="none" w="med" len="med"/>
            <a:tailEnd type="none" w="med" len="med"/>
          </a:ln>
        </p:spPr>
      </p:sp>
      <p:sp>
        <p:nvSpPr>
          <p:cNvPr id="941" name="Google Shape;941;p32"/>
          <p:cNvSpPr txBox="1"/>
          <p:nvPr/>
        </p:nvSpPr>
        <p:spPr>
          <a:xfrm>
            <a:off x="1716713" y="1691375"/>
            <a:ext cx="1108050" cy="323151"/>
          </a:xfrm>
          <a:prstGeom prst="rect">
            <a:avLst/>
          </a:prstGeom>
          <a:noFill/>
          <a:ln>
            <a:noFill/>
          </a:ln>
        </p:spPr>
        <p:txBody>
          <a:bodyPr spcFirstLastPara="1" wrap="square" lIns="45713" tIns="45713" rIns="45713" bIns="45713" anchor="t" anchorCtr="0">
            <a:spAutoFit/>
          </a:bodyPr>
          <a:lstStyle/>
          <a:p>
            <a:pPr algn="ctr"/>
            <a:r>
              <a:rPr lang="en" sz="1500">
                <a:solidFill>
                  <a:srgbClr val="FFFFFF"/>
                </a:solidFill>
              </a:rPr>
              <a:t>Priority 2</a:t>
            </a:r>
            <a:endParaRPr sz="1500">
              <a:solidFill>
                <a:srgbClr val="FFFFFF"/>
              </a:solidFill>
            </a:endParaRPr>
          </a:p>
        </p:txBody>
      </p:sp>
      <p:sp>
        <p:nvSpPr>
          <p:cNvPr id="942" name="Google Shape;942;p32"/>
          <p:cNvSpPr txBox="1"/>
          <p:nvPr/>
        </p:nvSpPr>
        <p:spPr>
          <a:xfrm>
            <a:off x="5155613" y="5192350"/>
            <a:ext cx="1108050" cy="323151"/>
          </a:xfrm>
          <a:prstGeom prst="rect">
            <a:avLst/>
          </a:prstGeom>
          <a:noFill/>
          <a:ln>
            <a:noFill/>
          </a:ln>
        </p:spPr>
        <p:txBody>
          <a:bodyPr spcFirstLastPara="1" wrap="square" lIns="45713" tIns="45713" rIns="45713" bIns="45713" anchor="t" anchorCtr="0">
            <a:spAutoFit/>
          </a:bodyPr>
          <a:lstStyle/>
          <a:p>
            <a:pPr algn="ctr"/>
            <a:r>
              <a:rPr lang="en" sz="1500">
                <a:solidFill>
                  <a:srgbClr val="FFFFFF"/>
                </a:solidFill>
              </a:rPr>
              <a:t>Priority 2</a:t>
            </a:r>
            <a:endParaRPr sz="1500">
              <a:solidFill>
                <a:srgbClr val="FFFFFF"/>
              </a:solidFill>
            </a:endParaRPr>
          </a:p>
        </p:txBody>
      </p:sp>
      <p:sp>
        <p:nvSpPr>
          <p:cNvPr id="943" name="Google Shape;943;p32"/>
          <p:cNvSpPr txBox="1"/>
          <p:nvPr/>
        </p:nvSpPr>
        <p:spPr>
          <a:xfrm>
            <a:off x="6619850" y="3012063"/>
            <a:ext cx="1108050" cy="323151"/>
          </a:xfrm>
          <a:prstGeom prst="rect">
            <a:avLst/>
          </a:prstGeom>
          <a:noFill/>
          <a:ln>
            <a:noFill/>
          </a:ln>
        </p:spPr>
        <p:txBody>
          <a:bodyPr spcFirstLastPara="1" wrap="square" lIns="45713" tIns="45713" rIns="45713" bIns="45713" anchor="t" anchorCtr="0">
            <a:spAutoFit/>
          </a:bodyPr>
          <a:lstStyle/>
          <a:p>
            <a:pPr algn="ctr"/>
            <a:r>
              <a:rPr lang="en" sz="1500">
                <a:solidFill>
                  <a:srgbClr val="FFFFFF"/>
                </a:solidFill>
              </a:rPr>
              <a:t>Priority 1</a:t>
            </a:r>
            <a:endParaRPr sz="1500">
              <a:solidFill>
                <a:srgbClr val="FFFFFF"/>
              </a:solidFill>
            </a:endParaRPr>
          </a:p>
        </p:txBody>
      </p:sp>
      <p:sp>
        <p:nvSpPr>
          <p:cNvPr id="944" name="Google Shape;944;p32"/>
          <p:cNvSpPr txBox="1"/>
          <p:nvPr/>
        </p:nvSpPr>
        <p:spPr>
          <a:xfrm>
            <a:off x="6319238" y="1691375"/>
            <a:ext cx="1108050" cy="323151"/>
          </a:xfrm>
          <a:prstGeom prst="rect">
            <a:avLst/>
          </a:prstGeom>
          <a:noFill/>
          <a:ln>
            <a:noFill/>
          </a:ln>
        </p:spPr>
        <p:txBody>
          <a:bodyPr spcFirstLastPara="1" wrap="square" lIns="45713" tIns="45713" rIns="45713" bIns="45713" anchor="t" anchorCtr="0">
            <a:spAutoFit/>
          </a:bodyPr>
          <a:lstStyle/>
          <a:p>
            <a:pPr algn="ctr"/>
            <a:r>
              <a:rPr lang="en" sz="1500">
                <a:solidFill>
                  <a:srgbClr val="FFFFFF"/>
                </a:solidFill>
              </a:rPr>
              <a:t>Priority 1</a:t>
            </a:r>
            <a:endParaRPr sz="1500">
              <a:solidFill>
                <a:srgbClr val="FFFFFF"/>
              </a:solidFill>
            </a:endParaRPr>
          </a:p>
        </p:txBody>
      </p:sp>
      <p:sp>
        <p:nvSpPr>
          <p:cNvPr id="945" name="Google Shape;945;p32"/>
          <p:cNvSpPr txBox="1"/>
          <p:nvPr/>
        </p:nvSpPr>
        <p:spPr>
          <a:xfrm>
            <a:off x="1639963" y="2988088"/>
            <a:ext cx="1108050" cy="323151"/>
          </a:xfrm>
          <a:prstGeom prst="rect">
            <a:avLst/>
          </a:prstGeom>
          <a:noFill/>
          <a:ln>
            <a:noFill/>
          </a:ln>
        </p:spPr>
        <p:txBody>
          <a:bodyPr spcFirstLastPara="1" wrap="square" lIns="45713" tIns="45713" rIns="45713" bIns="45713" anchor="t" anchorCtr="0">
            <a:spAutoFit/>
          </a:bodyPr>
          <a:lstStyle/>
          <a:p>
            <a:pPr algn="ctr"/>
            <a:r>
              <a:rPr lang="en" sz="1500">
                <a:solidFill>
                  <a:srgbClr val="FFFFFF"/>
                </a:solidFill>
              </a:rPr>
              <a:t>Priority 1</a:t>
            </a:r>
            <a:endParaRPr sz="1500">
              <a:solidFill>
                <a:srgbClr val="FFFFFF"/>
              </a:solidFill>
            </a:endParaRPr>
          </a:p>
        </p:txBody>
      </p:sp>
      <p:sp>
        <p:nvSpPr>
          <p:cNvPr id="946" name="Google Shape;946;p32"/>
          <p:cNvSpPr/>
          <p:nvPr/>
        </p:nvSpPr>
        <p:spPr>
          <a:xfrm rot="6485262">
            <a:off x="3329326" y="2280337"/>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947" name="Google Shape;947;p32"/>
          <p:cNvSpPr/>
          <p:nvPr/>
        </p:nvSpPr>
        <p:spPr>
          <a:xfrm rot="10800000">
            <a:off x="4118048" y="1691371"/>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948" name="Google Shape;948;p32"/>
          <p:cNvSpPr/>
          <p:nvPr/>
        </p:nvSpPr>
        <p:spPr>
          <a:xfrm rot="2167448">
            <a:off x="4087047" y="4250645"/>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949" name="Google Shape;949;p32"/>
          <p:cNvSpPr/>
          <p:nvPr/>
        </p:nvSpPr>
        <p:spPr>
          <a:xfrm rot="-2167448" flipH="1">
            <a:off x="5017772" y="4250645"/>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950" name="Google Shape;950;p32"/>
          <p:cNvSpPr txBox="1"/>
          <p:nvPr/>
        </p:nvSpPr>
        <p:spPr>
          <a:xfrm>
            <a:off x="352650" y="4638250"/>
            <a:ext cx="2121450" cy="553984"/>
          </a:xfrm>
          <a:prstGeom prst="rect">
            <a:avLst/>
          </a:prstGeom>
          <a:noFill/>
          <a:ln>
            <a:noFill/>
          </a:ln>
        </p:spPr>
        <p:txBody>
          <a:bodyPr spcFirstLastPara="1" wrap="square" lIns="45713" tIns="45713" rIns="45713" bIns="45713" anchor="t" anchorCtr="0">
            <a:spAutoFit/>
          </a:bodyPr>
          <a:lstStyle/>
          <a:p>
            <a:pPr algn="ctr"/>
            <a:r>
              <a:rPr lang="en" sz="3000">
                <a:solidFill>
                  <a:srgbClr val="FFFFFF"/>
                </a:solidFill>
              </a:rPr>
              <a:t>Starvation</a:t>
            </a:r>
            <a:endParaRPr sz="300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41"/>
                                        </p:tgtEl>
                                        <p:attrNameLst>
                                          <p:attrName>style.visibility</p:attrName>
                                        </p:attrNameLst>
                                      </p:cBhvr>
                                      <p:to>
                                        <p:strVal val="visible"/>
                                      </p:to>
                                    </p:set>
                                    <p:animEffect transition="in" filter="fade">
                                      <p:cBhvr>
                                        <p:cTn id="7" dur="1000"/>
                                        <p:tgtEl>
                                          <p:spTgt spid="941"/>
                                        </p:tgtEl>
                                      </p:cBhvr>
                                    </p:animEffect>
                                  </p:childTnLst>
                                </p:cTn>
                              </p:par>
                              <p:par>
                                <p:cTn id="8" presetID="10" presetClass="entr" presetSubtype="0" fill="hold" nodeType="withEffect">
                                  <p:stCondLst>
                                    <p:cond delay="0"/>
                                  </p:stCondLst>
                                  <p:childTnLst>
                                    <p:set>
                                      <p:cBhvr>
                                        <p:cTn id="9" dur="1" fill="hold">
                                          <p:stCondLst>
                                            <p:cond delay="0"/>
                                          </p:stCondLst>
                                        </p:cTn>
                                        <p:tgtEl>
                                          <p:spTgt spid="943"/>
                                        </p:tgtEl>
                                        <p:attrNameLst>
                                          <p:attrName>style.visibility</p:attrName>
                                        </p:attrNameLst>
                                      </p:cBhvr>
                                      <p:to>
                                        <p:strVal val="visible"/>
                                      </p:to>
                                    </p:set>
                                    <p:animEffect transition="in" filter="fade">
                                      <p:cBhvr>
                                        <p:cTn id="10" dur="1000"/>
                                        <p:tgtEl>
                                          <p:spTgt spid="943"/>
                                        </p:tgtEl>
                                      </p:cBhvr>
                                    </p:animEffect>
                                  </p:childTnLst>
                                </p:cTn>
                              </p:par>
                              <p:par>
                                <p:cTn id="11" presetID="10" presetClass="entr" presetSubtype="0" fill="hold" nodeType="withEffect">
                                  <p:stCondLst>
                                    <p:cond delay="0"/>
                                  </p:stCondLst>
                                  <p:childTnLst>
                                    <p:set>
                                      <p:cBhvr>
                                        <p:cTn id="12" dur="1" fill="hold">
                                          <p:stCondLst>
                                            <p:cond delay="0"/>
                                          </p:stCondLst>
                                        </p:cTn>
                                        <p:tgtEl>
                                          <p:spTgt spid="944"/>
                                        </p:tgtEl>
                                        <p:attrNameLst>
                                          <p:attrName>style.visibility</p:attrName>
                                        </p:attrNameLst>
                                      </p:cBhvr>
                                      <p:to>
                                        <p:strVal val="visible"/>
                                      </p:to>
                                    </p:set>
                                    <p:animEffect transition="in" filter="fade">
                                      <p:cBhvr>
                                        <p:cTn id="13" dur="1000"/>
                                        <p:tgtEl>
                                          <p:spTgt spid="944"/>
                                        </p:tgtEl>
                                      </p:cBhvr>
                                    </p:animEffect>
                                  </p:childTnLst>
                                </p:cTn>
                              </p:par>
                              <p:par>
                                <p:cTn id="14" presetID="10" presetClass="entr" presetSubtype="0" fill="hold" nodeType="withEffect">
                                  <p:stCondLst>
                                    <p:cond delay="0"/>
                                  </p:stCondLst>
                                  <p:childTnLst>
                                    <p:set>
                                      <p:cBhvr>
                                        <p:cTn id="15" dur="1" fill="hold">
                                          <p:stCondLst>
                                            <p:cond delay="0"/>
                                          </p:stCondLst>
                                        </p:cTn>
                                        <p:tgtEl>
                                          <p:spTgt spid="945"/>
                                        </p:tgtEl>
                                        <p:attrNameLst>
                                          <p:attrName>style.visibility</p:attrName>
                                        </p:attrNameLst>
                                      </p:cBhvr>
                                      <p:to>
                                        <p:strVal val="visible"/>
                                      </p:to>
                                    </p:set>
                                    <p:animEffect transition="in" filter="fade">
                                      <p:cBhvr>
                                        <p:cTn id="16" dur="1000"/>
                                        <p:tgtEl>
                                          <p:spTgt spid="945"/>
                                        </p:tgtEl>
                                      </p:cBhvr>
                                    </p:animEffect>
                                  </p:childTnLst>
                                </p:cTn>
                              </p:par>
                              <p:par>
                                <p:cTn id="17" presetID="10" presetClass="entr" presetSubtype="0" fill="hold" nodeType="withEffect">
                                  <p:stCondLst>
                                    <p:cond delay="0"/>
                                  </p:stCondLst>
                                  <p:childTnLst>
                                    <p:set>
                                      <p:cBhvr>
                                        <p:cTn id="18" dur="1" fill="hold">
                                          <p:stCondLst>
                                            <p:cond delay="0"/>
                                          </p:stCondLst>
                                        </p:cTn>
                                        <p:tgtEl>
                                          <p:spTgt spid="942"/>
                                        </p:tgtEl>
                                        <p:attrNameLst>
                                          <p:attrName>style.visibility</p:attrName>
                                        </p:attrNameLst>
                                      </p:cBhvr>
                                      <p:to>
                                        <p:strVal val="visible"/>
                                      </p:to>
                                    </p:set>
                                    <p:animEffect transition="in" filter="fade">
                                      <p:cBhvr>
                                        <p:cTn id="19" dur="1000"/>
                                        <p:tgtEl>
                                          <p:spTgt spid="942"/>
                                        </p:tgtEl>
                                      </p:cBhvr>
                                    </p:animEffect>
                                  </p:childTnLst>
                                </p:cTn>
                              </p:par>
                              <p:par>
                                <p:cTn id="20" presetID="10" presetClass="entr" presetSubtype="0" fill="hold" nodeType="withEffect">
                                  <p:stCondLst>
                                    <p:cond delay="0"/>
                                  </p:stCondLst>
                                  <p:childTnLst>
                                    <p:set>
                                      <p:cBhvr>
                                        <p:cTn id="21" dur="1" fill="hold">
                                          <p:stCondLst>
                                            <p:cond delay="0"/>
                                          </p:stCondLst>
                                        </p:cTn>
                                        <p:tgtEl>
                                          <p:spTgt spid="947"/>
                                        </p:tgtEl>
                                        <p:attrNameLst>
                                          <p:attrName>style.visibility</p:attrName>
                                        </p:attrNameLst>
                                      </p:cBhvr>
                                      <p:to>
                                        <p:strVal val="visible"/>
                                      </p:to>
                                    </p:set>
                                    <p:animEffect transition="in" filter="fade">
                                      <p:cBhvr>
                                        <p:cTn id="22" dur="1000"/>
                                        <p:tgtEl>
                                          <p:spTgt spid="947"/>
                                        </p:tgtEl>
                                      </p:cBhvr>
                                    </p:animEffect>
                                  </p:childTnLst>
                                </p:cTn>
                              </p:par>
                              <p:par>
                                <p:cTn id="23" presetID="10" presetClass="entr" presetSubtype="0" fill="hold" nodeType="withEffect">
                                  <p:stCondLst>
                                    <p:cond delay="0"/>
                                  </p:stCondLst>
                                  <p:childTnLst>
                                    <p:set>
                                      <p:cBhvr>
                                        <p:cTn id="24" dur="1" fill="hold">
                                          <p:stCondLst>
                                            <p:cond delay="0"/>
                                          </p:stCondLst>
                                        </p:cTn>
                                        <p:tgtEl>
                                          <p:spTgt spid="946"/>
                                        </p:tgtEl>
                                        <p:attrNameLst>
                                          <p:attrName>style.visibility</p:attrName>
                                        </p:attrNameLst>
                                      </p:cBhvr>
                                      <p:to>
                                        <p:strVal val="visible"/>
                                      </p:to>
                                    </p:set>
                                    <p:animEffect transition="in" filter="fade">
                                      <p:cBhvr>
                                        <p:cTn id="25" dur="1000"/>
                                        <p:tgtEl>
                                          <p:spTgt spid="946"/>
                                        </p:tgtEl>
                                      </p:cBhvr>
                                    </p:animEffect>
                                  </p:childTnLst>
                                </p:cTn>
                              </p:par>
                              <p:par>
                                <p:cTn id="26" presetID="10" presetClass="entr" presetSubtype="0" fill="hold" nodeType="withEffect">
                                  <p:stCondLst>
                                    <p:cond delay="0"/>
                                  </p:stCondLst>
                                  <p:childTnLst>
                                    <p:set>
                                      <p:cBhvr>
                                        <p:cTn id="27" dur="1" fill="hold">
                                          <p:stCondLst>
                                            <p:cond delay="0"/>
                                          </p:stCondLst>
                                        </p:cTn>
                                        <p:tgtEl>
                                          <p:spTgt spid="948"/>
                                        </p:tgtEl>
                                        <p:attrNameLst>
                                          <p:attrName>style.visibility</p:attrName>
                                        </p:attrNameLst>
                                      </p:cBhvr>
                                      <p:to>
                                        <p:strVal val="visible"/>
                                      </p:to>
                                    </p:set>
                                    <p:animEffect transition="in" filter="fade">
                                      <p:cBhvr>
                                        <p:cTn id="28" dur="1000"/>
                                        <p:tgtEl>
                                          <p:spTgt spid="948"/>
                                        </p:tgtEl>
                                      </p:cBhvr>
                                    </p:animEffect>
                                  </p:childTnLst>
                                </p:cTn>
                              </p:par>
                              <p:par>
                                <p:cTn id="29" presetID="10" presetClass="entr" presetSubtype="0" fill="hold" nodeType="withEffect">
                                  <p:stCondLst>
                                    <p:cond delay="0"/>
                                  </p:stCondLst>
                                  <p:childTnLst>
                                    <p:set>
                                      <p:cBhvr>
                                        <p:cTn id="30" dur="1" fill="hold">
                                          <p:stCondLst>
                                            <p:cond delay="0"/>
                                          </p:stCondLst>
                                        </p:cTn>
                                        <p:tgtEl>
                                          <p:spTgt spid="949"/>
                                        </p:tgtEl>
                                        <p:attrNameLst>
                                          <p:attrName>style.visibility</p:attrName>
                                        </p:attrNameLst>
                                      </p:cBhvr>
                                      <p:to>
                                        <p:strVal val="visible"/>
                                      </p:to>
                                    </p:set>
                                    <p:animEffect transition="in" filter="fade">
                                      <p:cBhvr>
                                        <p:cTn id="31" dur="1000"/>
                                        <p:tgtEl>
                                          <p:spTgt spid="94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950"/>
                                        </p:tgtEl>
                                        <p:attrNameLst>
                                          <p:attrName>style.visibility</p:attrName>
                                        </p:attrNameLst>
                                      </p:cBhvr>
                                      <p:to>
                                        <p:strVal val="visible"/>
                                      </p:to>
                                    </p:set>
                                    <p:animEffect transition="in" filter="fade">
                                      <p:cBhvr>
                                        <p:cTn id="36" dur="1000"/>
                                        <p:tgtEl>
                                          <p:spTgt spid="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p33"/>
          <p:cNvSpPr/>
          <p:nvPr/>
        </p:nvSpPr>
        <p:spPr>
          <a:xfrm>
            <a:off x="3389862" y="2035757"/>
            <a:ext cx="2364300" cy="2364300"/>
          </a:xfrm>
          <a:prstGeom prst="ellipse">
            <a:avLst/>
          </a:prstGeom>
          <a:solidFill>
            <a:srgbClr val="783F04"/>
          </a:solidFill>
          <a:ln>
            <a:noFill/>
          </a:ln>
        </p:spPr>
        <p:txBody>
          <a:bodyPr spcFirstLastPara="1" wrap="square" lIns="45713" tIns="45713" rIns="45713" bIns="45713" anchor="ctr" anchorCtr="0">
            <a:noAutofit/>
          </a:bodyPr>
          <a:lstStyle/>
          <a:p>
            <a:endParaRPr sz="900"/>
          </a:p>
        </p:txBody>
      </p:sp>
      <p:pic>
        <p:nvPicPr>
          <p:cNvPr id="956" name="Google Shape;956;p33"/>
          <p:cNvPicPr preferRelativeResize="0"/>
          <p:nvPr/>
        </p:nvPicPr>
        <p:blipFill>
          <a:blip r:embed="rId3">
            <a:alphaModFix/>
          </a:blip>
          <a:stretch>
            <a:fillRect/>
          </a:stretch>
        </p:blipFill>
        <p:spPr>
          <a:xfrm>
            <a:off x="5100038" y="1243400"/>
            <a:ext cx="1219200" cy="1219200"/>
          </a:xfrm>
          <a:prstGeom prst="rect">
            <a:avLst/>
          </a:prstGeom>
          <a:noFill/>
          <a:ln>
            <a:noFill/>
          </a:ln>
        </p:spPr>
      </p:pic>
      <p:pic>
        <p:nvPicPr>
          <p:cNvPr id="957" name="Google Shape;957;p33"/>
          <p:cNvPicPr preferRelativeResize="0"/>
          <p:nvPr/>
        </p:nvPicPr>
        <p:blipFill>
          <a:blip r:embed="rId4">
            <a:alphaModFix/>
          </a:blip>
          <a:stretch>
            <a:fillRect/>
          </a:stretch>
        </p:blipFill>
        <p:spPr>
          <a:xfrm>
            <a:off x="3962394" y="4395400"/>
            <a:ext cx="1219200" cy="1219200"/>
          </a:xfrm>
          <a:prstGeom prst="rect">
            <a:avLst/>
          </a:prstGeom>
          <a:noFill/>
          <a:ln>
            <a:noFill/>
          </a:ln>
        </p:spPr>
      </p:pic>
      <p:pic>
        <p:nvPicPr>
          <p:cNvPr id="958" name="Google Shape;958;p33"/>
          <p:cNvPicPr preferRelativeResize="0"/>
          <p:nvPr/>
        </p:nvPicPr>
        <p:blipFill>
          <a:blip r:embed="rId5">
            <a:alphaModFix/>
          </a:blip>
          <a:stretch>
            <a:fillRect/>
          </a:stretch>
        </p:blipFill>
        <p:spPr>
          <a:xfrm>
            <a:off x="2292325" y="3217875"/>
            <a:ext cx="1219200" cy="1219200"/>
          </a:xfrm>
          <a:prstGeom prst="rect">
            <a:avLst/>
          </a:prstGeom>
          <a:noFill/>
          <a:ln>
            <a:noFill/>
          </a:ln>
        </p:spPr>
      </p:pic>
      <p:pic>
        <p:nvPicPr>
          <p:cNvPr id="959" name="Google Shape;959;p33"/>
          <p:cNvPicPr preferRelativeResize="0"/>
          <p:nvPr/>
        </p:nvPicPr>
        <p:blipFill>
          <a:blip r:embed="rId6">
            <a:alphaModFix/>
          </a:blip>
          <a:stretch>
            <a:fillRect/>
          </a:stretch>
        </p:blipFill>
        <p:spPr>
          <a:xfrm>
            <a:off x="5632475" y="3217875"/>
            <a:ext cx="1219200" cy="1219200"/>
          </a:xfrm>
          <a:prstGeom prst="rect">
            <a:avLst/>
          </a:prstGeom>
          <a:noFill/>
          <a:ln>
            <a:noFill/>
          </a:ln>
        </p:spPr>
      </p:pic>
      <p:pic>
        <p:nvPicPr>
          <p:cNvPr id="960" name="Google Shape;960;p33"/>
          <p:cNvPicPr preferRelativeResize="0"/>
          <p:nvPr/>
        </p:nvPicPr>
        <p:blipFill>
          <a:blip r:embed="rId7">
            <a:alphaModFix/>
          </a:blip>
          <a:stretch>
            <a:fillRect/>
          </a:stretch>
        </p:blipFill>
        <p:spPr>
          <a:xfrm>
            <a:off x="2824757" y="1243400"/>
            <a:ext cx="1219200" cy="1219200"/>
          </a:xfrm>
          <a:prstGeom prst="rect">
            <a:avLst/>
          </a:prstGeom>
          <a:noFill/>
          <a:ln>
            <a:noFill/>
          </a:ln>
        </p:spPr>
      </p:pic>
      <p:grpSp>
        <p:nvGrpSpPr>
          <p:cNvPr id="961" name="Google Shape;961;p33"/>
          <p:cNvGrpSpPr/>
          <p:nvPr/>
        </p:nvGrpSpPr>
        <p:grpSpPr>
          <a:xfrm>
            <a:off x="4157195" y="2803111"/>
            <a:ext cx="829600" cy="829600"/>
            <a:chOff x="7509900" y="2868375"/>
            <a:chExt cx="903900" cy="903900"/>
          </a:xfrm>
        </p:grpSpPr>
        <p:sp>
          <p:nvSpPr>
            <p:cNvPr id="962" name="Google Shape;962;p33"/>
            <p:cNvSpPr/>
            <p:nvPr/>
          </p:nvSpPr>
          <p:spPr>
            <a:xfrm>
              <a:off x="7509900" y="2868375"/>
              <a:ext cx="903900" cy="903900"/>
            </a:xfrm>
            <a:prstGeom prst="ellipse">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963" name="Google Shape;963;p33"/>
            <p:cNvSpPr/>
            <p:nvPr/>
          </p:nvSpPr>
          <p:spPr>
            <a:xfrm>
              <a:off x="7726325" y="3187287"/>
              <a:ext cx="281375" cy="421875"/>
            </a:xfrm>
            <a:custGeom>
              <a:avLst/>
              <a:gdLst/>
              <a:ahLst/>
              <a:cxnLst/>
              <a:rect l="l" t="t" r="r" b="b"/>
              <a:pathLst>
                <a:path w="11255" h="16875" extrusionOk="0">
                  <a:moveTo>
                    <a:pt x="0" y="1985"/>
                  </a:moveTo>
                  <a:cubicBezTo>
                    <a:pt x="3409" y="525"/>
                    <a:pt x="10171" y="-1599"/>
                    <a:pt x="11126" y="1985"/>
                  </a:cubicBezTo>
                  <a:cubicBezTo>
                    <a:pt x="11977" y="5177"/>
                    <a:pt x="7498" y="7599"/>
                    <a:pt x="5042" y="9808"/>
                  </a:cubicBezTo>
                  <a:cubicBezTo>
                    <a:pt x="3517" y="11179"/>
                    <a:pt x="7922" y="12750"/>
                    <a:pt x="9562" y="13980"/>
                  </a:cubicBezTo>
                  <a:cubicBezTo>
                    <a:pt x="10372" y="14587"/>
                    <a:pt x="11636" y="16225"/>
                    <a:pt x="10778" y="16762"/>
                  </a:cubicBezTo>
                  <a:cubicBezTo>
                    <a:pt x="9613" y="17490"/>
                    <a:pt x="7707" y="13849"/>
                    <a:pt x="8866" y="13111"/>
                  </a:cubicBezTo>
                </a:path>
              </a:pathLst>
            </a:custGeom>
            <a:noFill/>
            <a:ln w="38100" cap="flat" cmpd="sng">
              <a:solidFill>
                <a:srgbClr val="F1C232"/>
              </a:solidFill>
              <a:prstDash val="solid"/>
              <a:round/>
              <a:headEnd type="none" w="med" len="med"/>
              <a:tailEnd type="none" w="med" len="med"/>
            </a:ln>
          </p:spPr>
        </p:sp>
        <p:sp>
          <p:nvSpPr>
            <p:cNvPr id="964" name="Google Shape;964;p33"/>
            <p:cNvSpPr/>
            <p:nvPr/>
          </p:nvSpPr>
          <p:spPr>
            <a:xfrm>
              <a:off x="7829049" y="3032650"/>
              <a:ext cx="272850" cy="456325"/>
            </a:xfrm>
            <a:custGeom>
              <a:avLst/>
              <a:gdLst/>
              <a:ahLst/>
              <a:cxnLst/>
              <a:rect l="l" t="t" r="r" b="b"/>
              <a:pathLst>
                <a:path w="10914" h="18253" extrusionOk="0">
                  <a:moveTo>
                    <a:pt x="4236" y="0"/>
                  </a:moveTo>
                  <a:cubicBezTo>
                    <a:pt x="1862" y="3263"/>
                    <a:pt x="-1710" y="8598"/>
                    <a:pt x="933" y="11647"/>
                  </a:cubicBezTo>
                  <a:cubicBezTo>
                    <a:pt x="3470" y="14574"/>
                    <a:pt x="12913" y="15228"/>
                    <a:pt x="10494" y="18253"/>
                  </a:cubicBezTo>
                </a:path>
              </a:pathLst>
            </a:custGeom>
            <a:noFill/>
            <a:ln w="38100" cap="flat" cmpd="sng">
              <a:solidFill>
                <a:srgbClr val="F1C232"/>
              </a:solidFill>
              <a:prstDash val="solid"/>
              <a:round/>
              <a:headEnd type="none" w="med" len="med"/>
              <a:tailEnd type="none" w="med" len="med"/>
            </a:ln>
          </p:spPr>
        </p:sp>
        <p:sp>
          <p:nvSpPr>
            <p:cNvPr id="965" name="Google Shape;965;p33"/>
            <p:cNvSpPr/>
            <p:nvPr/>
          </p:nvSpPr>
          <p:spPr>
            <a:xfrm>
              <a:off x="7938508" y="3145650"/>
              <a:ext cx="222425" cy="356375"/>
            </a:xfrm>
            <a:custGeom>
              <a:avLst/>
              <a:gdLst/>
              <a:ahLst/>
              <a:cxnLst/>
              <a:rect l="l" t="t" r="r" b="b"/>
              <a:pathLst>
                <a:path w="8897" h="14255" extrusionOk="0">
                  <a:moveTo>
                    <a:pt x="8897" y="0"/>
                  </a:moveTo>
                  <a:cubicBezTo>
                    <a:pt x="5700" y="999"/>
                    <a:pt x="1621" y="2006"/>
                    <a:pt x="205" y="5041"/>
                  </a:cubicBezTo>
                  <a:cubicBezTo>
                    <a:pt x="-1089" y="7814"/>
                    <a:pt x="5221" y="8570"/>
                    <a:pt x="7507" y="10604"/>
                  </a:cubicBezTo>
                  <a:cubicBezTo>
                    <a:pt x="8600" y="11576"/>
                    <a:pt x="6516" y="14014"/>
                    <a:pt x="5073" y="14255"/>
                  </a:cubicBezTo>
                </a:path>
              </a:pathLst>
            </a:custGeom>
            <a:noFill/>
            <a:ln w="38100" cap="flat" cmpd="sng">
              <a:solidFill>
                <a:srgbClr val="F1C232"/>
              </a:solidFill>
              <a:prstDash val="solid"/>
              <a:round/>
              <a:headEnd type="none" w="med" len="med"/>
              <a:tailEnd type="none" w="med" len="med"/>
            </a:ln>
          </p:spPr>
        </p:sp>
        <p:sp>
          <p:nvSpPr>
            <p:cNvPr id="966" name="Google Shape;966;p33"/>
            <p:cNvSpPr/>
            <p:nvPr/>
          </p:nvSpPr>
          <p:spPr>
            <a:xfrm>
              <a:off x="7743725" y="3093500"/>
              <a:ext cx="518875" cy="321600"/>
            </a:xfrm>
            <a:custGeom>
              <a:avLst/>
              <a:gdLst/>
              <a:ahLst/>
              <a:cxnLst/>
              <a:rect l="l" t="t" r="r" b="b"/>
              <a:pathLst>
                <a:path w="20755" h="12864" extrusionOk="0">
                  <a:moveTo>
                    <a:pt x="0" y="0"/>
                  </a:moveTo>
                  <a:cubicBezTo>
                    <a:pt x="5394" y="897"/>
                    <a:pt x="12760" y="-760"/>
                    <a:pt x="15993" y="3650"/>
                  </a:cubicBezTo>
                  <a:cubicBezTo>
                    <a:pt x="17475" y="5672"/>
                    <a:pt x="22372" y="8719"/>
                    <a:pt x="20165" y="9908"/>
                  </a:cubicBezTo>
                  <a:cubicBezTo>
                    <a:pt x="14587" y="12912"/>
                    <a:pt x="1390" y="6529"/>
                    <a:pt x="1390" y="12864"/>
                  </a:cubicBezTo>
                </a:path>
              </a:pathLst>
            </a:custGeom>
            <a:noFill/>
            <a:ln w="38100" cap="flat" cmpd="sng">
              <a:solidFill>
                <a:srgbClr val="F1C232"/>
              </a:solidFill>
              <a:prstDash val="solid"/>
              <a:round/>
              <a:headEnd type="none" w="med" len="med"/>
              <a:tailEnd type="none" w="med" len="med"/>
            </a:ln>
          </p:spPr>
        </p:sp>
        <p:sp>
          <p:nvSpPr>
            <p:cNvPr id="967" name="Google Shape;967;p33"/>
            <p:cNvSpPr/>
            <p:nvPr/>
          </p:nvSpPr>
          <p:spPr>
            <a:xfrm>
              <a:off x="7662050" y="3010925"/>
              <a:ext cx="411975" cy="478050"/>
            </a:xfrm>
            <a:custGeom>
              <a:avLst/>
              <a:gdLst/>
              <a:ahLst/>
              <a:cxnLst/>
              <a:rect l="l" t="t" r="r" b="b"/>
              <a:pathLst>
                <a:path w="16479" h="19122" extrusionOk="0">
                  <a:moveTo>
                    <a:pt x="16479" y="0"/>
                  </a:moveTo>
                  <a:cubicBezTo>
                    <a:pt x="9984" y="1946"/>
                    <a:pt x="3470" y="6343"/>
                    <a:pt x="311" y="12342"/>
                  </a:cubicBezTo>
                  <a:cubicBezTo>
                    <a:pt x="-872" y="14589"/>
                    <a:pt x="1757" y="17597"/>
                    <a:pt x="3788" y="19122"/>
                  </a:cubicBezTo>
                </a:path>
              </a:pathLst>
            </a:custGeom>
            <a:noFill/>
            <a:ln w="38100" cap="flat" cmpd="sng">
              <a:solidFill>
                <a:srgbClr val="F1C232"/>
              </a:solidFill>
              <a:prstDash val="solid"/>
              <a:round/>
              <a:headEnd type="none" w="med" len="med"/>
              <a:tailEnd type="none" w="med" len="med"/>
            </a:ln>
          </p:spPr>
        </p:sp>
        <p:sp>
          <p:nvSpPr>
            <p:cNvPr id="968" name="Google Shape;968;p33"/>
            <p:cNvSpPr/>
            <p:nvPr/>
          </p:nvSpPr>
          <p:spPr>
            <a:xfrm>
              <a:off x="7817600" y="3015250"/>
              <a:ext cx="398400" cy="587225"/>
            </a:xfrm>
            <a:custGeom>
              <a:avLst/>
              <a:gdLst/>
              <a:ahLst/>
              <a:cxnLst/>
              <a:rect l="l" t="t" r="r" b="b"/>
              <a:pathLst>
                <a:path w="15936" h="23489" extrusionOk="0">
                  <a:moveTo>
                    <a:pt x="0" y="0"/>
                  </a:moveTo>
                  <a:cubicBezTo>
                    <a:pt x="0" y="8167"/>
                    <a:pt x="2230" y="20746"/>
                    <a:pt x="10257" y="22252"/>
                  </a:cubicBezTo>
                  <a:cubicBezTo>
                    <a:pt x="12203" y="22617"/>
                    <a:pt x="15960" y="18191"/>
                    <a:pt x="15819" y="20166"/>
                  </a:cubicBezTo>
                  <a:cubicBezTo>
                    <a:pt x="15703" y="21786"/>
                    <a:pt x="15565" y="21792"/>
                    <a:pt x="14950" y="23295"/>
                  </a:cubicBezTo>
                  <a:cubicBezTo>
                    <a:pt x="14596" y="24160"/>
                    <a:pt x="13200" y="21724"/>
                    <a:pt x="13559" y="20861"/>
                  </a:cubicBezTo>
                  <a:cubicBezTo>
                    <a:pt x="14532" y="18524"/>
                    <a:pt x="16694" y="15864"/>
                    <a:pt x="15646" y="13560"/>
                  </a:cubicBezTo>
                  <a:cubicBezTo>
                    <a:pt x="15040" y="12229"/>
                    <a:pt x="13029" y="12161"/>
                    <a:pt x="11995" y="11126"/>
                  </a:cubicBezTo>
                </a:path>
              </a:pathLst>
            </a:custGeom>
            <a:noFill/>
            <a:ln w="38100" cap="flat" cmpd="sng">
              <a:solidFill>
                <a:srgbClr val="F1C232"/>
              </a:solidFill>
              <a:prstDash val="solid"/>
              <a:round/>
              <a:headEnd type="none" w="med" len="med"/>
              <a:tailEnd type="none" w="med" len="med"/>
            </a:ln>
          </p:spPr>
        </p:sp>
        <p:sp>
          <p:nvSpPr>
            <p:cNvPr id="969" name="Google Shape;969;p33"/>
            <p:cNvSpPr/>
            <p:nvPr/>
          </p:nvSpPr>
          <p:spPr>
            <a:xfrm>
              <a:off x="7643750" y="3180400"/>
              <a:ext cx="425925" cy="446300"/>
            </a:xfrm>
            <a:custGeom>
              <a:avLst/>
              <a:gdLst/>
              <a:ahLst/>
              <a:cxnLst/>
              <a:rect l="l" t="t" r="r" b="b"/>
              <a:pathLst>
                <a:path w="17037" h="17852" extrusionOk="0">
                  <a:moveTo>
                    <a:pt x="0" y="0"/>
                  </a:moveTo>
                  <a:cubicBezTo>
                    <a:pt x="4491" y="817"/>
                    <a:pt x="6830" y="6955"/>
                    <a:pt x="7475" y="11474"/>
                  </a:cubicBezTo>
                  <a:cubicBezTo>
                    <a:pt x="7713" y="13138"/>
                    <a:pt x="6322" y="15483"/>
                    <a:pt x="7649" y="16515"/>
                  </a:cubicBezTo>
                  <a:cubicBezTo>
                    <a:pt x="10121" y="18437"/>
                    <a:pt x="14632" y="18173"/>
                    <a:pt x="17037" y="16167"/>
                  </a:cubicBezTo>
                </a:path>
              </a:pathLst>
            </a:custGeom>
            <a:noFill/>
            <a:ln w="38100" cap="flat" cmpd="sng">
              <a:solidFill>
                <a:srgbClr val="F1C232"/>
              </a:solidFill>
              <a:prstDash val="solid"/>
              <a:round/>
              <a:headEnd type="none" w="med" len="med"/>
              <a:tailEnd type="none" w="med" len="med"/>
            </a:ln>
          </p:spPr>
        </p:sp>
        <p:sp>
          <p:nvSpPr>
            <p:cNvPr id="970" name="Google Shape;970;p33"/>
            <p:cNvSpPr/>
            <p:nvPr/>
          </p:nvSpPr>
          <p:spPr>
            <a:xfrm>
              <a:off x="7836249" y="3076100"/>
              <a:ext cx="320325" cy="456325"/>
            </a:xfrm>
            <a:custGeom>
              <a:avLst/>
              <a:gdLst/>
              <a:ahLst/>
              <a:cxnLst/>
              <a:rect l="l" t="t" r="r" b="b"/>
              <a:pathLst>
                <a:path w="12813" h="18253" extrusionOk="0">
                  <a:moveTo>
                    <a:pt x="12813" y="0"/>
                  </a:moveTo>
                  <a:cubicBezTo>
                    <a:pt x="7242" y="2181"/>
                    <a:pt x="-861" y="6790"/>
                    <a:pt x="123" y="12691"/>
                  </a:cubicBezTo>
                  <a:cubicBezTo>
                    <a:pt x="746" y="16427"/>
                    <a:pt x="8084" y="15004"/>
                    <a:pt x="10032" y="18253"/>
                  </a:cubicBezTo>
                </a:path>
              </a:pathLst>
            </a:custGeom>
            <a:noFill/>
            <a:ln w="38100" cap="flat" cmpd="sng">
              <a:solidFill>
                <a:srgbClr val="F1C232"/>
              </a:solidFill>
              <a:prstDash val="solid"/>
              <a:round/>
              <a:headEnd type="none" w="med" len="med"/>
              <a:tailEnd type="none" w="med" len="med"/>
            </a:ln>
          </p:spPr>
        </p:sp>
        <p:sp>
          <p:nvSpPr>
            <p:cNvPr id="971" name="Google Shape;971;p33"/>
            <p:cNvSpPr/>
            <p:nvPr/>
          </p:nvSpPr>
          <p:spPr>
            <a:xfrm>
              <a:off x="7700250" y="3132600"/>
              <a:ext cx="429925" cy="169500"/>
            </a:xfrm>
            <a:custGeom>
              <a:avLst/>
              <a:gdLst/>
              <a:ahLst/>
              <a:cxnLst/>
              <a:rect l="l" t="t" r="r" b="b"/>
              <a:pathLst>
                <a:path w="17197" h="6780" extrusionOk="0">
                  <a:moveTo>
                    <a:pt x="0" y="0"/>
                  </a:moveTo>
                  <a:cubicBezTo>
                    <a:pt x="3914" y="4695"/>
                    <a:pt x="10925" y="6780"/>
                    <a:pt x="17037" y="6780"/>
                  </a:cubicBezTo>
                  <a:cubicBezTo>
                    <a:pt x="17504" y="6780"/>
                    <a:pt x="16799" y="5655"/>
                    <a:pt x="16341" y="5563"/>
                  </a:cubicBezTo>
                </a:path>
              </a:pathLst>
            </a:custGeom>
            <a:noFill/>
            <a:ln w="38100" cap="flat" cmpd="sng">
              <a:solidFill>
                <a:srgbClr val="F1C232"/>
              </a:solidFill>
              <a:prstDash val="solid"/>
              <a:round/>
              <a:headEnd type="none" w="med" len="med"/>
              <a:tailEnd type="none" w="med" len="med"/>
            </a:ln>
          </p:spPr>
        </p:sp>
        <p:sp>
          <p:nvSpPr>
            <p:cNvPr id="972" name="Google Shape;972;p33"/>
            <p:cNvSpPr/>
            <p:nvPr/>
          </p:nvSpPr>
          <p:spPr>
            <a:xfrm>
              <a:off x="7710998" y="3098181"/>
              <a:ext cx="558575" cy="472725"/>
            </a:xfrm>
            <a:custGeom>
              <a:avLst/>
              <a:gdLst/>
              <a:ahLst/>
              <a:cxnLst/>
              <a:rect l="l" t="t" r="r" b="b"/>
              <a:pathLst>
                <a:path w="22343" h="18909" extrusionOk="0">
                  <a:moveTo>
                    <a:pt x="22343" y="4332"/>
                  </a:moveTo>
                  <a:cubicBezTo>
                    <a:pt x="16437" y="38"/>
                    <a:pt x="3704" y="-2547"/>
                    <a:pt x="439" y="3985"/>
                  </a:cubicBezTo>
                  <a:cubicBezTo>
                    <a:pt x="-1508" y="7881"/>
                    <a:pt x="3832" y="12696"/>
                    <a:pt x="7567" y="14937"/>
                  </a:cubicBezTo>
                  <a:cubicBezTo>
                    <a:pt x="9340" y="16001"/>
                    <a:pt x="12081" y="14808"/>
                    <a:pt x="13651" y="16154"/>
                  </a:cubicBezTo>
                  <a:cubicBezTo>
                    <a:pt x="15785" y="17983"/>
                    <a:pt x="7730" y="19926"/>
                    <a:pt x="5481" y="18240"/>
                  </a:cubicBezTo>
                </a:path>
              </a:pathLst>
            </a:custGeom>
            <a:noFill/>
            <a:ln w="38100" cap="flat" cmpd="sng">
              <a:solidFill>
                <a:srgbClr val="F1C232"/>
              </a:solidFill>
              <a:prstDash val="solid"/>
              <a:round/>
              <a:headEnd type="none" w="med" len="med"/>
              <a:tailEnd type="none" w="med" len="med"/>
            </a:ln>
          </p:spPr>
        </p:sp>
        <p:sp>
          <p:nvSpPr>
            <p:cNvPr id="973" name="Google Shape;973;p33"/>
            <p:cNvSpPr/>
            <p:nvPr/>
          </p:nvSpPr>
          <p:spPr>
            <a:xfrm>
              <a:off x="7685501" y="3079570"/>
              <a:ext cx="584075" cy="361600"/>
            </a:xfrm>
            <a:custGeom>
              <a:avLst/>
              <a:gdLst/>
              <a:ahLst/>
              <a:cxnLst/>
              <a:rect l="l" t="t" r="r" b="b"/>
              <a:pathLst>
                <a:path w="23363" h="14464" extrusionOk="0">
                  <a:moveTo>
                    <a:pt x="23363" y="14464"/>
                  </a:moveTo>
                  <a:cubicBezTo>
                    <a:pt x="21432" y="9632"/>
                    <a:pt x="15255" y="7928"/>
                    <a:pt x="11021" y="4903"/>
                  </a:cubicBezTo>
                  <a:cubicBezTo>
                    <a:pt x="8043" y="2775"/>
                    <a:pt x="3984" y="-1473"/>
                    <a:pt x="938" y="557"/>
                  </a:cubicBezTo>
                  <a:cubicBezTo>
                    <a:pt x="-2526" y="2866"/>
                    <a:pt x="4896" y="8744"/>
                    <a:pt x="8761" y="10292"/>
                  </a:cubicBezTo>
                </a:path>
              </a:pathLst>
            </a:custGeom>
            <a:noFill/>
            <a:ln w="38100" cap="flat" cmpd="sng">
              <a:solidFill>
                <a:srgbClr val="F1C232"/>
              </a:solidFill>
              <a:prstDash val="solid"/>
              <a:round/>
              <a:headEnd type="none" w="med" len="med"/>
              <a:tailEnd type="none" w="med" len="med"/>
            </a:ln>
          </p:spPr>
        </p:sp>
        <p:sp>
          <p:nvSpPr>
            <p:cNvPr id="974" name="Google Shape;974;p33"/>
            <p:cNvSpPr/>
            <p:nvPr/>
          </p:nvSpPr>
          <p:spPr>
            <a:xfrm>
              <a:off x="7744259" y="3028300"/>
              <a:ext cx="368875" cy="491100"/>
            </a:xfrm>
            <a:custGeom>
              <a:avLst/>
              <a:gdLst/>
              <a:ahLst/>
              <a:cxnLst/>
              <a:rect l="l" t="t" r="r" b="b"/>
              <a:pathLst>
                <a:path w="14755" h="19644" extrusionOk="0">
                  <a:moveTo>
                    <a:pt x="14755" y="0"/>
                  </a:moveTo>
                  <a:cubicBezTo>
                    <a:pt x="14495" y="609"/>
                    <a:pt x="14636" y="691"/>
                    <a:pt x="14234" y="1217"/>
                  </a:cubicBezTo>
                  <a:cubicBezTo>
                    <a:pt x="10836" y="5660"/>
                    <a:pt x="3616" y="6081"/>
                    <a:pt x="326" y="10604"/>
                  </a:cubicBezTo>
                  <a:cubicBezTo>
                    <a:pt x="-1501" y="13116"/>
                    <a:pt x="5071" y="17780"/>
                    <a:pt x="2586" y="19644"/>
                  </a:cubicBezTo>
                </a:path>
              </a:pathLst>
            </a:custGeom>
            <a:noFill/>
            <a:ln w="38100" cap="flat" cmpd="sng">
              <a:solidFill>
                <a:srgbClr val="F1C232"/>
              </a:solidFill>
              <a:prstDash val="solid"/>
              <a:round/>
              <a:headEnd type="none" w="med" len="med"/>
              <a:tailEnd type="none" w="med" len="med"/>
            </a:ln>
          </p:spPr>
        </p:sp>
        <p:sp>
          <p:nvSpPr>
            <p:cNvPr id="975" name="Google Shape;975;p33"/>
            <p:cNvSpPr/>
            <p:nvPr/>
          </p:nvSpPr>
          <p:spPr>
            <a:xfrm>
              <a:off x="7765450" y="3145650"/>
              <a:ext cx="482400" cy="338975"/>
            </a:xfrm>
            <a:custGeom>
              <a:avLst/>
              <a:gdLst/>
              <a:ahLst/>
              <a:cxnLst/>
              <a:rect l="l" t="t" r="r" b="b"/>
              <a:pathLst>
                <a:path w="19296" h="13559" extrusionOk="0">
                  <a:moveTo>
                    <a:pt x="19296" y="13559"/>
                  </a:moveTo>
                  <a:cubicBezTo>
                    <a:pt x="13760" y="11712"/>
                    <a:pt x="8516" y="8736"/>
                    <a:pt x="3998" y="5041"/>
                  </a:cubicBezTo>
                  <a:cubicBezTo>
                    <a:pt x="2338" y="3683"/>
                    <a:pt x="2116" y="351"/>
                    <a:pt x="0" y="0"/>
                  </a:cubicBezTo>
                </a:path>
              </a:pathLst>
            </a:custGeom>
            <a:noFill/>
            <a:ln w="38100" cap="flat" cmpd="sng">
              <a:solidFill>
                <a:srgbClr val="F1C232"/>
              </a:solidFill>
              <a:prstDash val="solid"/>
              <a:round/>
              <a:headEnd type="none" w="med" len="med"/>
              <a:tailEnd type="none" w="med" len="med"/>
            </a:ln>
          </p:spPr>
        </p:sp>
        <p:sp>
          <p:nvSpPr>
            <p:cNvPr id="976" name="Google Shape;976;p33"/>
            <p:cNvSpPr/>
            <p:nvPr/>
          </p:nvSpPr>
          <p:spPr>
            <a:xfrm>
              <a:off x="7665500" y="3269759"/>
              <a:ext cx="499775" cy="249650"/>
            </a:xfrm>
            <a:custGeom>
              <a:avLst/>
              <a:gdLst/>
              <a:ahLst/>
              <a:cxnLst/>
              <a:rect l="l" t="t" r="r" b="b"/>
              <a:pathLst>
                <a:path w="19991" h="9986" extrusionOk="0">
                  <a:moveTo>
                    <a:pt x="0" y="9986"/>
                  </a:moveTo>
                  <a:cubicBezTo>
                    <a:pt x="3478" y="7899"/>
                    <a:pt x="5064" y="3283"/>
                    <a:pt x="8692" y="1468"/>
                  </a:cubicBezTo>
                  <a:cubicBezTo>
                    <a:pt x="12086" y="-230"/>
                    <a:pt x="16196" y="77"/>
                    <a:pt x="19991" y="77"/>
                  </a:cubicBezTo>
                </a:path>
              </a:pathLst>
            </a:custGeom>
            <a:noFill/>
            <a:ln w="38100" cap="flat" cmpd="sng">
              <a:solidFill>
                <a:srgbClr val="F1C232"/>
              </a:solidFill>
              <a:prstDash val="solid"/>
              <a:round/>
              <a:headEnd type="none" w="med" len="med"/>
              <a:tailEnd type="none" w="med" len="med"/>
            </a:ln>
          </p:spPr>
        </p:sp>
        <p:sp>
          <p:nvSpPr>
            <p:cNvPr id="977" name="Google Shape;977;p33"/>
            <p:cNvSpPr/>
            <p:nvPr/>
          </p:nvSpPr>
          <p:spPr>
            <a:xfrm>
              <a:off x="7656800" y="3198318"/>
              <a:ext cx="660600" cy="161800"/>
            </a:xfrm>
            <a:custGeom>
              <a:avLst/>
              <a:gdLst/>
              <a:ahLst/>
              <a:cxnLst/>
              <a:rect l="l" t="t" r="r" b="b"/>
              <a:pathLst>
                <a:path w="26424" h="6472" extrusionOk="0">
                  <a:moveTo>
                    <a:pt x="26424" y="6411"/>
                  </a:moveTo>
                  <a:cubicBezTo>
                    <a:pt x="18961" y="6652"/>
                    <a:pt x="11684" y="3823"/>
                    <a:pt x="4520" y="1717"/>
                  </a:cubicBezTo>
                  <a:cubicBezTo>
                    <a:pt x="4232" y="1632"/>
                    <a:pt x="0" y="-572"/>
                    <a:pt x="0" y="153"/>
                  </a:cubicBezTo>
                  <a:cubicBezTo>
                    <a:pt x="0" y="1294"/>
                    <a:pt x="584" y="2475"/>
                    <a:pt x="1391" y="3282"/>
                  </a:cubicBezTo>
                </a:path>
              </a:pathLst>
            </a:custGeom>
            <a:noFill/>
            <a:ln w="38100" cap="flat" cmpd="sng">
              <a:solidFill>
                <a:srgbClr val="F1C232"/>
              </a:solidFill>
              <a:prstDash val="solid"/>
              <a:round/>
              <a:headEnd type="none" w="med" len="med"/>
              <a:tailEnd type="none" w="med" len="med"/>
            </a:ln>
          </p:spPr>
        </p:sp>
        <p:sp>
          <p:nvSpPr>
            <p:cNvPr id="978" name="Google Shape;978;p33"/>
            <p:cNvSpPr/>
            <p:nvPr/>
          </p:nvSpPr>
          <p:spPr>
            <a:xfrm>
              <a:off x="7757829" y="3119575"/>
              <a:ext cx="450925" cy="395475"/>
            </a:xfrm>
            <a:custGeom>
              <a:avLst/>
              <a:gdLst/>
              <a:ahLst/>
              <a:cxnLst/>
              <a:rect l="l" t="t" r="r" b="b"/>
              <a:pathLst>
                <a:path w="18037" h="15819" extrusionOk="0">
                  <a:moveTo>
                    <a:pt x="18037" y="0"/>
                  </a:moveTo>
                  <a:cubicBezTo>
                    <a:pt x="15708" y="1293"/>
                    <a:pt x="13491" y="3180"/>
                    <a:pt x="12300" y="5562"/>
                  </a:cubicBezTo>
                  <a:cubicBezTo>
                    <a:pt x="11338" y="7485"/>
                    <a:pt x="12524" y="10628"/>
                    <a:pt x="10735" y="11821"/>
                  </a:cubicBezTo>
                  <a:cubicBezTo>
                    <a:pt x="7637" y="13887"/>
                    <a:pt x="-1612" y="12627"/>
                    <a:pt x="305" y="15819"/>
                  </a:cubicBezTo>
                </a:path>
              </a:pathLst>
            </a:custGeom>
            <a:noFill/>
            <a:ln w="38100" cap="flat" cmpd="sng">
              <a:solidFill>
                <a:srgbClr val="F1C232"/>
              </a:solidFill>
              <a:prstDash val="solid"/>
              <a:round/>
              <a:headEnd type="none" w="med" len="med"/>
              <a:tailEnd type="none" w="med" len="med"/>
            </a:ln>
          </p:spPr>
        </p:sp>
        <p:sp>
          <p:nvSpPr>
            <p:cNvPr id="979" name="Google Shape;979;p33"/>
            <p:cNvSpPr/>
            <p:nvPr/>
          </p:nvSpPr>
          <p:spPr>
            <a:xfrm>
              <a:off x="7895825" y="3010925"/>
              <a:ext cx="373750" cy="469350"/>
            </a:xfrm>
            <a:custGeom>
              <a:avLst/>
              <a:gdLst/>
              <a:ahLst/>
              <a:cxnLst/>
              <a:rect l="l" t="t" r="r" b="b"/>
              <a:pathLst>
                <a:path w="14950" h="18774" extrusionOk="0">
                  <a:moveTo>
                    <a:pt x="0" y="0"/>
                  </a:moveTo>
                  <a:cubicBezTo>
                    <a:pt x="1571" y="7844"/>
                    <a:pt x="11377" y="11617"/>
                    <a:pt x="14950" y="18774"/>
                  </a:cubicBezTo>
                </a:path>
              </a:pathLst>
            </a:custGeom>
            <a:noFill/>
            <a:ln w="38100" cap="flat" cmpd="sng">
              <a:solidFill>
                <a:srgbClr val="F1C232"/>
              </a:solidFill>
              <a:prstDash val="solid"/>
              <a:round/>
              <a:headEnd type="none" w="med" len="med"/>
              <a:tailEnd type="none" w="med" len="med"/>
            </a:ln>
          </p:spPr>
        </p:sp>
        <p:sp>
          <p:nvSpPr>
            <p:cNvPr id="980" name="Google Shape;980;p33"/>
            <p:cNvSpPr/>
            <p:nvPr/>
          </p:nvSpPr>
          <p:spPr>
            <a:xfrm>
              <a:off x="7752400" y="3132600"/>
              <a:ext cx="346150" cy="434600"/>
            </a:xfrm>
            <a:custGeom>
              <a:avLst/>
              <a:gdLst/>
              <a:ahLst/>
              <a:cxnLst/>
              <a:rect l="l" t="t" r="r" b="b"/>
              <a:pathLst>
                <a:path w="13846" h="17384" extrusionOk="0">
                  <a:moveTo>
                    <a:pt x="0" y="17384"/>
                  </a:moveTo>
                  <a:cubicBezTo>
                    <a:pt x="1561" y="14266"/>
                    <a:pt x="813" y="9404"/>
                    <a:pt x="3825" y="7649"/>
                  </a:cubicBezTo>
                  <a:cubicBezTo>
                    <a:pt x="6452" y="6118"/>
                    <a:pt x="10432" y="8256"/>
                    <a:pt x="12865" y="6432"/>
                  </a:cubicBezTo>
                  <a:cubicBezTo>
                    <a:pt x="14596" y="5134"/>
                    <a:pt x="13756" y="1257"/>
                    <a:pt x="11995" y="0"/>
                  </a:cubicBezTo>
                </a:path>
              </a:pathLst>
            </a:custGeom>
            <a:noFill/>
            <a:ln w="38100" cap="flat" cmpd="sng">
              <a:solidFill>
                <a:srgbClr val="F1C232"/>
              </a:solidFill>
              <a:prstDash val="solid"/>
              <a:round/>
              <a:headEnd type="none" w="med" len="med"/>
              <a:tailEnd type="none" w="med" len="med"/>
            </a:ln>
          </p:spPr>
        </p:sp>
      </p:grpSp>
      <p:sp>
        <p:nvSpPr>
          <p:cNvPr id="981" name="Google Shape;981;p33"/>
          <p:cNvSpPr/>
          <p:nvPr/>
        </p:nvSpPr>
        <p:spPr>
          <a:xfrm>
            <a:off x="4416763" y="3146300"/>
            <a:ext cx="420063" cy="289163"/>
          </a:xfrm>
          <a:custGeom>
            <a:avLst/>
            <a:gdLst/>
            <a:ahLst/>
            <a:cxnLst/>
            <a:rect l="l" t="t" r="r" b="b"/>
            <a:pathLst>
              <a:path w="33605" h="23133" extrusionOk="0">
                <a:moveTo>
                  <a:pt x="0" y="23133"/>
                </a:moveTo>
                <a:cubicBezTo>
                  <a:pt x="2435" y="19075"/>
                  <a:pt x="4127" y="14465"/>
                  <a:pt x="7305" y="10958"/>
                </a:cubicBezTo>
                <a:cubicBezTo>
                  <a:pt x="13683" y="3921"/>
                  <a:pt x="24540" y="2832"/>
                  <a:pt x="33605" y="0"/>
                </a:cubicBezTo>
              </a:path>
            </a:pathLst>
          </a:custGeom>
          <a:noFill/>
          <a:ln w="38100" cap="flat" cmpd="sng">
            <a:solidFill>
              <a:srgbClr val="F1C232"/>
            </a:solidFill>
            <a:prstDash val="solid"/>
            <a:round/>
            <a:headEnd type="none" w="med" len="med"/>
            <a:tailEnd type="none" w="med" len="med"/>
          </a:ln>
        </p:spPr>
      </p:sp>
      <p:sp>
        <p:nvSpPr>
          <p:cNvPr id="982" name="Google Shape;982;p33"/>
          <p:cNvSpPr/>
          <p:nvPr/>
        </p:nvSpPr>
        <p:spPr>
          <a:xfrm>
            <a:off x="4413713" y="2966700"/>
            <a:ext cx="273963" cy="413975"/>
          </a:xfrm>
          <a:custGeom>
            <a:avLst/>
            <a:gdLst/>
            <a:ahLst/>
            <a:cxnLst/>
            <a:rect l="l" t="t" r="r" b="b"/>
            <a:pathLst>
              <a:path w="21917" h="33118" extrusionOk="0">
                <a:moveTo>
                  <a:pt x="0" y="0"/>
                </a:moveTo>
                <a:cubicBezTo>
                  <a:pt x="2209" y="4416"/>
                  <a:pt x="6510" y="8222"/>
                  <a:pt x="6819" y="13150"/>
                </a:cubicBezTo>
                <a:cubicBezTo>
                  <a:pt x="7095" y="17561"/>
                  <a:pt x="2967" y="22436"/>
                  <a:pt x="5114" y="26300"/>
                </a:cubicBezTo>
                <a:cubicBezTo>
                  <a:pt x="8050" y="31584"/>
                  <a:pt x="16181" y="31211"/>
                  <a:pt x="21917" y="33118"/>
                </a:cubicBezTo>
              </a:path>
            </a:pathLst>
          </a:custGeom>
          <a:noFill/>
          <a:ln w="38100" cap="flat" cmpd="sng">
            <a:solidFill>
              <a:srgbClr val="F1C232"/>
            </a:solidFill>
            <a:prstDash val="solid"/>
            <a:round/>
            <a:headEnd type="none" w="med" len="med"/>
            <a:tailEnd type="none" w="med" len="med"/>
          </a:ln>
        </p:spPr>
      </p:sp>
      <p:sp>
        <p:nvSpPr>
          <p:cNvPr id="983" name="Google Shape;983;p33"/>
          <p:cNvSpPr/>
          <p:nvPr/>
        </p:nvSpPr>
        <p:spPr>
          <a:xfrm>
            <a:off x="4363841" y="3099836"/>
            <a:ext cx="427325" cy="335625"/>
          </a:xfrm>
          <a:custGeom>
            <a:avLst/>
            <a:gdLst/>
            <a:ahLst/>
            <a:cxnLst/>
            <a:rect l="l" t="t" r="r" b="b"/>
            <a:pathLst>
              <a:path w="34186" h="26850" extrusionOk="0">
                <a:moveTo>
                  <a:pt x="34186" y="7369"/>
                </a:moveTo>
                <a:cubicBezTo>
                  <a:pt x="26609" y="7875"/>
                  <a:pt x="18987" y="9107"/>
                  <a:pt x="11783" y="11509"/>
                </a:cubicBezTo>
                <a:cubicBezTo>
                  <a:pt x="8958" y="12451"/>
                  <a:pt x="6190" y="14721"/>
                  <a:pt x="3260" y="14188"/>
                </a:cubicBezTo>
                <a:cubicBezTo>
                  <a:pt x="100" y="13613"/>
                  <a:pt x="-612" y="7915"/>
                  <a:pt x="581" y="4934"/>
                </a:cubicBezTo>
                <a:cubicBezTo>
                  <a:pt x="2999" y="-1107"/>
                  <a:pt x="16358" y="-1632"/>
                  <a:pt x="20062" y="3717"/>
                </a:cubicBezTo>
                <a:cubicBezTo>
                  <a:pt x="23302" y="8396"/>
                  <a:pt x="18572" y="15095"/>
                  <a:pt x="19088" y="20763"/>
                </a:cubicBezTo>
                <a:cubicBezTo>
                  <a:pt x="19370" y="23858"/>
                  <a:pt x="23042" y="26850"/>
                  <a:pt x="26150" y="26850"/>
                </a:cubicBezTo>
              </a:path>
            </a:pathLst>
          </a:custGeom>
          <a:noFill/>
          <a:ln w="38100" cap="flat" cmpd="sng">
            <a:solidFill>
              <a:srgbClr val="F1C232"/>
            </a:solidFill>
            <a:prstDash val="solid"/>
            <a:round/>
            <a:headEnd type="none" w="med" len="med"/>
            <a:tailEnd type="none" w="med" len="med"/>
          </a:ln>
        </p:spPr>
      </p:sp>
      <p:sp>
        <p:nvSpPr>
          <p:cNvPr id="984" name="Google Shape;984;p33"/>
          <p:cNvSpPr/>
          <p:nvPr/>
        </p:nvSpPr>
        <p:spPr>
          <a:xfrm>
            <a:off x="4365013" y="2942350"/>
            <a:ext cx="453675" cy="414725"/>
          </a:xfrm>
          <a:custGeom>
            <a:avLst/>
            <a:gdLst/>
            <a:ahLst/>
            <a:cxnLst/>
            <a:rect l="l" t="t" r="r" b="b"/>
            <a:pathLst>
              <a:path w="36294" h="33178" extrusionOk="0">
                <a:moveTo>
                  <a:pt x="16072" y="0"/>
                </a:moveTo>
                <a:cubicBezTo>
                  <a:pt x="18478" y="5415"/>
                  <a:pt x="25652" y="7856"/>
                  <a:pt x="27761" y="13393"/>
                </a:cubicBezTo>
                <a:cubicBezTo>
                  <a:pt x="29698" y="18478"/>
                  <a:pt x="25844" y="24459"/>
                  <a:pt x="27274" y="29709"/>
                </a:cubicBezTo>
                <a:cubicBezTo>
                  <a:pt x="27905" y="32023"/>
                  <a:pt x="32028" y="34192"/>
                  <a:pt x="33849" y="32631"/>
                </a:cubicBezTo>
                <a:cubicBezTo>
                  <a:pt x="36931" y="29989"/>
                  <a:pt x="37353" y="22015"/>
                  <a:pt x="33605" y="20455"/>
                </a:cubicBezTo>
                <a:cubicBezTo>
                  <a:pt x="25042" y="16890"/>
                  <a:pt x="14673" y="21082"/>
                  <a:pt x="6088" y="24595"/>
                </a:cubicBezTo>
                <a:cubicBezTo>
                  <a:pt x="3268" y="25749"/>
                  <a:pt x="2891" y="30452"/>
                  <a:pt x="0" y="31413"/>
                </a:cubicBezTo>
              </a:path>
            </a:pathLst>
          </a:custGeom>
          <a:noFill/>
          <a:ln w="38100" cap="flat" cmpd="sng">
            <a:solidFill>
              <a:srgbClr val="F1C232"/>
            </a:solidFill>
            <a:prstDash val="solid"/>
            <a:round/>
            <a:headEnd type="none" w="med" len="med"/>
            <a:tailEnd type="none" w="med" len="med"/>
          </a:ln>
        </p:spPr>
      </p:sp>
      <p:sp>
        <p:nvSpPr>
          <p:cNvPr id="985" name="Google Shape;985;p33"/>
          <p:cNvSpPr/>
          <p:nvPr/>
        </p:nvSpPr>
        <p:spPr>
          <a:xfrm>
            <a:off x="4340663" y="2972714"/>
            <a:ext cx="441350" cy="510425"/>
          </a:xfrm>
          <a:custGeom>
            <a:avLst/>
            <a:gdLst/>
            <a:ahLst/>
            <a:cxnLst/>
            <a:rect l="l" t="t" r="r" b="b"/>
            <a:pathLst>
              <a:path w="35308" h="40834" extrusionOk="0">
                <a:moveTo>
                  <a:pt x="0" y="21923"/>
                </a:moveTo>
                <a:cubicBezTo>
                  <a:pt x="4868" y="17746"/>
                  <a:pt x="16935" y="15448"/>
                  <a:pt x="19238" y="21435"/>
                </a:cubicBezTo>
                <a:cubicBezTo>
                  <a:pt x="21093" y="26256"/>
                  <a:pt x="14339" y="32377"/>
                  <a:pt x="17046" y="36777"/>
                </a:cubicBezTo>
                <a:cubicBezTo>
                  <a:pt x="19515" y="40790"/>
                  <a:pt x="26930" y="41953"/>
                  <a:pt x="30926" y="39456"/>
                </a:cubicBezTo>
                <a:cubicBezTo>
                  <a:pt x="37891" y="35105"/>
                  <a:pt x="35821" y="20062"/>
                  <a:pt x="29465" y="14861"/>
                </a:cubicBezTo>
                <a:cubicBezTo>
                  <a:pt x="22888" y="9480"/>
                  <a:pt x="7178" y="12602"/>
                  <a:pt x="6331" y="4146"/>
                </a:cubicBezTo>
                <a:cubicBezTo>
                  <a:pt x="5675" y="-2396"/>
                  <a:pt x="21107" y="-183"/>
                  <a:pt x="26056" y="4146"/>
                </a:cubicBezTo>
                <a:cubicBezTo>
                  <a:pt x="35321" y="12251"/>
                  <a:pt x="17470" y="28073"/>
                  <a:pt x="8766" y="36777"/>
                </a:cubicBezTo>
              </a:path>
            </a:pathLst>
          </a:custGeom>
          <a:noFill/>
          <a:ln w="38100" cap="flat" cmpd="sng">
            <a:solidFill>
              <a:srgbClr val="F1C232"/>
            </a:solidFill>
            <a:prstDash val="solid"/>
            <a:round/>
            <a:headEnd type="none" w="med" len="med"/>
            <a:tailEnd type="none" w="med" len="med"/>
          </a:ln>
        </p:spPr>
      </p:sp>
      <p:sp>
        <p:nvSpPr>
          <p:cNvPr id="986" name="Google Shape;986;p33"/>
          <p:cNvSpPr/>
          <p:nvPr/>
        </p:nvSpPr>
        <p:spPr>
          <a:xfrm>
            <a:off x="4336629" y="2954525"/>
            <a:ext cx="448450" cy="512988"/>
          </a:xfrm>
          <a:custGeom>
            <a:avLst/>
            <a:gdLst/>
            <a:ahLst/>
            <a:cxnLst/>
            <a:rect l="l" t="t" r="r" b="b"/>
            <a:pathLst>
              <a:path w="35876" h="41039" extrusionOk="0">
                <a:moveTo>
                  <a:pt x="35876" y="12176"/>
                </a:moveTo>
                <a:cubicBezTo>
                  <a:pt x="33278" y="13474"/>
                  <a:pt x="30137" y="14019"/>
                  <a:pt x="28084" y="16072"/>
                </a:cubicBezTo>
                <a:cubicBezTo>
                  <a:pt x="24741" y="19415"/>
                  <a:pt x="24638" y="25253"/>
                  <a:pt x="25161" y="29952"/>
                </a:cubicBezTo>
                <a:cubicBezTo>
                  <a:pt x="25573" y="33653"/>
                  <a:pt x="31860" y="39489"/>
                  <a:pt x="28327" y="40667"/>
                </a:cubicBezTo>
                <a:cubicBezTo>
                  <a:pt x="23195" y="42378"/>
                  <a:pt x="17049" y="37559"/>
                  <a:pt x="13960" y="33118"/>
                </a:cubicBezTo>
                <a:cubicBezTo>
                  <a:pt x="10617" y="28313"/>
                  <a:pt x="9699" y="20564"/>
                  <a:pt x="4219" y="18507"/>
                </a:cubicBezTo>
                <a:cubicBezTo>
                  <a:pt x="680" y="17179"/>
                  <a:pt x="-1376" y="26792"/>
                  <a:pt x="1297" y="29465"/>
                </a:cubicBezTo>
                <a:cubicBezTo>
                  <a:pt x="5492" y="33660"/>
                  <a:pt x="15463" y="29538"/>
                  <a:pt x="18343" y="24352"/>
                </a:cubicBezTo>
                <a:cubicBezTo>
                  <a:pt x="21498" y="18671"/>
                  <a:pt x="15329" y="10954"/>
                  <a:pt x="17612" y="4870"/>
                </a:cubicBezTo>
                <a:cubicBezTo>
                  <a:pt x="18786" y="1740"/>
                  <a:pt x="23036" y="0"/>
                  <a:pt x="26379" y="0"/>
                </a:cubicBezTo>
              </a:path>
            </a:pathLst>
          </a:custGeom>
          <a:noFill/>
          <a:ln w="38100" cap="flat" cmpd="sng">
            <a:solidFill>
              <a:srgbClr val="F1C232"/>
            </a:solidFill>
            <a:prstDash val="solid"/>
            <a:round/>
            <a:headEnd type="none" w="med" len="med"/>
            <a:tailEnd type="none" w="med" len="med"/>
          </a:ln>
        </p:spPr>
      </p:sp>
      <p:sp>
        <p:nvSpPr>
          <p:cNvPr id="987" name="Google Shape;987;p33"/>
          <p:cNvSpPr/>
          <p:nvPr/>
        </p:nvSpPr>
        <p:spPr>
          <a:xfrm rot="6485262">
            <a:off x="3236964" y="3041437"/>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988" name="Google Shape;988;p33"/>
          <p:cNvSpPr/>
          <p:nvPr/>
        </p:nvSpPr>
        <p:spPr>
          <a:xfrm rot="10800000">
            <a:off x="4021235" y="1726333"/>
            <a:ext cx="39150" cy="523500"/>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989" name="Google Shape;989;p33"/>
          <p:cNvSpPr/>
          <p:nvPr/>
        </p:nvSpPr>
        <p:spPr>
          <a:xfrm rot="2167448">
            <a:off x="4169953" y="4226445"/>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990" name="Google Shape;990;p33"/>
          <p:cNvSpPr/>
          <p:nvPr/>
        </p:nvSpPr>
        <p:spPr>
          <a:xfrm rot="-2167448" flipH="1">
            <a:off x="5626360" y="3780045"/>
            <a:ext cx="39184" cy="523466"/>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
        <p:nvSpPr>
          <p:cNvPr id="991" name="Google Shape;991;p33"/>
          <p:cNvSpPr txBox="1"/>
          <p:nvPr/>
        </p:nvSpPr>
        <p:spPr>
          <a:xfrm>
            <a:off x="352650" y="4638250"/>
            <a:ext cx="2121450" cy="553984"/>
          </a:xfrm>
          <a:prstGeom prst="rect">
            <a:avLst/>
          </a:prstGeom>
          <a:noFill/>
          <a:ln>
            <a:noFill/>
          </a:ln>
        </p:spPr>
        <p:txBody>
          <a:bodyPr spcFirstLastPara="1" wrap="square" lIns="45713" tIns="45713" rIns="45713" bIns="45713" anchor="t" anchorCtr="0">
            <a:spAutoFit/>
          </a:bodyPr>
          <a:lstStyle/>
          <a:p>
            <a:pPr algn="ctr"/>
            <a:r>
              <a:rPr lang="en" sz="3000">
                <a:solidFill>
                  <a:srgbClr val="FFFFFF"/>
                </a:solidFill>
              </a:rPr>
              <a:t>Deadlock</a:t>
            </a:r>
            <a:endParaRPr sz="3000">
              <a:solidFill>
                <a:srgbClr val="FFFFFF"/>
              </a:solidFill>
            </a:endParaRPr>
          </a:p>
        </p:txBody>
      </p:sp>
      <p:sp>
        <p:nvSpPr>
          <p:cNvPr id="992" name="Google Shape;992;p33"/>
          <p:cNvSpPr/>
          <p:nvPr/>
        </p:nvSpPr>
        <p:spPr>
          <a:xfrm rot="-6485262" flipH="1">
            <a:off x="5733114" y="2223412"/>
            <a:ext cx="39134" cy="523452"/>
          </a:xfrm>
          <a:prstGeom prst="trapezoid">
            <a:avLst>
              <a:gd name="adj" fmla="val 25000"/>
            </a:avLst>
          </a:prstGeom>
          <a:solidFill>
            <a:srgbClr val="FF0000"/>
          </a:solidFill>
          <a:ln>
            <a:noFill/>
          </a:ln>
        </p:spPr>
        <p:txBody>
          <a:bodyPr spcFirstLastPara="1" wrap="square" lIns="45713" tIns="45713" rIns="45713" bIns="45713" anchor="ctr" anchorCtr="0">
            <a:noAutofit/>
          </a:bodyPr>
          <a:lstStyle/>
          <a:p>
            <a:endParaRPr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87"/>
                                        </p:tgtEl>
                                        <p:attrNameLst>
                                          <p:attrName>style.visibility</p:attrName>
                                        </p:attrNameLst>
                                      </p:cBhvr>
                                      <p:to>
                                        <p:strVal val="visible"/>
                                      </p:to>
                                    </p:set>
                                    <p:animEffect transition="in" filter="fade">
                                      <p:cBhvr>
                                        <p:cTn id="7" dur="1000"/>
                                        <p:tgtEl>
                                          <p:spTgt spid="987"/>
                                        </p:tgtEl>
                                      </p:cBhvr>
                                    </p:animEffect>
                                  </p:childTnLst>
                                </p:cTn>
                              </p:par>
                              <p:par>
                                <p:cTn id="8" presetID="10" presetClass="entr" presetSubtype="0" fill="hold" nodeType="withEffect">
                                  <p:stCondLst>
                                    <p:cond delay="0"/>
                                  </p:stCondLst>
                                  <p:childTnLst>
                                    <p:set>
                                      <p:cBhvr>
                                        <p:cTn id="9" dur="1" fill="hold">
                                          <p:stCondLst>
                                            <p:cond delay="0"/>
                                          </p:stCondLst>
                                        </p:cTn>
                                        <p:tgtEl>
                                          <p:spTgt spid="988"/>
                                        </p:tgtEl>
                                        <p:attrNameLst>
                                          <p:attrName>style.visibility</p:attrName>
                                        </p:attrNameLst>
                                      </p:cBhvr>
                                      <p:to>
                                        <p:strVal val="visible"/>
                                      </p:to>
                                    </p:set>
                                    <p:animEffect transition="in" filter="fade">
                                      <p:cBhvr>
                                        <p:cTn id="10" dur="1000"/>
                                        <p:tgtEl>
                                          <p:spTgt spid="988"/>
                                        </p:tgtEl>
                                      </p:cBhvr>
                                    </p:animEffect>
                                  </p:childTnLst>
                                </p:cTn>
                              </p:par>
                              <p:par>
                                <p:cTn id="11" presetID="10" presetClass="entr" presetSubtype="0" fill="hold" nodeType="withEffect">
                                  <p:stCondLst>
                                    <p:cond delay="0"/>
                                  </p:stCondLst>
                                  <p:childTnLst>
                                    <p:set>
                                      <p:cBhvr>
                                        <p:cTn id="12" dur="1" fill="hold">
                                          <p:stCondLst>
                                            <p:cond delay="0"/>
                                          </p:stCondLst>
                                        </p:cTn>
                                        <p:tgtEl>
                                          <p:spTgt spid="990"/>
                                        </p:tgtEl>
                                        <p:attrNameLst>
                                          <p:attrName>style.visibility</p:attrName>
                                        </p:attrNameLst>
                                      </p:cBhvr>
                                      <p:to>
                                        <p:strVal val="visible"/>
                                      </p:to>
                                    </p:set>
                                    <p:animEffect transition="in" filter="fade">
                                      <p:cBhvr>
                                        <p:cTn id="13" dur="1000"/>
                                        <p:tgtEl>
                                          <p:spTgt spid="990"/>
                                        </p:tgtEl>
                                      </p:cBhvr>
                                    </p:animEffect>
                                  </p:childTnLst>
                                </p:cTn>
                              </p:par>
                              <p:par>
                                <p:cTn id="14" presetID="10" presetClass="entr" presetSubtype="0" fill="hold" nodeType="withEffect">
                                  <p:stCondLst>
                                    <p:cond delay="0"/>
                                  </p:stCondLst>
                                  <p:childTnLst>
                                    <p:set>
                                      <p:cBhvr>
                                        <p:cTn id="15" dur="1" fill="hold">
                                          <p:stCondLst>
                                            <p:cond delay="0"/>
                                          </p:stCondLst>
                                        </p:cTn>
                                        <p:tgtEl>
                                          <p:spTgt spid="992"/>
                                        </p:tgtEl>
                                        <p:attrNameLst>
                                          <p:attrName>style.visibility</p:attrName>
                                        </p:attrNameLst>
                                      </p:cBhvr>
                                      <p:to>
                                        <p:strVal val="visible"/>
                                      </p:to>
                                    </p:set>
                                    <p:animEffect transition="in" filter="fade">
                                      <p:cBhvr>
                                        <p:cTn id="16" dur="1000"/>
                                        <p:tgtEl>
                                          <p:spTgt spid="992"/>
                                        </p:tgtEl>
                                      </p:cBhvr>
                                    </p:animEffect>
                                  </p:childTnLst>
                                </p:cTn>
                              </p:par>
                              <p:par>
                                <p:cTn id="17" presetID="10" presetClass="entr" presetSubtype="0" fill="hold" nodeType="withEffect">
                                  <p:stCondLst>
                                    <p:cond delay="0"/>
                                  </p:stCondLst>
                                  <p:childTnLst>
                                    <p:set>
                                      <p:cBhvr>
                                        <p:cTn id="18" dur="1" fill="hold">
                                          <p:stCondLst>
                                            <p:cond delay="0"/>
                                          </p:stCondLst>
                                        </p:cTn>
                                        <p:tgtEl>
                                          <p:spTgt spid="989"/>
                                        </p:tgtEl>
                                        <p:attrNameLst>
                                          <p:attrName>style.visibility</p:attrName>
                                        </p:attrNameLst>
                                      </p:cBhvr>
                                      <p:to>
                                        <p:strVal val="visible"/>
                                      </p:to>
                                    </p:set>
                                    <p:animEffect transition="in" filter="fade">
                                      <p:cBhvr>
                                        <p:cTn id="19" dur="1000"/>
                                        <p:tgtEl>
                                          <p:spTgt spid="98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991"/>
                                        </p:tgtEl>
                                        <p:attrNameLst>
                                          <p:attrName>style.visibility</p:attrName>
                                        </p:attrNameLst>
                                      </p:cBhvr>
                                      <p:to>
                                        <p:strVal val="visible"/>
                                      </p:to>
                                    </p:set>
                                    <p:animEffect transition="in" filter="fade">
                                      <p:cBhvr>
                                        <p:cTn id="24" dur="1000"/>
                                        <p:tgtEl>
                                          <p:spTgt spid="9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C885A-F17F-4894-1543-211BDB3DE42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930C3D-E755-31E6-37D7-E9F4F61804D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221532703"/>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cxnSp>
        <p:nvCxnSpPr>
          <p:cNvPr id="54" name="Google Shape;54;p13"/>
          <p:cNvCxnSpPr/>
          <p:nvPr/>
        </p:nvCxnSpPr>
        <p:spPr>
          <a:xfrm>
            <a:off x="1104900" y="5299050"/>
            <a:ext cx="7543800" cy="0"/>
          </a:xfrm>
          <a:prstGeom prst="straightConnector1">
            <a:avLst/>
          </a:prstGeom>
          <a:noFill/>
          <a:ln w="38100" cap="flat" cmpd="sng">
            <a:solidFill>
              <a:srgbClr val="595959"/>
            </a:solidFill>
            <a:prstDash val="solid"/>
            <a:round/>
            <a:headEnd type="none" w="med" len="med"/>
            <a:tailEnd type="triangle" w="med" len="med"/>
          </a:ln>
        </p:spPr>
      </p:cxnSp>
      <p:cxnSp>
        <p:nvCxnSpPr>
          <p:cNvPr id="55" name="Google Shape;55;p13"/>
          <p:cNvCxnSpPr/>
          <p:nvPr/>
        </p:nvCxnSpPr>
        <p:spPr>
          <a:xfrm>
            <a:off x="2628900" y="2076450"/>
            <a:ext cx="0" cy="3527400"/>
          </a:xfrm>
          <a:prstGeom prst="straightConnector1">
            <a:avLst/>
          </a:prstGeom>
          <a:noFill/>
          <a:ln w="38100" cap="flat" cmpd="sng">
            <a:solidFill>
              <a:srgbClr val="595959"/>
            </a:solidFill>
            <a:prstDash val="dash"/>
            <a:round/>
            <a:headEnd type="none" w="med" len="med"/>
            <a:tailEnd type="none" w="med" len="med"/>
          </a:ln>
        </p:spPr>
      </p:cxnSp>
      <p:sp>
        <p:nvSpPr>
          <p:cNvPr id="56" name="Google Shape;56;p13"/>
          <p:cNvSpPr/>
          <p:nvPr/>
        </p:nvSpPr>
        <p:spPr>
          <a:xfrm>
            <a:off x="1181100" y="4003650"/>
            <a:ext cx="12189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Task L</a:t>
            </a:r>
            <a:endParaRPr sz="1200"/>
          </a:p>
        </p:txBody>
      </p:sp>
      <p:sp>
        <p:nvSpPr>
          <p:cNvPr id="57" name="Google Shape;57;p13"/>
          <p:cNvSpPr txBox="1"/>
          <p:nvPr/>
        </p:nvSpPr>
        <p:spPr>
          <a:xfrm>
            <a:off x="8077200" y="5337150"/>
            <a:ext cx="762000" cy="266700"/>
          </a:xfrm>
          <a:prstGeom prst="rect">
            <a:avLst/>
          </a:prstGeom>
          <a:noFill/>
          <a:ln>
            <a:noFill/>
          </a:ln>
        </p:spPr>
        <p:txBody>
          <a:bodyPr spcFirstLastPara="1" wrap="square" lIns="45713" tIns="45713" rIns="45713" bIns="45713" anchor="ctr" anchorCtr="0">
            <a:noAutofit/>
          </a:bodyPr>
          <a:lstStyle/>
          <a:p>
            <a:pPr algn="ctr"/>
            <a:r>
              <a:rPr lang="en" sz="1200"/>
              <a:t>time</a:t>
            </a:r>
            <a:endParaRPr sz="1200"/>
          </a:p>
        </p:txBody>
      </p:sp>
      <p:sp>
        <p:nvSpPr>
          <p:cNvPr id="58" name="Google Shape;58;p13"/>
          <p:cNvSpPr txBox="1"/>
          <p:nvPr/>
        </p:nvSpPr>
        <p:spPr>
          <a:xfrm>
            <a:off x="457200" y="3965550"/>
            <a:ext cx="495300" cy="419100"/>
          </a:xfrm>
          <a:prstGeom prst="rect">
            <a:avLst/>
          </a:prstGeom>
          <a:noFill/>
          <a:ln>
            <a:noFill/>
          </a:ln>
        </p:spPr>
        <p:txBody>
          <a:bodyPr spcFirstLastPara="1" wrap="square" lIns="45713" tIns="45713" rIns="45713" bIns="45713" anchor="ctr" anchorCtr="0">
            <a:noAutofit/>
          </a:bodyPr>
          <a:lstStyle/>
          <a:p>
            <a:pPr algn="r"/>
            <a:r>
              <a:rPr lang="en" sz="1200"/>
              <a:t>1</a:t>
            </a:r>
            <a:endParaRPr sz="1200"/>
          </a:p>
        </p:txBody>
      </p:sp>
      <p:sp>
        <p:nvSpPr>
          <p:cNvPr id="59" name="Google Shape;59;p13"/>
          <p:cNvSpPr txBox="1"/>
          <p:nvPr/>
        </p:nvSpPr>
        <p:spPr>
          <a:xfrm>
            <a:off x="457200" y="3279750"/>
            <a:ext cx="495300" cy="419100"/>
          </a:xfrm>
          <a:prstGeom prst="rect">
            <a:avLst/>
          </a:prstGeom>
          <a:noFill/>
          <a:ln>
            <a:noFill/>
          </a:ln>
        </p:spPr>
        <p:txBody>
          <a:bodyPr spcFirstLastPara="1" wrap="square" lIns="45713" tIns="45713" rIns="45713" bIns="45713" anchor="ctr" anchorCtr="0">
            <a:noAutofit/>
          </a:bodyPr>
          <a:lstStyle/>
          <a:p>
            <a:pPr algn="r"/>
            <a:r>
              <a:rPr lang="en" sz="1200"/>
              <a:t>2</a:t>
            </a:r>
            <a:endParaRPr sz="1200"/>
          </a:p>
        </p:txBody>
      </p:sp>
      <p:sp>
        <p:nvSpPr>
          <p:cNvPr id="60" name="Google Shape;60;p13"/>
          <p:cNvSpPr txBox="1"/>
          <p:nvPr/>
        </p:nvSpPr>
        <p:spPr>
          <a:xfrm rot="-5400000">
            <a:off x="600075" y="2359263"/>
            <a:ext cx="438150" cy="419100"/>
          </a:xfrm>
          <a:prstGeom prst="rect">
            <a:avLst/>
          </a:prstGeom>
          <a:noFill/>
          <a:ln>
            <a:noFill/>
          </a:ln>
        </p:spPr>
        <p:txBody>
          <a:bodyPr spcFirstLastPara="1" wrap="square" lIns="45713" tIns="45713" rIns="45713" bIns="45713" anchor="ctr" anchorCtr="0">
            <a:noAutofit/>
          </a:bodyPr>
          <a:lstStyle/>
          <a:p>
            <a:pPr algn="ctr"/>
            <a:r>
              <a:rPr lang="en" sz="1200"/>
              <a:t>...</a:t>
            </a:r>
            <a:endParaRPr sz="1200"/>
          </a:p>
        </p:txBody>
      </p:sp>
      <p:sp>
        <p:nvSpPr>
          <p:cNvPr id="61" name="Google Shape;61;p13"/>
          <p:cNvSpPr/>
          <p:nvPr/>
        </p:nvSpPr>
        <p:spPr>
          <a:xfrm>
            <a:off x="2628900" y="2632050"/>
            <a:ext cx="609600" cy="34290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rgbClr val="000000"/>
                </a:solidFill>
              </a:rPr>
              <a:t>Task </a:t>
            </a:r>
            <a:r>
              <a:rPr lang="en" sz="1200"/>
              <a:t>H</a:t>
            </a:r>
            <a:endParaRPr sz="1200">
              <a:solidFill>
                <a:srgbClr val="000000"/>
              </a:solidFill>
            </a:endParaRPr>
          </a:p>
        </p:txBody>
      </p:sp>
      <p:sp>
        <p:nvSpPr>
          <p:cNvPr id="62" name="Google Shape;62;p13"/>
          <p:cNvSpPr txBox="1"/>
          <p:nvPr/>
        </p:nvSpPr>
        <p:spPr>
          <a:xfrm>
            <a:off x="228600" y="1949063"/>
            <a:ext cx="723900" cy="495900"/>
          </a:xfrm>
          <a:prstGeom prst="rect">
            <a:avLst/>
          </a:prstGeom>
          <a:noFill/>
          <a:ln>
            <a:noFill/>
          </a:ln>
        </p:spPr>
        <p:txBody>
          <a:bodyPr spcFirstLastPara="1" wrap="square" lIns="45713" tIns="45713" rIns="45713" bIns="45713" anchor="ctr" anchorCtr="0">
            <a:noAutofit/>
          </a:bodyPr>
          <a:lstStyle/>
          <a:p>
            <a:pPr algn="r"/>
            <a:r>
              <a:rPr lang="en" sz="1500"/>
              <a:t>Priority (S/W)</a:t>
            </a:r>
            <a:endParaRPr sz="1500"/>
          </a:p>
        </p:txBody>
      </p:sp>
      <p:sp>
        <p:nvSpPr>
          <p:cNvPr id="63" name="Google Shape;63;p13"/>
          <p:cNvSpPr txBox="1"/>
          <p:nvPr/>
        </p:nvSpPr>
        <p:spPr>
          <a:xfrm>
            <a:off x="2355150" y="857250"/>
            <a:ext cx="4433700" cy="706200"/>
          </a:xfrm>
          <a:prstGeom prst="rect">
            <a:avLst/>
          </a:prstGeom>
          <a:noFill/>
          <a:ln>
            <a:noFill/>
          </a:ln>
        </p:spPr>
        <p:txBody>
          <a:bodyPr spcFirstLastPara="1" wrap="square" lIns="45713" tIns="45713" rIns="45713" bIns="45713" anchor="ctr" anchorCtr="0">
            <a:noAutofit/>
          </a:bodyPr>
          <a:lstStyle/>
          <a:p>
            <a:pPr algn="ctr"/>
            <a:r>
              <a:rPr lang="en" sz="2400"/>
              <a:t>Bounded Priority Inversion</a:t>
            </a:r>
            <a:endParaRPr sz="2400"/>
          </a:p>
        </p:txBody>
      </p:sp>
      <p:sp>
        <p:nvSpPr>
          <p:cNvPr id="64" name="Google Shape;64;p13"/>
          <p:cNvSpPr txBox="1"/>
          <p:nvPr/>
        </p:nvSpPr>
        <p:spPr>
          <a:xfrm>
            <a:off x="457200" y="2593950"/>
            <a:ext cx="495300" cy="419100"/>
          </a:xfrm>
          <a:prstGeom prst="rect">
            <a:avLst/>
          </a:prstGeom>
          <a:noFill/>
          <a:ln>
            <a:noFill/>
          </a:ln>
        </p:spPr>
        <p:txBody>
          <a:bodyPr spcFirstLastPara="1" wrap="square" lIns="45713" tIns="45713" rIns="45713" bIns="45713" anchor="ctr" anchorCtr="0">
            <a:noAutofit/>
          </a:bodyPr>
          <a:lstStyle/>
          <a:p>
            <a:pPr algn="r"/>
            <a:r>
              <a:rPr lang="en" sz="1200"/>
              <a:t>3</a:t>
            </a:r>
            <a:endParaRPr sz="1200"/>
          </a:p>
        </p:txBody>
      </p:sp>
      <p:sp>
        <p:nvSpPr>
          <p:cNvPr id="65" name="Google Shape;65;p13"/>
          <p:cNvSpPr/>
          <p:nvPr/>
        </p:nvSpPr>
        <p:spPr>
          <a:xfrm>
            <a:off x="2400300" y="4003650"/>
            <a:ext cx="228600" cy="342900"/>
          </a:xfrm>
          <a:prstGeom prst="rect">
            <a:avLst/>
          </a:prstGeom>
          <a:solidFill>
            <a:srgbClr val="F4CC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66" name="Google Shape;66;p13"/>
          <p:cNvSpPr txBox="1"/>
          <p:nvPr/>
        </p:nvSpPr>
        <p:spPr>
          <a:xfrm>
            <a:off x="457200" y="4651350"/>
            <a:ext cx="495300" cy="419100"/>
          </a:xfrm>
          <a:prstGeom prst="rect">
            <a:avLst/>
          </a:prstGeom>
          <a:noFill/>
          <a:ln>
            <a:noFill/>
          </a:ln>
        </p:spPr>
        <p:txBody>
          <a:bodyPr spcFirstLastPara="1" wrap="square" lIns="45713" tIns="45713" rIns="45713" bIns="45713" anchor="ctr" anchorCtr="0">
            <a:noAutofit/>
          </a:bodyPr>
          <a:lstStyle/>
          <a:p>
            <a:pPr algn="r"/>
            <a:r>
              <a:rPr lang="en" sz="1200"/>
              <a:t>0</a:t>
            </a:r>
            <a:endParaRPr sz="1200"/>
          </a:p>
        </p:txBody>
      </p:sp>
      <p:cxnSp>
        <p:nvCxnSpPr>
          <p:cNvPr id="67" name="Google Shape;67;p13"/>
          <p:cNvCxnSpPr/>
          <p:nvPr/>
        </p:nvCxnSpPr>
        <p:spPr>
          <a:xfrm>
            <a:off x="3238500" y="2076450"/>
            <a:ext cx="0" cy="3527400"/>
          </a:xfrm>
          <a:prstGeom prst="straightConnector1">
            <a:avLst/>
          </a:prstGeom>
          <a:noFill/>
          <a:ln w="38100" cap="flat" cmpd="sng">
            <a:solidFill>
              <a:srgbClr val="595959"/>
            </a:solidFill>
            <a:prstDash val="dash"/>
            <a:round/>
            <a:headEnd type="none" w="med" len="med"/>
            <a:tailEnd type="none" w="med" len="med"/>
          </a:ln>
        </p:spPr>
      </p:cxnSp>
      <p:sp>
        <p:nvSpPr>
          <p:cNvPr id="68" name="Google Shape;68;p13"/>
          <p:cNvSpPr/>
          <p:nvPr/>
        </p:nvSpPr>
        <p:spPr>
          <a:xfrm>
            <a:off x="3238500" y="4003650"/>
            <a:ext cx="1104900" cy="342900"/>
          </a:xfrm>
          <a:prstGeom prst="rect">
            <a:avLst/>
          </a:prstGeom>
          <a:solidFill>
            <a:srgbClr val="F4CC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Critical Section</a:t>
            </a:r>
            <a:endParaRPr sz="1200"/>
          </a:p>
        </p:txBody>
      </p:sp>
      <p:cxnSp>
        <p:nvCxnSpPr>
          <p:cNvPr id="69" name="Google Shape;69;p13"/>
          <p:cNvCxnSpPr/>
          <p:nvPr/>
        </p:nvCxnSpPr>
        <p:spPr>
          <a:xfrm>
            <a:off x="4343400" y="20764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70" name="Google Shape;70;p13"/>
          <p:cNvCxnSpPr/>
          <p:nvPr/>
        </p:nvCxnSpPr>
        <p:spPr>
          <a:xfrm>
            <a:off x="6210300" y="2076450"/>
            <a:ext cx="0" cy="3527400"/>
          </a:xfrm>
          <a:prstGeom prst="straightConnector1">
            <a:avLst/>
          </a:prstGeom>
          <a:noFill/>
          <a:ln w="38100" cap="flat" cmpd="sng">
            <a:solidFill>
              <a:srgbClr val="595959"/>
            </a:solidFill>
            <a:prstDash val="dash"/>
            <a:round/>
            <a:headEnd type="none" w="med" len="med"/>
            <a:tailEnd type="none" w="med" len="med"/>
          </a:ln>
        </p:spPr>
      </p:cxnSp>
      <p:sp>
        <p:nvSpPr>
          <p:cNvPr id="71" name="Google Shape;71;p13"/>
          <p:cNvSpPr/>
          <p:nvPr/>
        </p:nvSpPr>
        <p:spPr>
          <a:xfrm>
            <a:off x="6210300" y="4003650"/>
            <a:ext cx="14478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Task L</a:t>
            </a:r>
            <a:endParaRPr sz="1200"/>
          </a:p>
        </p:txBody>
      </p:sp>
      <p:sp>
        <p:nvSpPr>
          <p:cNvPr id="72" name="Google Shape;72;p13"/>
          <p:cNvSpPr/>
          <p:nvPr/>
        </p:nvSpPr>
        <p:spPr>
          <a:xfrm>
            <a:off x="4345294" y="2632050"/>
            <a:ext cx="1104900" cy="342900"/>
          </a:xfrm>
          <a:prstGeom prst="rect">
            <a:avLst/>
          </a:prstGeom>
          <a:solidFill>
            <a:srgbClr val="F4CC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dirty="0"/>
              <a:t>Critical Section</a:t>
            </a:r>
            <a:endParaRPr sz="1200" dirty="0"/>
          </a:p>
        </p:txBody>
      </p:sp>
      <p:sp>
        <p:nvSpPr>
          <p:cNvPr id="73" name="Google Shape;73;p13"/>
          <p:cNvSpPr/>
          <p:nvPr/>
        </p:nvSpPr>
        <p:spPr>
          <a:xfrm>
            <a:off x="5452100" y="2632050"/>
            <a:ext cx="762000" cy="34290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dirty="0">
                <a:solidFill>
                  <a:srgbClr val="000000"/>
                </a:solidFill>
              </a:rPr>
              <a:t>Task </a:t>
            </a:r>
            <a:r>
              <a:rPr lang="en" sz="1200" dirty="0"/>
              <a:t>H</a:t>
            </a:r>
            <a:endParaRPr sz="1200" dirty="0">
              <a:solidFill>
                <a:srgbClr val="000000"/>
              </a:solidFill>
            </a:endParaRPr>
          </a:p>
        </p:txBody>
      </p:sp>
      <p:sp>
        <p:nvSpPr>
          <p:cNvPr id="74" name="Google Shape;74;p13"/>
          <p:cNvSpPr txBox="1"/>
          <p:nvPr/>
        </p:nvSpPr>
        <p:spPr>
          <a:xfrm>
            <a:off x="1663875" y="3013050"/>
            <a:ext cx="863250" cy="461651"/>
          </a:xfrm>
          <a:prstGeom prst="rect">
            <a:avLst/>
          </a:prstGeom>
          <a:noFill/>
          <a:ln>
            <a:noFill/>
          </a:ln>
        </p:spPr>
        <p:txBody>
          <a:bodyPr spcFirstLastPara="1" wrap="square" lIns="45713" tIns="45713" rIns="45713" bIns="45713" anchor="t" anchorCtr="0">
            <a:spAutoFit/>
          </a:bodyPr>
          <a:lstStyle/>
          <a:p>
            <a:pPr algn="ctr"/>
            <a:r>
              <a:rPr lang="en" sz="1200"/>
              <a:t>Task L takes lock</a:t>
            </a:r>
            <a:endParaRPr sz="1200"/>
          </a:p>
        </p:txBody>
      </p:sp>
      <p:cxnSp>
        <p:nvCxnSpPr>
          <p:cNvPr id="75" name="Google Shape;75;p13"/>
          <p:cNvCxnSpPr>
            <a:stCxn id="74" idx="2"/>
          </p:cNvCxnSpPr>
          <p:nvPr/>
        </p:nvCxnSpPr>
        <p:spPr>
          <a:xfrm>
            <a:off x="2095500" y="3474701"/>
            <a:ext cx="304500" cy="521149"/>
          </a:xfrm>
          <a:prstGeom prst="straightConnector1">
            <a:avLst/>
          </a:prstGeom>
          <a:noFill/>
          <a:ln w="38100" cap="flat" cmpd="sng">
            <a:solidFill>
              <a:schemeClr val="dk2"/>
            </a:solidFill>
            <a:prstDash val="solid"/>
            <a:round/>
            <a:headEnd type="none" w="med" len="med"/>
            <a:tailEnd type="triangle" w="med" len="med"/>
          </a:ln>
        </p:spPr>
      </p:cxnSp>
      <p:sp>
        <p:nvSpPr>
          <p:cNvPr id="76" name="Google Shape;76;p13"/>
          <p:cNvSpPr txBox="1"/>
          <p:nvPr/>
        </p:nvSpPr>
        <p:spPr>
          <a:xfrm>
            <a:off x="2249325" y="1555563"/>
            <a:ext cx="1368750" cy="461651"/>
          </a:xfrm>
          <a:prstGeom prst="rect">
            <a:avLst/>
          </a:prstGeom>
          <a:noFill/>
          <a:ln>
            <a:noFill/>
          </a:ln>
        </p:spPr>
        <p:txBody>
          <a:bodyPr spcFirstLastPara="1" wrap="square" lIns="45713" tIns="45713" rIns="45713" bIns="45713" anchor="t" anchorCtr="0">
            <a:spAutoFit/>
          </a:bodyPr>
          <a:lstStyle/>
          <a:p>
            <a:pPr algn="ctr"/>
            <a:r>
              <a:rPr lang="en" sz="1200"/>
              <a:t>Task H is blocked trying to take lock</a:t>
            </a:r>
            <a:endParaRPr sz="1200"/>
          </a:p>
        </p:txBody>
      </p:sp>
      <p:cxnSp>
        <p:nvCxnSpPr>
          <p:cNvPr id="77" name="Google Shape;77;p13"/>
          <p:cNvCxnSpPr>
            <a:stCxn id="76" idx="2"/>
          </p:cNvCxnSpPr>
          <p:nvPr/>
        </p:nvCxnSpPr>
        <p:spPr>
          <a:xfrm>
            <a:off x="2933700" y="2017214"/>
            <a:ext cx="298950" cy="610699"/>
          </a:xfrm>
          <a:prstGeom prst="straightConnector1">
            <a:avLst/>
          </a:prstGeom>
          <a:noFill/>
          <a:ln w="38100" cap="flat" cmpd="sng">
            <a:solidFill>
              <a:schemeClr val="dk2"/>
            </a:solidFill>
            <a:prstDash val="solid"/>
            <a:round/>
            <a:headEnd type="none" w="med" len="med"/>
            <a:tailEnd type="triangle" w="med" len="med"/>
          </a:ln>
        </p:spPr>
      </p:cxnSp>
      <p:sp>
        <p:nvSpPr>
          <p:cNvPr id="78" name="Google Shape;78;p13"/>
          <p:cNvSpPr txBox="1"/>
          <p:nvPr/>
        </p:nvSpPr>
        <p:spPr>
          <a:xfrm>
            <a:off x="3289275" y="2920463"/>
            <a:ext cx="1003350" cy="461651"/>
          </a:xfrm>
          <a:prstGeom prst="rect">
            <a:avLst/>
          </a:prstGeom>
          <a:noFill/>
          <a:ln>
            <a:noFill/>
          </a:ln>
        </p:spPr>
        <p:txBody>
          <a:bodyPr spcFirstLastPara="1" wrap="square" lIns="45713" tIns="45713" rIns="45713" bIns="45713" anchor="t" anchorCtr="0">
            <a:spAutoFit/>
          </a:bodyPr>
          <a:lstStyle/>
          <a:p>
            <a:pPr algn="ctr"/>
            <a:r>
              <a:rPr lang="en" sz="1200"/>
              <a:t>Task L releases lock</a:t>
            </a:r>
            <a:endParaRPr sz="1200"/>
          </a:p>
        </p:txBody>
      </p:sp>
      <p:cxnSp>
        <p:nvCxnSpPr>
          <p:cNvPr id="79" name="Google Shape;79;p13"/>
          <p:cNvCxnSpPr/>
          <p:nvPr/>
        </p:nvCxnSpPr>
        <p:spPr>
          <a:xfrm>
            <a:off x="3967188" y="3380813"/>
            <a:ext cx="365550" cy="612000"/>
          </a:xfrm>
          <a:prstGeom prst="straightConnector1">
            <a:avLst/>
          </a:prstGeom>
          <a:noFill/>
          <a:ln w="38100" cap="flat" cmpd="sng">
            <a:solidFill>
              <a:schemeClr val="dk2"/>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10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fade">
                                      <p:cBhvr>
                                        <p:cTn id="12" dur="1000"/>
                                        <p:tgtEl>
                                          <p:spTgt spid="74"/>
                                        </p:tgtEl>
                                      </p:cBhvr>
                                    </p:animEffect>
                                  </p:childTnLst>
                                </p:cTn>
                              </p:par>
                              <p:par>
                                <p:cTn id="13" presetID="10" presetClass="entr" presetSubtype="0" fill="hold" nodeType="withEffect">
                                  <p:stCondLst>
                                    <p:cond delay="0"/>
                                  </p:stCondLst>
                                  <p:childTnLst>
                                    <p:set>
                                      <p:cBhvr>
                                        <p:cTn id="14" dur="1" fill="hold">
                                          <p:stCondLst>
                                            <p:cond delay="0"/>
                                          </p:stCondLst>
                                        </p:cTn>
                                        <p:tgtEl>
                                          <p:spTgt spid="75"/>
                                        </p:tgtEl>
                                        <p:attrNameLst>
                                          <p:attrName>style.visibility</p:attrName>
                                        </p:attrNameLst>
                                      </p:cBhvr>
                                      <p:to>
                                        <p:strVal val="visible"/>
                                      </p:to>
                                    </p:set>
                                    <p:animEffect transition="in" filter="fade">
                                      <p:cBhvr>
                                        <p:cTn id="15" dur="1000"/>
                                        <p:tgtEl>
                                          <p:spTgt spid="75"/>
                                        </p:tgtEl>
                                      </p:cBhvr>
                                    </p:animEffect>
                                  </p:childTnLst>
                                </p:cTn>
                              </p:par>
                              <p:par>
                                <p:cTn id="16" presetID="10" presetClass="entr" presetSubtype="0" fill="hold" nodeType="withEffect">
                                  <p:stCondLst>
                                    <p:cond delay="0"/>
                                  </p:stCondLst>
                                  <p:childTnLst>
                                    <p:set>
                                      <p:cBhvr>
                                        <p:cTn id="17" dur="1" fill="hold">
                                          <p:stCondLst>
                                            <p:cond delay="0"/>
                                          </p:stCondLst>
                                        </p:cTn>
                                        <p:tgtEl>
                                          <p:spTgt spid="65"/>
                                        </p:tgtEl>
                                        <p:attrNameLst>
                                          <p:attrName>style.visibility</p:attrName>
                                        </p:attrNameLst>
                                      </p:cBhvr>
                                      <p:to>
                                        <p:strVal val="visible"/>
                                      </p:to>
                                    </p:set>
                                    <p:animEffect transition="in" filter="fade">
                                      <p:cBhvr>
                                        <p:cTn id="18" dur="1000"/>
                                        <p:tgtEl>
                                          <p:spTgt spid="6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5"/>
                                        </p:tgtEl>
                                        <p:attrNameLst>
                                          <p:attrName>style.visibility</p:attrName>
                                        </p:attrNameLst>
                                      </p:cBhvr>
                                      <p:to>
                                        <p:strVal val="visible"/>
                                      </p:to>
                                    </p:set>
                                    <p:animEffect transition="in" filter="fade">
                                      <p:cBhvr>
                                        <p:cTn id="23" dur="1000"/>
                                        <p:tgtEl>
                                          <p:spTgt spid="55"/>
                                        </p:tgtEl>
                                      </p:cBhvr>
                                    </p:animEffect>
                                  </p:childTnLst>
                                </p:cTn>
                              </p:par>
                              <p:par>
                                <p:cTn id="24" presetID="10" presetClass="entr" presetSubtype="0" fill="hold" nodeType="withEffect">
                                  <p:stCondLst>
                                    <p:cond delay="0"/>
                                  </p:stCondLst>
                                  <p:childTnLst>
                                    <p:set>
                                      <p:cBhvr>
                                        <p:cTn id="25" dur="1" fill="hold">
                                          <p:stCondLst>
                                            <p:cond delay="0"/>
                                          </p:stCondLst>
                                        </p:cTn>
                                        <p:tgtEl>
                                          <p:spTgt spid="61"/>
                                        </p:tgtEl>
                                        <p:attrNameLst>
                                          <p:attrName>style.visibility</p:attrName>
                                        </p:attrNameLst>
                                      </p:cBhvr>
                                      <p:to>
                                        <p:strVal val="visible"/>
                                      </p:to>
                                    </p:set>
                                    <p:animEffect transition="in" filter="fade">
                                      <p:cBhvr>
                                        <p:cTn id="26" dur="1000"/>
                                        <p:tgtEl>
                                          <p:spTgt spid="6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76"/>
                                        </p:tgtEl>
                                        <p:attrNameLst>
                                          <p:attrName>style.visibility</p:attrName>
                                        </p:attrNameLst>
                                      </p:cBhvr>
                                      <p:to>
                                        <p:strVal val="visible"/>
                                      </p:to>
                                    </p:set>
                                    <p:animEffect transition="in" filter="fade">
                                      <p:cBhvr>
                                        <p:cTn id="31" dur="1000"/>
                                        <p:tgtEl>
                                          <p:spTgt spid="76"/>
                                        </p:tgtEl>
                                      </p:cBhvr>
                                    </p:animEffect>
                                  </p:childTnLst>
                                </p:cTn>
                              </p:par>
                              <p:par>
                                <p:cTn id="32" presetID="10" presetClass="entr" presetSubtype="0" fill="hold" nodeType="withEffect">
                                  <p:stCondLst>
                                    <p:cond delay="0"/>
                                  </p:stCondLst>
                                  <p:childTnLst>
                                    <p:set>
                                      <p:cBhvr>
                                        <p:cTn id="33" dur="1" fill="hold">
                                          <p:stCondLst>
                                            <p:cond delay="0"/>
                                          </p:stCondLst>
                                        </p:cTn>
                                        <p:tgtEl>
                                          <p:spTgt spid="77"/>
                                        </p:tgtEl>
                                        <p:attrNameLst>
                                          <p:attrName>style.visibility</p:attrName>
                                        </p:attrNameLst>
                                      </p:cBhvr>
                                      <p:to>
                                        <p:strVal val="visible"/>
                                      </p:to>
                                    </p:set>
                                    <p:animEffect transition="in" filter="fade">
                                      <p:cBhvr>
                                        <p:cTn id="34" dur="1000"/>
                                        <p:tgtEl>
                                          <p:spTgt spid="77"/>
                                        </p:tgtEl>
                                      </p:cBhvr>
                                    </p:animEffect>
                                  </p:childTnLst>
                                </p:cTn>
                              </p:par>
                              <p:par>
                                <p:cTn id="35" presetID="10" presetClass="entr" presetSubtype="0" fill="hold" nodeType="withEffect">
                                  <p:stCondLst>
                                    <p:cond delay="0"/>
                                  </p:stCondLst>
                                  <p:childTnLst>
                                    <p:set>
                                      <p:cBhvr>
                                        <p:cTn id="36" dur="1" fill="hold">
                                          <p:stCondLst>
                                            <p:cond delay="0"/>
                                          </p:stCondLst>
                                        </p:cTn>
                                        <p:tgtEl>
                                          <p:spTgt spid="67"/>
                                        </p:tgtEl>
                                        <p:attrNameLst>
                                          <p:attrName>style.visibility</p:attrName>
                                        </p:attrNameLst>
                                      </p:cBhvr>
                                      <p:to>
                                        <p:strVal val="visible"/>
                                      </p:to>
                                    </p:set>
                                    <p:animEffect transition="in" filter="fade">
                                      <p:cBhvr>
                                        <p:cTn id="37" dur="1000"/>
                                        <p:tgtEl>
                                          <p:spTgt spid="6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8"/>
                                        </p:tgtEl>
                                        <p:attrNameLst>
                                          <p:attrName>style.visibility</p:attrName>
                                        </p:attrNameLst>
                                      </p:cBhvr>
                                      <p:to>
                                        <p:strVal val="visible"/>
                                      </p:to>
                                    </p:set>
                                    <p:animEffect transition="in" filter="fade">
                                      <p:cBhvr>
                                        <p:cTn id="42" dur="1000"/>
                                        <p:tgtEl>
                                          <p:spTgt spid="6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8"/>
                                        </p:tgtEl>
                                        <p:attrNameLst>
                                          <p:attrName>style.visibility</p:attrName>
                                        </p:attrNameLst>
                                      </p:cBhvr>
                                      <p:to>
                                        <p:strVal val="visible"/>
                                      </p:to>
                                    </p:set>
                                    <p:animEffect transition="in" filter="fade">
                                      <p:cBhvr>
                                        <p:cTn id="47" dur="1000"/>
                                        <p:tgtEl>
                                          <p:spTgt spid="78"/>
                                        </p:tgtEl>
                                      </p:cBhvr>
                                    </p:animEffect>
                                  </p:childTnLst>
                                </p:cTn>
                              </p:par>
                              <p:par>
                                <p:cTn id="48" presetID="10" presetClass="entr" presetSubtype="0" fill="hold" nodeType="withEffect">
                                  <p:stCondLst>
                                    <p:cond delay="0"/>
                                  </p:stCondLst>
                                  <p:childTnLst>
                                    <p:set>
                                      <p:cBhvr>
                                        <p:cTn id="49" dur="1" fill="hold">
                                          <p:stCondLst>
                                            <p:cond delay="0"/>
                                          </p:stCondLst>
                                        </p:cTn>
                                        <p:tgtEl>
                                          <p:spTgt spid="79"/>
                                        </p:tgtEl>
                                        <p:attrNameLst>
                                          <p:attrName>style.visibility</p:attrName>
                                        </p:attrNameLst>
                                      </p:cBhvr>
                                      <p:to>
                                        <p:strVal val="visible"/>
                                      </p:to>
                                    </p:set>
                                    <p:animEffect transition="in" filter="fade">
                                      <p:cBhvr>
                                        <p:cTn id="50" dur="1000"/>
                                        <p:tgtEl>
                                          <p:spTgt spid="7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69"/>
                                        </p:tgtEl>
                                        <p:attrNameLst>
                                          <p:attrName>style.visibility</p:attrName>
                                        </p:attrNameLst>
                                      </p:cBhvr>
                                      <p:to>
                                        <p:strVal val="visible"/>
                                      </p:to>
                                    </p:set>
                                    <p:animEffect transition="in" filter="fade">
                                      <p:cBhvr>
                                        <p:cTn id="55" dur="1000"/>
                                        <p:tgtEl>
                                          <p:spTgt spid="69"/>
                                        </p:tgtEl>
                                      </p:cBhvr>
                                    </p:animEffect>
                                  </p:childTnLst>
                                </p:cTn>
                              </p:par>
                              <p:par>
                                <p:cTn id="56" presetID="10" presetClass="entr" presetSubtype="0" fill="hold" nodeType="withEffect">
                                  <p:stCondLst>
                                    <p:cond delay="0"/>
                                  </p:stCondLst>
                                  <p:childTnLst>
                                    <p:set>
                                      <p:cBhvr>
                                        <p:cTn id="57" dur="1" fill="hold">
                                          <p:stCondLst>
                                            <p:cond delay="0"/>
                                          </p:stCondLst>
                                        </p:cTn>
                                        <p:tgtEl>
                                          <p:spTgt spid="72"/>
                                        </p:tgtEl>
                                        <p:attrNameLst>
                                          <p:attrName>style.visibility</p:attrName>
                                        </p:attrNameLst>
                                      </p:cBhvr>
                                      <p:to>
                                        <p:strVal val="visible"/>
                                      </p:to>
                                    </p:set>
                                    <p:animEffect transition="in" filter="fade">
                                      <p:cBhvr>
                                        <p:cTn id="58" dur="1000"/>
                                        <p:tgtEl>
                                          <p:spTgt spid="72"/>
                                        </p:tgtEl>
                                      </p:cBhvr>
                                    </p:animEffect>
                                  </p:childTnLst>
                                </p:cTn>
                              </p:par>
                              <p:par>
                                <p:cTn id="59" presetID="10" presetClass="entr" presetSubtype="0" fill="hold" nodeType="withEffect">
                                  <p:stCondLst>
                                    <p:cond delay="0"/>
                                  </p:stCondLst>
                                  <p:childTnLst>
                                    <p:set>
                                      <p:cBhvr>
                                        <p:cTn id="60" dur="1" fill="hold">
                                          <p:stCondLst>
                                            <p:cond delay="0"/>
                                          </p:stCondLst>
                                        </p:cTn>
                                        <p:tgtEl>
                                          <p:spTgt spid="73"/>
                                        </p:tgtEl>
                                        <p:attrNameLst>
                                          <p:attrName>style.visibility</p:attrName>
                                        </p:attrNameLst>
                                      </p:cBhvr>
                                      <p:to>
                                        <p:strVal val="visible"/>
                                      </p:to>
                                    </p:set>
                                    <p:animEffect transition="in" filter="fade">
                                      <p:cBhvr>
                                        <p:cTn id="61" dur="1000"/>
                                        <p:tgtEl>
                                          <p:spTgt spid="7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70"/>
                                        </p:tgtEl>
                                        <p:attrNameLst>
                                          <p:attrName>style.visibility</p:attrName>
                                        </p:attrNameLst>
                                      </p:cBhvr>
                                      <p:to>
                                        <p:strVal val="visible"/>
                                      </p:to>
                                    </p:set>
                                    <p:animEffect transition="in" filter="fade">
                                      <p:cBhvr>
                                        <p:cTn id="66" dur="1000"/>
                                        <p:tgtEl>
                                          <p:spTgt spid="70"/>
                                        </p:tgtEl>
                                      </p:cBhvr>
                                    </p:animEffect>
                                  </p:childTnLst>
                                </p:cTn>
                              </p:par>
                              <p:par>
                                <p:cTn id="67" presetID="10" presetClass="entr" presetSubtype="0" fill="hold" nodeType="withEffect">
                                  <p:stCondLst>
                                    <p:cond delay="0"/>
                                  </p:stCondLst>
                                  <p:childTnLst>
                                    <p:set>
                                      <p:cBhvr>
                                        <p:cTn id="68" dur="1" fill="hold">
                                          <p:stCondLst>
                                            <p:cond delay="0"/>
                                          </p:stCondLst>
                                        </p:cTn>
                                        <p:tgtEl>
                                          <p:spTgt spid="71"/>
                                        </p:tgtEl>
                                        <p:attrNameLst>
                                          <p:attrName>style.visibility</p:attrName>
                                        </p:attrNameLst>
                                      </p:cBhvr>
                                      <p:to>
                                        <p:strVal val="visible"/>
                                      </p:to>
                                    </p:set>
                                    <p:animEffect transition="in" filter="fade">
                                      <p:cBhvr>
                                        <p:cTn id="69" dur="10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4"/>
          <p:cNvSpPr/>
          <p:nvPr/>
        </p:nvSpPr>
        <p:spPr>
          <a:xfrm>
            <a:off x="591569" y="2001725"/>
            <a:ext cx="1217550" cy="515400"/>
          </a:xfrm>
          <a:prstGeom prst="rect">
            <a:avLst/>
          </a:prstGeom>
          <a:solidFill>
            <a:srgbClr val="D9EAD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A</a:t>
            </a:r>
            <a:endParaRPr sz="1500"/>
          </a:p>
        </p:txBody>
      </p:sp>
      <p:sp>
        <p:nvSpPr>
          <p:cNvPr id="85" name="Google Shape;85;p14"/>
          <p:cNvSpPr/>
          <p:nvPr/>
        </p:nvSpPr>
        <p:spPr>
          <a:xfrm>
            <a:off x="591569" y="4340888"/>
            <a:ext cx="1217550" cy="51540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Task B</a:t>
            </a:r>
            <a:endParaRPr sz="1500"/>
          </a:p>
        </p:txBody>
      </p:sp>
      <p:sp>
        <p:nvSpPr>
          <p:cNvPr id="86" name="Google Shape;86;p14"/>
          <p:cNvSpPr/>
          <p:nvPr/>
        </p:nvSpPr>
        <p:spPr>
          <a:xfrm rot="-5400000">
            <a:off x="3891007" y="2578007"/>
            <a:ext cx="60000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87" name="Google Shape;87;p14"/>
          <p:cNvSpPr txBox="1"/>
          <p:nvPr/>
        </p:nvSpPr>
        <p:spPr>
          <a:xfrm>
            <a:off x="3024307" y="2133394"/>
            <a:ext cx="1040400" cy="323250"/>
          </a:xfrm>
          <a:prstGeom prst="rect">
            <a:avLst/>
          </a:prstGeom>
          <a:noFill/>
          <a:ln>
            <a:noFill/>
          </a:ln>
        </p:spPr>
        <p:txBody>
          <a:bodyPr spcFirstLastPara="1" wrap="square" lIns="45713" tIns="45713" rIns="45713" bIns="45713" anchor="ctr" anchorCtr="0">
            <a:noAutofit/>
          </a:bodyPr>
          <a:lstStyle/>
          <a:p>
            <a:pPr algn="ctr"/>
            <a:r>
              <a:rPr lang="en" sz="1500"/>
              <a:t>Queue 1</a:t>
            </a:r>
            <a:endParaRPr sz="1500"/>
          </a:p>
        </p:txBody>
      </p:sp>
      <p:sp>
        <p:nvSpPr>
          <p:cNvPr id="88" name="Google Shape;88;p14"/>
          <p:cNvSpPr/>
          <p:nvPr/>
        </p:nvSpPr>
        <p:spPr>
          <a:xfrm rot="-5400000">
            <a:off x="3567757" y="2578007"/>
            <a:ext cx="60000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89" name="Google Shape;89;p14"/>
          <p:cNvSpPr/>
          <p:nvPr/>
        </p:nvSpPr>
        <p:spPr>
          <a:xfrm rot="-5400000">
            <a:off x="3244507" y="2578007"/>
            <a:ext cx="60000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90" name="Google Shape;90;p14"/>
          <p:cNvSpPr/>
          <p:nvPr/>
        </p:nvSpPr>
        <p:spPr>
          <a:xfrm rot="-5400000">
            <a:off x="2921257" y="2578007"/>
            <a:ext cx="60000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91" name="Google Shape;91;p14"/>
          <p:cNvSpPr/>
          <p:nvPr/>
        </p:nvSpPr>
        <p:spPr>
          <a:xfrm rot="-5400000">
            <a:off x="2598007" y="2578007"/>
            <a:ext cx="60000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92" name="Google Shape;92;p14"/>
          <p:cNvSpPr/>
          <p:nvPr/>
        </p:nvSpPr>
        <p:spPr>
          <a:xfrm>
            <a:off x="5322382" y="3171300"/>
            <a:ext cx="1217550" cy="515400"/>
          </a:xfrm>
          <a:prstGeom prst="rect">
            <a:avLst/>
          </a:prstGeom>
          <a:solidFill>
            <a:srgbClr val="D9D2E9"/>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500"/>
              <a:t>Service</a:t>
            </a:r>
            <a:endParaRPr sz="1500"/>
          </a:p>
          <a:p>
            <a:pPr algn="ctr"/>
            <a:r>
              <a:rPr lang="en" sz="1500"/>
              <a:t>Task</a:t>
            </a:r>
            <a:endParaRPr sz="1500"/>
          </a:p>
        </p:txBody>
      </p:sp>
      <p:sp>
        <p:nvSpPr>
          <p:cNvPr id="93" name="Google Shape;93;p14"/>
          <p:cNvSpPr/>
          <p:nvPr/>
        </p:nvSpPr>
        <p:spPr>
          <a:xfrm rot="-5400000">
            <a:off x="3891007" y="4262982"/>
            <a:ext cx="60000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94" name="Google Shape;94;p14"/>
          <p:cNvSpPr txBox="1"/>
          <p:nvPr/>
        </p:nvSpPr>
        <p:spPr>
          <a:xfrm>
            <a:off x="3024307" y="3818369"/>
            <a:ext cx="1040400" cy="323250"/>
          </a:xfrm>
          <a:prstGeom prst="rect">
            <a:avLst/>
          </a:prstGeom>
          <a:noFill/>
          <a:ln>
            <a:noFill/>
          </a:ln>
        </p:spPr>
        <p:txBody>
          <a:bodyPr spcFirstLastPara="1" wrap="square" lIns="45713" tIns="45713" rIns="45713" bIns="45713" anchor="ctr" anchorCtr="0">
            <a:noAutofit/>
          </a:bodyPr>
          <a:lstStyle/>
          <a:p>
            <a:pPr algn="ctr"/>
            <a:r>
              <a:rPr lang="en" sz="1500"/>
              <a:t>Queue 2</a:t>
            </a:r>
            <a:endParaRPr sz="1500"/>
          </a:p>
        </p:txBody>
      </p:sp>
      <p:sp>
        <p:nvSpPr>
          <p:cNvPr id="95" name="Google Shape;95;p14"/>
          <p:cNvSpPr/>
          <p:nvPr/>
        </p:nvSpPr>
        <p:spPr>
          <a:xfrm rot="-5400000">
            <a:off x="3567757" y="4262982"/>
            <a:ext cx="60000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96" name="Google Shape;96;p14"/>
          <p:cNvSpPr/>
          <p:nvPr/>
        </p:nvSpPr>
        <p:spPr>
          <a:xfrm rot="-5400000">
            <a:off x="3244507" y="4262982"/>
            <a:ext cx="60000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97" name="Google Shape;97;p14"/>
          <p:cNvSpPr/>
          <p:nvPr/>
        </p:nvSpPr>
        <p:spPr>
          <a:xfrm rot="-5400000">
            <a:off x="2921257" y="4262982"/>
            <a:ext cx="60000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sp>
        <p:nvSpPr>
          <p:cNvPr id="98" name="Google Shape;98;p14"/>
          <p:cNvSpPr/>
          <p:nvPr/>
        </p:nvSpPr>
        <p:spPr>
          <a:xfrm rot="-5400000">
            <a:off x="2598007" y="4262982"/>
            <a:ext cx="600000" cy="323250"/>
          </a:xfrm>
          <a:prstGeom prst="rect">
            <a:avLst/>
          </a:prstGeom>
          <a:solidFill>
            <a:srgbClr val="EFEFEF"/>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500"/>
          </a:p>
        </p:txBody>
      </p:sp>
      <p:cxnSp>
        <p:nvCxnSpPr>
          <p:cNvPr id="99" name="Google Shape;99;p14"/>
          <p:cNvCxnSpPr/>
          <p:nvPr/>
        </p:nvCxnSpPr>
        <p:spPr>
          <a:xfrm>
            <a:off x="1809119" y="2145125"/>
            <a:ext cx="927300" cy="480150"/>
          </a:xfrm>
          <a:prstGeom prst="straightConnector1">
            <a:avLst/>
          </a:prstGeom>
          <a:noFill/>
          <a:ln w="38100" cap="flat" cmpd="sng">
            <a:solidFill>
              <a:schemeClr val="dk2"/>
            </a:solidFill>
            <a:prstDash val="solid"/>
            <a:round/>
            <a:headEnd type="none" w="med" len="med"/>
            <a:tailEnd type="triangle" w="med" len="med"/>
          </a:ln>
        </p:spPr>
      </p:cxnSp>
      <p:cxnSp>
        <p:nvCxnSpPr>
          <p:cNvPr id="100" name="Google Shape;100;p14"/>
          <p:cNvCxnSpPr/>
          <p:nvPr/>
        </p:nvCxnSpPr>
        <p:spPr>
          <a:xfrm>
            <a:off x="4359844" y="2862388"/>
            <a:ext cx="962550" cy="490350"/>
          </a:xfrm>
          <a:prstGeom prst="straightConnector1">
            <a:avLst/>
          </a:prstGeom>
          <a:noFill/>
          <a:ln w="38100" cap="flat" cmpd="sng">
            <a:solidFill>
              <a:schemeClr val="dk2"/>
            </a:solidFill>
            <a:prstDash val="solid"/>
            <a:round/>
            <a:headEnd type="none" w="med" len="med"/>
            <a:tailEnd type="triangle" w="med" len="med"/>
          </a:ln>
        </p:spPr>
      </p:cxnSp>
      <p:cxnSp>
        <p:nvCxnSpPr>
          <p:cNvPr id="101" name="Google Shape;101;p14"/>
          <p:cNvCxnSpPr/>
          <p:nvPr/>
        </p:nvCxnSpPr>
        <p:spPr>
          <a:xfrm rot="10800000" flipH="1">
            <a:off x="1809119" y="2897138"/>
            <a:ext cx="930900" cy="1587150"/>
          </a:xfrm>
          <a:prstGeom prst="straightConnector1">
            <a:avLst/>
          </a:prstGeom>
          <a:noFill/>
          <a:ln w="38100" cap="flat" cmpd="sng">
            <a:solidFill>
              <a:schemeClr val="dk2"/>
            </a:solidFill>
            <a:prstDash val="solid"/>
            <a:round/>
            <a:headEnd type="none" w="med" len="med"/>
            <a:tailEnd type="triangle" w="med" len="med"/>
          </a:ln>
        </p:spPr>
      </p:cxnSp>
      <p:cxnSp>
        <p:nvCxnSpPr>
          <p:cNvPr id="102" name="Google Shape;102;p14"/>
          <p:cNvCxnSpPr/>
          <p:nvPr/>
        </p:nvCxnSpPr>
        <p:spPr>
          <a:xfrm flipH="1">
            <a:off x="4364782" y="3505200"/>
            <a:ext cx="957600" cy="808500"/>
          </a:xfrm>
          <a:prstGeom prst="straightConnector1">
            <a:avLst/>
          </a:prstGeom>
          <a:noFill/>
          <a:ln w="38100" cap="flat" cmpd="sng">
            <a:solidFill>
              <a:schemeClr val="dk2"/>
            </a:solidFill>
            <a:prstDash val="solid"/>
            <a:round/>
            <a:headEnd type="none" w="med" len="med"/>
            <a:tailEnd type="triangle" w="med" len="med"/>
          </a:ln>
        </p:spPr>
      </p:cxnSp>
      <p:cxnSp>
        <p:nvCxnSpPr>
          <p:cNvPr id="103" name="Google Shape;103;p14"/>
          <p:cNvCxnSpPr/>
          <p:nvPr/>
        </p:nvCxnSpPr>
        <p:spPr>
          <a:xfrm flipH="1">
            <a:off x="1809082" y="4538907"/>
            <a:ext cx="927300" cy="174000"/>
          </a:xfrm>
          <a:prstGeom prst="straightConnector1">
            <a:avLst/>
          </a:prstGeom>
          <a:noFill/>
          <a:ln w="38100" cap="flat" cmpd="sng">
            <a:solidFill>
              <a:schemeClr val="dk2"/>
            </a:solidFill>
            <a:prstDash val="solid"/>
            <a:round/>
            <a:headEnd type="none" w="med" len="med"/>
            <a:tailEnd type="triangle" w="med" len="med"/>
          </a:ln>
        </p:spPr>
      </p:cxnSp>
      <p:cxnSp>
        <p:nvCxnSpPr>
          <p:cNvPr id="104" name="Google Shape;104;p14"/>
          <p:cNvCxnSpPr/>
          <p:nvPr/>
        </p:nvCxnSpPr>
        <p:spPr>
          <a:xfrm>
            <a:off x="1818732" y="2446300"/>
            <a:ext cx="921300" cy="1885650"/>
          </a:xfrm>
          <a:prstGeom prst="straightConnector1">
            <a:avLst/>
          </a:prstGeom>
          <a:noFill/>
          <a:ln w="38100" cap="flat" cmpd="sng">
            <a:solidFill>
              <a:schemeClr val="dk2"/>
            </a:solidFill>
            <a:prstDash val="solid"/>
            <a:round/>
            <a:headEnd type="triangle" w="med" len="med"/>
            <a:tailEnd type="none" w="med" len="med"/>
          </a:ln>
        </p:spPr>
      </p:cxnSp>
      <p:sp>
        <p:nvSpPr>
          <p:cNvPr id="105" name="Google Shape;105;p14"/>
          <p:cNvSpPr/>
          <p:nvPr/>
        </p:nvSpPr>
        <p:spPr>
          <a:xfrm>
            <a:off x="7284332" y="3129000"/>
            <a:ext cx="1268100" cy="600000"/>
          </a:xfrm>
          <a:prstGeom prst="ellipse">
            <a:avLst/>
          </a:prstGeom>
          <a:solidFill>
            <a:srgbClr val="FFF2CC"/>
          </a:solidFill>
          <a:ln w="38100" cap="flat" cmpd="sng">
            <a:solidFill>
              <a:schemeClr val="dk2"/>
            </a:solidFill>
            <a:prstDash val="solid"/>
            <a:round/>
            <a:headEnd type="none" w="sm" len="sm"/>
            <a:tailEnd type="none" w="sm" len="sm"/>
          </a:ln>
        </p:spPr>
        <p:txBody>
          <a:bodyPr spcFirstLastPara="1" wrap="square" lIns="45713" tIns="45713" rIns="45713" bIns="45713" anchor="ctr" anchorCtr="0">
            <a:noAutofit/>
          </a:bodyPr>
          <a:lstStyle/>
          <a:p>
            <a:pPr algn="ctr"/>
            <a:r>
              <a:rPr lang="en" sz="1500"/>
              <a:t>Serial Port</a:t>
            </a:r>
            <a:endParaRPr sz="1500"/>
          </a:p>
        </p:txBody>
      </p:sp>
      <p:cxnSp>
        <p:nvCxnSpPr>
          <p:cNvPr id="106" name="Google Shape;106;p14"/>
          <p:cNvCxnSpPr>
            <a:stCxn id="92" idx="3"/>
            <a:endCxn id="105" idx="2"/>
          </p:cNvCxnSpPr>
          <p:nvPr/>
        </p:nvCxnSpPr>
        <p:spPr>
          <a:xfrm>
            <a:off x="6539932" y="3429000"/>
            <a:ext cx="744450" cy="0"/>
          </a:xfrm>
          <a:prstGeom prst="straightConnector1">
            <a:avLst/>
          </a:prstGeom>
          <a:noFill/>
          <a:ln w="38100" cap="flat" cmpd="sng">
            <a:solidFill>
              <a:schemeClr val="dk2"/>
            </a:solidFill>
            <a:prstDash val="solid"/>
            <a:round/>
            <a:headEnd type="triangle" w="med" len="med"/>
            <a:tailEnd type="triangle" w="med" len="med"/>
          </a:ln>
        </p:spPr>
      </p:cxnSp>
      <p:sp>
        <p:nvSpPr>
          <p:cNvPr id="107" name="Google Shape;107;p14"/>
          <p:cNvSpPr txBox="1"/>
          <p:nvPr/>
        </p:nvSpPr>
        <p:spPr>
          <a:xfrm>
            <a:off x="2355150" y="857250"/>
            <a:ext cx="4433700" cy="706200"/>
          </a:xfrm>
          <a:prstGeom prst="rect">
            <a:avLst/>
          </a:prstGeom>
          <a:noFill/>
          <a:ln>
            <a:noFill/>
          </a:ln>
        </p:spPr>
        <p:txBody>
          <a:bodyPr spcFirstLastPara="1" wrap="square" lIns="45713" tIns="45713" rIns="45713" bIns="45713" anchor="ctr" anchorCtr="0">
            <a:noAutofit/>
          </a:bodyPr>
          <a:lstStyle/>
          <a:p>
            <a:pPr algn="ctr"/>
            <a:r>
              <a:rPr lang="en" sz="2400"/>
              <a:t>Using a Service Task</a:t>
            </a:r>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fade">
                                      <p:cBhvr>
                                        <p:cTn id="7" dur="1000"/>
                                        <p:tgtEl>
                                          <p:spTgt spid="93"/>
                                        </p:tgtEl>
                                      </p:cBhvr>
                                    </p:animEffect>
                                  </p:childTnLst>
                                </p:cTn>
                              </p:par>
                              <p:par>
                                <p:cTn id="8" presetID="10" presetClass="entr" presetSubtype="0" fill="hold" nodeType="withEffect">
                                  <p:stCondLst>
                                    <p:cond delay="0"/>
                                  </p:stCondLst>
                                  <p:childTnLst>
                                    <p:set>
                                      <p:cBhvr>
                                        <p:cTn id="9" dur="1" fill="hold">
                                          <p:stCondLst>
                                            <p:cond delay="0"/>
                                          </p:stCondLst>
                                        </p:cTn>
                                        <p:tgtEl>
                                          <p:spTgt spid="94"/>
                                        </p:tgtEl>
                                        <p:attrNameLst>
                                          <p:attrName>style.visibility</p:attrName>
                                        </p:attrNameLst>
                                      </p:cBhvr>
                                      <p:to>
                                        <p:strVal val="visible"/>
                                      </p:to>
                                    </p:set>
                                    <p:animEffect transition="in" filter="fade">
                                      <p:cBhvr>
                                        <p:cTn id="10" dur="1000"/>
                                        <p:tgtEl>
                                          <p:spTgt spid="94"/>
                                        </p:tgtEl>
                                      </p:cBhvr>
                                    </p:animEffect>
                                  </p:childTnLst>
                                </p:cTn>
                              </p:par>
                              <p:par>
                                <p:cTn id="11" presetID="10" presetClass="entr" presetSubtype="0" fill="hold" nodeType="withEffect">
                                  <p:stCondLst>
                                    <p:cond delay="0"/>
                                  </p:stCondLst>
                                  <p:childTnLst>
                                    <p:set>
                                      <p:cBhvr>
                                        <p:cTn id="12" dur="1" fill="hold">
                                          <p:stCondLst>
                                            <p:cond delay="0"/>
                                          </p:stCondLst>
                                        </p:cTn>
                                        <p:tgtEl>
                                          <p:spTgt spid="95"/>
                                        </p:tgtEl>
                                        <p:attrNameLst>
                                          <p:attrName>style.visibility</p:attrName>
                                        </p:attrNameLst>
                                      </p:cBhvr>
                                      <p:to>
                                        <p:strVal val="visible"/>
                                      </p:to>
                                    </p:set>
                                    <p:animEffect transition="in" filter="fade">
                                      <p:cBhvr>
                                        <p:cTn id="13" dur="1000"/>
                                        <p:tgtEl>
                                          <p:spTgt spid="95"/>
                                        </p:tgtEl>
                                      </p:cBhvr>
                                    </p:animEffect>
                                  </p:childTnLst>
                                </p:cTn>
                              </p:par>
                              <p:par>
                                <p:cTn id="14" presetID="10" presetClass="entr" presetSubtype="0" fill="hold" nodeType="withEffect">
                                  <p:stCondLst>
                                    <p:cond delay="0"/>
                                  </p:stCondLst>
                                  <p:childTnLst>
                                    <p:set>
                                      <p:cBhvr>
                                        <p:cTn id="15" dur="1" fill="hold">
                                          <p:stCondLst>
                                            <p:cond delay="0"/>
                                          </p:stCondLst>
                                        </p:cTn>
                                        <p:tgtEl>
                                          <p:spTgt spid="96"/>
                                        </p:tgtEl>
                                        <p:attrNameLst>
                                          <p:attrName>style.visibility</p:attrName>
                                        </p:attrNameLst>
                                      </p:cBhvr>
                                      <p:to>
                                        <p:strVal val="visible"/>
                                      </p:to>
                                    </p:set>
                                    <p:animEffect transition="in" filter="fade">
                                      <p:cBhvr>
                                        <p:cTn id="16" dur="1000"/>
                                        <p:tgtEl>
                                          <p:spTgt spid="96"/>
                                        </p:tgtEl>
                                      </p:cBhvr>
                                    </p:animEffect>
                                  </p:childTnLst>
                                </p:cTn>
                              </p:par>
                              <p:par>
                                <p:cTn id="17" presetID="10" presetClass="entr" presetSubtype="0" fill="hold" nodeType="withEffect">
                                  <p:stCondLst>
                                    <p:cond delay="0"/>
                                  </p:stCondLst>
                                  <p:childTnLst>
                                    <p:set>
                                      <p:cBhvr>
                                        <p:cTn id="18" dur="1" fill="hold">
                                          <p:stCondLst>
                                            <p:cond delay="0"/>
                                          </p:stCondLst>
                                        </p:cTn>
                                        <p:tgtEl>
                                          <p:spTgt spid="97"/>
                                        </p:tgtEl>
                                        <p:attrNameLst>
                                          <p:attrName>style.visibility</p:attrName>
                                        </p:attrNameLst>
                                      </p:cBhvr>
                                      <p:to>
                                        <p:strVal val="visible"/>
                                      </p:to>
                                    </p:set>
                                    <p:animEffect transition="in" filter="fade">
                                      <p:cBhvr>
                                        <p:cTn id="19" dur="1000"/>
                                        <p:tgtEl>
                                          <p:spTgt spid="97"/>
                                        </p:tgtEl>
                                      </p:cBhvr>
                                    </p:animEffect>
                                  </p:childTnLst>
                                </p:cTn>
                              </p:par>
                              <p:par>
                                <p:cTn id="20" presetID="10" presetClass="entr" presetSubtype="0" fill="hold" nodeType="withEffect">
                                  <p:stCondLst>
                                    <p:cond delay="0"/>
                                  </p:stCondLst>
                                  <p:childTnLst>
                                    <p:set>
                                      <p:cBhvr>
                                        <p:cTn id="21" dur="1" fill="hold">
                                          <p:stCondLst>
                                            <p:cond delay="0"/>
                                          </p:stCondLst>
                                        </p:cTn>
                                        <p:tgtEl>
                                          <p:spTgt spid="98"/>
                                        </p:tgtEl>
                                        <p:attrNameLst>
                                          <p:attrName>style.visibility</p:attrName>
                                        </p:attrNameLst>
                                      </p:cBhvr>
                                      <p:to>
                                        <p:strVal val="visible"/>
                                      </p:to>
                                    </p:set>
                                    <p:animEffect transition="in" filter="fade">
                                      <p:cBhvr>
                                        <p:cTn id="22" dur="1000"/>
                                        <p:tgtEl>
                                          <p:spTgt spid="98"/>
                                        </p:tgtEl>
                                      </p:cBhvr>
                                    </p:animEffect>
                                  </p:childTnLst>
                                </p:cTn>
                              </p:par>
                              <p:par>
                                <p:cTn id="23" presetID="10" presetClass="entr" presetSubtype="0" fill="hold" nodeType="withEffect">
                                  <p:stCondLst>
                                    <p:cond delay="0"/>
                                  </p:stCondLst>
                                  <p:childTnLst>
                                    <p:set>
                                      <p:cBhvr>
                                        <p:cTn id="24" dur="1" fill="hold">
                                          <p:stCondLst>
                                            <p:cond delay="0"/>
                                          </p:stCondLst>
                                        </p:cTn>
                                        <p:tgtEl>
                                          <p:spTgt spid="102"/>
                                        </p:tgtEl>
                                        <p:attrNameLst>
                                          <p:attrName>style.visibility</p:attrName>
                                        </p:attrNameLst>
                                      </p:cBhvr>
                                      <p:to>
                                        <p:strVal val="visible"/>
                                      </p:to>
                                    </p:set>
                                    <p:animEffect transition="in" filter="fade">
                                      <p:cBhvr>
                                        <p:cTn id="25" dur="1000"/>
                                        <p:tgtEl>
                                          <p:spTgt spid="102"/>
                                        </p:tgtEl>
                                      </p:cBhvr>
                                    </p:animEffect>
                                  </p:childTnLst>
                                </p:cTn>
                              </p:par>
                              <p:par>
                                <p:cTn id="26" presetID="10" presetClass="entr" presetSubtype="0" fill="hold" nodeType="withEffect">
                                  <p:stCondLst>
                                    <p:cond delay="0"/>
                                  </p:stCondLst>
                                  <p:childTnLst>
                                    <p:set>
                                      <p:cBhvr>
                                        <p:cTn id="27" dur="1" fill="hold">
                                          <p:stCondLst>
                                            <p:cond delay="0"/>
                                          </p:stCondLst>
                                        </p:cTn>
                                        <p:tgtEl>
                                          <p:spTgt spid="103"/>
                                        </p:tgtEl>
                                        <p:attrNameLst>
                                          <p:attrName>style.visibility</p:attrName>
                                        </p:attrNameLst>
                                      </p:cBhvr>
                                      <p:to>
                                        <p:strVal val="visible"/>
                                      </p:to>
                                    </p:set>
                                    <p:animEffect transition="in" filter="fade">
                                      <p:cBhvr>
                                        <p:cTn id="28" dur="1000"/>
                                        <p:tgtEl>
                                          <p:spTgt spid="103"/>
                                        </p:tgtEl>
                                      </p:cBhvr>
                                    </p:animEffect>
                                  </p:childTnLst>
                                </p:cTn>
                              </p:par>
                              <p:par>
                                <p:cTn id="29" presetID="10" presetClass="entr" presetSubtype="0" fill="hold" nodeType="withEffect">
                                  <p:stCondLst>
                                    <p:cond delay="0"/>
                                  </p:stCondLst>
                                  <p:childTnLst>
                                    <p:set>
                                      <p:cBhvr>
                                        <p:cTn id="30" dur="1" fill="hold">
                                          <p:stCondLst>
                                            <p:cond delay="0"/>
                                          </p:stCondLst>
                                        </p:cTn>
                                        <p:tgtEl>
                                          <p:spTgt spid="104"/>
                                        </p:tgtEl>
                                        <p:attrNameLst>
                                          <p:attrName>style.visibility</p:attrName>
                                        </p:attrNameLst>
                                      </p:cBhvr>
                                      <p:to>
                                        <p:strVal val="visible"/>
                                      </p:to>
                                    </p:set>
                                    <p:animEffect transition="in" filter="fade">
                                      <p:cBhvr>
                                        <p:cTn id="31" dur="10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cxnSp>
        <p:nvCxnSpPr>
          <p:cNvPr id="112" name="Google Shape;112;p15"/>
          <p:cNvCxnSpPr/>
          <p:nvPr/>
        </p:nvCxnSpPr>
        <p:spPr>
          <a:xfrm>
            <a:off x="1104900" y="5299050"/>
            <a:ext cx="7543800" cy="0"/>
          </a:xfrm>
          <a:prstGeom prst="straightConnector1">
            <a:avLst/>
          </a:prstGeom>
          <a:noFill/>
          <a:ln w="38100" cap="flat" cmpd="sng">
            <a:solidFill>
              <a:srgbClr val="595959"/>
            </a:solidFill>
            <a:prstDash val="solid"/>
            <a:round/>
            <a:headEnd type="none" w="med" len="med"/>
            <a:tailEnd type="triangle" w="med" len="med"/>
          </a:ln>
        </p:spPr>
      </p:cxnSp>
      <p:cxnSp>
        <p:nvCxnSpPr>
          <p:cNvPr id="113" name="Google Shape;113;p15"/>
          <p:cNvCxnSpPr/>
          <p:nvPr/>
        </p:nvCxnSpPr>
        <p:spPr>
          <a:xfrm>
            <a:off x="2628900" y="2076450"/>
            <a:ext cx="0" cy="3527400"/>
          </a:xfrm>
          <a:prstGeom prst="straightConnector1">
            <a:avLst/>
          </a:prstGeom>
          <a:noFill/>
          <a:ln w="38100" cap="flat" cmpd="sng">
            <a:solidFill>
              <a:srgbClr val="595959"/>
            </a:solidFill>
            <a:prstDash val="dash"/>
            <a:round/>
            <a:headEnd type="none" w="med" len="med"/>
            <a:tailEnd type="none" w="med" len="med"/>
          </a:ln>
        </p:spPr>
      </p:cxnSp>
      <p:sp>
        <p:nvSpPr>
          <p:cNvPr id="114" name="Google Shape;114;p15"/>
          <p:cNvSpPr/>
          <p:nvPr/>
        </p:nvSpPr>
        <p:spPr>
          <a:xfrm>
            <a:off x="1181100" y="4003650"/>
            <a:ext cx="12189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Task L</a:t>
            </a:r>
            <a:endParaRPr sz="1200"/>
          </a:p>
        </p:txBody>
      </p:sp>
      <p:sp>
        <p:nvSpPr>
          <p:cNvPr id="115" name="Google Shape;115;p15"/>
          <p:cNvSpPr txBox="1"/>
          <p:nvPr/>
        </p:nvSpPr>
        <p:spPr>
          <a:xfrm>
            <a:off x="8077200" y="5337150"/>
            <a:ext cx="762000" cy="266700"/>
          </a:xfrm>
          <a:prstGeom prst="rect">
            <a:avLst/>
          </a:prstGeom>
          <a:noFill/>
          <a:ln>
            <a:noFill/>
          </a:ln>
        </p:spPr>
        <p:txBody>
          <a:bodyPr spcFirstLastPara="1" wrap="square" lIns="45713" tIns="45713" rIns="45713" bIns="45713" anchor="ctr" anchorCtr="0">
            <a:noAutofit/>
          </a:bodyPr>
          <a:lstStyle/>
          <a:p>
            <a:pPr algn="ctr"/>
            <a:r>
              <a:rPr lang="en" sz="1200"/>
              <a:t>time</a:t>
            </a:r>
            <a:endParaRPr sz="1200"/>
          </a:p>
        </p:txBody>
      </p:sp>
      <p:sp>
        <p:nvSpPr>
          <p:cNvPr id="116" name="Google Shape;116;p15"/>
          <p:cNvSpPr txBox="1"/>
          <p:nvPr/>
        </p:nvSpPr>
        <p:spPr>
          <a:xfrm>
            <a:off x="457200" y="3965550"/>
            <a:ext cx="495300" cy="419100"/>
          </a:xfrm>
          <a:prstGeom prst="rect">
            <a:avLst/>
          </a:prstGeom>
          <a:noFill/>
          <a:ln>
            <a:noFill/>
          </a:ln>
        </p:spPr>
        <p:txBody>
          <a:bodyPr spcFirstLastPara="1" wrap="square" lIns="45713" tIns="45713" rIns="45713" bIns="45713" anchor="ctr" anchorCtr="0">
            <a:noAutofit/>
          </a:bodyPr>
          <a:lstStyle/>
          <a:p>
            <a:pPr algn="r"/>
            <a:r>
              <a:rPr lang="en" sz="1200"/>
              <a:t>1</a:t>
            </a:r>
            <a:endParaRPr sz="1200"/>
          </a:p>
        </p:txBody>
      </p:sp>
      <p:sp>
        <p:nvSpPr>
          <p:cNvPr id="117" name="Google Shape;117;p15"/>
          <p:cNvSpPr txBox="1"/>
          <p:nvPr/>
        </p:nvSpPr>
        <p:spPr>
          <a:xfrm>
            <a:off x="457200" y="3279750"/>
            <a:ext cx="495300" cy="419100"/>
          </a:xfrm>
          <a:prstGeom prst="rect">
            <a:avLst/>
          </a:prstGeom>
          <a:noFill/>
          <a:ln>
            <a:noFill/>
          </a:ln>
        </p:spPr>
        <p:txBody>
          <a:bodyPr spcFirstLastPara="1" wrap="square" lIns="45713" tIns="45713" rIns="45713" bIns="45713" anchor="ctr" anchorCtr="0">
            <a:noAutofit/>
          </a:bodyPr>
          <a:lstStyle/>
          <a:p>
            <a:pPr algn="r"/>
            <a:r>
              <a:rPr lang="en" sz="1200"/>
              <a:t>2</a:t>
            </a:r>
            <a:endParaRPr sz="1200"/>
          </a:p>
        </p:txBody>
      </p:sp>
      <p:sp>
        <p:nvSpPr>
          <p:cNvPr id="118" name="Google Shape;118;p15"/>
          <p:cNvSpPr txBox="1"/>
          <p:nvPr/>
        </p:nvSpPr>
        <p:spPr>
          <a:xfrm rot="-5400000">
            <a:off x="600075" y="2359263"/>
            <a:ext cx="438150" cy="419100"/>
          </a:xfrm>
          <a:prstGeom prst="rect">
            <a:avLst/>
          </a:prstGeom>
          <a:noFill/>
          <a:ln>
            <a:noFill/>
          </a:ln>
        </p:spPr>
        <p:txBody>
          <a:bodyPr spcFirstLastPara="1" wrap="square" lIns="45713" tIns="45713" rIns="45713" bIns="45713" anchor="ctr" anchorCtr="0">
            <a:noAutofit/>
          </a:bodyPr>
          <a:lstStyle/>
          <a:p>
            <a:pPr algn="ctr"/>
            <a:r>
              <a:rPr lang="en" sz="1200"/>
              <a:t>...</a:t>
            </a:r>
            <a:endParaRPr sz="1200"/>
          </a:p>
        </p:txBody>
      </p:sp>
      <p:sp>
        <p:nvSpPr>
          <p:cNvPr id="119" name="Google Shape;119;p15"/>
          <p:cNvSpPr/>
          <p:nvPr/>
        </p:nvSpPr>
        <p:spPr>
          <a:xfrm>
            <a:off x="2628900" y="2632050"/>
            <a:ext cx="609600" cy="34290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rgbClr val="000000"/>
                </a:solidFill>
              </a:rPr>
              <a:t>Task </a:t>
            </a:r>
            <a:r>
              <a:rPr lang="en" sz="1200"/>
              <a:t>H</a:t>
            </a:r>
            <a:endParaRPr sz="1200">
              <a:solidFill>
                <a:srgbClr val="000000"/>
              </a:solidFill>
            </a:endParaRPr>
          </a:p>
        </p:txBody>
      </p:sp>
      <p:sp>
        <p:nvSpPr>
          <p:cNvPr id="120" name="Google Shape;120;p15"/>
          <p:cNvSpPr txBox="1"/>
          <p:nvPr/>
        </p:nvSpPr>
        <p:spPr>
          <a:xfrm>
            <a:off x="228600" y="1949063"/>
            <a:ext cx="723900" cy="495900"/>
          </a:xfrm>
          <a:prstGeom prst="rect">
            <a:avLst/>
          </a:prstGeom>
          <a:noFill/>
          <a:ln>
            <a:noFill/>
          </a:ln>
        </p:spPr>
        <p:txBody>
          <a:bodyPr spcFirstLastPara="1" wrap="square" lIns="45713" tIns="45713" rIns="45713" bIns="45713" anchor="ctr" anchorCtr="0">
            <a:noAutofit/>
          </a:bodyPr>
          <a:lstStyle/>
          <a:p>
            <a:pPr algn="r"/>
            <a:r>
              <a:rPr lang="en" sz="1500"/>
              <a:t>Priority (S/W)</a:t>
            </a:r>
            <a:endParaRPr sz="1500"/>
          </a:p>
        </p:txBody>
      </p:sp>
      <p:sp>
        <p:nvSpPr>
          <p:cNvPr id="121" name="Google Shape;121;p15"/>
          <p:cNvSpPr txBox="1"/>
          <p:nvPr/>
        </p:nvSpPr>
        <p:spPr>
          <a:xfrm>
            <a:off x="2355150" y="857250"/>
            <a:ext cx="4433700" cy="706200"/>
          </a:xfrm>
          <a:prstGeom prst="rect">
            <a:avLst/>
          </a:prstGeom>
          <a:noFill/>
          <a:ln>
            <a:noFill/>
          </a:ln>
        </p:spPr>
        <p:txBody>
          <a:bodyPr spcFirstLastPara="1" wrap="square" lIns="45713" tIns="45713" rIns="45713" bIns="45713" anchor="ctr" anchorCtr="0">
            <a:noAutofit/>
          </a:bodyPr>
          <a:lstStyle/>
          <a:p>
            <a:pPr algn="ctr"/>
            <a:r>
              <a:rPr lang="en" sz="2400"/>
              <a:t>Bounded Priority Inversion</a:t>
            </a:r>
            <a:endParaRPr sz="2400"/>
          </a:p>
        </p:txBody>
      </p:sp>
      <p:sp>
        <p:nvSpPr>
          <p:cNvPr id="122" name="Google Shape;122;p15"/>
          <p:cNvSpPr txBox="1"/>
          <p:nvPr/>
        </p:nvSpPr>
        <p:spPr>
          <a:xfrm>
            <a:off x="457200" y="2593950"/>
            <a:ext cx="495300" cy="419100"/>
          </a:xfrm>
          <a:prstGeom prst="rect">
            <a:avLst/>
          </a:prstGeom>
          <a:noFill/>
          <a:ln>
            <a:noFill/>
          </a:ln>
        </p:spPr>
        <p:txBody>
          <a:bodyPr spcFirstLastPara="1" wrap="square" lIns="45713" tIns="45713" rIns="45713" bIns="45713" anchor="ctr" anchorCtr="0">
            <a:noAutofit/>
          </a:bodyPr>
          <a:lstStyle/>
          <a:p>
            <a:pPr algn="r"/>
            <a:r>
              <a:rPr lang="en" sz="1200"/>
              <a:t>3</a:t>
            </a:r>
            <a:endParaRPr sz="1200"/>
          </a:p>
        </p:txBody>
      </p:sp>
      <p:sp>
        <p:nvSpPr>
          <p:cNvPr id="123" name="Google Shape;123;p15"/>
          <p:cNvSpPr/>
          <p:nvPr/>
        </p:nvSpPr>
        <p:spPr>
          <a:xfrm>
            <a:off x="2400300" y="4003650"/>
            <a:ext cx="228600" cy="342900"/>
          </a:xfrm>
          <a:prstGeom prst="rect">
            <a:avLst/>
          </a:prstGeom>
          <a:solidFill>
            <a:srgbClr val="F4CC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124" name="Google Shape;124;p15"/>
          <p:cNvSpPr txBox="1"/>
          <p:nvPr/>
        </p:nvSpPr>
        <p:spPr>
          <a:xfrm>
            <a:off x="457200" y="4651350"/>
            <a:ext cx="495300" cy="419100"/>
          </a:xfrm>
          <a:prstGeom prst="rect">
            <a:avLst/>
          </a:prstGeom>
          <a:noFill/>
          <a:ln>
            <a:noFill/>
          </a:ln>
        </p:spPr>
        <p:txBody>
          <a:bodyPr spcFirstLastPara="1" wrap="square" lIns="45713" tIns="45713" rIns="45713" bIns="45713" anchor="ctr" anchorCtr="0">
            <a:noAutofit/>
          </a:bodyPr>
          <a:lstStyle/>
          <a:p>
            <a:pPr algn="r"/>
            <a:r>
              <a:rPr lang="en" sz="1200"/>
              <a:t>0</a:t>
            </a:r>
            <a:endParaRPr sz="1200"/>
          </a:p>
        </p:txBody>
      </p:sp>
      <p:cxnSp>
        <p:nvCxnSpPr>
          <p:cNvPr id="125" name="Google Shape;125;p15"/>
          <p:cNvCxnSpPr/>
          <p:nvPr/>
        </p:nvCxnSpPr>
        <p:spPr>
          <a:xfrm>
            <a:off x="3238500" y="2076450"/>
            <a:ext cx="0" cy="3527400"/>
          </a:xfrm>
          <a:prstGeom prst="straightConnector1">
            <a:avLst/>
          </a:prstGeom>
          <a:noFill/>
          <a:ln w="38100" cap="flat" cmpd="sng">
            <a:solidFill>
              <a:srgbClr val="595959"/>
            </a:solidFill>
            <a:prstDash val="dash"/>
            <a:round/>
            <a:headEnd type="none" w="med" len="med"/>
            <a:tailEnd type="none" w="med" len="med"/>
          </a:ln>
        </p:spPr>
      </p:cxnSp>
      <p:sp>
        <p:nvSpPr>
          <p:cNvPr id="126" name="Google Shape;126;p15"/>
          <p:cNvSpPr/>
          <p:nvPr/>
        </p:nvSpPr>
        <p:spPr>
          <a:xfrm>
            <a:off x="3238500" y="4003650"/>
            <a:ext cx="1104900" cy="342900"/>
          </a:xfrm>
          <a:prstGeom prst="rect">
            <a:avLst/>
          </a:prstGeom>
          <a:solidFill>
            <a:srgbClr val="F4CC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Critical Section</a:t>
            </a:r>
            <a:endParaRPr sz="1200"/>
          </a:p>
        </p:txBody>
      </p:sp>
      <p:cxnSp>
        <p:nvCxnSpPr>
          <p:cNvPr id="127" name="Google Shape;127;p15"/>
          <p:cNvCxnSpPr/>
          <p:nvPr/>
        </p:nvCxnSpPr>
        <p:spPr>
          <a:xfrm>
            <a:off x="4343400" y="20764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128" name="Google Shape;128;p15"/>
          <p:cNvCxnSpPr/>
          <p:nvPr/>
        </p:nvCxnSpPr>
        <p:spPr>
          <a:xfrm>
            <a:off x="6210300" y="2076450"/>
            <a:ext cx="0" cy="3527400"/>
          </a:xfrm>
          <a:prstGeom prst="straightConnector1">
            <a:avLst/>
          </a:prstGeom>
          <a:noFill/>
          <a:ln w="38100" cap="flat" cmpd="sng">
            <a:solidFill>
              <a:srgbClr val="595959"/>
            </a:solidFill>
            <a:prstDash val="dash"/>
            <a:round/>
            <a:headEnd type="none" w="med" len="med"/>
            <a:tailEnd type="none" w="med" len="med"/>
          </a:ln>
        </p:spPr>
      </p:cxnSp>
      <p:sp>
        <p:nvSpPr>
          <p:cNvPr id="129" name="Google Shape;129;p15"/>
          <p:cNvSpPr/>
          <p:nvPr/>
        </p:nvSpPr>
        <p:spPr>
          <a:xfrm>
            <a:off x="6210300" y="4003650"/>
            <a:ext cx="14478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Task L</a:t>
            </a:r>
            <a:endParaRPr sz="1200"/>
          </a:p>
        </p:txBody>
      </p:sp>
      <p:sp>
        <p:nvSpPr>
          <p:cNvPr id="130" name="Google Shape;130;p15"/>
          <p:cNvSpPr/>
          <p:nvPr/>
        </p:nvSpPr>
        <p:spPr>
          <a:xfrm>
            <a:off x="4345294" y="2632050"/>
            <a:ext cx="1104900" cy="342900"/>
          </a:xfrm>
          <a:prstGeom prst="rect">
            <a:avLst/>
          </a:prstGeom>
          <a:solidFill>
            <a:srgbClr val="F4CC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Critical Section</a:t>
            </a:r>
            <a:endParaRPr sz="1200"/>
          </a:p>
        </p:txBody>
      </p:sp>
      <p:sp>
        <p:nvSpPr>
          <p:cNvPr id="131" name="Google Shape;131;p15"/>
          <p:cNvSpPr/>
          <p:nvPr/>
        </p:nvSpPr>
        <p:spPr>
          <a:xfrm>
            <a:off x="5452100" y="2632050"/>
            <a:ext cx="762000" cy="34290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rgbClr val="000000"/>
                </a:solidFill>
              </a:rPr>
              <a:t>Task </a:t>
            </a:r>
            <a:r>
              <a:rPr lang="en" sz="1200"/>
              <a:t>H</a:t>
            </a:r>
            <a:endParaRPr sz="1200">
              <a:solidFill>
                <a:srgbClr val="000000"/>
              </a:solidFill>
            </a:endParaRPr>
          </a:p>
        </p:txBody>
      </p:sp>
      <p:sp>
        <p:nvSpPr>
          <p:cNvPr id="132" name="Google Shape;132;p15"/>
          <p:cNvSpPr txBox="1"/>
          <p:nvPr/>
        </p:nvSpPr>
        <p:spPr>
          <a:xfrm>
            <a:off x="1663875" y="3013050"/>
            <a:ext cx="863250" cy="461651"/>
          </a:xfrm>
          <a:prstGeom prst="rect">
            <a:avLst/>
          </a:prstGeom>
          <a:noFill/>
          <a:ln>
            <a:noFill/>
          </a:ln>
        </p:spPr>
        <p:txBody>
          <a:bodyPr spcFirstLastPara="1" wrap="square" lIns="45713" tIns="45713" rIns="45713" bIns="45713" anchor="t" anchorCtr="0">
            <a:spAutoFit/>
          </a:bodyPr>
          <a:lstStyle/>
          <a:p>
            <a:pPr algn="ctr"/>
            <a:r>
              <a:rPr lang="en" sz="1200"/>
              <a:t>Task L takes lock</a:t>
            </a:r>
            <a:endParaRPr sz="1200"/>
          </a:p>
        </p:txBody>
      </p:sp>
      <p:cxnSp>
        <p:nvCxnSpPr>
          <p:cNvPr id="133" name="Google Shape;133;p15"/>
          <p:cNvCxnSpPr>
            <a:stCxn id="132" idx="2"/>
          </p:cNvCxnSpPr>
          <p:nvPr/>
        </p:nvCxnSpPr>
        <p:spPr>
          <a:xfrm>
            <a:off x="2095500" y="3474701"/>
            <a:ext cx="304500" cy="521149"/>
          </a:xfrm>
          <a:prstGeom prst="straightConnector1">
            <a:avLst/>
          </a:prstGeom>
          <a:noFill/>
          <a:ln w="38100" cap="flat" cmpd="sng">
            <a:solidFill>
              <a:schemeClr val="dk2"/>
            </a:solidFill>
            <a:prstDash val="solid"/>
            <a:round/>
            <a:headEnd type="none" w="med" len="med"/>
            <a:tailEnd type="triangle" w="med" len="med"/>
          </a:ln>
        </p:spPr>
      </p:cxnSp>
      <p:sp>
        <p:nvSpPr>
          <p:cNvPr id="134" name="Google Shape;134;p15"/>
          <p:cNvSpPr txBox="1"/>
          <p:nvPr/>
        </p:nvSpPr>
        <p:spPr>
          <a:xfrm>
            <a:off x="2249325" y="1555563"/>
            <a:ext cx="1368750" cy="461651"/>
          </a:xfrm>
          <a:prstGeom prst="rect">
            <a:avLst/>
          </a:prstGeom>
          <a:noFill/>
          <a:ln>
            <a:noFill/>
          </a:ln>
        </p:spPr>
        <p:txBody>
          <a:bodyPr spcFirstLastPara="1" wrap="square" lIns="45713" tIns="45713" rIns="45713" bIns="45713" anchor="t" anchorCtr="0">
            <a:spAutoFit/>
          </a:bodyPr>
          <a:lstStyle/>
          <a:p>
            <a:pPr algn="ctr"/>
            <a:r>
              <a:rPr lang="en" sz="1200"/>
              <a:t>Task H is blocked trying to take lock</a:t>
            </a:r>
            <a:endParaRPr sz="1200"/>
          </a:p>
        </p:txBody>
      </p:sp>
      <p:cxnSp>
        <p:nvCxnSpPr>
          <p:cNvPr id="135" name="Google Shape;135;p15"/>
          <p:cNvCxnSpPr>
            <a:stCxn id="134" idx="2"/>
          </p:cNvCxnSpPr>
          <p:nvPr/>
        </p:nvCxnSpPr>
        <p:spPr>
          <a:xfrm>
            <a:off x="2933700" y="2017214"/>
            <a:ext cx="298950" cy="610699"/>
          </a:xfrm>
          <a:prstGeom prst="straightConnector1">
            <a:avLst/>
          </a:prstGeom>
          <a:noFill/>
          <a:ln w="38100" cap="flat" cmpd="sng">
            <a:solidFill>
              <a:schemeClr val="dk2"/>
            </a:solidFill>
            <a:prstDash val="solid"/>
            <a:round/>
            <a:headEnd type="none" w="med" len="med"/>
            <a:tailEnd type="triangle" w="med" len="med"/>
          </a:ln>
        </p:spPr>
      </p:cxnSp>
      <p:sp>
        <p:nvSpPr>
          <p:cNvPr id="136" name="Google Shape;136;p15"/>
          <p:cNvSpPr txBox="1"/>
          <p:nvPr/>
        </p:nvSpPr>
        <p:spPr>
          <a:xfrm>
            <a:off x="3289275" y="2920463"/>
            <a:ext cx="1003350" cy="461651"/>
          </a:xfrm>
          <a:prstGeom prst="rect">
            <a:avLst/>
          </a:prstGeom>
          <a:noFill/>
          <a:ln>
            <a:noFill/>
          </a:ln>
        </p:spPr>
        <p:txBody>
          <a:bodyPr spcFirstLastPara="1" wrap="square" lIns="45713" tIns="45713" rIns="45713" bIns="45713" anchor="t" anchorCtr="0">
            <a:spAutoFit/>
          </a:bodyPr>
          <a:lstStyle/>
          <a:p>
            <a:pPr algn="ctr"/>
            <a:r>
              <a:rPr lang="en" sz="1200"/>
              <a:t>Task L releases lock</a:t>
            </a:r>
            <a:endParaRPr sz="1200"/>
          </a:p>
        </p:txBody>
      </p:sp>
      <p:cxnSp>
        <p:nvCxnSpPr>
          <p:cNvPr id="137" name="Google Shape;137;p15"/>
          <p:cNvCxnSpPr/>
          <p:nvPr/>
        </p:nvCxnSpPr>
        <p:spPr>
          <a:xfrm>
            <a:off x="3967188" y="3380813"/>
            <a:ext cx="365550" cy="612000"/>
          </a:xfrm>
          <a:prstGeom prst="straightConnector1">
            <a:avLst/>
          </a:prstGeom>
          <a:noFill/>
          <a:ln w="38100" cap="flat" cmpd="sng">
            <a:solidFill>
              <a:schemeClr val="dk2"/>
            </a:solidFill>
            <a:prstDash val="solid"/>
            <a:round/>
            <a:headEnd type="none" w="med" len="med"/>
            <a:tailEnd type="triangle" w="med" len="med"/>
          </a:ln>
        </p:spPr>
      </p:cxn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cxnSp>
        <p:nvCxnSpPr>
          <p:cNvPr id="142" name="Google Shape;142;p16"/>
          <p:cNvCxnSpPr/>
          <p:nvPr/>
        </p:nvCxnSpPr>
        <p:spPr>
          <a:xfrm>
            <a:off x="1104900" y="5299050"/>
            <a:ext cx="7543800" cy="0"/>
          </a:xfrm>
          <a:prstGeom prst="straightConnector1">
            <a:avLst/>
          </a:prstGeom>
          <a:noFill/>
          <a:ln w="38100" cap="flat" cmpd="sng">
            <a:solidFill>
              <a:srgbClr val="595959"/>
            </a:solidFill>
            <a:prstDash val="solid"/>
            <a:round/>
            <a:headEnd type="none" w="med" len="med"/>
            <a:tailEnd type="triangle" w="med" len="med"/>
          </a:ln>
        </p:spPr>
      </p:cxnSp>
      <p:cxnSp>
        <p:nvCxnSpPr>
          <p:cNvPr id="143" name="Google Shape;143;p16"/>
          <p:cNvCxnSpPr/>
          <p:nvPr/>
        </p:nvCxnSpPr>
        <p:spPr>
          <a:xfrm>
            <a:off x="2628900" y="2076450"/>
            <a:ext cx="0" cy="3527400"/>
          </a:xfrm>
          <a:prstGeom prst="straightConnector1">
            <a:avLst/>
          </a:prstGeom>
          <a:noFill/>
          <a:ln w="38100" cap="flat" cmpd="sng">
            <a:solidFill>
              <a:srgbClr val="595959"/>
            </a:solidFill>
            <a:prstDash val="dash"/>
            <a:round/>
            <a:headEnd type="none" w="med" len="med"/>
            <a:tailEnd type="none" w="med" len="med"/>
          </a:ln>
        </p:spPr>
      </p:cxnSp>
      <p:sp>
        <p:nvSpPr>
          <p:cNvPr id="144" name="Google Shape;144;p16"/>
          <p:cNvSpPr/>
          <p:nvPr/>
        </p:nvSpPr>
        <p:spPr>
          <a:xfrm>
            <a:off x="1181100" y="4003650"/>
            <a:ext cx="12189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Task L</a:t>
            </a:r>
            <a:endParaRPr sz="1200"/>
          </a:p>
        </p:txBody>
      </p:sp>
      <p:sp>
        <p:nvSpPr>
          <p:cNvPr id="145" name="Google Shape;145;p16"/>
          <p:cNvSpPr txBox="1"/>
          <p:nvPr/>
        </p:nvSpPr>
        <p:spPr>
          <a:xfrm>
            <a:off x="8077200" y="5337150"/>
            <a:ext cx="762000" cy="266700"/>
          </a:xfrm>
          <a:prstGeom prst="rect">
            <a:avLst/>
          </a:prstGeom>
          <a:noFill/>
          <a:ln>
            <a:noFill/>
          </a:ln>
        </p:spPr>
        <p:txBody>
          <a:bodyPr spcFirstLastPara="1" wrap="square" lIns="45713" tIns="45713" rIns="45713" bIns="45713" anchor="ctr" anchorCtr="0">
            <a:noAutofit/>
          </a:bodyPr>
          <a:lstStyle/>
          <a:p>
            <a:pPr algn="ctr"/>
            <a:r>
              <a:rPr lang="en" sz="1200"/>
              <a:t>time</a:t>
            </a:r>
            <a:endParaRPr sz="1200"/>
          </a:p>
        </p:txBody>
      </p:sp>
      <p:sp>
        <p:nvSpPr>
          <p:cNvPr id="146" name="Google Shape;146;p16"/>
          <p:cNvSpPr txBox="1"/>
          <p:nvPr/>
        </p:nvSpPr>
        <p:spPr>
          <a:xfrm>
            <a:off x="457200" y="3965550"/>
            <a:ext cx="495300" cy="419100"/>
          </a:xfrm>
          <a:prstGeom prst="rect">
            <a:avLst/>
          </a:prstGeom>
          <a:noFill/>
          <a:ln>
            <a:noFill/>
          </a:ln>
        </p:spPr>
        <p:txBody>
          <a:bodyPr spcFirstLastPara="1" wrap="square" lIns="45713" tIns="45713" rIns="45713" bIns="45713" anchor="ctr" anchorCtr="0">
            <a:noAutofit/>
          </a:bodyPr>
          <a:lstStyle/>
          <a:p>
            <a:pPr algn="r"/>
            <a:r>
              <a:rPr lang="en" sz="1200"/>
              <a:t>1</a:t>
            </a:r>
            <a:endParaRPr sz="1200"/>
          </a:p>
        </p:txBody>
      </p:sp>
      <p:sp>
        <p:nvSpPr>
          <p:cNvPr id="147" name="Google Shape;147;p16"/>
          <p:cNvSpPr txBox="1"/>
          <p:nvPr/>
        </p:nvSpPr>
        <p:spPr>
          <a:xfrm>
            <a:off x="457200" y="3279750"/>
            <a:ext cx="495300" cy="419100"/>
          </a:xfrm>
          <a:prstGeom prst="rect">
            <a:avLst/>
          </a:prstGeom>
          <a:noFill/>
          <a:ln>
            <a:noFill/>
          </a:ln>
        </p:spPr>
        <p:txBody>
          <a:bodyPr spcFirstLastPara="1" wrap="square" lIns="45713" tIns="45713" rIns="45713" bIns="45713" anchor="ctr" anchorCtr="0">
            <a:noAutofit/>
          </a:bodyPr>
          <a:lstStyle/>
          <a:p>
            <a:pPr algn="r"/>
            <a:r>
              <a:rPr lang="en" sz="1200"/>
              <a:t>2</a:t>
            </a:r>
            <a:endParaRPr sz="1200"/>
          </a:p>
        </p:txBody>
      </p:sp>
      <p:sp>
        <p:nvSpPr>
          <p:cNvPr id="148" name="Google Shape;148;p16"/>
          <p:cNvSpPr txBox="1"/>
          <p:nvPr/>
        </p:nvSpPr>
        <p:spPr>
          <a:xfrm rot="-5400000">
            <a:off x="600075" y="2359263"/>
            <a:ext cx="438150" cy="419100"/>
          </a:xfrm>
          <a:prstGeom prst="rect">
            <a:avLst/>
          </a:prstGeom>
          <a:noFill/>
          <a:ln>
            <a:noFill/>
          </a:ln>
        </p:spPr>
        <p:txBody>
          <a:bodyPr spcFirstLastPara="1" wrap="square" lIns="45713" tIns="45713" rIns="45713" bIns="45713" anchor="ctr" anchorCtr="0">
            <a:noAutofit/>
          </a:bodyPr>
          <a:lstStyle/>
          <a:p>
            <a:pPr algn="ctr"/>
            <a:r>
              <a:rPr lang="en" sz="1200"/>
              <a:t>...</a:t>
            </a:r>
            <a:endParaRPr sz="1200"/>
          </a:p>
        </p:txBody>
      </p:sp>
      <p:sp>
        <p:nvSpPr>
          <p:cNvPr id="149" name="Google Shape;149;p16"/>
          <p:cNvSpPr/>
          <p:nvPr/>
        </p:nvSpPr>
        <p:spPr>
          <a:xfrm>
            <a:off x="2628900" y="2632050"/>
            <a:ext cx="609600" cy="34290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rgbClr val="000000"/>
                </a:solidFill>
              </a:rPr>
              <a:t>Task </a:t>
            </a:r>
            <a:r>
              <a:rPr lang="en" sz="1200"/>
              <a:t>H</a:t>
            </a:r>
            <a:endParaRPr sz="1200">
              <a:solidFill>
                <a:srgbClr val="000000"/>
              </a:solidFill>
            </a:endParaRPr>
          </a:p>
        </p:txBody>
      </p:sp>
      <p:sp>
        <p:nvSpPr>
          <p:cNvPr id="150" name="Google Shape;150;p16"/>
          <p:cNvSpPr txBox="1"/>
          <p:nvPr/>
        </p:nvSpPr>
        <p:spPr>
          <a:xfrm>
            <a:off x="228600" y="1949063"/>
            <a:ext cx="723900" cy="495900"/>
          </a:xfrm>
          <a:prstGeom prst="rect">
            <a:avLst/>
          </a:prstGeom>
          <a:noFill/>
          <a:ln>
            <a:noFill/>
          </a:ln>
        </p:spPr>
        <p:txBody>
          <a:bodyPr spcFirstLastPara="1" wrap="square" lIns="45713" tIns="45713" rIns="45713" bIns="45713" anchor="ctr" anchorCtr="0">
            <a:noAutofit/>
          </a:bodyPr>
          <a:lstStyle/>
          <a:p>
            <a:pPr algn="r"/>
            <a:r>
              <a:rPr lang="en" sz="1500"/>
              <a:t>Priority (S/W)</a:t>
            </a:r>
            <a:endParaRPr sz="1500"/>
          </a:p>
        </p:txBody>
      </p:sp>
      <p:sp>
        <p:nvSpPr>
          <p:cNvPr id="151" name="Google Shape;151;p16"/>
          <p:cNvSpPr txBox="1"/>
          <p:nvPr/>
        </p:nvSpPr>
        <p:spPr>
          <a:xfrm>
            <a:off x="2355150" y="857250"/>
            <a:ext cx="4433700" cy="706200"/>
          </a:xfrm>
          <a:prstGeom prst="rect">
            <a:avLst/>
          </a:prstGeom>
          <a:noFill/>
          <a:ln>
            <a:noFill/>
          </a:ln>
        </p:spPr>
        <p:txBody>
          <a:bodyPr spcFirstLastPara="1" wrap="square" lIns="45713" tIns="45713" rIns="45713" bIns="45713" anchor="ctr" anchorCtr="0">
            <a:noAutofit/>
          </a:bodyPr>
          <a:lstStyle/>
          <a:p>
            <a:pPr algn="ctr"/>
            <a:r>
              <a:rPr lang="en" sz="2400"/>
              <a:t>Unbounded Priority Inversion</a:t>
            </a:r>
            <a:endParaRPr sz="2400"/>
          </a:p>
        </p:txBody>
      </p:sp>
      <p:sp>
        <p:nvSpPr>
          <p:cNvPr id="152" name="Google Shape;152;p16"/>
          <p:cNvSpPr txBox="1"/>
          <p:nvPr/>
        </p:nvSpPr>
        <p:spPr>
          <a:xfrm>
            <a:off x="457200" y="2593950"/>
            <a:ext cx="495300" cy="419100"/>
          </a:xfrm>
          <a:prstGeom prst="rect">
            <a:avLst/>
          </a:prstGeom>
          <a:noFill/>
          <a:ln>
            <a:noFill/>
          </a:ln>
        </p:spPr>
        <p:txBody>
          <a:bodyPr spcFirstLastPara="1" wrap="square" lIns="45713" tIns="45713" rIns="45713" bIns="45713" anchor="ctr" anchorCtr="0">
            <a:noAutofit/>
          </a:bodyPr>
          <a:lstStyle/>
          <a:p>
            <a:pPr algn="r"/>
            <a:r>
              <a:rPr lang="en" sz="1200"/>
              <a:t>3</a:t>
            </a:r>
            <a:endParaRPr sz="1200"/>
          </a:p>
        </p:txBody>
      </p:sp>
      <p:sp>
        <p:nvSpPr>
          <p:cNvPr id="153" name="Google Shape;153;p16"/>
          <p:cNvSpPr/>
          <p:nvPr/>
        </p:nvSpPr>
        <p:spPr>
          <a:xfrm>
            <a:off x="2400300" y="4003650"/>
            <a:ext cx="228600" cy="342900"/>
          </a:xfrm>
          <a:prstGeom prst="rect">
            <a:avLst/>
          </a:prstGeom>
          <a:solidFill>
            <a:srgbClr val="F4CC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154" name="Google Shape;154;p16"/>
          <p:cNvSpPr txBox="1"/>
          <p:nvPr/>
        </p:nvSpPr>
        <p:spPr>
          <a:xfrm>
            <a:off x="457200" y="4651350"/>
            <a:ext cx="495300" cy="419100"/>
          </a:xfrm>
          <a:prstGeom prst="rect">
            <a:avLst/>
          </a:prstGeom>
          <a:noFill/>
          <a:ln>
            <a:noFill/>
          </a:ln>
        </p:spPr>
        <p:txBody>
          <a:bodyPr spcFirstLastPara="1" wrap="square" lIns="45713" tIns="45713" rIns="45713" bIns="45713" anchor="ctr" anchorCtr="0">
            <a:noAutofit/>
          </a:bodyPr>
          <a:lstStyle/>
          <a:p>
            <a:pPr algn="r"/>
            <a:r>
              <a:rPr lang="en" sz="1200"/>
              <a:t>0</a:t>
            </a:r>
            <a:endParaRPr sz="1200"/>
          </a:p>
        </p:txBody>
      </p:sp>
      <p:cxnSp>
        <p:nvCxnSpPr>
          <p:cNvPr id="155" name="Google Shape;155;p16"/>
          <p:cNvCxnSpPr/>
          <p:nvPr/>
        </p:nvCxnSpPr>
        <p:spPr>
          <a:xfrm>
            <a:off x="3238500" y="20764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156" name="Google Shape;156;p16"/>
          <p:cNvCxnSpPr/>
          <p:nvPr/>
        </p:nvCxnSpPr>
        <p:spPr>
          <a:xfrm>
            <a:off x="6400800" y="20764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157" name="Google Shape;157;p16"/>
          <p:cNvCxnSpPr/>
          <p:nvPr/>
        </p:nvCxnSpPr>
        <p:spPr>
          <a:xfrm>
            <a:off x="8267700" y="2076450"/>
            <a:ext cx="0" cy="3527400"/>
          </a:xfrm>
          <a:prstGeom prst="straightConnector1">
            <a:avLst/>
          </a:prstGeom>
          <a:noFill/>
          <a:ln w="38100" cap="flat" cmpd="sng">
            <a:solidFill>
              <a:srgbClr val="595959"/>
            </a:solidFill>
            <a:prstDash val="dash"/>
            <a:round/>
            <a:headEnd type="none" w="med" len="med"/>
            <a:tailEnd type="none" w="med" len="med"/>
          </a:ln>
        </p:spPr>
      </p:cxnSp>
      <p:sp>
        <p:nvSpPr>
          <p:cNvPr id="158" name="Google Shape;158;p16"/>
          <p:cNvSpPr/>
          <p:nvPr/>
        </p:nvSpPr>
        <p:spPr>
          <a:xfrm>
            <a:off x="8267700" y="4003650"/>
            <a:ext cx="29895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159" name="Google Shape;159;p16"/>
          <p:cNvSpPr/>
          <p:nvPr/>
        </p:nvSpPr>
        <p:spPr>
          <a:xfrm>
            <a:off x="6402694" y="2632050"/>
            <a:ext cx="1104900" cy="342900"/>
          </a:xfrm>
          <a:prstGeom prst="rect">
            <a:avLst/>
          </a:prstGeom>
          <a:solidFill>
            <a:srgbClr val="F4CC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Critical Section</a:t>
            </a:r>
            <a:endParaRPr sz="1200"/>
          </a:p>
        </p:txBody>
      </p:sp>
      <p:sp>
        <p:nvSpPr>
          <p:cNvPr id="160" name="Google Shape;160;p16"/>
          <p:cNvSpPr/>
          <p:nvPr/>
        </p:nvSpPr>
        <p:spPr>
          <a:xfrm>
            <a:off x="7509500" y="2632050"/>
            <a:ext cx="762000" cy="34290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rgbClr val="000000"/>
                </a:solidFill>
              </a:rPr>
              <a:t>Task </a:t>
            </a:r>
            <a:r>
              <a:rPr lang="en" sz="1200"/>
              <a:t>H</a:t>
            </a:r>
            <a:endParaRPr sz="1200">
              <a:solidFill>
                <a:srgbClr val="000000"/>
              </a:solidFill>
            </a:endParaRPr>
          </a:p>
        </p:txBody>
      </p:sp>
      <p:sp>
        <p:nvSpPr>
          <p:cNvPr id="161" name="Google Shape;161;p16"/>
          <p:cNvSpPr txBox="1"/>
          <p:nvPr/>
        </p:nvSpPr>
        <p:spPr>
          <a:xfrm>
            <a:off x="1663875" y="3013050"/>
            <a:ext cx="863250" cy="461651"/>
          </a:xfrm>
          <a:prstGeom prst="rect">
            <a:avLst/>
          </a:prstGeom>
          <a:noFill/>
          <a:ln>
            <a:noFill/>
          </a:ln>
        </p:spPr>
        <p:txBody>
          <a:bodyPr spcFirstLastPara="1" wrap="square" lIns="45713" tIns="45713" rIns="45713" bIns="45713" anchor="t" anchorCtr="0">
            <a:spAutoFit/>
          </a:bodyPr>
          <a:lstStyle/>
          <a:p>
            <a:pPr algn="ctr"/>
            <a:r>
              <a:rPr lang="en" sz="1200"/>
              <a:t>Task L takes lock</a:t>
            </a:r>
            <a:endParaRPr sz="1200"/>
          </a:p>
        </p:txBody>
      </p:sp>
      <p:cxnSp>
        <p:nvCxnSpPr>
          <p:cNvPr id="162" name="Google Shape;162;p16"/>
          <p:cNvCxnSpPr>
            <a:stCxn id="161" idx="2"/>
          </p:cNvCxnSpPr>
          <p:nvPr/>
        </p:nvCxnSpPr>
        <p:spPr>
          <a:xfrm>
            <a:off x="2095500" y="3474701"/>
            <a:ext cx="304500" cy="521149"/>
          </a:xfrm>
          <a:prstGeom prst="straightConnector1">
            <a:avLst/>
          </a:prstGeom>
          <a:noFill/>
          <a:ln w="38100" cap="flat" cmpd="sng">
            <a:solidFill>
              <a:schemeClr val="dk2"/>
            </a:solidFill>
            <a:prstDash val="solid"/>
            <a:round/>
            <a:headEnd type="none" w="med" len="med"/>
            <a:tailEnd type="triangle" w="med" len="med"/>
          </a:ln>
        </p:spPr>
      </p:cxnSp>
      <p:sp>
        <p:nvSpPr>
          <p:cNvPr id="163" name="Google Shape;163;p16"/>
          <p:cNvSpPr txBox="1"/>
          <p:nvPr/>
        </p:nvSpPr>
        <p:spPr>
          <a:xfrm>
            <a:off x="2249325" y="1555563"/>
            <a:ext cx="1368750" cy="461651"/>
          </a:xfrm>
          <a:prstGeom prst="rect">
            <a:avLst/>
          </a:prstGeom>
          <a:noFill/>
          <a:ln>
            <a:noFill/>
          </a:ln>
        </p:spPr>
        <p:txBody>
          <a:bodyPr spcFirstLastPara="1" wrap="square" lIns="45713" tIns="45713" rIns="45713" bIns="45713" anchor="t" anchorCtr="0">
            <a:spAutoFit/>
          </a:bodyPr>
          <a:lstStyle/>
          <a:p>
            <a:pPr algn="ctr"/>
            <a:r>
              <a:rPr lang="en" sz="1200"/>
              <a:t>Task H is blocked trying to take lock</a:t>
            </a:r>
            <a:endParaRPr sz="1200"/>
          </a:p>
        </p:txBody>
      </p:sp>
      <p:cxnSp>
        <p:nvCxnSpPr>
          <p:cNvPr id="164" name="Google Shape;164;p16"/>
          <p:cNvCxnSpPr>
            <a:stCxn id="163" idx="2"/>
          </p:cNvCxnSpPr>
          <p:nvPr/>
        </p:nvCxnSpPr>
        <p:spPr>
          <a:xfrm>
            <a:off x="2933700" y="2017214"/>
            <a:ext cx="298950" cy="610699"/>
          </a:xfrm>
          <a:prstGeom prst="straightConnector1">
            <a:avLst/>
          </a:prstGeom>
          <a:noFill/>
          <a:ln w="38100" cap="flat" cmpd="sng">
            <a:solidFill>
              <a:schemeClr val="dk2"/>
            </a:solidFill>
            <a:prstDash val="solid"/>
            <a:round/>
            <a:headEnd type="none" w="med" len="med"/>
            <a:tailEnd type="triangle" w="med" len="med"/>
          </a:ln>
        </p:spPr>
      </p:cxnSp>
      <p:sp>
        <p:nvSpPr>
          <p:cNvPr id="165" name="Google Shape;165;p16"/>
          <p:cNvSpPr txBox="1"/>
          <p:nvPr/>
        </p:nvSpPr>
        <p:spPr>
          <a:xfrm>
            <a:off x="6629400" y="4089475"/>
            <a:ext cx="1003350" cy="461651"/>
          </a:xfrm>
          <a:prstGeom prst="rect">
            <a:avLst/>
          </a:prstGeom>
          <a:noFill/>
          <a:ln>
            <a:noFill/>
          </a:ln>
        </p:spPr>
        <p:txBody>
          <a:bodyPr spcFirstLastPara="1" wrap="square" lIns="45713" tIns="45713" rIns="45713" bIns="45713" anchor="t" anchorCtr="0">
            <a:spAutoFit/>
          </a:bodyPr>
          <a:lstStyle/>
          <a:p>
            <a:pPr algn="ctr"/>
            <a:r>
              <a:rPr lang="en" sz="1200"/>
              <a:t>Task L releases lock</a:t>
            </a:r>
            <a:endParaRPr sz="1200"/>
          </a:p>
        </p:txBody>
      </p:sp>
      <p:cxnSp>
        <p:nvCxnSpPr>
          <p:cNvPr id="166" name="Google Shape;166;p16"/>
          <p:cNvCxnSpPr/>
          <p:nvPr/>
        </p:nvCxnSpPr>
        <p:spPr>
          <a:xfrm rot="10800000">
            <a:off x="6390175" y="3992738"/>
            <a:ext cx="396000" cy="193200"/>
          </a:xfrm>
          <a:prstGeom prst="straightConnector1">
            <a:avLst/>
          </a:prstGeom>
          <a:noFill/>
          <a:ln w="38100" cap="flat" cmpd="sng">
            <a:solidFill>
              <a:schemeClr val="dk2"/>
            </a:solidFill>
            <a:prstDash val="solid"/>
            <a:round/>
            <a:headEnd type="none" w="med" len="med"/>
            <a:tailEnd type="triangle" w="med" len="med"/>
          </a:ln>
        </p:spPr>
      </p:cxnSp>
      <p:sp>
        <p:nvSpPr>
          <p:cNvPr id="167" name="Google Shape;167;p16"/>
          <p:cNvSpPr/>
          <p:nvPr/>
        </p:nvSpPr>
        <p:spPr>
          <a:xfrm>
            <a:off x="5734750" y="4003650"/>
            <a:ext cx="667950" cy="342900"/>
          </a:xfrm>
          <a:prstGeom prst="rect">
            <a:avLst/>
          </a:prstGeom>
          <a:solidFill>
            <a:srgbClr val="F4CC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Critical Section</a:t>
            </a:r>
            <a:endParaRPr sz="1200"/>
          </a:p>
        </p:txBody>
      </p:sp>
      <p:sp>
        <p:nvSpPr>
          <p:cNvPr id="168" name="Google Shape;168;p16"/>
          <p:cNvSpPr/>
          <p:nvPr/>
        </p:nvSpPr>
        <p:spPr>
          <a:xfrm>
            <a:off x="3238500" y="4003650"/>
            <a:ext cx="419100" cy="342900"/>
          </a:xfrm>
          <a:prstGeom prst="rect">
            <a:avLst/>
          </a:prstGeom>
          <a:solidFill>
            <a:srgbClr val="F4CC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169" name="Google Shape;169;p16"/>
          <p:cNvSpPr/>
          <p:nvPr/>
        </p:nvSpPr>
        <p:spPr>
          <a:xfrm>
            <a:off x="3657600" y="3317850"/>
            <a:ext cx="1003350" cy="342900"/>
          </a:xfrm>
          <a:prstGeom prst="rect">
            <a:avLst/>
          </a:prstGeom>
          <a:solidFill>
            <a:srgbClr val="D9EAD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Task M</a:t>
            </a:r>
            <a:endParaRPr sz="1200"/>
          </a:p>
        </p:txBody>
      </p:sp>
      <p:cxnSp>
        <p:nvCxnSpPr>
          <p:cNvPr id="170" name="Google Shape;170;p16"/>
          <p:cNvCxnSpPr/>
          <p:nvPr/>
        </p:nvCxnSpPr>
        <p:spPr>
          <a:xfrm>
            <a:off x="3657600" y="20764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171" name="Google Shape;171;p16"/>
          <p:cNvCxnSpPr/>
          <p:nvPr/>
        </p:nvCxnSpPr>
        <p:spPr>
          <a:xfrm>
            <a:off x="5734988" y="2076450"/>
            <a:ext cx="0" cy="3527400"/>
          </a:xfrm>
          <a:prstGeom prst="straightConnector1">
            <a:avLst/>
          </a:prstGeom>
          <a:noFill/>
          <a:ln w="38100" cap="flat" cmpd="sng">
            <a:solidFill>
              <a:srgbClr val="595959"/>
            </a:solidFill>
            <a:prstDash val="dash"/>
            <a:round/>
            <a:headEnd type="none" w="med" len="med"/>
            <a:tailEnd type="none" w="med" len="med"/>
          </a:ln>
        </p:spPr>
      </p:cxnSp>
      <p:sp>
        <p:nvSpPr>
          <p:cNvPr id="172" name="Google Shape;172;p16"/>
          <p:cNvSpPr txBox="1"/>
          <p:nvPr/>
        </p:nvSpPr>
        <p:spPr>
          <a:xfrm>
            <a:off x="3664950" y="1555563"/>
            <a:ext cx="2077200" cy="461651"/>
          </a:xfrm>
          <a:prstGeom prst="rect">
            <a:avLst/>
          </a:prstGeom>
          <a:noFill/>
          <a:ln>
            <a:noFill/>
          </a:ln>
        </p:spPr>
        <p:txBody>
          <a:bodyPr spcFirstLastPara="1" wrap="square" lIns="45713" tIns="45713" rIns="45713" bIns="45713" anchor="t" anchorCtr="0">
            <a:spAutoFit/>
          </a:bodyPr>
          <a:lstStyle/>
          <a:p>
            <a:pPr algn="ctr"/>
            <a:r>
              <a:rPr lang="en" sz="1200"/>
              <a:t>Task H is prevented from doing work in critical section</a:t>
            </a:r>
            <a:endParaRPr sz="1200"/>
          </a:p>
        </p:txBody>
      </p:sp>
      <p:sp>
        <p:nvSpPr>
          <p:cNvPr id="173" name="Google Shape;173;p16"/>
          <p:cNvSpPr/>
          <p:nvPr/>
        </p:nvSpPr>
        <p:spPr>
          <a:xfrm>
            <a:off x="4731638" y="3317850"/>
            <a:ext cx="1003350" cy="342900"/>
          </a:xfrm>
          <a:prstGeom prst="rect">
            <a:avLst/>
          </a:prstGeom>
          <a:solidFill>
            <a:srgbClr val="D9EAD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174" name="Google Shape;174;p16"/>
          <p:cNvSpPr/>
          <p:nvPr/>
        </p:nvSpPr>
        <p:spPr>
          <a:xfrm>
            <a:off x="4572000" y="3213150"/>
            <a:ext cx="263100" cy="567150"/>
          </a:xfrm>
          <a:prstGeom prst="rect">
            <a:avLst/>
          </a:prstGeom>
          <a:solidFill>
            <a:srgbClr val="FFFFFF"/>
          </a:solidFill>
          <a:ln>
            <a:noFill/>
          </a:ln>
        </p:spPr>
        <p:txBody>
          <a:bodyPr spcFirstLastPara="1" wrap="square" lIns="45713" tIns="45713" rIns="45713" bIns="45713" anchor="ctr" anchorCtr="0">
            <a:noAutofit/>
          </a:bodyPr>
          <a:lstStyle/>
          <a:p>
            <a:endParaRPr sz="900"/>
          </a:p>
        </p:txBody>
      </p:sp>
      <p:sp>
        <p:nvSpPr>
          <p:cNvPr id="175" name="Google Shape;175;p16"/>
          <p:cNvSpPr/>
          <p:nvPr/>
        </p:nvSpPr>
        <p:spPr>
          <a:xfrm>
            <a:off x="4526675" y="3305850"/>
            <a:ext cx="51273" cy="203204"/>
          </a:xfrm>
          <a:custGeom>
            <a:avLst/>
            <a:gdLst/>
            <a:ahLst/>
            <a:cxnLst/>
            <a:rect l="l" t="t" r="r" b="b"/>
            <a:pathLst>
              <a:path w="4062" h="15257" extrusionOk="0">
                <a:moveTo>
                  <a:pt x="3567" y="0"/>
                </a:moveTo>
                <a:lnTo>
                  <a:pt x="99" y="5647"/>
                </a:lnTo>
                <a:lnTo>
                  <a:pt x="0" y="9115"/>
                </a:lnTo>
                <a:lnTo>
                  <a:pt x="4062" y="15257"/>
                </a:lnTo>
                <a:close/>
              </a:path>
            </a:pathLst>
          </a:custGeom>
          <a:solidFill>
            <a:srgbClr val="FFFFFF"/>
          </a:solidFill>
          <a:ln>
            <a:noFill/>
          </a:ln>
        </p:spPr>
      </p:sp>
      <p:sp>
        <p:nvSpPr>
          <p:cNvPr id="176" name="Google Shape;176;p16"/>
          <p:cNvSpPr/>
          <p:nvPr/>
        </p:nvSpPr>
        <p:spPr>
          <a:xfrm>
            <a:off x="4763700" y="3297800"/>
            <a:ext cx="121975" cy="379550"/>
          </a:xfrm>
          <a:custGeom>
            <a:avLst/>
            <a:gdLst/>
            <a:ahLst/>
            <a:cxnLst/>
            <a:rect l="l" t="t" r="r" b="b"/>
            <a:pathLst>
              <a:path w="9758" h="30364" extrusionOk="0">
                <a:moveTo>
                  <a:pt x="9015" y="0"/>
                </a:moveTo>
                <a:lnTo>
                  <a:pt x="5548" y="6687"/>
                </a:lnTo>
                <a:lnTo>
                  <a:pt x="5399" y="11591"/>
                </a:lnTo>
                <a:lnTo>
                  <a:pt x="7331" y="14414"/>
                </a:lnTo>
                <a:lnTo>
                  <a:pt x="9758" y="18476"/>
                </a:lnTo>
                <a:lnTo>
                  <a:pt x="9411" y="21943"/>
                </a:lnTo>
                <a:lnTo>
                  <a:pt x="7628" y="27788"/>
                </a:lnTo>
                <a:lnTo>
                  <a:pt x="6340" y="30364"/>
                </a:lnTo>
                <a:lnTo>
                  <a:pt x="1189" y="30166"/>
                </a:lnTo>
                <a:lnTo>
                  <a:pt x="0" y="446"/>
                </a:lnTo>
                <a:close/>
              </a:path>
            </a:pathLst>
          </a:custGeom>
          <a:solidFill>
            <a:srgbClr val="FFFFFF"/>
          </a:solidFill>
          <a:ln>
            <a:noFill/>
          </a:ln>
        </p:spPr>
      </p:sp>
      <p:sp>
        <p:nvSpPr>
          <p:cNvPr id="177" name="Google Shape;177;p16"/>
          <p:cNvSpPr/>
          <p:nvPr/>
        </p:nvSpPr>
        <p:spPr>
          <a:xfrm>
            <a:off x="4824675" y="3254013"/>
            <a:ext cx="79250" cy="470575"/>
          </a:xfrm>
          <a:custGeom>
            <a:avLst/>
            <a:gdLst/>
            <a:ahLst/>
            <a:cxnLst/>
            <a:rect l="l" t="t" r="r" b="b"/>
            <a:pathLst>
              <a:path w="6340" h="37646" extrusionOk="0">
                <a:moveTo>
                  <a:pt x="6340" y="0"/>
                </a:moveTo>
                <a:cubicBezTo>
                  <a:pt x="5316" y="2147"/>
                  <a:pt x="462" y="9048"/>
                  <a:pt x="198" y="12879"/>
                </a:cubicBezTo>
                <a:cubicBezTo>
                  <a:pt x="-66" y="16710"/>
                  <a:pt x="4788" y="18856"/>
                  <a:pt x="4755" y="22984"/>
                </a:cubicBezTo>
                <a:cubicBezTo>
                  <a:pt x="4722" y="27112"/>
                  <a:pt x="793" y="35202"/>
                  <a:pt x="0" y="37646"/>
                </a:cubicBezTo>
              </a:path>
            </a:pathLst>
          </a:custGeom>
          <a:noFill/>
          <a:ln w="38100" cap="flat" cmpd="sng">
            <a:solidFill>
              <a:schemeClr val="dk2"/>
            </a:solidFill>
            <a:prstDash val="solid"/>
            <a:round/>
            <a:headEnd type="none" w="med" len="med"/>
            <a:tailEnd type="none" w="med" len="med"/>
          </a:ln>
        </p:spPr>
      </p:sp>
      <p:sp>
        <p:nvSpPr>
          <p:cNvPr id="178" name="Google Shape;178;p16"/>
          <p:cNvSpPr/>
          <p:nvPr/>
        </p:nvSpPr>
        <p:spPr>
          <a:xfrm>
            <a:off x="4542038" y="3607388"/>
            <a:ext cx="43950" cy="75538"/>
          </a:xfrm>
          <a:custGeom>
            <a:avLst/>
            <a:gdLst/>
            <a:ahLst/>
            <a:cxnLst/>
            <a:rect l="l" t="t" r="r" b="b"/>
            <a:pathLst>
              <a:path w="3516" h="6043" extrusionOk="0">
                <a:moveTo>
                  <a:pt x="0" y="5993"/>
                </a:moveTo>
                <a:lnTo>
                  <a:pt x="2476" y="0"/>
                </a:lnTo>
                <a:lnTo>
                  <a:pt x="3516" y="6043"/>
                </a:lnTo>
                <a:close/>
              </a:path>
            </a:pathLst>
          </a:custGeom>
          <a:solidFill>
            <a:srgbClr val="FFFFFF"/>
          </a:solidFill>
          <a:ln>
            <a:noFill/>
          </a:ln>
        </p:spPr>
      </p:sp>
      <p:sp>
        <p:nvSpPr>
          <p:cNvPr id="179" name="Google Shape;179;p16"/>
          <p:cNvSpPr/>
          <p:nvPr/>
        </p:nvSpPr>
        <p:spPr>
          <a:xfrm>
            <a:off x="4522950" y="3254013"/>
            <a:ext cx="79250" cy="470575"/>
          </a:xfrm>
          <a:custGeom>
            <a:avLst/>
            <a:gdLst/>
            <a:ahLst/>
            <a:cxnLst/>
            <a:rect l="l" t="t" r="r" b="b"/>
            <a:pathLst>
              <a:path w="6340" h="37646" extrusionOk="0">
                <a:moveTo>
                  <a:pt x="6340" y="0"/>
                </a:moveTo>
                <a:cubicBezTo>
                  <a:pt x="5316" y="2147"/>
                  <a:pt x="462" y="9048"/>
                  <a:pt x="198" y="12879"/>
                </a:cubicBezTo>
                <a:cubicBezTo>
                  <a:pt x="-66" y="16710"/>
                  <a:pt x="4788" y="18856"/>
                  <a:pt x="4755" y="22984"/>
                </a:cubicBezTo>
                <a:cubicBezTo>
                  <a:pt x="4722" y="27112"/>
                  <a:pt x="793" y="35202"/>
                  <a:pt x="0" y="37646"/>
                </a:cubicBezTo>
              </a:path>
            </a:pathLst>
          </a:custGeom>
          <a:noFill/>
          <a:ln w="38100" cap="flat" cmpd="sng">
            <a:solidFill>
              <a:schemeClr val="dk2"/>
            </a:solidFill>
            <a:prstDash val="solid"/>
            <a:round/>
            <a:headEnd type="none" w="med" len="med"/>
            <a:tailEnd type="none" w="med" len="med"/>
          </a:ln>
        </p:spPr>
      </p:sp>
      <p:sp>
        <p:nvSpPr>
          <p:cNvPr id="180" name="Google Shape;180;p16"/>
          <p:cNvSpPr/>
          <p:nvPr/>
        </p:nvSpPr>
        <p:spPr>
          <a:xfrm>
            <a:off x="4559850" y="5015475"/>
            <a:ext cx="298950" cy="567150"/>
          </a:xfrm>
          <a:prstGeom prst="rect">
            <a:avLst/>
          </a:prstGeom>
          <a:solidFill>
            <a:srgbClr val="FFFFFF"/>
          </a:solidFill>
          <a:ln>
            <a:noFill/>
          </a:ln>
        </p:spPr>
        <p:txBody>
          <a:bodyPr spcFirstLastPara="1" wrap="square" lIns="45713" tIns="45713" rIns="45713" bIns="45713" anchor="ctr" anchorCtr="0">
            <a:noAutofit/>
          </a:bodyPr>
          <a:lstStyle/>
          <a:p>
            <a:endParaRPr sz="900"/>
          </a:p>
        </p:txBody>
      </p:sp>
      <p:sp>
        <p:nvSpPr>
          <p:cNvPr id="181" name="Google Shape;181;p16"/>
          <p:cNvSpPr/>
          <p:nvPr/>
        </p:nvSpPr>
        <p:spPr>
          <a:xfrm>
            <a:off x="4824675" y="5153994"/>
            <a:ext cx="79250" cy="290110"/>
          </a:xfrm>
          <a:custGeom>
            <a:avLst/>
            <a:gdLst/>
            <a:ahLst/>
            <a:cxnLst/>
            <a:rect l="l" t="t" r="r" b="b"/>
            <a:pathLst>
              <a:path w="6340" h="37646" extrusionOk="0">
                <a:moveTo>
                  <a:pt x="6340" y="0"/>
                </a:moveTo>
                <a:cubicBezTo>
                  <a:pt x="5316" y="2147"/>
                  <a:pt x="462" y="9048"/>
                  <a:pt x="198" y="12879"/>
                </a:cubicBezTo>
                <a:cubicBezTo>
                  <a:pt x="-66" y="16710"/>
                  <a:pt x="4788" y="18856"/>
                  <a:pt x="4755" y="22984"/>
                </a:cubicBezTo>
                <a:cubicBezTo>
                  <a:pt x="4722" y="27112"/>
                  <a:pt x="793" y="35202"/>
                  <a:pt x="0" y="37646"/>
                </a:cubicBezTo>
              </a:path>
            </a:pathLst>
          </a:custGeom>
          <a:noFill/>
          <a:ln w="38100" cap="flat" cmpd="sng">
            <a:solidFill>
              <a:schemeClr val="dk2"/>
            </a:solidFill>
            <a:prstDash val="solid"/>
            <a:round/>
            <a:headEnd type="none" w="med" len="med"/>
            <a:tailEnd type="none" w="med" len="med"/>
          </a:ln>
        </p:spPr>
      </p:sp>
      <p:sp>
        <p:nvSpPr>
          <p:cNvPr id="182" name="Google Shape;182;p16"/>
          <p:cNvSpPr/>
          <p:nvPr/>
        </p:nvSpPr>
        <p:spPr>
          <a:xfrm>
            <a:off x="4522950" y="5153994"/>
            <a:ext cx="79250" cy="290110"/>
          </a:xfrm>
          <a:custGeom>
            <a:avLst/>
            <a:gdLst/>
            <a:ahLst/>
            <a:cxnLst/>
            <a:rect l="l" t="t" r="r" b="b"/>
            <a:pathLst>
              <a:path w="6340" h="37646" extrusionOk="0">
                <a:moveTo>
                  <a:pt x="6340" y="0"/>
                </a:moveTo>
                <a:cubicBezTo>
                  <a:pt x="5316" y="2147"/>
                  <a:pt x="462" y="9048"/>
                  <a:pt x="198" y="12879"/>
                </a:cubicBezTo>
                <a:cubicBezTo>
                  <a:pt x="-66" y="16710"/>
                  <a:pt x="4788" y="18856"/>
                  <a:pt x="4755" y="22984"/>
                </a:cubicBezTo>
                <a:cubicBezTo>
                  <a:pt x="4722" y="27112"/>
                  <a:pt x="793" y="35202"/>
                  <a:pt x="0" y="37646"/>
                </a:cubicBezTo>
              </a:path>
            </a:pathLst>
          </a:custGeom>
          <a:noFill/>
          <a:ln w="38100" cap="flat" cmpd="sng">
            <a:solidFill>
              <a:schemeClr val="dk2"/>
            </a:solidFill>
            <a:prstDash val="solid"/>
            <a:round/>
            <a:headEnd type="none" w="med" len="med"/>
            <a:tailEnd type="none" w="med" len="med"/>
          </a:ln>
        </p:spPr>
      </p:sp>
      <p:pic>
        <p:nvPicPr>
          <p:cNvPr id="183" name="Google Shape;183;p16"/>
          <p:cNvPicPr preferRelativeResize="0"/>
          <p:nvPr/>
        </p:nvPicPr>
        <p:blipFill>
          <a:blip r:embed="rId3">
            <a:alphaModFix/>
          </a:blip>
          <a:stretch>
            <a:fillRect/>
          </a:stretch>
        </p:blipFill>
        <p:spPr>
          <a:xfrm>
            <a:off x="4448650" y="2090380"/>
            <a:ext cx="495300" cy="595841"/>
          </a:xfrm>
          <a:prstGeom prst="rect">
            <a:avLst/>
          </a:prstGeom>
          <a:noFill/>
          <a:ln>
            <a:noFill/>
          </a:ln>
        </p:spPr>
      </p:pic>
      <p:sp>
        <p:nvSpPr>
          <p:cNvPr id="184" name="Google Shape;184;p16"/>
          <p:cNvSpPr txBox="1"/>
          <p:nvPr/>
        </p:nvSpPr>
        <p:spPr>
          <a:xfrm>
            <a:off x="4011925" y="2678975"/>
            <a:ext cx="1368750" cy="266700"/>
          </a:xfrm>
          <a:prstGeom prst="rect">
            <a:avLst/>
          </a:prstGeom>
          <a:noFill/>
          <a:ln>
            <a:noFill/>
          </a:ln>
        </p:spPr>
        <p:txBody>
          <a:bodyPr spcFirstLastPara="1" wrap="square" lIns="45713" tIns="45713" rIns="45713" bIns="45713" anchor="ctr" anchorCtr="0">
            <a:noAutofit/>
          </a:bodyPr>
          <a:lstStyle/>
          <a:p>
            <a:pPr algn="ctr"/>
            <a:r>
              <a:rPr lang="en" sz="1200"/>
              <a:t>Watchdog Timer</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4"/>
                                        </p:tgtEl>
                                        <p:attrNameLst>
                                          <p:attrName>style.visibility</p:attrName>
                                        </p:attrNameLst>
                                      </p:cBhvr>
                                      <p:to>
                                        <p:strVal val="visible"/>
                                      </p:to>
                                    </p:set>
                                    <p:animEffect transition="in" filter="fade">
                                      <p:cBhvr>
                                        <p:cTn id="7" dur="1000"/>
                                        <p:tgtEl>
                                          <p:spTgt spid="144"/>
                                        </p:tgtEl>
                                      </p:cBhvr>
                                    </p:animEffect>
                                  </p:childTnLst>
                                </p:cTn>
                              </p:par>
                              <p:par>
                                <p:cTn id="8" presetID="10" presetClass="entr" presetSubtype="0" fill="hold" nodeType="withEffect">
                                  <p:stCondLst>
                                    <p:cond delay="0"/>
                                  </p:stCondLst>
                                  <p:childTnLst>
                                    <p:set>
                                      <p:cBhvr>
                                        <p:cTn id="9" dur="1" fill="hold">
                                          <p:stCondLst>
                                            <p:cond delay="0"/>
                                          </p:stCondLst>
                                        </p:cTn>
                                        <p:tgtEl>
                                          <p:spTgt spid="153"/>
                                        </p:tgtEl>
                                        <p:attrNameLst>
                                          <p:attrName>style.visibility</p:attrName>
                                        </p:attrNameLst>
                                      </p:cBhvr>
                                      <p:to>
                                        <p:strVal val="visible"/>
                                      </p:to>
                                    </p:set>
                                    <p:animEffect transition="in" filter="fade">
                                      <p:cBhvr>
                                        <p:cTn id="10" dur="1000"/>
                                        <p:tgtEl>
                                          <p:spTgt spid="153"/>
                                        </p:tgtEl>
                                      </p:cBhvr>
                                    </p:animEffect>
                                  </p:childTnLst>
                                </p:cTn>
                              </p:par>
                              <p:par>
                                <p:cTn id="11" presetID="10" presetClass="entr" presetSubtype="0" fill="hold" nodeType="withEffect">
                                  <p:stCondLst>
                                    <p:cond delay="0"/>
                                  </p:stCondLst>
                                  <p:childTnLst>
                                    <p:set>
                                      <p:cBhvr>
                                        <p:cTn id="12" dur="1" fill="hold">
                                          <p:stCondLst>
                                            <p:cond delay="0"/>
                                          </p:stCondLst>
                                        </p:cTn>
                                        <p:tgtEl>
                                          <p:spTgt spid="161"/>
                                        </p:tgtEl>
                                        <p:attrNameLst>
                                          <p:attrName>style.visibility</p:attrName>
                                        </p:attrNameLst>
                                      </p:cBhvr>
                                      <p:to>
                                        <p:strVal val="visible"/>
                                      </p:to>
                                    </p:set>
                                    <p:animEffect transition="in" filter="fade">
                                      <p:cBhvr>
                                        <p:cTn id="13" dur="1000"/>
                                        <p:tgtEl>
                                          <p:spTgt spid="161"/>
                                        </p:tgtEl>
                                      </p:cBhvr>
                                    </p:animEffect>
                                  </p:childTnLst>
                                </p:cTn>
                              </p:par>
                              <p:par>
                                <p:cTn id="14" presetID="10" presetClass="entr" presetSubtype="0" fill="hold" nodeType="withEffect">
                                  <p:stCondLst>
                                    <p:cond delay="0"/>
                                  </p:stCondLst>
                                  <p:childTnLst>
                                    <p:set>
                                      <p:cBhvr>
                                        <p:cTn id="15" dur="1" fill="hold">
                                          <p:stCondLst>
                                            <p:cond delay="0"/>
                                          </p:stCondLst>
                                        </p:cTn>
                                        <p:tgtEl>
                                          <p:spTgt spid="162"/>
                                        </p:tgtEl>
                                        <p:attrNameLst>
                                          <p:attrName>style.visibility</p:attrName>
                                        </p:attrNameLst>
                                      </p:cBhvr>
                                      <p:to>
                                        <p:strVal val="visible"/>
                                      </p:to>
                                    </p:set>
                                    <p:animEffect transition="in" filter="fade">
                                      <p:cBhvr>
                                        <p:cTn id="16" dur="1000"/>
                                        <p:tgtEl>
                                          <p:spTgt spid="16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43"/>
                                        </p:tgtEl>
                                        <p:attrNameLst>
                                          <p:attrName>style.visibility</p:attrName>
                                        </p:attrNameLst>
                                      </p:cBhvr>
                                      <p:to>
                                        <p:strVal val="visible"/>
                                      </p:to>
                                    </p:set>
                                    <p:animEffect transition="in" filter="fade">
                                      <p:cBhvr>
                                        <p:cTn id="21" dur="1000"/>
                                        <p:tgtEl>
                                          <p:spTgt spid="143"/>
                                        </p:tgtEl>
                                      </p:cBhvr>
                                    </p:animEffect>
                                  </p:childTnLst>
                                </p:cTn>
                              </p:par>
                              <p:par>
                                <p:cTn id="22" presetID="10" presetClass="entr" presetSubtype="0" fill="hold" nodeType="withEffect">
                                  <p:stCondLst>
                                    <p:cond delay="0"/>
                                  </p:stCondLst>
                                  <p:childTnLst>
                                    <p:set>
                                      <p:cBhvr>
                                        <p:cTn id="23" dur="1" fill="hold">
                                          <p:stCondLst>
                                            <p:cond delay="0"/>
                                          </p:stCondLst>
                                        </p:cTn>
                                        <p:tgtEl>
                                          <p:spTgt spid="149"/>
                                        </p:tgtEl>
                                        <p:attrNameLst>
                                          <p:attrName>style.visibility</p:attrName>
                                        </p:attrNameLst>
                                      </p:cBhvr>
                                      <p:to>
                                        <p:strVal val="visible"/>
                                      </p:to>
                                    </p:set>
                                    <p:animEffect transition="in" filter="fade">
                                      <p:cBhvr>
                                        <p:cTn id="24" dur="1000"/>
                                        <p:tgtEl>
                                          <p:spTgt spid="14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55"/>
                                        </p:tgtEl>
                                        <p:attrNameLst>
                                          <p:attrName>style.visibility</p:attrName>
                                        </p:attrNameLst>
                                      </p:cBhvr>
                                      <p:to>
                                        <p:strVal val="visible"/>
                                      </p:to>
                                    </p:set>
                                    <p:animEffect transition="in" filter="fade">
                                      <p:cBhvr>
                                        <p:cTn id="29" dur="1000"/>
                                        <p:tgtEl>
                                          <p:spTgt spid="155"/>
                                        </p:tgtEl>
                                      </p:cBhvr>
                                    </p:animEffect>
                                  </p:childTnLst>
                                </p:cTn>
                              </p:par>
                              <p:par>
                                <p:cTn id="30" presetID="10" presetClass="entr" presetSubtype="0" fill="hold" nodeType="withEffect">
                                  <p:stCondLst>
                                    <p:cond delay="0"/>
                                  </p:stCondLst>
                                  <p:childTnLst>
                                    <p:set>
                                      <p:cBhvr>
                                        <p:cTn id="31" dur="1" fill="hold">
                                          <p:stCondLst>
                                            <p:cond delay="0"/>
                                          </p:stCondLst>
                                        </p:cTn>
                                        <p:tgtEl>
                                          <p:spTgt spid="163"/>
                                        </p:tgtEl>
                                        <p:attrNameLst>
                                          <p:attrName>style.visibility</p:attrName>
                                        </p:attrNameLst>
                                      </p:cBhvr>
                                      <p:to>
                                        <p:strVal val="visible"/>
                                      </p:to>
                                    </p:set>
                                    <p:animEffect transition="in" filter="fade">
                                      <p:cBhvr>
                                        <p:cTn id="32" dur="1000"/>
                                        <p:tgtEl>
                                          <p:spTgt spid="163"/>
                                        </p:tgtEl>
                                      </p:cBhvr>
                                    </p:animEffect>
                                  </p:childTnLst>
                                </p:cTn>
                              </p:par>
                              <p:par>
                                <p:cTn id="33" presetID="10" presetClass="entr" presetSubtype="0" fill="hold" nodeType="withEffect">
                                  <p:stCondLst>
                                    <p:cond delay="0"/>
                                  </p:stCondLst>
                                  <p:childTnLst>
                                    <p:set>
                                      <p:cBhvr>
                                        <p:cTn id="34" dur="1" fill="hold">
                                          <p:stCondLst>
                                            <p:cond delay="0"/>
                                          </p:stCondLst>
                                        </p:cTn>
                                        <p:tgtEl>
                                          <p:spTgt spid="164"/>
                                        </p:tgtEl>
                                        <p:attrNameLst>
                                          <p:attrName>style.visibility</p:attrName>
                                        </p:attrNameLst>
                                      </p:cBhvr>
                                      <p:to>
                                        <p:strVal val="visible"/>
                                      </p:to>
                                    </p:set>
                                    <p:animEffect transition="in" filter="fade">
                                      <p:cBhvr>
                                        <p:cTn id="35" dur="1000"/>
                                        <p:tgtEl>
                                          <p:spTgt spid="164"/>
                                        </p:tgtEl>
                                      </p:cBhvr>
                                    </p:animEffect>
                                  </p:childTnLst>
                                </p:cTn>
                              </p:par>
                              <p:par>
                                <p:cTn id="36" presetID="10" presetClass="entr" presetSubtype="0" fill="hold" nodeType="withEffect">
                                  <p:stCondLst>
                                    <p:cond delay="0"/>
                                  </p:stCondLst>
                                  <p:childTnLst>
                                    <p:set>
                                      <p:cBhvr>
                                        <p:cTn id="37" dur="1" fill="hold">
                                          <p:stCondLst>
                                            <p:cond delay="0"/>
                                          </p:stCondLst>
                                        </p:cTn>
                                        <p:tgtEl>
                                          <p:spTgt spid="168"/>
                                        </p:tgtEl>
                                        <p:attrNameLst>
                                          <p:attrName>style.visibility</p:attrName>
                                        </p:attrNameLst>
                                      </p:cBhvr>
                                      <p:to>
                                        <p:strVal val="visible"/>
                                      </p:to>
                                    </p:set>
                                    <p:animEffect transition="in" filter="fade">
                                      <p:cBhvr>
                                        <p:cTn id="38" dur="1000"/>
                                        <p:tgtEl>
                                          <p:spTgt spid="16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70"/>
                                        </p:tgtEl>
                                        <p:attrNameLst>
                                          <p:attrName>style.visibility</p:attrName>
                                        </p:attrNameLst>
                                      </p:cBhvr>
                                      <p:to>
                                        <p:strVal val="visible"/>
                                      </p:to>
                                    </p:set>
                                    <p:animEffect transition="in" filter="fade">
                                      <p:cBhvr>
                                        <p:cTn id="43" dur="1000"/>
                                        <p:tgtEl>
                                          <p:spTgt spid="170"/>
                                        </p:tgtEl>
                                      </p:cBhvr>
                                    </p:animEffect>
                                  </p:childTnLst>
                                </p:cTn>
                              </p:par>
                              <p:par>
                                <p:cTn id="44" presetID="10" presetClass="entr" presetSubtype="0" fill="hold" nodeType="withEffect">
                                  <p:stCondLst>
                                    <p:cond delay="0"/>
                                  </p:stCondLst>
                                  <p:childTnLst>
                                    <p:set>
                                      <p:cBhvr>
                                        <p:cTn id="45" dur="1" fill="hold">
                                          <p:stCondLst>
                                            <p:cond delay="0"/>
                                          </p:stCondLst>
                                        </p:cTn>
                                        <p:tgtEl>
                                          <p:spTgt spid="169"/>
                                        </p:tgtEl>
                                        <p:attrNameLst>
                                          <p:attrName>style.visibility</p:attrName>
                                        </p:attrNameLst>
                                      </p:cBhvr>
                                      <p:to>
                                        <p:strVal val="visible"/>
                                      </p:to>
                                    </p:set>
                                    <p:animEffect transition="in" filter="fade">
                                      <p:cBhvr>
                                        <p:cTn id="46" dur="1000"/>
                                        <p:tgtEl>
                                          <p:spTgt spid="169"/>
                                        </p:tgtEl>
                                      </p:cBhvr>
                                    </p:animEffect>
                                  </p:childTnLst>
                                </p:cTn>
                              </p:par>
                              <p:par>
                                <p:cTn id="47" presetID="10" presetClass="entr" presetSubtype="0" fill="hold" nodeType="withEffect">
                                  <p:stCondLst>
                                    <p:cond delay="0"/>
                                  </p:stCondLst>
                                  <p:childTnLst>
                                    <p:set>
                                      <p:cBhvr>
                                        <p:cTn id="48" dur="1" fill="hold">
                                          <p:stCondLst>
                                            <p:cond delay="0"/>
                                          </p:stCondLst>
                                        </p:cTn>
                                        <p:tgtEl>
                                          <p:spTgt spid="173"/>
                                        </p:tgtEl>
                                        <p:attrNameLst>
                                          <p:attrName>style.visibility</p:attrName>
                                        </p:attrNameLst>
                                      </p:cBhvr>
                                      <p:to>
                                        <p:strVal val="visible"/>
                                      </p:to>
                                    </p:set>
                                    <p:animEffect transition="in" filter="fade">
                                      <p:cBhvr>
                                        <p:cTn id="49" dur="1000"/>
                                        <p:tgtEl>
                                          <p:spTgt spid="173"/>
                                        </p:tgtEl>
                                      </p:cBhvr>
                                    </p:animEffect>
                                  </p:childTnLst>
                                </p:cTn>
                              </p:par>
                              <p:par>
                                <p:cTn id="50" presetID="10" presetClass="entr" presetSubtype="0" fill="hold" nodeType="withEffect">
                                  <p:stCondLst>
                                    <p:cond delay="0"/>
                                  </p:stCondLst>
                                  <p:childTnLst>
                                    <p:set>
                                      <p:cBhvr>
                                        <p:cTn id="51" dur="1" fill="hold">
                                          <p:stCondLst>
                                            <p:cond delay="0"/>
                                          </p:stCondLst>
                                        </p:cTn>
                                        <p:tgtEl>
                                          <p:spTgt spid="177"/>
                                        </p:tgtEl>
                                        <p:attrNameLst>
                                          <p:attrName>style.visibility</p:attrName>
                                        </p:attrNameLst>
                                      </p:cBhvr>
                                      <p:to>
                                        <p:strVal val="visible"/>
                                      </p:to>
                                    </p:set>
                                    <p:animEffect transition="in" filter="fade">
                                      <p:cBhvr>
                                        <p:cTn id="52" dur="1000"/>
                                        <p:tgtEl>
                                          <p:spTgt spid="177"/>
                                        </p:tgtEl>
                                      </p:cBhvr>
                                    </p:animEffect>
                                  </p:childTnLst>
                                </p:cTn>
                              </p:par>
                              <p:par>
                                <p:cTn id="53" presetID="10" presetClass="entr" presetSubtype="0" fill="hold" nodeType="withEffect">
                                  <p:stCondLst>
                                    <p:cond delay="0"/>
                                  </p:stCondLst>
                                  <p:childTnLst>
                                    <p:set>
                                      <p:cBhvr>
                                        <p:cTn id="54" dur="1" fill="hold">
                                          <p:stCondLst>
                                            <p:cond delay="0"/>
                                          </p:stCondLst>
                                        </p:cTn>
                                        <p:tgtEl>
                                          <p:spTgt spid="179"/>
                                        </p:tgtEl>
                                        <p:attrNameLst>
                                          <p:attrName>style.visibility</p:attrName>
                                        </p:attrNameLst>
                                      </p:cBhvr>
                                      <p:to>
                                        <p:strVal val="visible"/>
                                      </p:to>
                                    </p:set>
                                    <p:animEffect transition="in" filter="fade">
                                      <p:cBhvr>
                                        <p:cTn id="55" dur="1000"/>
                                        <p:tgtEl>
                                          <p:spTgt spid="179"/>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72"/>
                                        </p:tgtEl>
                                        <p:attrNameLst>
                                          <p:attrName>style.visibility</p:attrName>
                                        </p:attrNameLst>
                                      </p:cBhvr>
                                      <p:to>
                                        <p:strVal val="visible"/>
                                      </p:to>
                                    </p:set>
                                    <p:animEffect transition="in" filter="fade">
                                      <p:cBhvr>
                                        <p:cTn id="60" dur="1000"/>
                                        <p:tgtEl>
                                          <p:spTgt spid="172"/>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56"/>
                                        </p:tgtEl>
                                        <p:attrNameLst>
                                          <p:attrName>style.visibility</p:attrName>
                                        </p:attrNameLst>
                                      </p:cBhvr>
                                      <p:to>
                                        <p:strVal val="visible"/>
                                      </p:to>
                                    </p:set>
                                    <p:animEffect transition="in" filter="fade">
                                      <p:cBhvr>
                                        <p:cTn id="65" dur="1000"/>
                                        <p:tgtEl>
                                          <p:spTgt spid="156"/>
                                        </p:tgtEl>
                                      </p:cBhvr>
                                    </p:animEffect>
                                  </p:childTnLst>
                                </p:cTn>
                              </p:par>
                              <p:par>
                                <p:cTn id="66" presetID="10" presetClass="entr" presetSubtype="0" fill="hold" nodeType="withEffect">
                                  <p:stCondLst>
                                    <p:cond delay="0"/>
                                  </p:stCondLst>
                                  <p:childTnLst>
                                    <p:set>
                                      <p:cBhvr>
                                        <p:cTn id="67" dur="1" fill="hold">
                                          <p:stCondLst>
                                            <p:cond delay="0"/>
                                          </p:stCondLst>
                                        </p:cTn>
                                        <p:tgtEl>
                                          <p:spTgt spid="157"/>
                                        </p:tgtEl>
                                        <p:attrNameLst>
                                          <p:attrName>style.visibility</p:attrName>
                                        </p:attrNameLst>
                                      </p:cBhvr>
                                      <p:to>
                                        <p:strVal val="visible"/>
                                      </p:to>
                                    </p:set>
                                    <p:animEffect transition="in" filter="fade">
                                      <p:cBhvr>
                                        <p:cTn id="68" dur="1000"/>
                                        <p:tgtEl>
                                          <p:spTgt spid="157"/>
                                        </p:tgtEl>
                                      </p:cBhvr>
                                    </p:animEffect>
                                  </p:childTnLst>
                                </p:cTn>
                              </p:par>
                              <p:par>
                                <p:cTn id="69" presetID="10" presetClass="entr" presetSubtype="0" fill="hold" nodeType="withEffect">
                                  <p:stCondLst>
                                    <p:cond delay="0"/>
                                  </p:stCondLst>
                                  <p:childTnLst>
                                    <p:set>
                                      <p:cBhvr>
                                        <p:cTn id="70" dur="1" fill="hold">
                                          <p:stCondLst>
                                            <p:cond delay="0"/>
                                          </p:stCondLst>
                                        </p:cTn>
                                        <p:tgtEl>
                                          <p:spTgt spid="158"/>
                                        </p:tgtEl>
                                        <p:attrNameLst>
                                          <p:attrName>style.visibility</p:attrName>
                                        </p:attrNameLst>
                                      </p:cBhvr>
                                      <p:to>
                                        <p:strVal val="visible"/>
                                      </p:to>
                                    </p:set>
                                    <p:animEffect transition="in" filter="fade">
                                      <p:cBhvr>
                                        <p:cTn id="71" dur="1000"/>
                                        <p:tgtEl>
                                          <p:spTgt spid="158"/>
                                        </p:tgtEl>
                                      </p:cBhvr>
                                    </p:animEffect>
                                  </p:childTnLst>
                                </p:cTn>
                              </p:par>
                              <p:par>
                                <p:cTn id="72" presetID="10" presetClass="entr" presetSubtype="0" fill="hold" nodeType="withEffect">
                                  <p:stCondLst>
                                    <p:cond delay="0"/>
                                  </p:stCondLst>
                                  <p:childTnLst>
                                    <p:set>
                                      <p:cBhvr>
                                        <p:cTn id="73" dur="1" fill="hold">
                                          <p:stCondLst>
                                            <p:cond delay="0"/>
                                          </p:stCondLst>
                                        </p:cTn>
                                        <p:tgtEl>
                                          <p:spTgt spid="159"/>
                                        </p:tgtEl>
                                        <p:attrNameLst>
                                          <p:attrName>style.visibility</p:attrName>
                                        </p:attrNameLst>
                                      </p:cBhvr>
                                      <p:to>
                                        <p:strVal val="visible"/>
                                      </p:to>
                                    </p:set>
                                    <p:animEffect transition="in" filter="fade">
                                      <p:cBhvr>
                                        <p:cTn id="74" dur="1000"/>
                                        <p:tgtEl>
                                          <p:spTgt spid="159"/>
                                        </p:tgtEl>
                                      </p:cBhvr>
                                    </p:animEffect>
                                  </p:childTnLst>
                                </p:cTn>
                              </p:par>
                              <p:par>
                                <p:cTn id="75" presetID="10" presetClass="entr" presetSubtype="0" fill="hold" nodeType="withEffect">
                                  <p:stCondLst>
                                    <p:cond delay="0"/>
                                  </p:stCondLst>
                                  <p:childTnLst>
                                    <p:set>
                                      <p:cBhvr>
                                        <p:cTn id="76" dur="1" fill="hold">
                                          <p:stCondLst>
                                            <p:cond delay="0"/>
                                          </p:stCondLst>
                                        </p:cTn>
                                        <p:tgtEl>
                                          <p:spTgt spid="160"/>
                                        </p:tgtEl>
                                        <p:attrNameLst>
                                          <p:attrName>style.visibility</p:attrName>
                                        </p:attrNameLst>
                                      </p:cBhvr>
                                      <p:to>
                                        <p:strVal val="visible"/>
                                      </p:to>
                                    </p:set>
                                    <p:animEffect transition="in" filter="fade">
                                      <p:cBhvr>
                                        <p:cTn id="77" dur="1000"/>
                                        <p:tgtEl>
                                          <p:spTgt spid="160"/>
                                        </p:tgtEl>
                                      </p:cBhvr>
                                    </p:animEffect>
                                  </p:childTnLst>
                                </p:cTn>
                              </p:par>
                              <p:par>
                                <p:cTn id="78" presetID="10" presetClass="entr" presetSubtype="0" fill="hold" nodeType="withEffect">
                                  <p:stCondLst>
                                    <p:cond delay="0"/>
                                  </p:stCondLst>
                                  <p:childTnLst>
                                    <p:set>
                                      <p:cBhvr>
                                        <p:cTn id="79" dur="1" fill="hold">
                                          <p:stCondLst>
                                            <p:cond delay="0"/>
                                          </p:stCondLst>
                                        </p:cTn>
                                        <p:tgtEl>
                                          <p:spTgt spid="165"/>
                                        </p:tgtEl>
                                        <p:attrNameLst>
                                          <p:attrName>style.visibility</p:attrName>
                                        </p:attrNameLst>
                                      </p:cBhvr>
                                      <p:to>
                                        <p:strVal val="visible"/>
                                      </p:to>
                                    </p:set>
                                    <p:animEffect transition="in" filter="fade">
                                      <p:cBhvr>
                                        <p:cTn id="80" dur="1000"/>
                                        <p:tgtEl>
                                          <p:spTgt spid="165"/>
                                        </p:tgtEl>
                                      </p:cBhvr>
                                    </p:animEffect>
                                  </p:childTnLst>
                                </p:cTn>
                              </p:par>
                              <p:par>
                                <p:cTn id="81" presetID="10" presetClass="entr" presetSubtype="0" fill="hold" nodeType="withEffect">
                                  <p:stCondLst>
                                    <p:cond delay="0"/>
                                  </p:stCondLst>
                                  <p:childTnLst>
                                    <p:set>
                                      <p:cBhvr>
                                        <p:cTn id="82" dur="1" fill="hold">
                                          <p:stCondLst>
                                            <p:cond delay="0"/>
                                          </p:stCondLst>
                                        </p:cTn>
                                        <p:tgtEl>
                                          <p:spTgt spid="166"/>
                                        </p:tgtEl>
                                        <p:attrNameLst>
                                          <p:attrName>style.visibility</p:attrName>
                                        </p:attrNameLst>
                                      </p:cBhvr>
                                      <p:to>
                                        <p:strVal val="visible"/>
                                      </p:to>
                                    </p:set>
                                    <p:animEffect transition="in" filter="fade">
                                      <p:cBhvr>
                                        <p:cTn id="83" dur="1000"/>
                                        <p:tgtEl>
                                          <p:spTgt spid="166"/>
                                        </p:tgtEl>
                                      </p:cBhvr>
                                    </p:animEffect>
                                  </p:childTnLst>
                                </p:cTn>
                              </p:par>
                              <p:par>
                                <p:cTn id="84" presetID="10" presetClass="entr" presetSubtype="0" fill="hold" nodeType="withEffect">
                                  <p:stCondLst>
                                    <p:cond delay="0"/>
                                  </p:stCondLst>
                                  <p:childTnLst>
                                    <p:set>
                                      <p:cBhvr>
                                        <p:cTn id="85" dur="1" fill="hold">
                                          <p:stCondLst>
                                            <p:cond delay="0"/>
                                          </p:stCondLst>
                                        </p:cTn>
                                        <p:tgtEl>
                                          <p:spTgt spid="167"/>
                                        </p:tgtEl>
                                        <p:attrNameLst>
                                          <p:attrName>style.visibility</p:attrName>
                                        </p:attrNameLst>
                                      </p:cBhvr>
                                      <p:to>
                                        <p:strVal val="visible"/>
                                      </p:to>
                                    </p:set>
                                    <p:animEffect transition="in" filter="fade">
                                      <p:cBhvr>
                                        <p:cTn id="86" dur="1000"/>
                                        <p:tgtEl>
                                          <p:spTgt spid="167"/>
                                        </p:tgtEl>
                                      </p:cBhvr>
                                    </p:animEffect>
                                  </p:childTnLst>
                                </p:cTn>
                              </p:par>
                              <p:par>
                                <p:cTn id="87" presetID="10" presetClass="entr" presetSubtype="0" fill="hold" nodeType="withEffect">
                                  <p:stCondLst>
                                    <p:cond delay="0"/>
                                  </p:stCondLst>
                                  <p:childTnLst>
                                    <p:set>
                                      <p:cBhvr>
                                        <p:cTn id="88" dur="1" fill="hold">
                                          <p:stCondLst>
                                            <p:cond delay="0"/>
                                          </p:stCondLst>
                                        </p:cTn>
                                        <p:tgtEl>
                                          <p:spTgt spid="171"/>
                                        </p:tgtEl>
                                        <p:attrNameLst>
                                          <p:attrName>style.visibility</p:attrName>
                                        </p:attrNameLst>
                                      </p:cBhvr>
                                      <p:to>
                                        <p:strVal val="visible"/>
                                      </p:to>
                                    </p:set>
                                    <p:animEffect transition="in" filter="fade">
                                      <p:cBhvr>
                                        <p:cTn id="89" dur="1000"/>
                                        <p:tgtEl>
                                          <p:spTgt spid="171"/>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183"/>
                                        </p:tgtEl>
                                        <p:attrNameLst>
                                          <p:attrName>style.visibility</p:attrName>
                                        </p:attrNameLst>
                                      </p:cBhvr>
                                      <p:to>
                                        <p:strVal val="visible"/>
                                      </p:to>
                                    </p:set>
                                    <p:animEffect transition="in" filter="fade">
                                      <p:cBhvr>
                                        <p:cTn id="94" dur="1000"/>
                                        <p:tgtEl>
                                          <p:spTgt spid="183"/>
                                        </p:tgtEl>
                                      </p:cBhvr>
                                    </p:animEffect>
                                  </p:childTnLst>
                                </p:cTn>
                              </p:par>
                              <p:par>
                                <p:cTn id="95" presetID="10" presetClass="entr" presetSubtype="0" fill="hold" nodeType="withEffect">
                                  <p:stCondLst>
                                    <p:cond delay="0"/>
                                  </p:stCondLst>
                                  <p:childTnLst>
                                    <p:set>
                                      <p:cBhvr>
                                        <p:cTn id="96" dur="1" fill="hold">
                                          <p:stCondLst>
                                            <p:cond delay="0"/>
                                          </p:stCondLst>
                                        </p:cTn>
                                        <p:tgtEl>
                                          <p:spTgt spid="184"/>
                                        </p:tgtEl>
                                        <p:attrNameLst>
                                          <p:attrName>style.visibility</p:attrName>
                                        </p:attrNameLst>
                                      </p:cBhvr>
                                      <p:to>
                                        <p:strVal val="visible"/>
                                      </p:to>
                                    </p:set>
                                    <p:animEffect transition="in" filter="fade">
                                      <p:cBhvr>
                                        <p:cTn id="97" dur="1000"/>
                                        <p:tgtEl>
                                          <p:spTgt spid="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cxnSp>
        <p:nvCxnSpPr>
          <p:cNvPr id="189" name="Google Shape;189;p17"/>
          <p:cNvCxnSpPr/>
          <p:nvPr/>
        </p:nvCxnSpPr>
        <p:spPr>
          <a:xfrm>
            <a:off x="1104900" y="5299050"/>
            <a:ext cx="7543800" cy="0"/>
          </a:xfrm>
          <a:prstGeom prst="straightConnector1">
            <a:avLst/>
          </a:prstGeom>
          <a:noFill/>
          <a:ln w="38100" cap="flat" cmpd="sng">
            <a:solidFill>
              <a:srgbClr val="595959"/>
            </a:solidFill>
            <a:prstDash val="solid"/>
            <a:round/>
            <a:headEnd type="none" w="med" len="med"/>
            <a:tailEnd type="triangle" w="med" len="med"/>
          </a:ln>
        </p:spPr>
      </p:cxnSp>
      <p:cxnSp>
        <p:nvCxnSpPr>
          <p:cNvPr id="190" name="Google Shape;190;p17"/>
          <p:cNvCxnSpPr/>
          <p:nvPr/>
        </p:nvCxnSpPr>
        <p:spPr>
          <a:xfrm>
            <a:off x="2438400" y="2076450"/>
            <a:ext cx="0" cy="3527400"/>
          </a:xfrm>
          <a:prstGeom prst="straightConnector1">
            <a:avLst/>
          </a:prstGeom>
          <a:noFill/>
          <a:ln w="38100" cap="flat" cmpd="sng">
            <a:solidFill>
              <a:srgbClr val="595959"/>
            </a:solidFill>
            <a:prstDash val="dash"/>
            <a:round/>
            <a:headEnd type="none" w="med" len="med"/>
            <a:tailEnd type="none" w="med" len="med"/>
          </a:ln>
        </p:spPr>
      </p:cxnSp>
      <p:sp>
        <p:nvSpPr>
          <p:cNvPr id="191" name="Google Shape;191;p17"/>
          <p:cNvSpPr/>
          <p:nvPr/>
        </p:nvSpPr>
        <p:spPr>
          <a:xfrm>
            <a:off x="1181100" y="4003650"/>
            <a:ext cx="12573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Task L</a:t>
            </a:r>
            <a:endParaRPr sz="1200"/>
          </a:p>
        </p:txBody>
      </p:sp>
      <p:sp>
        <p:nvSpPr>
          <p:cNvPr id="192" name="Google Shape;192;p17"/>
          <p:cNvSpPr txBox="1"/>
          <p:nvPr/>
        </p:nvSpPr>
        <p:spPr>
          <a:xfrm>
            <a:off x="8077200" y="5337150"/>
            <a:ext cx="762000" cy="266700"/>
          </a:xfrm>
          <a:prstGeom prst="rect">
            <a:avLst/>
          </a:prstGeom>
          <a:noFill/>
          <a:ln>
            <a:noFill/>
          </a:ln>
        </p:spPr>
        <p:txBody>
          <a:bodyPr spcFirstLastPara="1" wrap="square" lIns="45713" tIns="45713" rIns="45713" bIns="45713" anchor="ctr" anchorCtr="0">
            <a:noAutofit/>
          </a:bodyPr>
          <a:lstStyle/>
          <a:p>
            <a:pPr algn="ctr"/>
            <a:r>
              <a:rPr lang="en" sz="1200"/>
              <a:t>time</a:t>
            </a:r>
            <a:endParaRPr sz="1200"/>
          </a:p>
        </p:txBody>
      </p:sp>
      <p:sp>
        <p:nvSpPr>
          <p:cNvPr id="193" name="Google Shape;193;p17"/>
          <p:cNvSpPr txBox="1"/>
          <p:nvPr/>
        </p:nvSpPr>
        <p:spPr>
          <a:xfrm>
            <a:off x="457200" y="3965550"/>
            <a:ext cx="495300" cy="419100"/>
          </a:xfrm>
          <a:prstGeom prst="rect">
            <a:avLst/>
          </a:prstGeom>
          <a:noFill/>
          <a:ln>
            <a:noFill/>
          </a:ln>
        </p:spPr>
        <p:txBody>
          <a:bodyPr spcFirstLastPara="1" wrap="square" lIns="45713" tIns="45713" rIns="45713" bIns="45713" anchor="ctr" anchorCtr="0">
            <a:noAutofit/>
          </a:bodyPr>
          <a:lstStyle/>
          <a:p>
            <a:pPr algn="r"/>
            <a:r>
              <a:rPr lang="en" sz="1200"/>
              <a:t>1</a:t>
            </a:r>
            <a:endParaRPr sz="1200"/>
          </a:p>
        </p:txBody>
      </p:sp>
      <p:sp>
        <p:nvSpPr>
          <p:cNvPr id="194" name="Google Shape;194;p17"/>
          <p:cNvSpPr txBox="1"/>
          <p:nvPr/>
        </p:nvSpPr>
        <p:spPr>
          <a:xfrm>
            <a:off x="457200" y="3279750"/>
            <a:ext cx="495300" cy="419100"/>
          </a:xfrm>
          <a:prstGeom prst="rect">
            <a:avLst/>
          </a:prstGeom>
          <a:noFill/>
          <a:ln>
            <a:noFill/>
          </a:ln>
        </p:spPr>
        <p:txBody>
          <a:bodyPr spcFirstLastPara="1" wrap="square" lIns="45713" tIns="45713" rIns="45713" bIns="45713" anchor="ctr" anchorCtr="0">
            <a:noAutofit/>
          </a:bodyPr>
          <a:lstStyle/>
          <a:p>
            <a:pPr algn="r"/>
            <a:r>
              <a:rPr lang="en" sz="1200"/>
              <a:t>2</a:t>
            </a:r>
            <a:endParaRPr sz="1200"/>
          </a:p>
        </p:txBody>
      </p:sp>
      <p:sp>
        <p:nvSpPr>
          <p:cNvPr id="195" name="Google Shape;195;p17"/>
          <p:cNvSpPr txBox="1"/>
          <p:nvPr/>
        </p:nvSpPr>
        <p:spPr>
          <a:xfrm rot="-5400000">
            <a:off x="600075" y="2359263"/>
            <a:ext cx="438150" cy="419100"/>
          </a:xfrm>
          <a:prstGeom prst="rect">
            <a:avLst/>
          </a:prstGeom>
          <a:noFill/>
          <a:ln>
            <a:noFill/>
          </a:ln>
        </p:spPr>
        <p:txBody>
          <a:bodyPr spcFirstLastPara="1" wrap="square" lIns="45713" tIns="45713" rIns="45713" bIns="45713" anchor="ctr" anchorCtr="0">
            <a:noAutofit/>
          </a:bodyPr>
          <a:lstStyle/>
          <a:p>
            <a:pPr algn="ctr"/>
            <a:r>
              <a:rPr lang="en" sz="1200"/>
              <a:t>...</a:t>
            </a:r>
            <a:endParaRPr sz="1200"/>
          </a:p>
        </p:txBody>
      </p:sp>
      <p:sp>
        <p:nvSpPr>
          <p:cNvPr id="196" name="Google Shape;196;p17"/>
          <p:cNvSpPr/>
          <p:nvPr/>
        </p:nvSpPr>
        <p:spPr>
          <a:xfrm>
            <a:off x="3543300" y="2632050"/>
            <a:ext cx="571500" cy="34290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rgbClr val="000000"/>
                </a:solidFill>
              </a:rPr>
              <a:t>Task </a:t>
            </a:r>
            <a:r>
              <a:rPr lang="en" sz="1200"/>
              <a:t>H</a:t>
            </a:r>
            <a:endParaRPr sz="1200">
              <a:solidFill>
                <a:srgbClr val="000000"/>
              </a:solidFill>
            </a:endParaRPr>
          </a:p>
        </p:txBody>
      </p:sp>
      <p:sp>
        <p:nvSpPr>
          <p:cNvPr id="197" name="Google Shape;197;p17"/>
          <p:cNvSpPr txBox="1"/>
          <p:nvPr/>
        </p:nvSpPr>
        <p:spPr>
          <a:xfrm>
            <a:off x="228600" y="1949063"/>
            <a:ext cx="723900" cy="495900"/>
          </a:xfrm>
          <a:prstGeom prst="rect">
            <a:avLst/>
          </a:prstGeom>
          <a:noFill/>
          <a:ln>
            <a:noFill/>
          </a:ln>
        </p:spPr>
        <p:txBody>
          <a:bodyPr spcFirstLastPara="1" wrap="square" lIns="45713" tIns="45713" rIns="45713" bIns="45713" anchor="ctr" anchorCtr="0">
            <a:noAutofit/>
          </a:bodyPr>
          <a:lstStyle/>
          <a:p>
            <a:pPr algn="r"/>
            <a:r>
              <a:rPr lang="en" sz="1500"/>
              <a:t>Priority (S/W)</a:t>
            </a:r>
            <a:endParaRPr sz="1500"/>
          </a:p>
        </p:txBody>
      </p:sp>
      <p:sp>
        <p:nvSpPr>
          <p:cNvPr id="198" name="Google Shape;198;p17"/>
          <p:cNvSpPr txBox="1"/>
          <p:nvPr/>
        </p:nvSpPr>
        <p:spPr>
          <a:xfrm>
            <a:off x="2355150" y="857250"/>
            <a:ext cx="4433700" cy="706200"/>
          </a:xfrm>
          <a:prstGeom prst="rect">
            <a:avLst/>
          </a:prstGeom>
          <a:noFill/>
          <a:ln>
            <a:noFill/>
          </a:ln>
        </p:spPr>
        <p:txBody>
          <a:bodyPr spcFirstLastPara="1" wrap="square" lIns="45713" tIns="45713" rIns="45713" bIns="45713" anchor="ctr" anchorCtr="0">
            <a:noAutofit/>
          </a:bodyPr>
          <a:lstStyle/>
          <a:p>
            <a:pPr algn="ctr"/>
            <a:r>
              <a:rPr lang="en" sz="2400"/>
              <a:t>Priority Ceiling Protocol</a:t>
            </a:r>
            <a:endParaRPr sz="2400"/>
          </a:p>
        </p:txBody>
      </p:sp>
      <p:sp>
        <p:nvSpPr>
          <p:cNvPr id="199" name="Google Shape;199;p17"/>
          <p:cNvSpPr txBox="1"/>
          <p:nvPr/>
        </p:nvSpPr>
        <p:spPr>
          <a:xfrm>
            <a:off x="457200" y="2593950"/>
            <a:ext cx="495300" cy="419100"/>
          </a:xfrm>
          <a:prstGeom prst="rect">
            <a:avLst/>
          </a:prstGeom>
          <a:noFill/>
          <a:ln>
            <a:noFill/>
          </a:ln>
        </p:spPr>
        <p:txBody>
          <a:bodyPr spcFirstLastPara="1" wrap="square" lIns="45713" tIns="45713" rIns="45713" bIns="45713" anchor="ctr" anchorCtr="0">
            <a:noAutofit/>
          </a:bodyPr>
          <a:lstStyle/>
          <a:p>
            <a:pPr algn="r"/>
            <a:r>
              <a:rPr lang="en" sz="1200"/>
              <a:t>3</a:t>
            </a:r>
            <a:endParaRPr sz="1200"/>
          </a:p>
        </p:txBody>
      </p:sp>
      <p:sp>
        <p:nvSpPr>
          <p:cNvPr id="200" name="Google Shape;200;p17"/>
          <p:cNvSpPr txBox="1"/>
          <p:nvPr/>
        </p:nvSpPr>
        <p:spPr>
          <a:xfrm>
            <a:off x="457200" y="4651350"/>
            <a:ext cx="495300" cy="419100"/>
          </a:xfrm>
          <a:prstGeom prst="rect">
            <a:avLst/>
          </a:prstGeom>
          <a:noFill/>
          <a:ln>
            <a:noFill/>
          </a:ln>
        </p:spPr>
        <p:txBody>
          <a:bodyPr spcFirstLastPara="1" wrap="square" lIns="45713" tIns="45713" rIns="45713" bIns="45713" anchor="ctr" anchorCtr="0">
            <a:noAutofit/>
          </a:bodyPr>
          <a:lstStyle/>
          <a:p>
            <a:pPr algn="r"/>
            <a:r>
              <a:rPr lang="en" sz="1200"/>
              <a:t>0</a:t>
            </a:r>
            <a:endParaRPr sz="1200"/>
          </a:p>
        </p:txBody>
      </p:sp>
      <p:cxnSp>
        <p:nvCxnSpPr>
          <p:cNvPr id="201" name="Google Shape;201;p17"/>
          <p:cNvCxnSpPr/>
          <p:nvPr/>
        </p:nvCxnSpPr>
        <p:spPr>
          <a:xfrm>
            <a:off x="3543300" y="20764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202" name="Google Shape;202;p17"/>
          <p:cNvCxnSpPr/>
          <p:nvPr/>
        </p:nvCxnSpPr>
        <p:spPr>
          <a:xfrm>
            <a:off x="8001000" y="2076450"/>
            <a:ext cx="0" cy="3527400"/>
          </a:xfrm>
          <a:prstGeom prst="straightConnector1">
            <a:avLst/>
          </a:prstGeom>
          <a:noFill/>
          <a:ln w="38100" cap="flat" cmpd="sng">
            <a:solidFill>
              <a:srgbClr val="595959"/>
            </a:solidFill>
            <a:prstDash val="dash"/>
            <a:round/>
            <a:headEnd type="none" w="med" len="med"/>
            <a:tailEnd type="none" w="med" len="med"/>
          </a:ln>
        </p:spPr>
      </p:cxnSp>
      <p:sp>
        <p:nvSpPr>
          <p:cNvPr id="203" name="Google Shape;203;p17"/>
          <p:cNvSpPr/>
          <p:nvPr/>
        </p:nvSpPr>
        <p:spPr>
          <a:xfrm>
            <a:off x="8001000" y="4003650"/>
            <a:ext cx="29895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204" name="Google Shape;204;p17"/>
          <p:cNvSpPr/>
          <p:nvPr/>
        </p:nvSpPr>
        <p:spPr>
          <a:xfrm>
            <a:off x="5181600" y="2632050"/>
            <a:ext cx="744150" cy="34290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rgbClr val="000000"/>
                </a:solidFill>
              </a:rPr>
              <a:t>Task </a:t>
            </a:r>
            <a:r>
              <a:rPr lang="en" sz="1200"/>
              <a:t>H</a:t>
            </a:r>
            <a:endParaRPr sz="1200">
              <a:solidFill>
                <a:srgbClr val="000000"/>
              </a:solidFill>
            </a:endParaRPr>
          </a:p>
        </p:txBody>
      </p:sp>
      <p:sp>
        <p:nvSpPr>
          <p:cNvPr id="205" name="Google Shape;205;p17"/>
          <p:cNvSpPr txBox="1"/>
          <p:nvPr/>
        </p:nvSpPr>
        <p:spPr>
          <a:xfrm>
            <a:off x="1537050" y="3013050"/>
            <a:ext cx="863250" cy="461651"/>
          </a:xfrm>
          <a:prstGeom prst="rect">
            <a:avLst/>
          </a:prstGeom>
          <a:noFill/>
          <a:ln>
            <a:noFill/>
          </a:ln>
        </p:spPr>
        <p:txBody>
          <a:bodyPr spcFirstLastPara="1" wrap="square" lIns="45713" tIns="45713" rIns="45713" bIns="45713" anchor="t" anchorCtr="0">
            <a:spAutoFit/>
          </a:bodyPr>
          <a:lstStyle/>
          <a:p>
            <a:pPr algn="ctr"/>
            <a:r>
              <a:rPr lang="en" sz="1200"/>
              <a:t>Task L takes lock</a:t>
            </a:r>
            <a:endParaRPr sz="1200"/>
          </a:p>
        </p:txBody>
      </p:sp>
      <p:cxnSp>
        <p:nvCxnSpPr>
          <p:cNvPr id="206" name="Google Shape;206;p17"/>
          <p:cNvCxnSpPr>
            <a:stCxn id="205" idx="2"/>
          </p:cNvCxnSpPr>
          <p:nvPr/>
        </p:nvCxnSpPr>
        <p:spPr>
          <a:xfrm>
            <a:off x="1968675" y="3474701"/>
            <a:ext cx="441600" cy="526999"/>
          </a:xfrm>
          <a:prstGeom prst="straightConnector1">
            <a:avLst/>
          </a:prstGeom>
          <a:noFill/>
          <a:ln w="38100" cap="flat" cmpd="sng">
            <a:solidFill>
              <a:schemeClr val="dk2"/>
            </a:solidFill>
            <a:prstDash val="solid"/>
            <a:round/>
            <a:headEnd type="none" w="med" len="med"/>
            <a:tailEnd type="triangle" w="med" len="med"/>
          </a:ln>
        </p:spPr>
      </p:cxnSp>
      <p:sp>
        <p:nvSpPr>
          <p:cNvPr id="207" name="Google Shape;207;p17"/>
          <p:cNvSpPr/>
          <p:nvPr/>
        </p:nvSpPr>
        <p:spPr>
          <a:xfrm>
            <a:off x="2438400" y="2632050"/>
            <a:ext cx="1104900" cy="342900"/>
          </a:xfrm>
          <a:prstGeom prst="rect">
            <a:avLst/>
          </a:prstGeom>
          <a:solidFill>
            <a:srgbClr val="F4CC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Task L</a:t>
            </a:r>
            <a:endParaRPr sz="1200"/>
          </a:p>
          <a:p>
            <a:pPr algn="ctr"/>
            <a:r>
              <a:rPr lang="en" sz="1200"/>
              <a:t>critical section</a:t>
            </a:r>
            <a:endParaRPr sz="1200"/>
          </a:p>
        </p:txBody>
      </p:sp>
      <p:sp>
        <p:nvSpPr>
          <p:cNvPr id="208" name="Google Shape;208;p17"/>
          <p:cNvSpPr/>
          <p:nvPr/>
        </p:nvSpPr>
        <p:spPr>
          <a:xfrm>
            <a:off x="5925488" y="3317850"/>
            <a:ext cx="1003350" cy="342900"/>
          </a:xfrm>
          <a:prstGeom prst="rect">
            <a:avLst/>
          </a:prstGeom>
          <a:solidFill>
            <a:srgbClr val="D9EAD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Task M</a:t>
            </a:r>
            <a:endParaRPr sz="1200"/>
          </a:p>
        </p:txBody>
      </p:sp>
      <p:cxnSp>
        <p:nvCxnSpPr>
          <p:cNvPr id="209" name="Google Shape;209;p17"/>
          <p:cNvCxnSpPr/>
          <p:nvPr/>
        </p:nvCxnSpPr>
        <p:spPr>
          <a:xfrm>
            <a:off x="5925488" y="2076450"/>
            <a:ext cx="0" cy="3527400"/>
          </a:xfrm>
          <a:prstGeom prst="straightConnector1">
            <a:avLst/>
          </a:prstGeom>
          <a:noFill/>
          <a:ln w="38100" cap="flat" cmpd="sng">
            <a:solidFill>
              <a:srgbClr val="595959"/>
            </a:solidFill>
            <a:prstDash val="dash"/>
            <a:round/>
            <a:headEnd type="none" w="med" len="med"/>
            <a:tailEnd type="none" w="med" len="med"/>
          </a:ln>
        </p:spPr>
      </p:cxnSp>
      <p:sp>
        <p:nvSpPr>
          <p:cNvPr id="210" name="Google Shape;210;p17"/>
          <p:cNvSpPr/>
          <p:nvPr/>
        </p:nvSpPr>
        <p:spPr>
          <a:xfrm>
            <a:off x="6999525" y="3317850"/>
            <a:ext cx="1003350" cy="342900"/>
          </a:xfrm>
          <a:prstGeom prst="rect">
            <a:avLst/>
          </a:prstGeom>
          <a:solidFill>
            <a:srgbClr val="D9EAD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211" name="Google Shape;211;p17"/>
          <p:cNvSpPr/>
          <p:nvPr/>
        </p:nvSpPr>
        <p:spPr>
          <a:xfrm>
            <a:off x="6839888" y="3213150"/>
            <a:ext cx="263100" cy="567150"/>
          </a:xfrm>
          <a:prstGeom prst="rect">
            <a:avLst/>
          </a:prstGeom>
          <a:solidFill>
            <a:srgbClr val="FFFFFF"/>
          </a:solidFill>
          <a:ln>
            <a:noFill/>
          </a:ln>
        </p:spPr>
        <p:txBody>
          <a:bodyPr spcFirstLastPara="1" wrap="square" lIns="45713" tIns="45713" rIns="45713" bIns="45713" anchor="ctr" anchorCtr="0">
            <a:noAutofit/>
          </a:bodyPr>
          <a:lstStyle/>
          <a:p>
            <a:endParaRPr sz="900"/>
          </a:p>
        </p:txBody>
      </p:sp>
      <p:sp>
        <p:nvSpPr>
          <p:cNvPr id="212" name="Google Shape;212;p17"/>
          <p:cNvSpPr/>
          <p:nvPr/>
        </p:nvSpPr>
        <p:spPr>
          <a:xfrm>
            <a:off x="6794563" y="3305850"/>
            <a:ext cx="51273" cy="203204"/>
          </a:xfrm>
          <a:custGeom>
            <a:avLst/>
            <a:gdLst/>
            <a:ahLst/>
            <a:cxnLst/>
            <a:rect l="l" t="t" r="r" b="b"/>
            <a:pathLst>
              <a:path w="4062" h="15257" extrusionOk="0">
                <a:moveTo>
                  <a:pt x="3567" y="0"/>
                </a:moveTo>
                <a:lnTo>
                  <a:pt x="99" y="5647"/>
                </a:lnTo>
                <a:lnTo>
                  <a:pt x="0" y="9115"/>
                </a:lnTo>
                <a:lnTo>
                  <a:pt x="4062" y="15257"/>
                </a:lnTo>
                <a:close/>
              </a:path>
            </a:pathLst>
          </a:custGeom>
          <a:solidFill>
            <a:srgbClr val="FFFFFF"/>
          </a:solidFill>
          <a:ln>
            <a:noFill/>
          </a:ln>
        </p:spPr>
      </p:sp>
      <p:sp>
        <p:nvSpPr>
          <p:cNvPr id="213" name="Google Shape;213;p17"/>
          <p:cNvSpPr/>
          <p:nvPr/>
        </p:nvSpPr>
        <p:spPr>
          <a:xfrm>
            <a:off x="7031588" y="3297800"/>
            <a:ext cx="121975" cy="379550"/>
          </a:xfrm>
          <a:custGeom>
            <a:avLst/>
            <a:gdLst/>
            <a:ahLst/>
            <a:cxnLst/>
            <a:rect l="l" t="t" r="r" b="b"/>
            <a:pathLst>
              <a:path w="9758" h="30364" extrusionOk="0">
                <a:moveTo>
                  <a:pt x="9015" y="0"/>
                </a:moveTo>
                <a:lnTo>
                  <a:pt x="5548" y="6687"/>
                </a:lnTo>
                <a:lnTo>
                  <a:pt x="5399" y="11591"/>
                </a:lnTo>
                <a:lnTo>
                  <a:pt x="7331" y="14414"/>
                </a:lnTo>
                <a:lnTo>
                  <a:pt x="9758" y="18476"/>
                </a:lnTo>
                <a:lnTo>
                  <a:pt x="9411" y="21943"/>
                </a:lnTo>
                <a:lnTo>
                  <a:pt x="7628" y="27788"/>
                </a:lnTo>
                <a:lnTo>
                  <a:pt x="6340" y="30364"/>
                </a:lnTo>
                <a:lnTo>
                  <a:pt x="1189" y="30166"/>
                </a:lnTo>
                <a:lnTo>
                  <a:pt x="0" y="446"/>
                </a:lnTo>
                <a:close/>
              </a:path>
            </a:pathLst>
          </a:custGeom>
          <a:solidFill>
            <a:srgbClr val="FFFFFF"/>
          </a:solidFill>
          <a:ln>
            <a:noFill/>
          </a:ln>
        </p:spPr>
      </p:sp>
      <p:sp>
        <p:nvSpPr>
          <p:cNvPr id="214" name="Google Shape;214;p17"/>
          <p:cNvSpPr/>
          <p:nvPr/>
        </p:nvSpPr>
        <p:spPr>
          <a:xfrm>
            <a:off x="7092563" y="3254013"/>
            <a:ext cx="79250" cy="470575"/>
          </a:xfrm>
          <a:custGeom>
            <a:avLst/>
            <a:gdLst/>
            <a:ahLst/>
            <a:cxnLst/>
            <a:rect l="l" t="t" r="r" b="b"/>
            <a:pathLst>
              <a:path w="6340" h="37646" extrusionOk="0">
                <a:moveTo>
                  <a:pt x="6340" y="0"/>
                </a:moveTo>
                <a:cubicBezTo>
                  <a:pt x="5316" y="2147"/>
                  <a:pt x="462" y="9048"/>
                  <a:pt x="198" y="12879"/>
                </a:cubicBezTo>
                <a:cubicBezTo>
                  <a:pt x="-66" y="16710"/>
                  <a:pt x="4788" y="18856"/>
                  <a:pt x="4755" y="22984"/>
                </a:cubicBezTo>
                <a:cubicBezTo>
                  <a:pt x="4722" y="27112"/>
                  <a:pt x="793" y="35202"/>
                  <a:pt x="0" y="37646"/>
                </a:cubicBezTo>
              </a:path>
            </a:pathLst>
          </a:custGeom>
          <a:noFill/>
          <a:ln w="38100" cap="flat" cmpd="sng">
            <a:solidFill>
              <a:schemeClr val="dk2"/>
            </a:solidFill>
            <a:prstDash val="solid"/>
            <a:round/>
            <a:headEnd type="none" w="med" len="med"/>
            <a:tailEnd type="none" w="med" len="med"/>
          </a:ln>
        </p:spPr>
      </p:sp>
      <p:sp>
        <p:nvSpPr>
          <p:cNvPr id="215" name="Google Shape;215;p17"/>
          <p:cNvSpPr/>
          <p:nvPr/>
        </p:nvSpPr>
        <p:spPr>
          <a:xfrm>
            <a:off x="6809925" y="3607388"/>
            <a:ext cx="43950" cy="75538"/>
          </a:xfrm>
          <a:custGeom>
            <a:avLst/>
            <a:gdLst/>
            <a:ahLst/>
            <a:cxnLst/>
            <a:rect l="l" t="t" r="r" b="b"/>
            <a:pathLst>
              <a:path w="3516" h="6043" extrusionOk="0">
                <a:moveTo>
                  <a:pt x="0" y="5993"/>
                </a:moveTo>
                <a:lnTo>
                  <a:pt x="2476" y="0"/>
                </a:lnTo>
                <a:lnTo>
                  <a:pt x="3516" y="6043"/>
                </a:lnTo>
                <a:close/>
              </a:path>
            </a:pathLst>
          </a:custGeom>
          <a:solidFill>
            <a:srgbClr val="FFFFFF"/>
          </a:solidFill>
          <a:ln>
            <a:noFill/>
          </a:ln>
        </p:spPr>
      </p:sp>
      <p:sp>
        <p:nvSpPr>
          <p:cNvPr id="216" name="Google Shape;216;p17"/>
          <p:cNvSpPr/>
          <p:nvPr/>
        </p:nvSpPr>
        <p:spPr>
          <a:xfrm>
            <a:off x="6790838" y="3254013"/>
            <a:ext cx="79250" cy="470575"/>
          </a:xfrm>
          <a:custGeom>
            <a:avLst/>
            <a:gdLst/>
            <a:ahLst/>
            <a:cxnLst/>
            <a:rect l="l" t="t" r="r" b="b"/>
            <a:pathLst>
              <a:path w="6340" h="37646" extrusionOk="0">
                <a:moveTo>
                  <a:pt x="6340" y="0"/>
                </a:moveTo>
                <a:cubicBezTo>
                  <a:pt x="5316" y="2147"/>
                  <a:pt x="462" y="9048"/>
                  <a:pt x="198" y="12879"/>
                </a:cubicBezTo>
                <a:cubicBezTo>
                  <a:pt x="-66" y="16710"/>
                  <a:pt x="4788" y="18856"/>
                  <a:pt x="4755" y="22984"/>
                </a:cubicBezTo>
                <a:cubicBezTo>
                  <a:pt x="4722" y="27112"/>
                  <a:pt x="793" y="35202"/>
                  <a:pt x="0" y="37646"/>
                </a:cubicBezTo>
              </a:path>
            </a:pathLst>
          </a:custGeom>
          <a:noFill/>
          <a:ln w="38100" cap="flat" cmpd="sng">
            <a:solidFill>
              <a:schemeClr val="dk2"/>
            </a:solidFill>
            <a:prstDash val="solid"/>
            <a:round/>
            <a:headEnd type="none" w="med" len="med"/>
            <a:tailEnd type="none" w="med" len="med"/>
          </a:ln>
        </p:spPr>
      </p:sp>
      <p:sp>
        <p:nvSpPr>
          <p:cNvPr id="217" name="Google Shape;217;p17"/>
          <p:cNvSpPr/>
          <p:nvPr/>
        </p:nvSpPr>
        <p:spPr>
          <a:xfrm>
            <a:off x="6827738" y="5015475"/>
            <a:ext cx="298950" cy="567150"/>
          </a:xfrm>
          <a:prstGeom prst="rect">
            <a:avLst/>
          </a:prstGeom>
          <a:solidFill>
            <a:srgbClr val="FFFFFF"/>
          </a:solidFill>
          <a:ln>
            <a:noFill/>
          </a:ln>
        </p:spPr>
        <p:txBody>
          <a:bodyPr spcFirstLastPara="1" wrap="square" lIns="45713" tIns="45713" rIns="45713" bIns="45713" anchor="ctr" anchorCtr="0">
            <a:noAutofit/>
          </a:bodyPr>
          <a:lstStyle/>
          <a:p>
            <a:endParaRPr sz="900"/>
          </a:p>
        </p:txBody>
      </p:sp>
      <p:sp>
        <p:nvSpPr>
          <p:cNvPr id="218" name="Google Shape;218;p17"/>
          <p:cNvSpPr/>
          <p:nvPr/>
        </p:nvSpPr>
        <p:spPr>
          <a:xfrm>
            <a:off x="7092563" y="5153994"/>
            <a:ext cx="79250" cy="290110"/>
          </a:xfrm>
          <a:custGeom>
            <a:avLst/>
            <a:gdLst/>
            <a:ahLst/>
            <a:cxnLst/>
            <a:rect l="l" t="t" r="r" b="b"/>
            <a:pathLst>
              <a:path w="6340" h="37646" extrusionOk="0">
                <a:moveTo>
                  <a:pt x="6340" y="0"/>
                </a:moveTo>
                <a:cubicBezTo>
                  <a:pt x="5316" y="2147"/>
                  <a:pt x="462" y="9048"/>
                  <a:pt x="198" y="12879"/>
                </a:cubicBezTo>
                <a:cubicBezTo>
                  <a:pt x="-66" y="16710"/>
                  <a:pt x="4788" y="18856"/>
                  <a:pt x="4755" y="22984"/>
                </a:cubicBezTo>
                <a:cubicBezTo>
                  <a:pt x="4722" y="27112"/>
                  <a:pt x="793" y="35202"/>
                  <a:pt x="0" y="37646"/>
                </a:cubicBezTo>
              </a:path>
            </a:pathLst>
          </a:custGeom>
          <a:noFill/>
          <a:ln w="38100" cap="flat" cmpd="sng">
            <a:solidFill>
              <a:schemeClr val="dk2"/>
            </a:solidFill>
            <a:prstDash val="solid"/>
            <a:round/>
            <a:headEnd type="none" w="med" len="med"/>
            <a:tailEnd type="none" w="med" len="med"/>
          </a:ln>
        </p:spPr>
      </p:sp>
      <p:sp>
        <p:nvSpPr>
          <p:cNvPr id="219" name="Google Shape;219;p17"/>
          <p:cNvSpPr/>
          <p:nvPr/>
        </p:nvSpPr>
        <p:spPr>
          <a:xfrm>
            <a:off x="6790838" y="5153994"/>
            <a:ext cx="79250" cy="290110"/>
          </a:xfrm>
          <a:custGeom>
            <a:avLst/>
            <a:gdLst/>
            <a:ahLst/>
            <a:cxnLst/>
            <a:rect l="l" t="t" r="r" b="b"/>
            <a:pathLst>
              <a:path w="6340" h="37646" extrusionOk="0">
                <a:moveTo>
                  <a:pt x="6340" y="0"/>
                </a:moveTo>
                <a:cubicBezTo>
                  <a:pt x="5316" y="2147"/>
                  <a:pt x="462" y="9048"/>
                  <a:pt x="198" y="12879"/>
                </a:cubicBezTo>
                <a:cubicBezTo>
                  <a:pt x="-66" y="16710"/>
                  <a:pt x="4788" y="18856"/>
                  <a:pt x="4755" y="22984"/>
                </a:cubicBezTo>
                <a:cubicBezTo>
                  <a:pt x="4722" y="27112"/>
                  <a:pt x="793" y="35202"/>
                  <a:pt x="0" y="37646"/>
                </a:cubicBezTo>
              </a:path>
            </a:pathLst>
          </a:custGeom>
          <a:noFill/>
          <a:ln w="38100" cap="flat" cmpd="sng">
            <a:solidFill>
              <a:schemeClr val="dk2"/>
            </a:solidFill>
            <a:prstDash val="solid"/>
            <a:round/>
            <a:headEnd type="none" w="med" len="med"/>
            <a:tailEnd type="none" w="med" len="med"/>
          </a:ln>
        </p:spPr>
      </p:sp>
      <p:sp>
        <p:nvSpPr>
          <p:cNvPr id="220" name="Google Shape;220;p17"/>
          <p:cNvSpPr txBox="1"/>
          <p:nvPr/>
        </p:nvSpPr>
        <p:spPr>
          <a:xfrm>
            <a:off x="2300850" y="1578825"/>
            <a:ext cx="1341900" cy="461651"/>
          </a:xfrm>
          <a:prstGeom prst="rect">
            <a:avLst/>
          </a:prstGeom>
          <a:noFill/>
          <a:ln>
            <a:noFill/>
          </a:ln>
        </p:spPr>
        <p:txBody>
          <a:bodyPr spcFirstLastPara="1" wrap="square" lIns="45713" tIns="45713" rIns="45713" bIns="45713" anchor="t" anchorCtr="0">
            <a:spAutoFit/>
          </a:bodyPr>
          <a:lstStyle/>
          <a:p>
            <a:pPr algn="ctr"/>
            <a:r>
              <a:rPr lang="en" sz="1200"/>
              <a:t>Task L executes at elevated priority</a:t>
            </a:r>
            <a:endParaRPr sz="1200"/>
          </a:p>
        </p:txBody>
      </p:sp>
      <p:cxnSp>
        <p:nvCxnSpPr>
          <p:cNvPr id="221" name="Google Shape;221;p17"/>
          <p:cNvCxnSpPr/>
          <p:nvPr/>
        </p:nvCxnSpPr>
        <p:spPr>
          <a:xfrm>
            <a:off x="4114800" y="2076450"/>
            <a:ext cx="0" cy="3527400"/>
          </a:xfrm>
          <a:prstGeom prst="straightConnector1">
            <a:avLst/>
          </a:prstGeom>
          <a:noFill/>
          <a:ln w="38100" cap="flat" cmpd="sng">
            <a:solidFill>
              <a:srgbClr val="595959"/>
            </a:solidFill>
            <a:prstDash val="dash"/>
            <a:round/>
            <a:headEnd type="none" w="med" len="med"/>
            <a:tailEnd type="none" w="med" len="med"/>
          </a:ln>
        </p:spPr>
      </p:cxnSp>
      <p:sp>
        <p:nvSpPr>
          <p:cNvPr id="222" name="Google Shape;222;p17"/>
          <p:cNvSpPr/>
          <p:nvPr/>
        </p:nvSpPr>
        <p:spPr>
          <a:xfrm>
            <a:off x="4114800" y="2632050"/>
            <a:ext cx="1066800" cy="342900"/>
          </a:xfrm>
          <a:prstGeom prst="rect">
            <a:avLst/>
          </a:prstGeom>
          <a:solidFill>
            <a:srgbClr val="F4CC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Task H</a:t>
            </a:r>
            <a:endParaRPr sz="1200"/>
          </a:p>
          <a:p>
            <a:pPr algn="ctr"/>
            <a:r>
              <a:rPr lang="en" sz="1200"/>
              <a:t>critical section</a:t>
            </a:r>
            <a:endParaRPr sz="1200"/>
          </a:p>
        </p:txBody>
      </p:sp>
      <p:sp>
        <p:nvSpPr>
          <p:cNvPr id="223" name="Google Shape;223;p17"/>
          <p:cNvSpPr/>
          <p:nvPr/>
        </p:nvSpPr>
        <p:spPr>
          <a:xfrm>
            <a:off x="6840542" y="2632050"/>
            <a:ext cx="245400" cy="34290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solidFill>
                <a:srgbClr val="000000"/>
              </a:solidFill>
            </a:endParaRPr>
          </a:p>
        </p:txBody>
      </p:sp>
      <p:sp>
        <p:nvSpPr>
          <p:cNvPr id="224" name="Google Shape;224;p17"/>
          <p:cNvSpPr txBox="1"/>
          <p:nvPr/>
        </p:nvSpPr>
        <p:spPr>
          <a:xfrm>
            <a:off x="6147395" y="1578825"/>
            <a:ext cx="1631700" cy="461651"/>
          </a:xfrm>
          <a:prstGeom prst="rect">
            <a:avLst/>
          </a:prstGeom>
          <a:noFill/>
          <a:ln>
            <a:noFill/>
          </a:ln>
        </p:spPr>
        <p:txBody>
          <a:bodyPr spcFirstLastPara="1" wrap="square" lIns="45713" tIns="45713" rIns="45713" bIns="45713" anchor="t" anchorCtr="0">
            <a:spAutoFit/>
          </a:bodyPr>
          <a:lstStyle/>
          <a:p>
            <a:pPr algn="ctr"/>
            <a:r>
              <a:rPr lang="en" sz="1200"/>
              <a:t>Task H can now freely preempt Task M</a:t>
            </a:r>
            <a:endParaRPr sz="1200"/>
          </a:p>
        </p:txBody>
      </p:sp>
      <p:sp>
        <p:nvSpPr>
          <p:cNvPr id="225" name="Google Shape;225;p17"/>
          <p:cNvSpPr txBox="1"/>
          <p:nvPr/>
        </p:nvSpPr>
        <p:spPr>
          <a:xfrm>
            <a:off x="2583263" y="3391413"/>
            <a:ext cx="863250" cy="646317"/>
          </a:xfrm>
          <a:prstGeom prst="rect">
            <a:avLst/>
          </a:prstGeom>
          <a:noFill/>
          <a:ln>
            <a:noFill/>
          </a:ln>
        </p:spPr>
        <p:txBody>
          <a:bodyPr spcFirstLastPara="1" wrap="square" lIns="45713" tIns="45713" rIns="45713" bIns="45713" anchor="t" anchorCtr="0">
            <a:spAutoFit/>
          </a:bodyPr>
          <a:lstStyle/>
          <a:p>
            <a:pPr algn="ctr"/>
            <a:r>
              <a:rPr lang="en" sz="1200"/>
              <a:t>Task L releases lock</a:t>
            </a:r>
            <a:endParaRPr sz="1200"/>
          </a:p>
        </p:txBody>
      </p:sp>
      <p:cxnSp>
        <p:nvCxnSpPr>
          <p:cNvPr id="226" name="Google Shape;226;p17"/>
          <p:cNvCxnSpPr/>
          <p:nvPr/>
        </p:nvCxnSpPr>
        <p:spPr>
          <a:xfrm rot="10800000" flipH="1">
            <a:off x="3219638" y="2986213"/>
            <a:ext cx="322050" cy="421050"/>
          </a:xfrm>
          <a:prstGeom prst="straightConnector1">
            <a:avLst/>
          </a:prstGeom>
          <a:noFill/>
          <a:ln w="38100" cap="flat" cmpd="sng">
            <a:solidFill>
              <a:schemeClr val="dk2"/>
            </a:solidFill>
            <a:prstDash val="solid"/>
            <a:round/>
            <a:headEnd type="none" w="med" len="med"/>
            <a:tailEnd type="triangle" w="med" len="med"/>
          </a:ln>
        </p:spPr>
      </p:cxnSp>
      <p:sp>
        <p:nvSpPr>
          <p:cNvPr id="227" name="Google Shape;227;p17"/>
          <p:cNvSpPr txBox="1"/>
          <p:nvPr/>
        </p:nvSpPr>
        <p:spPr>
          <a:xfrm>
            <a:off x="275150" y="1245975"/>
            <a:ext cx="1730850" cy="553984"/>
          </a:xfrm>
          <a:prstGeom prst="rect">
            <a:avLst/>
          </a:prstGeom>
          <a:noFill/>
          <a:ln>
            <a:noFill/>
          </a:ln>
        </p:spPr>
        <p:txBody>
          <a:bodyPr spcFirstLastPara="1" wrap="square" lIns="45713" tIns="45713" rIns="45713" bIns="45713" anchor="t" anchorCtr="0">
            <a:spAutoFit/>
          </a:bodyPr>
          <a:lstStyle/>
          <a:p>
            <a:r>
              <a:rPr lang="en" sz="1500"/>
              <a:t>Lock’s priority ceiling: 3</a:t>
            </a:r>
            <a:endParaRPr sz="15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7"/>
                                        </p:tgtEl>
                                        <p:attrNameLst>
                                          <p:attrName>style.visibility</p:attrName>
                                        </p:attrNameLst>
                                      </p:cBhvr>
                                      <p:to>
                                        <p:strVal val="visible"/>
                                      </p:to>
                                    </p:set>
                                    <p:animEffect transition="in" filter="fade">
                                      <p:cBhvr>
                                        <p:cTn id="7" dur="1000"/>
                                        <p:tgtEl>
                                          <p:spTgt spid="2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0"/>
                                        </p:tgtEl>
                                        <p:attrNameLst>
                                          <p:attrName>style.visibility</p:attrName>
                                        </p:attrNameLst>
                                      </p:cBhvr>
                                      <p:to>
                                        <p:strVal val="visible"/>
                                      </p:to>
                                    </p:set>
                                    <p:animEffect transition="in" filter="fade">
                                      <p:cBhvr>
                                        <p:cTn id="12" dur="1000"/>
                                        <p:tgtEl>
                                          <p:spTgt spid="190"/>
                                        </p:tgtEl>
                                      </p:cBhvr>
                                    </p:animEffect>
                                  </p:childTnLst>
                                </p:cTn>
                              </p:par>
                              <p:par>
                                <p:cTn id="13" presetID="10" presetClass="entr" presetSubtype="0" fill="hold" nodeType="withEffect">
                                  <p:stCondLst>
                                    <p:cond delay="0"/>
                                  </p:stCondLst>
                                  <p:childTnLst>
                                    <p:set>
                                      <p:cBhvr>
                                        <p:cTn id="14" dur="1" fill="hold">
                                          <p:stCondLst>
                                            <p:cond delay="0"/>
                                          </p:stCondLst>
                                        </p:cTn>
                                        <p:tgtEl>
                                          <p:spTgt spid="205"/>
                                        </p:tgtEl>
                                        <p:attrNameLst>
                                          <p:attrName>style.visibility</p:attrName>
                                        </p:attrNameLst>
                                      </p:cBhvr>
                                      <p:to>
                                        <p:strVal val="visible"/>
                                      </p:to>
                                    </p:set>
                                    <p:animEffect transition="in" filter="fade">
                                      <p:cBhvr>
                                        <p:cTn id="15" dur="1000"/>
                                        <p:tgtEl>
                                          <p:spTgt spid="205"/>
                                        </p:tgtEl>
                                      </p:cBhvr>
                                    </p:animEffect>
                                  </p:childTnLst>
                                </p:cTn>
                              </p:par>
                              <p:par>
                                <p:cTn id="16" presetID="10" presetClass="entr" presetSubtype="0" fill="hold" nodeType="withEffect">
                                  <p:stCondLst>
                                    <p:cond delay="0"/>
                                  </p:stCondLst>
                                  <p:childTnLst>
                                    <p:set>
                                      <p:cBhvr>
                                        <p:cTn id="17" dur="1" fill="hold">
                                          <p:stCondLst>
                                            <p:cond delay="0"/>
                                          </p:stCondLst>
                                        </p:cTn>
                                        <p:tgtEl>
                                          <p:spTgt spid="206"/>
                                        </p:tgtEl>
                                        <p:attrNameLst>
                                          <p:attrName>style.visibility</p:attrName>
                                        </p:attrNameLst>
                                      </p:cBhvr>
                                      <p:to>
                                        <p:strVal val="visible"/>
                                      </p:to>
                                    </p:set>
                                    <p:animEffect transition="in" filter="fade">
                                      <p:cBhvr>
                                        <p:cTn id="18" dur="1000"/>
                                        <p:tgtEl>
                                          <p:spTgt spid="206"/>
                                        </p:tgtEl>
                                      </p:cBhvr>
                                    </p:animEffect>
                                  </p:childTnLst>
                                </p:cTn>
                              </p:par>
                              <p:par>
                                <p:cTn id="19" presetID="10" presetClass="entr" presetSubtype="0" fill="hold" nodeType="withEffect">
                                  <p:stCondLst>
                                    <p:cond delay="0"/>
                                  </p:stCondLst>
                                  <p:childTnLst>
                                    <p:set>
                                      <p:cBhvr>
                                        <p:cTn id="20" dur="1" fill="hold">
                                          <p:stCondLst>
                                            <p:cond delay="0"/>
                                          </p:stCondLst>
                                        </p:cTn>
                                        <p:tgtEl>
                                          <p:spTgt spid="207"/>
                                        </p:tgtEl>
                                        <p:attrNameLst>
                                          <p:attrName>style.visibility</p:attrName>
                                        </p:attrNameLst>
                                      </p:cBhvr>
                                      <p:to>
                                        <p:strVal val="visible"/>
                                      </p:to>
                                    </p:set>
                                    <p:animEffect transition="in" filter="fade">
                                      <p:cBhvr>
                                        <p:cTn id="21" dur="1000"/>
                                        <p:tgtEl>
                                          <p:spTgt spid="207"/>
                                        </p:tgtEl>
                                      </p:cBhvr>
                                    </p:animEffect>
                                  </p:childTnLst>
                                </p:cTn>
                              </p:par>
                              <p:par>
                                <p:cTn id="22" presetID="10" presetClass="entr" presetSubtype="0" fill="hold" nodeType="withEffect">
                                  <p:stCondLst>
                                    <p:cond delay="0"/>
                                  </p:stCondLst>
                                  <p:childTnLst>
                                    <p:set>
                                      <p:cBhvr>
                                        <p:cTn id="23" dur="1" fill="hold">
                                          <p:stCondLst>
                                            <p:cond delay="0"/>
                                          </p:stCondLst>
                                        </p:cTn>
                                        <p:tgtEl>
                                          <p:spTgt spid="220"/>
                                        </p:tgtEl>
                                        <p:attrNameLst>
                                          <p:attrName>style.visibility</p:attrName>
                                        </p:attrNameLst>
                                      </p:cBhvr>
                                      <p:to>
                                        <p:strVal val="visible"/>
                                      </p:to>
                                    </p:set>
                                    <p:animEffect transition="in" filter="fade">
                                      <p:cBhvr>
                                        <p:cTn id="24" dur="1000"/>
                                        <p:tgtEl>
                                          <p:spTgt spid="22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01"/>
                                        </p:tgtEl>
                                        <p:attrNameLst>
                                          <p:attrName>style.visibility</p:attrName>
                                        </p:attrNameLst>
                                      </p:cBhvr>
                                      <p:to>
                                        <p:strVal val="visible"/>
                                      </p:to>
                                    </p:set>
                                    <p:animEffect transition="in" filter="fade">
                                      <p:cBhvr>
                                        <p:cTn id="29" dur="1000"/>
                                        <p:tgtEl>
                                          <p:spTgt spid="201"/>
                                        </p:tgtEl>
                                      </p:cBhvr>
                                    </p:animEffect>
                                  </p:childTnLst>
                                </p:cTn>
                              </p:par>
                              <p:par>
                                <p:cTn id="30" presetID="10" presetClass="entr" presetSubtype="0" fill="hold" nodeType="withEffect">
                                  <p:stCondLst>
                                    <p:cond delay="0"/>
                                  </p:stCondLst>
                                  <p:childTnLst>
                                    <p:set>
                                      <p:cBhvr>
                                        <p:cTn id="31" dur="1" fill="hold">
                                          <p:stCondLst>
                                            <p:cond delay="0"/>
                                          </p:stCondLst>
                                        </p:cTn>
                                        <p:tgtEl>
                                          <p:spTgt spid="225"/>
                                        </p:tgtEl>
                                        <p:attrNameLst>
                                          <p:attrName>style.visibility</p:attrName>
                                        </p:attrNameLst>
                                      </p:cBhvr>
                                      <p:to>
                                        <p:strVal val="visible"/>
                                      </p:to>
                                    </p:set>
                                    <p:animEffect transition="in" filter="fade">
                                      <p:cBhvr>
                                        <p:cTn id="32" dur="1000"/>
                                        <p:tgtEl>
                                          <p:spTgt spid="225"/>
                                        </p:tgtEl>
                                      </p:cBhvr>
                                    </p:animEffect>
                                  </p:childTnLst>
                                </p:cTn>
                              </p:par>
                              <p:par>
                                <p:cTn id="33" presetID="10" presetClass="entr" presetSubtype="0" fill="hold" nodeType="withEffect">
                                  <p:stCondLst>
                                    <p:cond delay="0"/>
                                  </p:stCondLst>
                                  <p:childTnLst>
                                    <p:set>
                                      <p:cBhvr>
                                        <p:cTn id="34" dur="1" fill="hold">
                                          <p:stCondLst>
                                            <p:cond delay="0"/>
                                          </p:stCondLst>
                                        </p:cTn>
                                        <p:tgtEl>
                                          <p:spTgt spid="226"/>
                                        </p:tgtEl>
                                        <p:attrNameLst>
                                          <p:attrName>style.visibility</p:attrName>
                                        </p:attrNameLst>
                                      </p:cBhvr>
                                      <p:to>
                                        <p:strVal val="visible"/>
                                      </p:to>
                                    </p:set>
                                    <p:animEffect transition="in" filter="fade">
                                      <p:cBhvr>
                                        <p:cTn id="35" dur="1000"/>
                                        <p:tgtEl>
                                          <p:spTgt spid="226"/>
                                        </p:tgtEl>
                                      </p:cBhvr>
                                    </p:animEffect>
                                  </p:childTnLst>
                                </p:cTn>
                              </p:par>
                              <p:par>
                                <p:cTn id="36" presetID="10" presetClass="entr" presetSubtype="0" fill="hold" nodeType="withEffect">
                                  <p:stCondLst>
                                    <p:cond delay="0"/>
                                  </p:stCondLst>
                                  <p:childTnLst>
                                    <p:set>
                                      <p:cBhvr>
                                        <p:cTn id="37" dur="1" fill="hold">
                                          <p:stCondLst>
                                            <p:cond delay="0"/>
                                          </p:stCondLst>
                                        </p:cTn>
                                        <p:tgtEl>
                                          <p:spTgt spid="196"/>
                                        </p:tgtEl>
                                        <p:attrNameLst>
                                          <p:attrName>style.visibility</p:attrName>
                                        </p:attrNameLst>
                                      </p:cBhvr>
                                      <p:to>
                                        <p:strVal val="visible"/>
                                      </p:to>
                                    </p:set>
                                    <p:animEffect transition="in" filter="fade">
                                      <p:cBhvr>
                                        <p:cTn id="38" dur="1000"/>
                                        <p:tgtEl>
                                          <p:spTgt spid="19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04"/>
                                        </p:tgtEl>
                                        <p:attrNameLst>
                                          <p:attrName>style.visibility</p:attrName>
                                        </p:attrNameLst>
                                      </p:cBhvr>
                                      <p:to>
                                        <p:strVal val="visible"/>
                                      </p:to>
                                    </p:set>
                                    <p:animEffect transition="in" filter="fade">
                                      <p:cBhvr>
                                        <p:cTn id="43" dur="1000"/>
                                        <p:tgtEl>
                                          <p:spTgt spid="204"/>
                                        </p:tgtEl>
                                      </p:cBhvr>
                                    </p:animEffect>
                                  </p:childTnLst>
                                </p:cTn>
                              </p:par>
                              <p:par>
                                <p:cTn id="44" presetID="10" presetClass="entr" presetSubtype="0" fill="hold" nodeType="withEffect">
                                  <p:stCondLst>
                                    <p:cond delay="0"/>
                                  </p:stCondLst>
                                  <p:childTnLst>
                                    <p:set>
                                      <p:cBhvr>
                                        <p:cTn id="45" dur="1" fill="hold">
                                          <p:stCondLst>
                                            <p:cond delay="0"/>
                                          </p:stCondLst>
                                        </p:cTn>
                                        <p:tgtEl>
                                          <p:spTgt spid="222"/>
                                        </p:tgtEl>
                                        <p:attrNameLst>
                                          <p:attrName>style.visibility</p:attrName>
                                        </p:attrNameLst>
                                      </p:cBhvr>
                                      <p:to>
                                        <p:strVal val="visible"/>
                                      </p:to>
                                    </p:set>
                                    <p:animEffect transition="in" filter="fade">
                                      <p:cBhvr>
                                        <p:cTn id="46" dur="1000"/>
                                        <p:tgtEl>
                                          <p:spTgt spid="222"/>
                                        </p:tgtEl>
                                      </p:cBhvr>
                                    </p:animEffect>
                                  </p:childTnLst>
                                </p:cTn>
                              </p:par>
                              <p:par>
                                <p:cTn id="47" presetID="10" presetClass="entr" presetSubtype="0" fill="hold" nodeType="withEffect">
                                  <p:stCondLst>
                                    <p:cond delay="0"/>
                                  </p:stCondLst>
                                  <p:childTnLst>
                                    <p:set>
                                      <p:cBhvr>
                                        <p:cTn id="48" dur="1" fill="hold">
                                          <p:stCondLst>
                                            <p:cond delay="0"/>
                                          </p:stCondLst>
                                        </p:cTn>
                                        <p:tgtEl>
                                          <p:spTgt spid="221"/>
                                        </p:tgtEl>
                                        <p:attrNameLst>
                                          <p:attrName>style.visibility</p:attrName>
                                        </p:attrNameLst>
                                      </p:cBhvr>
                                      <p:to>
                                        <p:strVal val="visible"/>
                                      </p:to>
                                    </p:set>
                                    <p:animEffect transition="in" filter="fade">
                                      <p:cBhvr>
                                        <p:cTn id="49" dur="1000"/>
                                        <p:tgtEl>
                                          <p:spTgt spid="221"/>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08"/>
                                        </p:tgtEl>
                                        <p:attrNameLst>
                                          <p:attrName>style.visibility</p:attrName>
                                        </p:attrNameLst>
                                      </p:cBhvr>
                                      <p:to>
                                        <p:strVal val="visible"/>
                                      </p:to>
                                    </p:set>
                                    <p:animEffect transition="in" filter="fade">
                                      <p:cBhvr>
                                        <p:cTn id="54" dur="1000"/>
                                        <p:tgtEl>
                                          <p:spTgt spid="208"/>
                                        </p:tgtEl>
                                      </p:cBhvr>
                                    </p:animEffect>
                                  </p:childTnLst>
                                </p:cTn>
                              </p:par>
                              <p:par>
                                <p:cTn id="55" presetID="10" presetClass="entr" presetSubtype="0" fill="hold" nodeType="withEffect">
                                  <p:stCondLst>
                                    <p:cond delay="0"/>
                                  </p:stCondLst>
                                  <p:childTnLst>
                                    <p:set>
                                      <p:cBhvr>
                                        <p:cTn id="56" dur="1" fill="hold">
                                          <p:stCondLst>
                                            <p:cond delay="0"/>
                                          </p:stCondLst>
                                        </p:cTn>
                                        <p:tgtEl>
                                          <p:spTgt spid="209"/>
                                        </p:tgtEl>
                                        <p:attrNameLst>
                                          <p:attrName>style.visibility</p:attrName>
                                        </p:attrNameLst>
                                      </p:cBhvr>
                                      <p:to>
                                        <p:strVal val="visible"/>
                                      </p:to>
                                    </p:set>
                                    <p:animEffect transition="in" filter="fade">
                                      <p:cBhvr>
                                        <p:cTn id="57" dur="1000"/>
                                        <p:tgtEl>
                                          <p:spTgt spid="209"/>
                                        </p:tgtEl>
                                      </p:cBhvr>
                                    </p:animEffect>
                                  </p:childTnLst>
                                </p:cTn>
                              </p:par>
                              <p:par>
                                <p:cTn id="58" presetID="10" presetClass="entr" presetSubtype="0" fill="hold" nodeType="withEffect">
                                  <p:stCondLst>
                                    <p:cond delay="0"/>
                                  </p:stCondLst>
                                  <p:childTnLst>
                                    <p:set>
                                      <p:cBhvr>
                                        <p:cTn id="59" dur="1" fill="hold">
                                          <p:stCondLst>
                                            <p:cond delay="0"/>
                                          </p:stCondLst>
                                        </p:cTn>
                                        <p:tgtEl>
                                          <p:spTgt spid="210"/>
                                        </p:tgtEl>
                                        <p:attrNameLst>
                                          <p:attrName>style.visibility</p:attrName>
                                        </p:attrNameLst>
                                      </p:cBhvr>
                                      <p:to>
                                        <p:strVal val="visible"/>
                                      </p:to>
                                    </p:set>
                                    <p:animEffect transition="in" filter="fade">
                                      <p:cBhvr>
                                        <p:cTn id="60" dur="1000"/>
                                        <p:tgtEl>
                                          <p:spTgt spid="210"/>
                                        </p:tgtEl>
                                      </p:cBhvr>
                                    </p:animEffect>
                                  </p:childTnLst>
                                </p:cTn>
                              </p:par>
                              <p:par>
                                <p:cTn id="61" presetID="10" presetClass="entr" presetSubtype="0" fill="hold" nodeType="withEffect">
                                  <p:stCondLst>
                                    <p:cond delay="0"/>
                                  </p:stCondLst>
                                  <p:childTnLst>
                                    <p:set>
                                      <p:cBhvr>
                                        <p:cTn id="62" dur="1" fill="hold">
                                          <p:stCondLst>
                                            <p:cond delay="0"/>
                                          </p:stCondLst>
                                        </p:cTn>
                                        <p:tgtEl>
                                          <p:spTgt spid="214"/>
                                        </p:tgtEl>
                                        <p:attrNameLst>
                                          <p:attrName>style.visibility</p:attrName>
                                        </p:attrNameLst>
                                      </p:cBhvr>
                                      <p:to>
                                        <p:strVal val="visible"/>
                                      </p:to>
                                    </p:set>
                                    <p:animEffect transition="in" filter="fade">
                                      <p:cBhvr>
                                        <p:cTn id="63" dur="1000"/>
                                        <p:tgtEl>
                                          <p:spTgt spid="214"/>
                                        </p:tgtEl>
                                      </p:cBhvr>
                                    </p:animEffect>
                                  </p:childTnLst>
                                </p:cTn>
                              </p:par>
                              <p:par>
                                <p:cTn id="64" presetID="10" presetClass="entr" presetSubtype="0" fill="hold" nodeType="withEffect">
                                  <p:stCondLst>
                                    <p:cond delay="0"/>
                                  </p:stCondLst>
                                  <p:childTnLst>
                                    <p:set>
                                      <p:cBhvr>
                                        <p:cTn id="65" dur="1" fill="hold">
                                          <p:stCondLst>
                                            <p:cond delay="0"/>
                                          </p:stCondLst>
                                        </p:cTn>
                                        <p:tgtEl>
                                          <p:spTgt spid="216"/>
                                        </p:tgtEl>
                                        <p:attrNameLst>
                                          <p:attrName>style.visibility</p:attrName>
                                        </p:attrNameLst>
                                      </p:cBhvr>
                                      <p:to>
                                        <p:strVal val="visible"/>
                                      </p:to>
                                    </p:set>
                                    <p:animEffect transition="in" filter="fade">
                                      <p:cBhvr>
                                        <p:cTn id="66" dur="1000"/>
                                        <p:tgtEl>
                                          <p:spTgt spid="216"/>
                                        </p:tgtEl>
                                      </p:cBhvr>
                                    </p:animEffect>
                                  </p:childTnLst>
                                </p:cTn>
                              </p:par>
                              <p:par>
                                <p:cTn id="67" presetID="10" presetClass="entr" presetSubtype="0" fill="hold" nodeType="withEffect">
                                  <p:stCondLst>
                                    <p:cond delay="0"/>
                                  </p:stCondLst>
                                  <p:childTnLst>
                                    <p:set>
                                      <p:cBhvr>
                                        <p:cTn id="68" dur="1" fill="hold">
                                          <p:stCondLst>
                                            <p:cond delay="0"/>
                                          </p:stCondLst>
                                        </p:cTn>
                                        <p:tgtEl>
                                          <p:spTgt spid="223"/>
                                        </p:tgtEl>
                                        <p:attrNameLst>
                                          <p:attrName>style.visibility</p:attrName>
                                        </p:attrNameLst>
                                      </p:cBhvr>
                                      <p:to>
                                        <p:strVal val="visible"/>
                                      </p:to>
                                    </p:set>
                                    <p:animEffect transition="in" filter="fade">
                                      <p:cBhvr>
                                        <p:cTn id="69" dur="1000"/>
                                        <p:tgtEl>
                                          <p:spTgt spid="223"/>
                                        </p:tgtEl>
                                      </p:cBhvr>
                                    </p:animEffect>
                                  </p:childTnLst>
                                </p:cTn>
                              </p:par>
                              <p:par>
                                <p:cTn id="70" presetID="10" presetClass="entr" presetSubtype="0" fill="hold" nodeType="withEffect">
                                  <p:stCondLst>
                                    <p:cond delay="0"/>
                                  </p:stCondLst>
                                  <p:childTnLst>
                                    <p:set>
                                      <p:cBhvr>
                                        <p:cTn id="71" dur="1" fill="hold">
                                          <p:stCondLst>
                                            <p:cond delay="0"/>
                                          </p:stCondLst>
                                        </p:cTn>
                                        <p:tgtEl>
                                          <p:spTgt spid="224"/>
                                        </p:tgtEl>
                                        <p:attrNameLst>
                                          <p:attrName>style.visibility</p:attrName>
                                        </p:attrNameLst>
                                      </p:cBhvr>
                                      <p:to>
                                        <p:strVal val="visible"/>
                                      </p:to>
                                    </p:set>
                                    <p:animEffect transition="in" filter="fade">
                                      <p:cBhvr>
                                        <p:cTn id="72" dur="1000"/>
                                        <p:tgtEl>
                                          <p:spTgt spid="22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02"/>
                                        </p:tgtEl>
                                        <p:attrNameLst>
                                          <p:attrName>style.visibility</p:attrName>
                                        </p:attrNameLst>
                                      </p:cBhvr>
                                      <p:to>
                                        <p:strVal val="visible"/>
                                      </p:to>
                                    </p:set>
                                    <p:animEffect transition="in" filter="fade">
                                      <p:cBhvr>
                                        <p:cTn id="77" dur="1000"/>
                                        <p:tgtEl>
                                          <p:spTgt spid="202"/>
                                        </p:tgtEl>
                                      </p:cBhvr>
                                    </p:animEffect>
                                  </p:childTnLst>
                                </p:cTn>
                              </p:par>
                              <p:par>
                                <p:cTn id="78" presetID="10" presetClass="entr" presetSubtype="0" fill="hold" nodeType="withEffect">
                                  <p:stCondLst>
                                    <p:cond delay="0"/>
                                  </p:stCondLst>
                                  <p:childTnLst>
                                    <p:set>
                                      <p:cBhvr>
                                        <p:cTn id="79" dur="1" fill="hold">
                                          <p:stCondLst>
                                            <p:cond delay="0"/>
                                          </p:stCondLst>
                                        </p:cTn>
                                        <p:tgtEl>
                                          <p:spTgt spid="203"/>
                                        </p:tgtEl>
                                        <p:attrNameLst>
                                          <p:attrName>style.visibility</p:attrName>
                                        </p:attrNameLst>
                                      </p:cBhvr>
                                      <p:to>
                                        <p:strVal val="visible"/>
                                      </p:to>
                                    </p:set>
                                    <p:animEffect transition="in" filter="fade">
                                      <p:cBhvr>
                                        <p:cTn id="80" dur="1000"/>
                                        <p:tgtEl>
                                          <p:spTgt spid="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cxnSp>
        <p:nvCxnSpPr>
          <p:cNvPr id="232" name="Google Shape;232;p18"/>
          <p:cNvCxnSpPr/>
          <p:nvPr/>
        </p:nvCxnSpPr>
        <p:spPr>
          <a:xfrm>
            <a:off x="1104900" y="5299050"/>
            <a:ext cx="7543800" cy="0"/>
          </a:xfrm>
          <a:prstGeom prst="straightConnector1">
            <a:avLst/>
          </a:prstGeom>
          <a:noFill/>
          <a:ln w="38100" cap="flat" cmpd="sng">
            <a:solidFill>
              <a:srgbClr val="595959"/>
            </a:solidFill>
            <a:prstDash val="solid"/>
            <a:round/>
            <a:headEnd type="none" w="med" len="med"/>
            <a:tailEnd type="triangle" w="med" len="med"/>
          </a:ln>
        </p:spPr>
      </p:cxnSp>
      <p:cxnSp>
        <p:nvCxnSpPr>
          <p:cNvPr id="233" name="Google Shape;233;p18"/>
          <p:cNvCxnSpPr/>
          <p:nvPr/>
        </p:nvCxnSpPr>
        <p:spPr>
          <a:xfrm>
            <a:off x="2476500" y="2076450"/>
            <a:ext cx="0" cy="3527400"/>
          </a:xfrm>
          <a:prstGeom prst="straightConnector1">
            <a:avLst/>
          </a:prstGeom>
          <a:noFill/>
          <a:ln w="38100" cap="flat" cmpd="sng">
            <a:solidFill>
              <a:srgbClr val="595959"/>
            </a:solidFill>
            <a:prstDash val="dash"/>
            <a:round/>
            <a:headEnd type="none" w="med" len="med"/>
            <a:tailEnd type="none" w="med" len="med"/>
          </a:ln>
        </p:spPr>
      </p:cxnSp>
      <p:sp>
        <p:nvSpPr>
          <p:cNvPr id="234" name="Google Shape;234;p18"/>
          <p:cNvSpPr/>
          <p:nvPr/>
        </p:nvSpPr>
        <p:spPr>
          <a:xfrm>
            <a:off x="1181100" y="4003650"/>
            <a:ext cx="121890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Task L</a:t>
            </a:r>
            <a:endParaRPr sz="1200"/>
          </a:p>
        </p:txBody>
      </p:sp>
      <p:sp>
        <p:nvSpPr>
          <p:cNvPr id="235" name="Google Shape;235;p18"/>
          <p:cNvSpPr txBox="1"/>
          <p:nvPr/>
        </p:nvSpPr>
        <p:spPr>
          <a:xfrm>
            <a:off x="8077200" y="5337150"/>
            <a:ext cx="762000" cy="266700"/>
          </a:xfrm>
          <a:prstGeom prst="rect">
            <a:avLst/>
          </a:prstGeom>
          <a:noFill/>
          <a:ln>
            <a:noFill/>
          </a:ln>
        </p:spPr>
        <p:txBody>
          <a:bodyPr spcFirstLastPara="1" wrap="square" lIns="45713" tIns="45713" rIns="45713" bIns="45713" anchor="ctr" anchorCtr="0">
            <a:noAutofit/>
          </a:bodyPr>
          <a:lstStyle/>
          <a:p>
            <a:pPr algn="ctr"/>
            <a:r>
              <a:rPr lang="en" sz="1200"/>
              <a:t>time</a:t>
            </a:r>
            <a:endParaRPr sz="1200"/>
          </a:p>
        </p:txBody>
      </p:sp>
      <p:sp>
        <p:nvSpPr>
          <p:cNvPr id="236" name="Google Shape;236;p18"/>
          <p:cNvSpPr txBox="1"/>
          <p:nvPr/>
        </p:nvSpPr>
        <p:spPr>
          <a:xfrm>
            <a:off x="457200" y="3965550"/>
            <a:ext cx="495300" cy="419100"/>
          </a:xfrm>
          <a:prstGeom prst="rect">
            <a:avLst/>
          </a:prstGeom>
          <a:noFill/>
          <a:ln>
            <a:noFill/>
          </a:ln>
        </p:spPr>
        <p:txBody>
          <a:bodyPr spcFirstLastPara="1" wrap="square" lIns="45713" tIns="45713" rIns="45713" bIns="45713" anchor="ctr" anchorCtr="0">
            <a:noAutofit/>
          </a:bodyPr>
          <a:lstStyle/>
          <a:p>
            <a:pPr algn="r"/>
            <a:r>
              <a:rPr lang="en" sz="1200"/>
              <a:t>1</a:t>
            </a:r>
            <a:endParaRPr sz="1200"/>
          </a:p>
        </p:txBody>
      </p:sp>
      <p:sp>
        <p:nvSpPr>
          <p:cNvPr id="237" name="Google Shape;237;p18"/>
          <p:cNvSpPr txBox="1"/>
          <p:nvPr/>
        </p:nvSpPr>
        <p:spPr>
          <a:xfrm>
            <a:off x="457200" y="3279750"/>
            <a:ext cx="495300" cy="419100"/>
          </a:xfrm>
          <a:prstGeom prst="rect">
            <a:avLst/>
          </a:prstGeom>
          <a:noFill/>
          <a:ln>
            <a:noFill/>
          </a:ln>
        </p:spPr>
        <p:txBody>
          <a:bodyPr spcFirstLastPara="1" wrap="square" lIns="45713" tIns="45713" rIns="45713" bIns="45713" anchor="ctr" anchorCtr="0">
            <a:noAutofit/>
          </a:bodyPr>
          <a:lstStyle/>
          <a:p>
            <a:pPr algn="r"/>
            <a:r>
              <a:rPr lang="en" sz="1200"/>
              <a:t>2</a:t>
            </a:r>
            <a:endParaRPr sz="1200"/>
          </a:p>
        </p:txBody>
      </p:sp>
      <p:sp>
        <p:nvSpPr>
          <p:cNvPr id="238" name="Google Shape;238;p18"/>
          <p:cNvSpPr txBox="1"/>
          <p:nvPr/>
        </p:nvSpPr>
        <p:spPr>
          <a:xfrm rot="-5400000">
            <a:off x="600075" y="2359263"/>
            <a:ext cx="438150" cy="419100"/>
          </a:xfrm>
          <a:prstGeom prst="rect">
            <a:avLst/>
          </a:prstGeom>
          <a:noFill/>
          <a:ln>
            <a:noFill/>
          </a:ln>
        </p:spPr>
        <p:txBody>
          <a:bodyPr spcFirstLastPara="1" wrap="square" lIns="45713" tIns="45713" rIns="45713" bIns="45713" anchor="ctr" anchorCtr="0">
            <a:noAutofit/>
          </a:bodyPr>
          <a:lstStyle/>
          <a:p>
            <a:pPr algn="ctr"/>
            <a:r>
              <a:rPr lang="en" sz="1200"/>
              <a:t>...</a:t>
            </a:r>
            <a:endParaRPr sz="1200"/>
          </a:p>
        </p:txBody>
      </p:sp>
      <p:sp>
        <p:nvSpPr>
          <p:cNvPr id="239" name="Google Shape;239;p18"/>
          <p:cNvSpPr/>
          <p:nvPr/>
        </p:nvSpPr>
        <p:spPr>
          <a:xfrm>
            <a:off x="2476500" y="2632050"/>
            <a:ext cx="571500" cy="34290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rgbClr val="000000"/>
                </a:solidFill>
              </a:rPr>
              <a:t>Task </a:t>
            </a:r>
            <a:r>
              <a:rPr lang="en" sz="1200"/>
              <a:t>H</a:t>
            </a:r>
            <a:endParaRPr sz="1200">
              <a:solidFill>
                <a:srgbClr val="000000"/>
              </a:solidFill>
            </a:endParaRPr>
          </a:p>
        </p:txBody>
      </p:sp>
      <p:sp>
        <p:nvSpPr>
          <p:cNvPr id="240" name="Google Shape;240;p18"/>
          <p:cNvSpPr txBox="1"/>
          <p:nvPr/>
        </p:nvSpPr>
        <p:spPr>
          <a:xfrm>
            <a:off x="228600" y="1949063"/>
            <a:ext cx="723900" cy="495900"/>
          </a:xfrm>
          <a:prstGeom prst="rect">
            <a:avLst/>
          </a:prstGeom>
          <a:noFill/>
          <a:ln>
            <a:noFill/>
          </a:ln>
        </p:spPr>
        <p:txBody>
          <a:bodyPr spcFirstLastPara="1" wrap="square" lIns="45713" tIns="45713" rIns="45713" bIns="45713" anchor="ctr" anchorCtr="0">
            <a:noAutofit/>
          </a:bodyPr>
          <a:lstStyle/>
          <a:p>
            <a:pPr algn="r"/>
            <a:r>
              <a:rPr lang="en" sz="1500"/>
              <a:t>Priority (S/W)</a:t>
            </a:r>
            <a:endParaRPr sz="1500"/>
          </a:p>
        </p:txBody>
      </p:sp>
      <p:sp>
        <p:nvSpPr>
          <p:cNvPr id="241" name="Google Shape;241;p18"/>
          <p:cNvSpPr txBox="1"/>
          <p:nvPr/>
        </p:nvSpPr>
        <p:spPr>
          <a:xfrm>
            <a:off x="2355150" y="857250"/>
            <a:ext cx="4433700" cy="706200"/>
          </a:xfrm>
          <a:prstGeom prst="rect">
            <a:avLst/>
          </a:prstGeom>
          <a:noFill/>
          <a:ln>
            <a:noFill/>
          </a:ln>
        </p:spPr>
        <p:txBody>
          <a:bodyPr spcFirstLastPara="1" wrap="square" lIns="45713" tIns="45713" rIns="45713" bIns="45713" anchor="ctr" anchorCtr="0">
            <a:noAutofit/>
          </a:bodyPr>
          <a:lstStyle/>
          <a:p>
            <a:pPr algn="ctr"/>
            <a:r>
              <a:rPr lang="en" sz="2400"/>
              <a:t>Priority Inheritance</a:t>
            </a:r>
            <a:endParaRPr sz="2400"/>
          </a:p>
        </p:txBody>
      </p:sp>
      <p:sp>
        <p:nvSpPr>
          <p:cNvPr id="242" name="Google Shape;242;p18"/>
          <p:cNvSpPr txBox="1"/>
          <p:nvPr/>
        </p:nvSpPr>
        <p:spPr>
          <a:xfrm>
            <a:off x="457200" y="2593950"/>
            <a:ext cx="495300" cy="419100"/>
          </a:xfrm>
          <a:prstGeom prst="rect">
            <a:avLst/>
          </a:prstGeom>
          <a:noFill/>
          <a:ln>
            <a:noFill/>
          </a:ln>
        </p:spPr>
        <p:txBody>
          <a:bodyPr spcFirstLastPara="1" wrap="square" lIns="45713" tIns="45713" rIns="45713" bIns="45713" anchor="ctr" anchorCtr="0">
            <a:noAutofit/>
          </a:bodyPr>
          <a:lstStyle/>
          <a:p>
            <a:pPr algn="r"/>
            <a:r>
              <a:rPr lang="en" sz="1200"/>
              <a:t>3</a:t>
            </a:r>
            <a:endParaRPr sz="1200"/>
          </a:p>
        </p:txBody>
      </p:sp>
      <p:sp>
        <p:nvSpPr>
          <p:cNvPr id="243" name="Google Shape;243;p18"/>
          <p:cNvSpPr txBox="1"/>
          <p:nvPr/>
        </p:nvSpPr>
        <p:spPr>
          <a:xfrm>
            <a:off x="457200" y="4651350"/>
            <a:ext cx="495300" cy="419100"/>
          </a:xfrm>
          <a:prstGeom prst="rect">
            <a:avLst/>
          </a:prstGeom>
          <a:noFill/>
          <a:ln>
            <a:noFill/>
          </a:ln>
        </p:spPr>
        <p:txBody>
          <a:bodyPr spcFirstLastPara="1" wrap="square" lIns="45713" tIns="45713" rIns="45713" bIns="45713" anchor="ctr" anchorCtr="0">
            <a:noAutofit/>
          </a:bodyPr>
          <a:lstStyle/>
          <a:p>
            <a:pPr algn="r"/>
            <a:r>
              <a:rPr lang="en" sz="1200"/>
              <a:t>0</a:t>
            </a:r>
            <a:endParaRPr sz="1200"/>
          </a:p>
        </p:txBody>
      </p:sp>
      <p:cxnSp>
        <p:nvCxnSpPr>
          <p:cNvPr id="244" name="Google Shape;244;p18"/>
          <p:cNvCxnSpPr/>
          <p:nvPr/>
        </p:nvCxnSpPr>
        <p:spPr>
          <a:xfrm>
            <a:off x="4114800" y="2076450"/>
            <a:ext cx="0" cy="3527400"/>
          </a:xfrm>
          <a:prstGeom prst="straightConnector1">
            <a:avLst/>
          </a:prstGeom>
          <a:noFill/>
          <a:ln w="38100" cap="flat" cmpd="sng">
            <a:solidFill>
              <a:srgbClr val="595959"/>
            </a:solidFill>
            <a:prstDash val="dash"/>
            <a:round/>
            <a:headEnd type="none" w="med" len="med"/>
            <a:tailEnd type="none" w="med" len="med"/>
          </a:ln>
        </p:spPr>
      </p:cxnSp>
      <p:cxnSp>
        <p:nvCxnSpPr>
          <p:cNvPr id="245" name="Google Shape;245;p18"/>
          <p:cNvCxnSpPr/>
          <p:nvPr/>
        </p:nvCxnSpPr>
        <p:spPr>
          <a:xfrm>
            <a:off x="8001000" y="2076450"/>
            <a:ext cx="0" cy="3527400"/>
          </a:xfrm>
          <a:prstGeom prst="straightConnector1">
            <a:avLst/>
          </a:prstGeom>
          <a:noFill/>
          <a:ln w="38100" cap="flat" cmpd="sng">
            <a:solidFill>
              <a:srgbClr val="595959"/>
            </a:solidFill>
            <a:prstDash val="dash"/>
            <a:round/>
            <a:headEnd type="none" w="med" len="med"/>
            <a:tailEnd type="none" w="med" len="med"/>
          </a:ln>
        </p:spPr>
      </p:cxnSp>
      <p:sp>
        <p:nvSpPr>
          <p:cNvPr id="246" name="Google Shape;246;p18"/>
          <p:cNvSpPr/>
          <p:nvPr/>
        </p:nvSpPr>
        <p:spPr>
          <a:xfrm>
            <a:off x="8001000" y="4003650"/>
            <a:ext cx="298950" cy="342900"/>
          </a:xfrm>
          <a:prstGeom prst="rect">
            <a:avLst/>
          </a:prstGeom>
          <a:solidFill>
            <a:srgbClr val="CFE2F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247" name="Google Shape;247;p18"/>
          <p:cNvSpPr/>
          <p:nvPr/>
        </p:nvSpPr>
        <p:spPr>
          <a:xfrm>
            <a:off x="5181600" y="2632050"/>
            <a:ext cx="744150" cy="34290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solidFill>
                  <a:srgbClr val="000000"/>
                </a:solidFill>
              </a:rPr>
              <a:t>Task </a:t>
            </a:r>
            <a:r>
              <a:rPr lang="en" sz="1200"/>
              <a:t>H</a:t>
            </a:r>
            <a:endParaRPr sz="1200">
              <a:solidFill>
                <a:srgbClr val="000000"/>
              </a:solidFill>
            </a:endParaRPr>
          </a:p>
        </p:txBody>
      </p:sp>
      <p:sp>
        <p:nvSpPr>
          <p:cNvPr id="248" name="Google Shape;248;p18"/>
          <p:cNvSpPr txBox="1"/>
          <p:nvPr/>
        </p:nvSpPr>
        <p:spPr>
          <a:xfrm>
            <a:off x="1537050" y="3013050"/>
            <a:ext cx="863250" cy="461651"/>
          </a:xfrm>
          <a:prstGeom prst="rect">
            <a:avLst/>
          </a:prstGeom>
          <a:noFill/>
          <a:ln>
            <a:noFill/>
          </a:ln>
        </p:spPr>
        <p:txBody>
          <a:bodyPr spcFirstLastPara="1" wrap="square" lIns="45713" tIns="45713" rIns="45713" bIns="45713" anchor="t" anchorCtr="0">
            <a:spAutoFit/>
          </a:bodyPr>
          <a:lstStyle/>
          <a:p>
            <a:pPr algn="ctr"/>
            <a:r>
              <a:rPr lang="en" sz="1200"/>
              <a:t>Task L takes lock</a:t>
            </a:r>
            <a:endParaRPr sz="1200"/>
          </a:p>
        </p:txBody>
      </p:sp>
      <p:cxnSp>
        <p:nvCxnSpPr>
          <p:cNvPr id="249" name="Google Shape;249;p18"/>
          <p:cNvCxnSpPr>
            <a:stCxn id="248" idx="2"/>
          </p:cNvCxnSpPr>
          <p:nvPr/>
        </p:nvCxnSpPr>
        <p:spPr>
          <a:xfrm>
            <a:off x="1968675" y="3474701"/>
            <a:ext cx="441600" cy="526999"/>
          </a:xfrm>
          <a:prstGeom prst="straightConnector1">
            <a:avLst/>
          </a:prstGeom>
          <a:noFill/>
          <a:ln w="38100" cap="flat" cmpd="sng">
            <a:solidFill>
              <a:schemeClr val="dk2"/>
            </a:solidFill>
            <a:prstDash val="solid"/>
            <a:round/>
            <a:headEnd type="none" w="med" len="med"/>
            <a:tailEnd type="triangle" w="med" len="med"/>
          </a:ln>
        </p:spPr>
      </p:cxnSp>
      <p:sp>
        <p:nvSpPr>
          <p:cNvPr id="250" name="Google Shape;250;p18"/>
          <p:cNvSpPr/>
          <p:nvPr/>
        </p:nvSpPr>
        <p:spPr>
          <a:xfrm>
            <a:off x="3048000" y="2632050"/>
            <a:ext cx="1066800" cy="342900"/>
          </a:xfrm>
          <a:prstGeom prst="rect">
            <a:avLst/>
          </a:prstGeom>
          <a:solidFill>
            <a:srgbClr val="F4CC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Task L</a:t>
            </a:r>
            <a:endParaRPr sz="1200"/>
          </a:p>
          <a:p>
            <a:pPr algn="ctr"/>
            <a:r>
              <a:rPr lang="en" sz="1200"/>
              <a:t>critical section</a:t>
            </a:r>
            <a:endParaRPr sz="1200"/>
          </a:p>
        </p:txBody>
      </p:sp>
      <p:sp>
        <p:nvSpPr>
          <p:cNvPr id="251" name="Google Shape;251;p18"/>
          <p:cNvSpPr/>
          <p:nvPr/>
        </p:nvSpPr>
        <p:spPr>
          <a:xfrm>
            <a:off x="5925488" y="3317850"/>
            <a:ext cx="1003350" cy="342900"/>
          </a:xfrm>
          <a:prstGeom prst="rect">
            <a:avLst/>
          </a:prstGeom>
          <a:solidFill>
            <a:srgbClr val="D9EAD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Task M</a:t>
            </a:r>
            <a:endParaRPr sz="1200"/>
          </a:p>
        </p:txBody>
      </p:sp>
      <p:cxnSp>
        <p:nvCxnSpPr>
          <p:cNvPr id="252" name="Google Shape;252;p18"/>
          <p:cNvCxnSpPr/>
          <p:nvPr/>
        </p:nvCxnSpPr>
        <p:spPr>
          <a:xfrm>
            <a:off x="5925488" y="2076450"/>
            <a:ext cx="0" cy="3527400"/>
          </a:xfrm>
          <a:prstGeom prst="straightConnector1">
            <a:avLst/>
          </a:prstGeom>
          <a:noFill/>
          <a:ln w="38100" cap="flat" cmpd="sng">
            <a:solidFill>
              <a:srgbClr val="595959"/>
            </a:solidFill>
            <a:prstDash val="dash"/>
            <a:round/>
            <a:headEnd type="none" w="med" len="med"/>
            <a:tailEnd type="none" w="med" len="med"/>
          </a:ln>
        </p:spPr>
      </p:cxnSp>
      <p:sp>
        <p:nvSpPr>
          <p:cNvPr id="253" name="Google Shape;253;p18"/>
          <p:cNvSpPr/>
          <p:nvPr/>
        </p:nvSpPr>
        <p:spPr>
          <a:xfrm>
            <a:off x="6999525" y="3317850"/>
            <a:ext cx="1003350" cy="342900"/>
          </a:xfrm>
          <a:prstGeom prst="rect">
            <a:avLst/>
          </a:prstGeom>
          <a:solidFill>
            <a:srgbClr val="D9EAD3"/>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254" name="Google Shape;254;p18"/>
          <p:cNvSpPr/>
          <p:nvPr/>
        </p:nvSpPr>
        <p:spPr>
          <a:xfrm>
            <a:off x="6839888" y="3213150"/>
            <a:ext cx="263100" cy="567150"/>
          </a:xfrm>
          <a:prstGeom prst="rect">
            <a:avLst/>
          </a:prstGeom>
          <a:solidFill>
            <a:srgbClr val="FFFFFF"/>
          </a:solidFill>
          <a:ln>
            <a:noFill/>
          </a:ln>
        </p:spPr>
        <p:txBody>
          <a:bodyPr spcFirstLastPara="1" wrap="square" lIns="45713" tIns="45713" rIns="45713" bIns="45713" anchor="ctr" anchorCtr="0">
            <a:noAutofit/>
          </a:bodyPr>
          <a:lstStyle/>
          <a:p>
            <a:endParaRPr sz="900"/>
          </a:p>
        </p:txBody>
      </p:sp>
      <p:sp>
        <p:nvSpPr>
          <p:cNvPr id="255" name="Google Shape;255;p18"/>
          <p:cNvSpPr/>
          <p:nvPr/>
        </p:nvSpPr>
        <p:spPr>
          <a:xfrm>
            <a:off x="6794563" y="3305850"/>
            <a:ext cx="51273" cy="203204"/>
          </a:xfrm>
          <a:custGeom>
            <a:avLst/>
            <a:gdLst/>
            <a:ahLst/>
            <a:cxnLst/>
            <a:rect l="l" t="t" r="r" b="b"/>
            <a:pathLst>
              <a:path w="4062" h="15257" extrusionOk="0">
                <a:moveTo>
                  <a:pt x="3567" y="0"/>
                </a:moveTo>
                <a:lnTo>
                  <a:pt x="99" y="5647"/>
                </a:lnTo>
                <a:lnTo>
                  <a:pt x="0" y="9115"/>
                </a:lnTo>
                <a:lnTo>
                  <a:pt x="4062" y="15257"/>
                </a:lnTo>
                <a:close/>
              </a:path>
            </a:pathLst>
          </a:custGeom>
          <a:solidFill>
            <a:srgbClr val="FFFFFF"/>
          </a:solidFill>
          <a:ln>
            <a:noFill/>
          </a:ln>
        </p:spPr>
      </p:sp>
      <p:sp>
        <p:nvSpPr>
          <p:cNvPr id="256" name="Google Shape;256;p18"/>
          <p:cNvSpPr/>
          <p:nvPr/>
        </p:nvSpPr>
        <p:spPr>
          <a:xfrm>
            <a:off x="7031588" y="3297800"/>
            <a:ext cx="121975" cy="379550"/>
          </a:xfrm>
          <a:custGeom>
            <a:avLst/>
            <a:gdLst/>
            <a:ahLst/>
            <a:cxnLst/>
            <a:rect l="l" t="t" r="r" b="b"/>
            <a:pathLst>
              <a:path w="9758" h="30364" extrusionOk="0">
                <a:moveTo>
                  <a:pt x="9015" y="0"/>
                </a:moveTo>
                <a:lnTo>
                  <a:pt x="5548" y="6687"/>
                </a:lnTo>
                <a:lnTo>
                  <a:pt x="5399" y="11591"/>
                </a:lnTo>
                <a:lnTo>
                  <a:pt x="7331" y="14414"/>
                </a:lnTo>
                <a:lnTo>
                  <a:pt x="9758" y="18476"/>
                </a:lnTo>
                <a:lnTo>
                  <a:pt x="9411" y="21943"/>
                </a:lnTo>
                <a:lnTo>
                  <a:pt x="7628" y="27788"/>
                </a:lnTo>
                <a:lnTo>
                  <a:pt x="6340" y="30364"/>
                </a:lnTo>
                <a:lnTo>
                  <a:pt x="1189" y="30166"/>
                </a:lnTo>
                <a:lnTo>
                  <a:pt x="0" y="446"/>
                </a:lnTo>
                <a:close/>
              </a:path>
            </a:pathLst>
          </a:custGeom>
          <a:solidFill>
            <a:srgbClr val="FFFFFF"/>
          </a:solidFill>
          <a:ln>
            <a:noFill/>
          </a:ln>
        </p:spPr>
      </p:sp>
      <p:sp>
        <p:nvSpPr>
          <p:cNvPr id="257" name="Google Shape;257;p18"/>
          <p:cNvSpPr/>
          <p:nvPr/>
        </p:nvSpPr>
        <p:spPr>
          <a:xfrm>
            <a:off x="7092563" y="3254013"/>
            <a:ext cx="79250" cy="470575"/>
          </a:xfrm>
          <a:custGeom>
            <a:avLst/>
            <a:gdLst/>
            <a:ahLst/>
            <a:cxnLst/>
            <a:rect l="l" t="t" r="r" b="b"/>
            <a:pathLst>
              <a:path w="6340" h="37646" extrusionOk="0">
                <a:moveTo>
                  <a:pt x="6340" y="0"/>
                </a:moveTo>
                <a:cubicBezTo>
                  <a:pt x="5316" y="2147"/>
                  <a:pt x="462" y="9048"/>
                  <a:pt x="198" y="12879"/>
                </a:cubicBezTo>
                <a:cubicBezTo>
                  <a:pt x="-66" y="16710"/>
                  <a:pt x="4788" y="18856"/>
                  <a:pt x="4755" y="22984"/>
                </a:cubicBezTo>
                <a:cubicBezTo>
                  <a:pt x="4722" y="27112"/>
                  <a:pt x="793" y="35202"/>
                  <a:pt x="0" y="37646"/>
                </a:cubicBezTo>
              </a:path>
            </a:pathLst>
          </a:custGeom>
          <a:noFill/>
          <a:ln w="38100" cap="flat" cmpd="sng">
            <a:solidFill>
              <a:schemeClr val="dk2"/>
            </a:solidFill>
            <a:prstDash val="solid"/>
            <a:round/>
            <a:headEnd type="none" w="med" len="med"/>
            <a:tailEnd type="none" w="med" len="med"/>
          </a:ln>
        </p:spPr>
      </p:sp>
      <p:sp>
        <p:nvSpPr>
          <p:cNvPr id="258" name="Google Shape;258;p18"/>
          <p:cNvSpPr/>
          <p:nvPr/>
        </p:nvSpPr>
        <p:spPr>
          <a:xfrm>
            <a:off x="6809925" y="3607388"/>
            <a:ext cx="43950" cy="75538"/>
          </a:xfrm>
          <a:custGeom>
            <a:avLst/>
            <a:gdLst/>
            <a:ahLst/>
            <a:cxnLst/>
            <a:rect l="l" t="t" r="r" b="b"/>
            <a:pathLst>
              <a:path w="3516" h="6043" extrusionOk="0">
                <a:moveTo>
                  <a:pt x="0" y="5993"/>
                </a:moveTo>
                <a:lnTo>
                  <a:pt x="2476" y="0"/>
                </a:lnTo>
                <a:lnTo>
                  <a:pt x="3516" y="6043"/>
                </a:lnTo>
                <a:close/>
              </a:path>
            </a:pathLst>
          </a:custGeom>
          <a:solidFill>
            <a:srgbClr val="FFFFFF"/>
          </a:solidFill>
          <a:ln>
            <a:noFill/>
          </a:ln>
        </p:spPr>
      </p:sp>
      <p:sp>
        <p:nvSpPr>
          <p:cNvPr id="259" name="Google Shape;259;p18"/>
          <p:cNvSpPr/>
          <p:nvPr/>
        </p:nvSpPr>
        <p:spPr>
          <a:xfrm>
            <a:off x="6790838" y="3254013"/>
            <a:ext cx="79250" cy="470575"/>
          </a:xfrm>
          <a:custGeom>
            <a:avLst/>
            <a:gdLst/>
            <a:ahLst/>
            <a:cxnLst/>
            <a:rect l="l" t="t" r="r" b="b"/>
            <a:pathLst>
              <a:path w="6340" h="37646" extrusionOk="0">
                <a:moveTo>
                  <a:pt x="6340" y="0"/>
                </a:moveTo>
                <a:cubicBezTo>
                  <a:pt x="5316" y="2147"/>
                  <a:pt x="462" y="9048"/>
                  <a:pt x="198" y="12879"/>
                </a:cubicBezTo>
                <a:cubicBezTo>
                  <a:pt x="-66" y="16710"/>
                  <a:pt x="4788" y="18856"/>
                  <a:pt x="4755" y="22984"/>
                </a:cubicBezTo>
                <a:cubicBezTo>
                  <a:pt x="4722" y="27112"/>
                  <a:pt x="793" y="35202"/>
                  <a:pt x="0" y="37646"/>
                </a:cubicBezTo>
              </a:path>
            </a:pathLst>
          </a:custGeom>
          <a:noFill/>
          <a:ln w="38100" cap="flat" cmpd="sng">
            <a:solidFill>
              <a:schemeClr val="dk2"/>
            </a:solidFill>
            <a:prstDash val="solid"/>
            <a:round/>
            <a:headEnd type="none" w="med" len="med"/>
            <a:tailEnd type="none" w="med" len="med"/>
          </a:ln>
        </p:spPr>
      </p:sp>
      <p:sp>
        <p:nvSpPr>
          <p:cNvPr id="260" name="Google Shape;260;p18"/>
          <p:cNvSpPr/>
          <p:nvPr/>
        </p:nvSpPr>
        <p:spPr>
          <a:xfrm>
            <a:off x="6827738" y="5015475"/>
            <a:ext cx="298950" cy="567150"/>
          </a:xfrm>
          <a:prstGeom prst="rect">
            <a:avLst/>
          </a:prstGeom>
          <a:solidFill>
            <a:srgbClr val="FFFFFF"/>
          </a:solidFill>
          <a:ln>
            <a:noFill/>
          </a:ln>
        </p:spPr>
        <p:txBody>
          <a:bodyPr spcFirstLastPara="1" wrap="square" lIns="45713" tIns="45713" rIns="45713" bIns="45713" anchor="ctr" anchorCtr="0">
            <a:noAutofit/>
          </a:bodyPr>
          <a:lstStyle/>
          <a:p>
            <a:endParaRPr sz="900"/>
          </a:p>
        </p:txBody>
      </p:sp>
      <p:sp>
        <p:nvSpPr>
          <p:cNvPr id="261" name="Google Shape;261;p18"/>
          <p:cNvSpPr/>
          <p:nvPr/>
        </p:nvSpPr>
        <p:spPr>
          <a:xfrm>
            <a:off x="7092563" y="5153994"/>
            <a:ext cx="79250" cy="290110"/>
          </a:xfrm>
          <a:custGeom>
            <a:avLst/>
            <a:gdLst/>
            <a:ahLst/>
            <a:cxnLst/>
            <a:rect l="l" t="t" r="r" b="b"/>
            <a:pathLst>
              <a:path w="6340" h="37646" extrusionOk="0">
                <a:moveTo>
                  <a:pt x="6340" y="0"/>
                </a:moveTo>
                <a:cubicBezTo>
                  <a:pt x="5316" y="2147"/>
                  <a:pt x="462" y="9048"/>
                  <a:pt x="198" y="12879"/>
                </a:cubicBezTo>
                <a:cubicBezTo>
                  <a:pt x="-66" y="16710"/>
                  <a:pt x="4788" y="18856"/>
                  <a:pt x="4755" y="22984"/>
                </a:cubicBezTo>
                <a:cubicBezTo>
                  <a:pt x="4722" y="27112"/>
                  <a:pt x="793" y="35202"/>
                  <a:pt x="0" y="37646"/>
                </a:cubicBezTo>
              </a:path>
            </a:pathLst>
          </a:custGeom>
          <a:noFill/>
          <a:ln w="38100" cap="flat" cmpd="sng">
            <a:solidFill>
              <a:schemeClr val="dk2"/>
            </a:solidFill>
            <a:prstDash val="solid"/>
            <a:round/>
            <a:headEnd type="none" w="med" len="med"/>
            <a:tailEnd type="none" w="med" len="med"/>
          </a:ln>
        </p:spPr>
      </p:sp>
      <p:sp>
        <p:nvSpPr>
          <p:cNvPr id="262" name="Google Shape;262;p18"/>
          <p:cNvSpPr/>
          <p:nvPr/>
        </p:nvSpPr>
        <p:spPr>
          <a:xfrm>
            <a:off x="6790838" y="5153994"/>
            <a:ext cx="79250" cy="290110"/>
          </a:xfrm>
          <a:custGeom>
            <a:avLst/>
            <a:gdLst/>
            <a:ahLst/>
            <a:cxnLst/>
            <a:rect l="l" t="t" r="r" b="b"/>
            <a:pathLst>
              <a:path w="6340" h="37646" extrusionOk="0">
                <a:moveTo>
                  <a:pt x="6340" y="0"/>
                </a:moveTo>
                <a:cubicBezTo>
                  <a:pt x="5316" y="2147"/>
                  <a:pt x="462" y="9048"/>
                  <a:pt x="198" y="12879"/>
                </a:cubicBezTo>
                <a:cubicBezTo>
                  <a:pt x="-66" y="16710"/>
                  <a:pt x="4788" y="18856"/>
                  <a:pt x="4755" y="22984"/>
                </a:cubicBezTo>
                <a:cubicBezTo>
                  <a:pt x="4722" y="27112"/>
                  <a:pt x="793" y="35202"/>
                  <a:pt x="0" y="37646"/>
                </a:cubicBezTo>
              </a:path>
            </a:pathLst>
          </a:custGeom>
          <a:noFill/>
          <a:ln w="38100" cap="flat" cmpd="sng">
            <a:solidFill>
              <a:schemeClr val="dk2"/>
            </a:solidFill>
            <a:prstDash val="solid"/>
            <a:round/>
            <a:headEnd type="none" w="med" len="med"/>
            <a:tailEnd type="none" w="med" len="med"/>
          </a:ln>
        </p:spPr>
      </p:sp>
      <p:sp>
        <p:nvSpPr>
          <p:cNvPr id="263" name="Google Shape;263;p18"/>
          <p:cNvSpPr txBox="1"/>
          <p:nvPr/>
        </p:nvSpPr>
        <p:spPr>
          <a:xfrm>
            <a:off x="2910450" y="1554125"/>
            <a:ext cx="1341900" cy="461651"/>
          </a:xfrm>
          <a:prstGeom prst="rect">
            <a:avLst/>
          </a:prstGeom>
          <a:noFill/>
          <a:ln>
            <a:noFill/>
          </a:ln>
        </p:spPr>
        <p:txBody>
          <a:bodyPr spcFirstLastPara="1" wrap="square" lIns="45713" tIns="45713" rIns="45713" bIns="45713" anchor="t" anchorCtr="0">
            <a:spAutoFit/>
          </a:bodyPr>
          <a:lstStyle/>
          <a:p>
            <a:pPr algn="ctr"/>
            <a:r>
              <a:rPr lang="en" sz="1200"/>
              <a:t>Task L assumes Task H’s priority</a:t>
            </a:r>
            <a:endParaRPr sz="1200"/>
          </a:p>
        </p:txBody>
      </p:sp>
      <p:cxnSp>
        <p:nvCxnSpPr>
          <p:cNvPr id="264" name="Google Shape;264;p18"/>
          <p:cNvCxnSpPr/>
          <p:nvPr/>
        </p:nvCxnSpPr>
        <p:spPr>
          <a:xfrm>
            <a:off x="3048000" y="2076450"/>
            <a:ext cx="0" cy="3527400"/>
          </a:xfrm>
          <a:prstGeom prst="straightConnector1">
            <a:avLst/>
          </a:prstGeom>
          <a:noFill/>
          <a:ln w="38100" cap="flat" cmpd="sng">
            <a:solidFill>
              <a:srgbClr val="595959"/>
            </a:solidFill>
            <a:prstDash val="dash"/>
            <a:round/>
            <a:headEnd type="none" w="med" len="med"/>
            <a:tailEnd type="none" w="med" len="med"/>
          </a:ln>
        </p:spPr>
      </p:cxnSp>
      <p:sp>
        <p:nvSpPr>
          <p:cNvPr id="265" name="Google Shape;265;p18"/>
          <p:cNvSpPr/>
          <p:nvPr/>
        </p:nvSpPr>
        <p:spPr>
          <a:xfrm>
            <a:off x="4114800" y="2632050"/>
            <a:ext cx="1066800" cy="342900"/>
          </a:xfrm>
          <a:prstGeom prst="rect">
            <a:avLst/>
          </a:prstGeom>
          <a:solidFill>
            <a:srgbClr val="F4CC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r>
              <a:rPr lang="en" sz="1200"/>
              <a:t>Task H</a:t>
            </a:r>
            <a:endParaRPr sz="1200"/>
          </a:p>
          <a:p>
            <a:pPr algn="ctr"/>
            <a:r>
              <a:rPr lang="en" sz="1200"/>
              <a:t>critical section</a:t>
            </a:r>
            <a:endParaRPr sz="1200"/>
          </a:p>
        </p:txBody>
      </p:sp>
      <p:sp>
        <p:nvSpPr>
          <p:cNvPr id="266" name="Google Shape;266;p18"/>
          <p:cNvSpPr/>
          <p:nvPr/>
        </p:nvSpPr>
        <p:spPr>
          <a:xfrm>
            <a:off x="6840542" y="2632050"/>
            <a:ext cx="245400" cy="342900"/>
          </a:xfrm>
          <a:prstGeom prst="rect">
            <a:avLst/>
          </a:prstGeom>
          <a:solidFill>
            <a:srgbClr val="FCE5CD"/>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solidFill>
                <a:srgbClr val="000000"/>
              </a:solidFill>
            </a:endParaRPr>
          </a:p>
        </p:txBody>
      </p:sp>
      <p:sp>
        <p:nvSpPr>
          <p:cNvPr id="267" name="Google Shape;267;p18"/>
          <p:cNvSpPr txBox="1"/>
          <p:nvPr/>
        </p:nvSpPr>
        <p:spPr>
          <a:xfrm>
            <a:off x="3118275" y="3391413"/>
            <a:ext cx="863250" cy="646317"/>
          </a:xfrm>
          <a:prstGeom prst="rect">
            <a:avLst/>
          </a:prstGeom>
          <a:noFill/>
          <a:ln>
            <a:noFill/>
          </a:ln>
        </p:spPr>
        <p:txBody>
          <a:bodyPr spcFirstLastPara="1" wrap="square" lIns="45713" tIns="45713" rIns="45713" bIns="45713" anchor="t" anchorCtr="0">
            <a:spAutoFit/>
          </a:bodyPr>
          <a:lstStyle/>
          <a:p>
            <a:pPr algn="ctr"/>
            <a:r>
              <a:rPr lang="en" sz="1200"/>
              <a:t>Task L releases lock</a:t>
            </a:r>
            <a:endParaRPr sz="1200"/>
          </a:p>
        </p:txBody>
      </p:sp>
      <p:cxnSp>
        <p:nvCxnSpPr>
          <p:cNvPr id="268" name="Google Shape;268;p18"/>
          <p:cNvCxnSpPr/>
          <p:nvPr/>
        </p:nvCxnSpPr>
        <p:spPr>
          <a:xfrm rot="10800000" flipH="1">
            <a:off x="3792750" y="2986213"/>
            <a:ext cx="322050" cy="421050"/>
          </a:xfrm>
          <a:prstGeom prst="straightConnector1">
            <a:avLst/>
          </a:prstGeom>
          <a:noFill/>
          <a:ln w="38100" cap="flat" cmpd="sng">
            <a:solidFill>
              <a:schemeClr val="dk2"/>
            </a:solidFill>
            <a:prstDash val="solid"/>
            <a:round/>
            <a:headEnd type="none" w="med" len="med"/>
            <a:tailEnd type="triangle" w="med" len="med"/>
          </a:ln>
        </p:spPr>
      </p:cxnSp>
      <p:sp>
        <p:nvSpPr>
          <p:cNvPr id="269" name="Google Shape;269;p18"/>
          <p:cNvSpPr/>
          <p:nvPr/>
        </p:nvSpPr>
        <p:spPr>
          <a:xfrm>
            <a:off x="2400300" y="4003650"/>
            <a:ext cx="79200" cy="342900"/>
          </a:xfrm>
          <a:prstGeom prst="rect">
            <a:avLst/>
          </a:prstGeom>
          <a:solidFill>
            <a:srgbClr val="F4CCCC"/>
          </a:solidFill>
          <a:ln w="38100" cap="flat" cmpd="sng">
            <a:solidFill>
              <a:srgbClr val="595959"/>
            </a:solidFill>
            <a:prstDash val="solid"/>
            <a:round/>
            <a:headEnd type="none" w="sm" len="sm"/>
            <a:tailEnd type="none" w="sm" len="sm"/>
          </a:ln>
        </p:spPr>
        <p:txBody>
          <a:bodyPr spcFirstLastPara="1" wrap="square" lIns="45713" tIns="45713" rIns="45713" bIns="45713" anchor="ctr" anchorCtr="0">
            <a:noAutofit/>
          </a:bodyPr>
          <a:lstStyle/>
          <a:p>
            <a:pPr algn="ctr"/>
            <a:endParaRPr sz="1200"/>
          </a:p>
        </p:txBody>
      </p:sp>
      <p:sp>
        <p:nvSpPr>
          <p:cNvPr id="270" name="Google Shape;270;p18"/>
          <p:cNvSpPr txBox="1"/>
          <p:nvPr/>
        </p:nvSpPr>
        <p:spPr>
          <a:xfrm>
            <a:off x="1505100" y="1555563"/>
            <a:ext cx="1368750" cy="461651"/>
          </a:xfrm>
          <a:prstGeom prst="rect">
            <a:avLst/>
          </a:prstGeom>
          <a:noFill/>
          <a:ln>
            <a:noFill/>
          </a:ln>
        </p:spPr>
        <p:txBody>
          <a:bodyPr spcFirstLastPara="1" wrap="square" lIns="45713" tIns="45713" rIns="45713" bIns="45713" anchor="t" anchorCtr="0">
            <a:spAutoFit/>
          </a:bodyPr>
          <a:lstStyle/>
          <a:p>
            <a:pPr algn="ctr"/>
            <a:r>
              <a:rPr lang="en" sz="1200"/>
              <a:t>Task H is blocked trying to take lock</a:t>
            </a:r>
            <a:endParaRPr sz="1200"/>
          </a:p>
        </p:txBody>
      </p:sp>
      <p:sp>
        <p:nvSpPr>
          <p:cNvPr id="271" name="Google Shape;271;p18"/>
          <p:cNvSpPr txBox="1"/>
          <p:nvPr/>
        </p:nvSpPr>
        <p:spPr>
          <a:xfrm>
            <a:off x="6147395" y="1578825"/>
            <a:ext cx="1631700" cy="461651"/>
          </a:xfrm>
          <a:prstGeom prst="rect">
            <a:avLst/>
          </a:prstGeom>
          <a:noFill/>
          <a:ln>
            <a:noFill/>
          </a:ln>
        </p:spPr>
        <p:txBody>
          <a:bodyPr spcFirstLastPara="1" wrap="square" lIns="45713" tIns="45713" rIns="45713" bIns="45713" anchor="t" anchorCtr="0">
            <a:spAutoFit/>
          </a:bodyPr>
          <a:lstStyle/>
          <a:p>
            <a:pPr algn="ctr"/>
            <a:r>
              <a:rPr lang="en" sz="1200"/>
              <a:t>Task H can now freely preempt Task M</a:t>
            </a:r>
            <a:endParaRPr sz="1200"/>
          </a:p>
        </p:txBody>
      </p:sp>
      <p:cxnSp>
        <p:nvCxnSpPr>
          <p:cNvPr id="272" name="Google Shape;272;p18"/>
          <p:cNvCxnSpPr/>
          <p:nvPr/>
        </p:nvCxnSpPr>
        <p:spPr>
          <a:xfrm>
            <a:off x="2708400" y="2043850"/>
            <a:ext cx="339600" cy="588150"/>
          </a:xfrm>
          <a:prstGeom prst="straightConnector1">
            <a:avLst/>
          </a:prstGeom>
          <a:noFill/>
          <a:ln w="38100" cap="flat" cmpd="sng">
            <a:solidFill>
              <a:schemeClr val="dk2"/>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8"/>
                                        </p:tgtEl>
                                        <p:attrNameLst>
                                          <p:attrName>style.visibility</p:attrName>
                                        </p:attrNameLst>
                                      </p:cBhvr>
                                      <p:to>
                                        <p:strVal val="visible"/>
                                      </p:to>
                                    </p:set>
                                    <p:animEffect transition="in" filter="fade">
                                      <p:cBhvr>
                                        <p:cTn id="7" dur="1000"/>
                                        <p:tgtEl>
                                          <p:spTgt spid="248"/>
                                        </p:tgtEl>
                                      </p:cBhvr>
                                    </p:animEffect>
                                  </p:childTnLst>
                                </p:cTn>
                              </p:par>
                              <p:par>
                                <p:cTn id="8" presetID="10" presetClass="entr" presetSubtype="0" fill="hold" nodeType="withEffect">
                                  <p:stCondLst>
                                    <p:cond delay="0"/>
                                  </p:stCondLst>
                                  <p:childTnLst>
                                    <p:set>
                                      <p:cBhvr>
                                        <p:cTn id="9" dur="1" fill="hold">
                                          <p:stCondLst>
                                            <p:cond delay="0"/>
                                          </p:stCondLst>
                                        </p:cTn>
                                        <p:tgtEl>
                                          <p:spTgt spid="249"/>
                                        </p:tgtEl>
                                        <p:attrNameLst>
                                          <p:attrName>style.visibility</p:attrName>
                                        </p:attrNameLst>
                                      </p:cBhvr>
                                      <p:to>
                                        <p:strVal val="visible"/>
                                      </p:to>
                                    </p:set>
                                    <p:animEffect transition="in" filter="fade">
                                      <p:cBhvr>
                                        <p:cTn id="10" dur="1000"/>
                                        <p:tgtEl>
                                          <p:spTgt spid="24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70"/>
                                        </p:tgtEl>
                                        <p:attrNameLst>
                                          <p:attrName>style.visibility</p:attrName>
                                        </p:attrNameLst>
                                      </p:cBhvr>
                                      <p:to>
                                        <p:strVal val="visible"/>
                                      </p:to>
                                    </p:set>
                                    <p:animEffect transition="in" filter="fade">
                                      <p:cBhvr>
                                        <p:cTn id="15" dur="1000"/>
                                        <p:tgtEl>
                                          <p:spTgt spid="270"/>
                                        </p:tgtEl>
                                      </p:cBhvr>
                                    </p:animEffect>
                                  </p:childTnLst>
                                </p:cTn>
                              </p:par>
                              <p:par>
                                <p:cTn id="16" presetID="10" presetClass="entr" presetSubtype="0" fill="hold" nodeType="withEffect">
                                  <p:stCondLst>
                                    <p:cond delay="0"/>
                                  </p:stCondLst>
                                  <p:childTnLst>
                                    <p:set>
                                      <p:cBhvr>
                                        <p:cTn id="17" dur="1" fill="hold">
                                          <p:stCondLst>
                                            <p:cond delay="0"/>
                                          </p:stCondLst>
                                        </p:cTn>
                                        <p:tgtEl>
                                          <p:spTgt spid="272"/>
                                        </p:tgtEl>
                                        <p:attrNameLst>
                                          <p:attrName>style.visibility</p:attrName>
                                        </p:attrNameLst>
                                      </p:cBhvr>
                                      <p:to>
                                        <p:strVal val="visible"/>
                                      </p:to>
                                    </p:set>
                                    <p:animEffect transition="in" filter="fade">
                                      <p:cBhvr>
                                        <p:cTn id="18" dur="1000"/>
                                        <p:tgtEl>
                                          <p:spTgt spid="27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3"/>
                                        </p:tgtEl>
                                        <p:attrNameLst>
                                          <p:attrName>style.visibility</p:attrName>
                                        </p:attrNameLst>
                                      </p:cBhvr>
                                      <p:to>
                                        <p:strVal val="visible"/>
                                      </p:to>
                                    </p:set>
                                    <p:animEffect transition="in" filter="fade">
                                      <p:cBhvr>
                                        <p:cTn id="23" dur="1000"/>
                                        <p:tgtEl>
                                          <p:spTgt spid="26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67"/>
                                        </p:tgtEl>
                                        <p:attrNameLst>
                                          <p:attrName>style.visibility</p:attrName>
                                        </p:attrNameLst>
                                      </p:cBhvr>
                                      <p:to>
                                        <p:strVal val="visible"/>
                                      </p:to>
                                    </p:set>
                                    <p:animEffect transition="in" filter="fade">
                                      <p:cBhvr>
                                        <p:cTn id="28" dur="1000"/>
                                        <p:tgtEl>
                                          <p:spTgt spid="267"/>
                                        </p:tgtEl>
                                      </p:cBhvr>
                                    </p:animEffect>
                                  </p:childTnLst>
                                </p:cTn>
                              </p:par>
                              <p:par>
                                <p:cTn id="29" presetID="10" presetClass="entr" presetSubtype="0" fill="hold" nodeType="withEffect">
                                  <p:stCondLst>
                                    <p:cond delay="0"/>
                                  </p:stCondLst>
                                  <p:childTnLst>
                                    <p:set>
                                      <p:cBhvr>
                                        <p:cTn id="30" dur="1" fill="hold">
                                          <p:stCondLst>
                                            <p:cond delay="0"/>
                                          </p:stCondLst>
                                        </p:cTn>
                                        <p:tgtEl>
                                          <p:spTgt spid="268"/>
                                        </p:tgtEl>
                                        <p:attrNameLst>
                                          <p:attrName>style.visibility</p:attrName>
                                        </p:attrNameLst>
                                      </p:cBhvr>
                                      <p:to>
                                        <p:strVal val="visible"/>
                                      </p:to>
                                    </p:set>
                                    <p:animEffect transition="in" filter="fade">
                                      <p:cBhvr>
                                        <p:cTn id="31" dur="1000"/>
                                        <p:tgtEl>
                                          <p:spTgt spid="26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71"/>
                                        </p:tgtEl>
                                        <p:attrNameLst>
                                          <p:attrName>style.visibility</p:attrName>
                                        </p:attrNameLst>
                                      </p:cBhvr>
                                      <p:to>
                                        <p:strVal val="visible"/>
                                      </p:to>
                                    </p:set>
                                    <p:animEffect transition="in" filter="fade">
                                      <p:cBhvr>
                                        <p:cTn id="36" dur="1000"/>
                                        <p:tgtEl>
                                          <p:spTgt spid="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17493</TotalTime>
  <Words>17149</Words>
  <Application>Microsoft Office PowerPoint</Application>
  <PresentationFormat>On-screen Show (4:3)</PresentationFormat>
  <Paragraphs>2414</Paragraphs>
  <Slides>216</Slides>
  <Notes>73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216</vt:i4>
      </vt:variant>
    </vt:vector>
  </HeadingPairs>
  <TitlesOfParts>
    <vt:vector size="228" baseType="lpstr">
      <vt:lpstr>Arial</vt:lpstr>
      <vt:lpstr>B Nazanin</vt:lpstr>
      <vt:lpstr>Calibri</vt:lpstr>
      <vt:lpstr>Courier New</vt:lpstr>
      <vt:lpstr>IranNastaliq</vt:lpstr>
      <vt:lpstr>IRANSansWeb</vt:lpstr>
      <vt:lpstr>Lato</vt:lpstr>
      <vt:lpstr>Linux Libertine</vt:lpstr>
      <vt:lpstr>Open Sans</vt:lpstr>
      <vt:lpstr>Symbol</vt:lpstr>
      <vt:lpstr>Times New Roman</vt:lpstr>
      <vt:lpstr>Office Theme</vt:lpstr>
      <vt:lpstr>به نام خدا</vt:lpstr>
      <vt:lpstr>PowerPoint Presentation</vt:lpstr>
      <vt:lpstr>از صفر  تا  عشق</vt:lpstr>
      <vt:lpstr>PowerPoint Presentation</vt:lpstr>
      <vt:lpstr>PowerPoint Presentation</vt:lpstr>
      <vt:lpstr>جلسه ی 1</vt:lpstr>
      <vt:lpstr>جلسه ی 2</vt:lpstr>
      <vt:lpstr>PowerPoint Presentation</vt:lpstr>
      <vt:lpstr>PowerPoint Presentation</vt:lpstr>
      <vt:lpstr>PowerPoint Presentation</vt:lpstr>
      <vt:lpstr>جلسه ی 3</vt:lpstr>
      <vt:lpstr>PowerPoint Presentation</vt:lpstr>
      <vt:lpstr>جلسه ی 4</vt:lpstr>
      <vt:lpstr>جلسه ی 5</vt:lpstr>
      <vt:lpstr>PowerPoint Presentation</vt:lpstr>
      <vt:lpstr>جلسه ی 6</vt:lpstr>
      <vt:lpstr>جلسه ی 7</vt:lpstr>
      <vt:lpstr>جلسه ی 8</vt:lpstr>
      <vt:lpstr>جلسه ی 9</vt:lpstr>
      <vt:lpstr>جلسه ی 10</vt:lpstr>
      <vt:lpstr>configUSE_PREEMPTION</vt:lpstr>
      <vt:lpstr>) configUSE_PREEMPTION = 1 پیش‌دستانه)</vt:lpstr>
      <vt:lpstr>) configUSE_PREEMPTION = 0 همکارانه)</vt:lpstr>
      <vt:lpstr>Synchronization Primitives in FreeRTOS</vt:lpstr>
      <vt:lpstr>سمافور -  Semaphore</vt:lpstr>
      <vt:lpstr>سمافور -  Semaphore</vt:lpstr>
      <vt:lpstr>میوتکس -  Mutex (Mutual Exclusion)</vt:lpstr>
      <vt:lpstr>صف -  Queue</vt:lpstr>
      <vt:lpstr>ایونت گروپ -  Event Group</vt:lpstr>
      <vt:lpstr>تسک نوتیفیکیشن -  Task Notification</vt:lpstr>
      <vt:lpstr>بافر-  Stream Buffer / Message Buffer</vt:lpstr>
      <vt:lpstr>PowerPoint Presentation</vt:lpstr>
      <vt:lpstr>Ethernet</vt:lpstr>
      <vt:lpstr>شبکه و کاربرد آن</vt:lpstr>
      <vt:lpstr>شبکه­ های کامپیوتری چگونه و چرا به وجود آمدند؟</vt:lpstr>
      <vt:lpstr>شبکه­ های کامپیوتری چگونه و چرا به وجود آمدند؟</vt:lpstr>
      <vt:lpstr>شبکه چیست؟</vt:lpstr>
      <vt:lpstr>پروتکل چیست؟</vt:lpstr>
      <vt:lpstr>اینترنت چیست؟</vt:lpstr>
      <vt:lpstr>وب چیست؟</vt:lpstr>
      <vt:lpstr>اینترنت اشیا چیست؟</vt:lpstr>
      <vt:lpstr>اینترنت اشیا چیست؟</vt:lpstr>
      <vt:lpstr>لایه‌های شبکه</vt:lpstr>
      <vt:lpstr>پروتکل شبکه</vt:lpstr>
      <vt:lpstr>RFC Compliance for IPv4</vt:lpstr>
      <vt:lpstr>پروتکل اینترنت</vt:lpstr>
      <vt:lpstr>پروتکل ارتباط بی‌سیم</vt:lpstr>
      <vt:lpstr>فرهنگ اصطلاحات شبکه</vt:lpstr>
      <vt:lpstr>Ethernet Networking and Addressing</vt:lpstr>
      <vt:lpstr>Frames</vt:lpstr>
      <vt:lpstr>Frames</vt:lpstr>
      <vt:lpstr>NETWORKS</vt:lpstr>
      <vt:lpstr>MTU ) Maximum Transmission Unit(</vt:lpstr>
      <vt:lpstr>پروتکل IP (Internet Protocol)</vt:lpstr>
      <vt:lpstr>IP Networking</vt:lpstr>
      <vt:lpstr>کلاس های مختلف آی پی</vt:lpstr>
      <vt:lpstr>محدوده های رزرو شده خصوصی</vt:lpstr>
      <vt:lpstr>پروتکل IPv6 (Internet Protocol version 6)</vt:lpstr>
      <vt:lpstr>PowerPoint Presentation</vt:lpstr>
      <vt:lpstr>IP Network Addressing</vt:lpstr>
      <vt:lpstr>ARP )Address Resolution Protocol(</vt:lpstr>
      <vt:lpstr>ARP</vt:lpstr>
      <vt:lpstr>Subnet and Netmask</vt:lpstr>
      <vt:lpstr>Router and Gateway Address</vt:lpstr>
      <vt:lpstr>UDP(User Datagram Protocol)</vt:lpstr>
      <vt:lpstr>TCP (Transmission Control Protocol)</vt:lpstr>
      <vt:lpstr>MSS (Maximum Segment Size)</vt:lpstr>
      <vt:lpstr>Port Number</vt:lpstr>
      <vt:lpstr>لیست پورتهای معروف</vt:lpstr>
      <vt:lpstr>Network Sockets</vt:lpstr>
      <vt:lpstr>Binding</vt:lpstr>
      <vt:lpstr>Client and Server</vt:lpstr>
      <vt:lpstr>Client and Server</vt:lpstr>
      <vt:lpstr>DHCP )Dynamic Host Control Protocol( (IPv4)</vt:lpstr>
      <vt:lpstr>Network Name Resolution</vt:lpstr>
      <vt:lpstr>DNS )Domain Name System(</vt:lpstr>
      <vt:lpstr>mDNS) Multicast Domain Name System(</vt:lpstr>
      <vt:lpstr>LLMNR</vt:lpstr>
      <vt:lpstr>NBNS</vt:lpstr>
      <vt:lpstr>ND</vt:lpstr>
      <vt:lpstr>Little Endian, Big Endian</vt:lpstr>
      <vt:lpstr>ICMP</vt:lpstr>
      <vt:lpstr>Ethernet Address (MAC)</vt:lpstr>
      <vt:lpstr>PowerPoint Presentation</vt:lpstr>
      <vt:lpstr>PowerPoint Presentation</vt:lpstr>
      <vt:lpstr>PowerPoint Presentation</vt:lpstr>
      <vt:lpstr>شبکه در دنیای امبدد</vt:lpstr>
      <vt:lpstr>نرم افزار شبکه (TCP/IP Stack) </vt:lpstr>
      <vt:lpstr>سخت افزار شبکه</vt:lpstr>
      <vt:lpstr>MAC and PHY</vt:lpstr>
      <vt:lpstr>PowerPoint Presentation</vt:lpstr>
      <vt:lpstr>PowerPoint Presentation</vt:lpstr>
      <vt:lpstr>PowerPoint Presentation</vt:lpstr>
      <vt:lpstr>PowerPoint Presentation</vt:lpstr>
      <vt:lpstr>W5500</vt:lpstr>
      <vt:lpstr>ENC28J60</vt:lpstr>
      <vt:lpstr>PowerPoint Presentation</vt:lpstr>
      <vt:lpstr>SIM800</vt:lpstr>
      <vt:lpstr>ESP8266</vt:lpstr>
      <vt:lpstr>ESP32</vt:lpstr>
      <vt:lpstr>HLK-RM04</vt:lpstr>
      <vt:lpstr>LAN8720</vt:lpstr>
      <vt:lpstr>PowerPoint Presentation</vt:lpstr>
      <vt:lpstr>PowerPoint Presentation</vt:lpstr>
      <vt:lpstr>RMII</vt:lpstr>
      <vt:lpstr>RMII / MII</vt:lpstr>
      <vt:lpstr>PowerPoint Presentation</vt:lpstr>
      <vt:lpstr>STM32CubeMX</vt:lpstr>
      <vt:lpstr>PowerPoint Presentation</vt:lpstr>
      <vt:lpstr>PowerPoint Presentation</vt:lpstr>
      <vt:lpstr>PowerPoint Presentation</vt:lpstr>
      <vt:lpstr>PowerPoint Presentation</vt:lpstr>
      <vt:lpstr>کابل شبکه</vt:lpstr>
      <vt:lpstr>PowerPoint Presentation</vt:lpstr>
      <vt:lpstr>PowerPoint Presentation</vt:lpstr>
      <vt:lpstr>PowerPoint Presentation</vt:lpstr>
      <vt:lpstr>Application</vt:lpstr>
      <vt:lpstr>UDP vs TCP</vt:lpstr>
      <vt:lpstr>UDP vs TCP</vt:lpstr>
      <vt:lpstr>UDP vs TCP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Free RTOS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Protecting Shared Resources and Synchronizing Threads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Mahdi</dc:creator>
  <cp:keywords/>
  <dc:description>generated using python-pptx</dc:description>
  <cp:lastModifiedBy>Mahdi Dadashi</cp:lastModifiedBy>
  <cp:revision>131</cp:revision>
  <dcterms:created xsi:type="dcterms:W3CDTF">2013-01-27T09:14:16Z</dcterms:created>
  <dcterms:modified xsi:type="dcterms:W3CDTF">2026-02-09T09:18:09Z</dcterms:modified>
  <cp:category/>
</cp:coreProperties>
</file>